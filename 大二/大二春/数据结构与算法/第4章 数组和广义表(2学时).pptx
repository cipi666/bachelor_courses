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66" r:id="rId2"/>
    <p:sldId id="267" r:id="rId3"/>
    <p:sldId id="268" r:id="rId4"/>
    <p:sldId id="494" r:id="rId5"/>
    <p:sldId id="502" r:id="rId6"/>
    <p:sldId id="503" r:id="rId7"/>
    <p:sldId id="270" r:id="rId8"/>
    <p:sldId id="495" r:id="rId9"/>
    <p:sldId id="496" r:id="rId10"/>
    <p:sldId id="497" r:id="rId11"/>
    <p:sldId id="504" r:id="rId12"/>
    <p:sldId id="505" r:id="rId13"/>
    <p:sldId id="499" r:id="rId14"/>
    <p:sldId id="500" r:id="rId15"/>
    <p:sldId id="501" r:id="rId16"/>
    <p:sldId id="506" r:id="rId17"/>
    <p:sldId id="507" r:id="rId18"/>
    <p:sldId id="508" r:id="rId19"/>
    <p:sldId id="509" r:id="rId20"/>
    <p:sldId id="540" r:id="rId21"/>
    <p:sldId id="541" r:id="rId22"/>
    <p:sldId id="511" r:id="rId23"/>
    <p:sldId id="512" r:id="rId24"/>
    <p:sldId id="513" r:id="rId25"/>
    <p:sldId id="514" r:id="rId26"/>
    <p:sldId id="515" r:id="rId27"/>
    <p:sldId id="542" r:id="rId28"/>
    <p:sldId id="544" r:id="rId29"/>
    <p:sldId id="545" r:id="rId30"/>
    <p:sldId id="516" r:id="rId31"/>
    <p:sldId id="543" r:id="rId32"/>
    <p:sldId id="519" r:id="rId33"/>
    <p:sldId id="520" r:id="rId34"/>
    <p:sldId id="521" r:id="rId35"/>
    <p:sldId id="522" r:id="rId36"/>
    <p:sldId id="523" r:id="rId37"/>
    <p:sldId id="524" r:id="rId38"/>
    <p:sldId id="525" r:id="rId39"/>
    <p:sldId id="526" r:id="rId40"/>
    <p:sldId id="527" r:id="rId41"/>
    <p:sldId id="528" r:id="rId42"/>
    <p:sldId id="529" r:id="rId43"/>
    <p:sldId id="530" r:id="rId44"/>
    <p:sldId id="531" r:id="rId45"/>
    <p:sldId id="532" r:id="rId46"/>
    <p:sldId id="533" r:id="rId47"/>
    <p:sldId id="534" r:id="rId48"/>
    <p:sldId id="535" r:id="rId49"/>
    <p:sldId id="536" r:id="rId50"/>
    <p:sldId id="537" r:id="rId51"/>
    <p:sldId id="538" r:id="rId52"/>
    <p:sldId id="539" r:id="rId53"/>
    <p:sldId id="326" r:id="rId5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01BF"/>
    <a:srgbClr val="1B0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5379" autoAdjust="0"/>
  </p:normalViewPr>
  <p:slideViewPr>
    <p:cSldViewPr>
      <p:cViewPr varScale="1">
        <p:scale>
          <a:sx n="75" d="100"/>
          <a:sy n="75" d="100"/>
        </p:scale>
        <p:origin x="128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2674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数组和广义表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1E710-C99E-492E-A3B5-AB65E1900D4A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231CD-A0B8-4499-BF13-ACF961500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09241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数组和广义表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1B9A6-DE76-4082-BA5D-9E0565F59BC2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ADF5C-0B53-4BD5-BF19-A16D1C70E8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94492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下面来讨论第五章，书上的名字是数组和广义表，那么这两种还是属于线性结构；我们整个的安排是先从线性结构讲起，再到树形结构，再到图结构；所以数组和广义表安排在一章里，但是广义表的内容相对来说，难度要大一点，所以我们把这部分放到图以后再讲；结合二叉树可能会好懂一点，。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D9AE49-7F76-47C5-AA9E-C972CC51BA7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0CF7D78-7715-4F86-9531-9641A7F02550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70FD64-DE11-4DA3-917D-742EFDE9570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64CFE54-BFC9-488D-B80C-6192F92CA330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DF61FE-26A1-409D-8A84-AAD3CEDB69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8385BF3-D792-4605-BFED-F67CE59EE555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BC64EA-B5CC-4ADF-B12C-2C5C376CA8C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71BFF5E-5CD9-4FE6-B54C-D88399EC62B3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ED8802-95CA-46F1-8477-3040EBB065D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F38008C-D9CA-4BD2-8033-09EAA9AAB30A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/>
              <a:t>次课结束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31114F-7460-46B2-A430-CD64986176F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E4154F6-15AE-4EED-8A2B-196C9EE3B80F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E3FB91-C267-4C87-9DD0-4124F59F02C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E6F50CC-7EE1-42F0-A2C2-AC69481AE3F5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这是一个多维数组的定义，每个数据元素有</a:t>
            </a:r>
            <a:r>
              <a:rPr lang="en-US" altLang="zh-CN" dirty="0"/>
              <a:t>n</a:t>
            </a:r>
            <a:r>
              <a:rPr lang="zh-CN" altLang="en-US" dirty="0"/>
              <a:t>个下标，同时每个数据元素处在</a:t>
            </a:r>
            <a:r>
              <a:rPr lang="en-US" altLang="zh-CN" dirty="0"/>
              <a:t>n</a:t>
            </a:r>
            <a:r>
              <a:rPr lang="zh-CN" altLang="en-US" dirty="0"/>
              <a:t>个关系中间；</a:t>
            </a:r>
            <a:endParaRPr lang="en-US" altLang="zh-CN" dirty="0"/>
          </a:p>
          <a:p>
            <a:r>
              <a:rPr lang="zh-CN" altLang="en-US" dirty="0"/>
              <a:t>由于每个关系都是线性关系，也就是每个数据元素在每个关系里面都有一个后继，所以我们把数组还称为线性结构；</a:t>
            </a:r>
            <a:endParaRPr lang="en-US" altLang="zh-CN" dirty="0"/>
          </a:p>
          <a:p>
            <a:r>
              <a:rPr lang="zh-CN" altLang="en-US" dirty="0"/>
              <a:t>我们过去讲的数据结构，都是在这个关系集合里面只有一个关系，而这个多维数组有多个关系；</a:t>
            </a:r>
            <a:endParaRPr lang="en-US" altLang="zh-CN" dirty="0"/>
          </a:p>
          <a:p>
            <a:r>
              <a:rPr lang="zh-CN" altLang="en-US" dirty="0"/>
              <a:t>但是之所以称他为线性结构，是由关系的特性来定的，并不是由一个关系还是多个关系来定；</a:t>
            </a:r>
            <a:endParaRPr lang="en-US" altLang="zh-CN" dirty="0"/>
          </a:p>
          <a:p>
            <a:r>
              <a:rPr lang="zh-CN" altLang="en-US" dirty="0"/>
              <a:t>由于每一个关系都是线性关系，所以我们把他称为线性结构；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8AC534-88D4-492A-AE16-D67ADB86304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F820043-52CE-4BFB-88E6-A8DDC62B5B9C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数组的基本操作比较简单；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162DBC-4504-458F-B17D-655D554A85B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0B478C1-F6E5-413C-B6D2-29C55A18E95A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06F88A-FE0E-4D99-A675-7991CF835FB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A23453E-F7BE-4162-A05C-2C6B86BBA68B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讲过两种存储方式，一个是顺序表示，一个是链式表示；那么对数组来说，只有顺序表示；因为他只有引用型操作，没有改变其结构的加工型操作，最多是改变他的值而已。所以，他不需要链式映像这样一个存储表示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B0ED13-B43C-4C8B-91F4-D0E580CDFE7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54C1065-F0F2-4224-96B7-A397AD61CBE1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高级语言里，一般是以行序为主序的；</a:t>
            </a:r>
            <a:r>
              <a:rPr lang="en-US" altLang="zh-CN" dirty="0" err="1"/>
              <a:t>matlab</a:t>
            </a:r>
            <a:r>
              <a:rPr lang="zh-CN" altLang="en-US" dirty="0"/>
              <a:t>是以列序为主序的，计算时间的差异。。。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EDD73D5-F25C-4DE1-BA59-C1328E83217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A1C1F86-00E5-46D9-97A6-AD73E57AD56C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480FD6-A4E7-4454-8721-C98BC0BD5DA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4E6AC11-1CB8-439D-B7CF-774D00C5EB4E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称为</a:t>
            </a:r>
            <a:r>
              <a:rPr lang="en-US" altLang="zh-CN" dirty="0"/>
              <a:t>n</a:t>
            </a:r>
            <a:r>
              <a:rPr lang="zh-CN" altLang="en-US" dirty="0"/>
              <a:t>维数组的映像函数，数组元素的存储位置是其下标的线性函数；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5BBB65-0C34-49FF-89F1-0AC96ABF876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18B9F4C-EC9E-492A-95FC-823745F252B4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数组维界基址</a:t>
            </a:r>
            <a:r>
              <a:rPr lang="en-US" altLang="zh-CN" dirty="0"/>
              <a:t>:</a:t>
            </a:r>
            <a:r>
              <a:rPr lang="zh-CN" altLang="en-US" dirty="0"/>
              <a:t>其实就是指向一个存放每一维长度的数组的一个起始地址。</a:t>
            </a:r>
          </a:p>
          <a:p>
            <a:r>
              <a:rPr lang="zh-CN" altLang="en-US" dirty="0"/>
              <a:t>数组映像函数常量基址：在计算数组中每一元素的地址公式中，每一维的前面都有一个固定的值为了方便计算，把这些值存放在一个数组中，这个基址就是这个数组的起始地址。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92BB27-7DCC-48D3-AB15-094DFA068CD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F326472-FD60-4F9B-B472-241B700CC9A3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65987C-5949-404C-BA03-FF8FCA36CDC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830A794-B7EA-41A7-B3D0-440B0CEC0D41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D399C9-71E2-42D9-B5F6-B9BEC3E0E85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55E8FED-B5CA-4CCC-9CBC-03252557DD37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590EAA-3777-40EE-8A4E-C0961C2EB67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095C1DE-BC13-4340-9CB8-CAE9FD77ED38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比较有规则的。。。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19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105899-057D-459B-A41E-5B6D83EB95D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4CE2291-2C74-4352-A277-451A80621805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在工程领域，经常碰见稀疏矩阵；这个稀疏矩阵在数学上没有严格的定义；</a:t>
            </a:r>
          </a:p>
          <a:p>
            <a:r>
              <a:rPr lang="zh-CN" altLang="en-US" dirty="0"/>
              <a:t>但是大家有一个公用的概念。。。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我们希望想个办法来客服这样两个问题；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讲一个文本的例子；信号处理里的</a:t>
            </a:r>
            <a:r>
              <a:rPr lang="en-US" altLang="zh-CN" dirty="0"/>
              <a:t>sparse representation</a:t>
            </a:r>
            <a:r>
              <a:rPr lang="zh-CN" altLang="en-US" dirty="0"/>
              <a:t>，</a:t>
            </a:r>
            <a:r>
              <a:rPr lang="en-US" altLang="zh-CN" dirty="0"/>
              <a:t>low rank</a:t>
            </a:r>
            <a:r>
              <a:rPr lang="zh-CN" altLang="en-US" dirty="0"/>
              <a:t>； 矩阵和统计学；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2B520D-088B-49C0-80D7-69872D0CF6A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A313B03-6B7A-471F-B748-B3FA9D0DB3D6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在工程领域，经常碰见稀疏矩阵；这个稀疏矩阵在数学上没有严格的定义；</a:t>
            </a:r>
          </a:p>
          <a:p>
            <a:r>
              <a:rPr lang="zh-CN" altLang="en-US" dirty="0"/>
              <a:t>但是大家有一个公用的概念。。。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我们希望想个办法来客服这样两个问题；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95867C-27CC-4378-86DF-B0FE63F4706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E996E79-1EEA-40FE-AD7E-E9549623FC1E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DEBB45-FB9C-4EB3-95C2-7B3DC9A6454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B04B19E-CF48-42AD-BD06-4D2AED1394C3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F2B6CB-89BA-4249-8508-4643630A3AB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5A56499-1862-4F0A-974F-F17800021B6D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第一种表示方法：三元组顺序表表示法；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DE8071-92A0-42E1-B010-A1CF3BE959B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3D387D6-4D9C-4CFC-8536-5C5B9F24B9C5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三元组指的是矩阵里每个元素用这样一个三元组来表示，他的行号，列号和他的元素值；</a:t>
            </a:r>
            <a:endParaRPr lang="en-US" altLang="zh-CN" dirty="0"/>
          </a:p>
          <a:p>
            <a:r>
              <a:rPr lang="zh-CN" altLang="en-US" dirty="0"/>
              <a:t>顺序表示表指的是他每个矩阵的这些非零元的三元组，用</a:t>
            </a:r>
            <a:r>
              <a:rPr lang="en-US" altLang="zh-CN" dirty="0"/>
              <a:t>data</a:t>
            </a:r>
            <a:r>
              <a:rPr lang="zh-CN" altLang="en-US" dirty="0"/>
              <a:t>这样的数组来表示他，也就是我们用这个数组来存储所有的非零元；</a:t>
            </a:r>
            <a:endParaRPr lang="en-US" altLang="zh-CN" dirty="0"/>
          </a:p>
          <a:p>
            <a:r>
              <a:rPr lang="zh-CN" altLang="en-US" dirty="0"/>
              <a:t>同时要设置他的行数，列数和非零元的个数：</a:t>
            </a:r>
            <a:r>
              <a:rPr lang="en-US" altLang="zh-CN" dirty="0"/>
              <a:t>mu</a:t>
            </a:r>
            <a:r>
              <a:rPr lang="zh-CN" altLang="en-US" dirty="0"/>
              <a:t>，</a:t>
            </a:r>
            <a:r>
              <a:rPr lang="en-US" altLang="zh-CN" dirty="0"/>
              <a:t>nu</a:t>
            </a:r>
            <a:r>
              <a:rPr lang="zh-CN" altLang="en-US" dirty="0"/>
              <a:t>，</a:t>
            </a:r>
            <a:r>
              <a:rPr lang="en-US" altLang="zh-CN" dirty="0" err="1"/>
              <a:t>tu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这是一个稀疏矩阵的一个三元组顺序结构表示；</a:t>
            </a:r>
            <a:endParaRPr lang="en-US" altLang="zh-CN" dirty="0"/>
          </a:p>
          <a:p>
            <a:r>
              <a:rPr lang="zh-CN" altLang="en-US" dirty="0"/>
              <a:t>这里我们可以把行数，列数和非零元的个数放在第</a:t>
            </a:r>
            <a:r>
              <a:rPr lang="en-US" altLang="zh-CN" dirty="0"/>
              <a:t>0</a:t>
            </a:r>
            <a:r>
              <a:rPr lang="zh-CN" altLang="en-US" dirty="0"/>
              <a:t>个数组下标里；那么真正的三元我们从第一个下标开始；</a:t>
            </a:r>
            <a:endParaRPr lang="en-US" altLang="zh-CN" dirty="0"/>
          </a:p>
          <a:p>
            <a:r>
              <a:rPr lang="zh-CN" altLang="en-US" dirty="0"/>
              <a:t>那么这样一个表示方法符合了我们的原则：不存零的元素，那么能不能达到我们解决问题的另外两个原则呢？也就是在运算的时候，我们就避免了和零的运算；另外，特别是这样一个表示方法对我们的运算很方便？那么我们举个例子来看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BDC555-1762-468B-B945-1069CCAD1A0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66F5B43-6DE2-400B-A191-8E3809CC337D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次课完成。。。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转置矩阵里面的概念，大家应该很清楚了。。。元素的个数是不变的，只是位置有变化，行的元素变成列的元素；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3488CB-7A1E-4346-9686-B24FA8683D6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F04FC2F-DCF9-44A3-92AB-6B86DBE5798C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转置矩阵里面的概念，大家应该很清楚了。。。元素的个数是不变的，只是位置有变化，行的元素变成列的元素；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2F0FB0B-6030-40E0-B86C-EC31BE9AC47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78A4D56-9522-4D2C-B801-2676B26ED901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T.mu=</a:t>
            </a:r>
            <a:r>
              <a:rPr lang="en-US" altLang="zh-CN" dirty="0" err="1"/>
              <a:t>M.nu;T.nu</a:t>
            </a:r>
            <a:r>
              <a:rPr lang="en-US" altLang="zh-CN" dirty="0"/>
              <a:t>=</a:t>
            </a:r>
            <a:r>
              <a:rPr lang="en-US" altLang="zh-CN" dirty="0" err="1"/>
              <a:t>M.mu;T.tu</a:t>
            </a:r>
            <a:r>
              <a:rPr lang="en-US" altLang="zh-CN" dirty="0"/>
              <a:t>=</a:t>
            </a:r>
            <a:r>
              <a:rPr lang="en-US" altLang="zh-CN" dirty="0" err="1"/>
              <a:t>M.tu</a:t>
            </a:r>
            <a:r>
              <a:rPr lang="en-US" altLang="zh-CN" dirty="0"/>
              <a:t>; </a:t>
            </a:r>
            <a:r>
              <a:rPr lang="zh-CN" altLang="en-US" dirty="0"/>
              <a:t>一些准备工作，统计了一些非零元个数；</a:t>
            </a:r>
            <a:endParaRPr lang="en-US" altLang="zh-CN" dirty="0"/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dirty="0" err="1">
                <a:solidFill>
                  <a:srgbClr val="FF3300"/>
                </a:solidFill>
                <a:latin typeface="Times New Roman" pitchFamily="18" charset="0"/>
              </a:rPr>
              <a:t>T.data</a:t>
            </a:r>
            <a:r>
              <a:rPr kumimoji="1" lang="en-US" altLang="zh-CN" sz="1200" dirty="0">
                <a:solidFill>
                  <a:srgbClr val="FF3300"/>
                </a:solidFill>
                <a:latin typeface="Times New Roman" pitchFamily="18" charset="0"/>
              </a:rPr>
              <a:t>[q].</a:t>
            </a:r>
            <a:r>
              <a:rPr kumimoji="1" lang="en-US" altLang="zh-CN" sz="12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kumimoji="1" lang="en-US" altLang="zh-CN" sz="1200" dirty="0">
                <a:solidFill>
                  <a:srgbClr val="FF3300"/>
                </a:solidFill>
                <a:latin typeface="Times New Roman" pitchFamily="18" charset="0"/>
              </a:rPr>
              <a:t>=</a:t>
            </a:r>
            <a:r>
              <a:rPr kumimoji="1" lang="en-US" altLang="zh-CN" sz="1200" dirty="0" err="1">
                <a:solidFill>
                  <a:srgbClr val="FF3300"/>
                </a:solidFill>
                <a:latin typeface="Times New Roman" pitchFamily="18" charset="0"/>
              </a:rPr>
              <a:t>M.data</a:t>
            </a:r>
            <a:r>
              <a:rPr kumimoji="1" lang="en-US" altLang="zh-CN" sz="1200" dirty="0">
                <a:solidFill>
                  <a:srgbClr val="FF3300"/>
                </a:solidFill>
                <a:latin typeface="Times New Roman" pitchFamily="18" charset="0"/>
              </a:rPr>
              <a:t>[p].</a:t>
            </a:r>
            <a:r>
              <a:rPr kumimoji="1" lang="en-US" altLang="zh-CN" sz="1200" dirty="0" err="1">
                <a:solidFill>
                  <a:srgbClr val="FF3300"/>
                </a:solidFill>
                <a:latin typeface="Times New Roman" pitchFamily="18" charset="0"/>
              </a:rPr>
              <a:t>j;T.data</a:t>
            </a:r>
            <a:r>
              <a:rPr kumimoji="1" lang="en-US" altLang="zh-CN" sz="1200" dirty="0">
                <a:solidFill>
                  <a:srgbClr val="FF3300"/>
                </a:solidFill>
                <a:latin typeface="Times New Roman" pitchFamily="18" charset="0"/>
              </a:rPr>
              <a:t>[q].j =</a:t>
            </a:r>
            <a:r>
              <a:rPr kumimoji="1" lang="en-US" altLang="zh-CN" sz="1200" dirty="0" err="1">
                <a:solidFill>
                  <a:srgbClr val="FF3300"/>
                </a:solidFill>
                <a:latin typeface="Times New Roman" pitchFamily="18" charset="0"/>
              </a:rPr>
              <a:t>M.data</a:t>
            </a:r>
            <a:r>
              <a:rPr kumimoji="1" lang="en-US" altLang="zh-CN" sz="1200" dirty="0">
                <a:solidFill>
                  <a:srgbClr val="FF3300"/>
                </a:solidFill>
                <a:latin typeface="Times New Roman" pitchFamily="18" charset="0"/>
              </a:rPr>
              <a:t>[p].</a:t>
            </a:r>
            <a:r>
              <a:rPr kumimoji="1" lang="en-US" altLang="zh-CN" sz="12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kumimoji="1" lang="en-US" altLang="zh-CN" sz="1200" dirty="0">
                <a:solidFill>
                  <a:srgbClr val="FF3300"/>
                </a:solidFill>
                <a:latin typeface="Times New Roman" pitchFamily="18" charset="0"/>
              </a:rPr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dirty="0">
                <a:solidFill>
                  <a:srgbClr val="FF3300"/>
                </a:solidFill>
                <a:latin typeface="Times New Roman" pitchFamily="18" charset="0"/>
              </a:rPr>
              <a:t>          </a:t>
            </a:r>
            <a:r>
              <a:rPr kumimoji="1" lang="en-US" altLang="zh-CN" sz="1200" dirty="0" err="1">
                <a:solidFill>
                  <a:srgbClr val="FF3300"/>
                </a:solidFill>
                <a:latin typeface="Times New Roman" pitchFamily="18" charset="0"/>
              </a:rPr>
              <a:t>T.data</a:t>
            </a:r>
            <a:r>
              <a:rPr kumimoji="1" lang="en-US" altLang="zh-CN" sz="1200" dirty="0">
                <a:solidFill>
                  <a:srgbClr val="FF3300"/>
                </a:solidFill>
                <a:latin typeface="Times New Roman" pitchFamily="18" charset="0"/>
              </a:rPr>
              <a:t>[q].e =</a:t>
            </a:r>
            <a:r>
              <a:rPr kumimoji="1" lang="en-US" altLang="zh-CN" sz="1200" dirty="0" err="1">
                <a:solidFill>
                  <a:srgbClr val="FF3300"/>
                </a:solidFill>
                <a:latin typeface="Times New Roman" pitchFamily="18" charset="0"/>
              </a:rPr>
              <a:t>M.data</a:t>
            </a:r>
            <a:r>
              <a:rPr kumimoji="1" lang="en-US" altLang="zh-CN" sz="1200" dirty="0">
                <a:solidFill>
                  <a:srgbClr val="FF3300"/>
                </a:solidFill>
                <a:latin typeface="Times New Roman" pitchFamily="18" charset="0"/>
              </a:rPr>
              <a:t>[p].e;  ++q;</a:t>
            </a:r>
            <a:r>
              <a:rPr kumimoji="1" lang="en-US" altLang="zh-CN" sz="1200" dirty="0">
                <a:latin typeface="Times New Roman" pitchFamily="18" charset="0"/>
              </a:rPr>
              <a:t> </a:t>
            </a:r>
          </a:p>
          <a:p>
            <a:r>
              <a:rPr lang="zh-CN" altLang="en-US" dirty="0"/>
              <a:t>位置上的三元组进行赋值；然后</a:t>
            </a:r>
            <a:r>
              <a:rPr lang="en-US" altLang="zh-CN" dirty="0"/>
              <a:t>q</a:t>
            </a:r>
            <a:r>
              <a:rPr lang="zh-CN" altLang="en-US" dirty="0"/>
              <a:t>再加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按照</a:t>
            </a:r>
            <a:r>
              <a:rPr lang="en-US" altLang="zh-CN" dirty="0" err="1"/>
              <a:t>b.data</a:t>
            </a:r>
            <a:r>
              <a:rPr lang="zh-CN" altLang="en-US" dirty="0"/>
              <a:t>中的三元组的次序依次在</a:t>
            </a:r>
            <a:r>
              <a:rPr lang="en-US" altLang="zh-CN" dirty="0" err="1"/>
              <a:t>a.data</a:t>
            </a:r>
            <a:r>
              <a:rPr lang="zh-CN" altLang="en-US" dirty="0"/>
              <a:t>中找到相应的三元组进行转置。换句话说，按照矩阵</a:t>
            </a:r>
            <a:r>
              <a:rPr lang="en-US" altLang="zh-CN" dirty="0"/>
              <a:t>M</a:t>
            </a:r>
            <a:r>
              <a:rPr lang="zh-CN" altLang="en-US" dirty="0"/>
              <a:t>的列序来进行转置；</a:t>
            </a:r>
            <a:endParaRPr lang="en-US" altLang="zh-CN" dirty="0"/>
          </a:p>
          <a:p>
            <a:r>
              <a:rPr lang="zh-CN" altLang="en-US" dirty="0"/>
              <a:t>为了找到</a:t>
            </a:r>
            <a:r>
              <a:rPr lang="en-US" altLang="zh-CN" dirty="0"/>
              <a:t>M</a:t>
            </a:r>
            <a:r>
              <a:rPr lang="zh-CN" altLang="en-US" dirty="0"/>
              <a:t>的每一列中所有的非零元素，需要对其三元组表</a:t>
            </a:r>
            <a:r>
              <a:rPr lang="en-US" altLang="zh-CN" dirty="0" err="1"/>
              <a:t>a.data</a:t>
            </a:r>
            <a:r>
              <a:rPr lang="zh-CN" altLang="en-US" dirty="0"/>
              <a:t>从第一行起整个扫描一遍，由于</a:t>
            </a:r>
            <a:r>
              <a:rPr lang="en-US" altLang="zh-CN" dirty="0" err="1"/>
              <a:t>a.data</a:t>
            </a:r>
            <a:r>
              <a:rPr lang="zh-CN" altLang="en-US" dirty="0"/>
              <a:t>是以</a:t>
            </a:r>
            <a:r>
              <a:rPr lang="en-US" altLang="zh-CN" dirty="0"/>
              <a:t>M</a:t>
            </a:r>
            <a:r>
              <a:rPr lang="zh-CN" altLang="en-US" dirty="0"/>
              <a:t>的行序为主序来存放每个非零元的，由此得到恰好是</a:t>
            </a:r>
            <a:r>
              <a:rPr lang="en-US" altLang="zh-CN" dirty="0" err="1"/>
              <a:t>b.data</a:t>
            </a:r>
            <a:r>
              <a:rPr lang="zh-CN" altLang="en-US" dirty="0"/>
              <a:t>应有的顺序。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F0DE8E-7040-4745-AC47-A40CB0A19AF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109DDA1-9562-4753-B111-3B87DF02640D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当非零元的个数</a:t>
            </a:r>
            <a:r>
              <a:rPr lang="en-US" altLang="zh-CN" dirty="0" err="1"/>
              <a:t>tu</a:t>
            </a:r>
            <a:r>
              <a:rPr lang="zh-CN" altLang="en-US" dirty="0"/>
              <a:t>和</a:t>
            </a:r>
            <a:r>
              <a:rPr lang="en-US" altLang="zh-CN" dirty="0" err="1"/>
              <a:t>muxnu</a:t>
            </a:r>
            <a:r>
              <a:rPr lang="zh-CN" altLang="en-US" dirty="0"/>
              <a:t>同数量级时，算法的时间复杂度为</a:t>
            </a:r>
            <a:r>
              <a:rPr lang="en-US" altLang="zh-CN" dirty="0"/>
              <a:t>O(mu x nu^2)</a:t>
            </a:r>
            <a:r>
              <a:rPr lang="zh-CN" altLang="en-US" dirty="0"/>
              <a:t>了；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29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90BB6C-64B5-499B-BF57-D8B49E4B9F9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81C47F3-420E-4BF5-B901-3C7CB15E5D02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行数是他转置矩阵的列数；非零元的个数一样；关键是如何把原来的顺序表表示成转置后的顺序表。。。</a:t>
            </a:r>
            <a:endParaRPr lang="en-US" altLang="zh-CN" dirty="0"/>
          </a:p>
          <a:p>
            <a:r>
              <a:rPr lang="zh-CN" altLang="en-US" dirty="0"/>
              <a:t>每个元素比较简单，只要把行和列交换一下就可以了，比较好实现；</a:t>
            </a:r>
            <a:endParaRPr lang="en-US" altLang="zh-CN" dirty="0"/>
          </a:p>
          <a:p>
            <a:r>
              <a:rPr lang="zh-CN" altLang="en-US" dirty="0"/>
              <a:t>但是，我们不能把这个顺序表表示成转置后的顺序表；</a:t>
            </a:r>
            <a:endParaRPr lang="en-US" altLang="zh-CN" dirty="0"/>
          </a:p>
          <a:p>
            <a:r>
              <a:rPr lang="zh-CN" altLang="en-US" dirty="0"/>
              <a:t>刚刚我们没有说明一个约定，原来这个顺序表示里非零元的排列是以行序为主序的；也就是同一行的非零元都是紧挨着的；</a:t>
            </a:r>
            <a:endParaRPr lang="en-US" altLang="zh-CN" dirty="0"/>
          </a:p>
          <a:p>
            <a:r>
              <a:rPr lang="zh-CN" altLang="en-US" dirty="0"/>
              <a:t>在同一行的，列上也是按降序排序的；第</a:t>
            </a:r>
            <a:r>
              <a:rPr lang="en-US" altLang="zh-CN" dirty="0"/>
              <a:t>1</a:t>
            </a:r>
            <a:r>
              <a:rPr lang="zh-CN" altLang="en-US" dirty="0"/>
              <a:t>行的第</a:t>
            </a:r>
            <a:r>
              <a:rPr lang="en-US" altLang="zh-CN" dirty="0"/>
              <a:t>2</a:t>
            </a:r>
            <a:r>
              <a:rPr lang="zh-CN" altLang="en-US" dirty="0"/>
              <a:t>列在第</a:t>
            </a:r>
            <a:r>
              <a:rPr lang="en-US" altLang="zh-CN" dirty="0"/>
              <a:t>5</a:t>
            </a:r>
            <a:r>
              <a:rPr lang="zh-CN" altLang="en-US" dirty="0"/>
              <a:t>列之前。。。</a:t>
            </a:r>
            <a:endParaRPr lang="en-US" altLang="zh-CN" dirty="0"/>
          </a:p>
          <a:p>
            <a:r>
              <a:rPr lang="zh-CN" altLang="en-US" dirty="0"/>
              <a:t>转置后也应该是行序为主序；怎么实现呢？</a:t>
            </a:r>
            <a:endParaRPr lang="en-US" altLang="zh-CN" dirty="0"/>
          </a:p>
          <a:p>
            <a:r>
              <a:rPr lang="zh-CN" altLang="en-US" dirty="0"/>
              <a:t>最简单是先按顺序处理原来的矩阵；不然你不知道哪个处理过，哪个没有处理过；所以先处理第</a:t>
            </a:r>
            <a:r>
              <a:rPr lang="en-US" altLang="zh-CN" dirty="0"/>
              <a:t>1</a:t>
            </a:r>
            <a:r>
              <a:rPr lang="zh-CN" altLang="en-US" dirty="0"/>
              <a:t>个，再处理第</a:t>
            </a:r>
            <a:r>
              <a:rPr lang="en-US" altLang="zh-CN" dirty="0"/>
              <a:t>2</a:t>
            </a:r>
            <a:r>
              <a:rPr lang="zh-CN" altLang="en-US" dirty="0"/>
              <a:t>个。。。；</a:t>
            </a:r>
            <a:endParaRPr lang="en-US" altLang="zh-CN" dirty="0"/>
          </a:p>
          <a:p>
            <a:r>
              <a:rPr lang="zh-CN" altLang="en-US" dirty="0"/>
              <a:t>第一个放上去，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；第二个也放上去，</a:t>
            </a:r>
            <a:r>
              <a:rPr lang="en-US" altLang="zh-CN" dirty="0"/>
              <a:t>515</a:t>
            </a:r>
            <a:r>
              <a:rPr lang="zh-CN" altLang="en-US" dirty="0"/>
              <a:t>，因为行序比第</a:t>
            </a:r>
            <a:r>
              <a:rPr lang="en-US" altLang="zh-CN" dirty="0"/>
              <a:t>1</a:t>
            </a:r>
            <a:r>
              <a:rPr lang="zh-CN" altLang="en-US" dirty="0"/>
              <a:t>个大；第三个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，就麻烦了，我们需要插入到第二个那里。。。这样，以此类推，才能满足转置矩阵也是按行序为主排序；</a:t>
            </a:r>
            <a:endParaRPr lang="en-US" altLang="zh-CN" dirty="0"/>
          </a:p>
          <a:p>
            <a:r>
              <a:rPr lang="zh-CN" altLang="en-US" dirty="0"/>
              <a:t>因为这样一个顺序存储，本来一个一个处理，时间复杂度是线性就可以了；但是由于，这样的对比和移动运算，就会使得成为平方数量级了；</a:t>
            </a:r>
            <a:endParaRPr lang="en-US" altLang="zh-CN" dirty="0"/>
          </a:p>
          <a:p>
            <a:r>
              <a:rPr lang="zh-CN" altLang="en-US" dirty="0"/>
              <a:t>显然这不是满意的，因为对于问题本身而言，本来应该是线性复杂度就可以达到的；</a:t>
            </a:r>
            <a:endParaRPr lang="en-US" altLang="zh-CN" dirty="0"/>
          </a:p>
          <a:p>
            <a:r>
              <a:rPr lang="zh-CN" altLang="en-US" dirty="0"/>
              <a:t>我们有没有办法在线性数量级上来完成这样一个操作；那么我们来分析一下，转置以后的结果，都是以行序为主排序的；</a:t>
            </a:r>
            <a:endParaRPr lang="en-US" altLang="zh-CN" dirty="0"/>
          </a:p>
          <a:p>
            <a:r>
              <a:rPr lang="zh-CN" altLang="en-US" dirty="0"/>
              <a:t>如果我们能够实现，每个元素转置后能够一步到位，而不移动，将元素直接放到那个地方，我们看转置后，也是这个位置；</a:t>
            </a:r>
            <a:endParaRPr lang="en-US" altLang="zh-CN" dirty="0"/>
          </a:p>
          <a:p>
            <a:r>
              <a:rPr lang="zh-CN" altLang="en-US" dirty="0"/>
              <a:t>如果我们能够实现这样一个结果，我们就可以把这样一个转置运算是在线性数量级上完成的；我们能不能做到？</a:t>
            </a:r>
            <a:endParaRPr lang="en-US" altLang="zh-CN" dirty="0"/>
          </a:p>
          <a:p>
            <a:r>
              <a:rPr lang="zh-CN" altLang="en-US" dirty="0"/>
              <a:t>我们就要对每个元素找到对应的存储位置；那么这个对应的存储位置能不能事先把他估计出来呢？</a:t>
            </a:r>
            <a:endParaRPr lang="en-US" altLang="zh-CN" dirty="0"/>
          </a:p>
          <a:p>
            <a:r>
              <a:rPr lang="zh-CN" altLang="en-US" dirty="0"/>
              <a:t>第二行的第一列，取决与第一行有几个非零元；转置后第一行有几个非零元，取决于转置前，有几个在第一列？如果我们知道，他有</a:t>
            </a:r>
            <a:r>
              <a:rPr lang="en-US" altLang="zh-CN" dirty="0"/>
              <a:t>1</a:t>
            </a:r>
            <a:r>
              <a:rPr lang="zh-CN" altLang="en-US" dirty="0"/>
              <a:t>个非零元，那么我们就知道，一定把</a:t>
            </a:r>
            <a:r>
              <a:rPr lang="en-US" altLang="zh-CN" dirty="0"/>
              <a:t>211</a:t>
            </a:r>
            <a:r>
              <a:rPr lang="zh-CN" altLang="en-US" dirty="0"/>
              <a:t>放在第二个位置上；</a:t>
            </a:r>
            <a:endParaRPr lang="en-US" altLang="zh-CN" dirty="0"/>
          </a:p>
          <a:p>
            <a:r>
              <a:rPr lang="zh-CN" altLang="en-US" dirty="0"/>
              <a:t>那么如果我们事先知道，每行非零元的个数，我们就可以一次到位了；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比如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，一定放在第</a:t>
            </a:r>
            <a:r>
              <a:rPr lang="en-US" altLang="zh-CN" dirty="0"/>
              <a:t>4</a:t>
            </a:r>
            <a:r>
              <a:rPr lang="zh-CN" altLang="en-US" dirty="0"/>
              <a:t>位，因为取决于他前面有多少个非零元：看原来矩阵的第</a:t>
            </a:r>
            <a:r>
              <a:rPr lang="en-US" altLang="zh-CN" dirty="0"/>
              <a:t>2</a:t>
            </a:r>
            <a:r>
              <a:rPr lang="zh-CN" altLang="en-US" dirty="0"/>
              <a:t>列，一共有</a:t>
            </a:r>
            <a:r>
              <a:rPr lang="en-US" altLang="zh-CN" dirty="0"/>
              <a:t>3</a:t>
            </a:r>
            <a:r>
              <a:rPr lang="zh-CN" altLang="en-US" dirty="0"/>
              <a:t>个：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；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怎样来计算转置矩阵每一行的第一个非零元的位置？</a:t>
            </a:r>
            <a:endParaRPr lang="en-US" altLang="zh-CN" dirty="0"/>
          </a:p>
          <a:p>
            <a:r>
              <a:rPr lang="zh-CN" altLang="en-US" dirty="0"/>
              <a:t>相对来说就是找原来矩阵的每一列的非零元的个数；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我们可以建一个数据，我们从上到下扫描；</a:t>
            </a:r>
            <a:endParaRPr lang="en-US" altLang="zh-CN" dirty="0"/>
          </a:p>
          <a:p>
            <a:r>
              <a:rPr lang="zh-CN" altLang="en-US" dirty="0"/>
              <a:t>我们知道第</a:t>
            </a:r>
            <a:r>
              <a:rPr lang="en-US" altLang="zh-CN" dirty="0"/>
              <a:t>1</a:t>
            </a:r>
            <a:r>
              <a:rPr lang="zh-CN" altLang="en-US" dirty="0"/>
              <a:t>列有：</a:t>
            </a:r>
            <a:r>
              <a:rPr lang="en-US" altLang="zh-CN" dirty="0"/>
              <a:t>1</a:t>
            </a:r>
            <a:r>
              <a:rPr lang="zh-CN" altLang="en-US" dirty="0"/>
              <a:t>个；第二列：</a:t>
            </a:r>
            <a:r>
              <a:rPr lang="en-US" altLang="zh-CN" dirty="0"/>
              <a:t>2</a:t>
            </a:r>
            <a:r>
              <a:rPr lang="zh-CN" altLang="en-US" dirty="0"/>
              <a:t>；第三列：</a:t>
            </a:r>
            <a:r>
              <a:rPr lang="en-US" altLang="zh-CN" dirty="0"/>
              <a:t>0</a:t>
            </a:r>
            <a:r>
              <a:rPr lang="zh-CN" altLang="en-US" dirty="0"/>
              <a:t>；第四列：</a:t>
            </a:r>
            <a:r>
              <a:rPr lang="en-US" altLang="zh-CN" dirty="0"/>
              <a:t>1</a:t>
            </a:r>
            <a:r>
              <a:rPr lang="zh-CN" altLang="en-US" dirty="0"/>
              <a:t>；第五列：</a:t>
            </a:r>
            <a:r>
              <a:rPr lang="en-US" altLang="zh-CN" dirty="0"/>
              <a:t>1</a:t>
            </a:r>
            <a:r>
              <a:rPr lang="zh-CN" altLang="en-US" dirty="0"/>
              <a:t>个；</a:t>
            </a:r>
            <a:endParaRPr lang="en-US" altLang="zh-CN" dirty="0"/>
          </a:p>
          <a:p>
            <a:r>
              <a:rPr lang="zh-CN" altLang="en-US" dirty="0"/>
              <a:t>然后我们计算列号为</a:t>
            </a:r>
            <a:r>
              <a:rPr lang="en-US" altLang="zh-CN" dirty="0"/>
              <a:t>1</a:t>
            </a:r>
            <a:r>
              <a:rPr lang="zh-CN" altLang="en-US" dirty="0"/>
              <a:t>的第一次出现的位置，显然是第</a:t>
            </a:r>
            <a:r>
              <a:rPr lang="en-US" altLang="zh-CN" dirty="0"/>
              <a:t>1</a:t>
            </a:r>
            <a:r>
              <a:rPr lang="zh-CN" altLang="en-US" dirty="0"/>
              <a:t>位的；</a:t>
            </a:r>
            <a:endParaRPr lang="en-US" altLang="zh-CN" dirty="0"/>
          </a:p>
          <a:p>
            <a:r>
              <a:rPr lang="zh-CN" altLang="en-US" dirty="0"/>
              <a:t>列号为</a:t>
            </a:r>
            <a:r>
              <a:rPr lang="en-US" altLang="zh-CN" dirty="0"/>
              <a:t>2</a:t>
            </a:r>
            <a:r>
              <a:rPr lang="zh-CN" altLang="en-US" dirty="0"/>
              <a:t>的第一次出现的位置是：</a:t>
            </a:r>
            <a:r>
              <a:rPr lang="en-US" altLang="zh-CN" dirty="0"/>
              <a:t>1</a:t>
            </a:r>
            <a:r>
              <a:rPr lang="zh-CN" altLang="en-US" dirty="0"/>
              <a:t>（列号为</a:t>
            </a:r>
            <a:r>
              <a:rPr lang="en-US" altLang="zh-CN" dirty="0"/>
              <a:t>1</a:t>
            </a:r>
            <a:r>
              <a:rPr lang="zh-CN" altLang="en-US" dirty="0"/>
              <a:t>的第一次出现的位置）</a:t>
            </a:r>
            <a:r>
              <a:rPr lang="en-US" altLang="zh-CN" dirty="0"/>
              <a:t>+1</a:t>
            </a:r>
            <a:r>
              <a:rPr lang="zh-CN" altLang="en-US" dirty="0"/>
              <a:t>（第一列有</a:t>
            </a:r>
            <a:r>
              <a:rPr lang="en-US" altLang="zh-CN" dirty="0"/>
              <a:t>1</a:t>
            </a:r>
            <a:r>
              <a:rPr lang="zh-CN" altLang="en-US" dirty="0"/>
              <a:t>个）</a:t>
            </a:r>
            <a:r>
              <a:rPr lang="en-US" altLang="zh-CN" dirty="0"/>
              <a:t>=2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。。。依次：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；见纸上；</a:t>
            </a:r>
            <a:endParaRPr lang="en-US" altLang="zh-CN" dirty="0"/>
          </a:p>
          <a:p>
            <a:r>
              <a:rPr lang="zh-CN" altLang="en-US" dirty="0"/>
              <a:t>有了这个值以后，转置就简单了；</a:t>
            </a:r>
            <a:endParaRPr lang="en-US" altLang="zh-CN" dirty="0"/>
          </a:p>
          <a:p>
            <a:r>
              <a:rPr lang="zh-CN" altLang="en-US" dirty="0"/>
              <a:t>先设定一个指针指向原来矩阵的第一个非零元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，然后找到他对应的列号，是</a:t>
            </a:r>
            <a:r>
              <a:rPr lang="en-US" altLang="zh-CN" dirty="0"/>
              <a:t>2</a:t>
            </a:r>
            <a:r>
              <a:rPr lang="zh-CN" altLang="en-US" dirty="0"/>
              <a:t>，然后到表里</a:t>
            </a:r>
            <a:r>
              <a:rPr lang="en-US" altLang="zh-CN" dirty="0" err="1"/>
              <a:t>cpos</a:t>
            </a:r>
            <a:r>
              <a:rPr lang="zh-CN" altLang="en-US" dirty="0"/>
              <a:t>找到他第一个非零元对应的位置是</a:t>
            </a:r>
            <a:r>
              <a:rPr lang="en-US" altLang="zh-CN" dirty="0"/>
              <a:t>2</a:t>
            </a:r>
            <a:r>
              <a:rPr lang="zh-CN" altLang="en-US" dirty="0"/>
              <a:t>；放在对应位置上，放一个指针</a:t>
            </a:r>
            <a:r>
              <a:rPr lang="en-US" altLang="zh-CN" dirty="0"/>
              <a:t>q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由</a:t>
            </a:r>
            <a:r>
              <a:rPr lang="en-US" altLang="zh-CN" dirty="0"/>
              <a:t>p</a:t>
            </a:r>
            <a:r>
              <a:rPr lang="zh-CN" altLang="en-US" dirty="0"/>
              <a:t>所指的元素的列号找到，</a:t>
            </a:r>
            <a:r>
              <a:rPr lang="en-US" altLang="zh-CN" dirty="0"/>
              <a:t>q</a:t>
            </a:r>
            <a:r>
              <a:rPr lang="zh-CN" altLang="en-US" dirty="0"/>
              <a:t>所指向的位置；如果，再碰到这个列号，那么就加</a:t>
            </a:r>
            <a:r>
              <a:rPr lang="en-US" altLang="zh-CN" dirty="0"/>
              <a:t>1</a:t>
            </a:r>
            <a:r>
              <a:rPr lang="zh-CN" altLang="en-US" dirty="0"/>
              <a:t>了，到第</a:t>
            </a:r>
            <a:r>
              <a:rPr lang="en-US" altLang="zh-CN" dirty="0"/>
              <a:t>3</a:t>
            </a:r>
            <a:r>
              <a:rPr lang="zh-CN" altLang="en-US" dirty="0"/>
              <a:t>个位置上了（需要更新从</a:t>
            </a:r>
            <a:r>
              <a:rPr lang="en-US" altLang="zh-CN" dirty="0"/>
              <a:t>2</a:t>
            </a:r>
            <a:r>
              <a:rPr lang="zh-CN" altLang="en-US" dirty="0"/>
              <a:t>变成</a:t>
            </a:r>
            <a:r>
              <a:rPr lang="en-US" altLang="zh-CN" dirty="0"/>
              <a:t>3</a:t>
            </a:r>
            <a:r>
              <a:rPr lang="zh-CN" altLang="en-US" dirty="0"/>
              <a:t>）；</a:t>
            </a:r>
            <a:endParaRPr lang="en-US" altLang="zh-CN" dirty="0"/>
          </a:p>
          <a:p>
            <a:r>
              <a:rPr lang="zh-CN" altLang="en-US" dirty="0"/>
              <a:t>同样地，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对应的列号是</a:t>
            </a:r>
            <a:r>
              <a:rPr lang="en-US" altLang="zh-CN" dirty="0"/>
              <a:t>5</a:t>
            </a:r>
            <a:r>
              <a:rPr lang="zh-CN" altLang="en-US" dirty="0"/>
              <a:t>，然后应该放在哪里呢，是应该放在第</a:t>
            </a:r>
            <a:r>
              <a:rPr lang="en-US" altLang="zh-CN" dirty="0"/>
              <a:t>5</a:t>
            </a:r>
            <a:r>
              <a:rPr lang="zh-CN" altLang="en-US" dirty="0"/>
              <a:t>个位置上；相应的</a:t>
            </a:r>
            <a:r>
              <a:rPr lang="en-US" altLang="zh-CN" dirty="0"/>
              <a:t>q</a:t>
            </a:r>
            <a:r>
              <a:rPr lang="zh-CN" altLang="en-US" dirty="0"/>
              <a:t>指针指向那里，</a:t>
            </a:r>
            <a:endParaRPr lang="en-US" altLang="zh-CN" dirty="0"/>
          </a:p>
          <a:p>
            <a:r>
              <a:rPr lang="zh-CN" altLang="en-US" dirty="0"/>
              <a:t>同样，我们看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7</a:t>
            </a:r>
            <a:r>
              <a:rPr lang="zh-CN" altLang="en-US" dirty="0"/>
              <a:t>，对应行号是</a:t>
            </a:r>
            <a:r>
              <a:rPr lang="en-US" altLang="zh-CN" dirty="0"/>
              <a:t>2</a:t>
            </a:r>
            <a:r>
              <a:rPr lang="zh-CN" altLang="en-US" dirty="0"/>
              <a:t>，但是</a:t>
            </a:r>
            <a:r>
              <a:rPr lang="en-US" altLang="zh-CN" dirty="0"/>
              <a:t>2</a:t>
            </a:r>
            <a:r>
              <a:rPr lang="zh-CN" altLang="en-US" dirty="0"/>
              <a:t>已经被占了，</a:t>
            </a:r>
            <a:r>
              <a:rPr lang="en-US" altLang="zh-CN" dirty="0" err="1"/>
              <a:t>cpos</a:t>
            </a:r>
            <a:r>
              <a:rPr lang="zh-CN" altLang="en-US" dirty="0"/>
              <a:t>被更新到</a:t>
            </a:r>
            <a:r>
              <a:rPr lang="en-US" altLang="zh-CN" dirty="0"/>
              <a:t>3</a:t>
            </a:r>
            <a:r>
              <a:rPr lang="zh-CN" altLang="en-US" dirty="0"/>
              <a:t>了，所以是在第</a:t>
            </a:r>
            <a:r>
              <a:rPr lang="en-US" altLang="zh-CN" dirty="0"/>
              <a:t>3</a:t>
            </a:r>
            <a:r>
              <a:rPr lang="zh-CN" altLang="en-US" dirty="0"/>
              <a:t>个位置上；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分析后，现在再来看算法就比较简单了。。。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1CBFFB-DDB6-4846-8756-5EA57F9FA59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1D48FAE-B4DE-48B1-86A7-44252BB72BC0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E0F374-1B3E-4F22-B8A0-D4117580795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4CC0C21-2A27-4213-A00E-15ECA293E668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2AE4DF-4D38-4154-A30A-B37A3BFD826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74FFAC2-58F1-4015-A2E1-D712E140C0FE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3C33F7-DE34-4F71-8058-7C47CE8D674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BC8C4D6-77D2-40A3-92AC-59FF5FAB74C7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3B5628-B15B-47B1-BF4E-B45C9DDA4ED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7FCAC21-ADD5-4FE6-B060-1C9B1108FF65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7F442C-B568-4156-976F-DC238BED8A8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FC05031-882F-4C71-91B9-0D62D39F7067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DA3CB54-D411-49E4-B7C9-DA25A25771A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83B324F-50DC-42E1-8C13-ADD2C737FFEF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8A998B-1953-44A7-8662-4B98F2AA3AF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B3B681A-04C9-46F7-84EA-4ADC6AD27858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包含两个子表；</a:t>
            </a:r>
            <a:endParaRPr lang="en-US" altLang="zh-CN" dirty="0"/>
          </a:p>
          <a:p>
            <a:r>
              <a:rPr lang="zh-CN" altLang="en-US" dirty="0"/>
              <a:t>原子。。。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3F94BD-B059-413A-96B6-2CBBBECDF49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674259F-5F17-4A3D-8E8B-3397346CC6A9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长度？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39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EFEF00-76E3-4C1F-B956-60C49FB8674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39AC4E0-4CEA-4F45-9188-7B0256E7452C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</a:t>
            </a:r>
            <a:r>
              <a:rPr lang="en-US" altLang="zh-CN" dirty="0"/>
              <a:t>LS=</a:t>
            </a:r>
            <a:r>
              <a:rPr lang="zh-CN" altLang="en-US" dirty="0"/>
              <a:t>（）包含一个括弧层次。。。</a:t>
            </a:r>
            <a:endParaRPr lang="en-US" altLang="zh-CN" dirty="0"/>
          </a:p>
          <a:p>
            <a:r>
              <a:rPr lang="zh-CN" altLang="en-US" dirty="0"/>
              <a:t>广义表</a:t>
            </a:r>
            <a:r>
              <a:rPr lang="en-US" altLang="zh-CN" dirty="0"/>
              <a:t>.</a:t>
            </a:r>
            <a:r>
              <a:rPr lang="zh-CN" altLang="en-US" dirty="0"/>
              <a:t>可以这样看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设表</a:t>
            </a:r>
            <a:r>
              <a:rPr lang="en-US" altLang="zh-CN" dirty="0"/>
              <a:t>A=((</a:t>
            </a:r>
            <a:r>
              <a:rPr lang="en-US" altLang="zh-CN" dirty="0" err="1"/>
              <a:t>a,b</a:t>
            </a:r>
            <a:r>
              <a:rPr lang="en-US" altLang="zh-CN" dirty="0"/>
              <a:t>),(</a:t>
            </a:r>
            <a:r>
              <a:rPr lang="en-US" altLang="zh-CN" dirty="0" err="1"/>
              <a:t>c,d</a:t>
            </a:r>
            <a:r>
              <a:rPr lang="en-US" altLang="zh-CN" dirty="0"/>
              <a:t>))  </a:t>
            </a:r>
          </a:p>
          <a:p>
            <a:r>
              <a:rPr lang="en-US" altLang="zh-CN" dirty="0" err="1"/>
              <a:t>Gethead</a:t>
            </a:r>
            <a:r>
              <a:rPr lang="en-US" altLang="zh-CN" dirty="0"/>
              <a:t>(((</a:t>
            </a:r>
            <a:r>
              <a:rPr lang="en-US" altLang="zh-CN" dirty="0" err="1"/>
              <a:t>a,b</a:t>
            </a:r>
            <a:r>
              <a:rPr lang="en-US" altLang="zh-CN" dirty="0"/>
              <a:t>),(</a:t>
            </a:r>
            <a:r>
              <a:rPr lang="en-US" altLang="zh-CN" dirty="0" err="1"/>
              <a:t>c,d</a:t>
            </a:r>
            <a:r>
              <a:rPr lang="en-US" altLang="zh-CN" dirty="0"/>
              <a:t>)))=</a:t>
            </a:r>
            <a:r>
              <a:rPr lang="en-US" altLang="zh-CN" dirty="0" err="1"/>
              <a:t>Gethead</a:t>
            </a:r>
            <a:r>
              <a:rPr lang="en-US" altLang="zh-CN" dirty="0"/>
              <a:t>(A)</a:t>
            </a:r>
          </a:p>
          <a:p>
            <a:r>
              <a:rPr lang="zh-CN" altLang="en-US" dirty="0"/>
              <a:t>这样表</a:t>
            </a:r>
            <a:r>
              <a:rPr lang="en-US" altLang="zh-CN" dirty="0"/>
              <a:t>A</a:t>
            </a:r>
            <a:r>
              <a:rPr lang="zh-CN" altLang="en-US" dirty="0"/>
              <a:t>就是一个包含两个元素</a:t>
            </a:r>
            <a:r>
              <a:rPr lang="en-US" altLang="zh-CN" dirty="0"/>
              <a:t>(</a:t>
            </a:r>
            <a:r>
              <a:rPr lang="zh-CN" altLang="en-US" dirty="0"/>
              <a:t>分别为两个子表</a:t>
            </a:r>
            <a:r>
              <a:rPr lang="en-US" altLang="zh-CN" dirty="0"/>
              <a:t>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r>
              <a:rPr lang="zh-CN" altLang="en-US" dirty="0"/>
              <a:t>和</a:t>
            </a:r>
            <a:r>
              <a:rPr lang="en-US" altLang="zh-CN" dirty="0"/>
              <a:t>(</a:t>
            </a:r>
            <a:r>
              <a:rPr lang="en-US" altLang="zh-CN" dirty="0" err="1"/>
              <a:t>c,d</a:t>
            </a:r>
            <a:r>
              <a:rPr lang="en-US" altLang="zh-CN" dirty="0"/>
              <a:t>))</a:t>
            </a:r>
            <a:r>
              <a:rPr lang="zh-CN" altLang="en-US" dirty="0"/>
              <a:t>的广义表</a:t>
            </a:r>
            <a:r>
              <a:rPr lang="en-US" altLang="zh-CN" dirty="0"/>
              <a:t>,</a:t>
            </a:r>
            <a:r>
              <a:rPr lang="zh-CN" altLang="en-US" dirty="0"/>
              <a:t>那么</a:t>
            </a:r>
          </a:p>
          <a:p>
            <a:r>
              <a:rPr lang="en-US" altLang="zh-CN" dirty="0" err="1"/>
              <a:t>Gethead</a:t>
            </a:r>
            <a:r>
              <a:rPr lang="en-US" altLang="zh-CN" dirty="0"/>
              <a:t>(((</a:t>
            </a:r>
            <a:r>
              <a:rPr lang="en-US" altLang="zh-CN" dirty="0" err="1"/>
              <a:t>a,b</a:t>
            </a:r>
            <a:r>
              <a:rPr lang="en-US" altLang="zh-CN" dirty="0"/>
              <a:t>),(</a:t>
            </a:r>
            <a:r>
              <a:rPr lang="en-US" altLang="zh-CN" dirty="0" err="1"/>
              <a:t>c,d</a:t>
            </a:r>
            <a:r>
              <a:rPr lang="en-US" altLang="zh-CN" dirty="0"/>
              <a:t>)))=(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</a:p>
          <a:p>
            <a:r>
              <a:rPr lang="en-US" altLang="zh-CN" dirty="0" err="1"/>
              <a:t>Gethead</a:t>
            </a:r>
            <a:r>
              <a:rPr lang="en-US" altLang="zh-CN" dirty="0"/>
              <a:t>(((</a:t>
            </a:r>
            <a:r>
              <a:rPr lang="en-US" altLang="zh-CN" dirty="0" err="1"/>
              <a:t>a,b</a:t>
            </a:r>
            <a:r>
              <a:rPr lang="en-US" altLang="zh-CN" dirty="0"/>
              <a:t>),(</a:t>
            </a:r>
            <a:r>
              <a:rPr lang="en-US" altLang="zh-CN" dirty="0" err="1"/>
              <a:t>c,d</a:t>
            </a:r>
            <a:r>
              <a:rPr lang="en-US" altLang="zh-CN" dirty="0"/>
              <a:t>)))</a:t>
            </a:r>
            <a:r>
              <a:rPr lang="zh-CN" altLang="en-US" dirty="0"/>
              <a:t>就是取表的头元素嘛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086C1F-FFF7-499E-837E-E90A0EAD592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EA77860-2207-44BF-ADB9-C7609C2E069B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310CC5-E58D-47AC-BF02-481638FA9AB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E7AC6AD-621F-4EFD-A6D1-5874014F0437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D74393-FBF2-44AD-8672-BAC6DDC9361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18E83F4-E0CC-41EF-82E5-9F53B94C3ECC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43DCAE3-8C86-4197-903B-AA0825D61C0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7800D6A-26E2-48E4-A721-3B3986943142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设置一个</a:t>
            </a:r>
            <a:r>
              <a:rPr lang="en-US" altLang="zh-CN" dirty="0"/>
              <a:t>tag</a:t>
            </a:r>
            <a:r>
              <a:rPr lang="zh-CN" altLang="en-US" dirty="0"/>
              <a:t>来区分表结点和原子结点；</a:t>
            </a:r>
            <a:endParaRPr lang="en-US" altLang="zh-CN" dirty="0"/>
          </a:p>
          <a:p>
            <a:r>
              <a:rPr lang="zh-CN" altLang="en-US" dirty="0"/>
              <a:t>图示动画里，有错误，第二个指针是指向第一个子表的头指针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828394-ED17-4971-B277-74F8C3105E7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72886CE-1A2A-49F7-B8F2-DC39BF2967E0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BD05F7-BAE5-47A9-B5ED-7CB9A50A6EF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A776704-CF6A-488B-A245-450DDCFDB5AC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871BFD-6924-4E37-ADDC-C944C590CCB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A811405-7D9C-4DD0-A48F-64430D99FDE6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21E274-B804-4D96-A7AA-A9500BA1CBD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B151CCE-9B87-4F82-85F8-7E0388AB03B9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95881A-FBB8-4BE5-AF92-B27FA63FB98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6C138A4-EBBD-4888-BB54-196B23451E3A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子表分析法。。。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49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8012CC-2452-46D0-AF67-E61AE6FBF6C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853D371-A3E8-4CC2-84F1-95E458FBDD5C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原子节点和表节点的联合部分；</a:t>
            </a:r>
            <a:endParaRPr lang="en-US" altLang="zh-CN" dirty="0"/>
          </a:p>
          <a:p>
            <a:r>
              <a:rPr lang="en-US" altLang="zh-CN" dirty="0"/>
              <a:t>Atom</a:t>
            </a:r>
            <a:r>
              <a:rPr lang="zh-CN" altLang="en-US" dirty="0"/>
              <a:t>是原子节点的值域；</a:t>
            </a:r>
            <a:endParaRPr lang="en-US" altLang="zh-CN" dirty="0"/>
          </a:p>
          <a:p>
            <a:r>
              <a:rPr lang="en-US" altLang="zh-CN" dirty="0" err="1"/>
              <a:t>Ptr</a:t>
            </a:r>
            <a:r>
              <a:rPr lang="zh-CN" altLang="en-US" dirty="0"/>
              <a:t>是表节点的指针域；分别指向表头和表尾；</a:t>
            </a:r>
            <a:endParaRPr lang="en-US" altLang="zh-CN" dirty="0"/>
          </a:p>
          <a:p>
            <a:r>
              <a:rPr lang="zh-CN" altLang="en-US" dirty="0"/>
              <a:t>*</a:t>
            </a:r>
            <a:r>
              <a:rPr lang="en-US" altLang="zh-CN" dirty="0" err="1"/>
              <a:t>Glist</a:t>
            </a:r>
            <a:r>
              <a:rPr lang="zh-CN" altLang="en-US" dirty="0"/>
              <a:t>广义表类型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50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BEF35D-73D4-4955-A1CD-FDDC596B973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CBA26E8C-C8EB-4A7E-9954-679697446471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直接用原子结点表示，</a:t>
            </a:r>
            <a:r>
              <a:rPr lang="en-US" altLang="zh-CN" dirty="0"/>
              <a:t>d</a:t>
            </a:r>
            <a:r>
              <a:rPr lang="zh-CN" altLang="en-US" dirty="0"/>
              <a:t>是一个原子节点，有一个后继结点，也是原子结点。。。</a:t>
            </a:r>
            <a:endParaRPr lang="en-US" altLang="zh-CN" dirty="0"/>
          </a:p>
          <a:p>
            <a:r>
              <a:rPr lang="zh-CN" altLang="en-US" dirty="0"/>
              <a:t>这样更直接，节省空间。。。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51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3FEAC2-FE99-46F0-9069-90FBF017000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6872BB4-C0C2-4EE8-BD0C-E138E6675ED0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原子结点。。。定义它的头指针，。。。</a:t>
            </a:r>
            <a:endParaRPr lang="en-US" altLang="zh-CN" dirty="0"/>
          </a:p>
          <a:p>
            <a:r>
              <a:rPr lang="zh-CN" altLang="en-US" dirty="0"/>
              <a:t>*</a:t>
            </a:r>
            <a:r>
              <a:rPr lang="en-US" altLang="zh-CN" dirty="0" err="1"/>
              <a:t>tp</a:t>
            </a:r>
            <a:r>
              <a:rPr lang="zh-CN" altLang="en-US" dirty="0"/>
              <a:t>相当于线性链表中的</a:t>
            </a:r>
            <a:r>
              <a:rPr lang="en-US" altLang="zh-CN" dirty="0"/>
              <a:t>next</a:t>
            </a:r>
            <a:r>
              <a:rPr lang="zh-CN" altLang="en-US" dirty="0"/>
              <a:t>，指向下一个元素的节点；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52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DD7D423-4FBF-4D9D-ADCE-CF83BB5A425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3705992-C95E-4871-9A37-51036B1A2650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  <a:pPr/>
              <a:t>53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4</a:t>
            </a:r>
            <a:r>
              <a:rPr lang="zh-CN" altLang="en-US">
                <a:solidFill>
                  <a:prstClr val="black"/>
                </a:solidFill>
              </a:rPr>
              <a:t>章 数组和广义表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F4D560B-60E3-438D-A2CD-90D7C7DE99E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221E01E-BFA4-4413-A124-AC84DCB56CDD}" type="datetime1">
              <a:rPr lang="zh-CN" altLang="en-US" smtClean="0"/>
              <a:t>2025/2/8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212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68DB-39B4-49A7-BBBE-F52DE4DFC8C4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63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26229-424E-495A-A16F-7ED6EBBC2CDA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97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9493-B70A-45E8-A5E5-3E971171E57B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64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8C7F8-6E80-4122-AB7D-DFADBB77FEDF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61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E762D-EC66-4E00-A294-036FEA5D034F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41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AD58-8EC8-496E-BD03-7AD7AF2C4DB9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4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656F-5DBB-413F-9FF8-52A9AAFF5D13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339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8F62A-6C00-4D46-8A57-840CAF6D2050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44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5929A-FDA5-42D4-B4B6-79388E87B267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365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F9ED-5D0D-4A59-9915-D15814DEBEB7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69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F783-3154-44EC-BC4D-0B7C2939F725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4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F5BC9-D142-4C50-95AB-8900B895CCE3}" type="datetime1">
              <a:rPr lang="zh-CN" altLang="en-US" smtClean="0"/>
              <a:t>2025/2/8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哈工大（深圳）计算机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3EC4C-CFD8-4F45-A0A2-30028C1F73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5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itsz.edu.cn/article/view/id-26348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hyperlink" Target="&#24191;&#20041;&#34920;&#23454;&#20363;.swf" TargetMode="External"/><Relationship Id="rId4" Type="http://schemas.openxmlformats.org/officeDocument/2006/relationships/hyperlink" Target="&#31532;&#19968;&#20010;&#23383;&#34920;&#19982;&#24191;&#20041;&#34920;&#30340;&#20851;&#31995;.swf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hyperlink" Target="&#30456;&#37051;&#23383;&#34920;&#30340;&#20851;&#31995;.swf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http://www.hitsz.edu.cn/UserFiles/banner/large/1498189993954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2009"/>
            <a:ext cx="9144000" cy="346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968" y="19050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6600" b="1" dirty="0">
                <a:solidFill>
                  <a:srgbClr val="FF0000"/>
                </a:solidFill>
              </a:rPr>
              <a:t>第</a:t>
            </a:r>
            <a:r>
              <a:rPr lang="en-US" altLang="zh-CN" sz="6600" b="1" dirty="0">
                <a:solidFill>
                  <a:srgbClr val="FF0000"/>
                </a:solidFill>
              </a:rPr>
              <a:t>4</a:t>
            </a:r>
            <a:r>
              <a:rPr lang="zh-CN" altLang="en-US" sz="6600" b="1" dirty="0">
                <a:solidFill>
                  <a:srgbClr val="FF0000"/>
                </a:solidFill>
              </a:rPr>
              <a:t>章 数组和广义表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6934-B1EA-44EC-9EEA-A1EFED0F029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173190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本章重点与难点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 重点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:</a:t>
            </a:r>
          </a:p>
          <a:p>
            <a:pPr marL="400050" lvl="1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400" b="1" dirty="0">
                <a:latin typeface="宋体" charset="-122"/>
                <a:ea typeface="宋体" charset="-122"/>
              </a:rPr>
              <a:t>数组的存储表示方法；特殊矩阵压缩存储方法；稀疏矩阵的压缩存储方法。 </a:t>
            </a: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 难点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: </a:t>
            </a:r>
          </a:p>
          <a:p>
            <a:pPr marL="400050" lvl="1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400" b="1" dirty="0">
                <a:latin typeface="宋体" charset="-122"/>
                <a:ea typeface="宋体" charset="-122"/>
              </a:rPr>
              <a:t>稀疏矩阵的压缩存储表示和实现算法。 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70C2-81B8-468E-97C5-7889FBE3671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105209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第四章 数组和广义表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charset="0"/>
                <a:ea typeface="宋体" charset="-122"/>
              </a:rPr>
              <a:t>4.1  </a:t>
            </a: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数组的类型定义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charset="0"/>
                <a:ea typeface="宋体" charset="-122"/>
              </a:rPr>
              <a:t>4.2  </a:t>
            </a: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数组的顺序表示和实现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charset="0"/>
                <a:ea typeface="宋体" charset="-122"/>
              </a:rPr>
              <a:t>4.3  </a:t>
            </a: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矩阵的压缩存储 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charset="0"/>
                <a:ea typeface="宋体" charset="-122"/>
              </a:rPr>
              <a:t>4.4  </a:t>
            </a: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广义表的类型定义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charset="0"/>
                <a:ea typeface="宋体" charset="-122"/>
              </a:rPr>
              <a:t>4.5  </a:t>
            </a: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广义表的存储结构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FF552-637D-4CE5-B67F-C686E6397BB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79755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第四章 数组和广义表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charset="0"/>
                <a:ea typeface="宋体" charset="-122"/>
              </a:rPr>
              <a:t>4.1  </a:t>
            </a: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数组的类型定义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数组的顺序表示和实现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矩阵的压缩存储 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广义表的类型定义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广义表的存储结构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D7A5-F56E-4DD0-BDA7-EBE60FC80F1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32347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4.1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数组的类型定义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数组：</a:t>
            </a:r>
            <a:endParaRPr lang="en-US" altLang="zh-CN" sz="2800" b="1" dirty="0"/>
          </a:p>
          <a:p>
            <a:pPr lvl="1">
              <a:lnSpc>
                <a:spcPts val="3100"/>
              </a:lnSpc>
            </a:pPr>
            <a:r>
              <a:rPr lang="zh-CN" altLang="en-US" sz="2400" b="1" dirty="0"/>
              <a:t>是由</a:t>
            </a:r>
            <a:r>
              <a:rPr lang="zh-CN" altLang="en-US" sz="2400" b="1" dirty="0">
                <a:solidFill>
                  <a:srgbClr val="FF0000"/>
                </a:solidFill>
              </a:rPr>
              <a:t>下标（</a:t>
            </a:r>
            <a:r>
              <a:rPr lang="en-US" altLang="zh-CN" sz="2400" b="1" dirty="0">
                <a:solidFill>
                  <a:srgbClr val="FF0000"/>
                </a:solidFill>
              </a:rPr>
              <a:t>index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b="1" dirty="0"/>
              <a:t>和值（</a:t>
            </a:r>
            <a:r>
              <a:rPr lang="en-US" altLang="zh-CN" sz="2400" b="1" dirty="0"/>
              <a:t>value</a:t>
            </a:r>
            <a:r>
              <a:rPr lang="zh-CN" altLang="en-US" sz="2400" b="1" dirty="0"/>
              <a:t>）组成的</a:t>
            </a:r>
            <a:r>
              <a:rPr lang="zh-CN" altLang="en-US" sz="2400" b="1" dirty="0">
                <a:solidFill>
                  <a:srgbClr val="FF0000"/>
                </a:solidFill>
              </a:rPr>
              <a:t>序对（</a:t>
            </a:r>
            <a:r>
              <a:rPr lang="en-US" altLang="zh-CN" sz="2400" b="1" dirty="0">
                <a:solidFill>
                  <a:srgbClr val="FF0000"/>
                </a:solidFill>
              </a:rPr>
              <a:t>index</a:t>
            </a:r>
            <a:r>
              <a:rPr lang="zh-CN" altLang="en-US" sz="2400" b="1" dirty="0">
                <a:solidFill>
                  <a:srgbClr val="FF0000"/>
                </a:solidFill>
              </a:rPr>
              <a:t>， </a:t>
            </a:r>
            <a:r>
              <a:rPr lang="en-US" altLang="zh-CN" sz="2400" b="1" dirty="0">
                <a:solidFill>
                  <a:srgbClr val="FF0000"/>
                </a:solidFill>
              </a:rPr>
              <a:t>value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b="1" dirty="0"/>
              <a:t>的集合。 </a:t>
            </a:r>
            <a:endParaRPr lang="en-US" altLang="zh-CN" sz="2400" b="1" dirty="0"/>
          </a:p>
          <a:p>
            <a:pPr lvl="1">
              <a:lnSpc>
                <a:spcPts val="3100"/>
              </a:lnSpc>
            </a:pPr>
            <a:r>
              <a:rPr lang="zh-CN" altLang="en-US" sz="2400" b="1" dirty="0"/>
              <a:t>也可以定义为是由</a:t>
            </a:r>
            <a:r>
              <a:rPr lang="zh-CN" altLang="en-US" sz="2400" b="1" dirty="0">
                <a:solidFill>
                  <a:srgbClr val="FF0000"/>
                </a:solidFill>
              </a:rPr>
              <a:t>相同类型</a:t>
            </a:r>
            <a:r>
              <a:rPr lang="zh-CN" altLang="en-US" sz="2400" b="1" dirty="0"/>
              <a:t>的数据元素组成有限序列。 </a:t>
            </a:r>
            <a:endParaRPr lang="en-US" altLang="zh-CN" sz="2400" b="1" dirty="0"/>
          </a:p>
          <a:p>
            <a:pPr lvl="1">
              <a:lnSpc>
                <a:spcPts val="3100"/>
              </a:lnSpc>
            </a:pPr>
            <a:r>
              <a:rPr lang="zh-CN" altLang="en-US" sz="2400" b="1" dirty="0"/>
              <a:t>每个元素受</a:t>
            </a:r>
            <a:r>
              <a:rPr lang="en-US" altLang="zh-CN" sz="2400" b="1" dirty="0"/>
              <a:t>n(n≥1)</a:t>
            </a:r>
            <a:r>
              <a:rPr lang="zh-CN" altLang="en-US" sz="2400" b="1" dirty="0"/>
              <a:t>个线性关系的约束，每个元素在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个线性关系中的序号</a:t>
            </a:r>
            <a:r>
              <a:rPr lang="en-US" altLang="zh-CN" sz="2400" b="1" dirty="0"/>
              <a:t>i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i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…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i</a:t>
            </a:r>
            <a:r>
              <a:rPr lang="en-US" altLang="zh-CN" sz="2400" b="1" baseline="-25000" dirty="0"/>
              <a:t>n</a:t>
            </a:r>
            <a:r>
              <a:rPr lang="zh-CN" altLang="en-US" sz="2400" b="1" dirty="0"/>
              <a:t>称为该元素的下标，并称该数组为</a:t>
            </a:r>
            <a:r>
              <a:rPr lang="en-US" altLang="zh-CN" sz="2400" b="1" dirty="0"/>
              <a:t>n </a:t>
            </a:r>
            <a:r>
              <a:rPr lang="zh-CN" altLang="en-US" sz="2400" b="1" dirty="0"/>
              <a:t>维数组。</a:t>
            </a:r>
            <a:endParaRPr lang="en-US" altLang="zh-CN" sz="2400" b="1" dirty="0"/>
          </a:p>
          <a:p>
            <a:pPr>
              <a:lnSpc>
                <a:spcPts val="3100"/>
              </a:lnSpc>
            </a:pPr>
            <a:r>
              <a:rPr lang="zh-CN" altLang="en-US" sz="2800" b="1" dirty="0"/>
              <a:t>数组的</a:t>
            </a:r>
            <a:r>
              <a:rPr lang="zh-CN" altLang="en-US" sz="2800" b="1" dirty="0">
                <a:solidFill>
                  <a:srgbClr val="FF0000"/>
                </a:solidFill>
              </a:rPr>
              <a:t>特点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pPr lvl="1">
              <a:lnSpc>
                <a:spcPts val="3100"/>
              </a:lnSpc>
            </a:pPr>
            <a:r>
              <a:rPr lang="zh-CN" altLang="en-US" sz="2400" b="1" dirty="0"/>
              <a:t>元素本身可以具有某种结构，属于同一数据类型； </a:t>
            </a:r>
            <a:endParaRPr lang="en-US" altLang="zh-CN" sz="2400" b="1" dirty="0"/>
          </a:p>
          <a:p>
            <a:pPr lvl="1">
              <a:lnSpc>
                <a:spcPts val="3100"/>
              </a:lnSpc>
            </a:pPr>
            <a:r>
              <a:rPr lang="zh-CN" altLang="en-US" sz="2400" b="1" dirty="0"/>
              <a:t>数组是一个具有固定格式和数量的数据集合。</a:t>
            </a:r>
            <a:endParaRPr lang="en-US" altLang="zh-CN" sz="2400" b="1" dirty="0"/>
          </a:p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示例：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D72F1-5B2A-40EC-A1A5-F5156AA03C7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5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340711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4.1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数组的类型定义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400" b="1" dirty="0"/>
              <a:t>示例：</a:t>
            </a: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r>
              <a:rPr lang="zh-CN" altLang="en-US" sz="2400" b="1" dirty="0"/>
              <a:t>元素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22</a:t>
            </a:r>
            <a:r>
              <a:rPr lang="zh-CN" altLang="en-US" sz="2400" b="1" dirty="0"/>
              <a:t>受两个线性关系的约束，在行上有一个行前驱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21</a:t>
            </a:r>
            <a:r>
              <a:rPr lang="zh-CN" altLang="en-US" sz="2400" b="1" dirty="0"/>
              <a:t>和一 个行后继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23</a:t>
            </a:r>
            <a:r>
              <a:rPr lang="zh-CN" altLang="en-US" sz="2400" b="1" dirty="0"/>
              <a:t>，在列上有一个列前驱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12</a:t>
            </a:r>
            <a:r>
              <a:rPr lang="zh-CN" altLang="en-US" sz="2400" b="1" dirty="0"/>
              <a:t>和和一个列后继</a:t>
            </a:r>
            <a:r>
              <a:rPr lang="en-US" altLang="zh-CN" sz="2400" b="1" dirty="0"/>
              <a:t>a</a:t>
            </a:r>
            <a:r>
              <a:rPr lang="en-US" altLang="zh-CN" sz="2400" b="1" baseline="-25000" dirty="0"/>
              <a:t>32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>
              <a:lnSpc>
                <a:spcPts val="3100"/>
              </a:lnSpc>
            </a:pPr>
            <a:r>
              <a:rPr lang="zh-CN" altLang="en-US" sz="2400" b="1" dirty="0"/>
              <a:t>二维数组是数据元素为线性表的线性表。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BA8C-00D1-4E97-A3CA-D368B8241E2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6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81200"/>
            <a:ext cx="3282597" cy="1895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667000"/>
            <a:ext cx="914400" cy="563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76400"/>
            <a:ext cx="4419600" cy="265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3302602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4.1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数组的类型定义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400" b="1" dirty="0"/>
              <a:t>         分析二维数组</a:t>
            </a:r>
            <a:r>
              <a:rPr lang="en-US" altLang="zh-CN" sz="2400" b="1" dirty="0"/>
              <a:t>a[m][n]</a:t>
            </a:r>
            <a:r>
              <a:rPr lang="zh-CN" altLang="en-US" sz="2400" b="1" dirty="0"/>
              <a:t>和三维数组</a:t>
            </a:r>
            <a:r>
              <a:rPr lang="en-US" altLang="zh-CN" sz="2400" b="1" dirty="0"/>
              <a:t>a[m][n][p]</a:t>
            </a:r>
            <a:r>
              <a:rPr lang="zh-CN" altLang="en-US" sz="2400" b="1" dirty="0"/>
              <a:t>在内存中的存放方式。</a:t>
            </a: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047E-CF1A-4E4F-98A6-CB920D43520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7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381000" y="1295400"/>
            <a:ext cx="1143000" cy="457200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例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987425" y="2987675"/>
            <a:ext cx="67548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(a</a:t>
            </a:r>
            <a:r>
              <a:rPr kumimoji="1" lang="en-US" altLang="zh-CN" baseline="-25000">
                <a:latin typeface="Times New Roman" pitchFamily="18" charset="0"/>
              </a:rPr>
              <a:t>00</a:t>
            </a:r>
            <a:r>
              <a:rPr kumimoji="1" lang="en-US" altLang="zh-CN">
                <a:latin typeface="Times New Roman" pitchFamily="18" charset="0"/>
              </a:rPr>
              <a:t>,···,a</a:t>
            </a:r>
            <a:r>
              <a:rPr kumimoji="1" lang="en-US" altLang="zh-CN" baseline="-25000">
                <a:latin typeface="Times New Roman" pitchFamily="18" charset="0"/>
              </a:rPr>
              <a:t>0n-1</a:t>
            </a:r>
            <a:r>
              <a:rPr kumimoji="1" lang="en-US" altLang="zh-CN">
                <a:latin typeface="Times New Roman" pitchFamily="18" charset="0"/>
              </a:rPr>
              <a:t>,a</a:t>
            </a:r>
            <a:r>
              <a:rPr kumimoji="1" lang="en-US" altLang="zh-CN" baseline="-25000">
                <a:latin typeface="Times New Roman" pitchFamily="18" charset="0"/>
              </a:rPr>
              <a:t>10</a:t>
            </a:r>
            <a:r>
              <a:rPr kumimoji="1" lang="en-US" altLang="zh-CN">
                <a:latin typeface="Times New Roman" pitchFamily="18" charset="0"/>
              </a:rPr>
              <a:t>,···,a</a:t>
            </a:r>
            <a:r>
              <a:rPr kumimoji="1" lang="en-US" altLang="zh-CN" baseline="-25000">
                <a:latin typeface="Times New Roman" pitchFamily="18" charset="0"/>
              </a:rPr>
              <a:t>1n-1</a:t>
            </a:r>
            <a:r>
              <a:rPr kumimoji="1" lang="en-US" altLang="zh-CN">
                <a:latin typeface="Times New Roman" pitchFamily="18" charset="0"/>
              </a:rPr>
              <a:t>,···a</a:t>
            </a:r>
            <a:r>
              <a:rPr kumimoji="1" lang="en-US" altLang="zh-CN" baseline="-25000">
                <a:latin typeface="Times New Roman" pitchFamily="18" charset="0"/>
              </a:rPr>
              <a:t>ij</a:t>
            </a:r>
            <a:r>
              <a:rPr kumimoji="1" lang="en-US" altLang="zh-CN">
                <a:latin typeface="Times New Roman" pitchFamily="18" charset="0"/>
              </a:rPr>
              <a:t>,···,a</a:t>
            </a:r>
            <a:r>
              <a:rPr kumimoji="1" lang="en-US" altLang="zh-CN" baseline="-25000">
                <a:latin typeface="Times New Roman" pitchFamily="18" charset="0"/>
              </a:rPr>
              <a:t>m-1 0</a:t>
            </a:r>
            <a:r>
              <a:rPr kumimoji="1" lang="en-US" altLang="zh-CN">
                <a:latin typeface="Times New Roman" pitchFamily="18" charset="0"/>
              </a:rPr>
              <a:t>,···,a</a:t>
            </a:r>
            <a:r>
              <a:rPr kumimoji="1" lang="en-US" altLang="zh-CN" baseline="-25000">
                <a:latin typeface="Times New Roman" pitchFamily="18" charset="0"/>
              </a:rPr>
              <a:t>m-1n-1</a:t>
            </a:r>
            <a:r>
              <a:rPr kumimoji="1" lang="en-US" altLang="zh-CN">
                <a:latin typeface="Times New Roman" pitchFamily="18" charset="0"/>
              </a:rPr>
              <a:t>)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                          0≤i≤m-1,  0≤j≤n-1 ;</a:t>
            </a: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987425" y="4797425"/>
            <a:ext cx="79930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(a</a:t>
            </a:r>
            <a:r>
              <a:rPr kumimoji="1" lang="en-US" altLang="zh-CN" baseline="-25000">
                <a:latin typeface="Times New Roman" pitchFamily="18" charset="0"/>
              </a:rPr>
              <a:t>000</a:t>
            </a:r>
            <a:r>
              <a:rPr kumimoji="1" lang="en-US" altLang="zh-CN">
                <a:latin typeface="Times New Roman" pitchFamily="18" charset="0"/>
              </a:rPr>
              <a:t>,···,a</a:t>
            </a:r>
            <a:r>
              <a:rPr kumimoji="1" lang="en-US" altLang="zh-CN" baseline="-25000">
                <a:latin typeface="Times New Roman" pitchFamily="18" charset="0"/>
              </a:rPr>
              <a:t>00n-1</a:t>
            </a:r>
            <a:r>
              <a:rPr kumimoji="1" lang="en-US" altLang="zh-CN">
                <a:latin typeface="Times New Roman" pitchFamily="18" charset="0"/>
              </a:rPr>
              <a:t>,a</a:t>
            </a:r>
            <a:r>
              <a:rPr kumimoji="1" lang="en-US" altLang="zh-CN" baseline="-25000">
                <a:latin typeface="Times New Roman" pitchFamily="18" charset="0"/>
              </a:rPr>
              <a:t>010</a:t>
            </a:r>
            <a:r>
              <a:rPr kumimoji="1" lang="en-US" altLang="zh-CN">
                <a:latin typeface="Times New Roman" pitchFamily="18" charset="0"/>
              </a:rPr>
              <a:t>,···,a</a:t>
            </a:r>
            <a:r>
              <a:rPr kumimoji="1" lang="en-US" altLang="zh-CN" baseline="-25000">
                <a:latin typeface="Times New Roman" pitchFamily="18" charset="0"/>
              </a:rPr>
              <a:t>01n-1</a:t>
            </a:r>
            <a:r>
              <a:rPr kumimoji="1" lang="en-US" altLang="zh-CN">
                <a:latin typeface="Times New Roman" pitchFamily="18" charset="0"/>
              </a:rPr>
              <a:t>,···,a</a:t>
            </a:r>
            <a:r>
              <a:rPr kumimoji="1" lang="en-US" altLang="zh-CN" baseline="-25000">
                <a:latin typeface="Times New Roman" pitchFamily="18" charset="0"/>
              </a:rPr>
              <a:t>ijk</a:t>
            </a:r>
            <a:r>
              <a:rPr kumimoji="1" lang="en-US" altLang="zh-CN">
                <a:latin typeface="Times New Roman" pitchFamily="18" charset="0"/>
              </a:rPr>
              <a:t>,···,a</a:t>
            </a:r>
            <a:r>
              <a:rPr kumimoji="1" lang="en-US" altLang="zh-CN" baseline="-25000">
                <a:latin typeface="Times New Roman" pitchFamily="18" charset="0"/>
              </a:rPr>
              <a:t>m-1n-10</a:t>
            </a:r>
            <a:r>
              <a:rPr kumimoji="1" lang="en-US" altLang="zh-CN">
                <a:latin typeface="Times New Roman" pitchFamily="18" charset="0"/>
              </a:rPr>
              <a:t>,···,a</a:t>
            </a:r>
            <a:r>
              <a:rPr kumimoji="1" lang="en-US" altLang="zh-CN" baseline="-25000">
                <a:latin typeface="Times New Roman" pitchFamily="18" charset="0"/>
              </a:rPr>
              <a:t>m-1n-1p-1</a:t>
            </a:r>
            <a:r>
              <a:rPr kumimoji="1" lang="en-US" altLang="zh-CN">
                <a:latin typeface="Times New Roman" pitchFamily="18" charset="0"/>
              </a:rPr>
              <a:t>)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                  0≤ i ≤m-1,  0≤ j ≤n-1 , 0≤ k ≤p-1</a:t>
            </a: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914400" y="2195513"/>
            <a:ext cx="5256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a[m][n]</a:t>
            </a: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在内存中的存放方式是：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987425" y="4005263"/>
            <a:ext cx="5976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a[m][n][p]</a:t>
            </a: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在内存中的存放方式是：</a:t>
            </a:r>
          </a:p>
        </p:txBody>
      </p:sp>
      <p:sp>
        <p:nvSpPr>
          <p:cNvPr id="18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107519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4.1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数组的类型定义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400" b="1" dirty="0"/>
              <a:t>数组的</a:t>
            </a:r>
            <a:r>
              <a:rPr lang="en-US" altLang="zh-CN" sz="2400" b="1" dirty="0"/>
              <a:t>ADT</a:t>
            </a:r>
            <a:r>
              <a:rPr lang="zh-CN" altLang="en-US" sz="2400" b="1" dirty="0"/>
              <a:t>定义：</a:t>
            </a: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63ED8-CEF2-4D1D-A18D-E3EE6FBBE93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704850" y="1809750"/>
            <a:ext cx="9582150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ADT Array 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en-US" sz="2400">
                <a:solidFill>
                  <a:srgbClr val="FF3300"/>
                </a:solidFill>
                <a:latin typeface="Times New Roman" pitchFamily="18" charset="0"/>
              </a:rPr>
              <a:t>数据对象</a:t>
            </a:r>
            <a:r>
              <a:rPr kumimoji="1" lang="zh-CN" altLang="en-US" sz="2400">
                <a:solidFill>
                  <a:srgbClr val="3333FF"/>
                </a:solidFill>
                <a:latin typeface="Times New Roman" pitchFamily="18" charset="0"/>
              </a:rPr>
              <a:t>：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en-US" altLang="zh-CN" sz="2400">
              <a:solidFill>
                <a:srgbClr val="000000"/>
              </a:solidFill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en-US" altLang="zh-CN" sz="2400">
              <a:solidFill>
                <a:srgbClr val="000000"/>
              </a:solidFill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en-US" altLang="zh-CN" sz="2400">
              <a:solidFill>
                <a:srgbClr val="000000"/>
              </a:solidFill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en-US" sz="2400">
                <a:solidFill>
                  <a:srgbClr val="FF3300"/>
                </a:solidFill>
                <a:latin typeface="Times New Roman" pitchFamily="18" charset="0"/>
              </a:rPr>
              <a:t>数据关系</a:t>
            </a:r>
            <a:r>
              <a:rPr kumimoji="1" lang="zh-CN" altLang="en-US" sz="2400">
                <a:solidFill>
                  <a:srgbClr val="3333FF"/>
                </a:solidFill>
                <a:latin typeface="Times New Roman" pitchFamily="18" charset="0"/>
              </a:rPr>
              <a:t>：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3333FF"/>
              </a:solidFill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3333FF"/>
              </a:solidFill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3333FF"/>
              </a:solidFill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FF3300"/>
                </a:solidFill>
                <a:latin typeface="Times New Roman" pitchFamily="18" charset="0"/>
              </a:rPr>
              <a:t>   基本操作：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} ADT Array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2720975" y="4079875"/>
            <a:ext cx="71278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R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＝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{R1, R2, ..., Rn}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Ri</a:t>
            </a:r>
            <a:r>
              <a:rPr kumimoji="1" lang="zh-CN" altLang="en-US" sz="2400">
                <a:latin typeface="Times New Roman" pitchFamily="18" charset="0"/>
                <a:ea typeface="楷体_GB2312" pitchFamily="49" charset="-122"/>
              </a:rPr>
              <a:t>＝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{&lt;a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j1,... ji,... jn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, a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j1, ...ji +1, ...jn 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&gt; | 0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j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k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b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k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-1,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1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k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n  </a:t>
            </a:r>
            <a:r>
              <a:rPr kumimoji="1" lang="zh-CN" altLang="en-US" sz="2400">
                <a:latin typeface="Times New Roman" pitchFamily="18" charset="0"/>
                <a:ea typeface="楷体_GB2312" pitchFamily="49" charset="-122"/>
              </a:rPr>
              <a:t>且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k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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i,  0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j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b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-2,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j1,... ji,... jn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, a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j1, ...ji +1, ...jn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∈D,   i=2,...,n }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2720975" y="2206625"/>
            <a:ext cx="71278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j</a:t>
            </a:r>
            <a:r>
              <a:rPr kumimoji="1" lang="en-US" altLang="zh-CN" sz="2400" baseline="-25000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=0,…,b</a:t>
            </a:r>
            <a:r>
              <a:rPr kumimoji="1" lang="en-US" altLang="zh-CN" sz="2400" baseline="-25000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>
                <a:solidFill>
                  <a:srgbClr val="3333FF"/>
                </a:solidFill>
                <a:latin typeface="Times New Roman" pitchFamily="18" charset="0"/>
                <a:ea typeface="楷体_GB2312" pitchFamily="49" charset="-122"/>
              </a:rPr>
              <a:t>-1,i=1,2,…,n,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D</a:t>
            </a:r>
            <a:r>
              <a:rPr kumimoji="1" lang="zh-CN" altLang="en-US" sz="2400">
                <a:latin typeface="Times New Roman" pitchFamily="18" charset="0"/>
                <a:ea typeface="楷体_GB2312" pitchFamily="49" charset="-122"/>
              </a:rPr>
              <a:t>＝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{a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j1,j2,…,jn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| n</a:t>
            </a:r>
            <a:r>
              <a:rPr kumimoji="1" lang="zh-CN" altLang="en-US" sz="2400">
                <a:latin typeface="Times New Roman" pitchFamily="18" charset="0"/>
                <a:ea typeface="楷体_GB2312" pitchFamily="49" charset="-122"/>
              </a:rPr>
              <a:t>称为数据元素的维数，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zh-CN" altLang="en-US" sz="2400">
                <a:latin typeface="Times New Roman" pitchFamily="18" charset="0"/>
                <a:ea typeface="楷体_GB2312" pitchFamily="49" charset="-122"/>
              </a:rPr>
              <a:t>是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latin typeface="Times New Roman" pitchFamily="18" charset="0"/>
                <a:ea typeface="楷体_GB2312" pitchFamily="49" charset="-122"/>
              </a:rPr>
              <a:t>数组第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zh-CN" altLang="en-US" sz="2400">
                <a:latin typeface="Times New Roman" pitchFamily="18" charset="0"/>
                <a:ea typeface="楷体_GB2312" pitchFamily="49" charset="-122"/>
              </a:rPr>
              <a:t>维的长度，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j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>
                <a:latin typeface="Times New Roman" pitchFamily="18" charset="0"/>
                <a:ea typeface="楷体_GB2312" pitchFamily="49" charset="-122"/>
              </a:rPr>
              <a:t>是数组元素的第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i</a:t>
            </a:r>
            <a:r>
              <a:rPr kumimoji="1" lang="zh-CN" altLang="en-US" sz="2400">
                <a:latin typeface="Times New Roman" pitchFamily="18" charset="0"/>
                <a:ea typeface="楷体_GB2312" pitchFamily="49" charset="-122"/>
              </a:rPr>
              <a:t>维下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latin typeface="Times New Roman" pitchFamily="18" charset="0"/>
                <a:ea typeface="楷体_GB2312" pitchFamily="49" charset="-122"/>
              </a:rPr>
              <a:t>标， 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aseline="-25000">
                <a:latin typeface="Times New Roman" pitchFamily="18" charset="0"/>
                <a:ea typeface="楷体_GB2312" pitchFamily="49" charset="-122"/>
              </a:rPr>
              <a:t>j1,j2,…,jn</a:t>
            </a:r>
            <a:r>
              <a:rPr kumimoji="1" lang="en-US" altLang="zh-CN" sz="2400">
                <a:latin typeface="Times New Roman" pitchFamily="18" charset="0"/>
                <a:ea typeface="楷体_GB2312" pitchFamily="49" charset="-122"/>
              </a:rPr>
              <a:t>∈ElemSet}</a:t>
            </a:r>
          </a:p>
        </p:txBody>
      </p:sp>
      <p:sp>
        <p:nvSpPr>
          <p:cNvPr id="21" name="Rectangle 9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7010400" y="5805488"/>
            <a:ext cx="1524000" cy="519112"/>
          </a:xfrm>
          <a:prstGeom prst="rect">
            <a:avLst/>
          </a:prstGeom>
          <a:solidFill>
            <a:srgbClr val="DBF5F9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</a:rPr>
              <a:t>见下页</a:t>
            </a:r>
          </a:p>
        </p:txBody>
      </p:sp>
      <p:sp>
        <p:nvSpPr>
          <p:cNvPr id="22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246974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4.1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数组的类型定义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3600" b="1" dirty="0">
                <a:solidFill>
                  <a:srgbClr val="FF0000"/>
                </a:solidFill>
              </a:rPr>
              <a:t>基本操作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1">
              <a:lnSpc>
                <a:spcPts val="3000"/>
              </a:lnSpc>
            </a:pPr>
            <a:r>
              <a:rPr lang="zh-CN" altLang="en-US" b="1" dirty="0"/>
              <a:t>初始化 ：</a:t>
            </a:r>
            <a:r>
              <a:rPr lang="en-US" altLang="zh-CN" b="1" dirty="0"/>
              <a:t>Create</a:t>
            </a:r>
            <a:r>
              <a:rPr lang="zh-CN" altLang="en-US" b="1" dirty="0"/>
              <a:t>（） </a:t>
            </a:r>
            <a:endParaRPr lang="en-US" altLang="zh-CN" b="1" dirty="0"/>
          </a:p>
          <a:p>
            <a:pPr lvl="2">
              <a:lnSpc>
                <a:spcPts val="3000"/>
              </a:lnSpc>
            </a:pPr>
            <a:r>
              <a:rPr lang="zh-CN" altLang="en-US" sz="2000" b="1" dirty="0"/>
              <a:t>建立一个空数组； </a:t>
            </a:r>
            <a:endParaRPr lang="en-US" altLang="zh-CN" sz="2000" b="1" dirty="0"/>
          </a:p>
          <a:p>
            <a:pPr lvl="2">
              <a:lnSpc>
                <a:spcPts val="3000"/>
              </a:lnSpc>
            </a:pPr>
            <a:r>
              <a:rPr lang="en-US" altLang="zh-CN" sz="2000" b="1" dirty="0" err="1"/>
              <a:t>int</a:t>
            </a:r>
            <a:r>
              <a:rPr lang="en-US" altLang="zh-CN" sz="2000" b="1" dirty="0"/>
              <a:t> A[ ][ ]</a:t>
            </a:r>
          </a:p>
          <a:p>
            <a:pPr lvl="1">
              <a:lnSpc>
                <a:spcPts val="3000"/>
              </a:lnSpc>
            </a:pPr>
            <a:r>
              <a:rPr lang="zh-CN" altLang="en-US" b="1" dirty="0"/>
              <a:t>存取：</a:t>
            </a:r>
            <a:r>
              <a:rPr lang="en-US" altLang="zh-CN" b="1" dirty="0"/>
              <a:t>Retrieve</a:t>
            </a:r>
            <a:r>
              <a:rPr lang="zh-CN" altLang="en-US" b="1" dirty="0"/>
              <a:t>（</a:t>
            </a:r>
            <a:r>
              <a:rPr lang="en-US" altLang="zh-CN" b="1" dirty="0"/>
              <a:t>array</a:t>
            </a:r>
            <a:r>
              <a:rPr lang="zh-CN" altLang="en-US" b="1" dirty="0"/>
              <a:t>，</a:t>
            </a:r>
            <a:r>
              <a:rPr lang="en-US" altLang="zh-CN" b="1" dirty="0"/>
              <a:t>index</a:t>
            </a:r>
            <a:r>
              <a:rPr lang="zh-CN" altLang="en-US" b="1" dirty="0"/>
              <a:t>） </a:t>
            </a:r>
            <a:endParaRPr lang="en-US" altLang="zh-CN" b="1" dirty="0"/>
          </a:p>
          <a:p>
            <a:pPr lvl="2">
              <a:lnSpc>
                <a:spcPts val="3000"/>
              </a:lnSpc>
            </a:pPr>
            <a:r>
              <a:rPr lang="zh-CN" altLang="en-US" sz="2000" b="1" dirty="0"/>
              <a:t>给定一组下标，读出对应的数组元素； </a:t>
            </a:r>
            <a:endParaRPr lang="en-US" altLang="zh-CN" sz="2000" b="1" dirty="0"/>
          </a:p>
          <a:p>
            <a:pPr lvl="2">
              <a:lnSpc>
                <a:spcPts val="3000"/>
              </a:lnSpc>
            </a:pPr>
            <a:r>
              <a:rPr lang="en-US" altLang="zh-CN" sz="2000" b="1" dirty="0"/>
              <a:t>A[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][j]</a:t>
            </a:r>
          </a:p>
          <a:p>
            <a:pPr lvl="1">
              <a:lnSpc>
                <a:spcPts val="3000"/>
              </a:lnSpc>
            </a:pPr>
            <a:r>
              <a:rPr lang="zh-CN" altLang="en-US" b="1" dirty="0"/>
              <a:t>修改：</a:t>
            </a:r>
            <a:r>
              <a:rPr lang="en-US" altLang="zh-CN" b="1" dirty="0"/>
              <a:t>Store</a:t>
            </a:r>
            <a:r>
              <a:rPr lang="zh-CN" altLang="en-US" b="1" dirty="0"/>
              <a:t>（</a:t>
            </a:r>
            <a:r>
              <a:rPr lang="en-US" altLang="zh-CN" b="1" dirty="0"/>
              <a:t>array</a:t>
            </a:r>
            <a:r>
              <a:rPr lang="zh-CN" altLang="en-US" b="1" dirty="0"/>
              <a:t>，</a:t>
            </a:r>
            <a:r>
              <a:rPr lang="en-US" altLang="zh-CN" b="1" dirty="0"/>
              <a:t>index</a:t>
            </a:r>
            <a:r>
              <a:rPr lang="zh-CN" altLang="en-US" b="1" dirty="0"/>
              <a:t>，</a:t>
            </a:r>
            <a:r>
              <a:rPr lang="en-US" altLang="zh-CN" b="1" dirty="0"/>
              <a:t>value</a:t>
            </a:r>
            <a:r>
              <a:rPr lang="zh-CN" altLang="en-US" b="1" dirty="0"/>
              <a:t>）： </a:t>
            </a:r>
            <a:endParaRPr lang="en-US" altLang="zh-CN" b="1" dirty="0"/>
          </a:p>
          <a:p>
            <a:pPr lvl="2">
              <a:lnSpc>
                <a:spcPts val="3000"/>
              </a:lnSpc>
            </a:pPr>
            <a:r>
              <a:rPr lang="zh-CN" altLang="en-US" sz="2000" b="1" dirty="0"/>
              <a:t>给定一组下标，存储或修改与其相对应的数组元素。 </a:t>
            </a:r>
            <a:endParaRPr lang="en-US" altLang="zh-CN" sz="2000" b="1" dirty="0"/>
          </a:p>
          <a:p>
            <a:pPr lvl="2">
              <a:lnSpc>
                <a:spcPts val="3000"/>
              </a:lnSpc>
            </a:pPr>
            <a:r>
              <a:rPr lang="en-US" altLang="zh-CN" sz="2000" b="1" dirty="0"/>
              <a:t>A[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][j]=8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 lvl="1">
              <a:lnSpc>
                <a:spcPts val="3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无需插入和删除操作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ts val="2800"/>
              </a:lnSpc>
            </a:pPr>
            <a:endParaRPr lang="en-US" altLang="zh-CN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57899-82A4-4201-9192-CE5CFCB4BEA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9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361242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第四章 数组和广义表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数组的类型定义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charset="0"/>
                <a:ea typeface="宋体" charset="-122"/>
              </a:rPr>
              <a:t>4.2  </a:t>
            </a: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数组的顺序表示和实现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矩阵的压缩存储 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广义表的类型定义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广义表的存储结构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4A5A-9CDB-4644-92D4-199F98A1FDA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10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3963888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4.2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数组的顺序表示和实现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数组的存储结构 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数组没有插入和删除操作，所以，不用预留空间，适合采用顺序存储。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数组是多维的结构，而存储空间是一个一维的结构。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数组的顺序存储 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b="1" dirty="0"/>
              <a:t>用一组连续的存储单元来实现（多维）数组的存储。 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b="1" dirty="0"/>
              <a:t>高维数组可以看成是由多个低维数组组成的。</a:t>
            </a:r>
            <a:endParaRPr lang="en-US" altLang="zh-CN" b="1" dirty="0"/>
          </a:p>
          <a:p>
            <a:pPr lvl="3">
              <a:lnSpc>
                <a:spcPct val="120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ct val="120000"/>
              </a:lnSpc>
            </a:pPr>
            <a:endParaRPr lang="en-US" altLang="zh-CN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1FEFF-559C-4A11-A1A3-87F4F99FE97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11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1546250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4.2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数组的顺序表示和实现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二维数组的存储与寻址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常用的映射（存储）方法有两种： 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b="1" dirty="0"/>
              <a:t>按行优先：</a:t>
            </a:r>
            <a:r>
              <a:rPr lang="zh-CN" altLang="en-US" b="1" dirty="0">
                <a:solidFill>
                  <a:srgbClr val="FF0000"/>
                </a:solidFill>
              </a:rPr>
              <a:t>先行后列</a:t>
            </a:r>
            <a:r>
              <a:rPr lang="zh-CN" altLang="en-US" b="1" dirty="0"/>
              <a:t>，先存储行号较小的元素，行号相同者先存储列号较小的元素。（高级语言一般以行序为主序）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b="1" dirty="0"/>
              <a:t>按列优先：</a:t>
            </a:r>
            <a:r>
              <a:rPr lang="zh-CN" altLang="en-US" b="1" dirty="0">
                <a:solidFill>
                  <a:srgbClr val="FF0000"/>
                </a:solidFill>
              </a:rPr>
              <a:t>先列后行</a:t>
            </a:r>
            <a:r>
              <a:rPr lang="zh-CN" altLang="en-US" b="1" dirty="0"/>
              <a:t>，先存储列号较小的元素，列号相同者先存储行号较小的元素。（例如</a:t>
            </a:r>
            <a:r>
              <a:rPr lang="en-US" altLang="zh-CN" b="1" dirty="0" err="1"/>
              <a:t>matlab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pPr lvl="3">
              <a:lnSpc>
                <a:spcPct val="120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ct val="120000"/>
              </a:lnSpc>
            </a:pPr>
            <a:endParaRPr lang="en-US" altLang="zh-CN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034E7-E172-48D5-A3BF-7E2FFC35159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12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990600" y="4963180"/>
            <a:ext cx="7467600" cy="523220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707F9"/>
                </a:solidFill>
                <a:latin typeface="Times New Roman" pitchFamily="18" charset="0"/>
              </a:rPr>
              <a:t>    不同的存储方式有不同元素地址计算方法。</a:t>
            </a:r>
          </a:p>
        </p:txBody>
      </p:sp>
      <p:sp>
        <p:nvSpPr>
          <p:cNvPr id="14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311047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4.2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数组的顺序表示和实现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400" b="1" dirty="0"/>
              <a:t>数组元素的地址关系：</a:t>
            </a: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46-DF3F-4C28-A140-7D166D5E858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13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374775" y="3447871"/>
            <a:ext cx="41052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a00   a01   a02   a03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a10   a11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 sz="2400">
                <a:solidFill>
                  <a:srgbClr val="FF33CC"/>
                </a:solidFill>
                <a:latin typeface="Times New Roman" pitchFamily="18" charset="0"/>
              </a:rPr>
              <a:t> </a:t>
            </a:r>
            <a:r>
              <a:rPr kumimoji="1" lang="en-US" altLang="zh-CN" sz="2400">
                <a:solidFill>
                  <a:srgbClr val="FF3300"/>
                </a:solidFill>
                <a:latin typeface="Times New Roman" pitchFamily="18" charset="0"/>
              </a:rPr>
              <a:t>a12</a:t>
            </a:r>
            <a:r>
              <a:rPr kumimoji="1" lang="en-US" altLang="zh-CN" sz="2400">
                <a:solidFill>
                  <a:srgbClr val="FF33CC"/>
                </a:solidFill>
                <a:latin typeface="Times New Roman" pitchFamily="18" charset="0"/>
              </a:rPr>
              <a:t> 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 a13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a20   a21   a22   a23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5384800" y="3435171"/>
            <a:ext cx="35258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a00   a01   a02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  a03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a10   a11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 sz="2400">
                <a:solidFill>
                  <a:srgbClr val="FF33CC"/>
                </a:solidFill>
                <a:latin typeface="Times New Roman" pitchFamily="18" charset="0"/>
              </a:rPr>
              <a:t> </a:t>
            </a:r>
            <a:r>
              <a:rPr kumimoji="1" lang="en-US" altLang="zh-CN" sz="2400">
                <a:solidFill>
                  <a:srgbClr val="FF3300"/>
                </a:solidFill>
                <a:latin typeface="Times New Roman" pitchFamily="18" charset="0"/>
              </a:rPr>
              <a:t>a12</a:t>
            </a:r>
            <a:r>
              <a:rPr kumimoji="1" lang="en-US" altLang="zh-CN" sz="2400">
                <a:solidFill>
                  <a:srgbClr val="FF33CC"/>
                </a:solidFill>
                <a:latin typeface="Times New Roman" pitchFamily="18" charset="0"/>
              </a:rPr>
              <a:t> 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 a13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a20   a21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   a22   a23</a:t>
            </a: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1352550" y="4572000"/>
            <a:ext cx="63373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FF3300"/>
                </a:solidFill>
                <a:latin typeface="Times New Roman" pitchFamily="18" charset="0"/>
              </a:rPr>
              <a:t>以行序为主：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loc(a[1][2])=loc(a[0][0])+[(1×4)+2]×L</a:t>
            </a: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762000" y="1847671"/>
            <a:ext cx="79819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        分别以行序为主和以列序为主求二维数组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a[3][4]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中元素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a[1][2]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地址，首地址用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itchFamily="18" charset="0"/>
              </a:rPr>
              <a:t>loc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(a[0][0])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表示，每个元素占用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L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个内存单位。</a:t>
            </a:r>
          </a:p>
        </p:txBody>
      </p:sp>
      <p:sp>
        <p:nvSpPr>
          <p:cNvPr id="21" name="Oval 13"/>
          <p:cNvSpPr>
            <a:spLocks noChangeArrowheads="1"/>
          </p:cNvSpPr>
          <p:nvPr/>
        </p:nvSpPr>
        <p:spPr bwMode="auto">
          <a:xfrm>
            <a:off x="228600" y="1837472"/>
            <a:ext cx="1143000" cy="448528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例</a:t>
            </a: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1352550" y="5417403"/>
            <a:ext cx="62642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FF3300"/>
                </a:solidFill>
                <a:latin typeface="Times New Roman" pitchFamily="18" charset="0"/>
              </a:rPr>
              <a:t>以列序为主：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loc(a[1][2])=loc(a[0][0])+[(2×3)+1]×L</a:t>
            </a:r>
          </a:p>
        </p:txBody>
      </p:sp>
      <p:sp>
        <p:nvSpPr>
          <p:cNvPr id="23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346244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4.2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数组的顺序表示和实现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400" b="1" dirty="0"/>
              <a:t>数组元素的地址关系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行序为主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</a:t>
            </a: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F1785-061E-479C-989A-41C2CBFE5A4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14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2"/>
          <p:cNvSpPr txBox="1">
            <a:spLocks noChangeArrowheads="1"/>
          </p:cNvSpPr>
          <p:nvPr/>
        </p:nvSpPr>
        <p:spPr bwMode="auto">
          <a:xfrm>
            <a:off x="152400" y="2065008"/>
            <a:ext cx="8945563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just" eaLnBrk="1" fontAlgn="base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6600CC"/>
              </a:buClr>
              <a:buFont typeface="Wingdings" pitchFamily="2" charset="2"/>
              <a:buNone/>
            </a:pPr>
            <a:r>
              <a:rPr kumimoji="1" lang="zh-CN" altLang="en-US" sz="2400">
                <a:latin typeface="Times New Roman" pitchFamily="18" charset="0"/>
              </a:rPr>
              <a:t>        设每个元素所占空间为</a:t>
            </a:r>
            <a:r>
              <a:rPr kumimoji="1" lang="en-US" altLang="zh-CN" sz="2400">
                <a:latin typeface="Times New Roman" pitchFamily="18" charset="0"/>
              </a:rPr>
              <a:t>L,A[0][0]</a:t>
            </a:r>
            <a:r>
              <a:rPr kumimoji="1" lang="zh-CN" altLang="en-US" sz="2400">
                <a:latin typeface="Times New Roman" pitchFamily="18" charset="0"/>
              </a:rPr>
              <a:t>的起始地址记为</a:t>
            </a:r>
            <a:r>
              <a:rPr kumimoji="1" lang="en-US" altLang="zh-CN" sz="2400">
                <a:latin typeface="Times New Roman" pitchFamily="18" charset="0"/>
              </a:rPr>
              <a:t>LOC[0,0]</a:t>
            </a:r>
            <a:r>
              <a:rPr kumimoji="1" lang="zh-CN" altLang="en-US" sz="2400">
                <a:latin typeface="Times New Roman" pitchFamily="18" charset="0"/>
              </a:rPr>
              <a:t>。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152400" y="2667000"/>
            <a:ext cx="8929688" cy="2049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just" eaLnBrk="1" fontAlgn="base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6600CC"/>
              </a:buClr>
              <a:buFont typeface="Wingdings" pitchFamily="2" charset="2"/>
              <a:buNone/>
            </a:pPr>
            <a:r>
              <a:rPr kumimoji="1" lang="zh-CN" altLang="en-US" sz="2400" dirty="0">
                <a:latin typeface="Times New Roman" pitchFamily="18" charset="0"/>
              </a:rPr>
              <a:t>        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itchFamily="18" charset="0"/>
              </a:rPr>
              <a:t>二维数组</a:t>
            </a:r>
            <a:r>
              <a:rPr kumimoji="1" lang="en-US" altLang="zh-CN" sz="2400" dirty="0">
                <a:latin typeface="Times New Roman" pitchFamily="18" charset="0"/>
              </a:rPr>
              <a:t>A[b</a:t>
            </a:r>
            <a:r>
              <a:rPr kumimoji="1" lang="en-US" altLang="zh-CN" sz="2400" baseline="-25000" dirty="0">
                <a:latin typeface="Times New Roman" pitchFamily="18" charset="0"/>
              </a:rPr>
              <a:t>1</a:t>
            </a:r>
            <a:r>
              <a:rPr kumimoji="1" lang="en-US" altLang="zh-CN" sz="2400" dirty="0">
                <a:latin typeface="Times New Roman" pitchFamily="18" charset="0"/>
              </a:rPr>
              <a:t>][b</a:t>
            </a:r>
            <a:r>
              <a:rPr kumimoji="1" lang="en-US" altLang="zh-CN" sz="2400" baseline="-25000" dirty="0">
                <a:latin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</a:rPr>
              <a:t>]</a:t>
            </a:r>
            <a:r>
              <a:rPr kumimoji="1" lang="zh-CN" altLang="en-US" sz="2400" dirty="0">
                <a:latin typeface="Times New Roman" pitchFamily="18" charset="0"/>
              </a:rPr>
              <a:t>中元素</a:t>
            </a:r>
            <a:r>
              <a:rPr kumimoji="1" lang="en-US" altLang="zh-CN" sz="2400" dirty="0" err="1">
                <a:latin typeface="Times New Roman" pitchFamily="18" charset="0"/>
              </a:rPr>
              <a:t>A</a:t>
            </a:r>
            <a:r>
              <a:rPr kumimoji="1" lang="en-US" altLang="zh-CN" sz="2400" baseline="-25000" dirty="0" err="1">
                <a:latin typeface="Times New Roman" pitchFamily="18" charset="0"/>
              </a:rPr>
              <a:t>ij</a:t>
            </a:r>
            <a:r>
              <a:rPr kumimoji="1" lang="zh-CN" altLang="en-US" sz="2400" dirty="0">
                <a:latin typeface="Times New Roman" pitchFamily="18" charset="0"/>
              </a:rPr>
              <a:t>的起始地址为：</a:t>
            </a:r>
          </a:p>
          <a:p>
            <a:pPr algn="just" eaLnBrk="1" fontAlgn="base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        </a:t>
            </a:r>
            <a:r>
              <a:rPr kumimoji="1" lang="en-US" altLang="zh-CN" sz="2400" dirty="0">
                <a:latin typeface="Times New Roman" pitchFamily="18" charset="0"/>
              </a:rPr>
              <a:t>LOC[</a:t>
            </a:r>
            <a:r>
              <a:rPr kumimoji="1" lang="en-US" altLang="zh-CN" sz="2400" dirty="0" err="1">
                <a:latin typeface="Times New Roman" pitchFamily="18" charset="0"/>
              </a:rPr>
              <a:t>i,j</a:t>
            </a:r>
            <a:r>
              <a:rPr kumimoji="1" lang="en-US" altLang="zh-CN" sz="2400" dirty="0">
                <a:latin typeface="Times New Roman" pitchFamily="18" charset="0"/>
              </a:rPr>
              <a:t>]=LOC[0,0]+(b</a:t>
            </a:r>
            <a:r>
              <a:rPr kumimoji="1" lang="en-US" altLang="zh-CN" sz="2400" baseline="-25000" dirty="0">
                <a:latin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sz="2400" dirty="0">
                <a:latin typeface="Times New Roman" pitchFamily="18" charset="0"/>
              </a:rPr>
              <a:t>i+j)L</a:t>
            </a:r>
          </a:p>
          <a:p>
            <a:pPr algn="just" eaLnBrk="1" fontAlgn="base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      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itchFamily="18" charset="0"/>
              </a:rPr>
              <a:t>三维数组</a:t>
            </a:r>
            <a:r>
              <a:rPr kumimoji="1" lang="en-US" altLang="zh-CN" sz="2400" dirty="0">
                <a:latin typeface="Times New Roman" pitchFamily="18" charset="0"/>
              </a:rPr>
              <a:t>A[b</a:t>
            </a:r>
            <a:r>
              <a:rPr kumimoji="1" lang="en-US" altLang="zh-CN" sz="2400" baseline="-25000" dirty="0">
                <a:latin typeface="Times New Roman" pitchFamily="18" charset="0"/>
              </a:rPr>
              <a:t>1</a:t>
            </a:r>
            <a:r>
              <a:rPr kumimoji="1" lang="en-US" altLang="zh-CN" sz="2400" dirty="0">
                <a:latin typeface="Times New Roman" pitchFamily="18" charset="0"/>
              </a:rPr>
              <a:t>][b</a:t>
            </a:r>
            <a:r>
              <a:rPr kumimoji="1" lang="en-US" altLang="zh-CN" sz="2400" baseline="-25000" dirty="0">
                <a:latin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</a:rPr>
              <a:t>][b</a:t>
            </a:r>
            <a:r>
              <a:rPr kumimoji="1" lang="en-US" altLang="zh-CN" sz="2400" baseline="-25000" dirty="0">
                <a:latin typeface="Times New Roman" pitchFamily="18" charset="0"/>
              </a:rPr>
              <a:t>3</a:t>
            </a:r>
            <a:r>
              <a:rPr kumimoji="1" lang="en-US" altLang="zh-CN" sz="2400" dirty="0">
                <a:latin typeface="Times New Roman" pitchFamily="18" charset="0"/>
              </a:rPr>
              <a:t>]</a:t>
            </a:r>
            <a:r>
              <a:rPr kumimoji="1" lang="zh-CN" altLang="en-US" sz="2400" dirty="0">
                <a:latin typeface="Times New Roman" pitchFamily="18" charset="0"/>
              </a:rPr>
              <a:t>中数据元素</a:t>
            </a:r>
            <a:r>
              <a:rPr kumimoji="1" lang="en-US" altLang="zh-CN" sz="2400" dirty="0">
                <a:latin typeface="Times New Roman" pitchFamily="18" charset="0"/>
              </a:rPr>
              <a:t>A[</a:t>
            </a:r>
            <a:r>
              <a:rPr kumimoji="1" lang="en-US" altLang="zh-CN" sz="2400" dirty="0" err="1">
                <a:latin typeface="Times New Roman" pitchFamily="18" charset="0"/>
              </a:rPr>
              <a:t>i</a:t>
            </a:r>
            <a:r>
              <a:rPr kumimoji="1" lang="en-US" altLang="zh-CN" sz="2400" dirty="0">
                <a:latin typeface="Times New Roman" pitchFamily="18" charset="0"/>
              </a:rPr>
              <a:t>][j][k]</a:t>
            </a:r>
            <a:r>
              <a:rPr kumimoji="1" lang="zh-CN" altLang="en-US" sz="2400" dirty="0">
                <a:latin typeface="Times New Roman" pitchFamily="18" charset="0"/>
              </a:rPr>
              <a:t>的起始地址为：</a:t>
            </a:r>
          </a:p>
          <a:p>
            <a:pPr algn="just" eaLnBrk="1" fontAlgn="base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2400" dirty="0">
                <a:latin typeface="Times New Roman" pitchFamily="18" charset="0"/>
              </a:rPr>
              <a:t>        </a:t>
            </a:r>
            <a:r>
              <a:rPr kumimoji="1" lang="en-US" altLang="zh-CN" sz="2400" dirty="0">
                <a:latin typeface="Times New Roman" pitchFamily="18" charset="0"/>
              </a:rPr>
              <a:t>LOC[</a:t>
            </a:r>
            <a:r>
              <a:rPr kumimoji="1" lang="en-US" altLang="zh-CN" sz="2400" dirty="0" err="1">
                <a:latin typeface="Times New Roman" pitchFamily="18" charset="0"/>
              </a:rPr>
              <a:t>i,j,k</a:t>
            </a:r>
            <a:r>
              <a:rPr kumimoji="1" lang="en-US" altLang="zh-CN" sz="2400" dirty="0">
                <a:latin typeface="Times New Roman" pitchFamily="18" charset="0"/>
              </a:rPr>
              <a:t>]=LOC[0,0,0]+(b</a:t>
            </a:r>
            <a:r>
              <a:rPr kumimoji="1" lang="en-US" altLang="zh-CN" sz="2400" baseline="-30000" dirty="0">
                <a:latin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b</a:t>
            </a:r>
            <a:r>
              <a:rPr kumimoji="1" lang="en-US" altLang="zh-CN" sz="2400" baseline="-30000" dirty="0">
                <a:latin typeface="Times New Roman" pitchFamily="18" charset="0"/>
              </a:rPr>
              <a:t>3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i</a:t>
            </a:r>
            <a:r>
              <a:rPr kumimoji="1" lang="en-US" altLang="zh-CN" sz="2400" dirty="0">
                <a:latin typeface="Times New Roman" pitchFamily="18" charset="0"/>
              </a:rPr>
              <a:t>+b</a:t>
            </a:r>
            <a:r>
              <a:rPr kumimoji="1" lang="en-US" altLang="zh-CN" sz="2400" baseline="-30000" dirty="0">
                <a:latin typeface="Times New Roman" pitchFamily="18" charset="0"/>
              </a:rPr>
              <a:t>3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j</a:t>
            </a:r>
            <a:r>
              <a:rPr kumimoji="1" lang="en-US" altLang="zh-CN" sz="2400" dirty="0">
                <a:latin typeface="Times New Roman" pitchFamily="18" charset="0"/>
              </a:rPr>
              <a:t>+k)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sz="2400" dirty="0">
                <a:latin typeface="Times New Roman" pitchFamily="18" charset="0"/>
              </a:rPr>
              <a:t>L</a:t>
            </a:r>
          </a:p>
        </p:txBody>
      </p: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152400" y="4791873"/>
            <a:ext cx="8726488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just" eaLnBrk="1" fontAlgn="base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6600CC"/>
              </a:buClr>
              <a:buFont typeface="Wingdings" pitchFamily="2" charset="2"/>
              <a:buNone/>
            </a:pPr>
            <a:r>
              <a:rPr kumimoji="1" lang="en-US" altLang="zh-CN" sz="2400" dirty="0">
                <a:latin typeface="Times New Roman" pitchFamily="18" charset="0"/>
              </a:rPr>
              <a:t>       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itchFamily="18" charset="0"/>
              </a:rPr>
              <a:t>维数组</a:t>
            </a:r>
            <a:r>
              <a:rPr kumimoji="1" lang="en-US" altLang="zh-CN" sz="2400" dirty="0">
                <a:latin typeface="Times New Roman" pitchFamily="18" charset="0"/>
              </a:rPr>
              <a:t>A[b</a:t>
            </a:r>
            <a:r>
              <a:rPr kumimoji="1" lang="en-US" altLang="zh-CN" sz="2400" baseline="-25000" dirty="0">
                <a:latin typeface="Times New Roman" pitchFamily="18" charset="0"/>
              </a:rPr>
              <a:t>1</a:t>
            </a:r>
            <a:r>
              <a:rPr kumimoji="1" lang="en-US" altLang="zh-CN" sz="2400" dirty="0">
                <a:latin typeface="Times New Roman" pitchFamily="18" charset="0"/>
              </a:rPr>
              <a:t>][b</a:t>
            </a:r>
            <a:r>
              <a:rPr kumimoji="1" lang="en-US" altLang="zh-CN" sz="2400" baseline="-25000" dirty="0">
                <a:latin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</a:rPr>
              <a:t>]...[</a:t>
            </a:r>
            <a:r>
              <a:rPr kumimoji="1" lang="en-US" altLang="zh-CN" sz="2400" dirty="0" err="1">
                <a:latin typeface="Times New Roman" pitchFamily="18" charset="0"/>
              </a:rPr>
              <a:t>b</a:t>
            </a:r>
            <a:r>
              <a:rPr kumimoji="1" lang="en-US" altLang="zh-CN" sz="2400" baseline="-25000" dirty="0" err="1">
                <a:latin typeface="Times New Roman" pitchFamily="18" charset="0"/>
              </a:rPr>
              <a:t>n</a:t>
            </a:r>
            <a:r>
              <a:rPr kumimoji="1" lang="en-US" altLang="zh-CN" sz="2400" dirty="0">
                <a:latin typeface="Times New Roman" pitchFamily="18" charset="0"/>
              </a:rPr>
              <a:t>]</a:t>
            </a:r>
            <a:r>
              <a:rPr kumimoji="1" lang="zh-CN" altLang="en-US" sz="2400" dirty="0">
                <a:latin typeface="Times New Roman" pitchFamily="18" charset="0"/>
              </a:rPr>
              <a:t>中数据元素</a:t>
            </a:r>
            <a:r>
              <a:rPr kumimoji="1" lang="en-US" altLang="zh-CN" sz="2400" dirty="0">
                <a:latin typeface="Times New Roman" pitchFamily="18" charset="0"/>
              </a:rPr>
              <a:t>A[j</a:t>
            </a:r>
            <a:r>
              <a:rPr kumimoji="1" lang="en-US" altLang="zh-CN" sz="2400" baseline="-25000" dirty="0">
                <a:latin typeface="Times New Roman" pitchFamily="18" charset="0"/>
              </a:rPr>
              <a:t>1</a:t>
            </a:r>
            <a:r>
              <a:rPr kumimoji="1" lang="en-US" altLang="zh-CN" sz="2400" dirty="0">
                <a:latin typeface="Times New Roman" pitchFamily="18" charset="0"/>
              </a:rPr>
              <a:t>,j</a:t>
            </a:r>
            <a:r>
              <a:rPr kumimoji="1" lang="en-US" altLang="zh-CN" sz="2400" baseline="-25000" dirty="0">
                <a:latin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</a:rPr>
              <a:t>,…</a:t>
            </a:r>
            <a:r>
              <a:rPr kumimoji="1" lang="en-US" altLang="zh-CN" sz="2400" dirty="0" err="1">
                <a:latin typeface="Times New Roman" pitchFamily="18" charset="0"/>
              </a:rPr>
              <a:t>j</a:t>
            </a:r>
            <a:r>
              <a:rPr kumimoji="1" lang="en-US" altLang="zh-CN" sz="2400" baseline="-25000" dirty="0" err="1">
                <a:latin typeface="Times New Roman" pitchFamily="18" charset="0"/>
              </a:rPr>
              <a:t>n</a:t>
            </a:r>
            <a:r>
              <a:rPr kumimoji="1" lang="en-US" altLang="zh-CN" sz="2400" dirty="0">
                <a:latin typeface="Times New Roman" pitchFamily="18" charset="0"/>
              </a:rPr>
              <a:t>]</a:t>
            </a:r>
            <a:r>
              <a:rPr kumimoji="1" lang="zh-CN" altLang="en-US" sz="2400" dirty="0">
                <a:latin typeface="Times New Roman" pitchFamily="18" charset="0"/>
              </a:rPr>
              <a:t>的存储位置为：</a:t>
            </a:r>
          </a:p>
          <a:p>
            <a:pPr algn="just" eaLnBrk="1" fontAlgn="base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      LOC[j</a:t>
            </a:r>
            <a:r>
              <a:rPr kumimoji="1" lang="en-US" altLang="zh-CN" sz="2400" baseline="-25000" dirty="0">
                <a:latin typeface="Times New Roman" pitchFamily="18" charset="0"/>
              </a:rPr>
              <a:t>1</a:t>
            </a:r>
            <a:r>
              <a:rPr kumimoji="1" lang="en-US" altLang="zh-CN" sz="2400" dirty="0">
                <a:latin typeface="Times New Roman" pitchFamily="18" charset="0"/>
              </a:rPr>
              <a:t>,j</a:t>
            </a:r>
            <a:r>
              <a:rPr kumimoji="1" lang="en-US" altLang="zh-CN" sz="2400" baseline="-25000" dirty="0">
                <a:latin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</a:rPr>
              <a:t>,…</a:t>
            </a:r>
            <a:r>
              <a:rPr kumimoji="1" lang="en-US" altLang="zh-CN" sz="2400" dirty="0" err="1">
                <a:latin typeface="Times New Roman" pitchFamily="18" charset="0"/>
              </a:rPr>
              <a:t>j</a:t>
            </a:r>
            <a:r>
              <a:rPr kumimoji="1" lang="en-US" altLang="zh-CN" sz="2400" baseline="-25000" dirty="0" err="1">
                <a:latin typeface="Times New Roman" pitchFamily="18" charset="0"/>
              </a:rPr>
              <a:t>n</a:t>
            </a:r>
            <a:r>
              <a:rPr kumimoji="1" lang="en-US" altLang="zh-CN" sz="2400" dirty="0">
                <a:latin typeface="Times New Roman" pitchFamily="18" charset="0"/>
              </a:rPr>
              <a:t>] =LOC[0,0,…,0]+</a:t>
            </a:r>
          </a:p>
          <a:p>
            <a:pPr algn="just" eaLnBrk="1" fontAlgn="base" hangingPunct="1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                  (b</a:t>
            </a:r>
            <a:r>
              <a:rPr kumimoji="1" lang="en-US" altLang="zh-CN" sz="2400" baseline="-30000" dirty="0">
                <a:latin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sz="2400" dirty="0">
                <a:latin typeface="Times New Roman" pitchFamily="18" charset="0"/>
              </a:rPr>
              <a:t>…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b</a:t>
            </a:r>
            <a:r>
              <a:rPr kumimoji="1" lang="en-US" altLang="zh-CN" sz="2400" baseline="-30000" dirty="0">
                <a:latin typeface="Times New Roman" pitchFamily="18" charset="0"/>
              </a:rPr>
              <a:t>n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sz="2400" dirty="0">
                <a:latin typeface="Times New Roman" pitchFamily="18" charset="0"/>
              </a:rPr>
              <a:t>j</a:t>
            </a:r>
            <a:r>
              <a:rPr kumimoji="1" lang="en-US" altLang="zh-CN" sz="2400" baseline="-30000" dirty="0">
                <a:latin typeface="Times New Roman" pitchFamily="18" charset="0"/>
              </a:rPr>
              <a:t>1</a:t>
            </a:r>
            <a:r>
              <a:rPr kumimoji="1" lang="en-US" altLang="zh-CN" sz="2400" dirty="0">
                <a:latin typeface="Times New Roman" pitchFamily="18" charset="0"/>
              </a:rPr>
              <a:t>+b</a:t>
            </a:r>
            <a:r>
              <a:rPr kumimoji="1" lang="en-US" altLang="zh-CN" sz="2400" baseline="-30000" dirty="0">
                <a:latin typeface="Times New Roman" pitchFamily="18" charset="0"/>
              </a:rPr>
              <a:t>3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sz="2400" dirty="0">
                <a:latin typeface="Times New Roman" pitchFamily="18" charset="0"/>
              </a:rPr>
              <a:t>…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b</a:t>
            </a:r>
            <a:r>
              <a:rPr kumimoji="1" lang="en-US" altLang="zh-CN" sz="2400" baseline="-30000" dirty="0">
                <a:latin typeface="Times New Roman" pitchFamily="18" charset="0"/>
              </a:rPr>
              <a:t>n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sz="2400" dirty="0">
                <a:latin typeface="Times New Roman" pitchFamily="18" charset="0"/>
              </a:rPr>
              <a:t>j</a:t>
            </a:r>
            <a:r>
              <a:rPr kumimoji="1" lang="en-US" altLang="zh-CN" sz="2400" baseline="-30000" dirty="0">
                <a:latin typeface="Times New Roman" pitchFamily="18" charset="0"/>
              </a:rPr>
              <a:t>2</a:t>
            </a:r>
            <a:r>
              <a:rPr kumimoji="1" lang="en-US" altLang="zh-CN" sz="2400" dirty="0">
                <a:latin typeface="Times New Roman" pitchFamily="18" charset="0"/>
              </a:rPr>
              <a:t>+…+b</a:t>
            </a:r>
            <a:r>
              <a:rPr kumimoji="1" lang="en-US" altLang="zh-CN" sz="2400" baseline="-30000" dirty="0">
                <a:latin typeface="Times New Roman" pitchFamily="18" charset="0"/>
              </a:rPr>
              <a:t>n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sz="2400" dirty="0">
                <a:latin typeface="Times New Roman" pitchFamily="18" charset="0"/>
              </a:rPr>
              <a:t>j</a:t>
            </a:r>
            <a:r>
              <a:rPr kumimoji="1" lang="en-US" altLang="zh-CN" sz="2400" baseline="-30000" dirty="0">
                <a:latin typeface="Times New Roman" pitchFamily="18" charset="0"/>
              </a:rPr>
              <a:t>n-1</a:t>
            </a:r>
            <a:r>
              <a:rPr kumimoji="1" lang="en-US" altLang="zh-CN" sz="2400" dirty="0">
                <a:latin typeface="Times New Roman" pitchFamily="18" charset="0"/>
              </a:rPr>
              <a:t>+j</a:t>
            </a:r>
            <a:r>
              <a:rPr kumimoji="1" lang="en-US" altLang="zh-CN" sz="2400" baseline="-30000" dirty="0">
                <a:latin typeface="Times New Roman" pitchFamily="18" charset="0"/>
              </a:rPr>
              <a:t>n</a:t>
            </a:r>
            <a:r>
              <a:rPr kumimoji="1" lang="en-US" altLang="zh-CN" sz="2400" dirty="0">
                <a:latin typeface="Times New Roman" pitchFamily="18" charset="0"/>
              </a:rPr>
              <a:t>)</a:t>
            </a:r>
            <a:r>
              <a:rPr kumimoji="1" lang="en-US" altLang="zh-CN" sz="2400" dirty="0">
                <a:latin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sz="2400" dirty="0">
                <a:latin typeface="Times New Roman" pitchFamily="18" charset="0"/>
              </a:rPr>
              <a:t>L </a:t>
            </a:r>
          </a:p>
        </p:txBody>
      </p:sp>
      <p:sp>
        <p:nvSpPr>
          <p:cNvPr id="24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392866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4.2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数组的顺序表示和实现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400" b="1" dirty="0"/>
              <a:t>数组的顺序存储类型实现：</a:t>
            </a: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307AB-3976-4A3A-A76D-837B733D1B8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15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838200" y="2081748"/>
            <a:ext cx="78486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#include &lt;</a:t>
            </a:r>
            <a:r>
              <a:rPr kumimoji="1"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stdarg.h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&gt;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                           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标准头文件，提供宏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itchFamily="18" charset="0"/>
              </a:rPr>
              <a:t>va_start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、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                           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itchFamily="18" charset="0"/>
              </a:rPr>
              <a:t>va_arg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和</a:t>
            </a:r>
            <a:r>
              <a:rPr kumimoji="1" lang="en-US" altLang="zh-CN" sz="2400" dirty="0" err="1">
                <a:solidFill>
                  <a:srgbClr val="000000"/>
                </a:solidFill>
                <a:latin typeface="Times New Roman" pitchFamily="18" charset="0"/>
              </a:rPr>
              <a:t>va_end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用于存放变长参数表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#define MAX_ARRAY_DIM 8    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数组维数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typedef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 </a:t>
            </a:r>
            <a:r>
              <a:rPr kumimoji="1"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struct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 {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       </a:t>
            </a:r>
            <a:r>
              <a:rPr kumimoji="1"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Elemtype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 *base;                     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数组元素基址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       </a:t>
            </a:r>
            <a:r>
              <a:rPr kumimoji="1"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int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 dim;                                   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数组维数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       </a:t>
            </a:r>
            <a:r>
              <a:rPr kumimoji="1"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int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 *bounds;                            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数组维界基址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3333FF"/>
                </a:solidFill>
                <a:latin typeface="Times New Roman" pitchFamily="18" charset="0"/>
              </a:rPr>
              <a:t>       </a:t>
            </a:r>
            <a:r>
              <a:rPr kumimoji="1" lang="en-US" altLang="zh-CN" sz="2400" dirty="0" err="1">
                <a:solidFill>
                  <a:srgbClr val="3333FF"/>
                </a:solidFill>
                <a:latin typeface="Times New Roman" pitchFamily="18" charset="0"/>
              </a:rPr>
              <a:t>int</a:t>
            </a: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 *constants;                       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数组映像函数常量基址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3333FF"/>
                </a:solidFill>
                <a:latin typeface="Times New Roman" pitchFamily="18" charset="0"/>
              </a:rPr>
              <a:t>}Array;</a:t>
            </a:r>
          </a:p>
        </p:txBody>
      </p: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210122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第四章 数组和广义表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数组的类型定义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数组的顺序表示和实现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charset="0"/>
                <a:ea typeface="宋体" charset="-122"/>
              </a:rPr>
              <a:t>4.3  </a:t>
            </a: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矩阵的压缩存储 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广义表的类型定义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广义表的存储结构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090FA-743F-4638-A25D-0C77FDDBE4E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16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208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特殊矩阵的压缩存储 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pPr lvl="1">
              <a:lnSpc>
                <a:spcPts val="31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特殊矩阵</a:t>
            </a:r>
            <a:r>
              <a:rPr lang="zh-CN" altLang="en-US" sz="2400" b="1" dirty="0"/>
              <a:t>：矩阵中很多</a:t>
            </a:r>
            <a:r>
              <a:rPr lang="zh-CN" altLang="en-US" sz="2400" b="1" dirty="0">
                <a:solidFill>
                  <a:srgbClr val="FF0000"/>
                </a:solidFill>
              </a:rPr>
              <a:t>值相同</a:t>
            </a:r>
            <a:r>
              <a:rPr lang="zh-CN" altLang="en-US" sz="2400" b="1" dirty="0"/>
              <a:t>的元素并且它们的</a:t>
            </a:r>
            <a:r>
              <a:rPr lang="zh-CN" altLang="en-US" sz="2400" b="1" dirty="0">
                <a:solidFill>
                  <a:srgbClr val="FF0000"/>
                </a:solidFill>
              </a:rPr>
              <a:t>分布有一 定的规律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lvl="1">
              <a:lnSpc>
                <a:spcPts val="31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稀疏矩阵</a:t>
            </a:r>
            <a:r>
              <a:rPr lang="zh-CN" altLang="en-US" sz="2400" b="1" dirty="0"/>
              <a:t>：矩阵中有很多特定值的（如零）元素。</a:t>
            </a:r>
            <a:endParaRPr lang="en-US" altLang="zh-CN" sz="2400" b="1" dirty="0"/>
          </a:p>
          <a:p>
            <a:pPr>
              <a:lnSpc>
                <a:spcPts val="3100"/>
              </a:lnSpc>
            </a:pPr>
            <a:r>
              <a:rPr lang="zh-CN" altLang="en-US" sz="2800" b="1" dirty="0"/>
              <a:t>压缩存储的基本思想是： </a:t>
            </a:r>
            <a:endParaRPr lang="en-US" altLang="zh-CN" sz="2800" b="1" dirty="0"/>
          </a:p>
          <a:p>
            <a:pPr lvl="1">
              <a:lnSpc>
                <a:spcPts val="3100"/>
              </a:lnSpc>
            </a:pPr>
            <a:r>
              <a:rPr lang="zh-CN" altLang="en-US" sz="2400" b="1" dirty="0"/>
              <a:t>为多个值</a:t>
            </a:r>
            <a:r>
              <a:rPr lang="zh-CN" altLang="en-US" sz="2400" b="1" dirty="0">
                <a:solidFill>
                  <a:srgbClr val="FF0000"/>
                </a:solidFill>
              </a:rPr>
              <a:t>相同</a:t>
            </a:r>
            <a:r>
              <a:rPr lang="zh-CN" altLang="en-US" sz="2400" b="1" dirty="0"/>
              <a:t>的元素只分配</a:t>
            </a:r>
            <a:r>
              <a:rPr lang="zh-CN" altLang="en-US" sz="2400" b="1" dirty="0">
                <a:solidFill>
                  <a:srgbClr val="FF0000"/>
                </a:solidFill>
              </a:rPr>
              <a:t>一个</a:t>
            </a:r>
            <a:r>
              <a:rPr lang="zh-CN" altLang="en-US" sz="2400" b="1" dirty="0"/>
              <a:t>存储空间； </a:t>
            </a:r>
            <a:endParaRPr lang="en-US" altLang="zh-CN" sz="2400" b="1" dirty="0"/>
          </a:p>
          <a:p>
            <a:pPr lvl="1">
              <a:lnSpc>
                <a:spcPts val="3100"/>
              </a:lnSpc>
            </a:pPr>
            <a:r>
              <a:rPr lang="zh-CN" altLang="en-US" sz="2400" b="1" dirty="0"/>
              <a:t>对</a:t>
            </a:r>
            <a:r>
              <a:rPr lang="zh-CN" altLang="en-US" sz="2400" b="1" dirty="0">
                <a:solidFill>
                  <a:srgbClr val="FF0000"/>
                </a:solidFill>
              </a:rPr>
              <a:t>特定值的（如零）</a:t>
            </a:r>
            <a:r>
              <a:rPr lang="zh-CN" altLang="en-US" sz="2400" b="1" dirty="0"/>
              <a:t>元素</a:t>
            </a:r>
            <a:r>
              <a:rPr lang="zh-CN" altLang="en-US" sz="2400" b="1" dirty="0">
                <a:solidFill>
                  <a:srgbClr val="FF0000"/>
                </a:solidFill>
              </a:rPr>
              <a:t>不分配</a:t>
            </a:r>
            <a:r>
              <a:rPr lang="zh-CN" altLang="en-US" sz="2400" b="1" dirty="0"/>
              <a:t>存储空间。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4B909-8DED-4112-B91B-85673060F62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17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2437573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4.3.1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特殊矩阵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400" b="1" dirty="0"/>
              <a:t>下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上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三角矩阵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F180-2B74-4E21-BAC8-0C656B6AED0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3" name="AutoShape 3"/>
          <p:cNvSpPr>
            <a:spLocks noChangeArrowheads="1"/>
          </p:cNvSpPr>
          <p:nvPr/>
        </p:nvSpPr>
        <p:spPr bwMode="auto">
          <a:xfrm>
            <a:off x="1103313" y="3213100"/>
            <a:ext cx="2779712" cy="1584325"/>
          </a:xfrm>
          <a:prstGeom prst="bracketPair">
            <a:avLst>
              <a:gd name="adj" fmla="val 16667"/>
            </a:avLst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333500" y="3068638"/>
            <a:ext cx="305435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800"/>
              <a:buFont typeface="Times New Roman" pitchFamily="18" charset="0"/>
              <a:buNone/>
            </a:pPr>
            <a:r>
              <a:rPr lang="en-US" altLang="zh-CN" sz="2400">
                <a:latin typeface="Times New Roman" pitchFamily="18" charset="0"/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lang="en-US" altLang="zh-CN" sz="2400">
                <a:solidFill>
                  <a:srgbClr val="6600FF"/>
                </a:solidFill>
                <a:latin typeface="Times New Roman" pitchFamily="18" charset="0"/>
              </a:rPr>
              <a:t>0     0     0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itchFamily="18" charset="0"/>
              </a:rPr>
              <a:t>2     2</a:t>
            </a: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lang="en-US" altLang="zh-CN" sz="2400">
                <a:solidFill>
                  <a:srgbClr val="6600FF"/>
                </a:solidFill>
                <a:latin typeface="Times New Roman" pitchFamily="18" charset="0"/>
              </a:rPr>
              <a:t>0     0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itchFamily="18" charset="0"/>
              </a:rPr>
              <a:t>4     5     3     0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itchFamily="18" charset="0"/>
              </a:rPr>
              <a:t>3     6     7     8</a:t>
            </a:r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498475" y="1988403"/>
            <a:ext cx="8135938" cy="461665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707F9"/>
                </a:solidFill>
                <a:latin typeface="Times New Roman" pitchFamily="18" charset="0"/>
              </a:rPr>
              <a:t>        对角线以上</a:t>
            </a:r>
            <a:r>
              <a:rPr kumimoji="1" lang="en-US" altLang="zh-CN" sz="2400" dirty="0">
                <a:solidFill>
                  <a:srgbClr val="0707F9"/>
                </a:solidFill>
                <a:latin typeface="Times New Roman" pitchFamily="18" charset="0"/>
              </a:rPr>
              <a:t>(</a:t>
            </a:r>
            <a:r>
              <a:rPr kumimoji="1" lang="zh-CN" altLang="en-US" sz="2400" dirty="0">
                <a:solidFill>
                  <a:srgbClr val="0707F9"/>
                </a:solidFill>
                <a:latin typeface="Times New Roman" pitchFamily="18" charset="0"/>
              </a:rPr>
              <a:t>下</a:t>
            </a:r>
            <a:r>
              <a:rPr kumimoji="1" lang="en-US" altLang="zh-CN" sz="2400" dirty="0">
                <a:solidFill>
                  <a:srgbClr val="0707F9"/>
                </a:solidFill>
                <a:latin typeface="Times New Roman" pitchFamily="18" charset="0"/>
              </a:rPr>
              <a:t>)</a:t>
            </a:r>
            <a:r>
              <a:rPr kumimoji="1" lang="zh-CN" altLang="en-US" sz="2400" dirty="0">
                <a:solidFill>
                  <a:srgbClr val="0707F9"/>
                </a:solidFill>
                <a:latin typeface="Times New Roman" pitchFamily="18" charset="0"/>
              </a:rPr>
              <a:t>元素都为</a:t>
            </a:r>
            <a:r>
              <a:rPr kumimoji="1" lang="en-US" altLang="zh-CN" sz="2400" dirty="0">
                <a:solidFill>
                  <a:srgbClr val="0707F9"/>
                </a:solidFill>
                <a:latin typeface="Times New Roman" pitchFamily="18" charset="0"/>
              </a:rPr>
              <a:t>0</a:t>
            </a:r>
            <a:r>
              <a:rPr kumimoji="1" lang="zh-CN" altLang="en-US" sz="2400" dirty="0">
                <a:solidFill>
                  <a:srgbClr val="0707F9"/>
                </a:solidFill>
                <a:latin typeface="Times New Roman" pitchFamily="18" charset="0"/>
              </a:rPr>
              <a:t>的矩阵称为</a:t>
            </a:r>
            <a:r>
              <a:rPr kumimoji="1" lang="en-US" altLang="zh-CN" sz="2400" dirty="0">
                <a:solidFill>
                  <a:srgbClr val="0707F9"/>
                </a:solidFill>
                <a:latin typeface="Times New Roman" pitchFamily="18" charset="0"/>
              </a:rPr>
              <a:t>(</a:t>
            </a:r>
            <a:r>
              <a:rPr kumimoji="1" lang="zh-CN" altLang="en-US" sz="2400" dirty="0">
                <a:solidFill>
                  <a:srgbClr val="0707F9"/>
                </a:solidFill>
                <a:latin typeface="Times New Roman" pitchFamily="18" charset="0"/>
              </a:rPr>
              <a:t>下</a:t>
            </a:r>
            <a:r>
              <a:rPr kumimoji="1" lang="en-US" altLang="zh-CN" sz="2400" dirty="0">
                <a:solidFill>
                  <a:srgbClr val="0707F9"/>
                </a:solidFill>
                <a:latin typeface="Times New Roman" pitchFamily="18" charset="0"/>
              </a:rPr>
              <a:t>)</a:t>
            </a:r>
            <a:r>
              <a:rPr kumimoji="1" lang="zh-CN" altLang="en-US" sz="2400" dirty="0">
                <a:solidFill>
                  <a:srgbClr val="0707F9"/>
                </a:solidFill>
                <a:latin typeface="Times New Roman" pitchFamily="18" charset="0"/>
              </a:rPr>
              <a:t>上三角矩阵</a:t>
            </a:r>
            <a:endParaRPr kumimoji="1" lang="en-US" altLang="zh-CN" sz="2400" dirty="0">
              <a:solidFill>
                <a:srgbClr val="0707F9"/>
              </a:solidFill>
              <a:latin typeface="Times New Roman" pitchFamily="18" charset="0"/>
            </a:endParaRPr>
          </a:p>
        </p:txBody>
      </p:sp>
      <p:sp>
        <p:nvSpPr>
          <p:cNvPr id="17" name="AutoShape 17"/>
          <p:cNvSpPr>
            <a:spLocks noChangeArrowheads="1"/>
          </p:cNvSpPr>
          <p:nvPr/>
        </p:nvSpPr>
        <p:spPr bwMode="auto">
          <a:xfrm>
            <a:off x="4775200" y="3286125"/>
            <a:ext cx="2781300" cy="1584325"/>
          </a:xfrm>
          <a:prstGeom prst="bracketPair">
            <a:avLst>
              <a:gd name="adj" fmla="val 16667"/>
            </a:avLst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5005388" y="3141663"/>
            <a:ext cx="305435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800"/>
              <a:buFont typeface="Times New Roman" pitchFamily="18" charset="0"/>
              <a:buNone/>
            </a:pPr>
            <a:r>
              <a:rPr lang="en-US" altLang="zh-CN" sz="2400">
                <a:latin typeface="Times New Roman" pitchFamily="18" charset="0"/>
              </a:rPr>
              <a:t>1</a:t>
            </a: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lang="en-US" altLang="zh-CN" sz="2400">
                <a:solidFill>
                  <a:srgbClr val="6600FF"/>
                </a:solidFill>
                <a:latin typeface="Times New Roman" pitchFamily="18" charset="0"/>
              </a:rPr>
              <a:t>5     6     3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itchFamily="18" charset="0"/>
              </a:rPr>
              <a:t>0     2</a:t>
            </a:r>
            <a:r>
              <a:rPr lang="en-US" altLang="zh-CN" sz="2400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lang="en-US" altLang="zh-CN" sz="2400">
                <a:solidFill>
                  <a:srgbClr val="6600FF"/>
                </a:solidFill>
                <a:latin typeface="Times New Roman" pitchFamily="18" charset="0"/>
              </a:rPr>
              <a:t>1     3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itchFamily="18" charset="0"/>
              </a:rPr>
              <a:t>0     0     0     2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itchFamily="18" charset="0"/>
              </a:rPr>
              <a:t>0     0     0     8</a:t>
            </a:r>
          </a:p>
        </p:txBody>
      </p:sp>
      <p:sp>
        <p:nvSpPr>
          <p:cNvPr id="19" name="AutoShape 19"/>
          <p:cNvSpPr>
            <a:spLocks noChangeArrowheads="1"/>
          </p:cNvSpPr>
          <p:nvPr/>
        </p:nvSpPr>
        <p:spPr bwMode="auto">
          <a:xfrm flipV="1">
            <a:off x="2493963" y="5619750"/>
            <a:ext cx="2397125" cy="762000"/>
          </a:xfrm>
          <a:prstGeom prst="wedgeEllipseCallout">
            <a:avLst>
              <a:gd name="adj1" fmla="val -48745"/>
              <a:gd name="adj2" fmla="val 144792"/>
            </a:avLst>
          </a:prstGeom>
          <a:solidFill>
            <a:srgbClr val="97CD9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下三角矩阵</a:t>
            </a:r>
            <a:endParaRPr kumimoji="1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</a:endParaRPr>
          </a:p>
        </p:txBody>
      </p:sp>
      <p:sp>
        <p:nvSpPr>
          <p:cNvPr id="20" name="AutoShape 20"/>
          <p:cNvSpPr>
            <a:spLocks noChangeArrowheads="1"/>
          </p:cNvSpPr>
          <p:nvPr/>
        </p:nvSpPr>
        <p:spPr bwMode="auto">
          <a:xfrm flipV="1">
            <a:off x="6546850" y="5589588"/>
            <a:ext cx="2139950" cy="762000"/>
          </a:xfrm>
          <a:prstGeom prst="wedgeEllipseCallout">
            <a:avLst>
              <a:gd name="adj1" fmla="val -52449"/>
              <a:gd name="adj2" fmla="val 135625"/>
            </a:avLst>
          </a:prstGeom>
          <a:solidFill>
            <a:srgbClr val="97CD9A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上三角矩阵</a:t>
            </a:r>
            <a:endParaRPr kumimoji="1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683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 animBg="1"/>
      <p:bldP spid="17" grpId="0" animBg="1"/>
      <p:bldP spid="18" grpId="0"/>
      <p:bldP spid="19" grpId="0" animBg="1" autoUpdateAnimBg="0"/>
      <p:bldP spid="20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4.3.1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特殊矩阵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400" b="1" dirty="0"/>
              <a:t>下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上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三角矩阵的存储方式</a:t>
            </a: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r>
              <a:rPr lang="zh-CN" altLang="en-US" sz="2400" b="1" dirty="0"/>
              <a:t>下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上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三角矩阵压缩存储时地址对应关系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DBE7-5CBC-4862-90B5-B49F012D7A3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19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533400" y="1912203"/>
            <a:ext cx="8064500" cy="830997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707F9"/>
                </a:solidFill>
                <a:latin typeface="Times New Roman" pitchFamily="18" charset="0"/>
              </a:rPr>
              <a:t>       下</a:t>
            </a:r>
            <a:r>
              <a:rPr kumimoji="1" lang="en-US" altLang="zh-CN" sz="2400">
                <a:solidFill>
                  <a:srgbClr val="0707F9"/>
                </a:solidFill>
                <a:latin typeface="Times New Roman" pitchFamily="18" charset="0"/>
              </a:rPr>
              <a:t>(</a:t>
            </a:r>
            <a:r>
              <a:rPr kumimoji="1" lang="zh-CN" altLang="en-US" sz="2400">
                <a:solidFill>
                  <a:srgbClr val="0707F9"/>
                </a:solidFill>
                <a:latin typeface="Times New Roman" pitchFamily="18" charset="0"/>
              </a:rPr>
              <a:t>上</a:t>
            </a:r>
            <a:r>
              <a:rPr kumimoji="1" lang="en-US" altLang="zh-CN" sz="2400">
                <a:solidFill>
                  <a:srgbClr val="0707F9"/>
                </a:solidFill>
                <a:latin typeface="Times New Roman" pitchFamily="18" charset="0"/>
              </a:rPr>
              <a:t>)</a:t>
            </a:r>
            <a:r>
              <a:rPr kumimoji="1" lang="zh-CN" altLang="en-US" sz="2400">
                <a:solidFill>
                  <a:srgbClr val="0707F9"/>
                </a:solidFill>
                <a:latin typeface="Times New Roman" pitchFamily="18" charset="0"/>
              </a:rPr>
              <a:t>三角矩阵对角线以上</a:t>
            </a:r>
            <a:r>
              <a:rPr kumimoji="1" lang="en-US" altLang="zh-CN" sz="2400">
                <a:solidFill>
                  <a:srgbClr val="0707F9"/>
                </a:solidFill>
                <a:latin typeface="Times New Roman" pitchFamily="18" charset="0"/>
              </a:rPr>
              <a:t>(</a:t>
            </a:r>
            <a:r>
              <a:rPr kumimoji="1" lang="zh-CN" altLang="en-US" sz="2400">
                <a:solidFill>
                  <a:srgbClr val="0707F9"/>
                </a:solidFill>
                <a:latin typeface="Times New Roman" pitchFamily="18" charset="0"/>
              </a:rPr>
              <a:t>下</a:t>
            </a:r>
            <a:r>
              <a:rPr kumimoji="1" lang="en-US" altLang="zh-CN" sz="2400">
                <a:solidFill>
                  <a:srgbClr val="0707F9"/>
                </a:solidFill>
                <a:latin typeface="Times New Roman" pitchFamily="18" charset="0"/>
              </a:rPr>
              <a:t>)</a:t>
            </a:r>
            <a:r>
              <a:rPr kumimoji="1" lang="zh-CN" altLang="en-US" sz="2400">
                <a:solidFill>
                  <a:srgbClr val="0707F9"/>
                </a:solidFill>
                <a:latin typeface="Times New Roman" pitchFamily="18" charset="0"/>
              </a:rPr>
              <a:t>元素都为零，根据这个特点可以定义一个长度为</a:t>
            </a:r>
            <a:r>
              <a:rPr kumimoji="1" lang="en-US" altLang="zh-CN" sz="2400">
                <a:solidFill>
                  <a:srgbClr val="0707F9"/>
                </a:solidFill>
                <a:latin typeface="Times New Roman" pitchFamily="18" charset="0"/>
              </a:rPr>
              <a:t>n*(n+1)/2</a:t>
            </a:r>
            <a:r>
              <a:rPr kumimoji="1" lang="zh-CN" altLang="en-US" sz="2400">
                <a:solidFill>
                  <a:srgbClr val="0707F9"/>
                </a:solidFill>
                <a:latin typeface="Times New Roman" pitchFamily="18" charset="0"/>
              </a:rPr>
              <a:t>的一维数组来存储。</a:t>
            </a: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776288" y="3805832"/>
            <a:ext cx="8064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dirty="0">
                <a:latin typeface="Tahoma" pitchFamily="34" charset="0"/>
              </a:rPr>
              <a:t>      设下三角矩阵为</a:t>
            </a:r>
            <a:r>
              <a:rPr kumimoji="1" lang="en-US" altLang="zh-CN" sz="2400" dirty="0">
                <a:latin typeface="Tahoma" pitchFamily="34" charset="0"/>
              </a:rPr>
              <a:t>a[n][n]</a:t>
            </a:r>
            <a:r>
              <a:rPr kumimoji="1" lang="zh-CN" altLang="en-US" sz="2400" dirty="0">
                <a:latin typeface="Tahoma" pitchFamily="34" charset="0"/>
              </a:rPr>
              <a:t>，用一维数组</a:t>
            </a:r>
            <a:r>
              <a:rPr kumimoji="1" lang="en-US" altLang="zh-CN" sz="2400" dirty="0" err="1">
                <a:latin typeface="Tahoma" pitchFamily="34" charset="0"/>
              </a:rPr>
              <a:t>sa</a:t>
            </a:r>
            <a:r>
              <a:rPr kumimoji="1" lang="en-US" altLang="zh-CN" sz="2400" dirty="0">
                <a:latin typeface="Tahoma" pitchFamily="34" charset="0"/>
              </a:rPr>
              <a:t>[n*(n+1)/2]</a:t>
            </a:r>
            <a:r>
              <a:rPr kumimoji="1" lang="zh-CN" altLang="en-US" sz="2400" dirty="0">
                <a:latin typeface="Tahoma" pitchFamily="34" charset="0"/>
              </a:rPr>
              <a:t>存储，则矩阵元素</a:t>
            </a:r>
            <a:r>
              <a:rPr kumimoji="1" lang="en-US" altLang="zh-CN" sz="2400" dirty="0">
                <a:latin typeface="Tahoma" pitchFamily="34" charset="0"/>
              </a:rPr>
              <a:t>a[</a:t>
            </a:r>
            <a:r>
              <a:rPr kumimoji="1" lang="en-US" altLang="zh-CN" sz="2400" dirty="0" err="1">
                <a:latin typeface="Tahoma" pitchFamily="34" charset="0"/>
              </a:rPr>
              <a:t>i</a:t>
            </a:r>
            <a:r>
              <a:rPr kumimoji="1" lang="en-US" altLang="zh-CN" sz="2400" dirty="0">
                <a:latin typeface="Tahoma" pitchFamily="34" charset="0"/>
              </a:rPr>
              <a:t>][j]</a:t>
            </a:r>
            <a:r>
              <a:rPr kumimoji="1" lang="zh-CN" altLang="en-US" sz="2400" dirty="0">
                <a:latin typeface="Tahoma" pitchFamily="34" charset="0"/>
              </a:rPr>
              <a:t>在数组</a:t>
            </a:r>
            <a:r>
              <a:rPr kumimoji="1" lang="en-US" altLang="zh-CN" sz="2400" dirty="0" err="1">
                <a:latin typeface="Tahoma" pitchFamily="34" charset="0"/>
              </a:rPr>
              <a:t>sa</a:t>
            </a:r>
            <a:r>
              <a:rPr kumimoji="1" lang="zh-CN" altLang="en-US" sz="2400" dirty="0">
                <a:latin typeface="Tahoma" pitchFamily="34" charset="0"/>
              </a:rPr>
              <a:t>中的位置为：</a:t>
            </a: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704850" y="4800600"/>
            <a:ext cx="8064500" cy="923330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707F9"/>
                </a:solidFill>
                <a:latin typeface="Times New Roman" pitchFamily="18" charset="0"/>
              </a:rPr>
              <a:t>       当</a:t>
            </a:r>
            <a:r>
              <a:rPr kumimoji="1" lang="en-US" altLang="zh-CN" sz="2400">
                <a:solidFill>
                  <a:srgbClr val="0707F9"/>
                </a:solidFill>
                <a:latin typeface="Times New Roman" pitchFamily="18" charset="0"/>
              </a:rPr>
              <a:t>i&gt;=j</a:t>
            </a:r>
            <a:r>
              <a:rPr kumimoji="1" lang="zh-CN" altLang="en-US" sz="2400">
                <a:solidFill>
                  <a:srgbClr val="0707F9"/>
                </a:solidFill>
                <a:latin typeface="Times New Roman" pitchFamily="18" charset="0"/>
              </a:rPr>
              <a:t>时</a:t>
            </a:r>
          </a:p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en-US" altLang="zh-CN" sz="2400">
                <a:solidFill>
                  <a:srgbClr val="0707F9"/>
                </a:solidFill>
                <a:latin typeface="Times New Roman" pitchFamily="18" charset="0"/>
              </a:rPr>
              <a:t>       a[i][j]</a:t>
            </a:r>
            <a:r>
              <a:rPr kumimoji="1" lang="zh-CN" altLang="en-US" sz="2400">
                <a:solidFill>
                  <a:srgbClr val="0707F9"/>
                </a:solidFill>
                <a:latin typeface="Times New Roman" pitchFamily="18" charset="0"/>
              </a:rPr>
              <a:t>对应存储在</a:t>
            </a:r>
            <a:r>
              <a:rPr kumimoji="1" lang="en-US" altLang="zh-CN" sz="2400">
                <a:solidFill>
                  <a:srgbClr val="0707F9"/>
                </a:solidFill>
                <a:latin typeface="Times New Roman" pitchFamily="18" charset="0"/>
              </a:rPr>
              <a:t>sa[i(i-1)/2+j-1]</a:t>
            </a:r>
          </a:p>
        </p:txBody>
      </p:sp>
    </p:spTree>
    <p:extLst>
      <p:ext uri="{BB962C8B-B14F-4D97-AF65-F5344CB8AC3E}">
        <p14:creationId xmlns:p14="http://schemas.microsoft.com/office/powerpoint/2010/main" val="335347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4.3.2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稀疏矩阵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何谓稀疏矩阵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2AC4-90E8-4FA0-80EB-B315084D15B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20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09600" y="2109787"/>
            <a:ext cx="7885113" cy="2690813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</a:rPr>
              <a:t>          假设 </a:t>
            </a:r>
            <a:r>
              <a:rPr kumimoji="1" lang="en-US" altLang="zh-CN">
                <a:solidFill>
                  <a:srgbClr val="0707F9"/>
                </a:solidFill>
                <a:latin typeface="Times New Roman" pitchFamily="18" charset="0"/>
              </a:rPr>
              <a:t>m </a:t>
            </a: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</a:rPr>
              <a:t>行 </a:t>
            </a:r>
            <a:r>
              <a:rPr kumimoji="1" lang="en-US" altLang="zh-CN">
                <a:solidFill>
                  <a:srgbClr val="0707F9"/>
                </a:solidFill>
                <a:latin typeface="Times New Roman" pitchFamily="18" charset="0"/>
              </a:rPr>
              <a:t>n </a:t>
            </a: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</a:rPr>
              <a:t>列的矩阵含 </a:t>
            </a:r>
            <a:r>
              <a:rPr kumimoji="1" lang="en-US" altLang="zh-CN">
                <a:solidFill>
                  <a:srgbClr val="0707F9"/>
                </a:solidFill>
                <a:latin typeface="Times New Roman" pitchFamily="18" charset="0"/>
              </a:rPr>
              <a:t>t </a:t>
            </a: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</a:rPr>
              <a:t>个非零元素，</a:t>
            </a:r>
          </a:p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endParaRPr kumimoji="1" lang="zh-CN" altLang="en-US">
              <a:solidFill>
                <a:srgbClr val="0707F9"/>
              </a:solidFill>
              <a:latin typeface="Times New Roman" pitchFamily="18" charset="0"/>
            </a:endParaRPr>
          </a:p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</a:rPr>
              <a:t>称</a:t>
            </a:r>
            <a:r>
              <a:rPr kumimoji="1" lang="en-US" altLang="zh-CN">
                <a:solidFill>
                  <a:srgbClr val="0707F9"/>
                </a:solidFill>
                <a:latin typeface="Times New Roman" pitchFamily="18" charset="0"/>
              </a:rPr>
              <a:t>:                           </a:t>
            </a: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</a:rPr>
              <a:t>为稀疏因子。</a:t>
            </a:r>
          </a:p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endParaRPr kumimoji="1" lang="zh-CN" altLang="en-US">
              <a:solidFill>
                <a:srgbClr val="0707F9"/>
              </a:solidFill>
              <a:latin typeface="Times New Roman" pitchFamily="18" charset="0"/>
            </a:endParaRPr>
          </a:p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</a:rPr>
              <a:t>通常认为 </a:t>
            </a: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  <a:sym typeface="Symbol" pitchFamily="18" charset="2"/>
              </a:rPr>
              <a:t></a:t>
            </a: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  <a:sym typeface="Symbol" pitchFamily="18" charset="2"/>
              </a:rPr>
              <a:t></a:t>
            </a: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</a:rPr>
              <a:t> </a:t>
            </a:r>
            <a:r>
              <a:rPr kumimoji="1" lang="en-US" altLang="zh-CN">
                <a:solidFill>
                  <a:srgbClr val="0707F9"/>
                </a:solidFill>
                <a:latin typeface="Times New Roman" pitchFamily="18" charset="0"/>
              </a:rPr>
              <a:t>0.05 </a:t>
            </a:r>
            <a:r>
              <a:rPr kumimoji="1" lang="zh-CN" altLang="en-US">
                <a:solidFill>
                  <a:srgbClr val="0707F9"/>
                </a:solidFill>
                <a:latin typeface="Times New Roman" pitchFamily="18" charset="0"/>
              </a:rPr>
              <a:t>的矩阵为稀疏矩阵。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117614"/>
              </p:ext>
            </p:extLst>
          </p:nvPr>
        </p:nvGraphicFramePr>
        <p:xfrm>
          <a:off x="1371600" y="3051175"/>
          <a:ext cx="20637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Microsoft 公式 3.0" r:id="rId5" imgW="1041400" imgH="457200" progId="Equation.3">
                  <p:embed/>
                </p:oleObj>
              </mc:Choice>
              <mc:Fallback>
                <p:oleObj name="Microsoft 公式 3.0" r:id="rId5" imgW="1041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51175"/>
                        <a:ext cx="20637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105400"/>
            <a:ext cx="7808913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以常规方法，即以二维数组表示高阶的稀疏矩阵时产生的问题：</a:t>
            </a:r>
            <a:endParaRPr lang="en-US" altLang="zh-CN" sz="2000" b="1" dirty="0">
              <a:solidFill>
                <a:prstClr val="black"/>
              </a:solidFill>
            </a:endParaRPr>
          </a:p>
          <a:p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）零值元素占的空间很大；</a:t>
            </a:r>
            <a:endParaRPr lang="en-US" altLang="zh-CN" sz="2000" b="1" dirty="0">
              <a:solidFill>
                <a:prstClr val="black"/>
              </a:solidFill>
            </a:endParaRPr>
          </a:p>
          <a:p>
            <a:r>
              <a:rPr lang="en-US" altLang="zh-CN" sz="2000" b="1" dirty="0">
                <a:solidFill>
                  <a:prstClr val="black"/>
                </a:solidFill>
              </a:rPr>
              <a:t>2</a:t>
            </a:r>
            <a:r>
              <a:rPr lang="zh-CN" altLang="en-US" sz="2000" b="1" dirty="0">
                <a:solidFill>
                  <a:prstClr val="black"/>
                </a:solidFill>
              </a:rPr>
              <a:t>）计算中进行了很多和零值的运算；</a:t>
            </a:r>
          </a:p>
        </p:txBody>
      </p:sp>
    </p:spTree>
    <p:extLst>
      <p:ext uri="{BB962C8B-B14F-4D97-AF65-F5344CB8AC3E}">
        <p14:creationId xmlns:p14="http://schemas.microsoft.com/office/powerpoint/2010/main" val="323318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4.3.2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稀疏矩阵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600"/>
              </a:lnSpc>
            </a:pPr>
            <a:r>
              <a:rPr lang="zh-CN" altLang="en-US" b="1" dirty="0"/>
              <a:t>解决问题的原则：</a:t>
            </a:r>
            <a:endParaRPr lang="en-US" altLang="zh-CN" b="1" dirty="0"/>
          </a:p>
          <a:p>
            <a:pPr marL="914400" lvl="1" indent="-457200">
              <a:lnSpc>
                <a:spcPts val="3600"/>
              </a:lnSpc>
              <a:buFont typeface="+mj-ea"/>
              <a:buAutoNum type="circleNumDbPlain"/>
            </a:pPr>
            <a:r>
              <a:rPr lang="zh-CN" altLang="en-US" sz="2400" b="1" dirty="0"/>
              <a:t>尽可能少存或者不存零值元素；</a:t>
            </a:r>
            <a:endParaRPr lang="en-US" altLang="zh-CN" sz="2400" b="1" dirty="0"/>
          </a:p>
          <a:p>
            <a:pPr marL="914400" lvl="1" indent="-457200">
              <a:lnSpc>
                <a:spcPts val="3600"/>
              </a:lnSpc>
              <a:buFont typeface="+mj-ea"/>
              <a:buAutoNum type="circleNumDbPlain"/>
            </a:pPr>
            <a:r>
              <a:rPr lang="zh-CN" altLang="en-US" sz="2400" b="1" dirty="0"/>
              <a:t>尽可能减少没有实际意义的运算；</a:t>
            </a:r>
            <a:endParaRPr lang="en-US" altLang="zh-CN" sz="2400" b="1" dirty="0"/>
          </a:p>
          <a:p>
            <a:pPr marL="914400" lvl="1" indent="-457200">
              <a:lnSpc>
                <a:spcPts val="3600"/>
              </a:lnSpc>
              <a:buFont typeface="+mj-ea"/>
              <a:buAutoNum type="circleNumDbPlain"/>
            </a:pPr>
            <a:r>
              <a:rPr lang="zh-CN" altLang="en-US" sz="2400" b="1" dirty="0"/>
              <a:t>运算方便，即：</a:t>
            </a:r>
            <a:endParaRPr lang="en-US" altLang="zh-CN" sz="2400" b="1" dirty="0"/>
          </a:p>
          <a:p>
            <a:pPr lvl="2">
              <a:lnSpc>
                <a:spcPts val="3600"/>
              </a:lnSpc>
            </a:pPr>
            <a:r>
              <a:rPr lang="zh-CN" altLang="en-US" sz="2000" b="1" dirty="0"/>
              <a:t>能尽可能快地找到与下标值（</a:t>
            </a:r>
            <a:r>
              <a:rPr lang="en-US" altLang="zh-CN" sz="2000" b="1" dirty="0" err="1"/>
              <a:t>i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j</a:t>
            </a:r>
            <a:r>
              <a:rPr lang="zh-CN" altLang="en-US" sz="2000" b="1" dirty="0"/>
              <a:t>）对应的元素；</a:t>
            </a:r>
            <a:endParaRPr lang="en-US" altLang="zh-CN" sz="2000" b="1" dirty="0"/>
          </a:p>
          <a:p>
            <a:pPr lvl="2">
              <a:lnSpc>
                <a:spcPts val="3600"/>
              </a:lnSpc>
            </a:pPr>
            <a:r>
              <a:rPr lang="zh-CN" altLang="en-US" sz="2000" b="1" dirty="0"/>
              <a:t>能尽可能快地找到同一行或同一列的非零值元素。</a:t>
            </a:r>
            <a:endParaRPr lang="en-US" altLang="zh-CN" sz="2000" b="1" dirty="0"/>
          </a:p>
          <a:p>
            <a:pPr lvl="1">
              <a:lnSpc>
                <a:spcPts val="3100"/>
              </a:lnSpc>
            </a:pPr>
            <a:endParaRPr lang="en-US" altLang="zh-CN" sz="20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39E8-0A54-414F-B4FA-BD0569756FE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21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</p:spTree>
    <p:extLst>
      <p:ext uri="{BB962C8B-B14F-4D97-AF65-F5344CB8AC3E}">
        <p14:creationId xmlns:p14="http://schemas.microsoft.com/office/powerpoint/2010/main" val="921855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4.3.2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稀疏矩阵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稀疏矩阵的</a:t>
            </a:r>
            <a:r>
              <a:rPr lang="en-US" altLang="zh-CN" sz="2800" b="1" dirty="0"/>
              <a:t>ADT</a:t>
            </a:r>
            <a:r>
              <a:rPr lang="zh-CN" altLang="en-US" sz="2800" b="1" dirty="0"/>
              <a:t>定义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F4432-5C68-4B7F-99A9-F79B7B9A1A6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22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457200" y="1693863"/>
            <a:ext cx="9363075" cy="470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ADT SparseMatrix {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  </a:t>
            </a: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数据对象：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  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  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数据关系：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srgbClr val="FF3300"/>
              </a:solidFill>
              <a:latin typeface="Times New Roman" pitchFamily="18" charset="0"/>
            </a:endParaRP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srgbClr val="FF3300"/>
              </a:solidFill>
              <a:latin typeface="Times New Roman" pitchFamily="18" charset="0"/>
            </a:endParaRP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  基本操作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} ADT Array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690812" y="2197100"/>
            <a:ext cx="6697663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D</a:t>
            </a:r>
            <a:r>
              <a:rPr kumimoji="1" lang="zh-CN" altLang="en-US" dirty="0">
                <a:latin typeface="Times New Roman" pitchFamily="18" charset="0"/>
              </a:rPr>
              <a:t>＝</a:t>
            </a:r>
            <a:r>
              <a:rPr kumimoji="1" lang="en-US" altLang="zh-CN" dirty="0">
                <a:latin typeface="Times New Roman" pitchFamily="18" charset="0"/>
              </a:rPr>
              <a:t>{</a:t>
            </a:r>
            <a:r>
              <a:rPr kumimoji="1" lang="en-US" altLang="zh-CN" dirty="0" err="1">
                <a:latin typeface="Times New Roman" pitchFamily="18" charset="0"/>
              </a:rPr>
              <a:t>a</a:t>
            </a:r>
            <a:r>
              <a:rPr kumimoji="1" lang="en-US" altLang="zh-CN" baseline="-25000" dirty="0" err="1">
                <a:latin typeface="Times New Roman" pitchFamily="18" charset="0"/>
              </a:rPr>
              <a:t>ij</a:t>
            </a:r>
            <a:r>
              <a:rPr kumimoji="1" lang="en-US" altLang="zh-CN" dirty="0">
                <a:latin typeface="Times New Roman" pitchFamily="18" charset="0"/>
              </a:rPr>
              <a:t>| </a:t>
            </a:r>
            <a:r>
              <a:rPr kumimoji="1" lang="en-US" altLang="zh-CN" dirty="0" err="1">
                <a:latin typeface="Times New Roman" pitchFamily="18" charset="0"/>
              </a:rPr>
              <a:t>i</a:t>
            </a:r>
            <a:r>
              <a:rPr kumimoji="1" lang="en-US" altLang="zh-CN" dirty="0">
                <a:latin typeface="Times New Roman" pitchFamily="18" charset="0"/>
              </a:rPr>
              <a:t>=1,2,…,</a:t>
            </a:r>
            <a:r>
              <a:rPr kumimoji="1" lang="en-US" altLang="zh-CN" dirty="0" err="1">
                <a:latin typeface="Times New Roman" pitchFamily="18" charset="0"/>
              </a:rPr>
              <a:t>m;j</a:t>
            </a:r>
            <a:r>
              <a:rPr kumimoji="1" lang="en-US" altLang="zh-CN" dirty="0">
                <a:latin typeface="Times New Roman" pitchFamily="18" charset="0"/>
              </a:rPr>
              <a:t>=1,2,…,n;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 err="1">
                <a:latin typeface="Times New Roman" pitchFamily="18" charset="0"/>
              </a:rPr>
              <a:t>a</a:t>
            </a:r>
            <a:r>
              <a:rPr kumimoji="1" lang="en-US" altLang="zh-CN" baseline="-25000" dirty="0" err="1">
                <a:latin typeface="Times New Roman" pitchFamily="18" charset="0"/>
              </a:rPr>
              <a:t>ij</a:t>
            </a:r>
            <a:r>
              <a:rPr kumimoji="1" lang="en-US" altLang="zh-CN" dirty="0" err="1">
                <a:latin typeface="Times New Roman" pitchFamily="18" charset="0"/>
              </a:rPr>
              <a:t>∈ElemSet,m,n</a:t>
            </a:r>
            <a:r>
              <a:rPr kumimoji="1" lang="zh-CN" altLang="en-US" dirty="0">
                <a:latin typeface="Times New Roman" pitchFamily="18" charset="0"/>
              </a:rPr>
              <a:t>分别为行数与列数</a:t>
            </a:r>
            <a:r>
              <a:rPr kumimoji="1" lang="en-US" altLang="zh-CN" dirty="0">
                <a:latin typeface="Times New Roman" pitchFamily="18" charset="0"/>
              </a:rPr>
              <a:t>}</a:t>
            </a: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690812" y="3735388"/>
            <a:ext cx="6697663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R</a:t>
            </a:r>
            <a:r>
              <a:rPr kumimoji="1" lang="zh-CN" altLang="en-US">
                <a:latin typeface="Times New Roman" pitchFamily="18" charset="0"/>
              </a:rPr>
              <a:t>＝</a:t>
            </a:r>
            <a:r>
              <a:rPr kumimoji="1" lang="en-US" altLang="zh-CN">
                <a:latin typeface="Times New Roman" pitchFamily="18" charset="0"/>
              </a:rPr>
              <a:t>{Row, Col}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Row</a:t>
            </a:r>
            <a:r>
              <a:rPr kumimoji="1" lang="zh-CN" altLang="en-US">
                <a:latin typeface="Times New Roman" pitchFamily="18" charset="0"/>
              </a:rPr>
              <a:t>＝</a:t>
            </a:r>
            <a:r>
              <a:rPr kumimoji="1" lang="en-US" altLang="zh-CN">
                <a:latin typeface="Times New Roman" pitchFamily="18" charset="0"/>
              </a:rPr>
              <a:t>{&lt;a</a:t>
            </a:r>
            <a:r>
              <a:rPr kumimoji="1" lang="en-US" altLang="zh-CN" baseline="-25000">
                <a:latin typeface="Times New Roman" pitchFamily="18" charset="0"/>
              </a:rPr>
              <a:t>i,j</a:t>
            </a:r>
            <a:r>
              <a:rPr kumimoji="1" lang="en-US" altLang="zh-CN">
                <a:latin typeface="Times New Roman" pitchFamily="18" charset="0"/>
              </a:rPr>
              <a:t>, a</a:t>
            </a:r>
            <a:r>
              <a:rPr kumimoji="1" lang="en-US" altLang="zh-CN" baseline="-25000">
                <a:latin typeface="Times New Roman" pitchFamily="18" charset="0"/>
              </a:rPr>
              <a:t>i,j+1 </a:t>
            </a:r>
            <a:r>
              <a:rPr kumimoji="1" lang="en-US" altLang="zh-CN">
                <a:latin typeface="Times New Roman" pitchFamily="18" charset="0"/>
              </a:rPr>
              <a:t>&gt; | i=1,…,m,j=1,…,n-1}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Col</a:t>
            </a:r>
            <a:r>
              <a:rPr kumimoji="1" lang="zh-CN" altLang="en-US">
                <a:latin typeface="Times New Roman" pitchFamily="18" charset="0"/>
              </a:rPr>
              <a:t>＝</a:t>
            </a:r>
            <a:r>
              <a:rPr kumimoji="1" lang="en-US" altLang="zh-CN">
                <a:latin typeface="Times New Roman" pitchFamily="18" charset="0"/>
              </a:rPr>
              <a:t>{&lt;a</a:t>
            </a:r>
            <a:r>
              <a:rPr kumimoji="1" lang="en-US" altLang="zh-CN" baseline="-25000">
                <a:latin typeface="Times New Roman" pitchFamily="18" charset="0"/>
              </a:rPr>
              <a:t>i,j</a:t>
            </a:r>
            <a:r>
              <a:rPr kumimoji="1" lang="en-US" altLang="zh-CN">
                <a:latin typeface="Times New Roman" pitchFamily="18" charset="0"/>
              </a:rPr>
              <a:t>, a</a:t>
            </a:r>
            <a:r>
              <a:rPr kumimoji="1" lang="en-US" altLang="zh-CN" baseline="-25000">
                <a:latin typeface="Times New Roman" pitchFamily="18" charset="0"/>
              </a:rPr>
              <a:t>i+1,j </a:t>
            </a:r>
            <a:r>
              <a:rPr kumimoji="1" lang="en-US" altLang="zh-CN">
                <a:latin typeface="Times New Roman" pitchFamily="18" charset="0"/>
              </a:rPr>
              <a:t>&gt; | i=1,…,m-1,j=1,…,n}</a:t>
            </a:r>
          </a:p>
        </p:txBody>
      </p:sp>
      <p:sp>
        <p:nvSpPr>
          <p:cNvPr id="19" name="Rectangle 9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833687" y="5510213"/>
            <a:ext cx="1800225" cy="519112"/>
          </a:xfrm>
          <a:prstGeom prst="rect">
            <a:avLst/>
          </a:prstGeom>
          <a:solidFill>
            <a:srgbClr val="DBF5F9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</a:rPr>
              <a:t>见下页</a:t>
            </a:r>
          </a:p>
        </p:txBody>
      </p:sp>
    </p:spTree>
    <p:extLst>
      <p:ext uri="{BB962C8B-B14F-4D97-AF65-F5344CB8AC3E}">
        <p14:creationId xmlns:p14="http://schemas.microsoft.com/office/powerpoint/2010/main" val="13672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4.3.2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稀疏矩阵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基本操作：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31C1-915F-4110-87B3-B670EBFD123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23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0" name="Text Box 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750012" y="2133600"/>
            <a:ext cx="62464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CreatSMatrix(&amp;M)               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创建稀疏矩阵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21" name="Text Box 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770650" y="2852738"/>
            <a:ext cx="62304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DestroyArray(&amp;M)               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销毁稀疏矩阵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M</a:t>
            </a:r>
          </a:p>
        </p:txBody>
      </p:sp>
      <p:sp>
        <p:nvSpPr>
          <p:cNvPr id="22" name="Text Box 5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734137" y="3284538"/>
            <a:ext cx="37240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……………………………..</a:t>
            </a:r>
          </a:p>
        </p:txBody>
      </p:sp>
      <p:sp>
        <p:nvSpPr>
          <p:cNvPr id="23" name="Text Box 6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773825" y="4719638"/>
            <a:ext cx="75392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MultSMatrix(M,N,&amp;Q)       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求稀疏矩阵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和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的乘积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Q</a:t>
            </a:r>
          </a:p>
        </p:txBody>
      </p:sp>
      <p:sp>
        <p:nvSpPr>
          <p:cNvPr id="24" name="Text Box 7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734137" y="3989388"/>
            <a:ext cx="76478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>
                <a:latin typeface="Times New Roman" pitchFamily="18" charset="0"/>
              </a:rPr>
              <a:t>TransposeSMatrix(M, &amp;T)  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求稀疏矩阵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的转置矩阵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69600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4.3.3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稀疏矩阵的三元组顺序表存储：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242AC-80F2-4528-8FD6-2C7E7A73F26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24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776288" y="2005013"/>
            <a:ext cx="8064500" cy="1411287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        根据稀疏矩阵大部分元素的值都为零的特点，可以只存储稀疏矩阵的非零元素，三元组分别记录非零元素的行，列位置和元素值。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6046788" y="3589338"/>
            <a:ext cx="2570162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0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1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>
                <a:latin typeface="Times New Roman" pitchFamily="18" charset="0"/>
              </a:rPr>
              <a:t>0  0  0</a:t>
            </a:r>
          </a:p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0  0  0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2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>
                <a:latin typeface="Times New Roman" pitchFamily="18" charset="0"/>
              </a:rPr>
              <a:t>0</a:t>
            </a:r>
          </a:p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1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>
                <a:latin typeface="Times New Roman" pitchFamily="18" charset="0"/>
              </a:rPr>
              <a:t>0  0  0  0</a:t>
            </a:r>
          </a:p>
        </p:txBody>
      </p:sp>
      <p:sp>
        <p:nvSpPr>
          <p:cNvPr id="19" name="AutoShape 11"/>
          <p:cNvSpPr>
            <a:spLocks/>
          </p:cNvSpPr>
          <p:nvPr/>
        </p:nvSpPr>
        <p:spPr bwMode="auto">
          <a:xfrm>
            <a:off x="7900988" y="3732213"/>
            <a:ext cx="144462" cy="1230312"/>
          </a:xfrm>
          <a:prstGeom prst="rightBracket">
            <a:avLst>
              <a:gd name="adj" fmla="val 70971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2400" b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5" name="AutoShape 12"/>
          <p:cNvSpPr>
            <a:spLocks/>
          </p:cNvSpPr>
          <p:nvPr/>
        </p:nvSpPr>
        <p:spPr bwMode="auto">
          <a:xfrm>
            <a:off x="5816600" y="3738563"/>
            <a:ext cx="212725" cy="1223962"/>
          </a:xfrm>
          <a:prstGeom prst="leftBracket">
            <a:avLst>
              <a:gd name="adj" fmla="val 47948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2400" b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1712913" y="5676900"/>
            <a:ext cx="63357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just" eaLnBrk="1" fontAlgn="base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M=((1</a:t>
            </a:r>
            <a:r>
              <a:rPr kumimoji="1" lang="zh-CN" altLang="en-US">
                <a:latin typeface="Times New Roman" pitchFamily="18" charset="0"/>
              </a:rPr>
              <a:t>，</a:t>
            </a:r>
            <a:r>
              <a:rPr kumimoji="1" lang="en-US" altLang="zh-CN">
                <a:latin typeface="Times New Roman" pitchFamily="18" charset="0"/>
              </a:rPr>
              <a:t>2</a:t>
            </a:r>
            <a:r>
              <a:rPr kumimoji="1" lang="zh-CN" altLang="en-US">
                <a:latin typeface="Times New Roman" pitchFamily="18" charset="0"/>
              </a:rPr>
              <a:t>，</a:t>
            </a:r>
            <a:r>
              <a:rPr kumimoji="1" lang="en-US" altLang="zh-CN">
                <a:latin typeface="Times New Roman" pitchFamily="18" charset="0"/>
              </a:rPr>
              <a:t>1)</a:t>
            </a:r>
            <a:r>
              <a:rPr kumimoji="1" lang="zh-CN" altLang="en-US">
                <a:latin typeface="Times New Roman" pitchFamily="18" charset="0"/>
              </a:rPr>
              <a:t>，</a:t>
            </a:r>
            <a:r>
              <a:rPr kumimoji="1" lang="en-US" altLang="zh-CN">
                <a:latin typeface="Times New Roman" pitchFamily="18" charset="0"/>
              </a:rPr>
              <a:t>(2</a:t>
            </a:r>
            <a:r>
              <a:rPr kumimoji="1" lang="zh-CN" altLang="en-US">
                <a:latin typeface="Times New Roman" pitchFamily="18" charset="0"/>
              </a:rPr>
              <a:t>，</a:t>
            </a:r>
            <a:r>
              <a:rPr kumimoji="1" lang="en-US" altLang="zh-CN">
                <a:latin typeface="Times New Roman" pitchFamily="18" charset="0"/>
              </a:rPr>
              <a:t>4</a:t>
            </a:r>
            <a:r>
              <a:rPr kumimoji="1" lang="zh-CN" altLang="en-US">
                <a:latin typeface="Times New Roman" pitchFamily="18" charset="0"/>
              </a:rPr>
              <a:t>，</a:t>
            </a:r>
            <a:r>
              <a:rPr kumimoji="1" lang="en-US" altLang="zh-CN">
                <a:latin typeface="Times New Roman" pitchFamily="18" charset="0"/>
              </a:rPr>
              <a:t>2)</a:t>
            </a:r>
            <a:r>
              <a:rPr kumimoji="1" lang="zh-CN" altLang="en-US">
                <a:latin typeface="Times New Roman" pitchFamily="18" charset="0"/>
              </a:rPr>
              <a:t>，</a:t>
            </a:r>
            <a:r>
              <a:rPr kumimoji="1" lang="en-US" altLang="zh-CN">
                <a:latin typeface="Times New Roman" pitchFamily="18" charset="0"/>
              </a:rPr>
              <a:t>(3</a:t>
            </a:r>
            <a:r>
              <a:rPr kumimoji="1" lang="zh-CN" altLang="en-US">
                <a:latin typeface="Times New Roman" pitchFamily="18" charset="0"/>
              </a:rPr>
              <a:t>，</a:t>
            </a:r>
            <a:r>
              <a:rPr kumimoji="1" lang="en-US" altLang="zh-CN">
                <a:latin typeface="Times New Roman" pitchFamily="18" charset="0"/>
              </a:rPr>
              <a:t>1</a:t>
            </a:r>
            <a:r>
              <a:rPr kumimoji="1" lang="zh-CN" altLang="en-US">
                <a:latin typeface="Times New Roman" pitchFamily="18" charset="0"/>
              </a:rPr>
              <a:t>，</a:t>
            </a:r>
            <a:r>
              <a:rPr kumimoji="1" lang="en-US" altLang="zh-CN">
                <a:latin typeface="Times New Roman" pitchFamily="18" charset="0"/>
              </a:rPr>
              <a:t>1))</a:t>
            </a:r>
          </a:p>
        </p:txBody>
      </p: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1136650" y="3733800"/>
            <a:ext cx="41036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        求矩阵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M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的三元组表示。</a:t>
            </a:r>
          </a:p>
        </p:txBody>
      </p:sp>
      <p:sp>
        <p:nvSpPr>
          <p:cNvPr id="28" name="Oval 15"/>
          <p:cNvSpPr>
            <a:spLocks noChangeArrowheads="1"/>
          </p:cNvSpPr>
          <p:nvPr/>
        </p:nvSpPr>
        <p:spPr bwMode="auto">
          <a:xfrm>
            <a:off x="762000" y="3732213"/>
            <a:ext cx="1143000" cy="449262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例</a:t>
            </a:r>
          </a:p>
        </p:txBody>
      </p:sp>
      <p:sp>
        <p:nvSpPr>
          <p:cNvPr id="29" name="Text Box 16"/>
          <p:cNvSpPr txBox="1">
            <a:spLocks noChangeArrowheads="1"/>
          </p:cNvSpPr>
          <p:nvPr/>
        </p:nvSpPr>
        <p:spPr bwMode="auto">
          <a:xfrm>
            <a:off x="6248400" y="5173663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 矩阵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M</a:t>
            </a:r>
            <a:endParaRPr kumimoji="1" lang="zh-CN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72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 animBg="1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4.3.3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三元组顺序表的实现：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E9B8-80C4-4AF1-9C14-F5A8BBE796C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25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631825" y="1765300"/>
            <a:ext cx="7850188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>
                <a:latin typeface="Times New Roman" pitchFamily="18" charset="0"/>
              </a:rPr>
              <a:t>#define  MAXSIZE  12500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 typedef struct {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int  i, j;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            //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该非零元的行下标和列下标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ElemType  e;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  // 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该非零元的值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latin typeface="Times New Roman" pitchFamily="18" charset="0"/>
              </a:rPr>
              <a:t> </a:t>
            </a:r>
            <a:r>
              <a:rPr kumimoji="1" lang="en-US" altLang="zh-CN">
                <a:latin typeface="Times New Roman" pitchFamily="18" charset="0"/>
              </a:rPr>
              <a:t>} Triple;               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// 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三元组类型</a:t>
            </a:r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631825" y="4429125"/>
            <a:ext cx="8348663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typedef struct{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Triple  data[MAXSIZE + 1];   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//data[0]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未用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    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int     mu, nu, tu;</a:t>
            </a:r>
            <a:r>
              <a:rPr kumimoji="1" lang="en-US" altLang="zh-CN">
                <a:solidFill>
                  <a:srgbClr val="9933FF"/>
                </a:solidFill>
                <a:latin typeface="Times New Roman" pitchFamily="18" charset="0"/>
              </a:rPr>
              <a:t> 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} TSMatrix;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                                   // 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稀疏矩阵类型</a:t>
            </a:r>
          </a:p>
        </p:txBody>
      </p:sp>
    </p:spTree>
    <p:extLst>
      <p:ext uri="{BB962C8B-B14F-4D97-AF65-F5344CB8AC3E}">
        <p14:creationId xmlns:p14="http://schemas.microsoft.com/office/powerpoint/2010/main" val="155888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4.3.3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三元组顺序表转置的实现：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FEFBF-97CF-4C03-AAF1-DCB0ADACBBA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26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762000" y="2633663"/>
            <a:ext cx="2000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4400" b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762000" y="1900238"/>
            <a:ext cx="252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buChar char="Ø"/>
            </a:pPr>
            <a:r>
              <a:rPr kumimoji="1" lang="zh-CN" altLang="en-US">
                <a:latin typeface="Times New Roman" pitchFamily="18" charset="0"/>
              </a:rPr>
              <a:t> 示例分例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1193800" y="2563813"/>
            <a:ext cx="4176712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latin typeface="Times New Roman" pitchFamily="18" charset="0"/>
              </a:rPr>
              <a:t> </a:t>
            </a:r>
            <a:r>
              <a:rPr kumimoji="1" lang="en-US" altLang="zh-CN">
                <a:latin typeface="Times New Roman" pitchFamily="18" charset="0"/>
              </a:rPr>
              <a:t>(1)</a:t>
            </a:r>
            <a:r>
              <a:rPr kumimoji="1" lang="zh-CN" altLang="en-US">
                <a:latin typeface="Times New Roman" pitchFamily="18" charset="0"/>
              </a:rPr>
              <a:t>从矩阵到转置矩阵</a:t>
            </a: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1698625" y="3440113"/>
            <a:ext cx="2570162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0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1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>
                <a:latin typeface="Times New Roman" pitchFamily="18" charset="0"/>
              </a:rPr>
              <a:t>0  0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5</a:t>
            </a:r>
          </a:p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0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7</a:t>
            </a:r>
            <a:r>
              <a:rPr kumimoji="1" lang="en-US" altLang="zh-CN">
                <a:latin typeface="Times New Roman" pitchFamily="18" charset="0"/>
              </a:rPr>
              <a:t>  0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>
                <a:latin typeface="Times New Roman" pitchFamily="18" charset="0"/>
              </a:rPr>
              <a:t>0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>
                <a:latin typeface="Times New Roman" pitchFamily="18" charset="0"/>
              </a:rPr>
              <a:t>0</a:t>
            </a:r>
          </a:p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3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>
                <a:latin typeface="Times New Roman" pitchFamily="18" charset="0"/>
              </a:rPr>
              <a:t>0  0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2</a:t>
            </a:r>
            <a:r>
              <a:rPr kumimoji="1" lang="en-US" altLang="zh-CN">
                <a:latin typeface="Times New Roman" pitchFamily="18" charset="0"/>
              </a:rPr>
              <a:t>  0</a:t>
            </a:r>
          </a:p>
        </p:txBody>
      </p:sp>
      <p:sp>
        <p:nvSpPr>
          <p:cNvPr id="19" name="AutoShape 13"/>
          <p:cNvSpPr>
            <a:spLocks/>
          </p:cNvSpPr>
          <p:nvPr/>
        </p:nvSpPr>
        <p:spPr bwMode="auto">
          <a:xfrm>
            <a:off x="3567112" y="3582988"/>
            <a:ext cx="144463" cy="1230312"/>
          </a:xfrm>
          <a:prstGeom prst="rightBracket">
            <a:avLst>
              <a:gd name="adj" fmla="val 7097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2400" b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2" name="AutoShape 14"/>
          <p:cNvSpPr>
            <a:spLocks/>
          </p:cNvSpPr>
          <p:nvPr/>
        </p:nvSpPr>
        <p:spPr bwMode="auto">
          <a:xfrm>
            <a:off x="1482725" y="3589338"/>
            <a:ext cx="212725" cy="1223962"/>
          </a:xfrm>
          <a:prstGeom prst="leftBracket">
            <a:avLst>
              <a:gd name="adj" fmla="val 47948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2400" b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5897562" y="2962275"/>
            <a:ext cx="1273175" cy="248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0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0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3</a:t>
            </a:r>
          </a:p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1</a:t>
            </a:r>
            <a:r>
              <a:rPr kumimoji="1" lang="en-US" altLang="zh-CN">
                <a:latin typeface="Times New Roman" pitchFamily="18" charset="0"/>
              </a:rPr>
              <a:t>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7</a:t>
            </a:r>
            <a:r>
              <a:rPr kumimoji="1" lang="en-US" altLang="zh-CN">
                <a:latin typeface="Times New Roman" pitchFamily="18" charset="0"/>
              </a:rPr>
              <a:t>  0</a:t>
            </a:r>
          </a:p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0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en-US" altLang="zh-CN">
                <a:latin typeface="Times New Roman" pitchFamily="18" charset="0"/>
              </a:rPr>
              <a:t>0  0</a:t>
            </a:r>
          </a:p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0  0  </a:t>
            </a: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2</a:t>
            </a:r>
          </a:p>
          <a:p>
            <a:pPr eaLnBrk="1" fontAlgn="base" hangingPunct="1">
              <a:spcBef>
                <a:spcPct val="15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5</a:t>
            </a:r>
            <a:r>
              <a:rPr kumimoji="1" lang="en-US" altLang="zh-CN">
                <a:latin typeface="Times New Roman" pitchFamily="18" charset="0"/>
              </a:rPr>
              <a:t>  0  0</a:t>
            </a:r>
          </a:p>
        </p:txBody>
      </p:sp>
      <p:sp>
        <p:nvSpPr>
          <p:cNvPr id="24" name="AutoShape 16"/>
          <p:cNvSpPr>
            <a:spLocks/>
          </p:cNvSpPr>
          <p:nvPr/>
        </p:nvSpPr>
        <p:spPr bwMode="auto">
          <a:xfrm>
            <a:off x="7027862" y="3138488"/>
            <a:ext cx="142875" cy="2159000"/>
          </a:xfrm>
          <a:prstGeom prst="rightBracket">
            <a:avLst>
              <a:gd name="adj" fmla="val 125926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2400" b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5" name="AutoShape 17"/>
          <p:cNvSpPr>
            <a:spLocks/>
          </p:cNvSpPr>
          <p:nvPr/>
        </p:nvSpPr>
        <p:spPr bwMode="auto">
          <a:xfrm>
            <a:off x="5730875" y="3141663"/>
            <a:ext cx="149225" cy="2155825"/>
          </a:xfrm>
          <a:prstGeom prst="leftBracket">
            <a:avLst>
              <a:gd name="adj" fmla="val 120390"/>
            </a:avLst>
          </a:prstGeom>
          <a:noFill/>
          <a:ln w="222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2400" b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6" name="AutoShape 18"/>
          <p:cNvSpPr>
            <a:spLocks noChangeArrowheads="1"/>
          </p:cNvSpPr>
          <p:nvPr/>
        </p:nvSpPr>
        <p:spPr bwMode="auto">
          <a:xfrm>
            <a:off x="4146550" y="3932238"/>
            <a:ext cx="976312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0F6F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auto">
          <a:xfrm>
            <a:off x="1914525" y="5156200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 矩阵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M</a:t>
            </a:r>
            <a:endParaRPr kumimoji="1" lang="zh-CN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8" name="Text Box 20"/>
          <p:cNvSpPr txBox="1">
            <a:spLocks noChangeArrowheads="1"/>
          </p:cNvSpPr>
          <p:nvPr/>
        </p:nvSpPr>
        <p:spPr bwMode="auto">
          <a:xfrm>
            <a:off x="5514975" y="5562600"/>
            <a:ext cx="187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00"/>
                </a:solidFill>
                <a:latin typeface="Times New Roman" pitchFamily="18" charset="0"/>
              </a:rPr>
              <a:t> 转值矩阵</a:t>
            </a:r>
            <a:r>
              <a:rPr kumimoji="1" lang="en-US" altLang="zh-CN" sz="2400">
                <a:solidFill>
                  <a:srgbClr val="000000"/>
                </a:solidFill>
                <a:latin typeface="Times New Roman" pitchFamily="18" charset="0"/>
              </a:rPr>
              <a:t>T</a:t>
            </a:r>
            <a:endParaRPr kumimoji="1" lang="zh-CN" alt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84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2" grpId="0" animBg="1"/>
      <p:bldP spid="23" grpId="0"/>
      <p:bldP spid="24" grpId="0" animBg="1"/>
      <p:bldP spid="25" grpId="0" animBg="1"/>
      <p:bldP spid="26" grpId="0" animBg="1"/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4.3.3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求转置矩阵的操作：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61D6D-F205-4F2C-8967-722005BA1DA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27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762000" y="2633663"/>
            <a:ext cx="2000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4400" b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762000" y="1900238"/>
            <a:ext cx="6477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buChar char="Ø"/>
            </a:pPr>
            <a:r>
              <a:rPr kumimoji="1" lang="zh-CN" altLang="en-US" dirty="0">
                <a:latin typeface="Times New Roman" pitchFamily="18" charset="0"/>
              </a:rPr>
              <a:t> 用常规</a:t>
            </a:r>
            <a:r>
              <a:rPr kumimoji="1" lang="zh-CN" altLang="en-US">
                <a:latin typeface="Times New Roman" pitchFamily="18" charset="0"/>
              </a:rPr>
              <a:t>的二维数组</a:t>
            </a:r>
            <a:r>
              <a:rPr kumimoji="1" lang="zh-CN" altLang="en-US" dirty="0">
                <a:latin typeface="Times New Roman" pitchFamily="18" charset="0"/>
              </a:rPr>
              <a:t>表示时的算法</a:t>
            </a: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1193800" y="2563813"/>
            <a:ext cx="5511800" cy="151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latin typeface="Times New Roman" pitchFamily="18" charset="0"/>
              </a:rPr>
              <a:t> </a:t>
            </a:r>
            <a:r>
              <a:rPr kumimoji="1" lang="en-US" altLang="zh-CN" dirty="0">
                <a:latin typeface="Times New Roman" pitchFamily="18" charset="0"/>
              </a:rPr>
              <a:t>for (col=1; col&lt;=nu;++col)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     for (row=1; row&lt;=mu; ++row)</a:t>
            </a:r>
          </a:p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           T[col][row] = M[row][col];</a:t>
            </a:r>
            <a:endParaRPr kumimoji="1" lang="zh-CN" altLang="en-US" dirty="0">
              <a:latin typeface="Times New Roman" pitchFamily="18" charset="0"/>
            </a:endParaRPr>
          </a:p>
        </p:txBody>
      </p:sp>
      <p:sp>
        <p:nvSpPr>
          <p:cNvPr id="28" name="Text Box 20"/>
          <p:cNvSpPr txBox="1">
            <a:spLocks noChangeArrowheads="1"/>
          </p:cNvSpPr>
          <p:nvPr/>
        </p:nvSpPr>
        <p:spPr bwMode="auto">
          <a:xfrm>
            <a:off x="1143000" y="4734580"/>
            <a:ext cx="533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itchFamily="18" charset="0"/>
              </a:rPr>
              <a:t> 其时间复杂度为：</a:t>
            </a:r>
            <a:r>
              <a:rPr kumimoji="1" lang="en-US" altLang="zh-CN" dirty="0">
                <a:solidFill>
                  <a:srgbClr val="000000"/>
                </a:solidFill>
                <a:latin typeface="Times New Roman" pitchFamily="18" charset="0"/>
              </a:rPr>
              <a:t>O(mu * nu)</a:t>
            </a:r>
            <a:endParaRPr kumimoji="1" lang="zh-CN" alt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90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4.3.3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三元组顺序表转置传统算法：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FD9C-388F-4AE1-B49A-B8E239074C3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778842" y="1828800"/>
            <a:ext cx="8275855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Status </a:t>
            </a:r>
            <a:r>
              <a:rPr kumimoji="1" lang="en-US" altLang="zh-CN" sz="2400" dirty="0" err="1">
                <a:latin typeface="Times New Roman" pitchFamily="18" charset="0"/>
              </a:rPr>
              <a:t>TransposeSMatrix</a:t>
            </a:r>
            <a:r>
              <a:rPr kumimoji="1" lang="en-US" altLang="zh-CN" sz="2400" dirty="0">
                <a:latin typeface="Times New Roman" pitchFamily="18" charset="0"/>
              </a:rPr>
              <a:t>(</a:t>
            </a:r>
            <a:r>
              <a:rPr kumimoji="1" lang="en-US" altLang="zh-CN" sz="2400" dirty="0" err="1">
                <a:latin typeface="Times New Roman" pitchFamily="18" charset="0"/>
              </a:rPr>
              <a:t>TSMatrix</a:t>
            </a:r>
            <a:r>
              <a:rPr kumimoji="1" lang="en-US" altLang="zh-CN" sz="2400" dirty="0">
                <a:latin typeface="Times New Roman" pitchFamily="18" charset="0"/>
              </a:rPr>
              <a:t> M, </a:t>
            </a:r>
            <a:r>
              <a:rPr kumimoji="1" lang="en-US" altLang="zh-CN" sz="2400" dirty="0" err="1">
                <a:latin typeface="Times New Roman" pitchFamily="18" charset="0"/>
              </a:rPr>
              <a:t>TSMatrix</a:t>
            </a:r>
            <a:r>
              <a:rPr kumimoji="1" lang="en-US" altLang="zh-CN" sz="2400" dirty="0">
                <a:latin typeface="Times New Roman" pitchFamily="18" charset="0"/>
              </a:rPr>
              <a:t> &amp;T)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{ </a:t>
            </a:r>
            <a:r>
              <a:rPr kumimoji="1" lang="en-US" altLang="zh-CN" sz="2400" dirty="0" err="1">
                <a:latin typeface="Times New Roman" pitchFamily="18" charset="0"/>
              </a:rPr>
              <a:t>int</a:t>
            </a:r>
            <a:r>
              <a:rPr kumimoji="1" lang="en-US" altLang="zh-CN" sz="2400" dirty="0">
                <a:latin typeface="Times New Roman" pitchFamily="18" charset="0"/>
              </a:rPr>
              <a:t> p, q, </a:t>
            </a:r>
            <a:r>
              <a:rPr kumimoji="1" lang="en-US" altLang="zh-CN" sz="2400" dirty="0" err="1">
                <a:latin typeface="Times New Roman" pitchFamily="18" charset="0"/>
              </a:rPr>
              <a:t>col;T.mu</a:t>
            </a:r>
            <a:r>
              <a:rPr kumimoji="1" lang="en-US" altLang="zh-CN" sz="2400" dirty="0">
                <a:latin typeface="Times New Roman" pitchFamily="18" charset="0"/>
              </a:rPr>
              <a:t>=</a:t>
            </a:r>
            <a:r>
              <a:rPr kumimoji="1" lang="en-US" altLang="zh-CN" sz="2400" dirty="0" err="1">
                <a:latin typeface="Times New Roman" pitchFamily="18" charset="0"/>
              </a:rPr>
              <a:t>M.nu;T.nu</a:t>
            </a:r>
            <a:r>
              <a:rPr kumimoji="1" lang="en-US" altLang="zh-CN" sz="2400" dirty="0">
                <a:latin typeface="Times New Roman" pitchFamily="18" charset="0"/>
              </a:rPr>
              <a:t>=</a:t>
            </a:r>
            <a:r>
              <a:rPr kumimoji="1" lang="en-US" altLang="zh-CN" sz="2400" dirty="0" err="1">
                <a:latin typeface="Times New Roman" pitchFamily="18" charset="0"/>
              </a:rPr>
              <a:t>M.mu;T.tu</a:t>
            </a:r>
            <a:r>
              <a:rPr kumimoji="1" lang="en-US" altLang="zh-CN" sz="2400" dirty="0">
                <a:latin typeface="Times New Roman" pitchFamily="18" charset="0"/>
              </a:rPr>
              <a:t>=</a:t>
            </a:r>
            <a:r>
              <a:rPr kumimoji="1" lang="en-US" altLang="zh-CN" sz="2400" dirty="0" err="1">
                <a:latin typeface="Times New Roman" pitchFamily="18" charset="0"/>
              </a:rPr>
              <a:t>M.tu</a:t>
            </a:r>
            <a:r>
              <a:rPr kumimoji="1" lang="en-US" altLang="zh-CN" sz="2400" dirty="0">
                <a:latin typeface="Times New Roman" pitchFamily="18" charset="0"/>
              </a:rPr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if (</a:t>
            </a:r>
            <a:r>
              <a:rPr kumimoji="1" lang="en-US" altLang="zh-CN" sz="2400" dirty="0" err="1">
                <a:latin typeface="Times New Roman" pitchFamily="18" charset="0"/>
              </a:rPr>
              <a:t>T.tu</a:t>
            </a:r>
            <a:r>
              <a:rPr kumimoji="1" lang="en-US" altLang="zh-CN" sz="2400" dirty="0">
                <a:latin typeface="Times New Roman" pitchFamily="18" charset="0"/>
              </a:rPr>
              <a:t>) { q = 1;//</a:t>
            </a:r>
            <a:r>
              <a:rPr kumimoji="1" lang="zh-CN" altLang="en-US" sz="1600" dirty="0">
                <a:latin typeface="Times New Roman" pitchFamily="18" charset="0"/>
              </a:rPr>
              <a:t>从第一个开始</a:t>
            </a:r>
            <a:endParaRPr kumimoji="1" lang="en-US" altLang="zh-CN" sz="2400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  for (col=1; col&lt;=M.nu; ++col)//</a:t>
            </a:r>
            <a:r>
              <a:rPr kumimoji="1" lang="zh-CN" altLang="en-US" sz="1600" dirty="0">
                <a:latin typeface="Times New Roman" pitchFamily="18" charset="0"/>
              </a:rPr>
              <a:t>转置矩阵以行序为主，即原来矩阵的列序</a:t>
            </a:r>
            <a:endParaRPr kumimoji="1" lang="en-US" altLang="zh-CN" sz="1600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    for (p=1; p&lt;=</a:t>
            </a:r>
            <a:r>
              <a:rPr kumimoji="1" lang="en-US" altLang="zh-CN" sz="2400" dirty="0" err="1">
                <a:latin typeface="Times New Roman" pitchFamily="18" charset="0"/>
              </a:rPr>
              <a:t>M.tu</a:t>
            </a:r>
            <a:r>
              <a:rPr kumimoji="1" lang="en-US" altLang="zh-CN" sz="2400" dirty="0">
                <a:latin typeface="Times New Roman" pitchFamily="18" charset="0"/>
              </a:rPr>
              <a:t>; ++p)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      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if (</a:t>
            </a:r>
            <a:r>
              <a:rPr kumimoji="1" lang="en-US" altLang="zh-CN" sz="2400" dirty="0" err="1">
                <a:solidFill>
                  <a:srgbClr val="FF3300"/>
                </a:solidFill>
                <a:latin typeface="Times New Roman" pitchFamily="18" charset="0"/>
              </a:rPr>
              <a:t>M.data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[p].j == col) 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          </a:t>
            </a:r>
            <a:r>
              <a:rPr kumimoji="1" lang="en-US" altLang="zh-CN" sz="2400" dirty="0" err="1">
                <a:solidFill>
                  <a:srgbClr val="FF3300"/>
                </a:solidFill>
                <a:latin typeface="Times New Roman" pitchFamily="18" charset="0"/>
              </a:rPr>
              <a:t>T.data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[q].</a:t>
            </a:r>
            <a:r>
              <a:rPr kumimoji="1" lang="en-US" altLang="zh-CN" sz="24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=</a:t>
            </a:r>
            <a:r>
              <a:rPr kumimoji="1" lang="en-US" altLang="zh-CN" sz="2400" dirty="0" err="1">
                <a:solidFill>
                  <a:srgbClr val="FF3300"/>
                </a:solidFill>
                <a:latin typeface="Times New Roman" pitchFamily="18" charset="0"/>
              </a:rPr>
              <a:t>M.data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[p].</a:t>
            </a:r>
            <a:r>
              <a:rPr kumimoji="1" lang="en-US" altLang="zh-CN" sz="2400" dirty="0" err="1">
                <a:solidFill>
                  <a:srgbClr val="FF3300"/>
                </a:solidFill>
                <a:latin typeface="Times New Roman" pitchFamily="18" charset="0"/>
              </a:rPr>
              <a:t>j;T.data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[q].j =</a:t>
            </a:r>
            <a:r>
              <a:rPr kumimoji="1" lang="en-US" altLang="zh-CN" sz="2400" dirty="0" err="1">
                <a:solidFill>
                  <a:srgbClr val="FF3300"/>
                </a:solidFill>
                <a:latin typeface="Times New Roman" pitchFamily="18" charset="0"/>
              </a:rPr>
              <a:t>M.data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[p].</a:t>
            </a:r>
            <a:r>
              <a:rPr kumimoji="1" lang="en-US" altLang="zh-CN" sz="24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          </a:t>
            </a:r>
            <a:r>
              <a:rPr kumimoji="1" lang="en-US" altLang="zh-CN" sz="2400" dirty="0" err="1">
                <a:solidFill>
                  <a:srgbClr val="FF3300"/>
                </a:solidFill>
                <a:latin typeface="Times New Roman" pitchFamily="18" charset="0"/>
              </a:rPr>
              <a:t>T.data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[q].e =</a:t>
            </a:r>
            <a:r>
              <a:rPr kumimoji="1" lang="en-US" altLang="zh-CN" sz="2400" dirty="0" err="1">
                <a:solidFill>
                  <a:srgbClr val="FF3300"/>
                </a:solidFill>
                <a:latin typeface="Times New Roman" pitchFamily="18" charset="0"/>
              </a:rPr>
              <a:t>M.data</a:t>
            </a:r>
            <a:r>
              <a:rPr kumimoji="1" lang="en-US" altLang="zh-CN" sz="2400" dirty="0">
                <a:solidFill>
                  <a:srgbClr val="FF3300"/>
                </a:solidFill>
                <a:latin typeface="Times New Roman" pitchFamily="18" charset="0"/>
              </a:rPr>
              <a:t>[p].e;  ++q;</a:t>
            </a:r>
            <a:r>
              <a:rPr kumimoji="1" lang="en-US" altLang="zh-CN" sz="2400" dirty="0">
                <a:latin typeface="Times New Roman" pitchFamily="18" charset="0"/>
              </a:rPr>
              <a:t>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      }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}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return OK;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F6ECB6-31E5-449C-94BF-0A41DB5A09AD}"/>
              </a:ext>
            </a:extLst>
          </p:cNvPr>
          <p:cNvSpPr/>
          <p:nvPr/>
        </p:nvSpPr>
        <p:spPr>
          <a:xfrm>
            <a:off x="2819400" y="4969412"/>
            <a:ext cx="6019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/>
              <a:t>//</a:t>
            </a:r>
            <a:r>
              <a:rPr lang="zh-CN" altLang="en-US" sz="1600" b="1" dirty="0"/>
              <a:t>按照</a:t>
            </a:r>
            <a:r>
              <a:rPr lang="en-US" altLang="zh-CN" sz="1600" b="1" dirty="0" err="1"/>
              <a:t>M.data</a:t>
            </a:r>
            <a:r>
              <a:rPr lang="zh-CN" altLang="en-US" sz="1600" b="1" dirty="0"/>
              <a:t>中的三元组的次序依次在</a:t>
            </a:r>
            <a:r>
              <a:rPr lang="en-US" altLang="zh-CN" sz="1600" b="1" dirty="0" err="1"/>
              <a:t>T.data</a:t>
            </a:r>
            <a:r>
              <a:rPr lang="zh-CN" altLang="en-US" sz="1600" b="1" dirty="0"/>
              <a:t>中找到相应的三元组进行转置。换句话说，按照矩阵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的列序来进行转置；为了找到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的每一列中所有的非零元素，需要对其三元组表示</a:t>
            </a:r>
            <a:r>
              <a:rPr lang="en-US" altLang="zh-CN" sz="1600" b="1" dirty="0" err="1"/>
              <a:t>T.data</a:t>
            </a:r>
            <a:r>
              <a:rPr lang="zh-CN" altLang="en-US" sz="1600" b="1" dirty="0"/>
              <a:t>从第一行起整个扫描一遍，由于</a:t>
            </a:r>
            <a:r>
              <a:rPr lang="en-US" altLang="zh-CN" sz="1600" b="1" dirty="0" err="1"/>
              <a:t>T.data</a:t>
            </a:r>
            <a:r>
              <a:rPr lang="zh-CN" altLang="en-US" sz="1600" b="1" dirty="0"/>
              <a:t>是以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的行序为主序来存放每个非零元的，由此得到恰好是</a:t>
            </a:r>
            <a:r>
              <a:rPr lang="en-US" altLang="zh-CN" sz="1600" b="1" dirty="0" err="1"/>
              <a:t>T.data</a:t>
            </a:r>
            <a:r>
              <a:rPr lang="zh-CN" altLang="en-US" sz="1600" b="1" dirty="0"/>
              <a:t>应有的顺序。</a:t>
            </a:r>
          </a:p>
        </p:txBody>
      </p:sp>
    </p:spTree>
    <p:extLst>
      <p:ext uri="{BB962C8B-B14F-4D97-AF65-F5344CB8AC3E}">
        <p14:creationId xmlns:p14="http://schemas.microsoft.com/office/powerpoint/2010/main" val="212199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4.3.3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三元组顺序表转置算法时间复杂性：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AEF5E-14AB-4445-BA49-21180433D3F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29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762000" y="4700588"/>
            <a:ext cx="7920037" cy="557212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zh-CN" altLang="en-US" kern="0"/>
              <a:t>时间复杂度为</a:t>
            </a:r>
            <a:r>
              <a:rPr kumimoji="1" lang="en-US" altLang="zh-CN" kern="0"/>
              <a:t>: O(M.nu*M.tu)</a:t>
            </a:r>
          </a:p>
        </p:txBody>
      </p:sp>
      <p:sp>
        <p:nvSpPr>
          <p:cNvPr id="14" name="Comment 5"/>
          <p:cNvSpPr>
            <a:spLocks noChangeArrowheads="1"/>
          </p:cNvSpPr>
          <p:nvPr/>
        </p:nvSpPr>
        <p:spPr bwMode="auto">
          <a:xfrm>
            <a:off x="762000" y="2179638"/>
            <a:ext cx="7918450" cy="2157412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zh-CN" kern="0"/>
              <a:t>for (col=1; col&lt;=M.nu; ++col)</a:t>
            </a:r>
          </a:p>
          <a:p>
            <a:pPr eaLnBrk="1" fontAlgn="base" hangingPunct="1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zh-CN" kern="0"/>
              <a:t>      for (p=1; p&lt;=M.tu; ++p)</a:t>
            </a:r>
          </a:p>
          <a:p>
            <a:pPr eaLnBrk="1" fontAlgn="base" hangingPunct="1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zh-CN" kern="0"/>
              <a:t>        ………………………..</a:t>
            </a:r>
          </a:p>
          <a:p>
            <a:pPr eaLnBrk="1" fontAlgn="base" hangingPunct="1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zh-CN" kern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300014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4.3.3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三元组顺序表转置的实现：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E477F-A69A-4EA7-826A-B355E067B22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30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801688" y="2668588"/>
            <a:ext cx="2000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zh-CN" altLang="en-US" sz="4400" b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801688" y="1935163"/>
            <a:ext cx="252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buChar char="Ø"/>
            </a:pPr>
            <a:r>
              <a:rPr kumimoji="1" lang="zh-CN" altLang="en-US">
                <a:latin typeface="Times New Roman" pitchFamily="18" charset="0"/>
              </a:rPr>
              <a:t> 示例分例</a:t>
            </a:r>
          </a:p>
        </p:txBody>
      </p: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1233488" y="2598738"/>
            <a:ext cx="4176712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latin typeface="Times New Roman" pitchFamily="18" charset="0"/>
              </a:rPr>
              <a:t> </a:t>
            </a:r>
            <a:r>
              <a:rPr kumimoji="1" lang="en-US" altLang="zh-CN" dirty="0">
                <a:latin typeface="Times New Roman" pitchFamily="18" charset="0"/>
              </a:rPr>
              <a:t>(2)</a:t>
            </a:r>
            <a:r>
              <a:rPr kumimoji="1" lang="zh-CN" altLang="en-US" dirty="0">
                <a:latin typeface="Times New Roman" pitchFamily="18" charset="0"/>
              </a:rPr>
              <a:t>三元组的转置</a:t>
            </a:r>
          </a:p>
        </p:txBody>
      </p:sp>
      <p:sp>
        <p:nvSpPr>
          <p:cNvPr id="32" name="Text Box 16"/>
          <p:cNvSpPr txBox="1">
            <a:spLocks noChangeArrowheads="1"/>
          </p:cNvSpPr>
          <p:nvPr/>
        </p:nvSpPr>
        <p:spPr bwMode="auto">
          <a:xfrm>
            <a:off x="1809750" y="3390900"/>
            <a:ext cx="1098550" cy="5445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1  2  1</a:t>
            </a:r>
          </a:p>
        </p:txBody>
      </p:sp>
      <p:sp>
        <p:nvSpPr>
          <p:cNvPr id="33" name="Text Box 21"/>
          <p:cNvSpPr txBox="1">
            <a:spLocks noChangeArrowheads="1"/>
          </p:cNvSpPr>
          <p:nvPr/>
        </p:nvSpPr>
        <p:spPr bwMode="auto">
          <a:xfrm>
            <a:off x="1809750" y="3927475"/>
            <a:ext cx="1098550" cy="5445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1  5  5</a:t>
            </a:r>
          </a:p>
        </p:txBody>
      </p:sp>
      <p:sp>
        <p:nvSpPr>
          <p:cNvPr id="34" name="Text Box 22"/>
          <p:cNvSpPr txBox="1">
            <a:spLocks noChangeArrowheads="1"/>
          </p:cNvSpPr>
          <p:nvPr/>
        </p:nvSpPr>
        <p:spPr bwMode="auto">
          <a:xfrm>
            <a:off x="1809750" y="4471988"/>
            <a:ext cx="1098550" cy="5445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2  2  7</a:t>
            </a:r>
          </a:p>
        </p:txBody>
      </p:sp>
      <p:sp>
        <p:nvSpPr>
          <p:cNvPr id="35" name="Text Box 23"/>
          <p:cNvSpPr txBox="1">
            <a:spLocks noChangeArrowheads="1"/>
          </p:cNvSpPr>
          <p:nvPr/>
        </p:nvSpPr>
        <p:spPr bwMode="auto">
          <a:xfrm>
            <a:off x="1809750" y="5006975"/>
            <a:ext cx="1098550" cy="5445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3  1  3</a:t>
            </a:r>
          </a:p>
        </p:txBody>
      </p:sp>
      <p:sp>
        <p:nvSpPr>
          <p:cNvPr id="36" name="Text Box 24"/>
          <p:cNvSpPr txBox="1">
            <a:spLocks noChangeArrowheads="1"/>
          </p:cNvSpPr>
          <p:nvPr/>
        </p:nvSpPr>
        <p:spPr bwMode="auto">
          <a:xfrm>
            <a:off x="1809750" y="5551488"/>
            <a:ext cx="1098550" cy="5445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3  4  2</a:t>
            </a:r>
          </a:p>
        </p:txBody>
      </p:sp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4240213" y="3390900"/>
            <a:ext cx="1098550" cy="5445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1  3  3</a:t>
            </a:r>
          </a:p>
        </p:txBody>
      </p: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4240213" y="3927475"/>
            <a:ext cx="1098550" cy="5445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2  1  1</a:t>
            </a:r>
          </a:p>
        </p:txBody>
      </p: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4240213" y="4471988"/>
            <a:ext cx="1098550" cy="5445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2  2  7</a:t>
            </a:r>
          </a:p>
        </p:txBody>
      </p:sp>
      <p:sp>
        <p:nvSpPr>
          <p:cNvPr id="40" name="Text Box 33"/>
          <p:cNvSpPr txBox="1">
            <a:spLocks noChangeArrowheads="1"/>
          </p:cNvSpPr>
          <p:nvPr/>
        </p:nvSpPr>
        <p:spPr bwMode="auto">
          <a:xfrm>
            <a:off x="4240213" y="5006975"/>
            <a:ext cx="1098550" cy="5445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4  3  2</a:t>
            </a:r>
          </a:p>
        </p:txBody>
      </p:sp>
      <p:sp>
        <p:nvSpPr>
          <p:cNvPr id="41" name="Text Box 34"/>
          <p:cNvSpPr txBox="1">
            <a:spLocks noChangeArrowheads="1"/>
          </p:cNvSpPr>
          <p:nvPr/>
        </p:nvSpPr>
        <p:spPr bwMode="auto">
          <a:xfrm>
            <a:off x="4240213" y="5551488"/>
            <a:ext cx="1098550" cy="5445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5  1  5</a:t>
            </a:r>
          </a:p>
        </p:txBody>
      </p:sp>
      <p:sp>
        <p:nvSpPr>
          <p:cNvPr id="42" name="AutoShape 40"/>
          <p:cNvSpPr>
            <a:spLocks noChangeArrowheads="1"/>
          </p:cNvSpPr>
          <p:nvPr/>
        </p:nvSpPr>
        <p:spPr bwMode="auto">
          <a:xfrm>
            <a:off x="3106738" y="4344988"/>
            <a:ext cx="976312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0F6FC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734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4.3.3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矩阵的压缩存储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三元组顺序表快速转置算法：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D2CAC-1420-4D40-AFC3-5ECF424CA60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31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778842" y="1676400"/>
            <a:ext cx="8079648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Status </a:t>
            </a:r>
            <a:r>
              <a:rPr kumimoji="1" lang="en-US" altLang="zh-CN" sz="2000" dirty="0" err="1">
                <a:latin typeface="Times New Roman" pitchFamily="18" charset="0"/>
              </a:rPr>
              <a:t>FastTransposeSMatrix</a:t>
            </a:r>
            <a:r>
              <a:rPr kumimoji="1" lang="en-US" altLang="zh-CN" sz="2000" dirty="0">
                <a:latin typeface="Times New Roman" pitchFamily="18" charset="0"/>
              </a:rPr>
              <a:t>(</a:t>
            </a:r>
            <a:r>
              <a:rPr kumimoji="1" lang="en-US" altLang="zh-CN" sz="2000" dirty="0" err="1">
                <a:latin typeface="Times New Roman" pitchFamily="18" charset="0"/>
              </a:rPr>
              <a:t>TSMatrix</a:t>
            </a:r>
            <a:r>
              <a:rPr kumimoji="1" lang="en-US" altLang="zh-CN" sz="2000" dirty="0">
                <a:latin typeface="Times New Roman" pitchFamily="18" charset="0"/>
              </a:rPr>
              <a:t> M, </a:t>
            </a:r>
            <a:r>
              <a:rPr kumimoji="1" lang="en-US" altLang="zh-CN" sz="2000" dirty="0" err="1">
                <a:latin typeface="Times New Roman" pitchFamily="18" charset="0"/>
              </a:rPr>
              <a:t>TSMatrix</a:t>
            </a:r>
            <a:r>
              <a:rPr kumimoji="1" lang="en-US" altLang="zh-CN" sz="2000" dirty="0">
                <a:latin typeface="Times New Roman" pitchFamily="18" charset="0"/>
              </a:rPr>
              <a:t> &amp;T)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{T.mu=</a:t>
            </a:r>
            <a:r>
              <a:rPr kumimoji="1" lang="en-US" altLang="zh-CN" sz="2000" dirty="0" err="1">
                <a:latin typeface="Times New Roman" pitchFamily="18" charset="0"/>
              </a:rPr>
              <a:t>M.nu;T.nu</a:t>
            </a:r>
            <a:r>
              <a:rPr kumimoji="1" lang="en-US" altLang="zh-CN" sz="2000" dirty="0">
                <a:latin typeface="Times New Roman" pitchFamily="18" charset="0"/>
              </a:rPr>
              <a:t>=</a:t>
            </a:r>
            <a:r>
              <a:rPr kumimoji="1" lang="en-US" altLang="zh-CN" sz="2000" dirty="0" err="1">
                <a:latin typeface="Times New Roman" pitchFamily="18" charset="0"/>
              </a:rPr>
              <a:t>M.mu;T.tu</a:t>
            </a:r>
            <a:r>
              <a:rPr kumimoji="1" lang="en-US" altLang="zh-CN" sz="2000" dirty="0">
                <a:latin typeface="Times New Roman" pitchFamily="18" charset="0"/>
              </a:rPr>
              <a:t>=</a:t>
            </a:r>
            <a:r>
              <a:rPr kumimoji="1" lang="en-US" altLang="zh-CN" sz="2000" dirty="0" err="1">
                <a:latin typeface="Times New Roman" pitchFamily="18" charset="0"/>
              </a:rPr>
              <a:t>M.tu</a:t>
            </a:r>
            <a:r>
              <a:rPr kumimoji="1" lang="en-US" altLang="zh-CN" sz="2000" dirty="0">
                <a:latin typeface="Times New Roman" pitchFamily="18" charset="0"/>
              </a:rPr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if (</a:t>
            </a:r>
            <a:r>
              <a:rPr kumimoji="1" lang="en-US" altLang="zh-CN" sz="2000" dirty="0" err="1">
                <a:latin typeface="Times New Roman" pitchFamily="18" charset="0"/>
              </a:rPr>
              <a:t>T.tu</a:t>
            </a:r>
            <a:r>
              <a:rPr kumimoji="1" lang="en-US" altLang="zh-CN" sz="2000" dirty="0">
                <a:latin typeface="Times New Roman" pitchFamily="18" charset="0"/>
              </a:rPr>
              <a:t>) {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  for (col=1; col&lt;=M.nu; ++col)  </a:t>
            </a:r>
            <a:r>
              <a:rPr kumimoji="1" lang="en-US" altLang="zh-CN" sz="2000" dirty="0" err="1">
                <a:latin typeface="Times New Roman" pitchFamily="18" charset="0"/>
              </a:rPr>
              <a:t>num</a:t>
            </a:r>
            <a:r>
              <a:rPr kumimoji="1" lang="en-US" altLang="zh-CN" sz="2000" dirty="0">
                <a:latin typeface="Times New Roman" pitchFamily="18" charset="0"/>
              </a:rPr>
              <a:t>[col]=0;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  for (t=1; t&lt;=</a:t>
            </a:r>
            <a:r>
              <a:rPr kumimoji="1" lang="en-US" altLang="zh-CN" sz="2000" dirty="0" err="1">
                <a:latin typeface="Times New Roman" pitchFamily="18" charset="0"/>
              </a:rPr>
              <a:t>M.tu</a:t>
            </a:r>
            <a:r>
              <a:rPr kumimoji="1" lang="en-US" altLang="zh-CN" sz="2000" dirty="0">
                <a:latin typeface="Times New Roman" pitchFamily="18" charset="0"/>
              </a:rPr>
              <a:t>; ++t)  ++</a:t>
            </a:r>
            <a:r>
              <a:rPr kumimoji="1" lang="en-US" altLang="zh-CN" sz="2000" dirty="0" err="1">
                <a:latin typeface="Times New Roman" pitchFamily="18" charset="0"/>
              </a:rPr>
              <a:t>num</a:t>
            </a:r>
            <a:r>
              <a:rPr kumimoji="1" lang="en-US" altLang="zh-CN" sz="2000" dirty="0">
                <a:latin typeface="Times New Roman" pitchFamily="18" charset="0"/>
              </a:rPr>
              <a:t>[</a:t>
            </a:r>
            <a:r>
              <a:rPr kumimoji="1" lang="en-US" altLang="zh-CN" sz="2000" dirty="0" err="1">
                <a:latin typeface="Times New Roman" pitchFamily="18" charset="0"/>
              </a:rPr>
              <a:t>M.data</a:t>
            </a:r>
            <a:r>
              <a:rPr kumimoji="1" lang="en-US" altLang="zh-CN" sz="2000" dirty="0">
                <a:latin typeface="Times New Roman" pitchFamily="18" charset="0"/>
              </a:rPr>
              <a:t>[t].j]; //</a:t>
            </a:r>
            <a:r>
              <a:rPr kumimoji="1" lang="zh-CN" altLang="en-US" sz="2000" dirty="0">
                <a:latin typeface="Times New Roman" pitchFamily="18" charset="0"/>
              </a:rPr>
              <a:t>求</a:t>
            </a:r>
            <a:r>
              <a:rPr kumimoji="1" lang="en-US" altLang="zh-CN" sz="2000" dirty="0">
                <a:latin typeface="Times New Roman" pitchFamily="18" charset="0"/>
              </a:rPr>
              <a:t>M</a:t>
            </a:r>
            <a:r>
              <a:rPr kumimoji="1" lang="zh-CN" altLang="en-US" sz="2000" dirty="0">
                <a:latin typeface="Times New Roman" pitchFamily="18" charset="0"/>
              </a:rPr>
              <a:t>中每列非零元个数</a:t>
            </a:r>
            <a:endParaRPr kumimoji="1" lang="en-US" altLang="zh-CN" sz="2000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  </a:t>
            </a:r>
            <a:r>
              <a:rPr kumimoji="1" lang="en-US" altLang="zh-CN" sz="2000" dirty="0" err="1">
                <a:latin typeface="Times New Roman" pitchFamily="18" charset="0"/>
              </a:rPr>
              <a:t>cpot</a:t>
            </a:r>
            <a:r>
              <a:rPr kumimoji="1" lang="en-US" altLang="zh-CN" sz="2000" dirty="0">
                <a:latin typeface="Times New Roman" pitchFamily="18" charset="0"/>
              </a:rPr>
              <a:t>[1] =1;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  //</a:t>
            </a:r>
            <a:r>
              <a:rPr kumimoji="1" lang="zh-CN" altLang="en-US" sz="2000" dirty="0">
                <a:latin typeface="Times New Roman" pitchFamily="18" charset="0"/>
              </a:rPr>
              <a:t>求第</a:t>
            </a:r>
            <a:r>
              <a:rPr kumimoji="1" lang="en-US" altLang="zh-CN" sz="2000" dirty="0">
                <a:latin typeface="Times New Roman" pitchFamily="18" charset="0"/>
              </a:rPr>
              <a:t>col</a:t>
            </a:r>
            <a:r>
              <a:rPr kumimoji="1" lang="zh-CN" altLang="en-US" sz="2000" dirty="0">
                <a:latin typeface="Times New Roman" pitchFamily="18" charset="0"/>
              </a:rPr>
              <a:t>列中第一个非零元在</a:t>
            </a:r>
            <a:r>
              <a:rPr kumimoji="1" lang="en-US" altLang="zh-CN" sz="2000" dirty="0" err="1">
                <a:latin typeface="Times New Roman" pitchFamily="18" charset="0"/>
              </a:rPr>
              <a:t>b.data</a:t>
            </a:r>
            <a:r>
              <a:rPr kumimoji="1" lang="zh-CN" altLang="en-US" sz="2000" dirty="0">
                <a:latin typeface="Times New Roman" pitchFamily="18" charset="0"/>
              </a:rPr>
              <a:t>中的序号</a:t>
            </a:r>
            <a:endParaRPr kumimoji="1" lang="en-US" altLang="zh-CN" sz="2000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  for (col=2; col&lt;=M.nu; ++col)  </a:t>
            </a:r>
            <a:r>
              <a:rPr kumimoji="1" lang="en-US" altLang="zh-CN" sz="2000" dirty="0" err="1">
                <a:latin typeface="Times New Roman" pitchFamily="18" charset="0"/>
              </a:rPr>
              <a:t>cpot</a:t>
            </a:r>
            <a:r>
              <a:rPr kumimoji="1" lang="en-US" altLang="zh-CN" sz="2000" dirty="0">
                <a:latin typeface="Times New Roman" pitchFamily="18" charset="0"/>
              </a:rPr>
              <a:t>[col]=</a:t>
            </a:r>
            <a:r>
              <a:rPr kumimoji="1" lang="en-US" altLang="zh-CN" sz="2000" dirty="0" err="1">
                <a:latin typeface="Times New Roman" pitchFamily="18" charset="0"/>
              </a:rPr>
              <a:t>cpot</a:t>
            </a:r>
            <a:r>
              <a:rPr kumimoji="1" lang="en-US" altLang="zh-CN" sz="2000" dirty="0">
                <a:latin typeface="Times New Roman" pitchFamily="18" charset="0"/>
              </a:rPr>
              <a:t>[col-1]+</a:t>
            </a:r>
            <a:r>
              <a:rPr kumimoji="1" lang="en-US" altLang="zh-CN" sz="2000" dirty="0" err="1">
                <a:latin typeface="Times New Roman" pitchFamily="18" charset="0"/>
              </a:rPr>
              <a:t>num</a:t>
            </a:r>
            <a:r>
              <a:rPr kumimoji="1" lang="en-US" altLang="zh-CN" sz="2000" dirty="0">
                <a:latin typeface="Times New Roman" pitchFamily="18" charset="0"/>
              </a:rPr>
              <a:t>[col-1];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    for (p=1; p&lt;=</a:t>
            </a:r>
            <a:r>
              <a:rPr kumimoji="1" lang="en-US" altLang="zh-CN" sz="2000" dirty="0" err="1">
                <a:latin typeface="Times New Roman" pitchFamily="18" charset="0"/>
              </a:rPr>
              <a:t>M.tu</a:t>
            </a:r>
            <a:r>
              <a:rPr kumimoji="1" lang="en-US" altLang="zh-CN" sz="2000" dirty="0">
                <a:latin typeface="Times New Roman" pitchFamily="18" charset="0"/>
              </a:rPr>
              <a:t>; ++p) 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      col=</a:t>
            </a:r>
            <a:r>
              <a:rPr kumimoji="1" lang="en-US" altLang="zh-CN" sz="2000" dirty="0" err="1">
                <a:latin typeface="Times New Roman" pitchFamily="18" charset="0"/>
              </a:rPr>
              <a:t>M.data</a:t>
            </a:r>
            <a:r>
              <a:rPr kumimoji="1" lang="en-US" altLang="zh-CN" sz="2000" dirty="0">
                <a:latin typeface="Times New Roman" pitchFamily="18" charset="0"/>
              </a:rPr>
              <a:t>[p].j;   q=</a:t>
            </a:r>
            <a:r>
              <a:rPr kumimoji="1" lang="en-US" altLang="zh-CN" sz="2000" dirty="0" err="1">
                <a:latin typeface="Times New Roman" pitchFamily="18" charset="0"/>
              </a:rPr>
              <a:t>cpot</a:t>
            </a:r>
            <a:r>
              <a:rPr kumimoji="1" lang="en-US" altLang="zh-CN" sz="2000" dirty="0">
                <a:latin typeface="Times New Roman" pitchFamily="18" charset="0"/>
              </a:rPr>
              <a:t>[col];</a:t>
            </a:r>
            <a:endParaRPr kumimoji="1" lang="en-US" altLang="zh-CN" sz="2000" dirty="0">
              <a:solidFill>
                <a:srgbClr val="FF3300"/>
              </a:solidFill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        </a:t>
            </a:r>
            <a:r>
              <a:rPr kumimoji="1" lang="en-US" altLang="zh-CN" sz="2000" dirty="0" err="1">
                <a:latin typeface="Times New Roman" pitchFamily="18" charset="0"/>
              </a:rPr>
              <a:t>T.data</a:t>
            </a:r>
            <a:r>
              <a:rPr kumimoji="1" lang="en-US" altLang="zh-CN" sz="2000" dirty="0">
                <a:latin typeface="Times New Roman" pitchFamily="18" charset="0"/>
              </a:rPr>
              <a:t>[q].</a:t>
            </a:r>
            <a:r>
              <a:rPr kumimoji="1" lang="en-US" altLang="zh-CN" sz="2000" dirty="0" err="1">
                <a:latin typeface="Times New Roman" pitchFamily="18" charset="0"/>
              </a:rPr>
              <a:t>i</a:t>
            </a:r>
            <a:r>
              <a:rPr kumimoji="1" lang="en-US" altLang="zh-CN" sz="2000" dirty="0">
                <a:latin typeface="Times New Roman" pitchFamily="18" charset="0"/>
              </a:rPr>
              <a:t>=</a:t>
            </a:r>
            <a:r>
              <a:rPr kumimoji="1" lang="en-US" altLang="zh-CN" sz="2000" dirty="0" err="1">
                <a:latin typeface="Times New Roman" pitchFamily="18" charset="0"/>
              </a:rPr>
              <a:t>M.data</a:t>
            </a:r>
            <a:r>
              <a:rPr kumimoji="1" lang="en-US" altLang="zh-CN" sz="2000" dirty="0">
                <a:latin typeface="Times New Roman" pitchFamily="18" charset="0"/>
              </a:rPr>
              <a:t>[p].</a:t>
            </a:r>
            <a:r>
              <a:rPr kumimoji="1" lang="en-US" altLang="zh-CN" sz="2000" dirty="0" err="1">
                <a:latin typeface="Times New Roman" pitchFamily="18" charset="0"/>
              </a:rPr>
              <a:t>j;T.data</a:t>
            </a:r>
            <a:r>
              <a:rPr kumimoji="1" lang="en-US" altLang="zh-CN" sz="2000" dirty="0">
                <a:latin typeface="Times New Roman" pitchFamily="18" charset="0"/>
              </a:rPr>
              <a:t>[q].j =</a:t>
            </a:r>
            <a:r>
              <a:rPr kumimoji="1" lang="en-US" altLang="zh-CN" sz="2000" dirty="0" err="1">
                <a:latin typeface="Times New Roman" pitchFamily="18" charset="0"/>
              </a:rPr>
              <a:t>M.data</a:t>
            </a:r>
            <a:r>
              <a:rPr kumimoji="1" lang="en-US" altLang="zh-CN" sz="2000" dirty="0">
                <a:latin typeface="Times New Roman" pitchFamily="18" charset="0"/>
              </a:rPr>
              <a:t>[p].</a:t>
            </a:r>
            <a:r>
              <a:rPr kumimoji="1" lang="en-US" altLang="zh-CN" sz="2000" dirty="0" err="1">
                <a:latin typeface="Times New Roman" pitchFamily="18" charset="0"/>
              </a:rPr>
              <a:t>i</a:t>
            </a:r>
            <a:r>
              <a:rPr kumimoji="1" lang="en-US" altLang="zh-CN" sz="2000" dirty="0">
                <a:latin typeface="Times New Roman" pitchFamily="18" charset="0"/>
              </a:rPr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        </a:t>
            </a:r>
            <a:r>
              <a:rPr kumimoji="1" lang="en-US" altLang="zh-CN" sz="2000" dirty="0" err="1">
                <a:latin typeface="Times New Roman" pitchFamily="18" charset="0"/>
              </a:rPr>
              <a:t>T.data</a:t>
            </a:r>
            <a:r>
              <a:rPr kumimoji="1" lang="en-US" altLang="zh-CN" sz="2000" dirty="0">
                <a:latin typeface="Times New Roman" pitchFamily="18" charset="0"/>
              </a:rPr>
              <a:t>[q].e =</a:t>
            </a:r>
            <a:r>
              <a:rPr kumimoji="1" lang="en-US" altLang="zh-CN" sz="2000" dirty="0" err="1">
                <a:latin typeface="Times New Roman" pitchFamily="18" charset="0"/>
              </a:rPr>
              <a:t>M.data</a:t>
            </a:r>
            <a:r>
              <a:rPr kumimoji="1" lang="en-US" altLang="zh-CN" sz="2000" dirty="0">
                <a:latin typeface="Times New Roman" pitchFamily="18" charset="0"/>
              </a:rPr>
              <a:t>[p].e;  ++</a:t>
            </a:r>
            <a:r>
              <a:rPr kumimoji="1" lang="en-US" altLang="zh-CN" sz="2000" dirty="0" err="1">
                <a:latin typeface="Times New Roman" pitchFamily="18" charset="0"/>
              </a:rPr>
              <a:t>cpot</a:t>
            </a:r>
            <a:r>
              <a:rPr kumimoji="1" lang="en-US" altLang="zh-CN" sz="2000" dirty="0">
                <a:latin typeface="Times New Roman" pitchFamily="18" charset="0"/>
              </a:rPr>
              <a:t>[col];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      }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}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  return OK;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Times New Roman" pitchFamily="18" charset="0"/>
              </a:rPr>
              <a:t>} // </a:t>
            </a:r>
            <a:r>
              <a:rPr kumimoji="1" lang="zh-CN" altLang="en-US" sz="2000" dirty="0">
                <a:latin typeface="Times New Roman" pitchFamily="18" charset="0"/>
              </a:rPr>
              <a:t>时间复杂度为</a:t>
            </a:r>
            <a:r>
              <a:rPr kumimoji="1" lang="en-US" altLang="zh-CN" sz="2000" dirty="0">
                <a:latin typeface="Times New Roman" pitchFamily="18" charset="0"/>
              </a:rPr>
              <a:t>O(nu + </a:t>
            </a:r>
            <a:r>
              <a:rPr kumimoji="1" lang="en-US" altLang="zh-CN" sz="2000" dirty="0" err="1">
                <a:latin typeface="Times New Roman" pitchFamily="18" charset="0"/>
              </a:rPr>
              <a:t>tu</a:t>
            </a:r>
            <a:r>
              <a:rPr kumimoji="1" lang="en-US" altLang="zh-CN" sz="2000" dirty="0"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610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第四章 数组和广义表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数组的类型定义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数组的顺序表示和实现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矩阵的压缩存储 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charset="0"/>
                <a:ea typeface="宋体" charset="-122"/>
              </a:rPr>
              <a:t>4.4  </a:t>
            </a: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广义表的类型定义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广义表的存储结构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CB2DE-AF84-48C6-92A1-2D32991D80E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32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98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4.4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广义表的引入：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41FFA-E013-457E-B457-0FF51249E41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33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338137" y="1804988"/>
            <a:ext cx="8424863" cy="368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latin typeface="Times New Roman" pitchFamily="18" charset="0"/>
              </a:rPr>
              <a:t>         线性表要求数据元素的类型相同，在实际应用中线性表的数据类型往往不同。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latin typeface="Times New Roman" pitchFamily="18" charset="0"/>
              </a:rPr>
              <a:t>        例如：一个公司有董事长，总经理，秘书，人事部，分公司等等，董事长、总经理、秘书都是单个的人，而人事部、分公司又是一个组织。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latin typeface="Times New Roman" pitchFamily="18" charset="0"/>
              </a:rPr>
              <a:t>        如何在这种情况下应用线性表，就是广义表的范畴。</a:t>
            </a:r>
            <a:endParaRPr kumimoji="1" lang="en-US" altLang="zh-CN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09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4.4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广义表的定义：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D9CA3-B6DB-468B-B0C2-B3B342377A6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34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90512" y="1966912"/>
            <a:ext cx="8318500" cy="1858963"/>
          </a:xfrm>
          <a:prstGeom prst="rect">
            <a:avLst/>
          </a:prstGeom>
          <a:noFill/>
          <a:ln w="38100" cmpd="dbl">
            <a:solidFill>
              <a:srgbClr val="0F6FC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       广义表是线性表的推广，也称列表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(Lists)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。它是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n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个元素的有限序列，记作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A=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（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,a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,……a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n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    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其中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A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是表名，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n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是广义表的长度，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i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是广义表的元素，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i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既可以是单个元素，也可以是广义表。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76200" y="4110037"/>
            <a:ext cx="8929687" cy="996950"/>
          </a:xfrm>
          <a:prstGeom prst="rect">
            <a:avLst/>
          </a:prstGeom>
          <a:noFill/>
          <a:ln w="38100" cmpd="dbl" algn="ctr">
            <a:solidFill>
              <a:srgbClr val="0F6FC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子表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： 如果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i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是广义表，称为子表，用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大写字母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表示；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宋体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原子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：如果</a:t>
            </a:r>
            <a:r>
              <a:rPr kumimoji="1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i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是单个元素，称为原子，用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小写字母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表示。</a:t>
            </a: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1201737" y="5467350"/>
            <a:ext cx="666115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3200">
                <a:solidFill>
                  <a:srgbClr val="003300"/>
                </a:solidFill>
                <a:ea typeface="楷体_GB2312" pitchFamily="49" charset="-122"/>
              </a:rPr>
              <a:t>例如</a:t>
            </a:r>
            <a:r>
              <a:rPr lang="en-US" altLang="zh-CN" sz="3200">
                <a:solidFill>
                  <a:srgbClr val="003300"/>
                </a:solidFill>
                <a:ea typeface="楷体_GB2312" pitchFamily="49" charset="-122"/>
              </a:rPr>
              <a:t>:   </a:t>
            </a:r>
            <a:r>
              <a:rPr lang="en-US" altLang="zh-CN" sz="3200">
                <a:ea typeface="楷体_GB2312" pitchFamily="49" charset="-122"/>
              </a:rPr>
              <a:t>D = ( E, F ) =  ((a, (b, c))</a:t>
            </a:r>
            <a:r>
              <a:rPr lang="zh-CN" altLang="en-US" sz="3200">
                <a:ea typeface="楷体_GB2312" pitchFamily="49" charset="-122"/>
              </a:rPr>
              <a:t>，</a:t>
            </a:r>
            <a:r>
              <a:rPr lang="en-US" altLang="zh-CN" sz="3200">
                <a:ea typeface="楷体_GB2312" pitchFamily="49" charset="-122"/>
              </a:rPr>
              <a:t>F )</a:t>
            </a:r>
            <a:endParaRPr lang="en-US" altLang="zh-CN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46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7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4.4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广义表的</a:t>
            </a:r>
            <a:r>
              <a:rPr lang="en-US" altLang="zh-CN" sz="2800" b="1" dirty="0"/>
              <a:t>ADT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EC8EA-8522-4D34-A8CE-7619A90D359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35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812800" y="1717675"/>
            <a:ext cx="6065838" cy="483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ADT Glist {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3300"/>
                </a:solidFill>
                <a:latin typeface="Times New Roman" pitchFamily="18" charset="0"/>
              </a:rPr>
              <a:t>  </a:t>
            </a: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数据对象：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FF3300"/>
                </a:solidFill>
                <a:latin typeface="Times New Roman" pitchFamily="18" charset="0"/>
              </a:rPr>
              <a:t>  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  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  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  数据关系：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  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</a:rPr>
              <a:t>  基本操作：</a:t>
            </a:r>
          </a:p>
          <a:p>
            <a:pPr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} ADT Glist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2922588" y="4281487"/>
            <a:ext cx="561181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LR</a:t>
            </a:r>
            <a:r>
              <a:rPr kumimoji="1" lang="zh-CN" altLang="en-US">
                <a:latin typeface="Times New Roman" pitchFamily="18" charset="0"/>
              </a:rPr>
              <a:t>＝</a:t>
            </a:r>
            <a:r>
              <a:rPr kumimoji="1" lang="en-US" altLang="zh-CN">
                <a:latin typeface="Times New Roman" pitchFamily="18" charset="0"/>
              </a:rPr>
              <a:t>{&lt;e</a:t>
            </a:r>
            <a:r>
              <a:rPr kumimoji="1" lang="en-US" altLang="zh-CN" baseline="-25000">
                <a:latin typeface="Times New Roman" pitchFamily="18" charset="0"/>
              </a:rPr>
              <a:t>i-1</a:t>
            </a:r>
            <a:r>
              <a:rPr kumimoji="1" lang="en-US" altLang="zh-CN">
                <a:latin typeface="Times New Roman" pitchFamily="18" charset="0"/>
              </a:rPr>
              <a:t>, e</a:t>
            </a:r>
            <a:r>
              <a:rPr kumimoji="1" lang="en-US" altLang="zh-CN" baseline="-25000">
                <a:latin typeface="Times New Roman" pitchFamily="18" charset="0"/>
              </a:rPr>
              <a:t>i</a:t>
            </a:r>
            <a:r>
              <a:rPr kumimoji="1" lang="en-US" altLang="zh-CN">
                <a:latin typeface="Times New Roman" pitchFamily="18" charset="0"/>
              </a:rPr>
              <a:t> &gt;| e</a:t>
            </a:r>
            <a:r>
              <a:rPr kumimoji="1" lang="en-US" altLang="zh-CN" baseline="-25000">
                <a:latin typeface="Times New Roman" pitchFamily="18" charset="0"/>
              </a:rPr>
              <a:t>i-1</a:t>
            </a:r>
            <a:r>
              <a:rPr kumimoji="1" lang="en-US" altLang="zh-CN">
                <a:latin typeface="Times New Roman" pitchFamily="18" charset="0"/>
              </a:rPr>
              <a:t> ,e</a:t>
            </a:r>
            <a:r>
              <a:rPr kumimoji="1" lang="en-US" altLang="zh-CN" baseline="-25000">
                <a:latin typeface="Times New Roman" pitchFamily="18" charset="0"/>
              </a:rPr>
              <a:t>i</a:t>
            </a:r>
            <a:r>
              <a:rPr kumimoji="1" lang="en-US" altLang="zh-CN">
                <a:latin typeface="Times New Roman" pitchFamily="18" charset="0"/>
              </a:rPr>
              <a:t>∈D, 2≤i≤n}</a:t>
            </a: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917825" y="2263775"/>
            <a:ext cx="4327525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D</a:t>
            </a:r>
            <a:r>
              <a:rPr kumimoji="1" lang="zh-CN" altLang="en-US" dirty="0">
                <a:latin typeface="Times New Roman" pitchFamily="18" charset="0"/>
              </a:rPr>
              <a:t>＝</a:t>
            </a:r>
            <a:r>
              <a:rPr kumimoji="1" lang="en-US" altLang="zh-CN" dirty="0">
                <a:latin typeface="Times New Roman" pitchFamily="18" charset="0"/>
              </a:rPr>
              <a:t>{</a:t>
            </a:r>
            <a:r>
              <a:rPr kumimoji="1" lang="en-US" altLang="zh-CN" dirty="0" err="1">
                <a:latin typeface="Times New Roman" pitchFamily="18" charset="0"/>
              </a:rPr>
              <a:t>e</a:t>
            </a:r>
            <a:r>
              <a:rPr kumimoji="1" lang="en-US" altLang="zh-CN" baseline="-25000" dirty="0" err="1">
                <a:latin typeface="Times New Roman" pitchFamily="18" charset="0"/>
              </a:rPr>
              <a:t>i</a:t>
            </a:r>
            <a:r>
              <a:rPr kumimoji="1" lang="en-US" altLang="zh-CN" dirty="0">
                <a:latin typeface="Times New Roman" pitchFamily="18" charset="0"/>
              </a:rPr>
              <a:t> | </a:t>
            </a:r>
            <a:r>
              <a:rPr kumimoji="1" lang="en-US" altLang="zh-CN" dirty="0" err="1">
                <a:latin typeface="Times New Roman" pitchFamily="18" charset="0"/>
              </a:rPr>
              <a:t>i</a:t>
            </a:r>
            <a:r>
              <a:rPr kumimoji="1" lang="en-US" altLang="zh-CN" dirty="0">
                <a:latin typeface="Times New Roman" pitchFamily="18" charset="0"/>
              </a:rPr>
              <a:t>=1,2,..,n;  n≥0; 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 err="1">
                <a:latin typeface="Times New Roman" pitchFamily="18" charset="0"/>
              </a:rPr>
              <a:t>e</a:t>
            </a:r>
            <a:r>
              <a:rPr kumimoji="1" lang="en-US" altLang="zh-CN" baseline="-25000" dirty="0" err="1">
                <a:latin typeface="Times New Roman" pitchFamily="18" charset="0"/>
              </a:rPr>
              <a:t>i</a:t>
            </a:r>
            <a:r>
              <a:rPr kumimoji="1" lang="en-US" altLang="zh-CN" dirty="0" err="1">
                <a:latin typeface="Times New Roman" pitchFamily="18" charset="0"/>
              </a:rPr>
              <a:t>∈AtomSet</a:t>
            </a:r>
            <a:r>
              <a:rPr kumimoji="1" lang="en-US" altLang="zh-CN" dirty="0">
                <a:latin typeface="Times New Roman" pitchFamily="18" charset="0"/>
              </a:rPr>
              <a:t> </a:t>
            </a:r>
            <a:r>
              <a:rPr kumimoji="1" lang="zh-CN" altLang="en-US" dirty="0">
                <a:latin typeface="Times New Roman" pitchFamily="18" charset="0"/>
              </a:rPr>
              <a:t>或 </a:t>
            </a:r>
            <a:r>
              <a:rPr kumimoji="1" lang="en-US" altLang="zh-CN" dirty="0" err="1">
                <a:latin typeface="Times New Roman" pitchFamily="18" charset="0"/>
              </a:rPr>
              <a:t>e</a:t>
            </a:r>
            <a:r>
              <a:rPr kumimoji="1" lang="en-US" altLang="zh-CN" baseline="-25000" dirty="0" err="1">
                <a:latin typeface="Times New Roman" pitchFamily="18" charset="0"/>
              </a:rPr>
              <a:t>i</a:t>
            </a:r>
            <a:r>
              <a:rPr kumimoji="1" lang="en-US" altLang="zh-CN" dirty="0" err="1">
                <a:latin typeface="Times New Roman" pitchFamily="18" charset="0"/>
              </a:rPr>
              <a:t>∈GList</a:t>
            </a:r>
            <a:r>
              <a:rPr kumimoji="1" lang="en-US" altLang="zh-CN" dirty="0">
                <a:latin typeface="Times New Roman" pitchFamily="18" charset="0"/>
              </a:rPr>
              <a:t>,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 err="1">
                <a:latin typeface="Times New Roman" pitchFamily="18" charset="0"/>
              </a:rPr>
              <a:t>AtomSet</a:t>
            </a:r>
            <a:r>
              <a:rPr kumimoji="1" lang="zh-CN" altLang="en-US" dirty="0">
                <a:latin typeface="Times New Roman" pitchFamily="18" charset="0"/>
              </a:rPr>
              <a:t>为某个数据对象  </a:t>
            </a:r>
            <a:r>
              <a:rPr kumimoji="1" lang="en-US" altLang="zh-CN" dirty="0">
                <a:latin typeface="Times New Roman" pitchFamily="18" charset="0"/>
              </a:rPr>
              <a:t>}</a:t>
            </a:r>
          </a:p>
        </p:txBody>
      </p:sp>
      <p:sp>
        <p:nvSpPr>
          <p:cNvPr id="18" name="Rectangle 8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917825" y="5432425"/>
            <a:ext cx="1800225" cy="519112"/>
          </a:xfrm>
          <a:prstGeom prst="rect">
            <a:avLst/>
          </a:prstGeom>
          <a:solidFill>
            <a:srgbClr val="DBF5F9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</a:rPr>
              <a:t>见下页</a:t>
            </a:r>
          </a:p>
        </p:txBody>
      </p:sp>
    </p:spTree>
    <p:extLst>
      <p:ext uri="{BB962C8B-B14F-4D97-AF65-F5344CB8AC3E}">
        <p14:creationId xmlns:p14="http://schemas.microsoft.com/office/powerpoint/2010/main" val="157729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4.4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基本操作：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B0F77-3CC6-4261-8EEC-2F162074463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36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219200" y="2468563"/>
            <a:ext cx="676910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InitGlist(&amp;L)            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初始化</a:t>
            </a:r>
            <a:r>
              <a:rPr kumimoji="1" lang="zh-CN" altLang="en-US">
                <a:latin typeface="Times New Roman" pitchFamily="18" charset="0"/>
              </a:rPr>
              <a:t>   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CreateGlist(&amp;L,S)   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销毁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GListLength(L)      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求表长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GListDepth(L)        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求表的深度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GetHead(L)            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取表头</a:t>
            </a:r>
          </a:p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latin typeface="Times New Roman" pitchFamily="18" charset="0"/>
              </a:rPr>
              <a:t>GetTail(L)               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//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取表尾</a:t>
            </a:r>
          </a:p>
        </p:txBody>
      </p:sp>
    </p:spTree>
    <p:extLst>
      <p:ext uri="{BB962C8B-B14F-4D97-AF65-F5344CB8AC3E}">
        <p14:creationId xmlns:p14="http://schemas.microsoft.com/office/powerpoint/2010/main" val="185399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4.4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78D2E-7917-4584-8608-36AEBCC6B7F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37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485775" y="1206500"/>
            <a:ext cx="523398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楷体_GB2312" pitchFamily="49" charset="-122"/>
              </a:rPr>
              <a:t>广义表是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itchFamily="18" charset="0"/>
                <a:ea typeface="楷体_GB2312" pitchFamily="49" charset="-122"/>
              </a:rPr>
              <a:t>递归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楷体_GB2312" pitchFamily="49" charset="-122"/>
              </a:rPr>
              <a:t>定义的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tantia" pitchFamily="18" charset="0"/>
                <a:ea typeface="楷体_GB2312" pitchFamily="49" charset="-122"/>
              </a:rPr>
              <a:t>线性结构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楷体_GB2312" pitchFamily="49" charset="-122"/>
              </a:rPr>
              <a:t>，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419225" y="2006600"/>
            <a:ext cx="5078413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>
                <a:ea typeface="楷体_GB2312" pitchFamily="49" charset="-122"/>
              </a:rPr>
              <a:t>       LS = ( </a:t>
            </a:r>
            <a:r>
              <a:rPr lang="en-US" altLang="zh-CN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baseline="-25000">
                <a:ea typeface="楷体_GB2312" pitchFamily="49" charset="-122"/>
              </a:rPr>
              <a:t>1</a:t>
            </a:r>
            <a:r>
              <a:rPr lang="en-US" altLang="zh-CN">
                <a:ea typeface="楷体_GB2312" pitchFamily="49" charset="-122"/>
              </a:rPr>
              <a:t>, </a:t>
            </a:r>
            <a:r>
              <a:rPr lang="en-US" altLang="zh-CN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baseline="-25000">
                <a:ea typeface="楷体_GB2312" pitchFamily="49" charset="-122"/>
              </a:rPr>
              <a:t>2</a:t>
            </a:r>
            <a:r>
              <a:rPr lang="en-US" altLang="zh-CN">
                <a:ea typeface="楷体_GB2312" pitchFamily="49" charset="-122"/>
              </a:rPr>
              <a:t>, </a:t>
            </a:r>
            <a:r>
              <a:rPr lang="en-US" altLang="zh-CN">
                <a:ea typeface="楷体_GB2312" pitchFamily="49" charset="-122"/>
                <a:sym typeface="Symbol" pitchFamily="18" charset="2"/>
              </a:rPr>
              <a:t></a:t>
            </a:r>
            <a:r>
              <a:rPr lang="en-US" altLang="zh-CN">
                <a:ea typeface="楷体_GB2312" pitchFamily="49" charset="-122"/>
              </a:rPr>
              <a:t>, </a:t>
            </a:r>
            <a:r>
              <a:rPr lang="en-US" altLang="zh-CN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baseline="-25000">
                <a:ea typeface="楷体_GB2312" pitchFamily="49" charset="-122"/>
              </a:rPr>
              <a:t>n</a:t>
            </a:r>
            <a:r>
              <a:rPr lang="en-US" altLang="zh-CN">
                <a:ea typeface="楷体_GB2312" pitchFamily="49" charset="-122"/>
              </a:rPr>
              <a:t> )</a:t>
            </a:r>
          </a:p>
          <a:p>
            <a:pPr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>
                <a:ea typeface="楷体_GB2312" pitchFamily="49" charset="-122"/>
              </a:rPr>
              <a:t>其中：</a:t>
            </a:r>
            <a:r>
              <a:rPr lang="zh-CN" altLang="en-US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baseline="-25000">
                <a:ea typeface="楷体_GB2312" pitchFamily="49" charset="-122"/>
              </a:rPr>
              <a:t>i</a:t>
            </a:r>
            <a:r>
              <a:rPr lang="en-US" altLang="zh-CN">
                <a:ea typeface="楷体_GB2312" pitchFamily="49" charset="-122"/>
              </a:rPr>
              <a:t>  </a:t>
            </a:r>
            <a:r>
              <a:rPr lang="zh-CN" altLang="en-US">
                <a:ea typeface="楷体_GB2312" pitchFamily="49" charset="-122"/>
              </a:rPr>
              <a:t>或为原子 或为广义表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650875" y="3292475"/>
            <a:ext cx="5961063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dirty="0">
                <a:solidFill>
                  <a:srgbClr val="003300"/>
                </a:solidFill>
                <a:ea typeface="楷体_GB2312" pitchFamily="49" charset="-122"/>
              </a:rPr>
              <a:t>例如</a:t>
            </a:r>
            <a:r>
              <a:rPr lang="en-US" altLang="zh-CN" dirty="0">
                <a:solidFill>
                  <a:srgbClr val="003300"/>
                </a:solidFill>
                <a:ea typeface="楷体_GB2312" pitchFamily="49" charset="-122"/>
              </a:rPr>
              <a:t>:   </a:t>
            </a:r>
            <a:r>
              <a:rPr lang="en-US" altLang="zh-CN" dirty="0">
                <a:ea typeface="楷体_GB2312" pitchFamily="49" charset="-122"/>
              </a:rPr>
              <a:t>A = (  )</a:t>
            </a:r>
          </a:p>
          <a:p>
            <a:pPr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dirty="0">
                <a:ea typeface="楷体_GB2312" pitchFamily="49" charset="-122"/>
              </a:rPr>
              <a:t>             F = (d, (e))</a:t>
            </a:r>
          </a:p>
          <a:p>
            <a:pPr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dirty="0">
                <a:ea typeface="楷体_GB2312" pitchFamily="49" charset="-122"/>
              </a:rPr>
              <a:t>             D = ((a,(</a:t>
            </a:r>
            <a:r>
              <a:rPr lang="en-US" altLang="zh-CN" dirty="0" err="1">
                <a:ea typeface="楷体_GB2312" pitchFamily="49" charset="-122"/>
              </a:rPr>
              <a:t>b,c</a:t>
            </a:r>
            <a:r>
              <a:rPr lang="en-US" altLang="zh-CN" dirty="0">
                <a:ea typeface="楷体_GB2312" pitchFamily="49" charset="-122"/>
              </a:rPr>
              <a:t>)), F)</a:t>
            </a:r>
          </a:p>
          <a:p>
            <a:pPr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dirty="0">
                <a:ea typeface="楷体_GB2312" pitchFamily="49" charset="-122"/>
              </a:rPr>
              <a:t>             C = (A, D, F)</a:t>
            </a:r>
          </a:p>
          <a:p>
            <a:pPr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dirty="0">
                <a:ea typeface="楷体_GB2312" pitchFamily="49" charset="-122"/>
              </a:rPr>
              <a:t>             B = (a, B) = (a, (a, (a, </a:t>
            </a:r>
            <a:r>
              <a:rPr lang="en-US" altLang="zh-CN" dirty="0">
                <a:ea typeface="楷体_GB2312" pitchFamily="49" charset="-122"/>
                <a:sym typeface="Symbol" pitchFamily="18" charset="2"/>
              </a:rPr>
              <a:t></a:t>
            </a:r>
            <a:r>
              <a:rPr lang="en-US" altLang="zh-CN" dirty="0">
                <a:ea typeface="楷体_GB2312" pitchFamily="49" charset="-122"/>
              </a:rPr>
              <a:t> ,  ) ) )</a:t>
            </a:r>
          </a:p>
        </p:txBody>
      </p:sp>
    </p:spTree>
    <p:extLst>
      <p:ext uri="{BB962C8B-B14F-4D97-AF65-F5344CB8AC3E}">
        <p14:creationId xmlns:p14="http://schemas.microsoft.com/office/powerpoint/2010/main" val="316515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  <p:bldP spid="1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4.4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D620-F789-4C84-84A3-2616FA36C49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577850" y="1362075"/>
            <a:ext cx="5233988" cy="695325"/>
          </a:xfrm>
          <a:prstGeom prst="rect">
            <a:avLst/>
          </a:prstGeom>
          <a:noFill/>
          <a:ln w="9525">
            <a:solidFill>
              <a:srgbClr val="0707F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>
                <a:ea typeface="楷体_GB2312" pitchFamily="49" charset="-122"/>
              </a:rPr>
              <a:t>广义表是一个</a:t>
            </a:r>
            <a:r>
              <a:rPr lang="zh-CN" altLang="en-US">
                <a:solidFill>
                  <a:srgbClr val="FF0000"/>
                </a:solidFill>
                <a:ea typeface="楷体_GB2312" pitchFamily="49" charset="-122"/>
              </a:rPr>
              <a:t>多层次</a:t>
            </a:r>
            <a:r>
              <a:rPr lang="zh-CN" altLang="en-US">
                <a:ea typeface="楷体_GB2312" pitchFamily="49" charset="-122"/>
              </a:rPr>
              <a:t>的</a:t>
            </a:r>
            <a:r>
              <a:rPr lang="zh-CN" altLang="en-US">
                <a:solidFill>
                  <a:srgbClr val="FF0000"/>
                </a:solidFill>
                <a:ea typeface="楷体_GB2312" pitchFamily="49" charset="-122"/>
              </a:rPr>
              <a:t>线性结构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454025" y="2238375"/>
            <a:ext cx="126682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>
                <a:solidFill>
                  <a:srgbClr val="003300"/>
                </a:solidFill>
                <a:ea typeface="楷体_GB2312" pitchFamily="49" charset="-122"/>
              </a:rPr>
              <a:t>例如：</a:t>
            </a: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1279525" y="3152775"/>
            <a:ext cx="14636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D=(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E,F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)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371475" y="3876675"/>
            <a:ext cx="2278063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其中: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E=(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a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,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(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b, c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)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)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  F=(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d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,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 (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e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)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)</a:t>
            </a: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5840413" y="2743200"/>
            <a:ext cx="468312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D</a:t>
            </a: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4495800" y="3733800"/>
            <a:ext cx="40163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E</a:t>
            </a: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7508875" y="3733800"/>
            <a:ext cx="3873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F</a:t>
            </a: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3505200" y="4419600"/>
            <a:ext cx="37623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a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5407025" y="4419600"/>
            <a:ext cx="633413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(  )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6542088" y="4419600"/>
            <a:ext cx="407987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d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8210550" y="4419600"/>
            <a:ext cx="633413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(  )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4991100" y="5562600"/>
            <a:ext cx="40322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b</a:t>
            </a:r>
          </a:p>
        </p:txBody>
      </p:sp>
      <p:sp>
        <p:nvSpPr>
          <p:cNvPr id="27" name="Text Box 17"/>
          <p:cNvSpPr txBox="1">
            <a:spLocks noChangeArrowheads="1"/>
          </p:cNvSpPr>
          <p:nvPr/>
        </p:nvSpPr>
        <p:spPr bwMode="auto">
          <a:xfrm>
            <a:off x="6203950" y="5562600"/>
            <a:ext cx="3587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c</a:t>
            </a:r>
          </a:p>
        </p:txBody>
      </p:sp>
      <p:sp>
        <p:nvSpPr>
          <p:cNvPr id="28" name="Text Box 18"/>
          <p:cNvSpPr txBox="1">
            <a:spLocks noChangeArrowheads="1"/>
          </p:cNvSpPr>
          <p:nvPr/>
        </p:nvSpPr>
        <p:spPr bwMode="auto">
          <a:xfrm>
            <a:off x="8485188" y="5486400"/>
            <a:ext cx="37782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e</a:t>
            </a:r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 flipH="1">
            <a:off x="4991100" y="3352800"/>
            <a:ext cx="908050" cy="609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6394450" y="3352800"/>
            <a:ext cx="1155700" cy="685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 flipH="1">
            <a:off x="3835400" y="4267200"/>
            <a:ext cx="742950" cy="38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32" name="Line 22"/>
          <p:cNvSpPr>
            <a:spLocks noChangeShapeType="1"/>
          </p:cNvSpPr>
          <p:nvPr/>
        </p:nvSpPr>
        <p:spPr bwMode="auto">
          <a:xfrm>
            <a:off x="5073650" y="4343400"/>
            <a:ext cx="742950" cy="228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33" name="Line 23"/>
          <p:cNvSpPr>
            <a:spLocks noChangeShapeType="1"/>
          </p:cNvSpPr>
          <p:nvPr/>
        </p:nvSpPr>
        <p:spPr bwMode="auto">
          <a:xfrm flipH="1">
            <a:off x="5238750" y="5181600"/>
            <a:ext cx="495300" cy="533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34" name="Line 24"/>
          <p:cNvSpPr>
            <a:spLocks noChangeShapeType="1"/>
          </p:cNvSpPr>
          <p:nvPr/>
        </p:nvSpPr>
        <p:spPr bwMode="auto">
          <a:xfrm>
            <a:off x="5899150" y="5181600"/>
            <a:ext cx="495300" cy="457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35" name="Line 25"/>
          <p:cNvSpPr>
            <a:spLocks noChangeShapeType="1"/>
          </p:cNvSpPr>
          <p:nvPr/>
        </p:nvSpPr>
        <p:spPr bwMode="auto">
          <a:xfrm flipH="1">
            <a:off x="6972300" y="4343400"/>
            <a:ext cx="577850" cy="38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36" name="Line 26"/>
          <p:cNvSpPr>
            <a:spLocks noChangeShapeType="1"/>
          </p:cNvSpPr>
          <p:nvPr/>
        </p:nvSpPr>
        <p:spPr bwMode="auto">
          <a:xfrm>
            <a:off x="8045450" y="4267200"/>
            <a:ext cx="660400" cy="38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37" name="Line 27"/>
          <p:cNvSpPr>
            <a:spLocks noChangeShapeType="1"/>
          </p:cNvSpPr>
          <p:nvPr/>
        </p:nvSpPr>
        <p:spPr bwMode="auto">
          <a:xfrm>
            <a:off x="8705850" y="5105400"/>
            <a:ext cx="0" cy="609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6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 autoUpdateAnimBg="0"/>
      <p:bldP spid="15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4.4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F947-4337-418D-A714-998B7906068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39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406400" y="1269821"/>
            <a:ext cx="9575800" cy="45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3300"/>
              </a:buClr>
              <a:buSzPct val="95000"/>
              <a:buFont typeface="Wingdings" pitchFamily="2" charset="2"/>
              <a:buChar char="p"/>
            </a:pPr>
            <a:r>
              <a:rPr lang="zh-CN" altLang="en-US" sz="2400" dirty="0">
                <a:solidFill>
                  <a:srgbClr val="003300"/>
                </a:solidFill>
                <a:ea typeface="楷体_GB2312" pitchFamily="49" charset="-122"/>
              </a:rPr>
              <a:t>广义表 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</a:rPr>
              <a:t>LS = ( 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solidFill>
                  <a:srgbClr val="003300"/>
                </a:solidFill>
                <a:ea typeface="楷体_GB2312" pitchFamily="49" charset="-122"/>
              </a:rPr>
              <a:t>1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</a:rPr>
              <a:t>, 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solidFill>
                  <a:srgbClr val="003300"/>
                </a:solidFill>
                <a:ea typeface="楷体_GB2312" pitchFamily="49" charset="-122"/>
              </a:rPr>
              <a:t>2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</a:rPr>
              <a:t>, …, 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solidFill>
                  <a:srgbClr val="003300"/>
                </a:solidFill>
                <a:ea typeface="楷体_GB2312" pitchFamily="49" charset="-122"/>
              </a:rPr>
              <a:t>n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</a:rPr>
              <a:t> )</a:t>
            </a:r>
            <a:r>
              <a:rPr lang="zh-CN" altLang="en-US" sz="2400" dirty="0">
                <a:solidFill>
                  <a:srgbClr val="003300"/>
                </a:solidFill>
                <a:ea typeface="楷体_GB2312" pitchFamily="49" charset="-122"/>
              </a:rPr>
              <a:t>的结构特点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763588" y="1698446"/>
            <a:ext cx="5203669" cy="555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>
                <a:ea typeface="楷体_GB2312" pitchFamily="49" charset="-122"/>
              </a:rPr>
              <a:t>1)  </a:t>
            </a:r>
            <a:r>
              <a:rPr lang="zh-CN" altLang="en-US" sz="2400">
                <a:ea typeface="楷体_GB2312" pitchFamily="49" charset="-122"/>
              </a:rPr>
              <a:t>广义表中的数据元素有相对</a:t>
            </a:r>
            <a:r>
              <a:rPr lang="zh-CN" altLang="en-US" sz="2400">
                <a:solidFill>
                  <a:srgbClr val="FF0000"/>
                </a:solidFill>
                <a:ea typeface="楷体_GB2312" pitchFamily="49" charset="-122"/>
              </a:rPr>
              <a:t>次序</a:t>
            </a:r>
            <a:r>
              <a:rPr lang="zh-CN" altLang="en-US" sz="2400">
                <a:ea typeface="楷体_GB2312" pitchFamily="49" charset="-122"/>
              </a:rPr>
              <a:t>；</a:t>
            </a:r>
          </a:p>
        </p:txBody>
      </p: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763588" y="2743200"/>
            <a:ext cx="8439150" cy="153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3)  </a:t>
            </a:r>
            <a:r>
              <a:rPr lang="zh-CN" altLang="en-US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广义表的</a:t>
            </a:r>
            <a:r>
              <a:rPr lang="zh-CN" altLang="en-US" sz="2400" b="1" dirty="0">
                <a:solidFill>
                  <a:srgbClr val="FF0000"/>
                </a:solidFill>
                <a:latin typeface="Constantia" pitchFamily="18" charset="0"/>
                <a:ea typeface="楷体_GB2312" pitchFamily="49" charset="-122"/>
              </a:rPr>
              <a:t>深度</a:t>
            </a:r>
            <a:r>
              <a:rPr lang="zh-CN" altLang="en-US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定义为所含</a:t>
            </a:r>
            <a:r>
              <a:rPr lang="zh-CN" altLang="en-US" sz="2400" b="1" dirty="0">
                <a:solidFill>
                  <a:srgbClr val="FF3300"/>
                </a:solidFill>
                <a:latin typeface="Constantia" pitchFamily="18" charset="0"/>
                <a:ea typeface="楷体_GB2312" pitchFamily="49" charset="-122"/>
              </a:rPr>
              <a:t>括弧的重数</a:t>
            </a:r>
            <a:r>
              <a:rPr lang="zh-CN" altLang="en-US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；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   注意：“原子”的深度为</a:t>
            </a:r>
            <a:r>
              <a:rPr lang="zh-CN" altLang="en-US" sz="2400" b="1" dirty="0">
                <a:solidFill>
                  <a:srgbClr val="0000FF"/>
                </a:solidFill>
                <a:latin typeface="宋体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宋体"/>
              </a:rPr>
              <a:t>0 </a:t>
            </a:r>
            <a:r>
              <a:rPr lang="en-US" altLang="zh-CN" sz="2400" b="1" dirty="0">
                <a:solidFill>
                  <a:srgbClr val="0000FF"/>
                </a:solidFill>
                <a:latin typeface="宋体"/>
              </a:rPr>
              <a:t> </a:t>
            </a: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           </a:t>
            </a:r>
            <a:r>
              <a:rPr lang="zh-CN" altLang="en-US" sz="2400" b="1" dirty="0">
                <a:solidFill>
                  <a:srgbClr val="0000FF"/>
                </a:solidFill>
                <a:latin typeface="Constantia" pitchFamily="18" charset="0"/>
                <a:ea typeface="楷体_GB2312" pitchFamily="49" charset="-122"/>
              </a:rPr>
              <a:t>　“空表”的深度为 </a:t>
            </a: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1 </a:t>
            </a: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763588" y="4854792"/>
            <a:ext cx="8433719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4)  </a:t>
            </a:r>
            <a:r>
              <a:rPr lang="zh-CN" altLang="en-US" sz="2400" dirty="0">
                <a:ea typeface="楷体_GB2312" pitchFamily="49" charset="-122"/>
              </a:rPr>
              <a:t>广义表可以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共享</a:t>
            </a:r>
            <a:r>
              <a:rPr lang="zh-CN" altLang="en-US" sz="1800" dirty="0">
                <a:ea typeface="楷体_GB2312" pitchFamily="49" charset="-122"/>
              </a:rPr>
              <a:t>（不必列出子表的值，而是通过子表的名称来引用）</a:t>
            </a:r>
            <a:r>
              <a:rPr lang="zh-CN" altLang="en-US" sz="2400" dirty="0">
                <a:ea typeface="楷体_GB2312" pitchFamily="49" charset="-122"/>
              </a:rPr>
              <a:t>；</a:t>
            </a:r>
          </a:p>
        </p:txBody>
      </p:sp>
      <p:sp>
        <p:nvSpPr>
          <p:cNvPr id="42" name="Text Box 8"/>
          <p:cNvSpPr txBox="1">
            <a:spLocks noChangeArrowheads="1"/>
          </p:cNvSpPr>
          <p:nvPr/>
        </p:nvSpPr>
        <p:spPr bwMode="auto">
          <a:xfrm>
            <a:off x="763588" y="5276671"/>
            <a:ext cx="612218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5)  </a:t>
            </a:r>
            <a:r>
              <a:rPr lang="zh-CN" altLang="en-US" sz="2400" dirty="0">
                <a:ea typeface="楷体_GB2312" pitchFamily="49" charset="-122"/>
              </a:rPr>
              <a:t>广义表可以是一个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递归</a:t>
            </a:r>
            <a:r>
              <a:rPr lang="zh-CN" altLang="en-US" sz="2400" dirty="0">
                <a:ea typeface="楷体_GB2312" pitchFamily="49" charset="-122"/>
              </a:rPr>
              <a:t>的表。</a:t>
            </a:r>
          </a:p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     递归表的深度是无穷值，长度是有限值。</a:t>
            </a:r>
          </a:p>
        </p:txBody>
      </p:sp>
      <p:sp>
        <p:nvSpPr>
          <p:cNvPr id="43" name="Text Box 2"/>
          <p:cNvSpPr txBox="1">
            <a:spLocks noChangeArrowheads="1"/>
          </p:cNvSpPr>
          <p:nvPr/>
        </p:nvSpPr>
        <p:spPr bwMode="auto">
          <a:xfrm>
            <a:off x="1171575" y="4245192"/>
            <a:ext cx="5040162" cy="555408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广义表的深度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/>
                <a:ea typeface="楷体_GB2312" pitchFamily="49" charset="-122"/>
                <a:cs typeface="+mn-cs"/>
              </a:rPr>
              <a:t>Max {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/>
                <a:ea typeface="楷体_GB2312" pitchFamily="49" charset="-122"/>
                <a:cs typeface="+mn-cs"/>
              </a:rPr>
              <a:t>子表的深度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/>
                <a:ea typeface="楷体_GB2312" pitchFamily="49" charset="-122"/>
                <a:cs typeface="+mn-cs"/>
              </a:rPr>
              <a:t>}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/>
                <a:cs typeface="+mn-cs"/>
              </a:rPr>
              <a:t>+1</a:t>
            </a:r>
          </a:p>
        </p:txBody>
      </p: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742950" y="2187792"/>
            <a:ext cx="10153650" cy="555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2)  </a:t>
            </a:r>
            <a:r>
              <a:rPr lang="zh-CN" altLang="en-US" sz="2400" dirty="0">
                <a:ea typeface="楷体_GB2312" pitchFamily="49" charset="-122"/>
              </a:rPr>
              <a:t>广义表的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长度</a:t>
            </a:r>
            <a:r>
              <a:rPr lang="zh-CN" altLang="en-US" sz="2400" dirty="0">
                <a:ea typeface="楷体_GB2312" pitchFamily="49" charset="-122"/>
              </a:rPr>
              <a:t>定义为最外层包含元素个数；</a:t>
            </a:r>
          </a:p>
        </p:txBody>
      </p:sp>
    </p:spTree>
    <p:extLst>
      <p:ext uri="{BB962C8B-B14F-4D97-AF65-F5344CB8AC3E}">
        <p14:creationId xmlns:p14="http://schemas.microsoft.com/office/powerpoint/2010/main" val="303935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utoUpdateAnimBg="0"/>
      <p:bldP spid="39" grpId="0" autoUpdateAnimBg="0"/>
      <p:bldP spid="40" grpId="0" autoUpdateAnimBg="0"/>
      <p:bldP spid="41" grpId="0" autoUpdateAnimBg="0"/>
      <p:bldP spid="42" grpId="0" autoUpdateAnimBg="0"/>
      <p:bldP spid="43" grpId="0" animBg="1" autoUpdateAnimBg="0"/>
      <p:bldP spid="44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4.4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9263F-E54A-4585-AF27-294B9A81434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40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406400" y="1269821"/>
            <a:ext cx="9575800" cy="45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003300"/>
              </a:buClr>
              <a:buSzPct val="95000"/>
              <a:buFont typeface="Wingdings" pitchFamily="2" charset="2"/>
              <a:buChar char="p"/>
            </a:pPr>
            <a:r>
              <a:rPr lang="zh-CN" altLang="en-US" sz="2400" dirty="0">
                <a:solidFill>
                  <a:srgbClr val="003300"/>
                </a:solidFill>
                <a:ea typeface="楷体_GB2312" pitchFamily="49" charset="-122"/>
              </a:rPr>
              <a:t>广义表 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</a:rPr>
              <a:t>LS = ( 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solidFill>
                  <a:srgbClr val="003300"/>
                </a:solidFill>
                <a:ea typeface="楷体_GB2312" pitchFamily="49" charset="-122"/>
              </a:rPr>
              <a:t>1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</a:rPr>
              <a:t>, 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solidFill>
                  <a:srgbClr val="003300"/>
                </a:solidFill>
                <a:ea typeface="楷体_GB2312" pitchFamily="49" charset="-122"/>
              </a:rPr>
              <a:t>2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</a:rPr>
              <a:t>, …, 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solidFill>
                  <a:srgbClr val="003300"/>
                </a:solidFill>
                <a:ea typeface="楷体_GB2312" pitchFamily="49" charset="-122"/>
              </a:rPr>
              <a:t>n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</a:rPr>
              <a:t> )</a:t>
            </a:r>
            <a:r>
              <a:rPr lang="zh-CN" altLang="en-US" sz="2400" dirty="0">
                <a:solidFill>
                  <a:srgbClr val="003300"/>
                </a:solidFill>
                <a:ea typeface="楷体_GB2312" pitchFamily="49" charset="-122"/>
              </a:rPr>
              <a:t>的结构特点</a:t>
            </a:r>
            <a:r>
              <a:rPr lang="en-US" altLang="zh-CN" sz="2400" dirty="0">
                <a:solidFill>
                  <a:srgbClr val="00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473075" y="1838337"/>
            <a:ext cx="8366125" cy="904863"/>
          </a:xfrm>
          <a:prstGeom prst="rect">
            <a:avLst/>
          </a:prstGeom>
          <a:noFill/>
          <a:ln w="9525">
            <a:solidFill>
              <a:srgbClr val="0707F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6)  </a:t>
            </a:r>
            <a:r>
              <a:rPr lang="zh-CN" altLang="en-US" sz="2400" dirty="0">
                <a:ea typeface="楷体_GB2312" pitchFamily="49" charset="-122"/>
              </a:rPr>
              <a:t>任何一个非空广义表    </a:t>
            </a:r>
            <a:r>
              <a:rPr lang="en-US" altLang="zh-CN" sz="2400" dirty="0">
                <a:ea typeface="楷体_GB2312" pitchFamily="49" charset="-122"/>
              </a:rPr>
              <a:t>LS = (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ea typeface="楷体_GB2312" pitchFamily="49" charset="-122"/>
              </a:rPr>
              <a:t>1</a:t>
            </a:r>
            <a:r>
              <a:rPr lang="en-US" altLang="zh-CN" sz="2400" dirty="0">
                <a:ea typeface="楷体_GB2312" pitchFamily="49" charset="-122"/>
              </a:rPr>
              <a:t>,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ea typeface="楷体_GB2312" pitchFamily="49" charset="-122"/>
              </a:rPr>
              <a:t>2</a:t>
            </a:r>
            <a:r>
              <a:rPr lang="en-US" altLang="zh-CN" sz="2400" dirty="0">
                <a:ea typeface="楷体_GB2312" pitchFamily="49" charset="-122"/>
              </a:rPr>
              <a:t>, …,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)</a:t>
            </a:r>
            <a:r>
              <a:rPr lang="zh-CN" altLang="en-US" sz="2400" dirty="0">
                <a:ea typeface="楷体_GB2312" pitchFamily="49" charset="-122"/>
              </a:rPr>
              <a:t>均可分解为</a:t>
            </a: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表头</a:t>
            </a:r>
            <a:r>
              <a:rPr lang="zh-CN" altLang="en-US" sz="2400" dirty="0">
                <a:ea typeface="楷体_GB2312" pitchFamily="49" charset="-122"/>
              </a:rPr>
              <a:t>  </a:t>
            </a:r>
            <a:r>
              <a:rPr lang="en-US" altLang="zh-CN" sz="2400" dirty="0">
                <a:ea typeface="楷体_GB2312" pitchFamily="49" charset="-122"/>
              </a:rPr>
              <a:t>Head(LS) =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ea typeface="楷体_GB2312" pitchFamily="49" charset="-122"/>
              </a:rPr>
              <a:t>1</a:t>
            </a:r>
            <a:r>
              <a:rPr lang="en-US" altLang="zh-CN" sz="2400" dirty="0">
                <a:ea typeface="楷体_GB2312" pitchFamily="49" charset="-122"/>
              </a:rPr>
              <a:t>  </a:t>
            </a:r>
            <a:r>
              <a:rPr lang="zh-CN" altLang="en-US" sz="2400" dirty="0">
                <a:ea typeface="楷体_GB2312" pitchFamily="49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表尾</a:t>
            </a:r>
            <a:r>
              <a:rPr lang="zh-CN" altLang="en-US" sz="2400" dirty="0">
                <a:ea typeface="楷体_GB2312" pitchFamily="49" charset="-122"/>
              </a:rPr>
              <a:t>  </a:t>
            </a:r>
            <a:r>
              <a:rPr lang="en-US" altLang="zh-CN" sz="2400" dirty="0">
                <a:ea typeface="楷体_GB2312" pitchFamily="49" charset="-122"/>
              </a:rPr>
              <a:t>Tail(LS) = (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ea typeface="楷体_GB2312" pitchFamily="49" charset="-122"/>
              </a:rPr>
              <a:t>2</a:t>
            </a:r>
            <a:r>
              <a:rPr lang="en-US" altLang="zh-CN" sz="2400" dirty="0">
                <a:ea typeface="楷体_GB2312" pitchFamily="49" charset="-122"/>
              </a:rPr>
              <a:t>, …,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baseline="-25000" dirty="0">
                <a:ea typeface="楷体_GB2312" pitchFamily="49" charset="-122"/>
              </a:rPr>
              <a:t>n</a:t>
            </a:r>
            <a:r>
              <a:rPr lang="en-US" altLang="zh-CN" sz="2400" dirty="0">
                <a:ea typeface="楷体_GB2312" pitchFamily="49" charset="-122"/>
              </a:rPr>
              <a:t>)  </a:t>
            </a:r>
            <a:r>
              <a:rPr lang="zh-CN" altLang="en-US" sz="2400" dirty="0">
                <a:ea typeface="楷体_GB2312" pitchFamily="49" charset="-122"/>
              </a:rPr>
              <a:t>两部分。</a:t>
            </a:r>
          </a:p>
        </p:txBody>
      </p:sp>
      <p:sp>
        <p:nvSpPr>
          <p:cNvPr id="20" name="Text Box 3"/>
          <p:cNvSpPr txBox="1">
            <a:spLocks noChangeArrowheads="1"/>
          </p:cNvSpPr>
          <p:nvPr/>
        </p:nvSpPr>
        <p:spPr bwMode="auto">
          <a:xfrm>
            <a:off x="368300" y="3048000"/>
            <a:ext cx="5049459" cy="555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2400" dirty="0">
                <a:solidFill>
                  <a:srgbClr val="008000"/>
                </a:solidFill>
                <a:ea typeface="楷体_GB2312" pitchFamily="49" charset="-122"/>
              </a:rPr>
              <a:t>例如</a:t>
            </a:r>
            <a:r>
              <a:rPr lang="en-US" altLang="zh-CN" sz="2400" dirty="0">
                <a:solidFill>
                  <a:srgbClr val="008000"/>
                </a:solidFill>
                <a:ea typeface="楷体_GB2312" pitchFamily="49" charset="-122"/>
              </a:rPr>
              <a:t>:   </a:t>
            </a:r>
            <a:r>
              <a:rPr lang="en-US" altLang="zh-CN" sz="2400" dirty="0">
                <a:ea typeface="楷体_GB2312" pitchFamily="49" charset="-122"/>
              </a:rPr>
              <a:t>D = ( E, F ) =  ((a, (b, c))</a:t>
            </a:r>
            <a:r>
              <a:rPr lang="zh-CN" altLang="en-US" sz="2400" dirty="0">
                <a:ea typeface="楷体_GB2312" pitchFamily="49" charset="-122"/>
              </a:rPr>
              <a:t>，</a:t>
            </a:r>
            <a:r>
              <a:rPr lang="en-US" altLang="zh-CN" sz="2400" dirty="0">
                <a:ea typeface="楷体_GB2312" pitchFamily="49" charset="-122"/>
              </a:rPr>
              <a:t>F )</a:t>
            </a: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742950" y="3629628"/>
            <a:ext cx="4711996" cy="561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Head( D ) = </a:t>
            </a:r>
            <a:r>
              <a:rPr lang="en-US" altLang="zh-CN" sz="2400" dirty="0">
                <a:solidFill>
                  <a:srgbClr val="FF3300"/>
                </a:solidFill>
                <a:ea typeface="楷体_GB2312" pitchFamily="49" charset="-122"/>
              </a:rPr>
              <a:t>E</a:t>
            </a:r>
            <a:r>
              <a:rPr lang="en-US" altLang="zh-CN" sz="2400" dirty="0">
                <a:ea typeface="楷体_GB2312" pitchFamily="49" charset="-122"/>
              </a:rPr>
              <a:t>        Tail( D ) = </a:t>
            </a:r>
            <a:r>
              <a:rPr lang="en-US" altLang="zh-CN" sz="2400" dirty="0">
                <a:solidFill>
                  <a:srgbClr val="FF3300"/>
                </a:solidFill>
                <a:ea typeface="楷体_GB2312" pitchFamily="49" charset="-122"/>
              </a:rPr>
              <a:t>( F )</a:t>
            </a: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742950" y="4191000"/>
            <a:ext cx="5256375" cy="561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Head( E ) = </a:t>
            </a:r>
            <a:r>
              <a:rPr lang="en-US" altLang="zh-CN" sz="2400" dirty="0">
                <a:solidFill>
                  <a:srgbClr val="FF3300"/>
                </a:solidFill>
                <a:ea typeface="楷体_GB2312" pitchFamily="49" charset="-122"/>
              </a:rPr>
              <a:t>a   </a:t>
            </a:r>
            <a:r>
              <a:rPr lang="en-US" altLang="zh-CN" sz="2400" dirty="0">
                <a:ea typeface="楷体_GB2312" pitchFamily="49" charset="-122"/>
              </a:rPr>
              <a:t>      Tail( E ) = </a:t>
            </a:r>
            <a:r>
              <a:rPr lang="en-US" altLang="zh-CN" sz="2400" dirty="0">
                <a:solidFill>
                  <a:srgbClr val="FF3300"/>
                </a:solidFill>
                <a:ea typeface="楷体_GB2312" pitchFamily="49" charset="-122"/>
              </a:rPr>
              <a:t>( ( b, c) )</a:t>
            </a: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728424" y="4696428"/>
            <a:ext cx="6281976" cy="561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Head( (( b, c)) ) </a:t>
            </a:r>
            <a:r>
              <a:rPr lang="en-US" altLang="zh-CN" sz="2400" dirty="0">
                <a:solidFill>
                  <a:srgbClr val="FF3300"/>
                </a:solidFill>
                <a:ea typeface="楷体_GB2312" pitchFamily="49" charset="-122"/>
              </a:rPr>
              <a:t>= ( b, c)   </a:t>
            </a:r>
            <a:r>
              <a:rPr lang="en-US" altLang="zh-CN" sz="2400" dirty="0">
                <a:ea typeface="楷体_GB2312" pitchFamily="49" charset="-122"/>
              </a:rPr>
              <a:t>Tail( (( b, c)) ) </a:t>
            </a:r>
            <a:r>
              <a:rPr lang="en-US" altLang="zh-CN" sz="2400" dirty="0">
                <a:solidFill>
                  <a:srgbClr val="FF3300"/>
                </a:solidFill>
                <a:ea typeface="楷体_GB2312" pitchFamily="49" charset="-122"/>
              </a:rPr>
              <a:t>= ( )</a:t>
            </a:r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696913" y="5153628"/>
            <a:ext cx="5474704" cy="561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 dirty="0">
                <a:ea typeface="楷体_GB2312" pitchFamily="49" charset="-122"/>
              </a:rPr>
              <a:t>Head( ( b, c) ) =</a:t>
            </a:r>
            <a:r>
              <a:rPr lang="en-US" altLang="zh-CN" sz="2400" dirty="0">
                <a:solidFill>
                  <a:srgbClr val="9933FF"/>
                </a:solidFill>
                <a:ea typeface="楷体_GB2312" pitchFamily="49" charset="-122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ea typeface="楷体_GB2312" pitchFamily="49" charset="-122"/>
              </a:rPr>
              <a:t>b  </a:t>
            </a:r>
            <a:r>
              <a:rPr lang="en-US" altLang="zh-CN" sz="2400" dirty="0">
                <a:ea typeface="楷体_GB2312" pitchFamily="49" charset="-122"/>
              </a:rPr>
              <a:t>  Tail( ( b, c) ) </a:t>
            </a:r>
            <a:r>
              <a:rPr lang="en-US" altLang="zh-CN" sz="2400" dirty="0">
                <a:solidFill>
                  <a:srgbClr val="FF3300"/>
                </a:solidFill>
                <a:ea typeface="楷体_GB2312" pitchFamily="49" charset="-122"/>
              </a:rPr>
              <a:t>= ( c )</a:t>
            </a: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709613" y="5687028"/>
            <a:ext cx="4964308" cy="561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>
                <a:ea typeface="楷体_GB2312" pitchFamily="49" charset="-122"/>
              </a:rPr>
              <a:t>Head( ( c ) ) </a:t>
            </a:r>
            <a:r>
              <a:rPr lang="en-US" altLang="zh-CN" sz="2400">
                <a:solidFill>
                  <a:srgbClr val="FF3300"/>
                </a:solidFill>
                <a:ea typeface="楷体_GB2312" pitchFamily="49" charset="-122"/>
              </a:rPr>
              <a:t>= c        </a:t>
            </a:r>
            <a:r>
              <a:rPr lang="en-US" altLang="zh-CN" sz="2400">
                <a:ea typeface="楷体_GB2312" pitchFamily="49" charset="-122"/>
              </a:rPr>
              <a:t>Tail( ( c ) ) = </a:t>
            </a:r>
            <a:r>
              <a:rPr lang="en-US" altLang="zh-CN" sz="2400">
                <a:solidFill>
                  <a:srgbClr val="FF3300"/>
                </a:solidFill>
                <a:ea typeface="楷体_GB2312" pitchFamily="49" charset="-122"/>
              </a:rPr>
              <a:t>( )</a:t>
            </a:r>
          </a:p>
        </p:txBody>
      </p:sp>
    </p:spTree>
    <p:extLst>
      <p:ext uri="{BB962C8B-B14F-4D97-AF65-F5344CB8AC3E}">
        <p14:creationId xmlns:p14="http://schemas.microsoft.com/office/powerpoint/2010/main" val="377310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utoUpdateAnimBg="0"/>
      <p:bldP spid="19" grpId="0" animBg="1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4.4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广义表的类型定义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/>
              <a:t>基本操作举例</a:t>
            </a:r>
            <a:endParaRPr lang="en-US" altLang="zh-CN" sz="28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F2A8-F1E2-4D56-B291-0AEBEDD91C9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41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842962" y="1938683"/>
            <a:ext cx="7920038" cy="4081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按例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(1)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的方式完成</a:t>
            </a:r>
            <a:r>
              <a:rPr kumimoji="1" lang="en-US" altLang="zh-CN" sz="2400" dirty="0">
                <a:solidFill>
                  <a:srgbClr val="000000"/>
                </a:solidFill>
                <a:latin typeface="Times New Roman" pitchFamily="18" charset="0"/>
              </a:rPr>
              <a:t>(2)(3)(4)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填空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400" dirty="0">
                <a:latin typeface="Times New Roman" pitchFamily="18" charset="0"/>
              </a:rPr>
              <a:t>（</a:t>
            </a:r>
            <a:r>
              <a:rPr kumimoji="1" lang="en-US" altLang="zh-CN" sz="2400" dirty="0">
                <a:latin typeface="Times New Roman" pitchFamily="18" charset="0"/>
              </a:rPr>
              <a:t>1</a:t>
            </a:r>
            <a:r>
              <a:rPr kumimoji="1" lang="zh-CN" altLang="en-US" sz="2400" dirty="0">
                <a:latin typeface="Times New Roman" pitchFamily="18" charset="0"/>
              </a:rPr>
              <a:t>）</a:t>
            </a:r>
            <a:r>
              <a:rPr kumimoji="1" lang="en-US" altLang="zh-CN" sz="2400" dirty="0">
                <a:latin typeface="Times New Roman" pitchFamily="18" charset="0"/>
              </a:rPr>
              <a:t>B=</a:t>
            </a:r>
            <a:r>
              <a:rPr kumimoji="1" lang="zh-CN" altLang="en-US" sz="2400" dirty="0">
                <a:latin typeface="Times New Roman" pitchFamily="18" charset="0"/>
              </a:rPr>
              <a:t>（</a:t>
            </a:r>
            <a:r>
              <a:rPr kumimoji="1" lang="en-US" altLang="zh-CN" sz="2400" dirty="0">
                <a:latin typeface="Times New Roman" pitchFamily="18" charset="0"/>
              </a:rPr>
              <a:t>e</a:t>
            </a:r>
            <a:r>
              <a:rPr kumimoji="1" lang="zh-CN" altLang="en-US" sz="2400" dirty="0">
                <a:latin typeface="Times New Roman" pitchFamily="18" charset="0"/>
              </a:rPr>
              <a:t>）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400" dirty="0">
                <a:latin typeface="Times New Roman" pitchFamily="18" charset="0"/>
              </a:rPr>
              <a:t>         只含一个原子，长度为</a:t>
            </a:r>
            <a:r>
              <a:rPr kumimoji="1" lang="en-US" altLang="zh-CN" sz="2400" dirty="0">
                <a:latin typeface="Times New Roman" pitchFamily="18" charset="0"/>
              </a:rPr>
              <a:t>1</a:t>
            </a:r>
            <a:r>
              <a:rPr kumimoji="1" lang="zh-CN" altLang="en-US" sz="2400" dirty="0">
                <a:latin typeface="Times New Roman" pitchFamily="18" charset="0"/>
              </a:rPr>
              <a:t>，深度为</a:t>
            </a:r>
            <a:r>
              <a:rPr kumimoji="1" lang="en-US" altLang="zh-CN" sz="2400" dirty="0">
                <a:latin typeface="Times New Roman" pitchFamily="18" charset="0"/>
              </a:rPr>
              <a:t>1</a:t>
            </a:r>
            <a:r>
              <a:rPr kumimoji="1" lang="zh-CN" altLang="en-US" sz="2400" dirty="0">
                <a:latin typeface="Times New Roman" pitchFamily="18" charset="0"/>
              </a:rPr>
              <a:t>。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400" dirty="0">
                <a:latin typeface="Times New Roman" pitchFamily="18" charset="0"/>
              </a:rPr>
              <a:t>（</a:t>
            </a:r>
            <a:r>
              <a:rPr kumimoji="1" lang="en-US" altLang="zh-CN" sz="2400" dirty="0">
                <a:latin typeface="Times New Roman" pitchFamily="18" charset="0"/>
              </a:rPr>
              <a:t>2</a:t>
            </a:r>
            <a:r>
              <a:rPr kumimoji="1" lang="zh-CN" altLang="en-US" sz="2400" dirty="0">
                <a:latin typeface="Times New Roman" pitchFamily="18" charset="0"/>
              </a:rPr>
              <a:t>）</a:t>
            </a:r>
            <a:r>
              <a:rPr kumimoji="1" lang="en-US" altLang="zh-CN" sz="2400" dirty="0">
                <a:latin typeface="Times New Roman" pitchFamily="18" charset="0"/>
              </a:rPr>
              <a:t>C=(a,(b</a:t>
            </a:r>
            <a:r>
              <a:rPr kumimoji="1" lang="zh-CN" altLang="en-US" sz="2400" dirty="0">
                <a:latin typeface="Times New Roman" pitchFamily="18" charset="0"/>
              </a:rPr>
              <a:t>，</a:t>
            </a:r>
            <a:r>
              <a:rPr kumimoji="1" lang="en-US" altLang="zh-CN" sz="2400" dirty="0">
                <a:latin typeface="Times New Roman" pitchFamily="18" charset="0"/>
              </a:rPr>
              <a:t>c</a:t>
            </a:r>
            <a:r>
              <a:rPr kumimoji="1" lang="zh-CN" altLang="en-US" sz="2400" dirty="0">
                <a:latin typeface="Times New Roman" pitchFamily="18" charset="0"/>
              </a:rPr>
              <a:t>，</a:t>
            </a:r>
            <a:r>
              <a:rPr kumimoji="1" lang="en-US" altLang="zh-CN" sz="2400" dirty="0">
                <a:latin typeface="Times New Roman" pitchFamily="18" charset="0"/>
              </a:rPr>
              <a:t>d))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       </a:t>
            </a:r>
            <a:r>
              <a:rPr kumimoji="1" lang="zh-CN" altLang="en-US" sz="2400" dirty="0">
                <a:latin typeface="Times New Roman" pitchFamily="18" charset="0"/>
              </a:rPr>
              <a:t>有一个原子，一个子表，长度为</a:t>
            </a:r>
            <a:r>
              <a:rPr kumimoji="1" lang="en-US" altLang="zh-CN" sz="2400" dirty="0">
                <a:latin typeface="Times New Roman" pitchFamily="18" charset="0"/>
              </a:rPr>
              <a:t>2</a:t>
            </a:r>
            <a:r>
              <a:rPr kumimoji="1" lang="zh-CN" altLang="en-US" sz="2400" dirty="0">
                <a:latin typeface="Times New Roman" pitchFamily="18" charset="0"/>
              </a:rPr>
              <a:t>，深度为</a:t>
            </a:r>
            <a:r>
              <a:rPr kumimoji="1" lang="en-US" altLang="zh-CN" sz="2400" dirty="0">
                <a:latin typeface="Times New Roman" pitchFamily="18" charset="0"/>
              </a:rPr>
              <a:t>2</a:t>
            </a:r>
            <a:r>
              <a:rPr kumimoji="1" lang="zh-CN" altLang="en-US" sz="2400" dirty="0">
                <a:latin typeface="Times New Roman" pitchFamily="18" charset="0"/>
              </a:rPr>
              <a:t>。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400" dirty="0">
                <a:latin typeface="Times New Roman" pitchFamily="18" charset="0"/>
              </a:rPr>
              <a:t>（</a:t>
            </a:r>
            <a:r>
              <a:rPr kumimoji="1" lang="en-US" altLang="zh-CN" sz="2400" dirty="0">
                <a:latin typeface="Times New Roman" pitchFamily="18" charset="0"/>
              </a:rPr>
              <a:t>3</a:t>
            </a:r>
            <a:r>
              <a:rPr kumimoji="1" lang="zh-CN" altLang="en-US" sz="2400" dirty="0">
                <a:latin typeface="Times New Roman" pitchFamily="18" charset="0"/>
              </a:rPr>
              <a:t>）</a:t>
            </a:r>
            <a:r>
              <a:rPr kumimoji="1" lang="en-US" altLang="zh-CN" sz="2400" dirty="0">
                <a:latin typeface="Times New Roman" pitchFamily="18" charset="0"/>
              </a:rPr>
              <a:t>D=(B,C)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        </a:t>
            </a:r>
            <a:r>
              <a:rPr kumimoji="1" lang="zh-CN" altLang="en-US" sz="2400" dirty="0">
                <a:latin typeface="Times New Roman" pitchFamily="18" charset="0"/>
              </a:rPr>
              <a:t>二个元素都是列表，长度为</a:t>
            </a:r>
            <a:r>
              <a:rPr kumimoji="1" lang="en-US" altLang="zh-CN" sz="2400" dirty="0">
                <a:latin typeface="Times New Roman" pitchFamily="18" charset="0"/>
              </a:rPr>
              <a:t>2</a:t>
            </a:r>
            <a:r>
              <a:rPr kumimoji="1" lang="zh-CN" altLang="en-US" sz="2400" dirty="0">
                <a:latin typeface="Times New Roman" pitchFamily="18" charset="0"/>
              </a:rPr>
              <a:t>，深度为</a:t>
            </a:r>
            <a:r>
              <a:rPr kumimoji="1" lang="en-US" altLang="zh-CN" sz="2400" dirty="0">
                <a:latin typeface="Times New Roman" pitchFamily="18" charset="0"/>
              </a:rPr>
              <a:t>3</a:t>
            </a:r>
            <a:r>
              <a:rPr kumimoji="1" lang="zh-CN" altLang="en-US" sz="2400" dirty="0">
                <a:latin typeface="Times New Roman" pitchFamily="18" charset="0"/>
              </a:rPr>
              <a:t>。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400" dirty="0">
                <a:latin typeface="Times New Roman" pitchFamily="18" charset="0"/>
              </a:rPr>
              <a:t>（</a:t>
            </a:r>
            <a:r>
              <a:rPr kumimoji="1" lang="en-US" altLang="zh-CN" sz="2400" dirty="0">
                <a:latin typeface="Times New Roman" pitchFamily="18" charset="0"/>
              </a:rPr>
              <a:t>4</a:t>
            </a:r>
            <a:r>
              <a:rPr kumimoji="1" lang="zh-CN" altLang="en-US" sz="2400" dirty="0">
                <a:latin typeface="Times New Roman" pitchFamily="18" charset="0"/>
              </a:rPr>
              <a:t>）</a:t>
            </a:r>
            <a:r>
              <a:rPr kumimoji="1" lang="en-US" altLang="zh-CN" sz="2400" dirty="0">
                <a:latin typeface="Times New Roman" pitchFamily="18" charset="0"/>
              </a:rPr>
              <a:t>E=(</a:t>
            </a:r>
            <a:r>
              <a:rPr kumimoji="1" lang="en-US" altLang="zh-CN" sz="2400" dirty="0" err="1">
                <a:latin typeface="Times New Roman" pitchFamily="18" charset="0"/>
              </a:rPr>
              <a:t>a,E</a:t>
            </a:r>
            <a:r>
              <a:rPr kumimoji="1" lang="en-US" altLang="zh-CN" sz="2400" dirty="0">
                <a:latin typeface="Times New Roman" pitchFamily="18" charset="0"/>
              </a:rPr>
              <a:t>)</a:t>
            </a:r>
          </a:p>
          <a:p>
            <a:pPr eaLnBrk="1" fontAlgn="base" hangingPunct="1"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400" dirty="0">
                <a:latin typeface="Times New Roman" pitchFamily="18" charset="0"/>
              </a:rPr>
              <a:t>          </a:t>
            </a:r>
            <a:r>
              <a:rPr kumimoji="1" lang="zh-CN" altLang="en-US" sz="2400" dirty="0">
                <a:latin typeface="Times New Roman" pitchFamily="18" charset="0"/>
              </a:rPr>
              <a:t>是一个递归表，长度为</a:t>
            </a:r>
            <a:r>
              <a:rPr kumimoji="1" lang="en-US" altLang="zh-CN" sz="2400" dirty="0">
                <a:latin typeface="Times New Roman" pitchFamily="18" charset="0"/>
              </a:rPr>
              <a:t>2</a:t>
            </a:r>
            <a:r>
              <a:rPr kumimoji="1" lang="zh-CN" altLang="en-US" sz="2400" dirty="0">
                <a:latin typeface="Times New Roman" pitchFamily="18" charset="0"/>
              </a:rPr>
              <a:t>，深度无限，相当于</a:t>
            </a:r>
            <a:r>
              <a:rPr kumimoji="1" lang="en-US" altLang="zh-CN" sz="2400" dirty="0">
                <a:latin typeface="Times New Roman" pitchFamily="18" charset="0"/>
              </a:rPr>
              <a:t>E=</a:t>
            </a:r>
            <a:r>
              <a:rPr kumimoji="1" lang="zh-CN" altLang="en-US" sz="2400" dirty="0">
                <a:latin typeface="Times New Roman" pitchFamily="18" charset="0"/>
              </a:rPr>
              <a:t>（</a:t>
            </a:r>
            <a:r>
              <a:rPr kumimoji="1" lang="en-US" altLang="zh-CN" sz="2400" dirty="0">
                <a:latin typeface="Times New Roman" pitchFamily="18" charset="0"/>
              </a:rPr>
              <a:t>a,</a:t>
            </a:r>
            <a:r>
              <a:rPr kumimoji="1" lang="zh-CN" altLang="en-US" sz="2400" dirty="0">
                <a:latin typeface="Times New Roman" pitchFamily="18" charset="0"/>
              </a:rPr>
              <a:t>（</a:t>
            </a:r>
            <a:r>
              <a:rPr kumimoji="1" lang="en-US" altLang="zh-CN" sz="2400" dirty="0">
                <a:latin typeface="Times New Roman" pitchFamily="18" charset="0"/>
              </a:rPr>
              <a:t>a,</a:t>
            </a:r>
            <a:r>
              <a:rPr kumimoji="1" lang="zh-CN" altLang="en-US" sz="2400" dirty="0">
                <a:latin typeface="Times New Roman" pitchFamily="18" charset="0"/>
              </a:rPr>
              <a:t>（</a:t>
            </a:r>
            <a:r>
              <a:rPr kumimoji="1" lang="en-US" altLang="zh-CN" sz="2400" dirty="0">
                <a:latin typeface="Times New Roman" pitchFamily="18" charset="0"/>
              </a:rPr>
              <a:t>a,</a:t>
            </a:r>
            <a:r>
              <a:rPr kumimoji="1" lang="zh-CN" altLang="en-US" sz="2400" dirty="0">
                <a:latin typeface="Times New Roman" pitchFamily="18" charset="0"/>
              </a:rPr>
              <a:t>（</a:t>
            </a:r>
            <a:r>
              <a:rPr kumimoji="1" lang="en-US" altLang="zh-CN" sz="2400" dirty="0">
                <a:latin typeface="Times New Roman" pitchFamily="18" charset="0"/>
              </a:rPr>
              <a:t>a,……</a:t>
            </a:r>
            <a:r>
              <a:rPr kumimoji="1" lang="zh-CN" altLang="en-US" sz="2400" dirty="0">
                <a:latin typeface="Times New Roman" pitchFamily="18" charset="0"/>
              </a:rPr>
              <a:t>））））。</a:t>
            </a:r>
          </a:p>
        </p:txBody>
      </p:sp>
    </p:spTree>
    <p:extLst>
      <p:ext uri="{BB962C8B-B14F-4D97-AF65-F5344CB8AC3E}">
        <p14:creationId xmlns:p14="http://schemas.microsoft.com/office/powerpoint/2010/main" val="36963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第四章 数组和广义表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数组的类型定义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数组的顺序表示和实现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矩阵的压缩存储 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4.4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宋体" charset="-122"/>
              </a:rPr>
              <a:t>广义表的类型定义</a:t>
            </a: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 </a:t>
            </a:r>
            <a:r>
              <a:rPr kumimoji="1" lang="en-US" altLang="zh-CN" b="1" dirty="0">
                <a:solidFill>
                  <a:srgbClr val="0000FF"/>
                </a:solidFill>
                <a:latin typeface="Arial" charset="0"/>
                <a:ea typeface="宋体" charset="-122"/>
              </a:rPr>
              <a:t>4.5  </a:t>
            </a:r>
            <a:r>
              <a:rPr kumimoji="1" lang="zh-CN" altLang="en-US" b="1" dirty="0">
                <a:solidFill>
                  <a:srgbClr val="0000FF"/>
                </a:solidFill>
                <a:latin typeface="Arial" charset="0"/>
                <a:ea typeface="宋体" charset="-122"/>
              </a:rPr>
              <a:t>广义表的存储结构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0F642-5101-4360-A414-992FF0E60EB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42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425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4.5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广义表表示方法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4295-B097-4E23-BD4F-8FB529BA81E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43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706437" y="1982788"/>
            <a:ext cx="4513263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广义表从结构上可以分解成</a:t>
            </a: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681037" y="2716213"/>
            <a:ext cx="492918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广义表 </a:t>
            </a:r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= 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表头 </a:t>
            </a:r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+ 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表尾   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52475" y="3800475"/>
            <a:ext cx="683895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广义表 </a:t>
            </a:r>
            <a:r>
              <a:rPr lang="en-US" altLang="zh-CN" sz="3200">
                <a:latin typeface="楷体_GB2312" pitchFamily="49" charset="-122"/>
                <a:ea typeface="楷体_GB2312" pitchFamily="49" charset="-122"/>
              </a:rPr>
              <a:t>= </a:t>
            </a: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子表</a:t>
            </a:r>
            <a:r>
              <a:rPr lang="en-US" altLang="zh-CN" sz="3200">
                <a:ea typeface="楷体_GB2312" pitchFamily="49" charset="-122"/>
              </a:rPr>
              <a:t>1 + </a:t>
            </a:r>
            <a:r>
              <a:rPr lang="zh-CN" altLang="en-US" sz="3200">
                <a:ea typeface="楷体_GB2312" pitchFamily="49" charset="-122"/>
              </a:rPr>
              <a:t>子表</a:t>
            </a:r>
            <a:r>
              <a:rPr lang="en-US" altLang="zh-CN" sz="3200">
                <a:ea typeface="楷体_GB2312" pitchFamily="49" charset="-122"/>
              </a:rPr>
              <a:t>2 +  ··· + </a:t>
            </a:r>
            <a:r>
              <a:rPr lang="zh-CN" altLang="en-US" sz="3200">
                <a:ea typeface="楷体_GB2312" pitchFamily="49" charset="-122"/>
              </a:rPr>
              <a:t>子表</a:t>
            </a:r>
            <a:r>
              <a:rPr lang="en-US" altLang="zh-CN" sz="3200">
                <a:ea typeface="楷体_GB2312" pitchFamily="49" charset="-122"/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0375" y="2787650"/>
            <a:ext cx="3070225" cy="695325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Constantia"/>
                <a:ea typeface="宋体"/>
                <a:cs typeface="+mn-cs"/>
              </a:rPr>
              <a:t>表头、表尾分析法</a:t>
            </a:r>
          </a:p>
        </p:txBody>
      </p:sp>
      <p:sp>
        <p:nvSpPr>
          <p:cNvPr id="18" name="右箭头 17"/>
          <p:cNvSpPr>
            <a:spLocks noChangeArrowheads="1"/>
          </p:cNvSpPr>
          <p:nvPr/>
        </p:nvSpPr>
        <p:spPr bwMode="auto">
          <a:xfrm>
            <a:off x="5038725" y="3073400"/>
            <a:ext cx="500062" cy="142875"/>
          </a:xfrm>
          <a:prstGeom prst="rightArrow">
            <a:avLst>
              <a:gd name="adj1" fmla="val 50000"/>
              <a:gd name="adj2" fmla="val 50005"/>
            </a:avLst>
          </a:prstGeom>
          <a:noFill/>
          <a:ln w="9525" algn="ctr">
            <a:solidFill>
              <a:srgbClr val="0707F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533400" indent="-5334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533400" marR="0" lvl="0" indent="-53340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95787" y="4930775"/>
            <a:ext cx="1987550" cy="631825"/>
          </a:xfrm>
          <a:prstGeom prst="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/>
                <a:ea typeface="宋体"/>
                <a:cs typeface="+mn-cs"/>
              </a:rPr>
              <a:t>子表分析法</a:t>
            </a:r>
          </a:p>
        </p:txBody>
      </p:sp>
      <p:sp>
        <p:nvSpPr>
          <p:cNvPr id="20" name="右箭头 19"/>
          <p:cNvSpPr>
            <a:spLocks noChangeArrowheads="1"/>
          </p:cNvSpPr>
          <p:nvPr/>
        </p:nvSpPr>
        <p:spPr bwMode="auto">
          <a:xfrm rot="5400000">
            <a:off x="5191124" y="4502151"/>
            <a:ext cx="633413" cy="214312"/>
          </a:xfrm>
          <a:prstGeom prst="rightArrow">
            <a:avLst>
              <a:gd name="adj1" fmla="val 50000"/>
              <a:gd name="adj2" fmla="val 49998"/>
            </a:avLst>
          </a:prstGeom>
          <a:noFill/>
          <a:ln w="9525" algn="ctr">
            <a:solidFill>
              <a:srgbClr val="0707F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533400" indent="-5334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533400" marR="0" lvl="0" indent="-53340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6878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  <p:bldP spid="17" grpId="0" animBg="1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4.5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表头、表尾分析法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3FE86-BAC2-494D-851D-FBA3D8443CF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44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766763" y="1893887"/>
            <a:ext cx="7119937" cy="557213"/>
          </a:xfrm>
          <a:prstGeom prst="rect">
            <a:avLst/>
          </a:prstGeom>
          <a:noFill/>
          <a:ln w="38100" cmpd="dbl" algn="ctr">
            <a:solidFill>
              <a:srgbClr val="0F6FC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广义表通常采用头、尾指针的链表结构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685800" y="2806700"/>
            <a:ext cx="2374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latin typeface="宋体" charset="-122"/>
              </a:rPr>
              <a:t>表结点</a:t>
            </a:r>
            <a:r>
              <a:rPr kumimoji="1" lang="en-US" altLang="zh-CN">
                <a:latin typeface="宋体" charset="-122"/>
              </a:rPr>
              <a:t>:</a:t>
            </a:r>
            <a:endParaRPr kumimoji="1" lang="zh-CN" altLang="en-US">
              <a:latin typeface="宋体" charset="-122"/>
            </a:endParaRPr>
          </a:p>
        </p:txBody>
      </p:sp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685800" y="3622675"/>
            <a:ext cx="2374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latin typeface="宋体" charset="-122"/>
              </a:rPr>
              <a:t>原子结点：</a:t>
            </a:r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757238" y="4486275"/>
            <a:ext cx="7273925" cy="1838325"/>
          </a:xfrm>
          <a:prstGeom prst="rect">
            <a:avLst/>
          </a:prstGeom>
          <a:noFill/>
          <a:ln w="38100" cmpd="dbl" algn="ctr">
            <a:solidFill>
              <a:srgbClr val="0F6FC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对于每一个结点，若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tag=0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表示这是一个原子结点，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atom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域存放该原子的值。若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tag=1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表示这是一个表结点，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hp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指向子表头，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tp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rPr>
              <a:t>指向广义表的下一个</a:t>
            </a:r>
          </a:p>
        </p:txBody>
      </p:sp>
      <p:grpSp>
        <p:nvGrpSpPr>
          <p:cNvPr id="25" name="组合 19"/>
          <p:cNvGrpSpPr>
            <a:grpSpLocks/>
          </p:cNvGrpSpPr>
          <p:nvPr/>
        </p:nvGrpSpPr>
        <p:grpSpPr bwMode="auto">
          <a:xfrm>
            <a:off x="3503613" y="2765425"/>
            <a:ext cx="2184400" cy="714375"/>
            <a:chOff x="4126006" y="2963859"/>
            <a:chExt cx="2184316" cy="714380"/>
          </a:xfrm>
        </p:grpSpPr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4126006" y="2963859"/>
              <a:ext cx="2184316" cy="695330"/>
            </a:xfrm>
            <a:prstGeom prst="rect">
              <a:avLst/>
            </a:prstGeom>
            <a:solidFill>
              <a:srgbClr val="009DD9">
                <a:lumMod val="20000"/>
                <a:lumOff val="80000"/>
              </a:srgbClr>
            </a:solidFill>
            <a:ln w="19050">
              <a:solidFill>
                <a:srgbClr val="0707F9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707F9"/>
                  </a:solidFill>
                  <a:effectLst/>
                  <a:uLnTx/>
                  <a:uFillTx/>
                  <a:latin typeface="Times New Roman"/>
                  <a:ea typeface="楷体_GB2312" pitchFamily="49" charset="-122"/>
                </a:rPr>
                <a:t>tag=1  hp  </a:t>
              </a:r>
              <a:r>
                <a:rPr kumimoji="0" lang="en-US" altLang="zh-CN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707F9"/>
                  </a:solidFill>
                  <a:effectLst/>
                  <a:uLnTx/>
                  <a:uFillTx/>
                  <a:latin typeface="Times New Roman"/>
                  <a:ea typeface="楷体_GB2312" pitchFamily="49" charset="-122"/>
                </a:rPr>
                <a:t>tp</a:t>
              </a:r>
              <a:endPara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Times New Roman"/>
                <a:ea typeface="楷体_GB2312" pitchFamily="49" charset="-122"/>
              </a:endParaRPr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5121330" y="2963859"/>
              <a:ext cx="0" cy="714380"/>
            </a:xfrm>
            <a:prstGeom prst="line">
              <a:avLst/>
            </a:prstGeom>
            <a:noFill/>
            <a:ln w="9525">
              <a:solidFill>
                <a:srgbClr val="0707F9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</a:endParaRPr>
            </a:p>
          </p:txBody>
        </p:sp>
        <p:cxnSp>
          <p:nvCxnSpPr>
            <p:cNvPr id="28" name="直接连接符 30"/>
            <p:cNvCxnSpPr>
              <a:cxnSpLocks noChangeShapeType="1"/>
            </p:cNvCxnSpPr>
            <p:nvPr/>
          </p:nvCxnSpPr>
          <p:spPr bwMode="auto">
            <a:xfrm rot="5400000">
              <a:off x="5418141" y="3321843"/>
              <a:ext cx="642148" cy="794"/>
            </a:xfrm>
            <a:prstGeom prst="line">
              <a:avLst/>
            </a:prstGeom>
            <a:noFill/>
            <a:ln w="9525" algn="ctr">
              <a:solidFill>
                <a:srgbClr val="0707F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" name="组合 20"/>
          <p:cNvGrpSpPr>
            <a:grpSpLocks/>
          </p:cNvGrpSpPr>
          <p:nvPr/>
        </p:nvGrpSpPr>
        <p:grpSpPr bwMode="auto">
          <a:xfrm>
            <a:off x="3595688" y="3622675"/>
            <a:ext cx="1908175" cy="696912"/>
            <a:chOff x="4140294" y="4411659"/>
            <a:chExt cx="1907895" cy="696368"/>
          </a:xfrm>
        </p:grpSpPr>
        <p:sp>
          <p:nvSpPr>
            <p:cNvPr id="30" name="Rectangle 20"/>
            <p:cNvSpPr>
              <a:spLocks noChangeArrowheads="1"/>
            </p:cNvSpPr>
            <p:nvPr/>
          </p:nvSpPr>
          <p:spPr bwMode="auto">
            <a:xfrm>
              <a:off x="4140294" y="4411659"/>
              <a:ext cx="1907895" cy="696368"/>
            </a:xfrm>
            <a:prstGeom prst="rect">
              <a:avLst/>
            </a:prstGeom>
            <a:solidFill>
              <a:srgbClr val="009DD9">
                <a:lumMod val="20000"/>
                <a:lumOff val="80000"/>
              </a:srgbClr>
            </a:solidFill>
            <a:ln w="19050">
              <a:solidFill>
                <a:srgbClr val="0707F9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707F9"/>
                  </a:solidFill>
                  <a:effectLst/>
                  <a:uLnTx/>
                  <a:uFillTx/>
                  <a:latin typeface="Times New Roman"/>
                  <a:ea typeface="楷体_GB2312" pitchFamily="49" charset="-122"/>
                </a:rPr>
                <a:t>tag=0  data</a:t>
              </a:r>
            </a:p>
          </p:txBody>
        </p:sp>
        <p:cxnSp>
          <p:nvCxnSpPr>
            <p:cNvPr id="31" name="直接连接符 33"/>
            <p:cNvCxnSpPr>
              <a:cxnSpLocks noChangeShapeType="1"/>
              <a:stCxn id="30" idx="0"/>
              <a:endCxn id="30" idx="2"/>
            </p:cNvCxnSpPr>
            <p:nvPr/>
          </p:nvCxnSpPr>
          <p:spPr bwMode="auto">
            <a:xfrm rot="16200000" flipH="1">
              <a:off x="4746454" y="4759446"/>
              <a:ext cx="695575" cy="1588"/>
            </a:xfrm>
            <a:prstGeom prst="line">
              <a:avLst/>
            </a:prstGeom>
            <a:noFill/>
            <a:ln w="9525" algn="ctr">
              <a:solidFill>
                <a:srgbClr val="0707F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2" name="AutoShape 4">
            <a:hlinkClick r:id="rId4" action="ppaction://hlinkfile"/>
          </p:cNvPr>
          <p:cNvSpPr>
            <a:spLocks noChangeArrowheads="1"/>
          </p:cNvSpPr>
          <p:nvPr/>
        </p:nvSpPr>
        <p:spPr bwMode="auto">
          <a:xfrm>
            <a:off x="6767535" y="2327274"/>
            <a:ext cx="2093919" cy="93821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9DD9">
              <a:lumMod val="20000"/>
              <a:lumOff val="80000"/>
            </a:srgbClr>
          </a:soli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/>
                <a:ea typeface="宋体"/>
                <a:cs typeface="+mn-cs"/>
              </a:rPr>
              <a:t>图示</a:t>
            </a:r>
          </a:p>
        </p:txBody>
      </p:sp>
      <p:sp>
        <p:nvSpPr>
          <p:cNvPr id="33" name="AutoShape 4">
            <a:hlinkClick r:id="rId5" action="ppaction://hlinkfile"/>
          </p:cNvPr>
          <p:cNvSpPr>
            <a:spLocks noChangeArrowheads="1"/>
          </p:cNvSpPr>
          <p:nvPr/>
        </p:nvSpPr>
        <p:spPr bwMode="auto">
          <a:xfrm>
            <a:off x="6910411" y="3479798"/>
            <a:ext cx="1951043" cy="93821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9DD9">
              <a:lumMod val="20000"/>
              <a:lumOff val="80000"/>
            </a:srgbClr>
          </a:soli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/>
                <a:ea typeface="宋体"/>
                <a:cs typeface="+mn-cs"/>
              </a:rPr>
              <a:t>举例</a:t>
            </a:r>
          </a:p>
        </p:txBody>
      </p:sp>
    </p:spTree>
    <p:extLst>
      <p:ext uri="{BB962C8B-B14F-4D97-AF65-F5344CB8AC3E}">
        <p14:creationId xmlns:p14="http://schemas.microsoft.com/office/powerpoint/2010/main" val="158912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3" grpId="0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4.5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表头、表尾分析法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35A50-3CC4-40D5-9D85-B66F0D68A11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45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34" name="Text Box 2"/>
          <p:cNvSpPr txBox="1">
            <a:spLocks noChangeArrowheads="1"/>
          </p:cNvSpPr>
          <p:nvPr/>
        </p:nvSpPr>
        <p:spPr bwMode="auto">
          <a:xfrm>
            <a:off x="446087" y="2057400"/>
            <a:ext cx="3786188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1)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表头、表尾分析法：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5" name="Line 9"/>
          <p:cNvSpPr>
            <a:spLocks noChangeShapeType="1"/>
          </p:cNvSpPr>
          <p:nvPr/>
        </p:nvSpPr>
        <p:spPr bwMode="auto">
          <a:xfrm>
            <a:off x="2471737" y="4419600"/>
            <a:ext cx="990600" cy="0"/>
          </a:xfrm>
          <a:prstGeom prst="line">
            <a:avLst/>
          </a:prstGeom>
          <a:noFill/>
          <a:ln w="25400">
            <a:solidFill>
              <a:srgbClr val="9933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</a:pPr>
            <a:endParaRPr lang="zh-CN" altLang="en-US" sz="2800" b="1">
              <a:solidFill>
                <a:srgbClr val="0000FF"/>
              </a:solidFill>
              <a:latin typeface="Constantia" pitchFamily="18" charset="0"/>
            </a:endParaRPr>
          </a:p>
        </p:txBody>
      </p:sp>
      <p:sp>
        <p:nvSpPr>
          <p:cNvPr id="36" name="Text Box 22"/>
          <p:cNvSpPr txBox="1">
            <a:spLocks noChangeArrowheads="1"/>
          </p:cNvSpPr>
          <p:nvPr/>
        </p:nvSpPr>
        <p:spPr bwMode="auto">
          <a:xfrm>
            <a:off x="931862" y="2940050"/>
            <a:ext cx="2505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>
                <a:solidFill>
                  <a:srgbClr val="9933FF"/>
                </a:solidFill>
                <a:ea typeface="楷体_GB2312" pitchFamily="49" charset="-122"/>
              </a:rPr>
              <a:t>空表 </a:t>
            </a:r>
            <a:r>
              <a:rPr lang="zh-CN" altLang="en-US">
                <a:ea typeface="楷体_GB2312" pitchFamily="49" charset="-122"/>
              </a:rPr>
              <a:t>     </a:t>
            </a:r>
            <a:r>
              <a:rPr lang="en-US" altLang="zh-CN" i="1">
                <a:solidFill>
                  <a:srgbClr val="9933FF"/>
                </a:solidFill>
                <a:ea typeface="楷体_GB2312" pitchFamily="49" charset="-122"/>
              </a:rPr>
              <a:t>ls=NIL</a:t>
            </a:r>
            <a:endParaRPr lang="en-US" altLang="zh-CN">
              <a:ea typeface="楷体_GB2312" pitchFamily="49" charset="-122"/>
            </a:endParaRPr>
          </a:p>
        </p:txBody>
      </p:sp>
      <p:sp>
        <p:nvSpPr>
          <p:cNvPr id="37" name="Text Box 23"/>
          <p:cNvSpPr txBox="1">
            <a:spLocks noChangeArrowheads="1"/>
          </p:cNvSpPr>
          <p:nvPr/>
        </p:nvSpPr>
        <p:spPr bwMode="auto">
          <a:xfrm>
            <a:off x="931862" y="3778250"/>
            <a:ext cx="17176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>
                <a:solidFill>
                  <a:srgbClr val="9933FF"/>
                </a:solidFill>
                <a:ea typeface="楷体_GB2312" pitchFamily="49" charset="-122"/>
              </a:rPr>
              <a:t>非空表  </a:t>
            </a:r>
            <a:r>
              <a:rPr lang="en-US" altLang="zh-CN" i="1">
                <a:solidFill>
                  <a:srgbClr val="9933FF"/>
                </a:solidFill>
                <a:ea typeface="楷体_GB2312" pitchFamily="49" charset="-122"/>
              </a:rPr>
              <a:t>ls</a:t>
            </a:r>
            <a:endParaRPr lang="en-US" altLang="zh-CN">
              <a:ea typeface="楷体_GB2312" pitchFamily="49" charset="-122"/>
            </a:endParaRPr>
          </a:p>
        </p:txBody>
      </p:sp>
      <p:sp>
        <p:nvSpPr>
          <p:cNvPr id="38" name="Rectangle 25"/>
          <p:cNvSpPr>
            <a:spLocks noChangeArrowheads="1"/>
          </p:cNvSpPr>
          <p:nvPr/>
        </p:nvSpPr>
        <p:spPr bwMode="auto">
          <a:xfrm>
            <a:off x="3462337" y="4038600"/>
            <a:ext cx="2667000" cy="695575"/>
          </a:xfrm>
          <a:prstGeom prst="rect">
            <a:avLst/>
          </a:prstGeom>
          <a:solidFill>
            <a:srgbClr val="99CCFF"/>
          </a:solidFill>
          <a:ln w="19050">
            <a:solidFill>
              <a:srgbClr val="009DD9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楷体_GB2312" pitchFamily="49" charset="-122"/>
              </a:rPr>
              <a:t>tag=1            </a:t>
            </a:r>
          </a:p>
        </p:txBody>
      </p:sp>
      <p:sp>
        <p:nvSpPr>
          <p:cNvPr id="39" name="Line 26"/>
          <p:cNvSpPr>
            <a:spLocks noChangeShapeType="1"/>
          </p:cNvSpPr>
          <p:nvPr/>
        </p:nvSpPr>
        <p:spPr bwMode="auto">
          <a:xfrm>
            <a:off x="4757737" y="4038600"/>
            <a:ext cx="0" cy="685800"/>
          </a:xfrm>
          <a:prstGeom prst="line">
            <a:avLst/>
          </a:prstGeom>
          <a:noFill/>
          <a:ln w="9525">
            <a:solidFill>
              <a:srgbClr val="009D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40" name="Line 27"/>
          <p:cNvSpPr>
            <a:spLocks noChangeShapeType="1"/>
          </p:cNvSpPr>
          <p:nvPr/>
        </p:nvSpPr>
        <p:spPr bwMode="auto">
          <a:xfrm>
            <a:off x="5443537" y="4038600"/>
            <a:ext cx="0" cy="685800"/>
          </a:xfrm>
          <a:prstGeom prst="line">
            <a:avLst/>
          </a:prstGeom>
          <a:noFill/>
          <a:ln w="9525">
            <a:solidFill>
              <a:srgbClr val="009D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41" name="Line 28"/>
          <p:cNvSpPr>
            <a:spLocks noChangeShapeType="1"/>
          </p:cNvSpPr>
          <p:nvPr/>
        </p:nvSpPr>
        <p:spPr bwMode="auto">
          <a:xfrm>
            <a:off x="5062537" y="4419600"/>
            <a:ext cx="0" cy="5334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</a:pPr>
            <a:endParaRPr lang="zh-CN" altLang="en-US" sz="2800" b="1">
              <a:solidFill>
                <a:srgbClr val="0000FF"/>
              </a:solidFill>
              <a:latin typeface="Constantia" pitchFamily="18" charset="0"/>
            </a:endParaRPr>
          </a:p>
        </p:txBody>
      </p:sp>
      <p:sp>
        <p:nvSpPr>
          <p:cNvPr id="42" name="Line 29"/>
          <p:cNvSpPr>
            <a:spLocks noChangeShapeType="1"/>
          </p:cNvSpPr>
          <p:nvPr/>
        </p:nvSpPr>
        <p:spPr bwMode="auto">
          <a:xfrm>
            <a:off x="5824537" y="4419600"/>
            <a:ext cx="609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</a:pPr>
            <a:endParaRPr lang="zh-CN" altLang="en-US" sz="2800" b="1">
              <a:solidFill>
                <a:srgbClr val="0000FF"/>
              </a:solidFill>
              <a:latin typeface="Constantia" pitchFamily="18" charset="0"/>
            </a:endParaRPr>
          </a:p>
        </p:txBody>
      </p:sp>
      <p:sp>
        <p:nvSpPr>
          <p:cNvPr id="43" name="Text Box 30"/>
          <p:cNvSpPr txBox="1">
            <a:spLocks noChangeArrowheads="1"/>
          </p:cNvSpPr>
          <p:nvPr/>
        </p:nvSpPr>
        <p:spPr bwMode="auto">
          <a:xfrm>
            <a:off x="3933825" y="4986338"/>
            <a:ext cx="2709862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>
                <a:ea typeface="隶书" pitchFamily="49" charset="-122"/>
              </a:rPr>
              <a:t>指向表头的指针</a:t>
            </a:r>
          </a:p>
        </p:txBody>
      </p:sp>
      <p:sp>
        <p:nvSpPr>
          <p:cNvPr id="44" name="Text Box 31"/>
          <p:cNvSpPr txBox="1">
            <a:spLocks noChangeArrowheads="1"/>
          </p:cNvSpPr>
          <p:nvPr/>
        </p:nvSpPr>
        <p:spPr bwMode="auto">
          <a:xfrm>
            <a:off x="6129337" y="3810000"/>
            <a:ext cx="2709863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>
                <a:ea typeface="隶书" pitchFamily="49" charset="-122"/>
              </a:rPr>
              <a:t>指向表尾的指针</a:t>
            </a:r>
          </a:p>
        </p:txBody>
      </p:sp>
    </p:spTree>
    <p:extLst>
      <p:ext uri="{BB962C8B-B14F-4D97-AF65-F5344CB8AC3E}">
        <p14:creationId xmlns:p14="http://schemas.microsoft.com/office/powerpoint/2010/main" val="158564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5" grpId="0" animBg="1"/>
      <p:bldP spid="36" grpId="0" autoUpdateAnimBg="0"/>
      <p:bldP spid="37" grpId="0" autoUpdateAnimBg="0"/>
      <p:bldP spid="38" grpId="0" animBg="1" autoUpdateAnimBg="0"/>
      <p:bldP spid="39" grpId="0" animBg="1"/>
      <p:bldP spid="40" grpId="0" animBg="1"/>
      <p:bldP spid="41" grpId="0" animBg="1"/>
      <p:bldP spid="42" grpId="0" animBg="1"/>
      <p:bldP spid="43" grpId="0" autoUpdateAnimBg="0"/>
      <p:bldP spid="44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4.5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表头、表尾分析法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F1142-8784-4A00-8258-8D627406C81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46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3" name="Text Box 1026"/>
          <p:cNvSpPr txBox="1">
            <a:spLocks noChangeArrowheads="1"/>
          </p:cNvSpPr>
          <p:nvPr/>
        </p:nvSpPr>
        <p:spPr bwMode="auto">
          <a:xfrm>
            <a:off x="784225" y="1748135"/>
            <a:ext cx="81311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003300"/>
              </a:buClr>
              <a:buSzPct val="95000"/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3300"/>
                </a:solidFill>
                <a:latin typeface="宋体" charset="-122"/>
              </a:rPr>
              <a:t>如何由子表组合成一个广义表？</a:t>
            </a:r>
          </a:p>
        </p:txBody>
      </p:sp>
      <p:sp>
        <p:nvSpPr>
          <p:cNvPr id="24" name="Text Box 1027"/>
          <p:cNvSpPr txBox="1">
            <a:spLocks noChangeArrowheads="1"/>
          </p:cNvSpPr>
          <p:nvPr/>
        </p:nvSpPr>
        <p:spPr bwMode="auto">
          <a:xfrm>
            <a:off x="533400" y="2281535"/>
            <a:ext cx="81311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 dirty="0">
                <a:solidFill>
                  <a:srgbClr val="0707F9"/>
                </a:solidFill>
                <a:latin typeface="宋体" charset="-122"/>
              </a:rPr>
              <a:t>    </a:t>
            </a:r>
            <a:r>
              <a:rPr lang="zh-CN" altLang="en-US" sz="2400" dirty="0">
                <a:solidFill>
                  <a:srgbClr val="0707F9"/>
                </a:solidFill>
                <a:latin typeface="宋体" charset="-122"/>
              </a:rPr>
              <a:t>首先分析广义表和子表在存储结构中的关系。</a:t>
            </a:r>
          </a:p>
        </p:txBody>
      </p:sp>
      <p:sp>
        <p:nvSpPr>
          <p:cNvPr id="25" name="Text Box 1028"/>
          <p:cNvSpPr txBox="1">
            <a:spLocks noChangeArrowheads="1"/>
          </p:cNvSpPr>
          <p:nvPr/>
        </p:nvSpPr>
        <p:spPr bwMode="auto">
          <a:xfrm>
            <a:off x="533400" y="2722562"/>
            <a:ext cx="81311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2400">
                <a:solidFill>
                  <a:srgbClr val="0707F9"/>
                </a:solidFill>
                <a:latin typeface="宋体" charset="-122"/>
              </a:rPr>
              <a:t>先看第一个子表和广义表的关系</a:t>
            </a:r>
            <a:r>
              <a:rPr lang="en-US" altLang="zh-CN" sz="2400">
                <a:solidFill>
                  <a:srgbClr val="0707F9"/>
                </a:solidFill>
                <a:latin typeface="宋体" charset="-122"/>
              </a:rPr>
              <a:t>:</a:t>
            </a:r>
          </a:p>
        </p:txBody>
      </p:sp>
      <p:sp>
        <p:nvSpPr>
          <p:cNvPr id="26" name="Line 1029"/>
          <p:cNvSpPr>
            <a:spLocks noChangeShapeType="1"/>
          </p:cNvSpPr>
          <p:nvPr/>
        </p:nvSpPr>
        <p:spPr bwMode="auto">
          <a:xfrm>
            <a:off x="2895600" y="4691062"/>
            <a:ext cx="990600" cy="0"/>
          </a:xfrm>
          <a:prstGeom prst="line">
            <a:avLst/>
          </a:prstGeom>
          <a:noFill/>
          <a:ln w="38100">
            <a:solidFill>
              <a:srgbClr val="0707F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</a:pPr>
            <a:endParaRPr lang="zh-CN" altLang="en-US" sz="2800" b="1">
              <a:solidFill>
                <a:srgbClr val="0000FF"/>
              </a:solidFill>
              <a:latin typeface="Constantia" pitchFamily="18" charset="0"/>
            </a:endParaRPr>
          </a:p>
        </p:txBody>
      </p:sp>
      <p:sp>
        <p:nvSpPr>
          <p:cNvPr id="27" name="Rectangle 1030"/>
          <p:cNvSpPr>
            <a:spLocks noChangeArrowheads="1"/>
          </p:cNvSpPr>
          <p:nvPr/>
        </p:nvSpPr>
        <p:spPr bwMode="auto">
          <a:xfrm>
            <a:off x="3886200" y="4278312"/>
            <a:ext cx="1752600" cy="523875"/>
          </a:xfrm>
          <a:prstGeom prst="rect">
            <a:avLst/>
          </a:prstGeom>
          <a:solidFill>
            <a:srgbClr val="99CCFF"/>
          </a:solidFill>
          <a:ln w="19050">
            <a:solidFill>
              <a:srgbClr val="009DD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宋体" charset="-122"/>
                <a:ea typeface="宋体" charset="-122"/>
              </a:rPr>
              <a:t> 1           </a:t>
            </a:r>
          </a:p>
        </p:txBody>
      </p:sp>
      <p:sp>
        <p:nvSpPr>
          <p:cNvPr id="28" name="Line 1031"/>
          <p:cNvSpPr>
            <a:spLocks noChangeShapeType="1"/>
          </p:cNvSpPr>
          <p:nvPr/>
        </p:nvSpPr>
        <p:spPr bwMode="auto">
          <a:xfrm>
            <a:off x="4495800" y="4278312"/>
            <a:ext cx="0" cy="685800"/>
          </a:xfrm>
          <a:prstGeom prst="line">
            <a:avLst/>
          </a:prstGeom>
          <a:noFill/>
          <a:ln w="9525">
            <a:solidFill>
              <a:srgbClr val="009D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29" name="Line 1032"/>
          <p:cNvSpPr>
            <a:spLocks noChangeShapeType="1"/>
          </p:cNvSpPr>
          <p:nvPr/>
        </p:nvSpPr>
        <p:spPr bwMode="auto">
          <a:xfrm>
            <a:off x="5105400" y="4278312"/>
            <a:ext cx="0" cy="685800"/>
          </a:xfrm>
          <a:prstGeom prst="line">
            <a:avLst/>
          </a:prstGeom>
          <a:noFill/>
          <a:ln w="9525">
            <a:solidFill>
              <a:srgbClr val="009DD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30" name="Line 1033"/>
          <p:cNvSpPr>
            <a:spLocks noChangeShapeType="1"/>
          </p:cNvSpPr>
          <p:nvPr/>
        </p:nvSpPr>
        <p:spPr bwMode="auto">
          <a:xfrm>
            <a:off x="4800600" y="4691062"/>
            <a:ext cx="0" cy="882650"/>
          </a:xfrm>
          <a:prstGeom prst="line">
            <a:avLst/>
          </a:prstGeom>
          <a:noFill/>
          <a:ln w="38100">
            <a:solidFill>
              <a:srgbClr val="0707F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</a:pPr>
            <a:endParaRPr lang="zh-CN" altLang="en-US" sz="2800" b="1">
              <a:solidFill>
                <a:srgbClr val="0000FF"/>
              </a:solidFill>
              <a:latin typeface="Constantia" pitchFamily="18" charset="0"/>
            </a:endParaRPr>
          </a:p>
        </p:txBody>
      </p:sp>
      <p:sp>
        <p:nvSpPr>
          <p:cNvPr id="31" name="Rectangle 1035"/>
          <p:cNvSpPr>
            <a:spLocks noChangeArrowheads="1"/>
          </p:cNvSpPr>
          <p:nvPr/>
        </p:nvSpPr>
        <p:spPr bwMode="auto">
          <a:xfrm>
            <a:off x="2787650" y="4125912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i="1">
                <a:solidFill>
                  <a:srgbClr val="0707F9"/>
                </a:solidFill>
                <a:latin typeface="宋体" charset="-122"/>
              </a:rPr>
              <a:t>L</a:t>
            </a:r>
          </a:p>
        </p:txBody>
      </p:sp>
      <p:sp>
        <p:nvSpPr>
          <p:cNvPr id="32" name="AutoShape 1036"/>
          <p:cNvSpPr>
            <a:spLocks noChangeArrowheads="1"/>
          </p:cNvSpPr>
          <p:nvPr/>
        </p:nvSpPr>
        <p:spPr bwMode="auto">
          <a:xfrm>
            <a:off x="152400" y="3211512"/>
            <a:ext cx="2362200" cy="914400"/>
          </a:xfrm>
          <a:prstGeom prst="wedgeRoundRectCallout">
            <a:avLst>
              <a:gd name="adj1" fmla="val 63509"/>
              <a:gd name="adj2" fmla="val 82986"/>
              <a:gd name="adj3" fmla="val 16667"/>
            </a:avLst>
          </a:prstGeom>
          <a:solidFill>
            <a:srgbClr val="009DD9">
              <a:lumMod val="20000"/>
              <a:lumOff val="80000"/>
            </a:srgbClr>
          </a:solidFill>
          <a:ln w="9525">
            <a:solidFill>
              <a:srgbClr val="0707F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宋体" pitchFamily="2" charset="-122"/>
              </a:rPr>
              <a:t>指向广义表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宋体" pitchFamily="2" charset="-122"/>
              </a:rPr>
              <a:t>的头指针</a:t>
            </a:r>
          </a:p>
        </p:txBody>
      </p:sp>
      <p:sp>
        <p:nvSpPr>
          <p:cNvPr id="33" name="AutoShape 1037"/>
          <p:cNvSpPr>
            <a:spLocks noChangeArrowheads="1"/>
          </p:cNvSpPr>
          <p:nvPr/>
        </p:nvSpPr>
        <p:spPr bwMode="auto">
          <a:xfrm>
            <a:off x="6248400" y="4964112"/>
            <a:ext cx="2667000" cy="1219200"/>
          </a:xfrm>
          <a:prstGeom prst="wedgeRoundRectCallout">
            <a:avLst>
              <a:gd name="adj1" fmla="val -96606"/>
              <a:gd name="adj2" fmla="val -28125"/>
              <a:gd name="adj3" fmla="val 16667"/>
            </a:avLst>
          </a:prstGeom>
          <a:solidFill>
            <a:srgbClr val="009DD9">
              <a:lumMod val="20000"/>
              <a:lumOff val="80000"/>
            </a:srgbClr>
          </a:solidFill>
          <a:ln w="9525">
            <a:solidFill>
              <a:srgbClr val="0707F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宋体" pitchFamily="2" charset="-122"/>
              </a:rPr>
              <a:t>指向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A0202"/>
                </a:solidFill>
                <a:effectLst/>
                <a:uLnTx/>
                <a:uFillTx/>
                <a:latin typeface="宋体" pitchFamily="2" charset="-122"/>
              </a:rPr>
              <a:t>第一个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A0202"/>
                </a:solidFill>
                <a:effectLst/>
                <a:uLnTx/>
                <a:uFillTx/>
                <a:latin typeface="宋体" pitchFamily="2" charset="-122"/>
              </a:rPr>
              <a:t>子表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宋体" pitchFamily="2" charset="-122"/>
              </a:rPr>
              <a:t>的头指针</a:t>
            </a:r>
          </a:p>
        </p:txBody>
      </p:sp>
    </p:spTree>
    <p:extLst>
      <p:ext uri="{BB962C8B-B14F-4D97-AF65-F5344CB8AC3E}">
        <p14:creationId xmlns:p14="http://schemas.microsoft.com/office/powerpoint/2010/main" val="422390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4" grpId="0" autoUpdateAnimBg="0"/>
      <p:bldP spid="25" grpId="0" autoUpdateAnimBg="0"/>
      <p:bldP spid="26" grpId="0" animBg="1"/>
      <p:bldP spid="27" grpId="0" animBg="1" autoUpdateAnimBg="0"/>
      <p:bldP spid="28" grpId="0" animBg="1"/>
      <p:bldP spid="29" grpId="0" animBg="1"/>
      <p:bldP spid="30" grpId="0" animBg="1"/>
      <p:bldP spid="31" grpId="0" autoUpdateAnimBg="0"/>
      <p:bldP spid="32" grpId="0" animBg="1" autoUpdateAnimBg="0"/>
      <p:bldP spid="33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4.5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子表分析法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9E8D8-62C0-468D-B24E-EC3B270B37A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47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34" name="Text Box 4"/>
          <p:cNvSpPr txBox="1">
            <a:spLocks noChangeArrowheads="1"/>
          </p:cNvSpPr>
          <p:nvPr/>
        </p:nvSpPr>
        <p:spPr bwMode="auto">
          <a:xfrm>
            <a:off x="730250" y="5670751"/>
            <a:ext cx="2969083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707F9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若子表为原子，则为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707F9"/>
              </a:solidFill>
              <a:effectLst/>
              <a:uLnTx/>
              <a:uFillTx/>
            </a:endParaRPr>
          </a:p>
        </p:txBody>
      </p:sp>
      <p:sp>
        <p:nvSpPr>
          <p:cNvPr id="35" name="Text Box 5"/>
          <p:cNvSpPr txBox="1">
            <a:spLocks noChangeArrowheads="1"/>
          </p:cNvSpPr>
          <p:nvPr/>
        </p:nvSpPr>
        <p:spPr bwMode="auto">
          <a:xfrm>
            <a:off x="714375" y="2594828"/>
            <a:ext cx="2170787" cy="555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2400" dirty="0">
                <a:solidFill>
                  <a:srgbClr val="0707F9"/>
                </a:solidFill>
                <a:ea typeface="楷体_GB2312" pitchFamily="49" charset="-122"/>
              </a:rPr>
              <a:t>空表      </a:t>
            </a:r>
            <a:r>
              <a:rPr lang="en-US" altLang="zh-CN" sz="2400" i="1" dirty="0">
                <a:solidFill>
                  <a:srgbClr val="0707F9"/>
                </a:solidFill>
                <a:ea typeface="楷体_GB2312" pitchFamily="49" charset="-122"/>
              </a:rPr>
              <a:t>ls=NIL</a:t>
            </a:r>
            <a:endParaRPr lang="en-US" altLang="zh-CN" sz="2400" dirty="0">
              <a:solidFill>
                <a:srgbClr val="0707F9"/>
              </a:solidFill>
              <a:ea typeface="楷体_GB2312" pitchFamily="49" charset="-122"/>
            </a:endParaRPr>
          </a:p>
        </p:txBody>
      </p:sp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639795" y="3072665"/>
            <a:ext cx="1112805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2400" dirty="0">
                <a:solidFill>
                  <a:srgbClr val="0707F9"/>
                </a:solidFill>
                <a:ea typeface="楷体_GB2312" pitchFamily="49" charset="-122"/>
              </a:rPr>
              <a:t>非空表</a:t>
            </a:r>
          </a:p>
        </p:txBody>
      </p:sp>
      <p:grpSp>
        <p:nvGrpSpPr>
          <p:cNvPr id="37" name="组合 64"/>
          <p:cNvGrpSpPr>
            <a:grpSpLocks/>
          </p:cNvGrpSpPr>
          <p:nvPr/>
        </p:nvGrpSpPr>
        <p:grpSpPr bwMode="auto">
          <a:xfrm>
            <a:off x="3881439" y="5715202"/>
            <a:ext cx="1659429" cy="609398"/>
            <a:chOff x="3881430" y="5402276"/>
            <a:chExt cx="1659921" cy="609196"/>
          </a:xfrm>
        </p:grpSpPr>
        <p:sp>
          <p:nvSpPr>
            <p:cNvPr id="38" name="Rectangle 12"/>
            <p:cNvSpPr>
              <a:spLocks noChangeArrowheads="1"/>
            </p:cNvSpPr>
            <p:nvPr/>
          </p:nvSpPr>
          <p:spPr bwMode="auto">
            <a:xfrm>
              <a:off x="3881430" y="5402276"/>
              <a:ext cx="1659921" cy="609196"/>
            </a:xfrm>
            <a:prstGeom prst="rect">
              <a:avLst/>
            </a:prstGeom>
            <a:solidFill>
              <a:srgbClr val="009DD9">
                <a:lumMod val="20000"/>
                <a:lumOff val="80000"/>
              </a:srgbClr>
            </a:solidFill>
            <a:ln w="19050">
              <a:solidFill>
                <a:srgbClr val="0707F9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707F9"/>
                  </a:solidFill>
                  <a:effectLst/>
                  <a:uLnTx/>
                  <a:uFillTx/>
                  <a:latin typeface="Times New Roman"/>
                  <a:ea typeface="楷体_GB2312" pitchFamily="49" charset="-122"/>
                </a:rPr>
                <a:t>tag=0  data</a:t>
              </a:r>
            </a:p>
          </p:txBody>
        </p:sp>
        <p:sp>
          <p:nvSpPr>
            <p:cNvPr id="39" name="Line 13"/>
            <p:cNvSpPr>
              <a:spLocks noChangeShapeType="1"/>
            </p:cNvSpPr>
            <p:nvPr/>
          </p:nvSpPr>
          <p:spPr bwMode="auto">
            <a:xfrm>
              <a:off x="4810124" y="5429264"/>
              <a:ext cx="0" cy="571504"/>
            </a:xfrm>
            <a:prstGeom prst="line">
              <a:avLst/>
            </a:prstGeom>
            <a:noFill/>
            <a:ln w="9525">
              <a:solidFill>
                <a:srgbClr val="0707F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</p:grpSp>
      <p:grpSp>
        <p:nvGrpSpPr>
          <p:cNvPr id="40" name="组合 65"/>
          <p:cNvGrpSpPr>
            <a:grpSpLocks/>
          </p:cNvGrpSpPr>
          <p:nvPr/>
        </p:nvGrpSpPr>
        <p:grpSpPr bwMode="auto">
          <a:xfrm>
            <a:off x="349250" y="3548915"/>
            <a:ext cx="8032751" cy="1941516"/>
            <a:chOff x="349250" y="3273430"/>
            <a:chExt cx="8032775" cy="1941523"/>
          </a:xfrm>
        </p:grpSpPr>
        <p:sp>
          <p:nvSpPr>
            <p:cNvPr id="41" name="Line 3"/>
            <p:cNvSpPr>
              <a:spLocks noChangeShapeType="1"/>
            </p:cNvSpPr>
            <p:nvPr/>
          </p:nvSpPr>
          <p:spPr bwMode="auto">
            <a:xfrm>
              <a:off x="457200" y="3838580"/>
              <a:ext cx="990600" cy="0"/>
            </a:xfrm>
            <a:prstGeom prst="line">
              <a:avLst/>
            </a:prstGeom>
            <a:noFill/>
            <a:ln w="25400">
              <a:solidFill>
                <a:srgbClr val="0707F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1447803" y="3457581"/>
              <a:ext cx="1181738" cy="561374"/>
            </a:xfrm>
            <a:prstGeom prst="rect">
              <a:avLst/>
            </a:prstGeom>
            <a:solidFill>
              <a:srgbClr val="009DD9">
                <a:lumMod val="20000"/>
                <a:lumOff val="80000"/>
              </a:srgbClr>
            </a:solidFill>
            <a:ln w="19050">
              <a:solidFill>
                <a:srgbClr val="0707F9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tantia" pitchFamily="18" charset="0"/>
                  <a:ea typeface="楷体_GB2312" pitchFamily="49" charset="-122"/>
                </a:rPr>
                <a:t> 1           </a:t>
              </a:r>
            </a:p>
          </p:txBody>
        </p:sp>
        <p:sp>
          <p:nvSpPr>
            <p:cNvPr id="43" name="Line 8"/>
            <p:cNvSpPr>
              <a:spLocks noChangeShapeType="1"/>
            </p:cNvSpPr>
            <p:nvPr/>
          </p:nvSpPr>
          <p:spPr bwMode="auto">
            <a:xfrm>
              <a:off x="1952604" y="3429000"/>
              <a:ext cx="0" cy="685800"/>
            </a:xfrm>
            <a:prstGeom prst="line">
              <a:avLst/>
            </a:prstGeom>
            <a:noFill/>
            <a:ln w="9525">
              <a:solidFill>
                <a:srgbClr val="0707F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44" name="Line 9"/>
            <p:cNvSpPr>
              <a:spLocks noChangeShapeType="1"/>
            </p:cNvSpPr>
            <p:nvPr/>
          </p:nvSpPr>
          <p:spPr bwMode="auto">
            <a:xfrm>
              <a:off x="2397715" y="3429000"/>
              <a:ext cx="0" cy="685800"/>
            </a:xfrm>
            <a:prstGeom prst="line">
              <a:avLst/>
            </a:prstGeom>
            <a:noFill/>
            <a:ln w="9525">
              <a:solidFill>
                <a:srgbClr val="0707F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2257404" y="3838580"/>
              <a:ext cx="0" cy="6096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46" name="Text Box 11"/>
            <p:cNvSpPr txBox="1">
              <a:spLocks noChangeArrowheads="1"/>
            </p:cNvSpPr>
            <p:nvPr/>
          </p:nvSpPr>
          <p:spPr bwMode="auto">
            <a:xfrm>
              <a:off x="1381100" y="4383953"/>
              <a:ext cx="1492720" cy="83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itchFamily="18" charset="0"/>
                  <a:ea typeface="隶书" pitchFamily="49" charset="-122"/>
                </a:rPr>
                <a:t>指向子表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 pitchFamily="18" charset="0"/>
                <a:ea typeface="隶书" pitchFamily="49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itchFamily="18" charset="0"/>
                  <a:ea typeface="楷体_GB2312" pitchFamily="49" charset="-122"/>
                  <a:sym typeface="Symbol" pitchFamily="18" charset="2"/>
                </a:rPr>
                <a:t> </a:t>
              </a: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itchFamily="18" charset="0"/>
                  <a:ea typeface="隶书" pitchFamily="49" charset="-122"/>
                </a:rPr>
                <a:t>1</a:t>
              </a: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tantia" pitchFamily="18" charset="0"/>
                  <a:ea typeface="隶书" pitchFamily="49" charset="-122"/>
                </a:rPr>
                <a:t>的表头</a:t>
              </a:r>
            </a:p>
          </p:txBody>
        </p:sp>
        <p:sp>
          <p:nvSpPr>
            <p:cNvPr id="47" name="Rectangle 15"/>
            <p:cNvSpPr>
              <a:spLocks noChangeArrowheads="1"/>
            </p:cNvSpPr>
            <p:nvPr/>
          </p:nvSpPr>
          <p:spPr bwMode="auto">
            <a:xfrm>
              <a:off x="3657610" y="3457581"/>
              <a:ext cx="1181738" cy="609400"/>
            </a:xfrm>
            <a:prstGeom prst="rect">
              <a:avLst/>
            </a:prstGeom>
            <a:solidFill>
              <a:srgbClr val="009DD9">
                <a:lumMod val="20000"/>
                <a:lumOff val="80000"/>
              </a:srgbClr>
            </a:solidFill>
            <a:ln w="19050">
              <a:solidFill>
                <a:srgbClr val="0707F9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tantia" pitchFamily="18" charset="0"/>
                  <a:ea typeface="楷体_GB2312" pitchFamily="49" charset="-122"/>
                </a:rPr>
                <a:t> 1           </a:t>
              </a:r>
            </a:p>
          </p:txBody>
        </p:sp>
        <p:sp>
          <p:nvSpPr>
            <p:cNvPr id="48" name="Line 16"/>
            <p:cNvSpPr>
              <a:spLocks noChangeShapeType="1"/>
            </p:cNvSpPr>
            <p:nvPr/>
          </p:nvSpPr>
          <p:spPr bwMode="auto">
            <a:xfrm>
              <a:off x="4162404" y="3429000"/>
              <a:ext cx="0" cy="685800"/>
            </a:xfrm>
            <a:prstGeom prst="line">
              <a:avLst/>
            </a:prstGeom>
            <a:noFill/>
            <a:ln w="9525">
              <a:solidFill>
                <a:srgbClr val="0707F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49" name="Line 17"/>
            <p:cNvSpPr>
              <a:spLocks noChangeShapeType="1"/>
            </p:cNvSpPr>
            <p:nvPr/>
          </p:nvSpPr>
          <p:spPr bwMode="auto">
            <a:xfrm>
              <a:off x="4607515" y="3429000"/>
              <a:ext cx="0" cy="685800"/>
            </a:xfrm>
            <a:prstGeom prst="line">
              <a:avLst/>
            </a:prstGeom>
            <a:noFill/>
            <a:ln w="9525">
              <a:solidFill>
                <a:srgbClr val="0707F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50" name="Line 18"/>
            <p:cNvSpPr>
              <a:spLocks noChangeShapeType="1"/>
            </p:cNvSpPr>
            <p:nvPr/>
          </p:nvSpPr>
          <p:spPr bwMode="auto">
            <a:xfrm>
              <a:off x="4467204" y="3838580"/>
              <a:ext cx="0" cy="6096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51" name="Rectangle 20"/>
            <p:cNvSpPr>
              <a:spLocks noChangeArrowheads="1"/>
            </p:cNvSpPr>
            <p:nvPr/>
          </p:nvSpPr>
          <p:spPr bwMode="auto">
            <a:xfrm>
              <a:off x="7112020" y="3457581"/>
              <a:ext cx="1181738" cy="609400"/>
            </a:xfrm>
            <a:prstGeom prst="rect">
              <a:avLst/>
            </a:prstGeom>
            <a:solidFill>
              <a:srgbClr val="009DD9">
                <a:lumMod val="20000"/>
                <a:lumOff val="80000"/>
              </a:srgbClr>
            </a:solidFill>
            <a:ln w="19050">
              <a:solidFill>
                <a:srgbClr val="0707F9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tantia" pitchFamily="18" charset="0"/>
                  <a:ea typeface="楷体_GB2312" pitchFamily="49" charset="-122"/>
                </a:rPr>
                <a:t> 1           </a:t>
              </a:r>
            </a:p>
          </p:txBody>
        </p:sp>
        <p:sp>
          <p:nvSpPr>
            <p:cNvPr id="52" name="Line 21"/>
            <p:cNvSpPr>
              <a:spLocks noChangeShapeType="1"/>
            </p:cNvSpPr>
            <p:nvPr/>
          </p:nvSpPr>
          <p:spPr bwMode="auto">
            <a:xfrm>
              <a:off x="7616804" y="3429000"/>
              <a:ext cx="0" cy="685800"/>
            </a:xfrm>
            <a:prstGeom prst="line">
              <a:avLst/>
            </a:prstGeom>
            <a:noFill/>
            <a:ln w="9525">
              <a:solidFill>
                <a:srgbClr val="0707F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53" name="Line 22"/>
            <p:cNvSpPr>
              <a:spLocks noChangeShapeType="1"/>
            </p:cNvSpPr>
            <p:nvPr/>
          </p:nvSpPr>
          <p:spPr bwMode="auto">
            <a:xfrm>
              <a:off x="8061915" y="3429000"/>
              <a:ext cx="0" cy="685800"/>
            </a:xfrm>
            <a:prstGeom prst="line">
              <a:avLst/>
            </a:prstGeom>
            <a:noFill/>
            <a:ln w="9525">
              <a:solidFill>
                <a:srgbClr val="0707F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54" name="Line 23"/>
            <p:cNvSpPr>
              <a:spLocks noChangeShapeType="1"/>
            </p:cNvSpPr>
            <p:nvPr/>
          </p:nvSpPr>
          <p:spPr bwMode="auto">
            <a:xfrm>
              <a:off x="7896204" y="3838580"/>
              <a:ext cx="0" cy="6858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55" name="Line 26"/>
            <p:cNvSpPr>
              <a:spLocks noChangeShapeType="1"/>
            </p:cNvSpPr>
            <p:nvPr/>
          </p:nvSpPr>
          <p:spPr bwMode="auto">
            <a:xfrm>
              <a:off x="2971800" y="3838580"/>
              <a:ext cx="6858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56" name="Line 27"/>
            <p:cNvSpPr>
              <a:spLocks noChangeShapeType="1"/>
            </p:cNvSpPr>
            <p:nvPr/>
          </p:nvSpPr>
          <p:spPr bwMode="auto">
            <a:xfrm>
              <a:off x="5181600" y="3838580"/>
              <a:ext cx="6858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57" name="Line 28"/>
            <p:cNvSpPr>
              <a:spLocks noChangeShapeType="1"/>
            </p:cNvSpPr>
            <p:nvPr/>
          </p:nvSpPr>
          <p:spPr bwMode="auto">
            <a:xfrm>
              <a:off x="6400800" y="3838580"/>
              <a:ext cx="6858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tabLst/>
                <a:defRPr/>
              </a:pPr>
              <a:endPara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</a:endParaRPr>
            </a:p>
          </p:txBody>
        </p:sp>
        <p:sp>
          <p:nvSpPr>
            <p:cNvPr id="58" name="Rectangle 29"/>
            <p:cNvSpPr>
              <a:spLocks noChangeArrowheads="1"/>
            </p:cNvSpPr>
            <p:nvPr/>
          </p:nvSpPr>
          <p:spPr bwMode="auto">
            <a:xfrm>
              <a:off x="349250" y="3273430"/>
              <a:ext cx="529314" cy="60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707F9"/>
                  </a:solidFill>
                  <a:effectLst/>
                  <a:uLnTx/>
                  <a:uFillTx/>
                  <a:latin typeface="Constantia" pitchFamily="18" charset="0"/>
                  <a:ea typeface="楷体_GB2312" pitchFamily="49" charset="-122"/>
                </a:rPr>
                <a:t>LS</a:t>
              </a:r>
            </a:p>
          </p:txBody>
        </p:sp>
        <p:sp>
          <p:nvSpPr>
            <p:cNvPr id="59" name="Text Box 30"/>
            <p:cNvSpPr txBox="1">
              <a:spLocks noChangeArrowheads="1"/>
            </p:cNvSpPr>
            <p:nvPr/>
          </p:nvSpPr>
          <p:spPr bwMode="auto">
            <a:xfrm>
              <a:off x="5810250" y="3305180"/>
              <a:ext cx="415499" cy="60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tantia" pitchFamily="18" charset="0"/>
                  <a:ea typeface="宋体" charset="-122"/>
                </a:rPr>
                <a:t>…</a:t>
              </a:r>
            </a:p>
          </p:txBody>
        </p:sp>
        <p:sp>
          <p:nvSpPr>
            <p:cNvPr id="60" name="Text Box 31"/>
            <p:cNvSpPr txBox="1">
              <a:spLocks noChangeArrowheads="1"/>
            </p:cNvSpPr>
            <p:nvPr/>
          </p:nvSpPr>
          <p:spPr bwMode="auto">
            <a:xfrm>
              <a:off x="8011410" y="3381380"/>
              <a:ext cx="370615" cy="60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Char char="Ø"/>
                <a:defRPr sz="2800" b="1">
                  <a:solidFill>
                    <a:srgbClr val="0000FF"/>
                  </a:solidFill>
                  <a:latin typeface="Constantia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4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SzPct val="95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tantia" pitchFamily="18" charset="0"/>
                  <a:ea typeface="宋体" charset="-122"/>
                  <a:sym typeface="Symbol" pitchFamily="18" charset="2"/>
                </a:rPr>
                <a:t>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endParaRPr>
            </a:p>
          </p:txBody>
        </p:sp>
      </p:grpSp>
      <p:sp>
        <p:nvSpPr>
          <p:cNvPr id="61" name="AutoShape 4">
            <a:hlinkClick r:id="rId4" action="ppaction://hlinkfile"/>
          </p:cNvPr>
          <p:cNvSpPr>
            <a:spLocks noChangeArrowheads="1"/>
          </p:cNvSpPr>
          <p:nvPr/>
        </p:nvSpPr>
        <p:spPr bwMode="auto">
          <a:xfrm>
            <a:off x="6881826" y="5529266"/>
            <a:ext cx="2214578" cy="795334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9DD9">
              <a:lumMod val="20000"/>
              <a:lumOff val="80000"/>
            </a:srgbClr>
          </a:solidFill>
          <a:ln>
            <a:noFill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tantia"/>
                <a:ea typeface="宋体"/>
                <a:cs typeface="+mn-cs"/>
              </a:rPr>
              <a:t>子表分析法</a:t>
            </a:r>
          </a:p>
        </p:txBody>
      </p:sp>
      <p:sp>
        <p:nvSpPr>
          <p:cNvPr id="62" name="Text Box 2"/>
          <p:cNvSpPr txBox="1">
            <a:spLocks noChangeArrowheads="1"/>
          </p:cNvSpPr>
          <p:nvPr/>
        </p:nvSpPr>
        <p:spPr bwMode="auto">
          <a:xfrm>
            <a:off x="838200" y="1762137"/>
            <a:ext cx="6656388" cy="904863"/>
          </a:xfrm>
          <a:prstGeom prst="rect">
            <a:avLst/>
          </a:prstGeom>
          <a:noFill/>
          <a:ln w="9525">
            <a:solidFill>
              <a:srgbClr val="0707F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广义表 </a:t>
            </a:r>
            <a:r>
              <a:rPr lang="en-US" altLang="zh-CN" sz="2400" dirty="0">
                <a:ea typeface="楷体_GB2312" pitchFamily="49" charset="-122"/>
              </a:rPr>
              <a:t>LS = (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dirty="0">
                <a:ea typeface="楷体_GB2312" pitchFamily="49" charset="-122"/>
              </a:rPr>
              <a:t>1,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dirty="0">
                <a:ea typeface="楷体_GB2312" pitchFamily="49" charset="-122"/>
              </a:rPr>
              <a:t>2, …, </a:t>
            </a:r>
            <a:r>
              <a:rPr lang="en-US" altLang="zh-CN" sz="2400" dirty="0">
                <a:ea typeface="楷体_GB2312" pitchFamily="49" charset="-122"/>
                <a:sym typeface="Symbol" pitchFamily="18" charset="2"/>
              </a:rPr>
              <a:t></a:t>
            </a:r>
            <a:r>
              <a:rPr lang="en-US" altLang="zh-CN" sz="2400" dirty="0">
                <a:ea typeface="楷体_GB2312" pitchFamily="49" charset="-122"/>
              </a:rPr>
              <a:t>n)</a:t>
            </a:r>
            <a:r>
              <a:rPr lang="zh-CN" altLang="en-US" sz="2400" dirty="0">
                <a:ea typeface="楷体_GB2312" pitchFamily="49" charset="-122"/>
              </a:rPr>
              <a:t>包括</a:t>
            </a:r>
            <a:r>
              <a:rPr lang="en-US" altLang="zh-CN" sz="2400" dirty="0">
                <a:ea typeface="楷体_GB2312" pitchFamily="49" charset="-122"/>
              </a:rPr>
              <a:t>n</a:t>
            </a:r>
            <a:r>
              <a:rPr lang="zh-CN" altLang="en-US" sz="2400" dirty="0">
                <a:ea typeface="楷体_GB2312" pitchFamily="49" charset="-122"/>
              </a:rPr>
              <a:t>个子表，</a:t>
            </a:r>
            <a:endParaRPr lang="en-US" altLang="zh-CN" sz="2400" dirty="0">
              <a:ea typeface="楷体_GB2312" pitchFamily="49" charset="-122"/>
            </a:endParaRPr>
          </a:p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2400" dirty="0">
                <a:ea typeface="楷体_GB2312" pitchFamily="49" charset="-122"/>
              </a:rPr>
              <a:t>可以看成是线性链表</a:t>
            </a:r>
          </a:p>
        </p:txBody>
      </p:sp>
      <p:sp>
        <p:nvSpPr>
          <p:cNvPr id="63" name="Text Box 11"/>
          <p:cNvSpPr txBox="1">
            <a:spLocks noChangeArrowheads="1"/>
          </p:cNvSpPr>
          <p:nvPr/>
        </p:nvSpPr>
        <p:spPr bwMode="auto">
          <a:xfrm>
            <a:off x="3595688" y="4588728"/>
            <a:ext cx="152958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ea typeface="隶书" pitchFamily="49" charset="-122"/>
              </a:rPr>
              <a:t>指向子表</a:t>
            </a:r>
            <a:endParaRPr lang="en-US" altLang="zh-CN" sz="2400">
              <a:solidFill>
                <a:srgbClr val="000000"/>
              </a:solidFill>
              <a:ea typeface="隶书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 2</a:t>
            </a:r>
            <a:r>
              <a:rPr lang="zh-CN" altLang="en-US" sz="2400">
                <a:solidFill>
                  <a:srgbClr val="000000"/>
                </a:solidFill>
                <a:ea typeface="隶书" pitchFamily="49" charset="-122"/>
              </a:rPr>
              <a:t>的表头</a:t>
            </a:r>
          </a:p>
        </p:txBody>
      </p:sp>
      <p:sp>
        <p:nvSpPr>
          <p:cNvPr id="64" name="Text Box 11"/>
          <p:cNvSpPr txBox="1">
            <a:spLocks noChangeArrowheads="1"/>
          </p:cNvSpPr>
          <p:nvPr/>
        </p:nvSpPr>
        <p:spPr bwMode="auto">
          <a:xfrm>
            <a:off x="7032625" y="4731603"/>
            <a:ext cx="15776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ea typeface="隶书" pitchFamily="49" charset="-122"/>
              </a:rPr>
              <a:t>指向子表</a:t>
            </a:r>
            <a:endParaRPr lang="en-US" altLang="zh-CN" sz="2400">
              <a:solidFill>
                <a:srgbClr val="000000"/>
              </a:solidFill>
              <a:ea typeface="隶书" pitchFamily="49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 n</a:t>
            </a:r>
            <a:r>
              <a:rPr lang="zh-CN" altLang="en-US" sz="2400">
                <a:solidFill>
                  <a:srgbClr val="000000"/>
                </a:solidFill>
                <a:ea typeface="隶书" pitchFamily="49" charset="-122"/>
              </a:rPr>
              <a:t>的表头</a:t>
            </a:r>
          </a:p>
        </p:txBody>
      </p:sp>
    </p:spTree>
    <p:extLst>
      <p:ext uri="{BB962C8B-B14F-4D97-AF65-F5344CB8AC3E}">
        <p14:creationId xmlns:p14="http://schemas.microsoft.com/office/powerpoint/2010/main" val="109199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6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4.5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子表分析法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BD67-DF03-4284-A039-0793C7053EF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65" name="Text Box 2"/>
          <p:cNvSpPr txBox="1">
            <a:spLocks noChangeArrowheads="1"/>
          </p:cNvSpPr>
          <p:nvPr/>
        </p:nvSpPr>
        <p:spPr bwMode="auto">
          <a:xfrm>
            <a:off x="457200" y="1895475"/>
            <a:ext cx="1008063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zh-CN" altLang="en-US" dirty="0">
                <a:solidFill>
                  <a:srgbClr val="0707F9"/>
                </a:solidFill>
                <a:ea typeface="楷体_GB2312" pitchFamily="49" charset="-122"/>
              </a:rPr>
              <a:t>例如</a:t>
            </a:r>
            <a:r>
              <a:rPr lang="en-US" altLang="zh-CN" dirty="0">
                <a:solidFill>
                  <a:srgbClr val="0707F9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66" name="Line 3"/>
          <p:cNvSpPr>
            <a:spLocks noChangeShapeType="1"/>
          </p:cNvSpPr>
          <p:nvPr/>
        </p:nvSpPr>
        <p:spPr bwMode="auto">
          <a:xfrm>
            <a:off x="12192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67" name="Line 4"/>
          <p:cNvSpPr>
            <a:spLocks noChangeShapeType="1"/>
          </p:cNvSpPr>
          <p:nvPr/>
        </p:nvSpPr>
        <p:spPr bwMode="auto">
          <a:xfrm>
            <a:off x="18288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68" name="Line 5"/>
          <p:cNvSpPr>
            <a:spLocks noChangeShapeType="1"/>
          </p:cNvSpPr>
          <p:nvPr/>
        </p:nvSpPr>
        <p:spPr bwMode="auto">
          <a:xfrm>
            <a:off x="30480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69" name="Line 6"/>
          <p:cNvSpPr>
            <a:spLocks noChangeShapeType="1"/>
          </p:cNvSpPr>
          <p:nvPr/>
        </p:nvSpPr>
        <p:spPr bwMode="auto">
          <a:xfrm>
            <a:off x="1219200" y="3224212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70" name="Line 7"/>
          <p:cNvSpPr>
            <a:spLocks noChangeShapeType="1"/>
          </p:cNvSpPr>
          <p:nvPr/>
        </p:nvSpPr>
        <p:spPr bwMode="auto">
          <a:xfrm>
            <a:off x="24384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71" name="Line 8"/>
          <p:cNvSpPr>
            <a:spLocks noChangeShapeType="1"/>
          </p:cNvSpPr>
          <p:nvPr/>
        </p:nvSpPr>
        <p:spPr bwMode="auto">
          <a:xfrm>
            <a:off x="1219200" y="3910012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72" name="Line 9"/>
          <p:cNvSpPr>
            <a:spLocks noChangeShapeType="1"/>
          </p:cNvSpPr>
          <p:nvPr/>
        </p:nvSpPr>
        <p:spPr bwMode="auto">
          <a:xfrm>
            <a:off x="38862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73" name="Line 10"/>
          <p:cNvSpPr>
            <a:spLocks noChangeShapeType="1"/>
          </p:cNvSpPr>
          <p:nvPr/>
        </p:nvSpPr>
        <p:spPr bwMode="auto">
          <a:xfrm>
            <a:off x="44958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74" name="Line 11"/>
          <p:cNvSpPr>
            <a:spLocks noChangeShapeType="1"/>
          </p:cNvSpPr>
          <p:nvPr/>
        </p:nvSpPr>
        <p:spPr bwMode="auto">
          <a:xfrm>
            <a:off x="57150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75" name="Line 12"/>
          <p:cNvSpPr>
            <a:spLocks noChangeShapeType="1"/>
          </p:cNvSpPr>
          <p:nvPr/>
        </p:nvSpPr>
        <p:spPr bwMode="auto">
          <a:xfrm>
            <a:off x="3886200" y="3224212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76" name="Line 13"/>
          <p:cNvSpPr>
            <a:spLocks noChangeShapeType="1"/>
          </p:cNvSpPr>
          <p:nvPr/>
        </p:nvSpPr>
        <p:spPr bwMode="auto">
          <a:xfrm>
            <a:off x="51054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77" name="Line 14"/>
          <p:cNvSpPr>
            <a:spLocks noChangeShapeType="1"/>
          </p:cNvSpPr>
          <p:nvPr/>
        </p:nvSpPr>
        <p:spPr bwMode="auto">
          <a:xfrm>
            <a:off x="3886200" y="3910012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78" name="Line 15"/>
          <p:cNvSpPr>
            <a:spLocks noChangeShapeType="1"/>
          </p:cNvSpPr>
          <p:nvPr/>
        </p:nvSpPr>
        <p:spPr bwMode="auto">
          <a:xfrm>
            <a:off x="69342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79" name="Line 16"/>
          <p:cNvSpPr>
            <a:spLocks noChangeShapeType="1"/>
          </p:cNvSpPr>
          <p:nvPr/>
        </p:nvSpPr>
        <p:spPr bwMode="auto">
          <a:xfrm>
            <a:off x="75438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80" name="Line 17"/>
          <p:cNvSpPr>
            <a:spLocks noChangeShapeType="1"/>
          </p:cNvSpPr>
          <p:nvPr/>
        </p:nvSpPr>
        <p:spPr bwMode="auto">
          <a:xfrm>
            <a:off x="87630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81" name="Line 18"/>
          <p:cNvSpPr>
            <a:spLocks noChangeShapeType="1"/>
          </p:cNvSpPr>
          <p:nvPr/>
        </p:nvSpPr>
        <p:spPr bwMode="auto">
          <a:xfrm>
            <a:off x="6934200" y="3224212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82" name="Line 19"/>
          <p:cNvSpPr>
            <a:spLocks noChangeShapeType="1"/>
          </p:cNvSpPr>
          <p:nvPr/>
        </p:nvSpPr>
        <p:spPr bwMode="auto">
          <a:xfrm>
            <a:off x="8153400" y="3224212"/>
            <a:ext cx="0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83" name="Line 20"/>
          <p:cNvSpPr>
            <a:spLocks noChangeShapeType="1"/>
          </p:cNvSpPr>
          <p:nvPr/>
        </p:nvSpPr>
        <p:spPr bwMode="auto">
          <a:xfrm>
            <a:off x="6934200" y="3910012"/>
            <a:ext cx="1828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84" name="Line 21"/>
          <p:cNvSpPr>
            <a:spLocks noChangeShapeType="1"/>
          </p:cNvSpPr>
          <p:nvPr/>
        </p:nvSpPr>
        <p:spPr bwMode="auto">
          <a:xfrm>
            <a:off x="457200" y="3605212"/>
            <a:ext cx="7620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85" name="Line 22"/>
          <p:cNvSpPr>
            <a:spLocks noChangeShapeType="1"/>
          </p:cNvSpPr>
          <p:nvPr/>
        </p:nvSpPr>
        <p:spPr bwMode="auto">
          <a:xfrm>
            <a:off x="2819400" y="3605212"/>
            <a:ext cx="10668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86" name="Line 23"/>
          <p:cNvSpPr>
            <a:spLocks noChangeShapeType="1"/>
          </p:cNvSpPr>
          <p:nvPr/>
        </p:nvSpPr>
        <p:spPr bwMode="auto">
          <a:xfrm>
            <a:off x="5486400" y="3605212"/>
            <a:ext cx="14478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87" name="Line 24"/>
          <p:cNvSpPr>
            <a:spLocks noChangeShapeType="1"/>
          </p:cNvSpPr>
          <p:nvPr/>
        </p:nvSpPr>
        <p:spPr bwMode="auto">
          <a:xfrm>
            <a:off x="2133600" y="3681412"/>
            <a:ext cx="0" cy="990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88" name="Line 25"/>
          <p:cNvSpPr>
            <a:spLocks noChangeShapeType="1"/>
          </p:cNvSpPr>
          <p:nvPr/>
        </p:nvSpPr>
        <p:spPr bwMode="auto">
          <a:xfrm>
            <a:off x="4800600" y="3681412"/>
            <a:ext cx="0" cy="990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89" name="Line 26"/>
          <p:cNvSpPr>
            <a:spLocks noChangeShapeType="1"/>
          </p:cNvSpPr>
          <p:nvPr/>
        </p:nvSpPr>
        <p:spPr bwMode="auto">
          <a:xfrm>
            <a:off x="7848600" y="3681412"/>
            <a:ext cx="0" cy="990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90" name="Text Box 27"/>
          <p:cNvSpPr txBox="1">
            <a:spLocks noChangeArrowheads="1"/>
          </p:cNvSpPr>
          <p:nvPr/>
        </p:nvSpPr>
        <p:spPr bwMode="auto">
          <a:xfrm>
            <a:off x="8213725" y="3208337"/>
            <a:ext cx="4937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</a:pPr>
            <a:r>
              <a:rPr lang="en-US" altLang="zh-CN" sz="4000">
                <a:ea typeface="楷体_GB2312" pitchFamily="49" charset="-122"/>
                <a:sym typeface="Symbol" pitchFamily="18" charset="2"/>
              </a:rPr>
              <a:t></a:t>
            </a:r>
          </a:p>
        </p:txBody>
      </p:sp>
      <p:sp>
        <p:nvSpPr>
          <p:cNvPr id="91" name="Text Box 28"/>
          <p:cNvSpPr txBox="1">
            <a:spLocks noChangeArrowheads="1"/>
          </p:cNvSpPr>
          <p:nvPr/>
        </p:nvSpPr>
        <p:spPr bwMode="auto">
          <a:xfrm>
            <a:off x="7381875" y="4533900"/>
            <a:ext cx="110172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((x))  </a:t>
            </a:r>
          </a:p>
        </p:txBody>
      </p:sp>
      <p:sp>
        <p:nvSpPr>
          <p:cNvPr id="92" name="Text Box 31"/>
          <p:cNvSpPr txBox="1">
            <a:spLocks noChangeArrowheads="1"/>
          </p:cNvSpPr>
          <p:nvPr/>
        </p:nvSpPr>
        <p:spPr bwMode="auto">
          <a:xfrm>
            <a:off x="1809750" y="1895475"/>
            <a:ext cx="310038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L=( a, 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x,y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), ((x)) )</a:t>
            </a:r>
          </a:p>
        </p:txBody>
      </p:sp>
      <p:sp>
        <p:nvSpPr>
          <p:cNvPr id="93" name="Text Box 36"/>
          <p:cNvSpPr txBox="1">
            <a:spLocks noChangeArrowheads="1"/>
          </p:cNvSpPr>
          <p:nvPr/>
        </p:nvSpPr>
        <p:spPr bwMode="auto">
          <a:xfrm>
            <a:off x="288925" y="2943225"/>
            <a:ext cx="392113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L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  <a:ea typeface="宋体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452563" y="3179762"/>
            <a:ext cx="36512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宋体"/>
              </a:rPr>
              <a:t>1</a:t>
            </a:r>
            <a:endParaRPr lang="zh-CN" altLang="en-US" sz="2800" b="1" dirty="0">
              <a:solidFill>
                <a:srgbClr val="0000FF"/>
              </a:solidFill>
              <a:latin typeface="宋体"/>
            </a:endParaRPr>
          </a:p>
        </p:txBody>
      </p:sp>
      <p:sp>
        <p:nvSpPr>
          <p:cNvPr id="95" name="Text Box 28"/>
          <p:cNvSpPr txBox="1">
            <a:spLocks noChangeArrowheads="1"/>
          </p:cNvSpPr>
          <p:nvPr/>
        </p:nvSpPr>
        <p:spPr bwMode="auto">
          <a:xfrm>
            <a:off x="1651000" y="4533900"/>
            <a:ext cx="165893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  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a            </a:t>
            </a:r>
          </a:p>
        </p:txBody>
      </p:sp>
      <p:sp>
        <p:nvSpPr>
          <p:cNvPr id="96" name="Text Box 28"/>
          <p:cNvSpPr txBox="1">
            <a:spLocks noChangeArrowheads="1"/>
          </p:cNvSpPr>
          <p:nvPr/>
        </p:nvSpPr>
        <p:spPr bwMode="auto">
          <a:xfrm>
            <a:off x="4095750" y="4462462"/>
            <a:ext cx="1449388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  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 pitchFamily="18" charset="0"/>
                <a:ea typeface="宋体" charset="-122"/>
              </a:rPr>
              <a:t>(x, y) 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24313" y="3176587"/>
            <a:ext cx="36512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宋体"/>
              </a:rPr>
              <a:t>1</a:t>
            </a:r>
            <a:endParaRPr lang="zh-CN" altLang="en-US" sz="2800" b="1" dirty="0">
              <a:solidFill>
                <a:srgbClr val="0000FF"/>
              </a:solidFill>
              <a:latin typeface="宋体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088188" y="3248025"/>
            <a:ext cx="365125" cy="695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宋体"/>
              </a:rPr>
              <a:t>1</a:t>
            </a:r>
            <a:endParaRPr lang="zh-CN" altLang="en-US" sz="2800" b="1" dirty="0">
              <a:solidFill>
                <a:srgbClr val="0000FF"/>
              </a:solidFill>
              <a:latin typeface="宋体"/>
            </a:endParaRPr>
          </a:p>
        </p:txBody>
      </p:sp>
      <p:sp>
        <p:nvSpPr>
          <p:cNvPr id="99" name="流程图: 资料带 98"/>
          <p:cNvSpPr/>
          <p:nvPr/>
        </p:nvSpPr>
        <p:spPr bwMode="auto">
          <a:xfrm>
            <a:off x="3167063" y="5319712"/>
            <a:ext cx="3214687" cy="928688"/>
          </a:xfrm>
          <a:prstGeom prst="flowChartPunchedTape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533400" marR="0" lvl="0" indent="-53340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tantia"/>
                <a:ea typeface="宋体"/>
                <a:cs typeface="+mn-cs"/>
              </a:rPr>
              <a:t>可以看成是线性表</a:t>
            </a:r>
          </a:p>
        </p:txBody>
      </p:sp>
    </p:spTree>
    <p:extLst>
      <p:ext uri="{BB962C8B-B14F-4D97-AF65-F5344CB8AC3E}">
        <p14:creationId xmlns:p14="http://schemas.microsoft.com/office/powerpoint/2010/main" val="33246833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4.5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广义表的头尾指针结点结构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79FFF-34CE-4F1B-BC51-A6DF11BCBFF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49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graphicFrame>
        <p:nvGraphicFramePr>
          <p:cNvPr id="47" name="Group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93138"/>
              </p:ext>
            </p:extLst>
          </p:nvPr>
        </p:nvGraphicFramePr>
        <p:xfrm>
          <a:off x="3944938" y="4597400"/>
          <a:ext cx="1657350" cy="457200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132069"/>
              </p:ext>
            </p:extLst>
          </p:nvPr>
        </p:nvGraphicFramePr>
        <p:xfrm>
          <a:off x="4376738" y="5438775"/>
          <a:ext cx="792162" cy="457200"/>
        </p:xfrm>
        <a:graphic>
          <a:graphicData uri="http://schemas.openxmlformats.org/drawingml/2006/table">
            <a:tbl>
              <a:tblPr/>
              <a:tblGrid>
                <a:gridCol w="360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9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d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" name="Oval 43"/>
          <p:cNvSpPr>
            <a:spLocks noChangeArrowheads="1"/>
          </p:cNvSpPr>
          <p:nvPr/>
        </p:nvSpPr>
        <p:spPr bwMode="auto">
          <a:xfrm>
            <a:off x="641350" y="2286000"/>
            <a:ext cx="1143000" cy="439738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00000"/>
                </a:solidFill>
                <a:latin typeface="Times New Roman" pitchFamily="18" charset="0"/>
              </a:rPr>
              <a:t>例</a:t>
            </a:r>
          </a:p>
        </p:txBody>
      </p:sp>
      <p:sp>
        <p:nvSpPr>
          <p:cNvPr id="50" name="Rectangle 44"/>
          <p:cNvSpPr>
            <a:spLocks noChangeArrowheads="1"/>
          </p:cNvSpPr>
          <p:nvPr/>
        </p:nvSpPr>
        <p:spPr bwMode="auto">
          <a:xfrm>
            <a:off x="1281113" y="2211388"/>
            <a:ext cx="7343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        画出广义表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A=(c,B),B=(d,e)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的存储结构图</a:t>
            </a:r>
          </a:p>
        </p:txBody>
      </p:sp>
      <p:sp>
        <p:nvSpPr>
          <p:cNvPr id="51" name="Rectangle 45"/>
          <p:cNvSpPr>
            <a:spLocks noChangeArrowheads="1"/>
          </p:cNvSpPr>
          <p:nvPr/>
        </p:nvSpPr>
        <p:spPr bwMode="auto">
          <a:xfrm>
            <a:off x="3225800" y="4525963"/>
            <a:ext cx="792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B=</a:t>
            </a:r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2" name="Line 52"/>
          <p:cNvSpPr>
            <a:spLocks noChangeShapeType="1"/>
          </p:cNvSpPr>
          <p:nvPr/>
        </p:nvSpPr>
        <p:spPr bwMode="auto">
          <a:xfrm>
            <a:off x="5457825" y="4814888"/>
            <a:ext cx="4318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graphicFrame>
        <p:nvGraphicFramePr>
          <p:cNvPr id="53" name="Group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550740"/>
              </p:ext>
            </p:extLst>
          </p:nvPr>
        </p:nvGraphicFramePr>
        <p:xfrm>
          <a:off x="5888038" y="4597400"/>
          <a:ext cx="1657350" cy="518160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730284"/>
              </p:ext>
            </p:extLst>
          </p:nvPr>
        </p:nvGraphicFramePr>
        <p:xfrm>
          <a:off x="6321425" y="5462588"/>
          <a:ext cx="792163" cy="457200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9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e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" name="Line 72"/>
          <p:cNvSpPr>
            <a:spLocks noChangeShapeType="1"/>
          </p:cNvSpPr>
          <p:nvPr/>
        </p:nvSpPr>
        <p:spPr bwMode="auto">
          <a:xfrm>
            <a:off x="4737100" y="4886325"/>
            <a:ext cx="0" cy="4318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56" name="Line 73"/>
          <p:cNvSpPr>
            <a:spLocks noChangeShapeType="1"/>
          </p:cNvSpPr>
          <p:nvPr/>
        </p:nvSpPr>
        <p:spPr bwMode="auto">
          <a:xfrm>
            <a:off x="6681788" y="4886325"/>
            <a:ext cx="0" cy="4318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graphicFrame>
        <p:nvGraphicFramePr>
          <p:cNvPr id="57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733950"/>
              </p:ext>
            </p:extLst>
          </p:nvPr>
        </p:nvGraphicFramePr>
        <p:xfrm>
          <a:off x="2000250" y="3157538"/>
          <a:ext cx="1657350" cy="457200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" name="Rectangle 84"/>
          <p:cNvSpPr>
            <a:spLocks noChangeArrowheads="1"/>
          </p:cNvSpPr>
          <p:nvPr/>
        </p:nvSpPr>
        <p:spPr bwMode="auto">
          <a:xfrm>
            <a:off x="1281113" y="3086100"/>
            <a:ext cx="792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A=</a:t>
            </a:r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9" name="Line 85"/>
          <p:cNvSpPr>
            <a:spLocks noChangeShapeType="1"/>
          </p:cNvSpPr>
          <p:nvPr/>
        </p:nvSpPr>
        <p:spPr bwMode="auto">
          <a:xfrm>
            <a:off x="3513138" y="3375025"/>
            <a:ext cx="4318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graphicFrame>
        <p:nvGraphicFramePr>
          <p:cNvPr id="60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474821"/>
              </p:ext>
            </p:extLst>
          </p:nvPr>
        </p:nvGraphicFramePr>
        <p:xfrm>
          <a:off x="3943350" y="3157538"/>
          <a:ext cx="1657350" cy="518160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Group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955327"/>
              </p:ext>
            </p:extLst>
          </p:nvPr>
        </p:nvGraphicFramePr>
        <p:xfrm>
          <a:off x="2432050" y="3927475"/>
          <a:ext cx="792163" cy="457200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9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c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Line 104"/>
          <p:cNvSpPr>
            <a:spLocks noChangeShapeType="1"/>
          </p:cNvSpPr>
          <p:nvPr/>
        </p:nvSpPr>
        <p:spPr bwMode="auto">
          <a:xfrm>
            <a:off x="2792413" y="3375025"/>
            <a:ext cx="0" cy="4318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sp>
        <p:nvSpPr>
          <p:cNvPr id="63" name="Line 105"/>
          <p:cNvSpPr>
            <a:spLocks noChangeShapeType="1"/>
          </p:cNvSpPr>
          <p:nvPr/>
        </p:nvSpPr>
        <p:spPr bwMode="auto">
          <a:xfrm>
            <a:off x="4737100" y="3375025"/>
            <a:ext cx="0" cy="10795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55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 animBg="1"/>
      <p:bldP spid="55" grpId="0" animBg="1"/>
      <p:bldP spid="56" grpId="0" animBg="1"/>
      <p:bldP spid="58" grpId="0"/>
      <p:bldP spid="59" grpId="0" animBg="1"/>
      <p:bldP spid="62" grpId="0" animBg="1"/>
      <p:bldP spid="6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4.5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广义表的头尾链表存储表示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EB0F-834B-45C6-AA26-B609EA8835E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50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850900" y="1905000"/>
            <a:ext cx="7415213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dirty="0" err="1">
                <a:solidFill>
                  <a:srgbClr val="000000"/>
                </a:solidFill>
                <a:latin typeface="Times New Roman" pitchFamily="18" charset="0"/>
              </a:rPr>
              <a:t>typedef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kumimoji="1" lang="en-US" altLang="zh-CN" sz="3200" dirty="0" err="1">
                <a:solidFill>
                  <a:srgbClr val="000000"/>
                </a:solidFill>
                <a:latin typeface="Times New Roman" pitchFamily="18" charset="0"/>
              </a:rPr>
              <a:t>enum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itchFamily="18" charset="0"/>
              </a:rPr>
              <a:t>{ATOM,LIST} </a:t>
            </a:r>
            <a:r>
              <a:rPr kumimoji="1" lang="en-US" altLang="zh-CN" sz="3200" dirty="0" err="1">
                <a:solidFill>
                  <a:srgbClr val="000000"/>
                </a:solidFill>
                <a:latin typeface="Times New Roman" pitchFamily="18" charset="0"/>
              </a:rPr>
              <a:t>ElemTag</a:t>
            </a:r>
            <a:r>
              <a:rPr kumimoji="1" lang="en-US" altLang="zh-CN" sz="3200" dirty="0">
                <a:solidFill>
                  <a:srgbClr val="000000"/>
                </a:solidFill>
                <a:latin typeface="Times New Roman" pitchFamily="18" charset="0"/>
              </a:rPr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en-US" altLang="zh-CN" sz="3200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dirty="0" err="1">
                <a:latin typeface="Times New Roman" pitchFamily="18" charset="0"/>
              </a:rPr>
              <a:t>typedef</a:t>
            </a:r>
            <a:r>
              <a:rPr kumimoji="1" lang="en-US" altLang="zh-CN" sz="3200" dirty="0">
                <a:latin typeface="Times New Roman" pitchFamily="18" charset="0"/>
              </a:rPr>
              <a:t> </a:t>
            </a:r>
            <a:r>
              <a:rPr kumimoji="1" lang="en-US" altLang="zh-CN" sz="3200" dirty="0" err="1">
                <a:latin typeface="Times New Roman" pitchFamily="18" charset="0"/>
              </a:rPr>
              <a:t>struct</a:t>
            </a:r>
            <a:r>
              <a:rPr kumimoji="1" lang="en-US" altLang="zh-CN" sz="3200" dirty="0">
                <a:latin typeface="Times New Roman" pitchFamily="18" charset="0"/>
              </a:rPr>
              <a:t> </a:t>
            </a:r>
            <a:r>
              <a:rPr kumimoji="1" lang="en-US" altLang="zh-CN" sz="3200" dirty="0" err="1">
                <a:latin typeface="Times New Roman" pitchFamily="18" charset="0"/>
              </a:rPr>
              <a:t>GLNode</a:t>
            </a:r>
            <a:r>
              <a:rPr kumimoji="1" lang="en-US" altLang="zh-CN" sz="3200" dirty="0">
                <a:latin typeface="Times New Roman" pitchFamily="18" charset="0"/>
              </a:rPr>
              <a:t>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dirty="0">
                <a:latin typeface="Times New Roman" pitchFamily="18" charset="0"/>
              </a:rPr>
              <a:t>    </a:t>
            </a:r>
            <a:r>
              <a:rPr kumimoji="1" lang="en-US" altLang="zh-CN" sz="3200" dirty="0" err="1">
                <a:latin typeface="Times New Roman" pitchFamily="18" charset="0"/>
              </a:rPr>
              <a:t>ElemTag</a:t>
            </a:r>
            <a:r>
              <a:rPr kumimoji="1" lang="en-US" altLang="zh-CN" sz="3200" dirty="0">
                <a:latin typeface="Times New Roman" pitchFamily="18" charset="0"/>
              </a:rPr>
              <a:t> tag;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dirty="0">
                <a:latin typeface="Times New Roman" pitchFamily="18" charset="0"/>
              </a:rPr>
              <a:t>    union{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dirty="0">
                <a:latin typeface="Times New Roman" pitchFamily="18" charset="0"/>
              </a:rPr>
              <a:t>    </a:t>
            </a:r>
            <a:r>
              <a:rPr kumimoji="1" lang="en-US" altLang="zh-CN" sz="3200" dirty="0" err="1">
                <a:latin typeface="Times New Roman" pitchFamily="18" charset="0"/>
              </a:rPr>
              <a:t>AtomType</a:t>
            </a:r>
            <a:r>
              <a:rPr kumimoji="1" lang="en-US" altLang="zh-CN" sz="3200" dirty="0">
                <a:latin typeface="Times New Roman" pitchFamily="18" charset="0"/>
              </a:rPr>
              <a:t> atom;//</a:t>
            </a:r>
            <a:r>
              <a:rPr kumimoji="1" lang="zh-CN" altLang="en-US" sz="3200" dirty="0">
                <a:latin typeface="Times New Roman" pitchFamily="18" charset="0"/>
              </a:rPr>
              <a:t>原子结点值域</a:t>
            </a:r>
            <a:endParaRPr kumimoji="1" lang="en-US" altLang="zh-CN" sz="3200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dirty="0">
                <a:latin typeface="Times New Roman" pitchFamily="18" charset="0"/>
              </a:rPr>
              <a:t>    </a:t>
            </a:r>
            <a:r>
              <a:rPr kumimoji="1" lang="en-US" altLang="zh-CN" sz="3200" dirty="0" err="1">
                <a:latin typeface="Times New Roman" pitchFamily="18" charset="0"/>
              </a:rPr>
              <a:t>struct</a:t>
            </a:r>
            <a:r>
              <a:rPr kumimoji="1" lang="en-US" altLang="zh-CN" sz="3200" dirty="0">
                <a:latin typeface="Times New Roman" pitchFamily="18" charset="0"/>
              </a:rPr>
              <a:t> {</a:t>
            </a:r>
            <a:r>
              <a:rPr kumimoji="1" lang="en-US" altLang="zh-CN" sz="3200" dirty="0" err="1">
                <a:latin typeface="Times New Roman" pitchFamily="18" charset="0"/>
              </a:rPr>
              <a:t>struct</a:t>
            </a:r>
            <a:r>
              <a:rPr kumimoji="1" lang="en-US" altLang="zh-CN" sz="3200" dirty="0">
                <a:latin typeface="Times New Roman" pitchFamily="18" charset="0"/>
              </a:rPr>
              <a:t> </a:t>
            </a:r>
            <a:r>
              <a:rPr kumimoji="1" lang="en-US" altLang="zh-CN" sz="3200" dirty="0" err="1">
                <a:latin typeface="Times New Roman" pitchFamily="18" charset="0"/>
              </a:rPr>
              <a:t>GLNode</a:t>
            </a:r>
            <a:r>
              <a:rPr kumimoji="1" lang="en-US" altLang="zh-CN" sz="3200" dirty="0">
                <a:latin typeface="Times New Roman" pitchFamily="18" charset="0"/>
              </a:rPr>
              <a:t> *</a:t>
            </a:r>
            <a:r>
              <a:rPr kumimoji="1" lang="en-US" altLang="zh-CN" sz="3200" dirty="0" err="1">
                <a:latin typeface="Times New Roman" pitchFamily="18" charset="0"/>
              </a:rPr>
              <a:t>hp</a:t>
            </a:r>
            <a:r>
              <a:rPr kumimoji="1" lang="en-US" altLang="zh-CN" sz="3200" dirty="0">
                <a:latin typeface="Times New Roman" pitchFamily="18" charset="0"/>
              </a:rPr>
              <a:t>,*</a:t>
            </a:r>
            <a:r>
              <a:rPr kumimoji="1" lang="en-US" altLang="zh-CN" sz="3200" dirty="0" err="1">
                <a:latin typeface="Times New Roman" pitchFamily="18" charset="0"/>
              </a:rPr>
              <a:t>tp</a:t>
            </a:r>
            <a:r>
              <a:rPr kumimoji="1" lang="en-US" altLang="zh-CN" sz="3200" dirty="0">
                <a:latin typeface="Times New Roman" pitchFamily="18" charset="0"/>
              </a:rPr>
              <a:t>;}</a:t>
            </a:r>
            <a:r>
              <a:rPr kumimoji="1" lang="en-US" altLang="zh-CN" sz="3200" dirty="0" err="1">
                <a:latin typeface="Times New Roman" pitchFamily="18" charset="0"/>
              </a:rPr>
              <a:t>ptr</a:t>
            </a:r>
            <a:r>
              <a:rPr kumimoji="1" lang="en-US" altLang="zh-CN" sz="3200" dirty="0">
                <a:latin typeface="Times New Roman" pitchFamily="18" charset="0"/>
              </a:rPr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dirty="0">
                <a:latin typeface="Times New Roman" pitchFamily="18" charset="0"/>
              </a:rPr>
              <a:t>    }//</a:t>
            </a:r>
            <a:r>
              <a:rPr kumimoji="1" lang="zh-CN" altLang="en-US" sz="3200" dirty="0">
                <a:latin typeface="Times New Roman" pitchFamily="18" charset="0"/>
              </a:rPr>
              <a:t>表结点指针域</a:t>
            </a:r>
            <a:endParaRPr kumimoji="1" lang="en-US" altLang="zh-CN" sz="3200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dirty="0">
                <a:latin typeface="Times New Roman" pitchFamily="18" charset="0"/>
              </a:rPr>
              <a:t>}*</a:t>
            </a:r>
            <a:r>
              <a:rPr kumimoji="1" lang="en-US" altLang="zh-CN" sz="3200" dirty="0" err="1">
                <a:latin typeface="Times New Roman" pitchFamily="18" charset="0"/>
              </a:rPr>
              <a:t>Glist</a:t>
            </a:r>
            <a:r>
              <a:rPr kumimoji="1" lang="en-US" altLang="zh-CN" sz="3200" dirty="0">
                <a:latin typeface="Times New Roman" pitchFamily="18" charset="0"/>
              </a:rPr>
              <a:t>;//</a:t>
            </a:r>
            <a:r>
              <a:rPr kumimoji="1" lang="zh-CN" altLang="en-US" sz="3200" dirty="0">
                <a:latin typeface="Times New Roman" pitchFamily="18" charset="0"/>
              </a:rPr>
              <a:t>广义表类型</a:t>
            </a:r>
            <a:endParaRPr kumimoji="1" lang="en-US" altLang="zh-CN" sz="32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38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4.5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扩展头尾指针结点结构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049E-E5D2-410A-8FFD-78BBEB43FB0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51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graphicFrame>
        <p:nvGraphicFramePr>
          <p:cNvPr id="1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947276"/>
              </p:ext>
            </p:extLst>
          </p:nvPr>
        </p:nvGraphicFramePr>
        <p:xfrm>
          <a:off x="3944938" y="4511040"/>
          <a:ext cx="1657350" cy="457200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val 21"/>
          <p:cNvSpPr>
            <a:spLocks noChangeArrowheads="1"/>
          </p:cNvSpPr>
          <p:nvPr/>
        </p:nvSpPr>
        <p:spPr bwMode="auto">
          <a:xfrm>
            <a:off x="641350" y="2125028"/>
            <a:ext cx="1143000" cy="514350"/>
          </a:xfrm>
          <a:prstGeom prst="ellipse">
            <a:avLst/>
          </a:prstGeom>
          <a:gradFill rotWithShape="0">
            <a:gsLst>
              <a:gs pos="0">
                <a:srgbClr val="65A865"/>
              </a:gs>
              <a:gs pos="50000">
                <a:srgbClr val="99FF99"/>
              </a:gs>
              <a:gs pos="100000">
                <a:srgbClr val="65A865"/>
              </a:gs>
            </a:gsLst>
            <a:lin ang="18900000" scaled="1"/>
          </a:gradFill>
          <a:ln w="9525">
            <a:solidFill>
              <a:srgbClr val="CCFF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例</a:t>
            </a:r>
          </a:p>
        </p:txBody>
      </p:sp>
      <p:sp>
        <p:nvSpPr>
          <p:cNvPr id="15" name="Rectangle 22"/>
          <p:cNvSpPr>
            <a:spLocks noChangeArrowheads="1"/>
          </p:cNvSpPr>
          <p:nvPr/>
        </p:nvSpPr>
        <p:spPr bwMode="auto">
          <a:xfrm>
            <a:off x="1281113" y="2125028"/>
            <a:ext cx="7343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        画出广义表</a:t>
            </a: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A=(c,B),B=(d,e)</a:t>
            </a:r>
            <a:r>
              <a:rPr kumimoji="1" lang="zh-CN" altLang="en-US">
                <a:solidFill>
                  <a:srgbClr val="000000"/>
                </a:solidFill>
                <a:latin typeface="Times New Roman" pitchFamily="18" charset="0"/>
              </a:rPr>
              <a:t>的存储结构图</a:t>
            </a:r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3225800" y="4439603"/>
            <a:ext cx="792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B=</a:t>
            </a:r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8" name="Line 24"/>
          <p:cNvSpPr>
            <a:spLocks noChangeShapeType="1"/>
          </p:cNvSpPr>
          <p:nvPr/>
        </p:nvSpPr>
        <p:spPr bwMode="auto">
          <a:xfrm>
            <a:off x="5457825" y="4728528"/>
            <a:ext cx="4318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graphicFrame>
        <p:nvGraphicFramePr>
          <p:cNvPr id="19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240593"/>
              </p:ext>
            </p:extLst>
          </p:nvPr>
        </p:nvGraphicFramePr>
        <p:xfrm>
          <a:off x="5888038" y="4511040"/>
          <a:ext cx="1657350" cy="518160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Group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722881"/>
              </p:ext>
            </p:extLst>
          </p:nvPr>
        </p:nvGraphicFramePr>
        <p:xfrm>
          <a:off x="2000250" y="3071178"/>
          <a:ext cx="1657350" cy="457200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0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c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Rectangle 55"/>
          <p:cNvSpPr>
            <a:spLocks noChangeArrowheads="1"/>
          </p:cNvSpPr>
          <p:nvPr/>
        </p:nvSpPr>
        <p:spPr bwMode="auto">
          <a:xfrm>
            <a:off x="1281113" y="2999740"/>
            <a:ext cx="792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itchFamily="18" charset="0"/>
              </a:rPr>
              <a:t>A=</a:t>
            </a:r>
            <a:endParaRPr kumimoji="1" lang="zh-CN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" name="Line 56"/>
          <p:cNvSpPr>
            <a:spLocks noChangeShapeType="1"/>
          </p:cNvSpPr>
          <p:nvPr/>
        </p:nvSpPr>
        <p:spPr bwMode="auto">
          <a:xfrm>
            <a:off x="3513138" y="3288665"/>
            <a:ext cx="431800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  <p:graphicFrame>
        <p:nvGraphicFramePr>
          <p:cNvPr id="23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80536"/>
              </p:ext>
            </p:extLst>
          </p:nvPr>
        </p:nvGraphicFramePr>
        <p:xfrm>
          <a:off x="3943350" y="3071178"/>
          <a:ext cx="1657350" cy="518160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itchFamily="18" charset="0"/>
                          <a:ea typeface="宋体" charset="-122"/>
                        </a:rPr>
                        <a:t>1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itchFamily="18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buClr>
                          <a:srgbClr val="0BD0D9"/>
                        </a:buClr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1pPr>
                      <a:lvl2pPr marL="742950" indent="-285750" algn="l" defTabSz="914400" rtl="0" eaLnBrk="0" latinLnBrk="0" hangingPunct="0"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2pPr>
                      <a:lvl3pPr marL="1143000" indent="-228600" algn="l" defTabSz="914400" rtl="0" eaLnBrk="0" latinLnBrk="0" hangingPunct="0">
                        <a:buClr>
                          <a:schemeClr val="accent2"/>
                        </a:buClr>
                        <a:buSzPct val="70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3pPr>
                      <a:lvl4pPr marL="1600200" indent="-228600" algn="l" defTabSz="914400" rtl="0" eaLnBrk="0" latinLnBrk="0" hangingPunct="0">
                        <a:buClr>
                          <a:srgbClr val="0BD0D9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4pPr>
                      <a:lvl5pPr marL="2057400" indent="-228600" algn="l" defTabSz="914400" rtl="0" eaLnBrk="0" latinLnBrk="0" hangingPunct="0"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itchFamily="18" charset="2"/>
                        <a:defRPr sz="2400" kern="1200">
                          <a:solidFill>
                            <a:schemeClr val="tx1"/>
                          </a:solidFill>
                          <a:latin typeface="Constantia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Line 76"/>
          <p:cNvSpPr>
            <a:spLocks noChangeShapeType="1"/>
          </p:cNvSpPr>
          <p:nvPr/>
        </p:nvSpPr>
        <p:spPr bwMode="auto">
          <a:xfrm>
            <a:off x="4737100" y="3288665"/>
            <a:ext cx="0" cy="10795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onstant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83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1" grpId="0"/>
      <p:bldP spid="22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charset="0"/>
                <a:ea typeface="宋体" charset="-122"/>
                <a:cs typeface="+mn-cs"/>
              </a:rPr>
              <a:t>4.5  </a:t>
            </a:r>
            <a:r>
              <a:rPr kumimoji="1" lang="zh-CN" altLang="en-US" sz="3200" b="1" dirty="0">
                <a:latin typeface="Arial" charset="0"/>
                <a:ea typeface="宋体" charset="-122"/>
                <a:cs typeface="+mn-cs"/>
              </a:rPr>
              <a:t>广义表的存储结构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扩展头尾指针结点结构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100"/>
              </a:lnSpc>
            </a:pPr>
            <a:endParaRPr lang="en-US" altLang="zh-CN" sz="2400" b="1" dirty="0"/>
          </a:p>
          <a:p>
            <a:pPr>
              <a:lnSpc>
                <a:spcPts val="31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5A186-0856-4FBC-B663-FB494F01FE4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52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838200" y="1962150"/>
            <a:ext cx="792480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95000"/>
              <a:buFont typeface="Wingdings" pitchFamily="2" charset="2"/>
              <a:buChar char="Ø"/>
              <a:defRPr sz="2800" b="1">
                <a:solidFill>
                  <a:srgbClr val="0000FF"/>
                </a:solidFill>
                <a:latin typeface="Constantia" pitchFamily="18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 err="1">
                <a:latin typeface="Times New Roman" pitchFamily="18" charset="0"/>
              </a:rPr>
              <a:t>typedef</a:t>
            </a:r>
            <a:r>
              <a:rPr kumimoji="1" lang="en-US" altLang="zh-CN" dirty="0">
                <a:latin typeface="Times New Roman" pitchFamily="18" charset="0"/>
              </a:rPr>
              <a:t> </a:t>
            </a:r>
            <a:r>
              <a:rPr kumimoji="1" lang="en-US" altLang="zh-CN" dirty="0" err="1">
                <a:latin typeface="Times New Roman" pitchFamily="18" charset="0"/>
              </a:rPr>
              <a:t>enum</a:t>
            </a:r>
            <a:r>
              <a:rPr kumimoji="1" lang="en-US" altLang="zh-CN" dirty="0">
                <a:latin typeface="Times New Roman" pitchFamily="18" charset="0"/>
              </a:rPr>
              <a:t>{ATOM,LIST} </a:t>
            </a:r>
            <a:r>
              <a:rPr kumimoji="1" lang="en-US" altLang="zh-CN" dirty="0" err="1">
                <a:latin typeface="Times New Roman" pitchFamily="18" charset="0"/>
              </a:rPr>
              <a:t>ElemTag</a:t>
            </a:r>
            <a:r>
              <a:rPr kumimoji="1" lang="en-US" altLang="zh-CN" dirty="0">
                <a:latin typeface="Times New Roman" pitchFamily="18" charset="0"/>
              </a:rPr>
              <a:t>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kumimoji="1" lang="en-US" altLang="zh-CN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 err="1">
                <a:latin typeface="Times New Roman" pitchFamily="18" charset="0"/>
              </a:rPr>
              <a:t>typedef</a:t>
            </a:r>
            <a:r>
              <a:rPr kumimoji="1" lang="en-US" altLang="zh-CN" dirty="0">
                <a:latin typeface="Times New Roman" pitchFamily="18" charset="0"/>
              </a:rPr>
              <a:t> </a:t>
            </a:r>
            <a:r>
              <a:rPr kumimoji="1" lang="en-US" altLang="zh-CN" dirty="0" err="1">
                <a:latin typeface="Times New Roman" pitchFamily="18" charset="0"/>
              </a:rPr>
              <a:t>struct</a:t>
            </a:r>
            <a:r>
              <a:rPr kumimoji="1" lang="en-US" altLang="zh-CN" dirty="0">
                <a:latin typeface="Times New Roman" pitchFamily="18" charset="0"/>
              </a:rPr>
              <a:t> </a:t>
            </a:r>
            <a:r>
              <a:rPr kumimoji="1" lang="en-US" altLang="zh-CN" dirty="0" err="1">
                <a:latin typeface="Times New Roman" pitchFamily="18" charset="0"/>
              </a:rPr>
              <a:t>GLNode</a:t>
            </a:r>
            <a:r>
              <a:rPr kumimoji="1" lang="en-US" altLang="zh-CN" dirty="0">
                <a:latin typeface="Times New Roman" pitchFamily="18" charset="0"/>
              </a:rPr>
              <a:t>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    </a:t>
            </a:r>
            <a:r>
              <a:rPr kumimoji="1" lang="en-US" altLang="zh-CN" dirty="0" err="1">
                <a:latin typeface="Times New Roman" pitchFamily="18" charset="0"/>
              </a:rPr>
              <a:t>ElemTag</a:t>
            </a:r>
            <a:r>
              <a:rPr kumimoji="1" lang="en-US" altLang="zh-CN" dirty="0">
                <a:latin typeface="Times New Roman" pitchFamily="18" charset="0"/>
              </a:rPr>
              <a:t> tag;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    union{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    </a:t>
            </a:r>
            <a:r>
              <a:rPr kumimoji="1" lang="en-US" altLang="zh-CN" dirty="0" err="1">
                <a:latin typeface="Times New Roman" pitchFamily="18" charset="0"/>
              </a:rPr>
              <a:t>AtomType</a:t>
            </a:r>
            <a:r>
              <a:rPr kumimoji="1" lang="en-US" altLang="zh-CN" dirty="0">
                <a:latin typeface="Times New Roman" pitchFamily="18" charset="0"/>
              </a:rPr>
              <a:t> atom; //</a:t>
            </a:r>
            <a:r>
              <a:rPr kumimoji="1" lang="zh-CN" altLang="en-US" sz="2400" dirty="0">
                <a:latin typeface="Times New Roman" pitchFamily="18" charset="0"/>
              </a:rPr>
              <a:t>原子结点</a:t>
            </a:r>
            <a:endParaRPr kumimoji="1" lang="en-US" altLang="zh-CN" sz="2400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    </a:t>
            </a:r>
            <a:r>
              <a:rPr kumimoji="1" lang="en-US" altLang="zh-CN" dirty="0" err="1">
                <a:latin typeface="Times New Roman" pitchFamily="18" charset="0"/>
              </a:rPr>
              <a:t>struct</a:t>
            </a:r>
            <a:r>
              <a:rPr kumimoji="1" lang="en-US" altLang="zh-CN" dirty="0">
                <a:latin typeface="Times New Roman" pitchFamily="18" charset="0"/>
              </a:rPr>
              <a:t> </a:t>
            </a:r>
            <a:r>
              <a:rPr kumimoji="1" lang="en-US" altLang="zh-CN" dirty="0" err="1">
                <a:latin typeface="Times New Roman" pitchFamily="18" charset="0"/>
              </a:rPr>
              <a:t>GLNode</a:t>
            </a:r>
            <a:r>
              <a:rPr kumimoji="1" lang="en-US" altLang="zh-CN" dirty="0">
                <a:latin typeface="Times New Roman" pitchFamily="18" charset="0"/>
              </a:rPr>
              <a:t> *</a:t>
            </a:r>
            <a:r>
              <a:rPr kumimoji="1" lang="en-US" altLang="zh-CN" dirty="0" err="1">
                <a:latin typeface="Times New Roman" pitchFamily="18" charset="0"/>
              </a:rPr>
              <a:t>hp</a:t>
            </a:r>
            <a:r>
              <a:rPr kumimoji="1" lang="en-US" altLang="zh-CN" dirty="0">
                <a:latin typeface="Times New Roman" pitchFamily="18" charset="0"/>
              </a:rPr>
              <a:t>; //</a:t>
            </a:r>
            <a:r>
              <a:rPr kumimoji="1" lang="zh-CN" altLang="en-US" sz="2400" dirty="0">
                <a:latin typeface="Times New Roman" pitchFamily="18" charset="0"/>
              </a:rPr>
              <a:t>定义它的头指针</a:t>
            </a:r>
            <a:endParaRPr kumimoji="1" lang="en-US" altLang="zh-CN" sz="2400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    };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    </a:t>
            </a:r>
            <a:r>
              <a:rPr kumimoji="1" lang="en-US" altLang="zh-CN" dirty="0" err="1">
                <a:latin typeface="Times New Roman" pitchFamily="18" charset="0"/>
              </a:rPr>
              <a:t>struct</a:t>
            </a:r>
            <a:r>
              <a:rPr kumimoji="1" lang="en-US" altLang="zh-CN" dirty="0">
                <a:latin typeface="Times New Roman" pitchFamily="18" charset="0"/>
              </a:rPr>
              <a:t> </a:t>
            </a:r>
            <a:r>
              <a:rPr kumimoji="1" lang="en-US" altLang="zh-CN" dirty="0" err="1">
                <a:latin typeface="Times New Roman" pitchFamily="18" charset="0"/>
              </a:rPr>
              <a:t>GLNode</a:t>
            </a:r>
            <a:r>
              <a:rPr kumimoji="1" lang="en-US" altLang="zh-CN" dirty="0">
                <a:latin typeface="Times New Roman" pitchFamily="18" charset="0"/>
              </a:rPr>
              <a:t> *</a:t>
            </a:r>
            <a:r>
              <a:rPr kumimoji="1" lang="en-US" altLang="zh-CN" dirty="0" err="1">
                <a:latin typeface="Times New Roman" pitchFamily="18" charset="0"/>
              </a:rPr>
              <a:t>tp</a:t>
            </a:r>
            <a:r>
              <a:rPr kumimoji="1" lang="en-US" altLang="zh-CN" dirty="0">
                <a:latin typeface="Times New Roman" pitchFamily="18" charset="0"/>
              </a:rPr>
              <a:t>;//</a:t>
            </a:r>
            <a:r>
              <a:rPr kumimoji="1" lang="zh-CN" altLang="en-US" sz="2000" dirty="0">
                <a:latin typeface="Times New Roman" pitchFamily="18" charset="0"/>
              </a:rPr>
              <a:t>相当于线性链表中的</a:t>
            </a:r>
            <a:r>
              <a:rPr kumimoji="1" lang="en-US" altLang="zh-CN" sz="2000" dirty="0">
                <a:latin typeface="Times New Roman" pitchFamily="18" charset="0"/>
              </a:rPr>
              <a:t>next</a:t>
            </a:r>
            <a:r>
              <a:rPr kumimoji="1" lang="zh-CN" altLang="en-US" sz="2000" dirty="0">
                <a:latin typeface="Times New Roman" pitchFamily="18" charset="0"/>
              </a:rPr>
              <a:t>，指向下一个元素的节点；</a:t>
            </a:r>
            <a:endParaRPr kumimoji="1" lang="zh-CN" altLang="en-US" dirty="0">
              <a:latin typeface="Times New Roman" pitchFamily="18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818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Courier New" panose="02070309020205020404" pitchFamily="49" charset="0"/>
              </a:rPr>
              <a:t>本章小结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1" indent="0">
              <a:lnSpc>
                <a:spcPts val="3000"/>
              </a:lnSpc>
              <a:buNone/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F4DF6-C439-497C-9444-A9AB540214D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  <a:t>2025/2/8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  <a:pPr/>
              <a:t>53</a:t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>
            <a:spLocks/>
          </p:cNvSpPr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4</a:t>
            </a:r>
            <a:r>
              <a:rPr lang="zh-CN" altLang="en-US" b="1" dirty="0">
                <a:solidFill>
                  <a:srgbClr val="00B0F0"/>
                </a:solidFill>
              </a:rPr>
              <a:t>章 数组和广义表</a:t>
            </a: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39750" y="1300163"/>
            <a:ext cx="8175625" cy="4795837"/>
          </a:xfrm>
          <a:prstGeom prst="rect">
            <a:avLst/>
          </a:prstGeom>
          <a:noFill/>
          <a:ln w="38100" cmpd="dbl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0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088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288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488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3688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0888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 eaLnBrk="1" hangingPunct="1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ea typeface="隶书" pitchFamily="49" charset="-122"/>
              </a:rPr>
              <a:t> 熟练掌握：</a:t>
            </a:r>
          </a:p>
          <a:p>
            <a:pPr marL="366713" lvl="1" indent="0" eaLnBrk="1" hangingPunct="1">
              <a:buClr>
                <a:srgbClr val="0000FF"/>
              </a:buClr>
            </a:pPr>
            <a:r>
              <a:rPr lang="zh-CN" altLang="en-US" kern="0" dirty="0">
                <a:ea typeface="隶书" pitchFamily="49" charset="-122"/>
              </a:rPr>
              <a:t> </a:t>
            </a:r>
            <a:r>
              <a:rPr lang="en-US" altLang="zh-CN" kern="0" dirty="0">
                <a:ea typeface="隶书" pitchFamily="49" charset="-122"/>
              </a:rPr>
              <a:t>(1)</a:t>
            </a:r>
            <a:r>
              <a:rPr lang="zh-CN" altLang="en-US" kern="0" dirty="0">
                <a:ea typeface="隶书" pitchFamily="49" charset="-122"/>
              </a:rPr>
              <a:t>数组的存储表示方法；</a:t>
            </a:r>
          </a:p>
          <a:p>
            <a:pPr marL="366713" lvl="1" indent="0" eaLnBrk="1" hangingPunct="1">
              <a:buClr>
                <a:srgbClr val="0000FF"/>
              </a:buClr>
            </a:pPr>
            <a:r>
              <a:rPr lang="zh-CN" altLang="en-US" kern="0" dirty="0">
                <a:ea typeface="隶书" pitchFamily="49" charset="-122"/>
              </a:rPr>
              <a:t> </a:t>
            </a:r>
            <a:r>
              <a:rPr lang="en-US" altLang="zh-CN" kern="0" dirty="0">
                <a:ea typeface="隶书" pitchFamily="49" charset="-122"/>
              </a:rPr>
              <a:t>(2)</a:t>
            </a:r>
            <a:r>
              <a:rPr lang="zh-CN" altLang="en-US" kern="0" dirty="0">
                <a:ea typeface="隶书" pitchFamily="49" charset="-122"/>
              </a:rPr>
              <a:t>数组在存储结构中的地址计算方法；</a:t>
            </a:r>
          </a:p>
          <a:p>
            <a:pPr marL="366713" lvl="1" indent="0" eaLnBrk="1" hangingPunct="1">
              <a:buClr>
                <a:srgbClr val="0000FF"/>
              </a:buClr>
            </a:pPr>
            <a:r>
              <a:rPr lang="zh-CN" altLang="en-US" kern="0" dirty="0">
                <a:ea typeface="隶书" pitchFamily="49" charset="-122"/>
              </a:rPr>
              <a:t> </a:t>
            </a:r>
            <a:r>
              <a:rPr lang="en-US" altLang="zh-CN" kern="0" dirty="0">
                <a:ea typeface="隶书" pitchFamily="49" charset="-122"/>
              </a:rPr>
              <a:t>(3)</a:t>
            </a:r>
            <a:r>
              <a:rPr lang="zh-CN" altLang="en-US" kern="0" dirty="0">
                <a:ea typeface="隶书" pitchFamily="49" charset="-122"/>
              </a:rPr>
              <a:t>特殊矩阵压缩存储时的下标变换公式；</a:t>
            </a:r>
          </a:p>
          <a:p>
            <a:pPr marL="366713" lvl="1" indent="0" eaLnBrk="1" hangingPunct="1">
              <a:buClr>
                <a:srgbClr val="0000FF"/>
              </a:buClr>
            </a:pPr>
            <a:r>
              <a:rPr lang="zh-CN" altLang="en-US" kern="0" dirty="0">
                <a:ea typeface="隶书" pitchFamily="49" charset="-122"/>
              </a:rPr>
              <a:t> </a:t>
            </a:r>
            <a:r>
              <a:rPr lang="en-US" altLang="zh-CN" kern="0" dirty="0">
                <a:ea typeface="隶书" pitchFamily="49" charset="-122"/>
              </a:rPr>
              <a:t>(4)</a:t>
            </a:r>
            <a:r>
              <a:rPr lang="zh-CN" altLang="en-US" kern="0" dirty="0">
                <a:ea typeface="隶书" pitchFamily="49" charset="-122"/>
              </a:rPr>
              <a:t>稀疏矩阵的压缩存储方法；</a:t>
            </a:r>
          </a:p>
          <a:p>
            <a:pPr marL="366713" lvl="1" indent="0" eaLnBrk="1" hangingPunct="1">
              <a:buClr>
                <a:srgbClr val="0000FF"/>
              </a:buClr>
            </a:pPr>
            <a:r>
              <a:rPr lang="zh-CN" altLang="en-US" kern="0" dirty="0">
                <a:ea typeface="隶书" pitchFamily="49" charset="-122"/>
              </a:rPr>
              <a:t> </a:t>
            </a:r>
            <a:r>
              <a:rPr lang="en-US" altLang="zh-CN" kern="0" dirty="0">
                <a:ea typeface="隶书" pitchFamily="49" charset="-122"/>
              </a:rPr>
              <a:t>(5)</a:t>
            </a:r>
            <a:r>
              <a:rPr lang="zh-CN" altLang="en-US" kern="0" dirty="0">
                <a:ea typeface="隶书" pitchFamily="49" charset="-122"/>
              </a:rPr>
              <a:t>三元组表示稀疏矩阵时进行矩阵运算采用的算法。</a:t>
            </a:r>
          </a:p>
          <a:p>
            <a:pPr marL="366713" lvl="1" indent="0" eaLnBrk="1" hangingPunct="1">
              <a:buClr>
                <a:srgbClr val="0000FF"/>
              </a:buClr>
            </a:pPr>
            <a:r>
              <a:rPr lang="zh-CN" altLang="en-US" kern="0" dirty="0">
                <a:ea typeface="隶书" pitchFamily="49" charset="-122"/>
              </a:rPr>
              <a:t> </a:t>
            </a:r>
            <a:r>
              <a:rPr lang="en-US" altLang="zh-CN" kern="0" dirty="0">
                <a:ea typeface="隶书" pitchFamily="49" charset="-122"/>
              </a:rPr>
              <a:t>(6)</a:t>
            </a:r>
            <a:r>
              <a:rPr lang="zh-CN" altLang="en-US" kern="0" dirty="0">
                <a:ea typeface="隶书" pitchFamily="49" charset="-122"/>
              </a:rPr>
              <a:t>广义表的定义、存储和性质。</a:t>
            </a:r>
          </a:p>
        </p:txBody>
      </p:sp>
    </p:spTree>
    <p:extLst>
      <p:ext uri="{BB962C8B-B14F-4D97-AF65-F5344CB8AC3E}">
        <p14:creationId xmlns:p14="http://schemas.microsoft.com/office/powerpoint/2010/main" val="3082675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9369</TotalTime>
  <Words>8269</Words>
  <Application>Microsoft Office PowerPoint</Application>
  <PresentationFormat>全屏显示(4:3)</PresentationFormat>
  <Paragraphs>1025</Paragraphs>
  <Slides>53</Slides>
  <Notes>53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7" baseType="lpstr">
      <vt:lpstr>楷体_GB2312</vt:lpstr>
      <vt:lpstr>隶书</vt:lpstr>
      <vt:lpstr>宋体</vt:lpstr>
      <vt:lpstr>Arial</vt:lpstr>
      <vt:lpstr>Calibri</vt:lpstr>
      <vt:lpstr>Constantia</vt:lpstr>
      <vt:lpstr>Courier New</vt:lpstr>
      <vt:lpstr>Symbol</vt:lpstr>
      <vt:lpstr>Tahoma</vt:lpstr>
      <vt:lpstr>Times New Roman</vt:lpstr>
      <vt:lpstr>Wingdings</vt:lpstr>
      <vt:lpstr>Wingdings 2</vt:lpstr>
      <vt:lpstr>Office 主题​​</vt:lpstr>
      <vt:lpstr>Microsoft 公式 3.0</vt:lpstr>
      <vt:lpstr>第4章 数组和广义表</vt:lpstr>
      <vt:lpstr>本章重点与难点</vt:lpstr>
      <vt:lpstr>第四章 数组和广义表</vt:lpstr>
      <vt:lpstr>第四章 数组和广义表</vt:lpstr>
      <vt:lpstr>4.1  数组的类型定义</vt:lpstr>
      <vt:lpstr>4.1  数组的类型定义</vt:lpstr>
      <vt:lpstr>4.1  数组的类型定义</vt:lpstr>
      <vt:lpstr>4.1  数组的类型定义</vt:lpstr>
      <vt:lpstr>4.1  数组的类型定义</vt:lpstr>
      <vt:lpstr>第四章 数组和广义表</vt:lpstr>
      <vt:lpstr>4.2  数组的顺序表示和实现</vt:lpstr>
      <vt:lpstr>4.2  数组的顺序表示和实现</vt:lpstr>
      <vt:lpstr>4.2  数组的顺序表示和实现</vt:lpstr>
      <vt:lpstr>4.2  数组的顺序表示和实现</vt:lpstr>
      <vt:lpstr>4.2  数组的顺序表示和实现</vt:lpstr>
      <vt:lpstr>第四章 数组和广义表</vt:lpstr>
      <vt:lpstr>4.3  矩阵的压缩存储</vt:lpstr>
      <vt:lpstr>4.3.1  特殊矩阵</vt:lpstr>
      <vt:lpstr>4.3.1  特殊矩阵</vt:lpstr>
      <vt:lpstr>4.3.2  稀疏矩阵</vt:lpstr>
      <vt:lpstr>4.3.2  稀疏矩阵</vt:lpstr>
      <vt:lpstr>4.3.2  稀疏矩阵</vt:lpstr>
      <vt:lpstr>4.3.2  稀疏矩阵</vt:lpstr>
      <vt:lpstr>4.3.3  矩阵的压缩存储</vt:lpstr>
      <vt:lpstr>4.3.3  矩阵的压缩存储</vt:lpstr>
      <vt:lpstr>4.3.3  矩阵的压缩存储</vt:lpstr>
      <vt:lpstr>4.3.3  矩阵的压缩存储</vt:lpstr>
      <vt:lpstr>4.3.3  矩阵的压缩存储</vt:lpstr>
      <vt:lpstr>4.3.3  矩阵的压缩存储</vt:lpstr>
      <vt:lpstr>4.3.3  矩阵的压缩存储</vt:lpstr>
      <vt:lpstr>4.3.3  矩阵的压缩存储</vt:lpstr>
      <vt:lpstr>第四章 数组和广义表</vt:lpstr>
      <vt:lpstr>4.4  广义表的类型定义</vt:lpstr>
      <vt:lpstr>4.4  广义表的类型定义</vt:lpstr>
      <vt:lpstr>4.4  广义表的类型定义</vt:lpstr>
      <vt:lpstr>4.4  广义表的类型定义</vt:lpstr>
      <vt:lpstr>4.4  广义表的类型定义</vt:lpstr>
      <vt:lpstr>4.4  广义表的类型定义</vt:lpstr>
      <vt:lpstr>4.4  广义表的类型定义</vt:lpstr>
      <vt:lpstr>4.4  广义表的类型定义</vt:lpstr>
      <vt:lpstr>4.4  广义表的类型定义</vt:lpstr>
      <vt:lpstr>第四章 数组和广义表</vt:lpstr>
      <vt:lpstr>4.5  广义表的存储结构</vt:lpstr>
      <vt:lpstr>4.5  广义表的存储结构</vt:lpstr>
      <vt:lpstr>4.5  广义表的存储结构</vt:lpstr>
      <vt:lpstr>4.5  广义表的存储结构</vt:lpstr>
      <vt:lpstr>4.5  广义表的存储结构</vt:lpstr>
      <vt:lpstr>4.5  广义表的存储结构</vt:lpstr>
      <vt:lpstr>4.5  广义表的存储结构</vt:lpstr>
      <vt:lpstr>4.5  广义表的存储结构</vt:lpstr>
      <vt:lpstr>4.5  广义表的存储结构</vt:lpstr>
      <vt:lpstr>4.5  广义表的存储结构</vt:lpstr>
      <vt:lpstr>本章小结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 Data Structures</dc:title>
  <dc:creator>Haijun ZHANG</dc:creator>
  <cp:lastModifiedBy>Haijun Zhang</cp:lastModifiedBy>
  <cp:revision>463</cp:revision>
  <dcterms:created xsi:type="dcterms:W3CDTF">2017-08-09T05:01:49Z</dcterms:created>
  <dcterms:modified xsi:type="dcterms:W3CDTF">2025-02-08T06:26:37Z</dcterms:modified>
</cp:coreProperties>
</file>