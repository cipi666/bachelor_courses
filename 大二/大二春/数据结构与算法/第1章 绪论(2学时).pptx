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72"/>
  </p:handoutMasterIdLst>
  <p:sldIdLst>
    <p:sldId id="256" r:id="rId3"/>
    <p:sldId id="327" r:id="rId4"/>
    <p:sldId id="261" r:id="rId6"/>
    <p:sldId id="262" r:id="rId7"/>
    <p:sldId id="263" r:id="rId8"/>
    <p:sldId id="264" r:id="rId9"/>
    <p:sldId id="260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90" r:id="rId31"/>
    <p:sldId id="286" r:id="rId32"/>
    <p:sldId id="292" r:id="rId33"/>
    <p:sldId id="293" r:id="rId34"/>
    <p:sldId id="294" r:id="rId35"/>
    <p:sldId id="295" r:id="rId36"/>
    <p:sldId id="287" r:id="rId37"/>
    <p:sldId id="288" r:id="rId38"/>
    <p:sldId id="296" r:id="rId39"/>
    <p:sldId id="289" r:id="rId40"/>
    <p:sldId id="297" r:id="rId41"/>
    <p:sldId id="304" r:id="rId42"/>
    <p:sldId id="298" r:id="rId43"/>
    <p:sldId id="299" r:id="rId44"/>
    <p:sldId id="300" r:id="rId45"/>
    <p:sldId id="301" r:id="rId46"/>
    <p:sldId id="328" r:id="rId47"/>
    <p:sldId id="302" r:id="rId48"/>
    <p:sldId id="305" r:id="rId49"/>
    <p:sldId id="303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4" r:id="rId68"/>
    <p:sldId id="323" r:id="rId69"/>
    <p:sldId id="325" r:id="rId70"/>
    <p:sldId id="326" r:id="rId7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01BF"/>
    <a:srgbClr val="1B0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5640" autoAdjust="0"/>
  </p:normalViewPr>
  <p:slideViewPr>
    <p:cSldViewPr showGuides="1">
      <p:cViewPr varScale="1">
        <p:scale>
          <a:sx n="75" d="100"/>
          <a:sy n="75" d="100"/>
        </p:scale>
        <p:origin x="128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handoutMaster" Target="handoutMasters/handoutMaster1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 绪论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B3334-8B19-41FD-BA5B-2CDDAB13B5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231CD-A0B8-4499-BF13-ACF9615008C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章 绪论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26617-0DE9-4FCC-BA51-2984BBE6735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ADF5C-0B53-4BD5-BF19-A16D1C70E8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3ADF5C-0B53-4BD5-BF19-A16D1C70E8AA}" type="slidenum">
              <a:rPr lang="zh-CN" altLang="en-US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眉占位符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zh-CN" altLang="en-US">
                <a:solidFill>
                  <a:prstClr val="black"/>
                </a:solidFill>
              </a:rPr>
              <a:t>第</a:t>
            </a:r>
            <a:r>
              <a:rPr lang="en-US" altLang="zh-CN">
                <a:solidFill>
                  <a:prstClr val="black"/>
                </a:solidFill>
              </a:rPr>
              <a:t>1</a:t>
            </a:r>
            <a:r>
              <a:rPr lang="zh-CN" altLang="en-US">
                <a:solidFill>
                  <a:prstClr val="black"/>
                </a:solidFill>
              </a:rPr>
              <a:t>章 绪论</a:t>
            </a:r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CB5E0-0924-43A4-9D25-3FABE8B996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3C55F-38E4-4DDF-A251-C410B4EC5C7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7E4D-CC0E-49AE-8EB6-AC7B03800E1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14C33-622C-46A0-925B-0D304B91C9A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820B-5975-493E-80AB-39D2FE55BEC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E1BD1-43CB-466E-AAC3-3CBAD4AB595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F0EFC-AB8E-4C2B-BCE9-0BDFC5B61EC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F2D6-DC6E-49EB-A9FB-CC6AA6EA109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1EA81-F341-47F9-858D-7FB50CC5225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2D71-2E8B-4C00-B44A-6FDDAD086D3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43765-DFA7-4A70-B277-0EF7694A51C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5119E-1913-4076-8FCE-66F85F503F0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哈工大（深圳）计算机 张海军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hyperlink" Target="http://www.dl2link.com/" TargetMode="External"/><Relationship Id="rId2" Type="http://schemas.openxmlformats.org/officeDocument/2006/relationships/image" Target="../media/image1.jpeg"/><Relationship Id="rId1" Type="http://schemas.openxmlformats.org/officeDocument/2006/relationships/hyperlink" Target="http://www.hitsz.edu.cn/article/view/id-26348.html" TargetMode="Externa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hyperlink" Target="mailto:hjzhang@hit.edu.cn" TargetMode="Externa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hyperlink" Target="http://www.hitsz.edu.cn/article/view/id-26348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hyperlink" Target="https://baike.baidu.com/item/%E5%9B%BE%E7%81%B5%E5%A5%96/324645?fr=aladdin" TargetMode="Externa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image" Target="../media/image29.png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6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23.png"/><Relationship Id="rId1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www.hitsz.edu.cn/UserFiles/banner/large/1498189993954.jpg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9144000" cy="346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6000" b="1" dirty="0">
                <a:solidFill>
                  <a:srgbClr val="FF0000"/>
                </a:solidFill>
              </a:rPr>
              <a:t>数据结构与算法</a:t>
            </a:r>
            <a:br>
              <a:rPr lang="en-US" altLang="zh-CN" sz="6000" b="1" dirty="0">
                <a:solidFill>
                  <a:srgbClr val="FF0000"/>
                </a:solidFill>
              </a:rPr>
            </a:br>
            <a:r>
              <a:rPr lang="en-US" altLang="zh-CN" sz="6000" b="1" dirty="0">
                <a:solidFill>
                  <a:srgbClr val="FF0000"/>
                </a:solidFill>
              </a:rPr>
              <a:t>Data Structures &amp; Algorithms</a:t>
            </a:r>
            <a:endParaRPr lang="zh-CN" altLang="en-US" sz="6000" b="1" dirty="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419600"/>
            <a:ext cx="6400800" cy="1752600"/>
          </a:xfrm>
        </p:spPr>
        <p:txBody>
          <a:bodyPr>
            <a:noAutofit/>
          </a:bodyPr>
          <a:lstStyle/>
          <a:p>
            <a:r>
              <a:rPr lang="zh-CN" altLang="en-US" b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/>
              </a:rPr>
              <a:t>何震宇</a:t>
            </a:r>
            <a:endParaRPr lang="zh-CN" altLang="en-US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r:id="rId3"/>
            </a:endParaRPr>
          </a:p>
          <a:p>
            <a:r>
              <a:rPr lang="zh-CN" altLang="en-US" sz="2000" b="1" dirty="0">
                <a:solidFill>
                  <a:schemeClr val="accent5"/>
                </a:solidFill>
              </a:rPr>
              <a:t>教授、博士生导师</a:t>
            </a:r>
            <a:endParaRPr lang="en-US" altLang="zh-CN" sz="2000" b="1" dirty="0">
              <a:solidFill>
                <a:schemeClr val="accent5"/>
              </a:solidFill>
            </a:endParaRPr>
          </a:p>
          <a:p>
            <a:endParaRPr lang="zh-CN" altLang="en-US" sz="2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4BF80-E5AD-4A9B-8BE5-6612CE6C40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哈工大（深圳）计算机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课程安排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Autofit/>
          </a:bodyPr>
          <a:lstStyle/>
          <a:p>
            <a:pPr>
              <a:lnSpc>
                <a:spcPts val="2800"/>
              </a:lnSpc>
            </a:pPr>
            <a:r>
              <a:rPr lang="zh-CN" altLang="en-US" sz="2400" b="1" dirty="0"/>
              <a:t>课程编号：</a:t>
            </a:r>
            <a:r>
              <a:rPr lang="en-US" altLang="zh-CN" sz="2400" b="1" dirty="0"/>
              <a:t>2520</a:t>
            </a:r>
            <a:endParaRPr lang="en-US" altLang="zh-CN" sz="2400" b="1" dirty="0"/>
          </a:p>
          <a:p>
            <a:pPr>
              <a:lnSpc>
                <a:spcPts val="2800"/>
              </a:lnSpc>
            </a:pPr>
            <a:r>
              <a:rPr lang="zh-CN" altLang="en-US" sz="2400" b="1" dirty="0"/>
              <a:t>授课学时：</a:t>
            </a:r>
            <a:r>
              <a:rPr lang="en-US" altLang="zh-CN" sz="2400" b="1" dirty="0"/>
              <a:t>40</a:t>
            </a:r>
            <a:endParaRPr lang="en-US" altLang="zh-CN" sz="2400" b="1" dirty="0"/>
          </a:p>
          <a:p>
            <a:pPr>
              <a:lnSpc>
                <a:spcPts val="2800"/>
              </a:lnSpc>
            </a:pPr>
            <a:r>
              <a:rPr lang="zh-CN" altLang="en-US" sz="2400" b="1" dirty="0"/>
              <a:t>实验学时：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（需实验中心确认）</a:t>
            </a:r>
            <a:endParaRPr lang="en-US" altLang="zh-CN" sz="2400" b="1" dirty="0"/>
          </a:p>
          <a:p>
            <a:pPr>
              <a:lnSpc>
                <a:spcPts val="2800"/>
              </a:lnSpc>
            </a:pPr>
            <a:r>
              <a:rPr lang="zh-CN" altLang="en-US" sz="2400" b="1" dirty="0"/>
              <a:t>课程分类：专业（技术）基础</a:t>
            </a:r>
            <a:endParaRPr lang="en-US" altLang="zh-CN" sz="2400" b="1" dirty="0"/>
          </a:p>
          <a:p>
            <a:pPr>
              <a:lnSpc>
                <a:spcPts val="2800"/>
              </a:lnSpc>
            </a:pPr>
            <a:r>
              <a:rPr lang="zh-CN" altLang="en-US" sz="2400" b="1" dirty="0"/>
              <a:t>考核形式：</a:t>
            </a:r>
            <a:endParaRPr lang="en-US" altLang="zh-CN" sz="2400" b="1" dirty="0"/>
          </a:p>
          <a:p>
            <a:pPr lvl="1">
              <a:lnSpc>
                <a:spcPts val="2800"/>
              </a:lnSpc>
            </a:pPr>
            <a:r>
              <a:rPr lang="zh-CN" altLang="en-US" sz="2400" b="1" u="sng" dirty="0">
                <a:solidFill>
                  <a:srgbClr val="FF0000"/>
                </a:solidFill>
              </a:rPr>
              <a:t>期末笔试</a:t>
            </a:r>
            <a:r>
              <a:rPr lang="en-US" altLang="zh-CN" sz="2400" b="1" u="sng" dirty="0">
                <a:solidFill>
                  <a:srgbClr val="FF0000"/>
                </a:solidFill>
              </a:rPr>
              <a:t>70% + </a:t>
            </a:r>
            <a:r>
              <a:rPr lang="zh-CN" altLang="en-US" sz="2400" b="1" u="sng" dirty="0">
                <a:solidFill>
                  <a:srgbClr val="FF0000"/>
                </a:solidFill>
              </a:rPr>
              <a:t>实验</a:t>
            </a:r>
            <a:r>
              <a:rPr lang="en-US" altLang="zh-CN" sz="2400" b="1" u="sng" dirty="0">
                <a:solidFill>
                  <a:srgbClr val="FF0000"/>
                </a:solidFill>
              </a:rPr>
              <a:t>20% + </a:t>
            </a:r>
            <a:r>
              <a:rPr lang="zh-CN" altLang="en-US" sz="2400" b="1" u="sng" dirty="0">
                <a:solidFill>
                  <a:srgbClr val="FF0000"/>
                </a:solidFill>
              </a:rPr>
              <a:t>平时作业</a:t>
            </a:r>
            <a:r>
              <a:rPr lang="en-US" altLang="zh-CN" sz="2400" b="1" u="sng" dirty="0">
                <a:solidFill>
                  <a:srgbClr val="FF0000"/>
                </a:solidFill>
              </a:rPr>
              <a:t>/</a:t>
            </a:r>
            <a:r>
              <a:rPr lang="zh-CN" altLang="en-US" sz="2400" b="1" u="sng" dirty="0">
                <a:solidFill>
                  <a:srgbClr val="FF0000"/>
                </a:solidFill>
              </a:rPr>
              <a:t>测验</a:t>
            </a:r>
            <a:r>
              <a:rPr lang="en-US" altLang="zh-CN" sz="2400" b="1" u="sng" dirty="0">
                <a:solidFill>
                  <a:srgbClr val="FF0000"/>
                </a:solidFill>
              </a:rPr>
              <a:t>10% </a:t>
            </a:r>
            <a:endParaRPr lang="en-US" altLang="zh-CN" sz="2400" b="1" u="sng" dirty="0">
              <a:solidFill>
                <a:srgbClr val="FF0000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en-US" sz="2400" b="1" dirty="0"/>
              <a:t>主讲教师：何震宇</a:t>
            </a:r>
            <a:endParaRPr lang="en-US" altLang="zh-CN" sz="2400" b="1" dirty="0"/>
          </a:p>
          <a:p>
            <a:pPr lvl="1">
              <a:lnSpc>
                <a:spcPts val="2800"/>
              </a:lnSpc>
            </a:pPr>
            <a:r>
              <a:rPr lang="zh-CN" altLang="en-US" sz="1800" b="1" dirty="0"/>
              <a:t>联系方式：</a:t>
            </a:r>
            <a:r>
              <a:rPr lang="en-US" altLang="zh-CN" sz="1800" b="1" dirty="0"/>
              <a:t>L</a:t>
            </a:r>
            <a:r>
              <a:rPr lang="zh-CN" altLang="en-US" sz="1800" b="1" dirty="0"/>
              <a:t>栋</a:t>
            </a:r>
            <a:r>
              <a:rPr lang="en-US" altLang="zh-CN" sz="1800" b="1" dirty="0"/>
              <a:t>1521</a:t>
            </a:r>
            <a:r>
              <a:rPr lang="zh-CN" altLang="en-US" sz="1800" b="1" dirty="0"/>
              <a:t>室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电话</a:t>
            </a:r>
            <a:r>
              <a:rPr lang="en-US" altLang="zh-CN" sz="1800" b="1" dirty="0"/>
              <a:t>26033080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O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>
              <a:lnSpc>
                <a:spcPts val="2800"/>
              </a:lnSpc>
            </a:pPr>
            <a:r>
              <a:rPr lang="en-US" altLang="zh-CN" sz="1800" b="1" dirty="0"/>
              <a:t>Email</a:t>
            </a:r>
            <a:r>
              <a:rPr lang="zh-CN" altLang="en-US" sz="1800" b="1" dirty="0"/>
              <a:t>：</a:t>
            </a:r>
            <a:r>
              <a:rPr lang="en-US" altLang="zh-CN" sz="1800" b="1" dirty="0">
                <a:hlinkClick r:id="rId1"/>
              </a:rPr>
              <a:t>zhenyuhe@hit.edu.cn</a:t>
            </a:r>
            <a:endParaRPr lang="en-US" altLang="zh-CN" sz="1800" b="1" dirty="0"/>
          </a:p>
          <a:p>
            <a:pPr>
              <a:lnSpc>
                <a:spcPts val="2800"/>
              </a:lnSpc>
            </a:pPr>
            <a:endParaRPr lang="en-US" altLang="zh-CN" sz="2400" b="1" dirty="0"/>
          </a:p>
          <a:p>
            <a:pPr>
              <a:lnSpc>
                <a:spcPts val="2800"/>
              </a:lnSpc>
            </a:pPr>
            <a:r>
              <a:rPr lang="zh-CN" altLang="en-US" sz="2400" b="1" dirty="0"/>
              <a:t>助教：兰瑞泉；顾启瑞；姚英</a:t>
            </a:r>
            <a:r>
              <a:rPr lang="zh-CN" altLang="en-US" sz="2400" b="1" dirty="0"/>
              <a:t>豪</a:t>
            </a:r>
            <a:endParaRPr lang="zh-CN" altLang="en-US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教材选择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ts val="25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课程资源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课件</a:t>
            </a:r>
            <a:r>
              <a:rPr lang="en-US" altLang="zh-CN" b="1" dirty="0">
                <a:solidFill>
                  <a:srgbClr val="C00000"/>
                </a:solidFill>
              </a:rPr>
              <a:t>PPT</a:t>
            </a:r>
            <a:r>
              <a:rPr lang="zh-CN" altLang="en-US" b="1" dirty="0"/>
              <a:t>：集成了各个教材内容，可作为简要学习内容。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主要教材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2">
              <a:lnSpc>
                <a:spcPts val="2500"/>
              </a:lnSpc>
            </a:pPr>
            <a:r>
              <a:rPr lang="en-US" altLang="zh-CN" b="1" dirty="0"/>
              <a:t>《</a:t>
            </a:r>
            <a:r>
              <a:rPr lang="zh-CN" altLang="en-US" b="1" dirty="0"/>
              <a:t>数据结构（</a:t>
            </a:r>
            <a:r>
              <a:rPr lang="en-US" altLang="zh-CN" b="1" dirty="0"/>
              <a:t>C</a:t>
            </a:r>
            <a:r>
              <a:rPr lang="zh-CN" altLang="en-US" b="1" dirty="0"/>
              <a:t>语言版）</a:t>
            </a:r>
            <a:r>
              <a:rPr lang="en-US" altLang="zh-CN" b="1" dirty="0"/>
              <a:t>》</a:t>
            </a:r>
            <a:r>
              <a:rPr lang="zh-CN" altLang="en-US" b="1" dirty="0"/>
              <a:t>严尉敏、吴伟民 编著，清华大学出版社</a:t>
            </a:r>
            <a:endParaRPr lang="en-US" altLang="zh-CN" b="1" dirty="0"/>
          </a:p>
          <a:p>
            <a:pPr lvl="2">
              <a:lnSpc>
                <a:spcPts val="2500"/>
              </a:lnSpc>
            </a:pPr>
            <a:r>
              <a:rPr lang="zh-CN" altLang="en-US" b="1" dirty="0"/>
              <a:t>算法导论第三版</a:t>
            </a:r>
            <a:r>
              <a:rPr lang="en-US" altLang="zh-CN" b="1" dirty="0"/>
              <a:t>, </a:t>
            </a:r>
            <a:r>
              <a:rPr lang="zh-CN" altLang="en-US" b="1" dirty="0"/>
              <a:t>殷建平</a:t>
            </a:r>
            <a:r>
              <a:rPr lang="en-US" altLang="zh-CN" b="1" dirty="0"/>
              <a:t>, </a:t>
            </a:r>
            <a:r>
              <a:rPr lang="zh-CN" altLang="en-US" b="1" dirty="0"/>
              <a:t>徐云</a:t>
            </a:r>
            <a:r>
              <a:rPr lang="en-US" altLang="zh-CN" b="1" dirty="0"/>
              <a:t>, </a:t>
            </a:r>
            <a:r>
              <a:rPr lang="zh-CN" altLang="en-US" b="1" dirty="0"/>
              <a:t>王刚等译</a:t>
            </a:r>
            <a:r>
              <a:rPr lang="en-US" altLang="zh-CN" b="1" dirty="0"/>
              <a:t>, </a:t>
            </a:r>
            <a:r>
              <a:rPr lang="zh-CN" altLang="en-US" b="1" dirty="0"/>
              <a:t>机械工业出版社</a:t>
            </a:r>
            <a:r>
              <a:rPr lang="en-US" altLang="zh-CN" b="1" dirty="0"/>
              <a:t>, 2012.12.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原版教材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2">
              <a:lnSpc>
                <a:spcPts val="2500"/>
              </a:lnSpc>
            </a:pPr>
            <a:r>
              <a:rPr lang="en-US" altLang="zh-CN" b="1" dirty="0"/>
              <a:t>Data Structures and Program Design in C++</a:t>
            </a:r>
            <a:endParaRPr lang="en-US" altLang="zh-CN" b="1" dirty="0"/>
          </a:p>
          <a:p>
            <a:pPr marL="914400" lvl="2" indent="0">
              <a:lnSpc>
                <a:spcPts val="2500"/>
              </a:lnSpc>
              <a:buNone/>
            </a:pPr>
            <a:r>
              <a:rPr lang="zh-CN" altLang="en-US" b="1" dirty="0"/>
              <a:t>  数据结构与程序设计</a:t>
            </a:r>
            <a:r>
              <a:rPr lang="en-US" altLang="zh-CN" b="1" dirty="0"/>
              <a:t>——C++</a:t>
            </a:r>
            <a:r>
              <a:rPr lang="zh-CN" altLang="en-US" b="1" dirty="0"/>
              <a:t>语言描述（影印版）</a:t>
            </a:r>
            <a:endParaRPr lang="zh-CN" altLang="en-US" b="1" dirty="0"/>
          </a:p>
          <a:p>
            <a:pPr lvl="2">
              <a:lnSpc>
                <a:spcPts val="2500"/>
              </a:lnSpc>
            </a:pPr>
            <a:r>
              <a:rPr lang="en-US" altLang="zh-CN" b="1" dirty="0"/>
              <a:t>Robert L. </a:t>
            </a:r>
            <a:r>
              <a:rPr lang="en-US" altLang="zh-CN" b="1" dirty="0" err="1"/>
              <a:t>Kurse</a:t>
            </a:r>
            <a:r>
              <a:rPr lang="en-US" altLang="zh-CN" b="1" dirty="0"/>
              <a:t>, </a:t>
            </a:r>
            <a:r>
              <a:rPr lang="en-US" altLang="zh-CN" b="1" dirty="0" err="1"/>
              <a:t>Alexandeer</a:t>
            </a:r>
            <a:r>
              <a:rPr lang="en-US" altLang="zh-CN" b="1" dirty="0"/>
              <a:t> J. </a:t>
            </a:r>
            <a:r>
              <a:rPr lang="en-US" altLang="zh-CN" b="1" dirty="0" err="1"/>
              <a:t>Ryba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参考书目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2">
              <a:lnSpc>
                <a:spcPts val="2500"/>
              </a:lnSpc>
            </a:pPr>
            <a:r>
              <a:rPr lang="zh-CN" altLang="en-US" sz="1500" b="1" u="sng" dirty="0"/>
              <a:t>数据结构与智能算法，张海军、马江虹、张正，出版中（</a:t>
            </a:r>
            <a:r>
              <a:rPr lang="en-US" altLang="zh-CN" sz="1500" b="1" u="sng" dirty="0"/>
              <a:t>3</a:t>
            </a:r>
            <a:r>
              <a:rPr lang="zh-CN" altLang="en-US" sz="1500" b="1" u="sng" dirty="0"/>
              <a:t>月），</a:t>
            </a:r>
            <a:r>
              <a:rPr lang="en-US" altLang="zh-CN" sz="1500" b="1" u="sng" dirty="0"/>
              <a:t>2024</a:t>
            </a:r>
            <a:r>
              <a:rPr lang="en-US" altLang="zh-CN" sz="1500" b="1" dirty="0"/>
              <a:t>.</a:t>
            </a:r>
            <a:endParaRPr lang="en-US" altLang="zh-CN" sz="1500" b="1" dirty="0"/>
          </a:p>
          <a:p>
            <a:pPr lvl="2">
              <a:lnSpc>
                <a:spcPts val="2500"/>
              </a:lnSpc>
            </a:pPr>
            <a:r>
              <a:rPr lang="zh-CN" altLang="en-US" sz="1500" dirty="0"/>
              <a:t>数据结构与算法（第</a:t>
            </a:r>
            <a:r>
              <a:rPr lang="en-US" altLang="zh-CN" sz="1500" dirty="0"/>
              <a:t>4</a:t>
            </a:r>
            <a:r>
              <a:rPr lang="zh-CN" altLang="en-US" sz="1500" dirty="0"/>
              <a:t>版），廖明宏、郭福顺、张岩、李秀坤，高等教育出版社，</a:t>
            </a:r>
            <a:r>
              <a:rPr lang="en-US" altLang="zh-CN" sz="1500" dirty="0"/>
              <a:t>2007.</a:t>
            </a:r>
            <a:endParaRPr lang="en-US" altLang="zh-CN" sz="1500" dirty="0"/>
          </a:p>
          <a:p>
            <a:pPr lvl="2">
              <a:lnSpc>
                <a:spcPts val="2500"/>
              </a:lnSpc>
            </a:pPr>
            <a:r>
              <a:rPr lang="zh-CN" altLang="en-US" sz="1500" dirty="0"/>
              <a:t>数据结构教程，李春葆主编，清华大学出版社，</a:t>
            </a:r>
            <a:r>
              <a:rPr lang="en-US" altLang="zh-CN" sz="1500" dirty="0"/>
              <a:t>2017</a:t>
            </a:r>
            <a:r>
              <a:rPr lang="zh-CN" altLang="en-US" sz="1500" dirty="0"/>
              <a:t>版</a:t>
            </a:r>
            <a:r>
              <a:rPr lang="en-US" altLang="zh-CN" sz="1500" dirty="0"/>
              <a:t>.</a:t>
            </a:r>
            <a:endParaRPr lang="en-US" altLang="zh-CN" sz="1500" dirty="0"/>
          </a:p>
          <a:p>
            <a:pPr lvl="1">
              <a:lnSpc>
                <a:spcPts val="25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INTERNET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3592926"/>
            <a:ext cx="1123837" cy="1414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436" y="1485490"/>
            <a:ext cx="809001" cy="1026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课程地位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“数据结构与算法”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是计算机专业的</a:t>
            </a:r>
            <a:r>
              <a:rPr lang="zh-CN" altLang="en-US" b="1" dirty="0">
                <a:solidFill>
                  <a:srgbClr val="FF0000"/>
                </a:solidFill>
              </a:rPr>
              <a:t>核心课程</a:t>
            </a:r>
            <a:r>
              <a:rPr lang="zh-CN" altLang="en-US" b="1" dirty="0"/>
              <a:t>之一，也是其他非计算机专业的主要选修课程之一。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“数据结构与算法”</a:t>
            </a:r>
            <a:r>
              <a:rPr lang="zh-CN" altLang="en-US" b="1" dirty="0"/>
              <a:t>在计算机科学中是一门综合性的</a:t>
            </a:r>
            <a:r>
              <a:rPr lang="zh-CN" altLang="en-US" b="1" dirty="0">
                <a:solidFill>
                  <a:srgbClr val="FF0000"/>
                </a:solidFill>
              </a:rPr>
              <a:t>专业基础课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“数据结构与算法”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>
              <a:lnSpc>
                <a:spcPct val="120000"/>
              </a:lnSpc>
            </a:pPr>
            <a:r>
              <a:rPr lang="zh-CN" altLang="en-US" b="1" dirty="0"/>
              <a:t>是</a:t>
            </a:r>
            <a:r>
              <a:rPr lang="zh-CN" altLang="en-US" b="1" dirty="0">
                <a:solidFill>
                  <a:srgbClr val="FF0000"/>
                </a:solidFill>
              </a:rPr>
              <a:t>计算机硬件、操作系统、编译原理、计算机网络、数据库系统</a:t>
            </a:r>
            <a:r>
              <a:rPr lang="zh-CN" altLang="en-US" b="1" dirty="0"/>
              <a:t>及其他系统程序和大型应用程序的重要基础。</a:t>
            </a:r>
            <a:endParaRPr lang="zh-CN" altLang="en-US" b="1" dirty="0"/>
          </a:p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“数据结构与算法”</a:t>
            </a:r>
            <a:r>
              <a:rPr lang="zh-CN" altLang="en-US" b="1" dirty="0"/>
              <a:t>正在</a:t>
            </a:r>
            <a:r>
              <a:rPr lang="zh-CN" altLang="en-US" b="1" dirty="0">
                <a:solidFill>
                  <a:srgbClr val="FF0000"/>
                </a:solidFill>
              </a:rPr>
              <a:t>不断发展</a:t>
            </a:r>
            <a:r>
              <a:rPr lang="zh-CN" altLang="en-US" b="1" dirty="0"/>
              <a:t>。例如：多维图像数据结构等。</a:t>
            </a:r>
            <a:endParaRPr lang="zh-CN" altLang="en-US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面向各专门领域中</a:t>
            </a:r>
            <a:r>
              <a:rPr lang="zh-CN" altLang="en-US" b="1" dirty="0">
                <a:solidFill>
                  <a:srgbClr val="FF0000"/>
                </a:solidFill>
              </a:rPr>
              <a:t>特殊问题的</a:t>
            </a:r>
            <a:r>
              <a:rPr lang="zh-CN" altLang="en-US" b="1" dirty="0">
                <a:solidFill>
                  <a:srgbClr val="0070C0"/>
                </a:solidFill>
              </a:rPr>
              <a:t>数据结构与算法</a:t>
            </a:r>
            <a:r>
              <a:rPr lang="zh-CN" altLang="en-US" b="1" dirty="0"/>
              <a:t>的研究和发展。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教学内容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课程来源：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 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endParaRPr lang="en-US" altLang="zh-CN" b="1" dirty="0"/>
          </a:p>
          <a:p>
            <a:pPr lvl="1">
              <a:lnSpc>
                <a:spcPct val="120000"/>
              </a:lnSpc>
            </a:pPr>
            <a:endParaRPr lang="en-US" altLang="zh-CN" b="1" dirty="0"/>
          </a:p>
          <a:p>
            <a:pPr lvl="1">
              <a:lnSpc>
                <a:spcPct val="120000"/>
              </a:lnSpc>
            </a:pP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 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endParaRPr lang="en-US" altLang="zh-CN" b="1" dirty="0"/>
          </a:p>
          <a:p>
            <a:pPr lvl="1">
              <a:lnSpc>
                <a:spcPct val="120000"/>
              </a:lnSpc>
            </a:pP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 </a:t>
            </a:r>
            <a:endParaRPr lang="en-US" altLang="zh-CN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7200" y="636104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1223963" y="1884363"/>
            <a:ext cx="18002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计算机科学</a:t>
            </a:r>
            <a:endParaRPr lang="zh-CN" altLang="en-US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2582863" y="2171700"/>
            <a:ext cx="79216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2546351" y="1524000"/>
            <a:ext cx="100806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研究</a:t>
            </a:r>
            <a:endParaRPr lang="zh-CN" altLang="en-US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AutoShape 21"/>
          <p:cNvSpPr/>
          <p:nvPr/>
        </p:nvSpPr>
        <p:spPr bwMode="auto">
          <a:xfrm>
            <a:off x="3375026" y="1739900"/>
            <a:ext cx="431800" cy="935038"/>
          </a:xfrm>
          <a:prstGeom prst="leftBrace">
            <a:avLst>
              <a:gd name="adj1" fmla="val 18045"/>
              <a:gd name="adj2" fmla="val 50000"/>
            </a:avLst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1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3841751" y="1595438"/>
            <a:ext cx="15843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FF"/>
                </a:solidFill>
                <a:latin typeface="宋体" panose="02010600030101010101" pitchFamily="2" charset="-122"/>
              </a:rPr>
              <a:t>数据表示</a:t>
            </a:r>
            <a:endParaRPr lang="zh-CN" altLang="en-US" sz="1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3770313" y="2387600"/>
            <a:ext cx="15843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FF"/>
                </a:solidFill>
                <a:latin typeface="宋体" panose="02010600030101010101" pitchFamily="2" charset="-122"/>
              </a:rPr>
              <a:t>数据处理</a:t>
            </a:r>
            <a:endParaRPr lang="zh-CN" altLang="en-US" sz="1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AutoShape 24"/>
          <p:cNvSpPr/>
          <p:nvPr/>
        </p:nvSpPr>
        <p:spPr bwMode="auto">
          <a:xfrm>
            <a:off x="4929188" y="2387600"/>
            <a:ext cx="215900" cy="647700"/>
          </a:xfrm>
          <a:prstGeom prst="leftBrace">
            <a:avLst>
              <a:gd name="adj1" fmla="val 25000"/>
              <a:gd name="adj2" fmla="val 50000"/>
            </a:avLst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1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Text Box 25"/>
          <p:cNvSpPr txBox="1">
            <a:spLocks noChangeArrowheads="1"/>
          </p:cNvSpPr>
          <p:nvPr/>
        </p:nvSpPr>
        <p:spPr bwMode="auto">
          <a:xfrm>
            <a:off x="5105400" y="2244725"/>
            <a:ext cx="8636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数值</a:t>
            </a:r>
            <a:endParaRPr lang="zh-CN" altLang="en-US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Line 26"/>
          <p:cNvSpPr>
            <a:spLocks noChangeShapeType="1"/>
          </p:cNvSpPr>
          <p:nvPr/>
        </p:nvSpPr>
        <p:spPr bwMode="auto">
          <a:xfrm>
            <a:off x="5791200" y="2460625"/>
            <a:ext cx="792163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Text Box 27"/>
          <p:cNvSpPr txBox="1">
            <a:spLocks noChangeArrowheads="1"/>
          </p:cNvSpPr>
          <p:nvPr/>
        </p:nvSpPr>
        <p:spPr bwMode="auto">
          <a:xfrm>
            <a:off x="5791200" y="1884363"/>
            <a:ext cx="100806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FF"/>
                </a:solidFill>
                <a:latin typeface="宋体" panose="02010600030101010101" pitchFamily="2" charset="-122"/>
              </a:rPr>
              <a:t>发展</a:t>
            </a:r>
            <a:endParaRPr lang="zh-CN" altLang="en-US" sz="1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6464300" y="1955800"/>
            <a:ext cx="262731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文字、图像、声音等</a:t>
            </a:r>
            <a:endParaRPr lang="zh-CN" altLang="en-US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3" name="Line 31"/>
          <p:cNvSpPr>
            <a:spLocks noChangeShapeType="1"/>
          </p:cNvSpPr>
          <p:nvPr/>
        </p:nvSpPr>
        <p:spPr bwMode="auto">
          <a:xfrm>
            <a:off x="7615237" y="2532063"/>
            <a:ext cx="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Line 32"/>
          <p:cNvSpPr>
            <a:spLocks noChangeShapeType="1"/>
          </p:cNvSpPr>
          <p:nvPr/>
        </p:nvSpPr>
        <p:spPr bwMode="auto">
          <a:xfrm>
            <a:off x="6896100" y="2963863"/>
            <a:ext cx="165576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Line 33"/>
          <p:cNvSpPr>
            <a:spLocks noChangeShapeType="1"/>
          </p:cNvSpPr>
          <p:nvPr/>
        </p:nvSpPr>
        <p:spPr bwMode="auto">
          <a:xfrm>
            <a:off x="6896100" y="2963863"/>
            <a:ext cx="0" cy="4333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Line 34"/>
          <p:cNvSpPr>
            <a:spLocks noChangeShapeType="1"/>
          </p:cNvSpPr>
          <p:nvPr/>
        </p:nvSpPr>
        <p:spPr bwMode="auto">
          <a:xfrm>
            <a:off x="8551862" y="2963863"/>
            <a:ext cx="0" cy="4333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Text Box 36"/>
          <p:cNvSpPr txBox="1">
            <a:spLocks noChangeArrowheads="1"/>
          </p:cNvSpPr>
          <p:nvPr/>
        </p:nvSpPr>
        <p:spPr bwMode="auto">
          <a:xfrm>
            <a:off x="7688262" y="2389188"/>
            <a:ext cx="93662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>
                <a:solidFill>
                  <a:srgbClr val="0000FF"/>
                </a:solidFill>
                <a:latin typeface="宋体" panose="02010600030101010101" pitchFamily="2" charset="-122"/>
              </a:rPr>
              <a:t>表示</a:t>
            </a:r>
            <a:endParaRPr lang="zh-CN" altLang="en-US" sz="1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8" name="Text Box 39"/>
          <p:cNvSpPr txBox="1">
            <a:spLocks noChangeArrowheads="1"/>
          </p:cNvSpPr>
          <p:nvPr/>
        </p:nvSpPr>
        <p:spPr bwMode="auto">
          <a:xfrm>
            <a:off x="6248400" y="3276600"/>
            <a:ext cx="12954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多成分</a:t>
            </a:r>
            <a:endParaRPr lang="zh-CN" altLang="en-US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29" name="Text Box 40"/>
          <p:cNvSpPr txBox="1">
            <a:spLocks noChangeArrowheads="1"/>
          </p:cNvSpPr>
          <p:nvPr/>
        </p:nvSpPr>
        <p:spPr bwMode="auto">
          <a:xfrm>
            <a:off x="7920037" y="3276600"/>
            <a:ext cx="117157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一定结构</a:t>
            </a:r>
            <a:endParaRPr lang="zh-CN" altLang="en-US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0" name="Text Box 4"/>
          <p:cNvSpPr txBox="1">
            <a:spLocks noChangeArrowheads="1"/>
          </p:cNvSpPr>
          <p:nvPr/>
        </p:nvSpPr>
        <p:spPr bwMode="auto">
          <a:xfrm>
            <a:off x="1276350" y="4267200"/>
            <a:ext cx="4032250" cy="48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数值计算问题数学模型</a:t>
            </a:r>
            <a:endParaRPr lang="en-US" altLang="zh-CN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1" name="AutoShape 6"/>
          <p:cNvSpPr/>
          <p:nvPr/>
        </p:nvSpPr>
        <p:spPr bwMode="auto">
          <a:xfrm>
            <a:off x="4114800" y="3805237"/>
            <a:ext cx="434975" cy="1512888"/>
          </a:xfrm>
          <a:prstGeom prst="leftBrace">
            <a:avLst>
              <a:gd name="adj1" fmla="val 17680"/>
              <a:gd name="adj2" fmla="val 50000"/>
            </a:avLst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4646613" y="3589337"/>
            <a:ext cx="3025775" cy="48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线形代数方程组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>
            <a:off x="4646613" y="4310062"/>
            <a:ext cx="3559175" cy="48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非线形代数方程组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4" name="Text Box 9"/>
          <p:cNvSpPr txBox="1">
            <a:spLocks noChangeArrowheads="1"/>
          </p:cNvSpPr>
          <p:nvPr/>
        </p:nvSpPr>
        <p:spPr bwMode="auto">
          <a:xfrm>
            <a:off x="4646613" y="5029200"/>
            <a:ext cx="2847975" cy="48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微分方程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5" name="Text Box 10"/>
          <p:cNvSpPr txBox="1">
            <a:spLocks noChangeArrowheads="1"/>
          </p:cNvSpPr>
          <p:nvPr/>
        </p:nvSpPr>
        <p:spPr bwMode="auto">
          <a:xfrm>
            <a:off x="1219200" y="5650581"/>
            <a:ext cx="4116388" cy="48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非数值计算问题数学模型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6" name="Text Box 13"/>
          <p:cNvSpPr txBox="1">
            <a:spLocks noChangeArrowheads="1"/>
          </p:cNvSpPr>
          <p:nvPr/>
        </p:nvSpPr>
        <p:spPr bwMode="auto">
          <a:xfrm>
            <a:off x="5368925" y="5650581"/>
            <a:ext cx="324167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本课程讨论的内容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Line 15"/>
          <p:cNvSpPr>
            <a:spLocks noChangeShapeType="1"/>
          </p:cNvSpPr>
          <p:nvPr/>
        </p:nvSpPr>
        <p:spPr bwMode="auto">
          <a:xfrm>
            <a:off x="4648200" y="5955381"/>
            <a:ext cx="57626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 animBg="1"/>
      <p:bldP spid="21" grpId="0"/>
      <p:bldP spid="22" grpId="0"/>
      <p:bldP spid="23" grpId="0" animBg="1"/>
      <p:bldP spid="24" grpId="0" animBg="1"/>
      <p:bldP spid="25" grpId="0" animBg="1"/>
      <p:bldP spid="26" grpId="0" animBg="1"/>
      <p:bldP spid="27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教学内容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与程序设计的关系：</a:t>
            </a:r>
            <a:endParaRPr lang="en-US" altLang="zh-CN" b="1" dirty="0"/>
          </a:p>
          <a:p>
            <a:pPr>
              <a:lnSpc>
                <a:spcPct val="120000"/>
              </a:lnSpc>
            </a:pPr>
            <a:endParaRPr lang="en-US" altLang="zh-CN" b="1" dirty="0"/>
          </a:p>
          <a:p>
            <a:pPr>
              <a:lnSpc>
                <a:spcPct val="120000"/>
              </a:lnSpc>
            </a:pPr>
            <a:endParaRPr lang="en-US" altLang="zh-CN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具体地：</a:t>
            </a:r>
            <a:endParaRPr lang="en-US" altLang="zh-CN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481013" y="2260639"/>
            <a:ext cx="17621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程序设计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AutoShape 5"/>
          <p:cNvSpPr/>
          <p:nvPr/>
        </p:nvSpPr>
        <p:spPr bwMode="auto">
          <a:xfrm>
            <a:off x="1863725" y="1827252"/>
            <a:ext cx="574675" cy="1495425"/>
          </a:xfrm>
          <a:prstGeom prst="leftBrace">
            <a:avLst>
              <a:gd name="adj1" fmla="val 23781"/>
              <a:gd name="adj2" fmla="val 50000"/>
            </a:avLst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0" name="Text Box 6"/>
          <p:cNvSpPr txBox="1">
            <a:spLocks noChangeArrowheads="1"/>
          </p:cNvSpPr>
          <p:nvPr/>
        </p:nvSpPr>
        <p:spPr bwMode="auto">
          <a:xfrm>
            <a:off x="2376488" y="1611352"/>
            <a:ext cx="22955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精心设计算法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Text Box 7"/>
          <p:cNvSpPr txBox="1">
            <a:spLocks noChangeArrowheads="1"/>
          </p:cNvSpPr>
          <p:nvPr/>
        </p:nvSpPr>
        <p:spPr bwMode="auto">
          <a:xfrm>
            <a:off x="2366963" y="2979777"/>
            <a:ext cx="237648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精心组织数据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AutoShape 8"/>
          <p:cNvSpPr/>
          <p:nvPr/>
        </p:nvSpPr>
        <p:spPr bwMode="auto">
          <a:xfrm>
            <a:off x="4465638" y="2619414"/>
            <a:ext cx="277812" cy="1344613"/>
          </a:xfrm>
          <a:prstGeom prst="leftBrace">
            <a:avLst>
              <a:gd name="adj1" fmla="val 24962"/>
              <a:gd name="adj2" fmla="val 50000"/>
            </a:avLst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3" name="Text Box 9"/>
          <p:cNvSpPr txBox="1">
            <a:spLocks noChangeArrowheads="1"/>
          </p:cNvSpPr>
          <p:nvPr/>
        </p:nvSpPr>
        <p:spPr bwMode="auto">
          <a:xfrm>
            <a:off x="4811713" y="2547977"/>
            <a:ext cx="1803400" cy="48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原始数据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4" name="Text Box 10"/>
          <p:cNvSpPr txBox="1">
            <a:spLocks noChangeArrowheads="1"/>
          </p:cNvSpPr>
          <p:nvPr/>
        </p:nvSpPr>
        <p:spPr bwMode="auto">
          <a:xfrm>
            <a:off x="4802188" y="3051214"/>
            <a:ext cx="188436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中间结果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4829175" y="3556039"/>
            <a:ext cx="166211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最终结果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6" name="AutoShape 12"/>
          <p:cNvSpPr/>
          <p:nvPr/>
        </p:nvSpPr>
        <p:spPr bwMode="auto">
          <a:xfrm>
            <a:off x="6400800" y="2619414"/>
            <a:ext cx="301625" cy="1420813"/>
          </a:xfrm>
          <a:prstGeom prst="rightBrace">
            <a:avLst>
              <a:gd name="adj1" fmla="val 26409"/>
              <a:gd name="adj2" fmla="val 50000"/>
            </a:avLst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7" name="Text Box 14"/>
          <p:cNvSpPr txBox="1">
            <a:spLocks noChangeArrowheads="1"/>
          </p:cNvSpPr>
          <p:nvPr/>
        </p:nvSpPr>
        <p:spPr bwMode="auto">
          <a:xfrm>
            <a:off x="7065963" y="3055977"/>
            <a:ext cx="1725612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  组织形式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 （数据结构）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8" name="Text Box 16"/>
          <p:cNvSpPr txBox="1">
            <a:spLocks noChangeArrowheads="1"/>
          </p:cNvSpPr>
          <p:nvPr/>
        </p:nvSpPr>
        <p:spPr bwMode="auto">
          <a:xfrm>
            <a:off x="7138987" y="4343400"/>
            <a:ext cx="20891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计算机处理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9" name="虚尾箭头 48"/>
          <p:cNvSpPr/>
          <p:nvPr/>
        </p:nvSpPr>
        <p:spPr bwMode="auto">
          <a:xfrm>
            <a:off x="6686550" y="3270289"/>
            <a:ext cx="714375" cy="142875"/>
          </a:xfrm>
          <a:prstGeom prst="stripedRightArrow">
            <a:avLst/>
          </a:prstGeom>
          <a:solidFill>
            <a:srgbClr val="0000FF"/>
          </a:solidFill>
          <a:ln w="9525" cap="flat" cmpd="sng" algn="ctr">
            <a:solidFill>
              <a:srgbClr val="0F6FC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273050" marR="0" lvl="0" indent="-27305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Char char="Ø"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0" name="虚尾箭头 49"/>
          <p:cNvSpPr/>
          <p:nvPr/>
        </p:nvSpPr>
        <p:spPr bwMode="auto">
          <a:xfrm>
            <a:off x="2886075" y="4556164"/>
            <a:ext cx="1643063" cy="285750"/>
          </a:xfrm>
          <a:prstGeom prst="stripedRightArrow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273050" indent="-2730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Char char="Ø"/>
              <a:defRPr/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1" name="下箭头 50"/>
          <p:cNvSpPr>
            <a:spLocks noChangeArrowheads="1"/>
          </p:cNvSpPr>
          <p:nvPr/>
        </p:nvSpPr>
        <p:spPr bwMode="auto">
          <a:xfrm>
            <a:off x="8115300" y="3556039"/>
            <a:ext cx="142875" cy="27699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2" name="下箭头 51"/>
          <p:cNvSpPr>
            <a:spLocks noChangeArrowheads="1"/>
          </p:cNvSpPr>
          <p:nvPr/>
        </p:nvSpPr>
        <p:spPr bwMode="auto">
          <a:xfrm>
            <a:off x="8123375" y="4110037"/>
            <a:ext cx="142875" cy="366713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3" name="Text Box 4"/>
          <p:cNvSpPr txBox="1">
            <a:spLocks noChangeArrowheads="1"/>
          </p:cNvSpPr>
          <p:nvPr/>
        </p:nvSpPr>
        <p:spPr bwMode="auto">
          <a:xfrm>
            <a:off x="304800" y="4927600"/>
            <a:ext cx="154781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高效程序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1636713" y="5287962"/>
            <a:ext cx="79216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5" name="Text Box 6"/>
          <p:cNvSpPr txBox="1">
            <a:spLocks noChangeArrowheads="1"/>
          </p:cNvSpPr>
          <p:nvPr/>
        </p:nvSpPr>
        <p:spPr bwMode="auto">
          <a:xfrm>
            <a:off x="1636713" y="4638675"/>
            <a:ext cx="8636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研究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6" name="AutoShape 7"/>
          <p:cNvSpPr/>
          <p:nvPr/>
        </p:nvSpPr>
        <p:spPr bwMode="auto">
          <a:xfrm>
            <a:off x="2500313" y="4495800"/>
            <a:ext cx="144462" cy="1655762"/>
          </a:xfrm>
          <a:prstGeom prst="leftBrace">
            <a:avLst>
              <a:gd name="adj1" fmla="val 95513"/>
              <a:gd name="adj2" fmla="val 50000"/>
            </a:avLst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7" name="Text Box 8"/>
          <p:cNvSpPr txBox="1">
            <a:spLocks noChangeArrowheads="1"/>
          </p:cNvSpPr>
          <p:nvPr/>
        </p:nvSpPr>
        <p:spPr bwMode="auto">
          <a:xfrm>
            <a:off x="2698750" y="4495800"/>
            <a:ext cx="18732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数据的特性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8" name="Text Box 9"/>
          <p:cNvSpPr txBox="1">
            <a:spLocks noChangeArrowheads="1"/>
          </p:cNvSpPr>
          <p:nvPr/>
        </p:nvSpPr>
        <p:spPr bwMode="auto">
          <a:xfrm>
            <a:off x="2644775" y="5072062"/>
            <a:ext cx="266382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数据间的相互关系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59" name="Text Box 10"/>
          <p:cNvSpPr txBox="1">
            <a:spLocks noChangeArrowheads="1"/>
          </p:cNvSpPr>
          <p:nvPr/>
        </p:nvSpPr>
        <p:spPr bwMode="auto">
          <a:xfrm>
            <a:off x="2644775" y="5791200"/>
            <a:ext cx="29527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0000FF"/>
                </a:solidFill>
                <a:latin typeface="宋体" panose="02010600030101010101" pitchFamily="2" charset="-122"/>
              </a:rPr>
              <a:t>数据对应的存储表示</a:t>
            </a: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60" name="AutoShape 11"/>
          <p:cNvSpPr/>
          <p:nvPr/>
        </p:nvSpPr>
        <p:spPr bwMode="auto">
          <a:xfrm>
            <a:off x="5334000" y="4495800"/>
            <a:ext cx="71437" cy="1800225"/>
          </a:xfrm>
          <a:prstGeom prst="rightBrace">
            <a:avLst>
              <a:gd name="adj1" fmla="val 210001"/>
              <a:gd name="adj2" fmla="val 50000"/>
            </a:avLst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6161087" y="5143500"/>
            <a:ext cx="25717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rPr>
              <a:t>数据结构研究的内容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62" name="Line 15"/>
          <p:cNvSpPr>
            <a:spLocks noChangeShapeType="1"/>
          </p:cNvSpPr>
          <p:nvPr/>
        </p:nvSpPr>
        <p:spPr bwMode="auto">
          <a:xfrm flipH="1" flipV="1">
            <a:off x="5478462" y="5430837"/>
            <a:ext cx="6477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cxnSp>
        <p:nvCxnSpPr>
          <p:cNvPr id="63" name="直接连接符 62"/>
          <p:cNvCxnSpPr/>
          <p:nvPr/>
        </p:nvCxnSpPr>
        <p:spPr>
          <a:xfrm>
            <a:off x="457200" y="6361044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45" grpId="0"/>
      <p:bldP spid="46" grpId="0" animBg="1"/>
      <p:bldP spid="47" grpId="0"/>
      <p:bldP spid="48" grpId="0"/>
      <p:bldP spid="51" grpId="0" animBg="1"/>
      <p:bldP spid="52" grpId="0" animBg="1"/>
      <p:bldP spid="53" grpId="0"/>
      <p:bldP spid="54" grpId="0" animBg="1"/>
      <p:bldP spid="54" grpId="1" animBg="1"/>
      <p:bldP spid="55" grpId="0"/>
      <p:bldP spid="55" grpId="1"/>
      <p:bldP spid="56" grpId="0" animBg="1"/>
      <p:bldP spid="56" grpId="1" animBg="1"/>
      <p:bldP spid="57" grpId="0"/>
      <p:bldP spid="57" grpId="1"/>
      <p:bldP spid="58" grpId="0"/>
      <p:bldP spid="58" grpId="1"/>
      <p:bldP spid="59" grpId="0"/>
      <p:bldP spid="59" grpId="1"/>
      <p:bldP spid="60" grpId="0" animBg="1"/>
      <p:bldP spid="60" grpId="1" animBg="1"/>
      <p:bldP spid="61" grpId="0"/>
      <p:bldP spid="62" grpId="0" animBg="1"/>
      <p:bldP spid="6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课程一览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ts val="25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两个主题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数据结构</a:t>
            </a:r>
            <a:r>
              <a:rPr lang="zh-CN" altLang="en-US" b="1" dirty="0"/>
              <a:t>：数据及其之间的相互关系，是对数据的抽象。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算法</a:t>
            </a:r>
            <a:r>
              <a:rPr lang="zh-CN" altLang="en-US" b="1" dirty="0"/>
              <a:t>：是求解特定问题的方法，是将输入转为输出的一系 列计算步骤。</a:t>
            </a:r>
            <a:endParaRPr lang="en-US" altLang="zh-CN" b="1" dirty="0"/>
          </a:p>
          <a:p>
            <a:pPr>
              <a:lnSpc>
                <a:spcPts val="25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课程的内容组织</a:t>
            </a:r>
            <a:r>
              <a:rPr lang="zh-CN" altLang="en-US" b="1" dirty="0"/>
              <a:t>：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/>
              <a:t>四种基本的数据结构</a:t>
            </a:r>
            <a:endParaRPr lang="en-US" altLang="zh-CN" b="1" dirty="0"/>
          </a:p>
          <a:p>
            <a:pPr lvl="2">
              <a:lnSpc>
                <a:spcPts val="2500"/>
              </a:lnSpc>
            </a:pPr>
            <a:r>
              <a:rPr lang="zh-CN" altLang="en-US" b="1" dirty="0"/>
              <a:t>线性结构：</a:t>
            </a:r>
            <a:r>
              <a:rPr lang="zh-CN" altLang="en-US" b="1" dirty="0">
                <a:solidFill>
                  <a:srgbClr val="FF0000"/>
                </a:solidFill>
              </a:rPr>
              <a:t>一对一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线性</a:t>
            </a:r>
            <a:r>
              <a:rPr lang="zh-CN" altLang="en-US" b="1" dirty="0"/>
              <a:t>关系；</a:t>
            </a:r>
            <a:endParaRPr lang="en-US" altLang="zh-CN" b="1" dirty="0"/>
          </a:p>
          <a:p>
            <a:pPr lvl="2">
              <a:lnSpc>
                <a:spcPts val="2500"/>
              </a:lnSpc>
            </a:pPr>
            <a:r>
              <a:rPr lang="zh-CN" altLang="en-US" b="1" dirty="0"/>
              <a:t>树型结构：</a:t>
            </a:r>
            <a:r>
              <a:rPr lang="zh-CN" altLang="en-US" b="1" dirty="0">
                <a:solidFill>
                  <a:srgbClr val="FF0000"/>
                </a:solidFill>
              </a:rPr>
              <a:t>一对多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层次</a:t>
            </a:r>
            <a:r>
              <a:rPr lang="zh-CN" altLang="en-US" b="1" dirty="0"/>
              <a:t>关系；</a:t>
            </a:r>
            <a:endParaRPr lang="en-US" altLang="zh-CN" b="1" dirty="0"/>
          </a:p>
          <a:p>
            <a:pPr lvl="2">
              <a:lnSpc>
                <a:spcPts val="2500"/>
              </a:lnSpc>
            </a:pPr>
            <a:r>
              <a:rPr lang="zh-CN" altLang="en-US" b="1" dirty="0"/>
              <a:t>图型结构：</a:t>
            </a:r>
            <a:r>
              <a:rPr lang="zh-CN" altLang="en-US" b="1" dirty="0">
                <a:solidFill>
                  <a:srgbClr val="FF0000"/>
                </a:solidFill>
              </a:rPr>
              <a:t>多对多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任意</a:t>
            </a:r>
            <a:r>
              <a:rPr lang="zh-CN" altLang="en-US" b="1" dirty="0"/>
              <a:t>关系；</a:t>
            </a:r>
            <a:endParaRPr lang="en-US" altLang="zh-CN" b="1" dirty="0"/>
          </a:p>
          <a:p>
            <a:pPr lvl="2">
              <a:lnSpc>
                <a:spcPts val="2500"/>
              </a:lnSpc>
            </a:pPr>
            <a:r>
              <a:rPr lang="zh-CN" altLang="en-US" b="1" dirty="0"/>
              <a:t>集合结构：属于</a:t>
            </a:r>
            <a:r>
              <a:rPr lang="zh-CN" altLang="en-US" b="1" dirty="0">
                <a:solidFill>
                  <a:srgbClr val="FF0000"/>
                </a:solidFill>
              </a:rPr>
              <a:t>同一个集合</a:t>
            </a:r>
            <a:r>
              <a:rPr lang="zh-CN" altLang="en-US" b="1" dirty="0"/>
              <a:t>关系。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/>
              <a:t>查找：线性结构、树型结构和散列结构上查找；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/>
              <a:t>排序：内部排序和</a:t>
            </a:r>
            <a:r>
              <a:rPr lang="zh-CN" altLang="en-US" b="1" dirty="0">
                <a:solidFill>
                  <a:schemeClr val="bg1">
                    <a:lumMod val="65000"/>
                  </a:schemeClr>
                </a:solidFill>
              </a:rPr>
              <a:t>外部排序（包括文件）</a:t>
            </a:r>
            <a:r>
              <a:rPr lang="zh-CN" altLang="en-US" b="1" dirty="0"/>
              <a:t>；</a:t>
            </a:r>
            <a:endParaRPr lang="en-US" altLang="zh-CN" b="1" dirty="0"/>
          </a:p>
          <a:p>
            <a:pPr lvl="1">
              <a:lnSpc>
                <a:spcPts val="2500"/>
              </a:lnSpc>
            </a:pPr>
            <a:r>
              <a:rPr lang="zh-CN" altLang="en-US" b="1" dirty="0"/>
              <a:t>算法主题：数学基础、平摊分析、动态规划、贪心、搜索。</a:t>
            </a:r>
            <a:endParaRPr lang="en-US" altLang="zh-CN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1" y="3313414"/>
            <a:ext cx="1371600" cy="201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" name="Group 15"/>
          <p:cNvGrpSpPr/>
          <p:nvPr/>
        </p:nvGrpSpPr>
        <p:grpSpPr bwMode="auto">
          <a:xfrm>
            <a:off x="5562600" y="3572714"/>
            <a:ext cx="1152525" cy="792162"/>
            <a:chOff x="3078" y="1770"/>
            <a:chExt cx="1146" cy="624"/>
          </a:xfrm>
        </p:grpSpPr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3078" y="2020"/>
              <a:ext cx="144" cy="1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Oval 17"/>
            <p:cNvSpPr>
              <a:spLocks noChangeArrowheads="1"/>
            </p:cNvSpPr>
            <p:nvPr/>
          </p:nvSpPr>
          <p:spPr bwMode="auto">
            <a:xfrm>
              <a:off x="3372" y="1770"/>
              <a:ext cx="144" cy="1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3456" y="2020"/>
              <a:ext cx="144" cy="1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Oval 19"/>
            <p:cNvSpPr>
              <a:spLocks noChangeArrowheads="1"/>
            </p:cNvSpPr>
            <p:nvPr/>
          </p:nvSpPr>
          <p:spPr bwMode="auto">
            <a:xfrm>
              <a:off x="3414" y="2269"/>
              <a:ext cx="144" cy="1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Oval 20"/>
            <p:cNvSpPr>
              <a:spLocks noChangeArrowheads="1"/>
            </p:cNvSpPr>
            <p:nvPr/>
          </p:nvSpPr>
          <p:spPr bwMode="auto">
            <a:xfrm>
              <a:off x="3792" y="1895"/>
              <a:ext cx="144" cy="1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Oval 21"/>
            <p:cNvSpPr>
              <a:spLocks noChangeArrowheads="1"/>
            </p:cNvSpPr>
            <p:nvPr/>
          </p:nvSpPr>
          <p:spPr bwMode="auto">
            <a:xfrm>
              <a:off x="3732" y="2181"/>
              <a:ext cx="144" cy="1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Oval 22"/>
            <p:cNvSpPr>
              <a:spLocks noChangeArrowheads="1"/>
            </p:cNvSpPr>
            <p:nvPr/>
          </p:nvSpPr>
          <p:spPr bwMode="auto">
            <a:xfrm>
              <a:off x="4080" y="1891"/>
              <a:ext cx="144" cy="1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3246" y="2082"/>
              <a:ext cx="21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 flipV="1">
              <a:off x="3162" y="1833"/>
              <a:ext cx="216" cy="18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3216" y="2132"/>
              <a:ext cx="204" cy="17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5" name="Line 26"/>
            <p:cNvSpPr>
              <a:spLocks noChangeShapeType="1"/>
            </p:cNvSpPr>
            <p:nvPr/>
          </p:nvSpPr>
          <p:spPr bwMode="auto">
            <a:xfrm flipV="1">
              <a:off x="3582" y="1957"/>
              <a:ext cx="210" cy="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564" y="2145"/>
              <a:ext cx="186" cy="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7" name="Line 28"/>
            <p:cNvSpPr>
              <a:spLocks noChangeShapeType="1"/>
            </p:cNvSpPr>
            <p:nvPr/>
          </p:nvSpPr>
          <p:spPr bwMode="auto">
            <a:xfrm>
              <a:off x="3936" y="1957"/>
              <a:ext cx="1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732" y="4060818"/>
            <a:ext cx="809167" cy="44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619" y="4493697"/>
            <a:ext cx="685184" cy="488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学习目标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ts val="34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让“数据结构与算法”成为您编写代码的利器</a:t>
            </a:r>
            <a:endParaRPr lang="en-US" altLang="zh-CN" b="1" dirty="0"/>
          </a:p>
          <a:p>
            <a:pPr lvl="1">
              <a:lnSpc>
                <a:spcPts val="3400"/>
              </a:lnSpc>
            </a:pPr>
            <a:r>
              <a:rPr lang="zh-CN" altLang="en-US" b="1" dirty="0"/>
              <a:t>彻底精通数据结构与算法。</a:t>
            </a:r>
            <a:endParaRPr lang="en-US" altLang="zh-CN" b="1" dirty="0"/>
          </a:p>
          <a:p>
            <a:pPr lvl="1">
              <a:lnSpc>
                <a:spcPts val="3400"/>
              </a:lnSpc>
            </a:pPr>
            <a:r>
              <a:rPr lang="zh-CN" altLang="en-US" b="1" dirty="0"/>
              <a:t>不仅仅停留在逻辑层面。</a:t>
            </a:r>
            <a:endParaRPr lang="en-US" altLang="zh-CN" b="1" dirty="0"/>
          </a:p>
          <a:p>
            <a:pPr>
              <a:lnSpc>
                <a:spcPts val="3400"/>
              </a:lnSpc>
            </a:pPr>
            <a:r>
              <a:rPr lang="zh-CN" altLang="en-US" b="1" dirty="0">
                <a:solidFill>
                  <a:srgbClr val="0070C0"/>
                </a:solidFill>
              </a:rPr>
              <a:t>让“数据结构与算法”</a:t>
            </a:r>
            <a:endParaRPr lang="en-US" altLang="zh-CN" b="1" dirty="0"/>
          </a:p>
          <a:p>
            <a:pPr lvl="1">
              <a:lnSpc>
                <a:spcPts val="3400"/>
              </a:lnSpc>
            </a:pPr>
            <a:r>
              <a:rPr lang="zh-CN" altLang="en-US" b="1" dirty="0"/>
              <a:t>不再是您</a:t>
            </a:r>
            <a:r>
              <a:rPr lang="zh-CN" altLang="en-US" sz="3100" b="1" dirty="0">
                <a:solidFill>
                  <a:srgbClr val="FF0000"/>
                </a:solidFill>
              </a:rPr>
              <a:t>程序设计</a:t>
            </a:r>
            <a:r>
              <a:rPr lang="zh-CN" altLang="en-US" b="1" dirty="0"/>
              <a:t>的障碍！ </a:t>
            </a:r>
            <a:endParaRPr lang="en-US" altLang="zh-CN" b="1" dirty="0"/>
          </a:p>
          <a:p>
            <a:pPr lvl="1">
              <a:lnSpc>
                <a:spcPts val="3400"/>
              </a:lnSpc>
            </a:pPr>
            <a:r>
              <a:rPr lang="zh-CN" altLang="en-US" b="1" dirty="0"/>
              <a:t>不再是您</a:t>
            </a:r>
            <a:r>
              <a:rPr lang="zh-CN" altLang="en-US" sz="3100" b="1" dirty="0">
                <a:solidFill>
                  <a:srgbClr val="FF0000"/>
                </a:solidFill>
              </a:rPr>
              <a:t>学习其他课程</a:t>
            </a:r>
            <a:r>
              <a:rPr lang="zh-CN" altLang="en-US" b="1" dirty="0"/>
              <a:t>的障碍！</a:t>
            </a:r>
            <a:endParaRPr lang="en-US" altLang="zh-CN" b="1" dirty="0"/>
          </a:p>
          <a:p>
            <a:pPr lvl="1">
              <a:lnSpc>
                <a:spcPts val="3400"/>
              </a:lnSpc>
            </a:pPr>
            <a:r>
              <a:rPr lang="zh-CN" altLang="en-US" b="1" dirty="0"/>
              <a:t>不再是您</a:t>
            </a:r>
            <a:r>
              <a:rPr lang="zh-CN" altLang="en-US" sz="3100" b="1" dirty="0">
                <a:solidFill>
                  <a:srgbClr val="FF0000"/>
                </a:solidFill>
              </a:rPr>
              <a:t>考研</a:t>
            </a:r>
            <a:r>
              <a:rPr lang="zh-CN" altLang="en-US" b="1" dirty="0"/>
              <a:t>的障碍！</a:t>
            </a:r>
            <a:endParaRPr lang="en-US" altLang="zh-CN" b="1" dirty="0"/>
          </a:p>
          <a:p>
            <a:pPr lvl="1">
              <a:lnSpc>
                <a:spcPts val="3400"/>
              </a:lnSpc>
            </a:pPr>
            <a:r>
              <a:rPr lang="zh-CN" altLang="en-US" b="1" dirty="0"/>
              <a:t>不再是您找</a:t>
            </a:r>
            <a:r>
              <a:rPr lang="zh-CN" altLang="en-US" sz="3100" b="1" dirty="0">
                <a:solidFill>
                  <a:srgbClr val="FF0000"/>
                </a:solidFill>
              </a:rPr>
              <a:t>工作</a:t>
            </a:r>
            <a:r>
              <a:rPr lang="zh-CN" altLang="en-US" b="1" dirty="0"/>
              <a:t>的障碍！</a:t>
            </a:r>
            <a:endParaRPr lang="en-US" altLang="zh-CN" b="1" dirty="0"/>
          </a:p>
          <a:p>
            <a:pPr>
              <a:lnSpc>
                <a:spcPts val="3400"/>
              </a:lnSpc>
            </a:pPr>
            <a:r>
              <a:rPr lang="zh-CN" altLang="en-US" b="1" dirty="0"/>
              <a:t>在</a:t>
            </a:r>
            <a:r>
              <a:rPr lang="zh-CN" altLang="en-US" sz="4000" b="1" dirty="0">
                <a:solidFill>
                  <a:srgbClr val="FF0000"/>
                </a:solidFill>
              </a:rPr>
              <a:t>代码实践</a:t>
            </a:r>
            <a:r>
              <a:rPr lang="zh-CN" altLang="en-US" b="1" dirty="0"/>
              <a:t>中</a:t>
            </a:r>
            <a:r>
              <a:rPr lang="zh-CN" altLang="en-US" sz="4000" b="1" dirty="0">
                <a:solidFill>
                  <a:srgbClr val="FF0000"/>
                </a:solidFill>
              </a:rPr>
              <a:t>升华</a:t>
            </a:r>
            <a:r>
              <a:rPr lang="zh-CN" altLang="en-US" b="1" dirty="0"/>
              <a:t>您的</a:t>
            </a:r>
            <a:r>
              <a:rPr lang="zh-CN" altLang="en-US" sz="4000" b="1" dirty="0">
                <a:solidFill>
                  <a:srgbClr val="FF0000"/>
                </a:solidFill>
              </a:rPr>
              <a:t>数据和算法思维</a:t>
            </a:r>
            <a:r>
              <a:rPr lang="zh-CN" altLang="en-US" b="1" dirty="0"/>
              <a:t>，爱上计算机专业！</a:t>
            </a: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http://www.hitsz.edu.cn/UserFiles/banner/large/1498189993954.jpg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2009"/>
            <a:ext cx="9144000" cy="346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8968" y="19050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6600" b="1" dirty="0">
                <a:solidFill>
                  <a:srgbClr val="FF0000"/>
                </a:solidFill>
              </a:rPr>
              <a:t>第</a:t>
            </a:r>
            <a:r>
              <a:rPr lang="en-US" altLang="zh-CN" sz="6600" b="1" dirty="0">
                <a:solidFill>
                  <a:srgbClr val="FF0000"/>
                </a:solidFill>
              </a:rPr>
              <a:t>1</a:t>
            </a:r>
            <a:r>
              <a:rPr lang="zh-CN" altLang="en-US" sz="6600" b="1" dirty="0">
                <a:solidFill>
                  <a:srgbClr val="FF0000"/>
                </a:solidFill>
              </a:rPr>
              <a:t>章 绪论</a:t>
            </a:r>
            <a:endParaRPr lang="zh-CN" altLang="en-US" sz="66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本章重点与难点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掌握数据结构等基本概念。</a:t>
            </a:r>
            <a:endParaRPr kumimoji="1" lang="en-US" altLang="zh-CN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数据的逻辑结构、存储结构以及两者之间的关系；</a:t>
            </a:r>
            <a:endParaRPr lang="en-US" altLang="zh-CN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算法及特性；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初步掌握估算算法时间复杂度的方法。</a:t>
            </a:r>
            <a:endParaRPr kumimoji="1" lang="zh-CN" altLang="en-US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34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第一章 绪论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数据结构及其讨论范畴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基本概念和术语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1.3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抽象数据类型的表示与实现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1.4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算法和算法分析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ts val="34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第一章 绪论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数据结构及其讨论范畴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基本概念和术语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1.3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抽象数据类型的表示与实现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1.4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算法和算法分析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ts val="34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400"/>
              </a:lnSpc>
            </a:pPr>
            <a:r>
              <a:rPr lang="zh-CN" altLang="en-US" sz="2800" b="1" dirty="0"/>
              <a:t>数据结构的兴起与发展</a:t>
            </a:r>
            <a:endParaRPr lang="en-US" altLang="zh-CN" sz="2800" b="1" dirty="0"/>
          </a:p>
          <a:p>
            <a:pPr lvl="1">
              <a:lnSpc>
                <a:spcPts val="34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数据结构的创始人</a:t>
            </a:r>
            <a:r>
              <a:rPr lang="en-US" altLang="zh-CN" sz="2400" b="1" dirty="0">
                <a:solidFill>
                  <a:srgbClr val="FF0000"/>
                </a:solidFill>
              </a:rPr>
              <a:t>—</a:t>
            </a:r>
            <a:r>
              <a:rPr lang="en-US" altLang="zh-CN" sz="2400" b="1" dirty="0" err="1">
                <a:solidFill>
                  <a:srgbClr val="FF0000"/>
                </a:solidFill>
              </a:rPr>
              <a:t>Donald.E.Knuth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2103120" lvl="2">
              <a:lnSpc>
                <a:spcPts val="3400"/>
              </a:lnSpc>
            </a:pPr>
            <a:r>
              <a:rPr lang="en-US" altLang="zh-CN" sz="2000" b="1" dirty="0"/>
              <a:t>1938</a:t>
            </a:r>
            <a:r>
              <a:rPr lang="zh-CN" altLang="en-US" sz="2000" b="1" dirty="0"/>
              <a:t>年出生，</a:t>
            </a:r>
            <a:r>
              <a:rPr lang="en-US" altLang="zh-CN" sz="2000" b="1" dirty="0"/>
              <a:t>25</a:t>
            </a:r>
            <a:r>
              <a:rPr lang="zh-CN" altLang="en-US" sz="2000" b="1" dirty="0"/>
              <a:t>岁毕业于加州理工学院 数学系博士毕业后留校任教，</a:t>
            </a:r>
            <a:r>
              <a:rPr lang="en-US" altLang="zh-CN" sz="2000" b="1" dirty="0"/>
              <a:t>28</a:t>
            </a:r>
            <a:r>
              <a:rPr lang="zh-CN" altLang="en-US" sz="2000" b="1" dirty="0"/>
              <a:t>岁任 副教授。</a:t>
            </a:r>
            <a:r>
              <a:rPr lang="en-US" altLang="zh-CN" sz="2000" b="1" dirty="0"/>
              <a:t>30</a:t>
            </a:r>
            <a:r>
              <a:rPr lang="zh-CN" altLang="en-US" sz="2000" b="1" dirty="0"/>
              <a:t>岁时，加盟</a:t>
            </a:r>
            <a:r>
              <a:rPr lang="zh-CN" altLang="en-US" sz="2000" b="1" dirty="0">
                <a:solidFill>
                  <a:srgbClr val="1B06BA"/>
                </a:solidFill>
              </a:rPr>
              <a:t>斯坦福大学</a:t>
            </a:r>
            <a:r>
              <a:rPr lang="zh-CN" altLang="en-US" sz="2000" b="1" dirty="0"/>
              <a:t>计算机系，任教授。从</a:t>
            </a:r>
            <a:r>
              <a:rPr lang="en-US" altLang="zh-CN" sz="2000" b="1" dirty="0"/>
              <a:t>31</a:t>
            </a:r>
            <a:r>
              <a:rPr lang="zh-CN" altLang="en-US" sz="2000" b="1" dirty="0"/>
              <a:t>岁起，开始出版他的历史性经典巨著 ：</a:t>
            </a:r>
            <a:endParaRPr lang="zh-CN" altLang="en-US" sz="2000" b="1" dirty="0"/>
          </a:p>
          <a:p>
            <a:pPr marL="914400" lvl="2" indent="0">
              <a:lnSpc>
                <a:spcPts val="3400"/>
              </a:lnSpc>
              <a:buNone/>
            </a:pPr>
            <a:r>
              <a:rPr lang="en-US" altLang="zh-CN" sz="2000" b="1" dirty="0">
                <a:solidFill>
                  <a:srgbClr val="1801BF"/>
                </a:solidFill>
              </a:rPr>
              <a:t>                         </a:t>
            </a: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Art of Computer Programming</a:t>
            </a:r>
            <a:endParaRPr kumimoji="1" lang="en-US" altLang="zh-CN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103120" lvl="2">
              <a:lnSpc>
                <a:spcPts val="3400"/>
              </a:lnSpc>
            </a:pPr>
            <a:r>
              <a:rPr lang="zh-CN" altLang="en-US" sz="2000" b="1" dirty="0"/>
              <a:t>他计划共写</a:t>
            </a:r>
            <a:r>
              <a:rPr lang="en-US" altLang="zh-CN" sz="2000" b="1" dirty="0"/>
              <a:t>7</a:t>
            </a:r>
            <a:r>
              <a:rPr lang="zh-CN" altLang="en-US" sz="2000" b="1" dirty="0"/>
              <a:t>卷，然而出版三卷之后， 已震惊世界，使他获得计算机科学界的最高荣誉</a:t>
            </a:r>
            <a:r>
              <a:rPr lang="zh-CN" altLang="en-US" sz="2000" b="1" dirty="0">
                <a:solidFill>
                  <a:srgbClr val="FF0000"/>
                </a:solidFill>
                <a:hlinkClick r:id="rId1"/>
              </a:rPr>
              <a:t>图灵奖</a:t>
            </a:r>
            <a:r>
              <a:rPr lang="zh-CN" altLang="en-US" sz="2000" b="1" dirty="0"/>
              <a:t>，此时，他年仅</a:t>
            </a:r>
            <a:r>
              <a:rPr lang="en-US" altLang="zh-CN" sz="2000" b="1" dirty="0">
                <a:solidFill>
                  <a:srgbClr val="1801BF"/>
                </a:solidFill>
              </a:rPr>
              <a:t>36</a:t>
            </a:r>
            <a:r>
              <a:rPr lang="zh-CN" altLang="en-US" sz="2000" b="1" dirty="0">
                <a:solidFill>
                  <a:srgbClr val="1801BF"/>
                </a:solidFill>
              </a:rPr>
              <a:t>岁</a:t>
            </a:r>
            <a:r>
              <a:rPr lang="zh-CN" altLang="en-US" sz="2000" b="1" dirty="0"/>
              <a:t>。</a:t>
            </a:r>
            <a:endParaRPr lang="zh-CN" altLang="en-US" sz="2000" b="1" dirty="0"/>
          </a:p>
          <a:p>
            <a:pPr lvl="2">
              <a:lnSpc>
                <a:spcPts val="34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667000"/>
            <a:ext cx="1990725" cy="2783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4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latin typeface="+mn-ea"/>
              </a:rPr>
              <a:t>客观世界与计算机世界的关系</a:t>
            </a:r>
            <a:endParaRPr kumimoji="1"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914400" lvl="1">
              <a:lnSpc>
                <a:spcPts val="3400"/>
              </a:lnSpc>
            </a:pPr>
            <a:r>
              <a:rPr lang="zh-CN" altLang="en-US" sz="2400" b="1" dirty="0"/>
              <a:t>计算机科学是研究</a:t>
            </a:r>
            <a:r>
              <a:rPr lang="zh-CN" altLang="en-US" sz="2400" b="1" dirty="0">
                <a:solidFill>
                  <a:srgbClr val="FF0000"/>
                </a:solidFill>
              </a:rPr>
              <a:t>信息表示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FF0000"/>
                </a:solidFill>
              </a:rPr>
              <a:t>信息处理</a:t>
            </a:r>
            <a:r>
              <a:rPr lang="zh-CN" altLang="en-US" sz="2400" b="1" dirty="0"/>
              <a:t>的科学。 </a:t>
            </a:r>
            <a:endParaRPr lang="en-US" altLang="zh-CN" sz="2400" b="1" dirty="0"/>
          </a:p>
          <a:p>
            <a:pPr marL="914400" lvl="1">
              <a:lnSpc>
                <a:spcPts val="34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信息</a:t>
            </a:r>
            <a:r>
              <a:rPr lang="zh-CN" altLang="en-US" sz="2400" b="1" dirty="0"/>
              <a:t>在计算机内是用数据表示的。 </a:t>
            </a:r>
            <a:endParaRPr lang="zh-CN" altLang="en-US" sz="2400" b="1" dirty="0"/>
          </a:p>
          <a:p>
            <a:pPr marL="914400" lvl="1">
              <a:lnSpc>
                <a:spcPts val="3400"/>
              </a:lnSpc>
            </a:pPr>
            <a:r>
              <a:rPr lang="zh-CN" altLang="en-US" sz="2400" b="1" dirty="0"/>
              <a:t>用计算机解决实际问题的实质可以用下图表示：</a:t>
            </a:r>
            <a:endParaRPr lang="zh-CN" altLang="en-US" sz="2400" b="1" dirty="0"/>
          </a:p>
          <a:p>
            <a:pPr lvl="2">
              <a:lnSpc>
                <a:spcPts val="34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0"/>
            <a:ext cx="8159750" cy="199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4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latin typeface="+mn-ea"/>
              </a:rPr>
              <a:t>从问题到程序</a:t>
            </a:r>
            <a:endParaRPr kumimoji="1"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0" indent="0">
              <a:lnSpc>
                <a:spcPts val="3400"/>
              </a:lnSpc>
              <a:buNone/>
            </a:pPr>
            <a:endParaRPr kumimoji="1" lang="en-US" altLang="zh-CN" sz="2800" b="1" dirty="0">
              <a:solidFill>
                <a:srgbClr val="0000FF"/>
              </a:solidFill>
              <a:latin typeface="+mn-ea"/>
            </a:endParaRPr>
          </a:p>
          <a:p>
            <a:pPr>
              <a:lnSpc>
                <a:spcPts val="3400"/>
              </a:lnSpc>
            </a:pPr>
            <a:r>
              <a:rPr kumimoji="1" lang="zh-CN" altLang="en-US" sz="2400" b="1" dirty="0">
                <a:latin typeface="+mn-ea"/>
              </a:rPr>
              <a:t>美国著名计算机科学家、</a:t>
            </a:r>
            <a:r>
              <a:rPr kumimoji="1" lang="en-US" altLang="zh-CN" sz="2400" b="1" dirty="0">
                <a:latin typeface="+mn-ea"/>
              </a:rPr>
              <a:t>Pascal</a:t>
            </a:r>
            <a:r>
              <a:rPr kumimoji="1" lang="zh-CN" altLang="en-US" sz="2400" b="1" dirty="0">
                <a:latin typeface="+mn-ea"/>
              </a:rPr>
              <a:t>语言发明者</a:t>
            </a:r>
            <a:r>
              <a:rPr kumimoji="1" lang="en-US" altLang="zh-CN" sz="2400" b="1" dirty="0" err="1">
                <a:latin typeface="+mn-ea"/>
              </a:rPr>
              <a:t>Niklaus</a:t>
            </a:r>
            <a:r>
              <a:rPr kumimoji="1" lang="en-US" altLang="zh-CN" sz="2400" b="1" dirty="0">
                <a:latin typeface="+mn-ea"/>
              </a:rPr>
              <a:t> Wirth </a:t>
            </a:r>
            <a:r>
              <a:rPr kumimoji="1" lang="zh-CN" altLang="en-US" sz="2400" b="1" dirty="0">
                <a:latin typeface="+mn-ea"/>
              </a:rPr>
              <a:t>在</a:t>
            </a:r>
            <a:r>
              <a:rPr kumimoji="1" lang="en-US" altLang="zh-CN" sz="2400" b="1" dirty="0">
                <a:latin typeface="+mn-ea"/>
              </a:rPr>
              <a:t>1976</a:t>
            </a:r>
            <a:r>
              <a:rPr kumimoji="1" lang="zh-CN" altLang="en-US" sz="2400" b="1" dirty="0">
                <a:latin typeface="+mn-ea"/>
              </a:rPr>
              <a:t>年出版的一本书的书名为：</a:t>
            </a:r>
            <a:endParaRPr kumimoji="1" lang="en-US" altLang="zh-CN" sz="2400" b="1" dirty="0">
              <a:latin typeface="+mn-ea"/>
            </a:endParaRPr>
          </a:p>
          <a:p>
            <a:pPr marL="0" indent="0">
              <a:lnSpc>
                <a:spcPts val="3400"/>
              </a:lnSpc>
              <a:buNone/>
            </a:pPr>
            <a:r>
              <a:rPr kumimoji="1" lang="en-US" altLang="zh-CN" sz="2400" b="1" dirty="0">
                <a:latin typeface="+mn-ea"/>
              </a:rPr>
              <a:t>  </a:t>
            </a: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“算法</a:t>
            </a:r>
            <a:r>
              <a:rPr kumimoji="1" lang="en-US" altLang="zh-CN" sz="20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数据结构</a:t>
            </a:r>
            <a:r>
              <a:rPr kumimoji="1" lang="en-US" altLang="zh-CN" sz="2000" b="1" dirty="0">
                <a:solidFill>
                  <a:srgbClr val="FF0000"/>
                </a:solidFill>
                <a:latin typeface="+mn-ea"/>
              </a:rPr>
              <a:t>=</a:t>
            </a:r>
            <a:r>
              <a:rPr kumimoji="1" lang="zh-CN" altLang="en-US" sz="2000" b="1" dirty="0">
                <a:solidFill>
                  <a:srgbClr val="FF0000"/>
                </a:solidFill>
                <a:latin typeface="+mn-ea"/>
              </a:rPr>
              <a:t>程序设计”</a:t>
            </a:r>
            <a:endParaRPr kumimoji="1" lang="zh-CN" altLang="en-US" sz="2000" b="1" dirty="0">
              <a:latin typeface="+mn-ea"/>
            </a:endParaRPr>
          </a:p>
          <a:p>
            <a:pPr>
              <a:lnSpc>
                <a:spcPts val="3400"/>
              </a:lnSpc>
            </a:pPr>
            <a:endParaRPr kumimoji="1"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914400" lvl="1">
              <a:lnSpc>
                <a:spcPts val="3400"/>
              </a:lnSpc>
            </a:pPr>
            <a:endParaRPr lang="zh-CN" altLang="en-US" sz="2400" b="1" dirty="0"/>
          </a:p>
          <a:p>
            <a:pPr lvl="2">
              <a:lnSpc>
                <a:spcPts val="34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25"/>
          <p:cNvGrpSpPr/>
          <p:nvPr/>
        </p:nvGrpSpPr>
        <p:grpSpPr bwMode="auto">
          <a:xfrm>
            <a:off x="1066800" y="1384302"/>
            <a:ext cx="7888287" cy="1287464"/>
            <a:chOff x="325" y="3230"/>
            <a:chExt cx="4969" cy="811"/>
          </a:xfrm>
        </p:grpSpPr>
        <p:grpSp>
          <p:nvGrpSpPr>
            <p:cNvPr id="14" name="Group 26"/>
            <p:cNvGrpSpPr/>
            <p:nvPr/>
          </p:nvGrpSpPr>
          <p:grpSpPr bwMode="auto">
            <a:xfrm>
              <a:off x="325" y="3230"/>
              <a:ext cx="4969" cy="811"/>
              <a:chOff x="600" y="686"/>
              <a:chExt cx="4969" cy="811"/>
            </a:xfrm>
          </p:grpSpPr>
          <p:sp>
            <p:nvSpPr>
              <p:cNvPr id="17" name="Text Box 27"/>
              <p:cNvSpPr txBox="1">
                <a:spLocks noChangeArrowheads="1"/>
              </p:cNvSpPr>
              <p:nvPr/>
            </p:nvSpPr>
            <p:spPr bwMode="auto">
              <a:xfrm>
                <a:off x="600" y="927"/>
                <a:ext cx="569" cy="331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问题</a:t>
                </a:r>
                <a:endParaRPr kumimoji="1" lang="zh-CN" altLang="en-US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18" name="Text Box 28"/>
              <p:cNvSpPr txBox="1">
                <a:spLocks noChangeArrowheads="1"/>
              </p:cNvSpPr>
              <p:nvPr/>
            </p:nvSpPr>
            <p:spPr bwMode="auto">
              <a:xfrm>
                <a:off x="1752" y="927"/>
                <a:ext cx="1705" cy="331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解决问题的算法</a:t>
                </a:r>
                <a:endPara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19" name="Text Box 29"/>
              <p:cNvSpPr txBox="1">
                <a:spLocks noChangeArrowheads="1"/>
              </p:cNvSpPr>
              <p:nvPr/>
            </p:nvSpPr>
            <p:spPr bwMode="auto">
              <a:xfrm>
                <a:off x="3864" y="927"/>
                <a:ext cx="1705" cy="331"/>
              </a:xfrm>
              <a:prstGeom prst="rect">
                <a:avLst/>
              </a:prstGeom>
              <a:noFill/>
              <a:ln w="9525">
                <a:solidFill>
                  <a:srgbClr val="FFFF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实现算法的程序</a:t>
                </a:r>
                <a:endParaRPr kumimoji="1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20" name="AutoShape 30"/>
              <p:cNvSpPr>
                <a:spLocks noChangeArrowheads="1"/>
              </p:cNvSpPr>
              <p:nvPr/>
            </p:nvSpPr>
            <p:spPr bwMode="auto">
              <a:xfrm>
                <a:off x="1104" y="768"/>
                <a:ext cx="624" cy="657"/>
              </a:xfrm>
              <a:prstGeom prst="rightArrow">
                <a:avLst>
                  <a:gd name="adj1" fmla="val 50000"/>
                  <a:gd name="adj2" fmla="val 25871"/>
                </a:avLst>
              </a:prstGeom>
              <a:noFill/>
              <a:ln w="9525">
                <a:solidFill>
                  <a:srgbClr val="FFFF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21" name="AutoShape 31"/>
              <p:cNvSpPr>
                <a:spLocks noChangeArrowheads="1"/>
              </p:cNvSpPr>
              <p:nvPr/>
            </p:nvSpPr>
            <p:spPr bwMode="auto">
              <a:xfrm>
                <a:off x="3216" y="686"/>
                <a:ext cx="624" cy="811"/>
              </a:xfrm>
              <a:prstGeom prst="rightArrow">
                <a:avLst>
                  <a:gd name="adj1" fmla="val 50000"/>
                  <a:gd name="adj2" fmla="val 130000"/>
                </a:avLst>
              </a:prstGeom>
              <a:noFill/>
              <a:ln w="9525">
                <a:solidFill>
                  <a:srgbClr val="FFFFFF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0BD0D9"/>
                  </a:buClr>
                  <a:buSzPct val="9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BD0D9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10CF9B"/>
                  </a:buClr>
                  <a:buSzPct val="65000"/>
                  <a:buFont typeface="Wingdings 2" panose="05020102010507070707" pitchFamily="18" charset="2"/>
                  <a:buChar char=""/>
                  <a:defRPr sz="2800">
                    <a:solidFill>
                      <a:schemeClr val="tx1"/>
                    </a:solidFill>
                    <a:latin typeface="Constantia" panose="02030602050306030303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00"/>
                  </a:buClr>
                  <a:buSzPct val="95000"/>
                  <a:buFont typeface="Wingdings" panose="05000000000000000000" pitchFamily="2" charset="2"/>
                  <a:buChar char="Ø"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" name="Line 32"/>
            <p:cNvSpPr>
              <a:spLocks noChangeShapeType="1"/>
            </p:cNvSpPr>
            <p:nvPr/>
          </p:nvSpPr>
          <p:spPr bwMode="auto">
            <a:xfrm flipV="1">
              <a:off x="869" y="3657"/>
              <a:ext cx="530" cy="14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16" name="Line 33"/>
            <p:cNvSpPr>
              <a:spLocks noChangeShapeType="1"/>
            </p:cNvSpPr>
            <p:nvPr/>
          </p:nvSpPr>
          <p:spPr bwMode="auto">
            <a:xfrm flipV="1">
              <a:off x="3120" y="3657"/>
              <a:ext cx="515" cy="0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</p:grp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4800600" y="3276600"/>
            <a:ext cx="4055919" cy="461665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Font typeface="Wingdings 2" panose="05020102010507070707" pitchFamily="18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算法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+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数据结构 </a:t>
            </a: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= 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程序设计 </a:t>
            </a:r>
            <a:endParaRPr lang="zh-CN" altLang="en-US" sz="24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pSp>
        <p:nvGrpSpPr>
          <p:cNvPr id="23" name="Group 14"/>
          <p:cNvGrpSpPr/>
          <p:nvPr/>
        </p:nvGrpSpPr>
        <p:grpSpPr bwMode="auto">
          <a:xfrm>
            <a:off x="5021737" y="3743503"/>
            <a:ext cx="461964" cy="2581481"/>
            <a:chOff x="859" y="1117"/>
            <a:chExt cx="291" cy="1927"/>
          </a:xfrm>
        </p:grpSpPr>
        <p:sp>
          <p:nvSpPr>
            <p:cNvPr id="24" name="Text Box 6"/>
            <p:cNvSpPr txBox="1">
              <a:spLocks noChangeArrowheads="1"/>
            </p:cNvSpPr>
            <p:nvPr/>
          </p:nvSpPr>
          <p:spPr bwMode="auto">
            <a:xfrm>
              <a:off x="859" y="1337"/>
              <a:ext cx="291" cy="1707"/>
            </a:xfrm>
            <a:prstGeom prst="rect">
              <a:avLst/>
            </a:prstGeom>
            <a:noFill/>
            <a:ln w="38100" cmpd="dbl" algn="ctr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square">
              <a:spAutoFit/>
            </a:bodyPr>
            <a:lstStyle>
              <a:lvl1pPr marL="273050" indent="-273050"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zh-CN" altLang="en-US" sz="1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算法处理问题的策略</a:t>
              </a:r>
              <a:endPara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5" name="Line 7"/>
            <p:cNvSpPr>
              <a:spLocks noChangeShapeType="1"/>
            </p:cNvSpPr>
            <p:nvPr/>
          </p:nvSpPr>
          <p:spPr bwMode="auto">
            <a:xfrm>
              <a:off x="975" y="1117"/>
              <a:ext cx="0" cy="23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6" name="Group 15"/>
          <p:cNvGrpSpPr/>
          <p:nvPr/>
        </p:nvGrpSpPr>
        <p:grpSpPr bwMode="auto">
          <a:xfrm>
            <a:off x="6224966" y="3743503"/>
            <a:ext cx="461963" cy="2581098"/>
            <a:chOff x="1891" y="1117"/>
            <a:chExt cx="291" cy="2093"/>
          </a:xfrm>
        </p:grpSpPr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1891" y="1362"/>
              <a:ext cx="291" cy="1848"/>
            </a:xfrm>
            <a:prstGeom prst="rect">
              <a:avLst/>
            </a:prstGeom>
            <a:noFill/>
            <a:ln w="38100" cmpd="dbl" algn="ctr">
              <a:solidFill>
                <a:srgbClr val="0000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>
              <a:spAutoFit/>
            </a:bodyPr>
            <a:lstStyle>
              <a:lvl1pPr marL="273050" indent="-273050"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zh-CN" altLang="en-US" sz="18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给出问题的数学模型</a:t>
              </a:r>
              <a:endParaRPr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2018" y="1117"/>
              <a:ext cx="0" cy="23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9" name="Group 16"/>
          <p:cNvGrpSpPr/>
          <p:nvPr/>
        </p:nvGrpSpPr>
        <p:grpSpPr bwMode="auto">
          <a:xfrm>
            <a:off x="7658099" y="3738563"/>
            <a:ext cx="800101" cy="2586038"/>
            <a:chOff x="4211" y="771"/>
            <a:chExt cx="504" cy="2048"/>
          </a:xfrm>
        </p:grpSpPr>
        <p:sp>
          <p:nvSpPr>
            <p:cNvPr id="30" name="Text Box 12"/>
            <p:cNvSpPr txBox="1">
              <a:spLocks noChangeArrowheads="1"/>
            </p:cNvSpPr>
            <p:nvPr/>
          </p:nvSpPr>
          <p:spPr bwMode="auto">
            <a:xfrm>
              <a:off x="4211" y="960"/>
              <a:ext cx="504" cy="1859"/>
            </a:xfrm>
            <a:prstGeom prst="rect">
              <a:avLst/>
            </a:prstGeom>
            <a:noFill/>
            <a:ln w="38100" cmpd="dbl" algn="ctr">
              <a:solidFill>
                <a:srgbClr val="0033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>
              <a:spAutoFit/>
            </a:bodyPr>
            <a:lstStyle>
              <a:lvl1pPr marL="273050" indent="-273050"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algn="dist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编制出用计算机</a:t>
              </a:r>
              <a:endPara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  <a:p>
              <a:pPr algn="dist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Wingdings" panose="05000000000000000000" pitchFamily="2" charset="2"/>
                <a:buNone/>
              </a:pPr>
              <a:r>
                <a:rPr lang="zh-CN" altLang="en-US" sz="20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处理问题的指令</a:t>
              </a:r>
              <a:endPara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" name="Line 13"/>
            <p:cNvSpPr>
              <a:spLocks noChangeShapeType="1"/>
            </p:cNvSpPr>
            <p:nvPr/>
          </p:nvSpPr>
          <p:spPr bwMode="auto">
            <a:xfrm flipH="1">
              <a:off x="4463" y="771"/>
              <a:ext cx="0" cy="2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400"/>
              </a:lnSpc>
            </a:pPr>
            <a:r>
              <a:rPr kumimoji="1" lang="zh-CN" altLang="en-US" sz="2400" b="1" dirty="0">
                <a:latin typeface="+mn-ea"/>
              </a:rPr>
              <a:t>程序设计的实质是什么</a:t>
            </a:r>
            <a:endParaRPr kumimoji="1" lang="en-US" altLang="zh-CN" sz="2400" b="1" dirty="0">
              <a:latin typeface="+mn-ea"/>
            </a:endParaRPr>
          </a:p>
          <a:p>
            <a:pPr lvl="1">
              <a:lnSpc>
                <a:spcPts val="2600"/>
              </a:lnSpc>
            </a:pPr>
            <a:r>
              <a:rPr lang="zh-CN" altLang="en-US" sz="2000" b="1" dirty="0"/>
              <a:t>对确定的问题选择一种好的结构，加上设计一种好的算法，需要解决两个问题：即</a:t>
            </a:r>
            <a:r>
              <a:rPr lang="zh-CN" altLang="en-US" sz="2000" b="1" dirty="0">
                <a:solidFill>
                  <a:srgbClr val="FF0000"/>
                </a:solidFill>
              </a:rPr>
              <a:t>数据结构（</a:t>
            </a:r>
            <a:r>
              <a:rPr lang="zh-CN" altLang="en-US" sz="2000" b="1" dirty="0"/>
              <a:t>问题的数学模型</a:t>
            </a:r>
            <a:r>
              <a:rPr lang="zh-CN" altLang="en-US" sz="2000" b="1" dirty="0">
                <a:solidFill>
                  <a:srgbClr val="FF0000"/>
                </a:solidFill>
              </a:rPr>
              <a:t>）</a:t>
            </a:r>
            <a:r>
              <a:rPr lang="zh-CN" altLang="en-US" sz="2000" b="1" dirty="0"/>
              <a:t>和</a:t>
            </a:r>
            <a:r>
              <a:rPr lang="zh-CN" altLang="en-US" sz="2000" b="1" dirty="0">
                <a:solidFill>
                  <a:srgbClr val="FF0000"/>
                </a:solidFill>
              </a:rPr>
              <a:t>算法（</a:t>
            </a:r>
            <a:r>
              <a:rPr lang="zh-CN" altLang="en-US" sz="2000" b="1" dirty="0"/>
              <a:t>处理问题的策略</a:t>
            </a:r>
            <a:r>
              <a:rPr lang="zh-CN" altLang="en-US" sz="2000" b="1" dirty="0">
                <a:solidFill>
                  <a:srgbClr val="FF0000"/>
                </a:solidFill>
              </a:rPr>
              <a:t>）</a:t>
            </a:r>
            <a:r>
              <a:rPr lang="zh-CN" altLang="en-US" sz="2000" b="1" dirty="0"/>
              <a:t>。 </a:t>
            </a:r>
            <a:endParaRPr lang="en-US" altLang="zh-CN" sz="2000" b="1" dirty="0"/>
          </a:p>
          <a:p>
            <a:pPr lvl="1">
              <a:lnSpc>
                <a:spcPts val="26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数据表示</a:t>
            </a:r>
            <a:r>
              <a:rPr lang="zh-CN" altLang="en-US" sz="2000" b="1" dirty="0"/>
              <a:t>：将数据存储在计算机中 </a:t>
            </a:r>
            <a:endParaRPr lang="en-US" altLang="zh-CN" sz="2000" b="1" dirty="0"/>
          </a:p>
          <a:p>
            <a:pPr lvl="1">
              <a:lnSpc>
                <a:spcPts val="26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数据处理</a:t>
            </a:r>
            <a:r>
              <a:rPr lang="zh-CN" altLang="en-US" sz="2000" b="1" dirty="0"/>
              <a:t>：处理数据，求解问题 </a:t>
            </a:r>
            <a:endParaRPr lang="en-US" altLang="zh-CN" sz="2000" b="1" dirty="0"/>
          </a:p>
          <a:p>
            <a:pPr lvl="1">
              <a:lnSpc>
                <a:spcPts val="2600"/>
              </a:lnSpc>
            </a:pPr>
            <a:r>
              <a:rPr lang="zh-CN" altLang="en-US" sz="2000" b="1" dirty="0"/>
              <a:t>数据结构问题起源于程序设计</a:t>
            </a:r>
            <a:endParaRPr lang="en-US" altLang="zh-CN" sz="2000" b="1" dirty="0"/>
          </a:p>
          <a:p>
            <a:pPr>
              <a:lnSpc>
                <a:spcPts val="2600"/>
              </a:lnSpc>
            </a:pPr>
            <a:r>
              <a:rPr lang="zh-CN" altLang="en-US" sz="2400" b="1" dirty="0"/>
              <a:t>数据结构随着程序设计的发展而发展 </a:t>
            </a:r>
            <a:endParaRPr lang="zh-CN" altLang="en-US" sz="2400" b="1" dirty="0"/>
          </a:p>
          <a:p>
            <a:pPr marL="914400" lvl="1" indent="-457200">
              <a:lnSpc>
                <a:spcPts val="2800"/>
              </a:lnSpc>
              <a:buFont typeface="+mj-ea"/>
              <a:buAutoNum type="circleNumDbPlain"/>
            </a:pPr>
            <a:r>
              <a:rPr lang="zh-CN" altLang="en-US" sz="2000" b="1" dirty="0"/>
              <a:t>无结构阶段：在简单数据上做复杂运算 </a:t>
            </a:r>
            <a:endParaRPr lang="en-US" altLang="zh-CN" sz="2000" b="1" dirty="0"/>
          </a:p>
          <a:p>
            <a:pPr marL="914400" lvl="1" indent="-457200">
              <a:lnSpc>
                <a:spcPts val="2800"/>
              </a:lnSpc>
              <a:buFont typeface="+mj-ea"/>
              <a:buAutoNum type="circleNumDbPlain"/>
            </a:pPr>
            <a:r>
              <a:rPr lang="zh-CN" altLang="en-US" sz="2000" b="1" dirty="0"/>
              <a:t>结构化阶段：数据结构＋算法＝程序</a:t>
            </a:r>
            <a:endParaRPr lang="en-US" altLang="zh-CN" sz="2000" b="1" dirty="0"/>
          </a:p>
          <a:p>
            <a:pPr marL="914400" lvl="1" indent="-457200">
              <a:lnSpc>
                <a:spcPts val="2800"/>
              </a:lnSpc>
              <a:buFont typeface="+mj-ea"/>
              <a:buAutoNum type="circleNumDbPlain"/>
            </a:pPr>
            <a:r>
              <a:rPr lang="zh-CN" altLang="en-US" sz="2000" b="1" dirty="0"/>
              <a:t>面向对象阶段：（对象＋行为）＝程序</a:t>
            </a:r>
            <a:endParaRPr lang="en-US" altLang="zh-CN" sz="2000" b="1" dirty="0"/>
          </a:p>
          <a:p>
            <a:pPr>
              <a:lnSpc>
                <a:spcPts val="2800"/>
              </a:lnSpc>
            </a:pPr>
            <a:r>
              <a:rPr lang="zh-CN" altLang="en-US" sz="2400" b="1" dirty="0"/>
              <a:t>数据结构的发展并未终结。。。</a:t>
            </a:r>
            <a:endParaRPr lang="zh-CN" altLang="en-US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400"/>
              </a:lnSpc>
            </a:pPr>
            <a:r>
              <a:rPr kumimoji="1" lang="zh-CN" altLang="en-US" sz="28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kumimoji="1" lang="en-US" altLang="zh-CN" sz="2800" b="1" dirty="0">
                <a:solidFill>
                  <a:srgbClr val="0000FF"/>
                </a:solidFill>
                <a:latin typeface="+mn-ea"/>
              </a:rPr>
              <a:t>1 </a:t>
            </a:r>
            <a:r>
              <a:rPr kumimoji="1" lang="zh-CN" altLang="en-US" sz="2800" b="1" dirty="0">
                <a:solidFill>
                  <a:srgbClr val="0000FF"/>
                </a:solidFill>
                <a:latin typeface="+mn-ea"/>
              </a:rPr>
              <a:t>煤气管道的铺设问题。</a:t>
            </a:r>
            <a:endParaRPr kumimoji="1"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914400" lvl="1">
              <a:lnSpc>
                <a:spcPts val="3400"/>
              </a:lnSpc>
            </a:pPr>
            <a:r>
              <a:rPr lang="zh-CN" altLang="en-US" sz="2400" b="1" dirty="0"/>
              <a:t>在城市的各小区之间铺设煤气管道，共有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个小区，由于地理环境不同等因素使各条管线所需投资不同，如何使投资成本最低？</a:t>
            </a:r>
            <a:endParaRPr lang="zh-CN" altLang="en-US" sz="2400" b="1" dirty="0"/>
          </a:p>
          <a:p>
            <a:pPr lvl="2">
              <a:lnSpc>
                <a:spcPts val="34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4"/>
          <p:cNvSpPr>
            <a:spLocks noChangeArrowheads="1"/>
          </p:cNvSpPr>
          <p:nvPr/>
        </p:nvSpPr>
        <p:spPr bwMode="auto">
          <a:xfrm>
            <a:off x="749300" y="3613150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4" name="Oval 5"/>
          <p:cNvSpPr>
            <a:spLocks noChangeArrowheads="1"/>
          </p:cNvSpPr>
          <p:nvPr/>
        </p:nvSpPr>
        <p:spPr bwMode="auto">
          <a:xfrm>
            <a:off x="749300" y="5124450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b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5" name="Oval 6"/>
          <p:cNvSpPr>
            <a:spLocks noChangeArrowheads="1"/>
          </p:cNvSpPr>
          <p:nvPr/>
        </p:nvSpPr>
        <p:spPr bwMode="auto">
          <a:xfrm>
            <a:off x="2262188" y="3468688"/>
            <a:ext cx="360362" cy="360362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d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6" name="Oval 7"/>
          <p:cNvSpPr>
            <a:spLocks noChangeArrowheads="1"/>
          </p:cNvSpPr>
          <p:nvPr/>
        </p:nvSpPr>
        <p:spPr bwMode="auto">
          <a:xfrm>
            <a:off x="2117725" y="4403725"/>
            <a:ext cx="360363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c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17" name="Line 8"/>
          <p:cNvSpPr>
            <a:spLocks noChangeShapeType="1"/>
          </p:cNvSpPr>
          <p:nvPr/>
        </p:nvSpPr>
        <p:spPr bwMode="auto">
          <a:xfrm>
            <a:off x="893763" y="3973513"/>
            <a:ext cx="0" cy="1150937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8" name="Line 9"/>
          <p:cNvSpPr>
            <a:spLocks noChangeShapeType="1"/>
          </p:cNvSpPr>
          <p:nvPr/>
        </p:nvSpPr>
        <p:spPr bwMode="auto">
          <a:xfrm>
            <a:off x="1038225" y="3900488"/>
            <a:ext cx="1079500" cy="576262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V="1">
            <a:off x="1109663" y="3613150"/>
            <a:ext cx="1152525" cy="142875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 flipV="1">
            <a:off x="1038225" y="4692650"/>
            <a:ext cx="1079500" cy="504825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21" name="Line 12"/>
          <p:cNvSpPr>
            <a:spLocks noChangeShapeType="1"/>
          </p:cNvSpPr>
          <p:nvPr/>
        </p:nvSpPr>
        <p:spPr bwMode="auto">
          <a:xfrm flipH="1">
            <a:off x="2333625" y="3829050"/>
            <a:ext cx="73025" cy="576263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304800" y="4292600"/>
            <a:ext cx="642938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18</a:t>
            </a:r>
            <a:endParaRPr kumimoji="1" lang="en-US" altLang="zh-CN" b="1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1096963" y="3992563"/>
            <a:ext cx="64293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18</a:t>
            </a:r>
            <a:endParaRPr kumimoji="1" lang="en-US" altLang="zh-CN" b="1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1312863" y="3200400"/>
            <a:ext cx="64293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19</a:t>
            </a:r>
            <a:endParaRPr kumimoji="1" lang="en-US" altLang="zh-CN" b="1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5" name="Text Box 16"/>
          <p:cNvSpPr txBox="1">
            <a:spLocks noChangeArrowheads="1"/>
          </p:cNvSpPr>
          <p:nvPr/>
        </p:nvSpPr>
        <p:spPr bwMode="auto">
          <a:xfrm>
            <a:off x="1889125" y="3848100"/>
            <a:ext cx="642938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15</a:t>
            </a:r>
            <a:endParaRPr kumimoji="1" lang="en-US" altLang="zh-CN" b="1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6" name="Text Box 17"/>
          <p:cNvSpPr txBox="1">
            <a:spLocks noChangeArrowheads="1"/>
          </p:cNvSpPr>
          <p:nvPr/>
        </p:nvSpPr>
        <p:spPr bwMode="auto">
          <a:xfrm>
            <a:off x="1109663" y="4543425"/>
            <a:ext cx="64293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20</a:t>
            </a:r>
            <a:endParaRPr kumimoji="1" lang="en-US" altLang="zh-CN" b="1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cxnSp>
        <p:nvCxnSpPr>
          <p:cNvPr id="27" name="AutoShape 18"/>
          <p:cNvCxnSpPr>
            <a:cxnSpLocks noChangeShapeType="1"/>
            <a:stCxn id="14" idx="5"/>
            <a:endCxn id="15" idx="6"/>
          </p:cNvCxnSpPr>
          <p:nvPr/>
        </p:nvCxnSpPr>
        <p:spPr bwMode="auto">
          <a:xfrm rot="5400000" flipH="1" flipV="1">
            <a:off x="948532" y="3758406"/>
            <a:ext cx="1782762" cy="1565275"/>
          </a:xfrm>
          <a:prstGeom prst="curvedConnector4">
            <a:avLst>
              <a:gd name="adj1" fmla="val -15671"/>
              <a:gd name="adj2" fmla="val 114505"/>
            </a:avLst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19"/>
          <p:cNvSpPr txBox="1">
            <a:spLocks noChangeArrowheads="1"/>
          </p:cNvSpPr>
          <p:nvPr/>
        </p:nvSpPr>
        <p:spPr bwMode="auto">
          <a:xfrm>
            <a:off x="1962150" y="5119688"/>
            <a:ext cx="64293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25</a:t>
            </a:r>
            <a:endParaRPr kumimoji="1" lang="en-US" altLang="zh-CN" b="1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29" name="Oval 20"/>
          <p:cNvSpPr>
            <a:spLocks noChangeArrowheads="1"/>
          </p:cNvSpPr>
          <p:nvPr/>
        </p:nvSpPr>
        <p:spPr bwMode="auto">
          <a:xfrm>
            <a:off x="7073900" y="3830638"/>
            <a:ext cx="360363" cy="360362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a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0" name="Oval 21"/>
          <p:cNvSpPr>
            <a:spLocks noChangeArrowheads="1"/>
          </p:cNvSpPr>
          <p:nvPr/>
        </p:nvSpPr>
        <p:spPr bwMode="auto">
          <a:xfrm>
            <a:off x="7073900" y="5341938"/>
            <a:ext cx="360363" cy="360362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b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1" name="Oval 22"/>
          <p:cNvSpPr>
            <a:spLocks noChangeArrowheads="1"/>
          </p:cNvSpPr>
          <p:nvPr/>
        </p:nvSpPr>
        <p:spPr bwMode="auto">
          <a:xfrm>
            <a:off x="8586788" y="3686175"/>
            <a:ext cx="360362" cy="360363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d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2" name="Oval 23"/>
          <p:cNvSpPr>
            <a:spLocks noChangeArrowheads="1"/>
          </p:cNvSpPr>
          <p:nvPr/>
        </p:nvSpPr>
        <p:spPr bwMode="auto">
          <a:xfrm>
            <a:off x="8442325" y="4621213"/>
            <a:ext cx="360363" cy="360362"/>
          </a:xfrm>
          <a:prstGeom prst="ellips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rPr>
              <a:t>c</a:t>
            </a:r>
            <a:endParaRPr kumimoji="1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3" name="Line 24"/>
          <p:cNvSpPr>
            <a:spLocks noChangeShapeType="1"/>
          </p:cNvSpPr>
          <p:nvPr/>
        </p:nvSpPr>
        <p:spPr bwMode="auto">
          <a:xfrm>
            <a:off x="7218363" y="4191000"/>
            <a:ext cx="0" cy="1150938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34" name="Line 25"/>
          <p:cNvSpPr>
            <a:spLocks noChangeShapeType="1"/>
          </p:cNvSpPr>
          <p:nvPr/>
        </p:nvSpPr>
        <p:spPr bwMode="auto">
          <a:xfrm>
            <a:off x="7362825" y="4117975"/>
            <a:ext cx="1079500" cy="576263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35" name="Line 26"/>
          <p:cNvSpPr>
            <a:spLocks noChangeShapeType="1"/>
          </p:cNvSpPr>
          <p:nvPr/>
        </p:nvSpPr>
        <p:spPr bwMode="auto">
          <a:xfrm flipH="1">
            <a:off x="8658225" y="4046538"/>
            <a:ext cx="73025" cy="576262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36" name="Text Box 27"/>
          <p:cNvSpPr txBox="1">
            <a:spLocks noChangeArrowheads="1"/>
          </p:cNvSpPr>
          <p:nvPr/>
        </p:nvSpPr>
        <p:spPr bwMode="auto">
          <a:xfrm>
            <a:off x="6629400" y="4510088"/>
            <a:ext cx="64293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18</a:t>
            </a:r>
            <a:endParaRPr kumimoji="1" lang="en-US" altLang="zh-CN" b="1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7" name="Text Box 28"/>
          <p:cNvSpPr txBox="1">
            <a:spLocks noChangeArrowheads="1"/>
          </p:cNvSpPr>
          <p:nvPr/>
        </p:nvSpPr>
        <p:spPr bwMode="auto">
          <a:xfrm>
            <a:off x="7421563" y="4210050"/>
            <a:ext cx="64293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18</a:t>
            </a:r>
            <a:endParaRPr kumimoji="1" lang="en-US" altLang="zh-CN" b="1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sp>
        <p:nvSpPr>
          <p:cNvPr id="38" name="Text Box 29"/>
          <p:cNvSpPr txBox="1">
            <a:spLocks noChangeArrowheads="1"/>
          </p:cNvSpPr>
          <p:nvPr/>
        </p:nvSpPr>
        <p:spPr bwMode="auto">
          <a:xfrm>
            <a:off x="8213725" y="4065588"/>
            <a:ext cx="64293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rPr>
              <a:t>15</a:t>
            </a:r>
            <a:endParaRPr kumimoji="1" lang="en-US" altLang="zh-CN" b="1">
              <a:solidFill>
                <a:srgbClr val="0000FF"/>
              </a:solidFill>
              <a:latin typeface="Tahoma" panose="020B0604030504040204" pitchFamily="34" charset="0"/>
              <a:ea typeface="楷体_GB2312" pitchFamily="49" charset="-122"/>
            </a:endParaRPr>
          </a:p>
        </p:txBody>
      </p:sp>
      <p:grpSp>
        <p:nvGrpSpPr>
          <p:cNvPr id="39" name="Group 30"/>
          <p:cNvGrpSpPr/>
          <p:nvPr/>
        </p:nvGrpSpPr>
        <p:grpSpPr bwMode="auto">
          <a:xfrm>
            <a:off x="3387725" y="3686175"/>
            <a:ext cx="2317750" cy="2016125"/>
            <a:chOff x="2100" y="2478"/>
            <a:chExt cx="1460" cy="1270"/>
          </a:xfrm>
        </p:grpSpPr>
        <p:sp>
          <p:nvSpPr>
            <p:cNvPr id="40" name="Oval 31"/>
            <p:cNvSpPr>
              <a:spLocks noChangeArrowheads="1"/>
            </p:cNvSpPr>
            <p:nvPr/>
          </p:nvSpPr>
          <p:spPr bwMode="auto">
            <a:xfrm>
              <a:off x="2380" y="2569"/>
              <a:ext cx="227" cy="22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</a:rPr>
                <a:t>a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41" name="Oval 32"/>
            <p:cNvSpPr>
              <a:spLocks noChangeArrowheads="1"/>
            </p:cNvSpPr>
            <p:nvPr/>
          </p:nvSpPr>
          <p:spPr bwMode="auto">
            <a:xfrm>
              <a:off x="2380" y="3521"/>
              <a:ext cx="227" cy="22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</a:rPr>
                <a:t>b</a:t>
              </a:r>
              <a:endPara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42" name="Oval 33"/>
            <p:cNvSpPr>
              <a:spLocks noChangeArrowheads="1"/>
            </p:cNvSpPr>
            <p:nvPr/>
          </p:nvSpPr>
          <p:spPr bwMode="auto">
            <a:xfrm>
              <a:off x="3333" y="2478"/>
              <a:ext cx="227" cy="22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</a:rPr>
                <a:t>d</a:t>
              </a:r>
              <a:endPara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43" name="Oval 34"/>
            <p:cNvSpPr>
              <a:spLocks noChangeArrowheads="1"/>
            </p:cNvSpPr>
            <p:nvPr/>
          </p:nvSpPr>
          <p:spPr bwMode="auto">
            <a:xfrm>
              <a:off x="3242" y="3067"/>
              <a:ext cx="227" cy="22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</a:rPr>
                <a:t>c</a:t>
              </a:r>
              <a:endPara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44" name="Line 35"/>
            <p:cNvSpPr>
              <a:spLocks noChangeShapeType="1"/>
            </p:cNvSpPr>
            <p:nvPr/>
          </p:nvSpPr>
          <p:spPr bwMode="auto">
            <a:xfrm>
              <a:off x="2471" y="2796"/>
              <a:ext cx="0" cy="7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5" name="Line 36"/>
            <p:cNvSpPr>
              <a:spLocks noChangeShapeType="1"/>
            </p:cNvSpPr>
            <p:nvPr/>
          </p:nvSpPr>
          <p:spPr bwMode="auto">
            <a:xfrm flipV="1">
              <a:off x="2562" y="3249"/>
              <a:ext cx="68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6" name="Line 37"/>
            <p:cNvSpPr>
              <a:spLocks noChangeShapeType="1"/>
            </p:cNvSpPr>
            <p:nvPr/>
          </p:nvSpPr>
          <p:spPr bwMode="auto">
            <a:xfrm flipH="1">
              <a:off x="3378" y="2705"/>
              <a:ext cx="46" cy="3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47" name="Text Box 38"/>
            <p:cNvSpPr txBox="1">
              <a:spLocks noChangeArrowheads="1"/>
            </p:cNvSpPr>
            <p:nvPr/>
          </p:nvSpPr>
          <p:spPr bwMode="auto">
            <a:xfrm>
              <a:off x="2100" y="2997"/>
              <a:ext cx="405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</a:rPr>
                <a:t>18</a:t>
              </a:r>
              <a:endPara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48" name="Text Box 39"/>
            <p:cNvSpPr txBox="1">
              <a:spLocks noChangeArrowheads="1"/>
            </p:cNvSpPr>
            <p:nvPr/>
          </p:nvSpPr>
          <p:spPr bwMode="auto">
            <a:xfrm>
              <a:off x="3098" y="2717"/>
              <a:ext cx="405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</a:rPr>
                <a:t>15</a:t>
              </a:r>
              <a:endPara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49" name="Text Box 40"/>
            <p:cNvSpPr txBox="1">
              <a:spLocks noChangeArrowheads="1"/>
            </p:cNvSpPr>
            <p:nvPr/>
          </p:nvSpPr>
          <p:spPr bwMode="auto">
            <a:xfrm>
              <a:off x="2607" y="3155"/>
              <a:ext cx="405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800">
                  <a:solidFill>
                    <a:schemeClr val="tx1"/>
                  </a:solidFill>
                  <a:latin typeface="Constantia" panose="02030602050306030303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</a:rPr>
                <a:t>20</a:t>
              </a:r>
              <a:endPara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</p:grpSp>
      <p:sp>
        <p:nvSpPr>
          <p:cNvPr id="50" name="Text Box 44"/>
          <p:cNvSpPr txBox="1">
            <a:spLocks noChangeArrowheads="1"/>
          </p:cNvSpPr>
          <p:nvPr/>
        </p:nvSpPr>
        <p:spPr bwMode="auto">
          <a:xfrm>
            <a:off x="4749800" y="5576888"/>
            <a:ext cx="4953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FF00"/>
                </a:solidFill>
                <a:latin typeface="宋体" panose="02010600030101010101" pitchFamily="2" charset="-122"/>
              </a:rPr>
              <a:t>53</a:t>
            </a:r>
            <a:endParaRPr lang="en-US" altLang="zh-CN" sz="2400" b="1">
              <a:solidFill>
                <a:srgbClr val="00FF00"/>
              </a:solidFill>
              <a:latin typeface="宋体" panose="02010600030101010101" pitchFamily="2" charset="-122"/>
            </a:endParaRPr>
          </a:p>
        </p:txBody>
      </p:sp>
      <p:sp>
        <p:nvSpPr>
          <p:cNvPr id="51" name="Text Box 45"/>
          <p:cNvSpPr txBox="1">
            <a:spLocks noChangeArrowheads="1"/>
          </p:cNvSpPr>
          <p:nvPr/>
        </p:nvSpPr>
        <p:spPr bwMode="auto">
          <a:xfrm>
            <a:off x="7794625" y="5557838"/>
            <a:ext cx="4953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FF00"/>
                </a:solidFill>
                <a:latin typeface="宋体" panose="02010600030101010101" pitchFamily="2" charset="-122"/>
              </a:rPr>
              <a:t>51</a:t>
            </a:r>
            <a:endParaRPr lang="en-US" altLang="zh-CN" sz="2400" b="1">
              <a:solidFill>
                <a:srgbClr val="00FF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  <p:bldP spid="28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/>
      <p:bldP spid="37" grpId="0"/>
      <p:bldP spid="38" grpId="0"/>
      <p:bldP spid="50" grpId="0"/>
      <p:bldP spid="5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400"/>
              </a:lnSpc>
            </a:pPr>
            <a:r>
              <a:rPr kumimoji="1" lang="zh-CN" altLang="en-US" sz="2800" b="1" dirty="0">
                <a:latin typeface="+mn-ea"/>
              </a:rPr>
              <a:t>例</a:t>
            </a:r>
            <a:r>
              <a:rPr kumimoji="1" lang="en-US" altLang="zh-CN" sz="2800" b="1" dirty="0">
                <a:latin typeface="+mn-ea"/>
              </a:rPr>
              <a:t>2 </a:t>
            </a:r>
            <a:r>
              <a:rPr kumimoji="1" lang="zh-CN" altLang="en-US" sz="2800" b="1" dirty="0">
                <a:latin typeface="+mn-ea"/>
              </a:rPr>
              <a:t>求</a:t>
            </a:r>
            <a:r>
              <a:rPr kumimoji="1" lang="en-US" altLang="zh-CN" sz="2800" b="1" dirty="0">
                <a:latin typeface="+mn-ea"/>
              </a:rPr>
              <a:t>n</a:t>
            </a:r>
            <a:r>
              <a:rPr kumimoji="1" lang="zh-CN" altLang="en-US" sz="2800" b="1" dirty="0">
                <a:latin typeface="+mn-ea"/>
              </a:rPr>
              <a:t>个整数中的最大值。</a:t>
            </a:r>
            <a:endParaRPr kumimoji="1" lang="en-US" altLang="zh-CN" sz="2800" b="1" dirty="0">
              <a:latin typeface="+mn-ea"/>
            </a:endParaRPr>
          </a:p>
          <a:p>
            <a:pPr>
              <a:lnSpc>
                <a:spcPts val="3400"/>
              </a:lnSpc>
            </a:pPr>
            <a:r>
              <a:rPr kumimoji="1" lang="zh-CN" altLang="en-US" sz="2800" b="1" dirty="0">
                <a:latin typeface="+mn-ea"/>
              </a:rPr>
              <a:t>例</a:t>
            </a:r>
            <a:r>
              <a:rPr kumimoji="1" lang="en-US" altLang="zh-CN" sz="2800" b="1" dirty="0">
                <a:latin typeface="+mn-ea"/>
              </a:rPr>
              <a:t>3 </a:t>
            </a:r>
            <a:r>
              <a:rPr kumimoji="1" lang="zh-CN" altLang="en-US" sz="2800" b="1" dirty="0">
                <a:latin typeface="+mn-ea"/>
              </a:rPr>
              <a:t>交叉路口的红绿灯管理问题。</a:t>
            </a:r>
            <a:endParaRPr kumimoji="1" lang="en-US" altLang="zh-CN" sz="2800" b="1" dirty="0">
              <a:latin typeface="+mn-ea"/>
            </a:endParaRPr>
          </a:p>
          <a:p>
            <a:pPr>
              <a:lnSpc>
                <a:spcPts val="3400"/>
              </a:lnSpc>
            </a:pPr>
            <a:r>
              <a:rPr kumimoji="1" lang="zh-CN" altLang="en-US" sz="2800" b="1" dirty="0">
                <a:latin typeface="+mn-ea"/>
              </a:rPr>
              <a:t>例</a:t>
            </a:r>
            <a:r>
              <a:rPr kumimoji="1" lang="en-US" altLang="zh-CN" sz="2800" b="1" dirty="0">
                <a:latin typeface="+mn-ea"/>
              </a:rPr>
              <a:t>4 ……</a:t>
            </a:r>
            <a:endParaRPr kumimoji="1" lang="en-US" altLang="zh-CN" sz="2800" b="1" dirty="0">
              <a:latin typeface="+mn-ea"/>
            </a:endParaRPr>
          </a:p>
          <a:p>
            <a:pPr lvl="2">
              <a:lnSpc>
                <a:spcPts val="34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11"/>
          <p:cNvSpPr>
            <a:spLocks noChangeArrowheads="1"/>
          </p:cNvSpPr>
          <p:nvPr/>
        </p:nvSpPr>
        <p:spPr bwMode="auto">
          <a:xfrm>
            <a:off x="519113" y="4357688"/>
            <a:ext cx="8229600" cy="11525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273050" indent="-273050"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Font typeface="Wingdings 2" panose="05020102010507070707" pitchFamily="18" charset="2"/>
              <a:buNone/>
            </a:pP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说明：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Aft>
                <a:spcPct val="0"/>
              </a:spcAft>
              <a:buFont typeface="Wingdings 2" panose="05020102010507070707" pitchFamily="18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   例子中的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数学模型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</a:rPr>
              <a:t>正是数据结构要讨论的问题。</a:t>
            </a:r>
            <a:endParaRPr lang="zh-CN" altLang="en-US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400"/>
              </a:lnSpc>
            </a:pPr>
            <a:r>
              <a:rPr kumimoji="1" lang="en-US" altLang="zh-CN" sz="2800" b="1" dirty="0">
                <a:solidFill>
                  <a:srgbClr val="0000FF"/>
                </a:solidFill>
                <a:latin typeface="+mn-ea"/>
              </a:rPr>
              <a:t>    </a:t>
            </a:r>
            <a:r>
              <a:rPr kumimoji="1" lang="zh-CN" altLang="en-US" sz="2400" b="1" dirty="0">
                <a:solidFill>
                  <a:srgbClr val="0000FF"/>
                </a:solidFill>
                <a:latin typeface="+mn-ea"/>
              </a:rPr>
              <a:t>学籍管理问题（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表结构</a:t>
            </a:r>
            <a:r>
              <a:rPr kumimoji="1" lang="zh-CN" altLang="en-US" sz="2800" b="1" dirty="0">
                <a:solidFill>
                  <a:srgbClr val="0000FF"/>
                </a:solidFill>
                <a:latin typeface="+mn-ea"/>
              </a:rPr>
              <a:t>）</a:t>
            </a:r>
            <a:endParaRPr kumimoji="1"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914400" lvl="1">
              <a:lnSpc>
                <a:spcPts val="3400"/>
              </a:lnSpc>
            </a:pPr>
            <a:r>
              <a:rPr lang="zh-CN" altLang="en-US" sz="2400" b="1" dirty="0"/>
              <a:t>已知某级学生情况 </a:t>
            </a:r>
            <a:r>
              <a:rPr lang="en-US" altLang="zh-CN" sz="2400" b="1" dirty="0"/>
              <a:t>,  </a:t>
            </a:r>
            <a:r>
              <a:rPr lang="zh-CN" altLang="en-US" sz="2400" b="1" dirty="0"/>
              <a:t>要求分班按入学成绩排列顺序。</a:t>
            </a:r>
            <a:endParaRPr lang="zh-CN" altLang="en-US" sz="2400" b="1" dirty="0"/>
          </a:p>
          <a:p>
            <a:pPr lvl="2">
              <a:lnSpc>
                <a:spcPts val="34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2" name="Text Box 3"/>
          <p:cNvSpPr txBox="1">
            <a:spLocks noChangeArrowheads="1"/>
          </p:cNvSpPr>
          <p:nvPr/>
        </p:nvSpPr>
        <p:spPr bwMode="auto">
          <a:xfrm>
            <a:off x="1066800" y="2514600"/>
            <a:ext cx="7219950" cy="1870075"/>
          </a:xfrm>
          <a:prstGeom prst="rect">
            <a:avLst/>
          </a:prstGeom>
          <a:noFill/>
          <a:ln w="12700" cap="rnd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学号    姓名     性别     出生日期    籍贯   入学成绩  所在班级        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00201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杨润生   男     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82/06/01    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广州    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561         00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计算机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b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00102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石磊       男     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83/12/21    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汕头    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512         00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计算机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b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00202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李梅       女     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83/02/23    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阳江    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532         00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计算机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defTabSz="91440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00301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马耀先   男     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82/07/12      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广州      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509         00</a:t>
            </a:r>
            <a:r>
              <a:rPr kumimoji="1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计算机</a:t>
            </a:r>
            <a:r>
              <a:rPr kumimoji="1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endParaRPr kumimoji="1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3" name="Text Box 6"/>
          <p:cNvSpPr txBox="1">
            <a:spLocks noChangeArrowheads="1"/>
          </p:cNvSpPr>
          <p:nvPr/>
        </p:nvSpPr>
        <p:spPr bwMode="auto">
          <a:xfrm>
            <a:off x="381000" y="4584700"/>
            <a:ext cx="8534400" cy="1663700"/>
          </a:xfrm>
          <a:prstGeom prst="rect">
            <a:avLst/>
          </a:prstGeom>
          <a:noFill/>
          <a:ln w="38100" cmpd="dbl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说明：</a:t>
            </a:r>
            <a:endParaRPr kumimoji="1"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     在此类文档管理的数学模型中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计算机处理的对象之间通常存在着一种最简单的线性关系 </a:t>
            </a:r>
            <a:r>
              <a:rPr kumimoji="1"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,  </a:t>
            </a:r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该数学模型称为</a:t>
            </a:r>
            <a:r>
              <a:rPr kumimoji="1"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线性模型</a:t>
            </a:r>
            <a:r>
              <a:rPr kumimoji="1" lang="zh-CN" altLang="en-US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0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4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 迷宫问题（</a:t>
            </a:r>
            <a:r>
              <a:rPr kumimoji="1" lang="zh-CN" altLang="en-US" sz="2800" b="1" dirty="0">
                <a:solidFill>
                  <a:srgbClr val="FF0000"/>
                </a:solidFill>
                <a:latin typeface="+mn-ea"/>
              </a:rPr>
              <a:t>树结构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）</a:t>
            </a:r>
            <a:endParaRPr kumimoji="1"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914400" lvl="1">
              <a:lnSpc>
                <a:spcPts val="34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在迷宫中，每走到一处，接下来可走的通路有三条。计算机处理的这类对象之间通常不存在线性关系。若把从迷宫入口处到出口的过程中所有可能的通路都画出，则可得一棵“树”</a:t>
            </a:r>
            <a:r>
              <a:rPr lang="zh-CN" altLang="en-US" sz="2400" b="1" dirty="0">
                <a:solidFill>
                  <a:srgbClr val="1B06BA"/>
                </a:solidFill>
              </a:rPr>
              <a:t>。</a:t>
            </a:r>
            <a:endParaRPr lang="zh-CN" altLang="en-US" sz="2400" b="1" dirty="0">
              <a:solidFill>
                <a:srgbClr val="1B06BA"/>
              </a:solidFill>
            </a:endParaRPr>
          </a:p>
          <a:p>
            <a:pPr marL="628650" lvl="1" indent="0">
              <a:lnSpc>
                <a:spcPts val="3400"/>
              </a:lnSpc>
              <a:buNone/>
            </a:pPr>
            <a:endParaRPr lang="zh-CN" altLang="en-US" sz="2400" b="1" dirty="0"/>
          </a:p>
          <a:p>
            <a:pPr lvl="2">
              <a:lnSpc>
                <a:spcPts val="34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1202083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628" y="3591113"/>
            <a:ext cx="5411572" cy="2733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4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 教学计划编排问题（</a:t>
            </a:r>
            <a:r>
              <a:rPr kumimoji="1" lang="zh-CN" altLang="en-US" sz="2800" b="1" dirty="0">
                <a:solidFill>
                  <a:srgbClr val="FF0000"/>
                </a:solidFill>
                <a:latin typeface="+mn-ea"/>
              </a:rPr>
              <a:t>图结构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）</a:t>
            </a:r>
            <a:endParaRPr kumimoji="1"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914400" lvl="1">
              <a:lnSpc>
                <a:spcPts val="3400"/>
              </a:lnSpc>
            </a:pPr>
            <a:r>
              <a:rPr lang="zh-CN" altLang="en-US" sz="2400" b="1" dirty="0"/>
              <a:t>如何表示课程之间的先修关系？</a:t>
            </a:r>
            <a:endParaRPr lang="zh-CN" altLang="en-US" sz="2400" b="1" dirty="0"/>
          </a:p>
          <a:p>
            <a:pPr marL="628650" lvl="1" indent="0">
              <a:lnSpc>
                <a:spcPts val="3400"/>
              </a:lnSpc>
              <a:buNone/>
            </a:pPr>
            <a:endParaRPr lang="zh-CN" altLang="en-US" sz="2400" b="1" dirty="0"/>
          </a:p>
          <a:p>
            <a:pPr lvl="2">
              <a:lnSpc>
                <a:spcPts val="34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5" y="1202083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1" name="Picture 1" descr="C:\Users\Haijun\AppData\Roaming\Tencent\Users\329215889\QQ\WinTemp\RichOle\`OWB@Y[4GMSR{7@4UQXQX6U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924" y="2362200"/>
            <a:ext cx="4008491" cy="3933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302" y="2595562"/>
            <a:ext cx="4064898" cy="296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05400"/>
          </a:xfrm>
        </p:spPr>
        <p:txBody>
          <a:bodyPr>
            <a:normAutofit fontScale="92500"/>
          </a:bodyPr>
          <a:lstStyle/>
          <a:p>
            <a:pPr>
              <a:lnSpc>
                <a:spcPts val="27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计算机求解问题 </a:t>
            </a:r>
            <a:endParaRPr kumimoji="1"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914400" lvl="1">
              <a:lnSpc>
                <a:spcPts val="2700"/>
              </a:lnSpc>
            </a:pPr>
            <a:r>
              <a:rPr lang="zh-CN" altLang="en-US" sz="2400" b="1" dirty="0"/>
              <a:t>问题→抽象出问题的模型→求模型的解</a:t>
            </a:r>
            <a:endParaRPr lang="en-US" altLang="zh-CN" sz="2400" b="1" dirty="0"/>
          </a:p>
          <a:p>
            <a:pPr marL="914400" lvl="1">
              <a:lnSpc>
                <a:spcPts val="2700"/>
              </a:lnSpc>
            </a:pPr>
            <a:r>
              <a:rPr lang="zh-CN" altLang="en-US" sz="2400" b="1" dirty="0"/>
              <a:t>问题</a:t>
            </a:r>
            <a:r>
              <a:rPr lang="en-US" altLang="zh-CN" sz="2400" b="1" dirty="0"/>
              <a:t>——</a:t>
            </a:r>
            <a:r>
              <a:rPr lang="zh-CN" altLang="en-US" sz="2400" b="1" dirty="0">
                <a:solidFill>
                  <a:schemeClr val="bg1">
                    <a:lumMod val="65000"/>
                  </a:schemeClr>
                </a:solidFill>
              </a:rPr>
              <a:t>数值问题</a:t>
            </a:r>
            <a:r>
              <a:rPr lang="zh-CN" altLang="en-US" sz="2400" b="1" dirty="0"/>
              <a:t>、非数值问题 </a:t>
            </a:r>
            <a:endParaRPr lang="en-US" altLang="zh-CN" sz="2400" b="1" dirty="0"/>
          </a:p>
          <a:p>
            <a:pPr marL="1314450" lvl="2">
              <a:lnSpc>
                <a:spcPts val="2700"/>
              </a:lnSpc>
            </a:pP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</a:rPr>
              <a:t>数值问题→数学方程 </a:t>
            </a:r>
            <a:endParaRPr lang="en-US" altLang="zh-CN" sz="2000" b="1" dirty="0">
              <a:solidFill>
                <a:schemeClr val="bg1">
                  <a:lumMod val="65000"/>
                </a:schemeClr>
              </a:solidFill>
            </a:endParaRPr>
          </a:p>
          <a:p>
            <a:pPr marL="1314450" lvl="2">
              <a:lnSpc>
                <a:spcPts val="2700"/>
              </a:lnSpc>
            </a:pPr>
            <a:r>
              <a:rPr lang="zh-CN" altLang="en-US" sz="2000" b="1" dirty="0"/>
              <a:t>非数值问题→数据结构 </a:t>
            </a:r>
            <a:endParaRPr lang="en-US" altLang="zh-CN" sz="2000" b="1" dirty="0"/>
          </a:p>
          <a:p>
            <a:pPr marL="514350">
              <a:lnSpc>
                <a:spcPts val="2700"/>
              </a:lnSpc>
            </a:pPr>
            <a:r>
              <a:rPr lang="zh-CN" altLang="en-US" sz="2800" b="1" dirty="0"/>
              <a:t>数据结构讨论的问题：</a:t>
            </a:r>
            <a:endParaRPr lang="en-US" altLang="zh-CN" sz="2800" b="1" dirty="0"/>
          </a:p>
          <a:p>
            <a:pPr marL="1085850" lvl="1" indent="-457200">
              <a:lnSpc>
                <a:spcPts val="27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rgbClr val="FF0000"/>
                </a:solidFill>
              </a:rPr>
              <a:t>数据的逻辑结构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1314450" lvl="2">
              <a:lnSpc>
                <a:spcPts val="2700"/>
              </a:lnSpc>
            </a:pPr>
            <a:r>
              <a:rPr lang="zh-CN" altLang="en-US" sz="2000" b="1" dirty="0"/>
              <a:t>  数据元素之间的逻辑关系，是具体关系的抽象。</a:t>
            </a:r>
            <a:endParaRPr lang="zh-CN" altLang="en-US" sz="2000" b="1" dirty="0"/>
          </a:p>
          <a:p>
            <a:pPr marL="1085850" lvl="1" indent="-457200">
              <a:lnSpc>
                <a:spcPts val="27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rgbClr val="FF0000"/>
                </a:solidFill>
              </a:rPr>
              <a:t>数据的存储结构</a:t>
            </a:r>
            <a:r>
              <a:rPr lang="en-US" altLang="zh-CN" sz="2400" b="1" dirty="0">
                <a:solidFill>
                  <a:srgbClr val="FF0000"/>
                </a:solidFill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物理结构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1314450" lvl="2">
              <a:lnSpc>
                <a:spcPts val="2700"/>
              </a:lnSpc>
            </a:pPr>
            <a:r>
              <a:rPr lang="zh-CN" altLang="en-US" sz="2000" b="1" dirty="0"/>
              <a:t>    数据元素及其关系在计算机内存中的表示；</a:t>
            </a:r>
            <a:endParaRPr lang="zh-CN" altLang="en-US" sz="2000" b="1" dirty="0"/>
          </a:p>
          <a:p>
            <a:pPr marL="1085850" lvl="1" indent="-457200">
              <a:lnSpc>
                <a:spcPts val="2700"/>
              </a:lnSpc>
              <a:buFont typeface="+mj-ea"/>
              <a:buAutoNum type="circleNumDbPlain"/>
            </a:pPr>
            <a:r>
              <a:rPr lang="zh-CN" altLang="en-US" sz="2400" b="1" dirty="0">
                <a:solidFill>
                  <a:srgbClr val="FF0000"/>
                </a:solidFill>
              </a:rPr>
              <a:t>数据的运算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1314450" lvl="2">
              <a:lnSpc>
                <a:spcPts val="2700"/>
              </a:lnSpc>
            </a:pPr>
            <a:r>
              <a:rPr lang="zh-CN" altLang="en-US" sz="2000" b="1" dirty="0"/>
              <a:t>   即对数据施加的操作。定义在数据的逻辑结构上的抽象的操作。</a:t>
            </a:r>
            <a:endParaRPr lang="zh-CN" altLang="en-US" sz="2000" b="1" dirty="0"/>
          </a:p>
          <a:p>
            <a:pPr marL="914400" lvl="1">
              <a:lnSpc>
                <a:spcPts val="2700"/>
              </a:lnSpc>
            </a:pPr>
            <a:endParaRPr lang="zh-CN" altLang="en-US" sz="2400" b="1" dirty="0"/>
          </a:p>
          <a:p>
            <a:pPr marL="514350">
              <a:lnSpc>
                <a:spcPts val="2700"/>
              </a:lnSpc>
            </a:pPr>
            <a:endParaRPr lang="zh-CN" altLang="en-US" b="1" dirty="0"/>
          </a:p>
          <a:p>
            <a:pPr marL="514350">
              <a:lnSpc>
                <a:spcPts val="2700"/>
              </a:lnSpc>
            </a:pPr>
            <a:endParaRPr lang="zh-CN" altLang="en-US" b="1" dirty="0"/>
          </a:p>
          <a:p>
            <a:pPr marL="628650" lvl="1" indent="0">
              <a:lnSpc>
                <a:spcPts val="2700"/>
              </a:lnSpc>
              <a:buNone/>
            </a:pPr>
            <a:endParaRPr lang="zh-CN" altLang="en-US" sz="2400" b="1" dirty="0"/>
          </a:p>
          <a:p>
            <a:pPr lvl="2">
              <a:lnSpc>
                <a:spcPts val="27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1.1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数据结构及其讨论范畴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数据结构是一门讨论</a:t>
            </a:r>
            <a:r>
              <a:rPr lang="en-US" altLang="zh-CN" sz="2800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"</a:t>
            </a:r>
            <a:r>
              <a:rPr lang="zh-CN" altLang="en-US" sz="2800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描述现实世界实体的数学模型</a:t>
            </a:r>
            <a:r>
              <a:rPr lang="en-US" altLang="zh-CN" sz="2800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sz="2800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非数值计算</a:t>
            </a:r>
            <a:r>
              <a:rPr lang="en-US" altLang="zh-CN" sz="2800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r>
              <a:rPr lang="zh-CN" altLang="en-US" sz="2800" dirty="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及其上的操作在计算机中如何表示和实现</a:t>
            </a:r>
            <a:r>
              <a:rPr lang="en-US" altLang="zh-CN" sz="2800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"</a:t>
            </a:r>
            <a:r>
              <a:rPr lang="zh-CN" altLang="en-US" sz="2800" dirty="0">
                <a:solidFill>
                  <a:srgbClr val="0000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的学科。 </a:t>
            </a:r>
            <a:endParaRPr lang="zh-CN" altLang="en-US" sz="2800" dirty="0">
              <a:solidFill>
                <a:srgbClr val="0000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400050" lvl="1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在解决问题时可能遇到的典型的逻辑结构</a:t>
            </a:r>
            <a:endParaRPr lang="en-US" altLang="zh-CN" sz="20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00050" lvl="1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----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数据逻辑结构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00050" lvl="1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逻辑结构的存储映象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----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存储实现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00050" lvl="1" indent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建立在二者之上的基本运算</a:t>
            </a:r>
            <a:r>
              <a:rPr lang="en-US" altLang="zh-CN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----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</a:t>
            </a:r>
            <a:r>
              <a:rPr lang="zh-CN" altLang="en-US" sz="20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0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2700"/>
              </a:lnSpc>
            </a:pPr>
            <a:endParaRPr lang="zh-CN" altLang="en-US" sz="2400" b="1" dirty="0"/>
          </a:p>
          <a:p>
            <a:pPr marL="514350">
              <a:lnSpc>
                <a:spcPts val="2700"/>
              </a:lnSpc>
            </a:pPr>
            <a:endParaRPr lang="zh-CN" altLang="en-US" b="1" dirty="0"/>
          </a:p>
          <a:p>
            <a:pPr marL="514350">
              <a:lnSpc>
                <a:spcPts val="2700"/>
              </a:lnSpc>
            </a:pPr>
            <a:endParaRPr lang="zh-CN" altLang="en-US" b="1" dirty="0"/>
          </a:p>
          <a:p>
            <a:pPr marL="628650" lvl="1" indent="0">
              <a:lnSpc>
                <a:spcPts val="2700"/>
              </a:lnSpc>
              <a:buNone/>
            </a:pPr>
            <a:endParaRPr lang="zh-CN" altLang="en-US" sz="2400" b="1" dirty="0"/>
          </a:p>
          <a:p>
            <a:pPr lvl="2">
              <a:lnSpc>
                <a:spcPts val="2700"/>
              </a:lnSpc>
            </a:pP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第一章 绪论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数据结构及其讨论范畴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基本概念和术语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1.3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抽象数据类型的表示与实现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1.4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算法和算法分析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ts val="34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数据</a:t>
            </a:r>
            <a:r>
              <a:rPr lang="zh-CN" altLang="en-US" sz="2400" b="1" dirty="0"/>
              <a:t>：一切能输入到计算机中并能被计算机程序识别和 处理的符号集合。 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lang="zh-CN" altLang="en-US" sz="2000" b="1" dirty="0"/>
              <a:t>数值数据：整数、实数等</a:t>
            </a:r>
            <a:endParaRPr lang="en-US" altLang="zh-CN" sz="2000" b="1" dirty="0"/>
          </a:p>
          <a:p>
            <a:pPr lvl="1">
              <a:lnSpc>
                <a:spcPts val="3000"/>
              </a:lnSpc>
            </a:pPr>
            <a:r>
              <a:rPr lang="zh-CN" altLang="en-US" sz="2000" b="1" dirty="0"/>
              <a:t>非数值数据：图形、图象、声音、文字等 </a:t>
            </a:r>
            <a:endParaRPr lang="en-US" altLang="zh-CN" sz="2000" b="1" dirty="0"/>
          </a:p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数据元素</a:t>
            </a:r>
            <a:r>
              <a:rPr lang="zh-CN" altLang="en-US" sz="2400" b="1" dirty="0"/>
              <a:t>：数据的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基本</a:t>
            </a:r>
            <a:r>
              <a:rPr lang="zh-CN" altLang="en-US" sz="2400" b="1" dirty="0"/>
              <a:t>单位，在计算机程序中通常作为 一个整体进行考虑和处理。 </a:t>
            </a:r>
            <a:endParaRPr lang="en-US" altLang="zh-CN" sz="2400" b="1" dirty="0"/>
          </a:p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数据项</a:t>
            </a:r>
            <a:r>
              <a:rPr lang="zh-CN" altLang="en-US" sz="2400" b="1" dirty="0"/>
              <a:t>：构成数据元素的</a:t>
            </a:r>
            <a:r>
              <a:rPr lang="zh-CN" altLang="en-US" sz="2400" b="1"/>
              <a:t>不可分割的最小</a:t>
            </a:r>
            <a:r>
              <a:rPr lang="zh-CN" altLang="en-US" sz="2400" b="1" dirty="0"/>
              <a:t>单位。</a:t>
            </a:r>
            <a:endParaRPr lang="en-US" altLang="zh-CN" sz="2400" b="1" dirty="0"/>
          </a:p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数据对象</a:t>
            </a:r>
            <a:r>
              <a:rPr lang="zh-CN" altLang="en-US" sz="2400" b="1" dirty="0"/>
              <a:t>：具有相同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性质</a:t>
            </a:r>
            <a:r>
              <a:rPr lang="zh-CN" altLang="en-US" sz="2400" b="1" dirty="0"/>
              <a:t>的数据元素的集合。</a:t>
            </a:r>
            <a:endParaRPr lang="en-US" altLang="zh-CN" sz="2400" b="1" dirty="0"/>
          </a:p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 结点</a:t>
            </a:r>
            <a:r>
              <a:rPr lang="zh-CN" altLang="en-US" sz="2400" b="1" dirty="0"/>
              <a:t>：数据元素在计算机内的位串表示 。</a:t>
            </a:r>
            <a:endParaRPr lang="en-US" altLang="zh-CN" sz="2400" b="1" dirty="0"/>
          </a:p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域（字段）</a:t>
            </a:r>
            <a:r>
              <a:rPr lang="zh-CN" altLang="en-US" sz="2400" b="1" dirty="0"/>
              <a:t>：数据元素中数据项在计算机内的表示 。</a:t>
            </a:r>
            <a:endParaRPr lang="en-US" altLang="zh-CN" sz="2400" b="1" dirty="0"/>
          </a:p>
          <a:p>
            <a:pPr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信息表</a:t>
            </a:r>
            <a:r>
              <a:rPr lang="zh-CN" altLang="en-US" sz="2400" b="1" dirty="0"/>
              <a:t>：是数据对象在计算机内的表示。</a:t>
            </a:r>
            <a:endParaRPr lang="zh-CN" altLang="en-US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901081"/>
            <a:ext cx="3992149" cy="1192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数据结构</a:t>
            </a:r>
            <a:r>
              <a:rPr lang="zh-CN" altLang="en-US" sz="2800" b="1" dirty="0"/>
              <a:t> </a:t>
            </a:r>
            <a:endParaRPr lang="en-US" altLang="zh-CN" sz="28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数据元素之间的</a:t>
            </a:r>
            <a:r>
              <a:rPr lang="zh-CN" altLang="en-US" sz="2400" b="1" dirty="0">
                <a:solidFill>
                  <a:srgbClr val="FF0000"/>
                </a:solidFill>
              </a:rPr>
              <a:t>相互关系</a:t>
            </a:r>
            <a:r>
              <a:rPr lang="zh-CN" altLang="en-US" sz="2400" b="1" dirty="0"/>
              <a:t>，这种关系是</a:t>
            </a:r>
            <a:r>
              <a:rPr lang="zh-CN" altLang="en-US" sz="2400" b="1" dirty="0">
                <a:solidFill>
                  <a:srgbClr val="FF0000"/>
                </a:solidFill>
              </a:rPr>
              <a:t>抽象的</a:t>
            </a:r>
            <a:r>
              <a:rPr lang="zh-CN" altLang="en-US" sz="2400" b="1" dirty="0"/>
              <a:t>，即并不涉及数据元素的</a:t>
            </a:r>
            <a:r>
              <a:rPr lang="zh-CN" altLang="en-US" sz="2400" b="1" dirty="0">
                <a:solidFill>
                  <a:srgbClr val="FF0000"/>
                </a:solidFill>
              </a:rPr>
              <a:t>具体内容</a:t>
            </a:r>
            <a:r>
              <a:rPr lang="zh-CN" altLang="en-US" sz="2400" b="1" dirty="0"/>
              <a:t>。是数据元素及其相互间关系的数学描述 。 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相互之间存在一定</a:t>
            </a:r>
            <a:r>
              <a:rPr lang="zh-CN" altLang="en-US" sz="2400" b="1" dirty="0">
                <a:solidFill>
                  <a:srgbClr val="FF0000"/>
                </a:solidFill>
              </a:rPr>
              <a:t>关系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数据元素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集合</a:t>
            </a:r>
            <a:r>
              <a:rPr lang="zh-CN" altLang="en-US" sz="2400" b="1" dirty="0"/>
              <a:t>。 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按照视角的不同，数据结构分为</a:t>
            </a:r>
            <a:r>
              <a:rPr lang="zh-CN" altLang="en-US" sz="2400" b="1" dirty="0">
                <a:solidFill>
                  <a:srgbClr val="FF0000"/>
                </a:solidFill>
              </a:rPr>
              <a:t>逻辑结构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FF0000"/>
                </a:solidFill>
              </a:rPr>
              <a:t>存储结构</a:t>
            </a:r>
            <a:r>
              <a:rPr lang="zh-CN" altLang="en-US" sz="2400" b="1" dirty="0"/>
              <a:t>。建立在二者之上的基本运算。</a:t>
            </a:r>
            <a:endParaRPr lang="en-US" altLang="zh-CN" sz="2400" b="1" dirty="0"/>
          </a:p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数据的逻辑结构 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数据元素之间的抽象关系，数据元素之间</a:t>
            </a:r>
            <a:r>
              <a:rPr lang="zh-CN" altLang="en-US" sz="2400" b="1" dirty="0">
                <a:solidFill>
                  <a:srgbClr val="FF0000"/>
                </a:solidFill>
              </a:rPr>
              <a:t>逻辑关系</a:t>
            </a:r>
            <a:r>
              <a:rPr lang="zh-CN" altLang="en-US" sz="2400" b="1" dirty="0"/>
              <a:t>的整体 。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数据的逻辑结构是从具体问题抽象出来的</a:t>
            </a:r>
            <a:r>
              <a:rPr lang="zh-CN" altLang="en-US" sz="2400" b="1" dirty="0">
                <a:solidFill>
                  <a:srgbClr val="FF0000"/>
                </a:solidFill>
              </a:rPr>
              <a:t>数据模型</a:t>
            </a:r>
            <a:r>
              <a:rPr lang="zh-CN" altLang="en-US" sz="2400" b="1" dirty="0"/>
              <a:t>。</a:t>
            </a: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数据的存储结构</a:t>
            </a:r>
            <a:r>
              <a:rPr lang="zh-CN" altLang="en-US" sz="2800" b="1" dirty="0"/>
              <a:t> </a:t>
            </a:r>
            <a:endParaRPr lang="en-US" altLang="zh-CN" sz="28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又称物理结构，是数据及其逻辑结构在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计算机</a:t>
            </a:r>
            <a:r>
              <a:rPr lang="zh-CN" altLang="en-US" sz="2400" b="1" dirty="0"/>
              <a:t>中的表示。 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实质上是内存分配，以确定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元素</a:t>
            </a:r>
            <a:r>
              <a:rPr lang="zh-CN" altLang="en-US" sz="2400" b="1" dirty="0"/>
              <a:t>及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元素之间</a:t>
            </a:r>
            <a:r>
              <a:rPr lang="zh-CN" altLang="en-US" sz="2400" b="1" dirty="0"/>
              <a:t>关系的表示。 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在具体实现时，依赖于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计算机语言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数据逻辑结构的形式定义描述为：</a:t>
            </a:r>
            <a:r>
              <a:rPr lang="zh-CN" altLang="en-US" b="1" dirty="0"/>
              <a:t> </a:t>
            </a:r>
            <a:endParaRPr lang="en-US" altLang="zh-CN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865187" y="1971675"/>
            <a:ext cx="7364413" cy="4124325"/>
          </a:xfrm>
          <a:prstGeom prst="rect">
            <a:avLst/>
          </a:prstGeom>
          <a:noFill/>
          <a:ln w="9525">
            <a:solidFill>
              <a:srgbClr val="00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zh-CN" altLang="en-US" sz="4400" dirty="0">
                <a:latin typeface="隶书" panose="02010509060101010101" pitchFamily="49" charset="-122"/>
                <a:ea typeface="隶书" panose="02010509060101010101" pitchFamily="49" charset="-122"/>
              </a:rPr>
              <a:t>数据逻辑结构</a:t>
            </a:r>
            <a:r>
              <a:rPr kumimoji="1" lang="zh-CN" altLang="en-US" sz="4000" b="0" dirty="0">
                <a:latin typeface="楷体_GB2312" pitchFamily="49" charset="-122"/>
                <a:ea typeface="楷体_GB2312" pitchFamily="49" charset="-122"/>
              </a:rPr>
              <a:t>是一个二元组 </a:t>
            </a:r>
            <a:endParaRPr kumimoji="1" lang="en-US" altLang="zh-CN" sz="4000" b="0" dirty="0">
              <a:latin typeface="楷体_GB2312" pitchFamily="49" charset="-122"/>
              <a:ea typeface="楷体_GB2312" pitchFamily="49" charset="-122"/>
            </a:endParaRPr>
          </a:p>
          <a:p>
            <a:pPr eaLnBrk="1" fontAlgn="base" hangingPunct="1"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en-US" altLang="zh-CN" sz="4000" b="0" dirty="0" err="1">
                <a:latin typeface="Times New Roman" panose="02020603050405020304" pitchFamily="18" charset="0"/>
                <a:ea typeface="楷体_GB2312" pitchFamily="49" charset="-122"/>
              </a:rPr>
              <a:t>Data_Structures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pitchFamily="49" charset="-122"/>
              </a:rPr>
              <a:t> = (D, R)</a:t>
            </a:r>
            <a:endParaRPr kumimoji="1" lang="en-US" altLang="zh-CN" sz="4000" b="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fontAlgn="base" hangingPunct="1">
              <a:lnSpc>
                <a:spcPct val="14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zh-CN" altLang="en-US" sz="4000" b="0" dirty="0">
                <a:latin typeface="楷体_GB2312" pitchFamily="49" charset="-122"/>
                <a:ea typeface="楷体_GB2312" pitchFamily="49" charset="-122"/>
              </a:rPr>
              <a:t>其中</a:t>
            </a:r>
            <a:r>
              <a:rPr kumimoji="1" lang="en-US" altLang="zh-CN" sz="4000" b="0" dirty="0">
                <a:latin typeface="楷体_GB2312" pitchFamily="49" charset="-122"/>
                <a:ea typeface="楷体_GB2312" pitchFamily="49" charset="-122"/>
              </a:rPr>
              <a:t>: 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pitchFamily="49" charset="-122"/>
              </a:rPr>
              <a:t>D </a:t>
            </a:r>
            <a:r>
              <a:rPr kumimoji="1" lang="zh-CN" altLang="en-US" sz="4000" b="0" dirty="0"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1" lang="zh-CN" altLang="en-US" sz="4000" dirty="0">
                <a:latin typeface="楷体_GB2312" pitchFamily="49" charset="-122"/>
                <a:ea typeface="楷体_GB2312" pitchFamily="49" charset="-122"/>
              </a:rPr>
              <a:t>数据元素的有限集</a:t>
            </a:r>
            <a:r>
              <a:rPr kumimoji="1" lang="zh-CN" altLang="en-US" sz="4000" b="0" dirty="0">
                <a:latin typeface="楷体_GB2312" pitchFamily="49" charset="-122"/>
                <a:ea typeface="楷体_GB2312" pitchFamily="49" charset="-122"/>
              </a:rPr>
              <a:t>，</a:t>
            </a:r>
            <a:endParaRPr kumimoji="1" lang="zh-CN" altLang="en-US" sz="4000" b="0" dirty="0">
              <a:latin typeface="楷体_GB2312" pitchFamily="49" charset="-122"/>
              <a:ea typeface="楷体_GB2312" pitchFamily="49" charset="-122"/>
            </a:endParaRPr>
          </a:p>
          <a:p>
            <a:pPr eaLnBrk="1" fontAlgn="base" hangingPunct="1">
              <a:lnSpc>
                <a:spcPct val="140000"/>
              </a:lnSpc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kumimoji="1" lang="zh-CN" altLang="en-US" sz="4000" b="0" dirty="0"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pitchFamily="49" charset="-122"/>
              </a:rPr>
              <a:t>R </a:t>
            </a:r>
            <a:r>
              <a:rPr kumimoji="1" lang="zh-CN" altLang="en-US" sz="4000" b="0" dirty="0">
                <a:latin typeface="Times New Roman" panose="02020603050405020304" pitchFamily="18" charset="0"/>
                <a:ea typeface="楷体_GB2312" pitchFamily="49" charset="-122"/>
              </a:rPr>
              <a:t>是 </a:t>
            </a:r>
            <a:r>
              <a:rPr kumimoji="1" lang="en-US" altLang="zh-CN" sz="4000" b="0" dirty="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1" lang="zh-CN" altLang="en-US" sz="4000" b="0" dirty="0">
                <a:latin typeface="楷体_GB2312" pitchFamily="49" charset="-122"/>
                <a:ea typeface="楷体_GB2312" pitchFamily="49" charset="-122"/>
              </a:rPr>
              <a:t>上</a:t>
            </a:r>
            <a:r>
              <a:rPr kumimoji="1" lang="zh-CN" altLang="en-US" sz="4000" dirty="0">
                <a:latin typeface="楷体_GB2312" pitchFamily="49" charset="-122"/>
                <a:ea typeface="楷体_GB2312" pitchFamily="49" charset="-122"/>
              </a:rPr>
              <a:t>关系的有限集</a:t>
            </a:r>
            <a:r>
              <a:rPr kumimoji="1" lang="zh-CN" altLang="en-US" sz="4000" b="0" dirty="0">
                <a:latin typeface="楷体_GB2312" pitchFamily="49" charset="-122"/>
                <a:ea typeface="楷体_GB2312" pitchFamily="49" charset="-122"/>
              </a:rPr>
              <a:t>。</a:t>
            </a:r>
            <a:endParaRPr kumimoji="1" lang="zh-CN" altLang="en-US" sz="4000" b="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数据结构从逻辑上分为四类：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0" indent="0">
              <a:lnSpc>
                <a:spcPts val="3000"/>
              </a:lnSpc>
              <a:buNone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</a:rPr>
              <a:t>    即四种基本的逻辑结构 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集合</a:t>
            </a:r>
            <a:r>
              <a:rPr lang="zh-CN" altLang="en-US" sz="2400" b="1" dirty="0"/>
              <a:t>：数据元素之间就是“属 于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同一个</a:t>
            </a:r>
            <a:r>
              <a:rPr lang="zh-CN" altLang="en-US" sz="2400" b="1" dirty="0"/>
              <a:t>集合”； 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线性结构</a:t>
            </a:r>
            <a:r>
              <a:rPr lang="zh-CN" altLang="en-US" sz="2400" b="1" dirty="0"/>
              <a:t>：数据元素之间 存在着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一对一</a:t>
            </a:r>
            <a:r>
              <a:rPr lang="zh-CN" altLang="en-US" sz="2400" b="1" dirty="0"/>
              <a:t>的线性关系；</a:t>
            </a:r>
            <a:endParaRPr lang="zh-CN" altLang="en-US" sz="2400" b="1" dirty="0"/>
          </a:p>
          <a:p>
            <a:pPr lvl="1">
              <a:lnSpc>
                <a:spcPts val="3000"/>
              </a:lnSpc>
            </a:pPr>
            <a:r>
              <a:rPr kumimoji="1" lang="zh-CN" altLang="en-US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树形结构</a:t>
            </a:r>
            <a:r>
              <a:rPr lang="zh-CN" altLang="en-US" sz="2400" b="1" dirty="0"/>
              <a:t>：数据元素之间存在 着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一对多</a:t>
            </a:r>
            <a:r>
              <a:rPr lang="zh-CN" altLang="en-US" sz="2400" b="1" dirty="0"/>
              <a:t>的层次关系； 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图结构</a:t>
            </a:r>
            <a:r>
              <a:rPr lang="zh-CN" altLang="en-US" sz="2400" b="1" dirty="0"/>
              <a:t>：数据元素之间存在着 </a:t>
            </a: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</a:rPr>
              <a:t>多对多</a:t>
            </a:r>
            <a:r>
              <a:rPr lang="zh-CN" altLang="en-US" sz="2400" b="1" dirty="0"/>
              <a:t>的任意关系。</a:t>
            </a: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4419600"/>
            <a:ext cx="9094274" cy="1671638"/>
            <a:chOff x="0" y="4419600"/>
            <a:chExt cx="9094274" cy="1671638"/>
          </a:xfrm>
        </p:grpSpPr>
        <p:pic>
          <p:nvPicPr>
            <p:cNvPr id="1126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648200"/>
              <a:ext cx="1957542" cy="13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6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5136356"/>
              <a:ext cx="2209800" cy="350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6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4419600"/>
              <a:ext cx="2473395" cy="1671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6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2800" y="4793964"/>
              <a:ext cx="1931474" cy="1146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数据结构类型：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1"/>
          <p:cNvGrpSpPr/>
          <p:nvPr/>
        </p:nvGrpSpPr>
        <p:grpSpPr bwMode="auto">
          <a:xfrm>
            <a:off x="5029204" y="4572002"/>
            <a:ext cx="1247776" cy="1774826"/>
            <a:chOff x="2836" y="2296"/>
            <a:chExt cx="786" cy="1118"/>
          </a:xfrm>
        </p:grpSpPr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3053" y="2296"/>
              <a:ext cx="569" cy="1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树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图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  <a:p>
              <a:pPr marL="0" marR="0" lvl="0" indent="0" algn="ctr" defTabSz="914400" eaLnBrk="1" fontAlgn="base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kern="0" dirty="0">
                  <a:latin typeface="Times New Roman" panose="02020603050405020304" pitchFamily="18" charset="0"/>
                </a:rPr>
                <a:t>集合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</a:endParaRPr>
            </a:p>
          </p:txBody>
        </p:sp>
        <p:sp>
          <p:nvSpPr>
            <p:cNvPr id="29" name="AutoShape 10"/>
            <p:cNvSpPr/>
            <p:nvPr/>
          </p:nvSpPr>
          <p:spPr bwMode="auto">
            <a:xfrm>
              <a:off x="2836" y="2447"/>
              <a:ext cx="163" cy="809"/>
            </a:xfrm>
            <a:prstGeom prst="leftBrace">
              <a:avLst>
                <a:gd name="adj1" fmla="val 31635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 marL="273050" indent="-2730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273050" marR="0" lvl="0" indent="-273050" algn="ctr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0" name="Group 36"/>
          <p:cNvGrpSpPr/>
          <p:nvPr/>
        </p:nvGrpSpPr>
        <p:grpSpPr bwMode="auto">
          <a:xfrm>
            <a:off x="4910138" y="1500188"/>
            <a:ext cx="2644775" cy="3046412"/>
            <a:chOff x="2711" y="1298"/>
            <a:chExt cx="1666" cy="1919"/>
          </a:xfrm>
        </p:grpSpPr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2993" y="1298"/>
              <a:ext cx="1384" cy="19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73050" indent="-2730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273050" marR="0" lvl="0" indent="-2730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线性表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273050" marR="0" lvl="0" indent="-2730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栈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273050" marR="0" lvl="0" indent="-2730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队列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273050" marR="0" lvl="0" indent="-2730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串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273050" marR="0" lvl="0" indent="-2730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数组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marL="273050" marR="0" lvl="0" indent="-27305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广义表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2" name="AutoShape 32"/>
            <p:cNvSpPr/>
            <p:nvPr/>
          </p:nvSpPr>
          <p:spPr bwMode="auto">
            <a:xfrm>
              <a:off x="2711" y="1344"/>
              <a:ext cx="169" cy="1723"/>
            </a:xfrm>
            <a:prstGeom prst="leftBrace">
              <a:avLst>
                <a:gd name="adj1" fmla="val 69479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marL="273050" indent="-2730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273050" marR="0" lvl="0" indent="-273050" algn="ctr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zh-CN" sz="110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33" name="Group 35"/>
          <p:cNvGrpSpPr/>
          <p:nvPr/>
        </p:nvGrpSpPr>
        <p:grpSpPr bwMode="auto">
          <a:xfrm>
            <a:off x="838200" y="2997201"/>
            <a:ext cx="4224338" cy="2794001"/>
            <a:chOff x="180" y="1888"/>
            <a:chExt cx="2661" cy="1760"/>
          </a:xfrm>
        </p:grpSpPr>
        <p:sp>
          <p:nvSpPr>
            <p:cNvPr id="34" name="Text Box 5"/>
            <p:cNvSpPr txBox="1">
              <a:spLocks noChangeArrowheads="1"/>
            </p:cNvSpPr>
            <p:nvPr/>
          </p:nvSpPr>
          <p:spPr bwMode="auto">
            <a:xfrm>
              <a:off x="180" y="2559"/>
              <a:ext cx="1153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数据结构</a:t>
              </a:r>
              <a:endPara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" name="AutoShape 9"/>
            <p:cNvSpPr/>
            <p:nvPr/>
          </p:nvSpPr>
          <p:spPr bwMode="auto">
            <a:xfrm>
              <a:off x="1305" y="2060"/>
              <a:ext cx="180" cy="1404"/>
            </a:xfrm>
            <a:prstGeom prst="leftBrace">
              <a:avLst>
                <a:gd name="adj1" fmla="val 69478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marL="273050" indent="-2730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273050" marR="0" lvl="0" indent="-273050" algn="ctr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zh-CN" sz="8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6" name="Text Box 33"/>
            <p:cNvSpPr txBox="1">
              <a:spLocks noChangeArrowheads="1"/>
            </p:cNvSpPr>
            <p:nvPr/>
          </p:nvSpPr>
          <p:spPr bwMode="auto">
            <a:xfrm>
              <a:off x="1519" y="1888"/>
              <a:ext cx="131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线性结构</a:t>
              </a:r>
              <a:endParaRPr kumimoji="1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1429" y="3030"/>
              <a:ext cx="1412" cy="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非线性结构</a:t>
              </a:r>
              <a:endPara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</a:pPr>
            <a:r>
              <a:rPr lang="zh-CN" altLang="en-US" sz="3600" b="1" dirty="0">
                <a:solidFill>
                  <a:srgbClr val="FF0000"/>
                </a:solidFill>
              </a:rPr>
              <a:t>数据的逻辑结构：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pPr marL="457200" lvl="1" indent="0">
              <a:lnSpc>
                <a:spcPts val="4000"/>
              </a:lnSpc>
              <a:buNone/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kumimoji="1"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）线性结构：除第一个元素和最后一个元素之外，其他元素都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有且仅有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一个直接前驱，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有且仅有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一个直接后继；</a:t>
            </a:r>
            <a:endParaRPr kumimoji="1"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57200" lvl="1" indent="0">
              <a:lnSpc>
                <a:spcPts val="4000"/>
              </a:lnSpc>
              <a:buNone/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kumimoji="1"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）非线性结构：其逻辑特征是一个结点可能有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多个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直接前驱和直接后继。</a:t>
            </a:r>
            <a:endParaRPr kumimoji="1"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直接连接符 15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85800" y="4876800"/>
            <a:ext cx="7848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中任意一个关系</a:t>
            </a:r>
            <a:r>
              <a:rPr lang="en-US" altLang="zh-CN" dirty="0"/>
              <a:t>r</a:t>
            </a:r>
            <a:r>
              <a:rPr lang="zh-CN" altLang="en-US" dirty="0"/>
              <a:t>是序偶的集合，对于</a:t>
            </a:r>
            <a:r>
              <a:rPr lang="en-US" altLang="zh-CN" dirty="0"/>
              <a:t>r</a:t>
            </a:r>
            <a:r>
              <a:rPr lang="zh-CN" altLang="en-US" dirty="0"/>
              <a:t>中的任一序偶</a:t>
            </a:r>
            <a:r>
              <a:rPr lang="en-US" altLang="zh-CN" dirty="0"/>
              <a:t>&lt;</a:t>
            </a:r>
            <a:r>
              <a:rPr lang="en-US" altLang="zh-CN" dirty="0" err="1"/>
              <a:t>x,y</a:t>
            </a:r>
            <a:r>
              <a:rPr lang="en-US" altLang="zh-CN" dirty="0"/>
              <a:t>&gt;(</a:t>
            </a:r>
            <a:r>
              <a:rPr lang="en-US" altLang="zh-CN" dirty="0" err="1"/>
              <a:t>x,y</a:t>
            </a:r>
            <a:r>
              <a:rPr lang="az-Cyrl-AZ" altLang="zh-CN" dirty="0"/>
              <a:t>є</a:t>
            </a:r>
            <a:r>
              <a:rPr lang="en-US" altLang="zh-CN" dirty="0"/>
              <a:t>D)</a:t>
            </a:r>
            <a:r>
              <a:rPr lang="zh-CN" altLang="en-US" dirty="0"/>
              <a:t>，表示元素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之间是相邻的，即</a:t>
            </a:r>
            <a:r>
              <a:rPr lang="en-US" altLang="zh-CN" dirty="0"/>
              <a:t>x</a:t>
            </a:r>
            <a:r>
              <a:rPr lang="zh-CN" altLang="en-US" dirty="0"/>
              <a:t>在</a:t>
            </a:r>
            <a:r>
              <a:rPr lang="en-US" altLang="zh-CN" dirty="0"/>
              <a:t>y</a:t>
            </a:r>
            <a:r>
              <a:rPr lang="zh-CN" altLang="en-US" dirty="0"/>
              <a:t>之前，</a:t>
            </a:r>
            <a:r>
              <a:rPr lang="en-US" altLang="zh-CN" dirty="0"/>
              <a:t>y</a:t>
            </a:r>
            <a:r>
              <a:rPr lang="zh-CN" altLang="en-US" dirty="0"/>
              <a:t>在</a:t>
            </a:r>
            <a:r>
              <a:rPr lang="en-US" altLang="zh-CN" dirty="0"/>
              <a:t>x</a:t>
            </a:r>
            <a:r>
              <a:rPr lang="zh-CN" altLang="en-US" dirty="0"/>
              <a:t>之后，</a:t>
            </a:r>
            <a:r>
              <a:rPr lang="en-US" altLang="zh-CN" dirty="0"/>
              <a:t>x</a:t>
            </a:r>
            <a:r>
              <a:rPr lang="zh-CN" altLang="en-US" dirty="0"/>
              <a:t>称为该序偶的第一元素，</a:t>
            </a:r>
            <a:r>
              <a:rPr lang="en-US" altLang="zh-CN" dirty="0"/>
              <a:t>y</a:t>
            </a:r>
            <a:r>
              <a:rPr lang="zh-CN" altLang="en-US" dirty="0"/>
              <a:t>称为该序偶的第二元素，而且</a:t>
            </a:r>
            <a:r>
              <a:rPr lang="en-US" altLang="zh-CN" dirty="0"/>
              <a:t>x</a:t>
            </a:r>
            <a:r>
              <a:rPr lang="zh-CN" altLang="en-US" dirty="0"/>
              <a:t>为</a:t>
            </a:r>
            <a:r>
              <a:rPr lang="en-US" altLang="zh-CN" dirty="0"/>
              <a:t>y</a:t>
            </a:r>
            <a:r>
              <a:rPr lang="zh-CN" altLang="en-US" dirty="0"/>
              <a:t>的</a:t>
            </a:r>
            <a:r>
              <a:rPr lang="zh-CN" altLang="en-US" b="1" dirty="0"/>
              <a:t>直接前驱元素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为</a:t>
            </a:r>
            <a:r>
              <a:rPr lang="en-US" altLang="zh-CN" dirty="0"/>
              <a:t>x</a:t>
            </a:r>
            <a:r>
              <a:rPr lang="zh-CN" altLang="en-US" dirty="0"/>
              <a:t>的</a:t>
            </a:r>
            <a:r>
              <a:rPr lang="zh-CN" altLang="en-US" b="1" dirty="0"/>
              <a:t>直接后继元素</a:t>
            </a:r>
            <a:r>
              <a:rPr lang="zh-CN" altLang="en-US" dirty="0"/>
              <a:t>。对于对称序偶，可用圆括号代替尖括号。在用图形表示逻辑关系时，对称序偶用不带箭头的连线表示。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</a:pPr>
            <a:r>
              <a:rPr lang="zh-CN" altLang="en-US" sz="3600" b="1" dirty="0">
                <a:solidFill>
                  <a:srgbClr val="FF0000"/>
                </a:solidFill>
              </a:rPr>
              <a:t>数据的逻辑结构：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2825750" y="2876550"/>
            <a:ext cx="5275263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学号     姓名	   专业	    政治面藐	</a:t>
            </a:r>
            <a:b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001	  </a:t>
            </a: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王洪	   计算机   党员</a:t>
            </a:r>
            <a:b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002     </a:t>
            </a: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孙文     计算机   团员</a:t>
            </a:r>
            <a:b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003	  </a:t>
            </a: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谢军	   计算机   团员</a:t>
            </a:r>
            <a:b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004	  </a:t>
            </a: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李辉	   计算机   团员</a:t>
            </a:r>
            <a:b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005	  </a:t>
            </a: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沈祥福   计算机   党员</a:t>
            </a:r>
            <a:endParaRPr kumimoji="1" lang="zh-CN" altLang="en-US" sz="18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006	  </a:t>
            </a: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余斌	   计算机   团员</a:t>
            </a:r>
            <a:b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007	  </a:t>
            </a: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巩力	   计算机   团员</a:t>
            </a:r>
            <a:b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008	  </a:t>
            </a:r>
            <a:r>
              <a:rPr kumimoji="1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孔令辉   计算机   团员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3" name="Group 5"/>
          <p:cNvGrpSpPr/>
          <p:nvPr/>
        </p:nvGrpSpPr>
        <p:grpSpPr bwMode="auto">
          <a:xfrm>
            <a:off x="1571625" y="5734050"/>
            <a:ext cx="6961188" cy="641350"/>
            <a:chOff x="817" y="3168"/>
            <a:chExt cx="4751" cy="404"/>
          </a:xfrm>
        </p:grpSpPr>
        <p:sp>
          <p:nvSpPr>
            <p:cNvPr id="14" name="Text Box 6"/>
            <p:cNvSpPr txBox="1">
              <a:spLocks noChangeArrowheads="1"/>
            </p:cNvSpPr>
            <p:nvPr/>
          </p:nvSpPr>
          <p:spPr bwMode="auto">
            <a:xfrm>
              <a:off x="1152" y="3168"/>
              <a:ext cx="68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6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rPr>
                <a:t> </a:t>
              </a:r>
              <a:endParaRPr kumimoji="1" lang="en-US" altLang="zh-CN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1228" y="3360"/>
              <a:ext cx="264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grpSp>
          <p:nvGrpSpPr>
            <p:cNvPr id="16" name="Group 8"/>
            <p:cNvGrpSpPr/>
            <p:nvPr/>
          </p:nvGrpSpPr>
          <p:grpSpPr bwMode="auto">
            <a:xfrm>
              <a:off x="817" y="3197"/>
              <a:ext cx="561" cy="306"/>
              <a:chOff x="2487" y="2236"/>
              <a:chExt cx="480" cy="337"/>
            </a:xfrm>
          </p:grpSpPr>
          <p:sp>
            <p:nvSpPr>
              <p:cNvPr id="44" name="Oval 9"/>
              <p:cNvSpPr>
                <a:spLocks noChangeArrowheads="1"/>
              </p:cNvSpPr>
              <p:nvPr/>
            </p:nvSpPr>
            <p:spPr bwMode="auto">
              <a:xfrm>
                <a:off x="2527" y="2256"/>
                <a:ext cx="317" cy="317"/>
              </a:xfrm>
              <a:prstGeom prst="ellipse">
                <a:avLst/>
              </a:prstGeom>
              <a:solidFill>
                <a:srgbClr val="C3EFE8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45" name="Text Box 10"/>
              <p:cNvSpPr txBox="1">
                <a:spLocks noChangeArrowheads="1"/>
              </p:cNvSpPr>
              <p:nvPr/>
            </p:nvSpPr>
            <p:spPr bwMode="auto">
              <a:xfrm>
                <a:off x="2487" y="2236"/>
                <a:ext cx="480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001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7" name="Group 11"/>
            <p:cNvGrpSpPr/>
            <p:nvPr/>
          </p:nvGrpSpPr>
          <p:grpSpPr bwMode="auto">
            <a:xfrm>
              <a:off x="2112" y="3216"/>
              <a:ext cx="528" cy="288"/>
              <a:chOff x="1564" y="2112"/>
              <a:chExt cx="480" cy="317"/>
            </a:xfrm>
          </p:grpSpPr>
          <p:sp>
            <p:nvSpPr>
              <p:cNvPr id="42" name="Oval 12"/>
              <p:cNvSpPr>
                <a:spLocks noChangeArrowheads="1"/>
              </p:cNvSpPr>
              <p:nvPr/>
            </p:nvSpPr>
            <p:spPr bwMode="auto">
              <a:xfrm>
                <a:off x="1584" y="2112"/>
                <a:ext cx="317" cy="317"/>
              </a:xfrm>
              <a:prstGeom prst="ellipse">
                <a:avLst/>
              </a:prstGeom>
              <a:solidFill>
                <a:srgbClr val="C3EFE8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43" name="Text Box 13"/>
              <p:cNvSpPr txBox="1">
                <a:spLocks noChangeArrowheads="1"/>
              </p:cNvSpPr>
              <p:nvPr/>
            </p:nvSpPr>
            <p:spPr bwMode="auto">
              <a:xfrm>
                <a:off x="1564" y="2121"/>
                <a:ext cx="480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003</a:t>
                </a:r>
                <a:endPara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8" name="Group 14"/>
            <p:cNvGrpSpPr/>
            <p:nvPr/>
          </p:nvGrpSpPr>
          <p:grpSpPr bwMode="auto">
            <a:xfrm>
              <a:off x="1488" y="3216"/>
              <a:ext cx="546" cy="288"/>
              <a:chOff x="2527" y="2256"/>
              <a:chExt cx="497" cy="317"/>
            </a:xfrm>
          </p:grpSpPr>
          <p:sp>
            <p:nvSpPr>
              <p:cNvPr id="40" name="Oval 15"/>
              <p:cNvSpPr>
                <a:spLocks noChangeArrowheads="1"/>
              </p:cNvSpPr>
              <p:nvPr/>
            </p:nvSpPr>
            <p:spPr bwMode="auto">
              <a:xfrm>
                <a:off x="2527" y="2256"/>
                <a:ext cx="317" cy="317"/>
              </a:xfrm>
              <a:prstGeom prst="ellipse">
                <a:avLst/>
              </a:prstGeom>
              <a:solidFill>
                <a:srgbClr val="C3EFE8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41" name="Text Box 16"/>
              <p:cNvSpPr txBox="1">
                <a:spLocks noChangeArrowheads="1"/>
              </p:cNvSpPr>
              <p:nvPr/>
            </p:nvSpPr>
            <p:spPr bwMode="auto">
              <a:xfrm>
                <a:off x="2544" y="2256"/>
                <a:ext cx="480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002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1852" y="3360"/>
              <a:ext cx="264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2448" y="3360"/>
              <a:ext cx="264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2944" y="3360"/>
              <a:ext cx="264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3516" y="3360"/>
              <a:ext cx="264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4140" y="3360"/>
              <a:ext cx="264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>
              <a:off x="4800" y="3360"/>
              <a:ext cx="264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grpSp>
          <p:nvGrpSpPr>
            <p:cNvPr id="25" name="Group 23"/>
            <p:cNvGrpSpPr/>
            <p:nvPr/>
          </p:nvGrpSpPr>
          <p:grpSpPr bwMode="auto">
            <a:xfrm>
              <a:off x="2640" y="3216"/>
              <a:ext cx="528" cy="262"/>
              <a:chOff x="1564" y="2112"/>
              <a:chExt cx="480" cy="317"/>
            </a:xfrm>
          </p:grpSpPr>
          <p:sp>
            <p:nvSpPr>
              <p:cNvPr id="38" name="Oval 24"/>
              <p:cNvSpPr>
                <a:spLocks noChangeArrowheads="1"/>
              </p:cNvSpPr>
              <p:nvPr/>
            </p:nvSpPr>
            <p:spPr bwMode="auto">
              <a:xfrm>
                <a:off x="1584" y="2112"/>
                <a:ext cx="317" cy="317"/>
              </a:xfrm>
              <a:prstGeom prst="ellipse">
                <a:avLst/>
              </a:prstGeom>
              <a:solidFill>
                <a:srgbClr val="C3EFE8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39" name="Text Box 25"/>
              <p:cNvSpPr txBox="1">
                <a:spLocks noChangeArrowheads="1"/>
              </p:cNvSpPr>
              <p:nvPr/>
            </p:nvSpPr>
            <p:spPr bwMode="auto">
              <a:xfrm>
                <a:off x="1564" y="2120"/>
                <a:ext cx="480" cy="2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004</a:t>
                </a:r>
                <a:endPara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 bwMode="auto">
            <a:xfrm>
              <a:off x="3744" y="3216"/>
              <a:ext cx="528" cy="288"/>
              <a:chOff x="1564" y="2112"/>
              <a:chExt cx="480" cy="317"/>
            </a:xfrm>
          </p:grpSpPr>
          <p:sp>
            <p:nvSpPr>
              <p:cNvPr id="36" name="Oval 27"/>
              <p:cNvSpPr>
                <a:spLocks noChangeArrowheads="1"/>
              </p:cNvSpPr>
              <p:nvPr/>
            </p:nvSpPr>
            <p:spPr bwMode="auto">
              <a:xfrm>
                <a:off x="1584" y="2112"/>
                <a:ext cx="317" cy="317"/>
              </a:xfrm>
              <a:prstGeom prst="ellipse">
                <a:avLst/>
              </a:prstGeom>
              <a:solidFill>
                <a:srgbClr val="C3EFE8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37" name="Text Box 28"/>
              <p:cNvSpPr txBox="1">
                <a:spLocks noChangeArrowheads="1"/>
              </p:cNvSpPr>
              <p:nvPr/>
            </p:nvSpPr>
            <p:spPr bwMode="auto">
              <a:xfrm>
                <a:off x="1564" y="2121"/>
                <a:ext cx="480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006</a:t>
                </a:r>
                <a:endPara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7" name="Group 29"/>
            <p:cNvGrpSpPr/>
            <p:nvPr/>
          </p:nvGrpSpPr>
          <p:grpSpPr bwMode="auto">
            <a:xfrm>
              <a:off x="3168" y="3216"/>
              <a:ext cx="528" cy="288"/>
              <a:chOff x="1564" y="2112"/>
              <a:chExt cx="480" cy="317"/>
            </a:xfrm>
          </p:grpSpPr>
          <p:sp>
            <p:nvSpPr>
              <p:cNvPr id="34" name="Oval 30"/>
              <p:cNvSpPr>
                <a:spLocks noChangeArrowheads="1"/>
              </p:cNvSpPr>
              <p:nvPr/>
            </p:nvSpPr>
            <p:spPr bwMode="auto">
              <a:xfrm>
                <a:off x="1584" y="2112"/>
                <a:ext cx="317" cy="317"/>
              </a:xfrm>
              <a:prstGeom prst="ellipse">
                <a:avLst/>
              </a:prstGeom>
              <a:solidFill>
                <a:srgbClr val="C3EFE8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35" name="Text Box 31"/>
              <p:cNvSpPr txBox="1">
                <a:spLocks noChangeArrowheads="1"/>
              </p:cNvSpPr>
              <p:nvPr/>
            </p:nvSpPr>
            <p:spPr bwMode="auto">
              <a:xfrm>
                <a:off x="1564" y="2121"/>
                <a:ext cx="480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005</a:t>
                </a:r>
                <a:endPara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8" name="Group 32"/>
            <p:cNvGrpSpPr/>
            <p:nvPr/>
          </p:nvGrpSpPr>
          <p:grpSpPr bwMode="auto">
            <a:xfrm>
              <a:off x="5040" y="3216"/>
              <a:ext cx="528" cy="288"/>
              <a:chOff x="1564" y="2112"/>
              <a:chExt cx="480" cy="317"/>
            </a:xfrm>
          </p:grpSpPr>
          <p:sp>
            <p:nvSpPr>
              <p:cNvPr id="32" name="Oval 33"/>
              <p:cNvSpPr>
                <a:spLocks noChangeArrowheads="1"/>
              </p:cNvSpPr>
              <p:nvPr/>
            </p:nvSpPr>
            <p:spPr bwMode="auto">
              <a:xfrm>
                <a:off x="1584" y="2112"/>
                <a:ext cx="317" cy="317"/>
              </a:xfrm>
              <a:prstGeom prst="ellipse">
                <a:avLst/>
              </a:prstGeom>
              <a:solidFill>
                <a:srgbClr val="C3EFE8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33" name="Text Box 34"/>
              <p:cNvSpPr txBox="1">
                <a:spLocks noChangeArrowheads="1"/>
              </p:cNvSpPr>
              <p:nvPr/>
            </p:nvSpPr>
            <p:spPr bwMode="auto">
              <a:xfrm>
                <a:off x="1564" y="2121"/>
                <a:ext cx="480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008</a:t>
                </a:r>
                <a:endPara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29" name="Group 35"/>
            <p:cNvGrpSpPr/>
            <p:nvPr/>
          </p:nvGrpSpPr>
          <p:grpSpPr bwMode="auto">
            <a:xfrm>
              <a:off x="4416" y="3216"/>
              <a:ext cx="528" cy="288"/>
              <a:chOff x="1564" y="2112"/>
              <a:chExt cx="480" cy="317"/>
            </a:xfrm>
          </p:grpSpPr>
          <p:sp>
            <p:nvSpPr>
              <p:cNvPr id="30" name="Oval 36"/>
              <p:cNvSpPr>
                <a:spLocks noChangeArrowheads="1"/>
              </p:cNvSpPr>
              <p:nvPr/>
            </p:nvSpPr>
            <p:spPr bwMode="auto">
              <a:xfrm>
                <a:off x="1584" y="2112"/>
                <a:ext cx="317" cy="317"/>
              </a:xfrm>
              <a:prstGeom prst="ellipse">
                <a:avLst/>
              </a:prstGeom>
              <a:solidFill>
                <a:srgbClr val="C3EFE8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31" name="Text Box 37"/>
              <p:cNvSpPr txBox="1">
                <a:spLocks noChangeArrowheads="1"/>
              </p:cNvSpPr>
              <p:nvPr/>
            </p:nvSpPr>
            <p:spPr bwMode="auto">
              <a:xfrm>
                <a:off x="1564" y="2121"/>
                <a:ext cx="480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隶书" panose="02010509060101010101" pitchFamily="49" charset="-122"/>
                    <a:ea typeface="隶书" panose="02010509060101010101" pitchFamily="49" charset="-122"/>
                  </a:rPr>
                  <a:t>007</a:t>
                </a:r>
                <a:endPara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46" name="AutoShape 38"/>
          <p:cNvSpPr>
            <a:spLocks noChangeArrowheads="1"/>
          </p:cNvSpPr>
          <p:nvPr/>
        </p:nvSpPr>
        <p:spPr bwMode="auto">
          <a:xfrm>
            <a:off x="107950" y="3482975"/>
            <a:ext cx="3743325" cy="1439863"/>
          </a:xfrm>
          <a:prstGeom prst="star16">
            <a:avLst>
              <a:gd name="adj" fmla="val 44023"/>
            </a:avLst>
          </a:prstGeom>
          <a:solidFill>
            <a:srgbClr val="FFFFFF"/>
          </a:solidFill>
          <a:ln w="25400" cap="flat" cmpd="sng" algn="ctr">
            <a:solidFill>
              <a:srgbClr val="97CD9A"/>
            </a:solidFill>
            <a:prstDash val="solid"/>
          </a:ln>
          <a:effectLst/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学生间学号顺序关系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是一种线性结构关系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7" name="Text Box 48"/>
          <p:cNvSpPr txBox="1">
            <a:spLocks noChangeArrowheads="1"/>
          </p:cNvSpPr>
          <p:nvPr/>
        </p:nvSpPr>
        <p:spPr bwMode="auto">
          <a:xfrm>
            <a:off x="1323632" y="1905000"/>
            <a:ext cx="7667968" cy="707886"/>
          </a:xfrm>
          <a:prstGeom prst="rect">
            <a:avLst/>
          </a:prstGeom>
          <a:noFill/>
          <a:ln w="12700" cap="rnd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学生基本情况登记表，记录了每个学生的学号、姓名、专业、政治、面貌，表中的记录是按学生的学号顺序排列的。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1765300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4000"/>
              </a:lnSpc>
            </a:pPr>
            <a:r>
              <a:rPr lang="zh-CN" altLang="en-US" sz="3600" b="1" dirty="0">
                <a:solidFill>
                  <a:srgbClr val="FF0000"/>
                </a:solidFill>
              </a:rPr>
              <a:t>数据的逻辑结构：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直接连接符 47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1765300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Text Box 2"/>
          <p:cNvSpPr txBox="1">
            <a:spLocks noChangeArrowheads="1"/>
          </p:cNvSpPr>
          <p:nvPr/>
        </p:nvSpPr>
        <p:spPr bwMode="auto">
          <a:xfrm>
            <a:off x="966788" y="1866900"/>
            <a:ext cx="8101012" cy="1638300"/>
          </a:xfrm>
          <a:prstGeom prst="rect">
            <a:avLst/>
          </a:prstGeom>
          <a:noFill/>
          <a:ln w="12700" cap="rnd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4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家族的族谱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假设某家族有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个成员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F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H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 </a:t>
            </a:r>
            <a:r>
              <a: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，他们之间的血缘关系可以用如下图表示。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1" name="Group 50"/>
          <p:cNvGrpSpPr/>
          <p:nvPr/>
        </p:nvGrpSpPr>
        <p:grpSpPr bwMode="auto">
          <a:xfrm>
            <a:off x="5281613" y="4183063"/>
            <a:ext cx="3505200" cy="1531937"/>
            <a:chOff x="1632" y="2203"/>
            <a:chExt cx="2208" cy="965"/>
          </a:xfrm>
        </p:grpSpPr>
        <p:sp>
          <p:nvSpPr>
            <p:cNvPr id="52" name="Line 42"/>
            <p:cNvSpPr>
              <a:spLocks noChangeShapeType="1"/>
            </p:cNvSpPr>
            <p:nvPr/>
          </p:nvSpPr>
          <p:spPr bwMode="auto">
            <a:xfrm>
              <a:off x="3365" y="2779"/>
              <a:ext cx="0" cy="144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3" name="Line 35"/>
            <p:cNvSpPr>
              <a:spLocks noChangeShapeType="1"/>
            </p:cNvSpPr>
            <p:nvPr/>
          </p:nvSpPr>
          <p:spPr bwMode="auto">
            <a:xfrm>
              <a:off x="2656" y="2443"/>
              <a:ext cx="0" cy="96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4" name="Line 36"/>
            <p:cNvSpPr>
              <a:spLocks noChangeShapeType="1"/>
            </p:cNvSpPr>
            <p:nvPr/>
          </p:nvSpPr>
          <p:spPr bwMode="auto">
            <a:xfrm flipH="1">
              <a:off x="2125" y="2347"/>
              <a:ext cx="399" cy="240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5" name="Line 37"/>
            <p:cNvSpPr>
              <a:spLocks noChangeShapeType="1"/>
            </p:cNvSpPr>
            <p:nvPr/>
          </p:nvSpPr>
          <p:spPr bwMode="auto">
            <a:xfrm flipH="1">
              <a:off x="1815" y="2731"/>
              <a:ext cx="133" cy="192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6" name="Line 38"/>
            <p:cNvSpPr>
              <a:spLocks noChangeShapeType="1"/>
            </p:cNvSpPr>
            <p:nvPr/>
          </p:nvSpPr>
          <p:spPr bwMode="auto">
            <a:xfrm>
              <a:off x="2081" y="2731"/>
              <a:ext cx="132" cy="192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7" name="Line 39"/>
            <p:cNvSpPr>
              <a:spLocks noChangeShapeType="1"/>
            </p:cNvSpPr>
            <p:nvPr/>
          </p:nvSpPr>
          <p:spPr bwMode="auto">
            <a:xfrm>
              <a:off x="2656" y="2779"/>
              <a:ext cx="0" cy="144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8" name="Line 40"/>
            <p:cNvSpPr>
              <a:spLocks noChangeShapeType="1"/>
            </p:cNvSpPr>
            <p:nvPr/>
          </p:nvSpPr>
          <p:spPr bwMode="auto">
            <a:xfrm>
              <a:off x="2745" y="2347"/>
              <a:ext cx="487" cy="288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9" name="Line 41"/>
            <p:cNvSpPr>
              <a:spLocks noChangeShapeType="1"/>
            </p:cNvSpPr>
            <p:nvPr/>
          </p:nvSpPr>
          <p:spPr bwMode="auto">
            <a:xfrm flipH="1">
              <a:off x="3099" y="2731"/>
              <a:ext cx="178" cy="192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0" name="Line 43"/>
            <p:cNvSpPr>
              <a:spLocks noChangeShapeType="1"/>
            </p:cNvSpPr>
            <p:nvPr/>
          </p:nvSpPr>
          <p:spPr bwMode="auto">
            <a:xfrm>
              <a:off x="3454" y="2731"/>
              <a:ext cx="177" cy="192"/>
            </a:xfrm>
            <a:prstGeom prst="line">
              <a:avLst/>
            </a:prstGeom>
            <a:noFill/>
            <a:ln w="12700" cap="rnd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grpSp>
          <p:nvGrpSpPr>
            <p:cNvPr id="61" name="Group 4"/>
            <p:cNvGrpSpPr/>
            <p:nvPr/>
          </p:nvGrpSpPr>
          <p:grpSpPr bwMode="auto">
            <a:xfrm>
              <a:off x="3545" y="2923"/>
              <a:ext cx="295" cy="245"/>
              <a:chOff x="2880" y="1104"/>
              <a:chExt cx="367" cy="336"/>
            </a:xfrm>
          </p:grpSpPr>
          <p:sp>
            <p:nvSpPr>
              <p:cNvPr id="89" name="Oval 5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90" name="Text Box 6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J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62" name="Group 8"/>
            <p:cNvGrpSpPr/>
            <p:nvPr/>
          </p:nvGrpSpPr>
          <p:grpSpPr bwMode="auto">
            <a:xfrm>
              <a:off x="3232" y="2901"/>
              <a:ext cx="296" cy="245"/>
              <a:chOff x="2880" y="1104"/>
              <a:chExt cx="367" cy="336"/>
            </a:xfrm>
          </p:grpSpPr>
          <p:sp>
            <p:nvSpPr>
              <p:cNvPr id="87" name="Oval 9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88" name="Text Box 10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I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63" name="Group 11"/>
            <p:cNvGrpSpPr/>
            <p:nvPr/>
          </p:nvGrpSpPr>
          <p:grpSpPr bwMode="auto">
            <a:xfrm>
              <a:off x="2524" y="2203"/>
              <a:ext cx="295" cy="245"/>
              <a:chOff x="2880" y="1104"/>
              <a:chExt cx="367" cy="336"/>
            </a:xfrm>
          </p:grpSpPr>
          <p:sp>
            <p:nvSpPr>
              <p:cNvPr id="85" name="Oval 12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86" name="Text Box 13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A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64" name="Group 14"/>
            <p:cNvGrpSpPr/>
            <p:nvPr/>
          </p:nvGrpSpPr>
          <p:grpSpPr bwMode="auto">
            <a:xfrm>
              <a:off x="2524" y="2540"/>
              <a:ext cx="295" cy="245"/>
              <a:chOff x="2880" y="1104"/>
              <a:chExt cx="367" cy="336"/>
            </a:xfrm>
          </p:grpSpPr>
          <p:sp>
            <p:nvSpPr>
              <p:cNvPr id="83" name="Oval 15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84" name="Text Box 16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C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65" name="Group 17"/>
            <p:cNvGrpSpPr/>
            <p:nvPr/>
          </p:nvGrpSpPr>
          <p:grpSpPr bwMode="auto">
            <a:xfrm>
              <a:off x="1898" y="2540"/>
              <a:ext cx="295" cy="245"/>
              <a:chOff x="2880" y="1104"/>
              <a:chExt cx="367" cy="336"/>
            </a:xfrm>
          </p:grpSpPr>
          <p:sp>
            <p:nvSpPr>
              <p:cNvPr id="81" name="Oval 18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82" name="Text Box 19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B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66" name="Group 20"/>
            <p:cNvGrpSpPr/>
            <p:nvPr/>
          </p:nvGrpSpPr>
          <p:grpSpPr bwMode="auto">
            <a:xfrm>
              <a:off x="3232" y="2540"/>
              <a:ext cx="296" cy="245"/>
              <a:chOff x="2880" y="1104"/>
              <a:chExt cx="367" cy="336"/>
            </a:xfrm>
          </p:grpSpPr>
          <p:sp>
            <p:nvSpPr>
              <p:cNvPr id="79" name="Oval 21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80" name="Text Box 22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D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67" name="Group 23"/>
            <p:cNvGrpSpPr/>
            <p:nvPr/>
          </p:nvGrpSpPr>
          <p:grpSpPr bwMode="auto">
            <a:xfrm>
              <a:off x="2917" y="2901"/>
              <a:ext cx="295" cy="245"/>
              <a:chOff x="2880" y="1104"/>
              <a:chExt cx="367" cy="336"/>
            </a:xfrm>
          </p:grpSpPr>
          <p:sp>
            <p:nvSpPr>
              <p:cNvPr id="77" name="Oval 24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78" name="Text Box 25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H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68" name="Group 26"/>
            <p:cNvGrpSpPr/>
            <p:nvPr/>
          </p:nvGrpSpPr>
          <p:grpSpPr bwMode="auto">
            <a:xfrm>
              <a:off x="2524" y="2901"/>
              <a:ext cx="295" cy="245"/>
              <a:chOff x="2880" y="1104"/>
              <a:chExt cx="367" cy="336"/>
            </a:xfrm>
          </p:grpSpPr>
          <p:sp>
            <p:nvSpPr>
              <p:cNvPr id="75" name="Oval 27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76" name="Text Box 28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G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69" name="Group 29"/>
            <p:cNvGrpSpPr/>
            <p:nvPr/>
          </p:nvGrpSpPr>
          <p:grpSpPr bwMode="auto">
            <a:xfrm>
              <a:off x="2081" y="2901"/>
              <a:ext cx="295" cy="245"/>
              <a:chOff x="2880" y="1104"/>
              <a:chExt cx="367" cy="336"/>
            </a:xfrm>
          </p:grpSpPr>
          <p:sp>
            <p:nvSpPr>
              <p:cNvPr id="73" name="Oval 30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74" name="Text Box 31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F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70" name="Group 32"/>
            <p:cNvGrpSpPr/>
            <p:nvPr/>
          </p:nvGrpSpPr>
          <p:grpSpPr bwMode="auto">
            <a:xfrm>
              <a:off x="1632" y="2901"/>
              <a:ext cx="295" cy="245"/>
              <a:chOff x="2880" y="1104"/>
              <a:chExt cx="367" cy="336"/>
            </a:xfrm>
          </p:grpSpPr>
          <p:sp>
            <p:nvSpPr>
              <p:cNvPr id="71" name="Oval 33"/>
              <p:cNvSpPr>
                <a:spLocks noChangeArrowheads="1"/>
              </p:cNvSpPr>
              <p:nvPr/>
            </p:nvSpPr>
            <p:spPr bwMode="auto">
              <a:xfrm>
                <a:off x="2880" y="1104"/>
                <a:ext cx="317" cy="336"/>
              </a:xfrm>
              <a:prstGeom prst="ellipse">
                <a:avLst/>
              </a:prstGeom>
              <a:solidFill>
                <a:srgbClr val="DBE0B4"/>
              </a:solidFill>
              <a:ln w="12700" cap="rnd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zh-CN" sz="20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  <p:sp>
            <p:nvSpPr>
              <p:cNvPr id="72" name="Text Box 34"/>
              <p:cNvSpPr txBox="1">
                <a:spLocks noChangeArrowheads="1"/>
              </p:cNvSpPr>
              <p:nvPr/>
            </p:nvSpPr>
            <p:spPr bwMode="auto">
              <a:xfrm>
                <a:off x="2928" y="1104"/>
                <a:ext cx="319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1pPr>
                <a:lvl2pPr marL="742950" indent="-28575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lnSpc>
                    <a:spcPct val="150000"/>
                  </a:lnSpc>
                  <a:spcBef>
                    <a:spcPct val="20000"/>
                  </a:spcBef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95000"/>
                  <a:buFont typeface="Wingdings" panose="05000000000000000000" pitchFamily="2" charset="2"/>
                  <a:buChar char="Ø"/>
                  <a:defRPr sz="2400" b="1">
                    <a:solidFill>
                      <a:srgbClr val="0000FF"/>
                    </a:solidFill>
                    <a:latin typeface="宋体" panose="02010600030101010101" pitchFamily="2" charset="-122"/>
                    <a:ea typeface="宋体" panose="02010600030101010101" pitchFamily="2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800">
                    <a:solidFill>
                      <a:srgbClr val="000000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E</a:t>
                </a:r>
                <a:endParaRPr kumimoji="1" lang="en-US" altLang="zh-CN" sz="1800">
                  <a:solidFill>
                    <a:srgbClr val="000000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sp>
        <p:nvSpPr>
          <p:cNvPr id="91" name="AutoShape 38"/>
          <p:cNvSpPr>
            <a:spLocks noChangeArrowheads="1"/>
          </p:cNvSpPr>
          <p:nvPr/>
        </p:nvSpPr>
        <p:spPr bwMode="auto">
          <a:xfrm>
            <a:off x="400050" y="4243388"/>
            <a:ext cx="3743325" cy="1439862"/>
          </a:xfrm>
          <a:prstGeom prst="star16">
            <a:avLst>
              <a:gd name="adj" fmla="val 44023"/>
            </a:avLst>
          </a:prstGeom>
          <a:solidFill>
            <a:srgbClr val="FFFFFF"/>
          </a:solidFill>
          <a:ln w="25400" cap="flat" cmpd="sng" algn="ctr">
            <a:solidFill>
              <a:srgbClr val="97CD9A"/>
            </a:solidFill>
            <a:prstDash val="solid"/>
          </a:ln>
          <a:effectLst/>
        </p:spPr>
        <p:txBody>
          <a:bodyPr wrap="none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家族成员之间的关系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是一种非线性结构关系</a:t>
            </a: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两种基本的存储结构：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顺序存储结构</a:t>
            </a:r>
            <a:endParaRPr kumimoji="1" lang="en-US" altLang="zh-CN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>
              <a:lnSpc>
                <a:spcPts val="3000"/>
              </a:lnSpc>
            </a:pPr>
            <a:r>
              <a:rPr lang="zh-CN" altLang="en-US" sz="2000" b="1" dirty="0"/>
              <a:t>用一组</a:t>
            </a:r>
            <a:r>
              <a:rPr lang="zh-CN" altLang="en-US" sz="2000" b="1" dirty="0">
                <a:solidFill>
                  <a:srgbClr val="FF0000"/>
                </a:solidFill>
              </a:rPr>
              <a:t>连续</a:t>
            </a:r>
            <a:r>
              <a:rPr lang="zh-CN" altLang="en-US" sz="2000" b="1" dirty="0"/>
              <a:t>的存储单元</a:t>
            </a:r>
            <a:r>
              <a:rPr lang="zh-CN" altLang="en-US" sz="2000" b="1" dirty="0">
                <a:solidFill>
                  <a:srgbClr val="FF0000"/>
                </a:solidFill>
              </a:rPr>
              <a:t>依次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ts val="3000"/>
              </a:lnSpc>
              <a:buNone/>
            </a:pPr>
            <a:r>
              <a:rPr lang="zh-CN" altLang="en-US" sz="2000" b="1" dirty="0"/>
              <a:t>    存储数据元素，数据元素之 </a:t>
            </a:r>
            <a:endParaRPr lang="en-US" altLang="zh-CN" sz="2000" b="1" dirty="0"/>
          </a:p>
          <a:p>
            <a:pPr marL="914400" lvl="2" indent="0">
              <a:lnSpc>
                <a:spcPts val="3000"/>
              </a:lnSpc>
              <a:buNone/>
            </a:pPr>
            <a:r>
              <a:rPr lang="zh-CN" altLang="en-US" sz="2000" b="1" dirty="0"/>
              <a:t>    间的逻辑关系由元素的</a:t>
            </a:r>
            <a:r>
              <a:rPr lang="zh-CN" altLang="en-US" sz="2000" b="1" dirty="0">
                <a:solidFill>
                  <a:srgbClr val="FF0000"/>
                </a:solidFill>
              </a:rPr>
              <a:t>存储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ts val="3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    </a:t>
            </a:r>
            <a:r>
              <a:rPr lang="zh-CN" altLang="en-US" sz="2000" b="1" dirty="0">
                <a:solidFill>
                  <a:srgbClr val="FF0000"/>
                </a:solidFill>
              </a:rPr>
              <a:t>位置</a:t>
            </a:r>
            <a:r>
              <a:rPr lang="zh-CN" altLang="en-US" sz="2000" b="1" dirty="0"/>
              <a:t>来表示。</a:t>
            </a:r>
            <a:endParaRPr lang="zh-CN" altLang="en-US" sz="2000" b="1" dirty="0"/>
          </a:p>
          <a:p>
            <a:pPr marL="914400" lvl="2" indent="0">
              <a:lnSpc>
                <a:spcPts val="3000"/>
              </a:lnSpc>
              <a:buNone/>
            </a:pPr>
            <a:endParaRPr lang="en-US" altLang="zh-CN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10200" y="1534180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例：（</a:t>
            </a:r>
            <a:r>
              <a:rPr lang="en-US" altLang="zh-CN" sz="2800" b="1" dirty="0"/>
              <a:t>bat, cat, eat</a:t>
            </a:r>
            <a:r>
              <a:rPr lang="zh-CN" altLang="en-US" sz="2800" b="1" dirty="0"/>
              <a:t>） </a:t>
            </a:r>
            <a:endParaRPr lang="zh-CN" altLang="en-US" sz="28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347" y="2042612"/>
            <a:ext cx="2357790" cy="420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两种基本的存储结构：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顺序存储结构</a:t>
            </a:r>
            <a:endParaRPr kumimoji="1" lang="en-US" altLang="zh-CN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>
              <a:lnSpc>
                <a:spcPts val="3000"/>
              </a:lnSpc>
            </a:pPr>
            <a:r>
              <a:rPr lang="zh-CN" altLang="en-US" sz="2000" b="1" dirty="0">
                <a:solidFill>
                  <a:prstClr val="black"/>
                </a:solidFill>
              </a:rPr>
              <a:t>用一组</a:t>
            </a:r>
            <a:r>
              <a:rPr lang="zh-CN" altLang="en-US" sz="2000" b="1" dirty="0">
                <a:solidFill>
                  <a:srgbClr val="FF0000"/>
                </a:solidFill>
              </a:rPr>
              <a:t>连续</a:t>
            </a:r>
            <a:r>
              <a:rPr lang="zh-CN" altLang="en-US" sz="2000" b="1" dirty="0">
                <a:solidFill>
                  <a:prstClr val="black"/>
                </a:solidFill>
              </a:rPr>
              <a:t>的存储单元</a:t>
            </a:r>
            <a:r>
              <a:rPr lang="zh-CN" altLang="en-US" sz="2000" b="1" dirty="0">
                <a:solidFill>
                  <a:srgbClr val="FF0000"/>
                </a:solidFill>
              </a:rPr>
              <a:t>依次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ts val="3000"/>
              </a:lnSpc>
              <a:buNone/>
            </a:pPr>
            <a:r>
              <a:rPr lang="zh-CN" altLang="en-US" sz="2000" b="1" dirty="0">
                <a:solidFill>
                  <a:prstClr val="black"/>
                </a:solidFill>
              </a:rPr>
              <a:t>    存储数据元素，数据元素之 </a:t>
            </a:r>
            <a:endParaRPr lang="en-US" altLang="zh-CN" sz="2000" b="1" dirty="0">
              <a:solidFill>
                <a:prstClr val="black"/>
              </a:solidFill>
            </a:endParaRPr>
          </a:p>
          <a:p>
            <a:pPr marL="914400" lvl="2" indent="0">
              <a:lnSpc>
                <a:spcPts val="3000"/>
              </a:lnSpc>
              <a:buNone/>
            </a:pPr>
            <a:r>
              <a:rPr lang="zh-CN" altLang="en-US" sz="2000" b="1" dirty="0">
                <a:solidFill>
                  <a:prstClr val="black"/>
                </a:solidFill>
              </a:rPr>
              <a:t>    间的逻辑关系由元素的</a:t>
            </a:r>
            <a:r>
              <a:rPr lang="zh-CN" altLang="en-US" sz="2000" b="1" dirty="0">
                <a:solidFill>
                  <a:srgbClr val="FF0000"/>
                </a:solidFill>
              </a:rPr>
              <a:t>存储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marL="914400" lvl="2" indent="0">
              <a:lnSpc>
                <a:spcPts val="3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</a:rPr>
              <a:t>    </a:t>
            </a:r>
            <a:r>
              <a:rPr lang="zh-CN" altLang="en-US" sz="2000" b="1" dirty="0">
                <a:solidFill>
                  <a:srgbClr val="FF0000"/>
                </a:solidFill>
              </a:rPr>
              <a:t>位置</a:t>
            </a:r>
            <a:r>
              <a:rPr lang="zh-CN" altLang="en-US" sz="2000" b="1" dirty="0">
                <a:solidFill>
                  <a:prstClr val="black"/>
                </a:solidFill>
              </a:rPr>
              <a:t>来表示。</a:t>
            </a:r>
            <a:endParaRPr kumimoji="1" lang="en-US" altLang="zh-CN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链接存储结构</a:t>
            </a:r>
            <a:endParaRPr kumimoji="1" lang="en-US" altLang="zh-CN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>
              <a:lnSpc>
                <a:spcPts val="3000"/>
              </a:lnSpc>
            </a:pPr>
            <a:r>
              <a:rPr lang="zh-CN" altLang="en-US" sz="2000" b="1" dirty="0"/>
              <a:t>用一组</a:t>
            </a:r>
            <a:r>
              <a:rPr lang="zh-CN" altLang="en-US" sz="2000" b="1" dirty="0">
                <a:solidFill>
                  <a:srgbClr val="FF0000"/>
                </a:solidFill>
              </a:rPr>
              <a:t>任意</a:t>
            </a:r>
            <a:r>
              <a:rPr lang="zh-CN" altLang="en-US" sz="2000" b="1" dirty="0"/>
              <a:t>的存储单元存储</a:t>
            </a:r>
            <a:endParaRPr lang="en-US" altLang="zh-CN" sz="2000" b="1" dirty="0"/>
          </a:p>
          <a:p>
            <a:pPr marL="914400" lvl="2" indent="0">
              <a:lnSpc>
                <a:spcPts val="3000"/>
              </a:lnSpc>
              <a:buNone/>
            </a:pPr>
            <a:r>
              <a:rPr lang="en-US" altLang="zh-CN" sz="2000" b="1" dirty="0"/>
              <a:t>  </a:t>
            </a:r>
            <a:r>
              <a:rPr lang="zh-CN" altLang="en-US" sz="2000" b="1" dirty="0"/>
              <a:t> 数据元素，数据元素之间的 </a:t>
            </a:r>
            <a:endParaRPr lang="en-US" altLang="zh-CN" sz="2000" b="1" dirty="0"/>
          </a:p>
          <a:p>
            <a:pPr marL="914400" lvl="2" indent="0">
              <a:lnSpc>
                <a:spcPts val="3000"/>
              </a:lnSpc>
              <a:buNone/>
            </a:pPr>
            <a:r>
              <a:rPr lang="en-US" altLang="zh-CN" sz="2000" b="1" dirty="0"/>
              <a:t>   </a:t>
            </a:r>
            <a:r>
              <a:rPr lang="zh-CN" altLang="en-US" sz="2000" b="1" dirty="0"/>
              <a:t>逻辑关系用</a:t>
            </a:r>
            <a:r>
              <a:rPr lang="zh-CN" altLang="en-US" sz="2000" b="1" dirty="0">
                <a:solidFill>
                  <a:srgbClr val="FF0000"/>
                </a:solidFill>
              </a:rPr>
              <a:t>指针</a:t>
            </a:r>
            <a:r>
              <a:rPr lang="zh-CN" altLang="en-US" sz="2000" b="1" dirty="0"/>
              <a:t>来表示。</a:t>
            </a:r>
            <a:endParaRPr lang="zh-CN" altLang="en-US" sz="2000" b="1" dirty="0"/>
          </a:p>
          <a:p>
            <a:pPr marL="914400" lvl="2" indent="0">
              <a:lnSpc>
                <a:spcPts val="3000"/>
              </a:lnSpc>
              <a:buNone/>
            </a:pPr>
            <a:endParaRPr lang="en-US" altLang="zh-CN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10200" y="1534180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</a:rPr>
              <a:t>例：（</a:t>
            </a:r>
            <a:r>
              <a:rPr lang="en-US" altLang="zh-CN" sz="2800" b="1" dirty="0">
                <a:solidFill>
                  <a:prstClr val="black"/>
                </a:solidFill>
              </a:rPr>
              <a:t>bat, cat, eat</a:t>
            </a:r>
            <a:r>
              <a:rPr lang="zh-CN" altLang="en-US" sz="2800" b="1" dirty="0">
                <a:solidFill>
                  <a:prstClr val="black"/>
                </a:solidFill>
              </a:rPr>
              <a:t>） </a:t>
            </a:r>
            <a:endParaRPr lang="zh-CN" altLang="en-US" sz="2800" b="1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81200"/>
            <a:ext cx="2755900" cy="4280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数据的存储结构：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顺序存储方法：数组</a:t>
            </a:r>
            <a:endParaRPr kumimoji="1"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链接存储方法：指针</a:t>
            </a:r>
            <a:endParaRPr kumimoji="1"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索引存储方法</a:t>
            </a:r>
            <a:endParaRPr kumimoji="1"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ts val="30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散列存储方法</a:t>
            </a:r>
            <a:endParaRPr kumimoji="1"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914400" lvl="2" indent="0">
              <a:lnSpc>
                <a:spcPts val="3000"/>
              </a:lnSpc>
              <a:buNone/>
            </a:pPr>
            <a:endParaRPr lang="en-US" altLang="zh-CN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527050" y="4033897"/>
            <a:ext cx="8464550" cy="206210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说明：   </a:t>
            </a:r>
            <a:endParaRPr kumimoji="1"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kumimoji="1"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同一逻辑结构的不同存储结构</a:t>
            </a:r>
            <a:r>
              <a:rPr kumimoji="1" lang="zh-CN" altLang="en-US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，冠以不同的数据结构名称。如顺序表、链表、散列表。</a:t>
            </a:r>
            <a:endParaRPr kumimoji="1" lang="zh-CN" altLang="en-US" dirty="0">
              <a:solidFill>
                <a:srgbClr val="3333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1" lang="zh-CN" altLang="en-US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kumimoji="1"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运算不同，数据结构也不同</a:t>
            </a:r>
            <a:r>
              <a:rPr kumimoji="1" lang="zh-CN" altLang="en-US" dirty="0">
                <a:solidFill>
                  <a:srgbClr val="3333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。如栈和队列。更进一步，顺 序栈、链栈、顺序队列、链队列。</a:t>
            </a:r>
            <a:endParaRPr kumimoji="1" lang="zh-CN" altLang="en-US" dirty="0">
              <a:solidFill>
                <a:srgbClr val="3333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ts val="2800"/>
              </a:lnSpc>
            </a:pPr>
            <a:r>
              <a:rPr lang="zh-CN" altLang="en-US" sz="3800" b="1" dirty="0">
                <a:solidFill>
                  <a:srgbClr val="FF0000"/>
                </a:solidFill>
              </a:rPr>
              <a:t>逻辑结构与存储结构的关系 ：</a:t>
            </a:r>
            <a:endParaRPr lang="en-US" altLang="zh-CN" sz="3800" b="1" dirty="0">
              <a:solidFill>
                <a:srgbClr val="FF0000"/>
              </a:solidFill>
            </a:endParaRPr>
          </a:p>
          <a:p>
            <a:pPr lvl="1">
              <a:lnSpc>
                <a:spcPts val="28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数据的逻辑结构属于用户视图，是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面向问题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的，反映了数据内部的构成方式；数据的存储结构属于具体实现的视图，是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面向计算机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的。</a:t>
            </a:r>
            <a:endParaRPr lang="en-US" altLang="zh-CN" sz="2000" b="1" dirty="0"/>
          </a:p>
          <a:p>
            <a:pPr lvl="1">
              <a:lnSpc>
                <a:spcPts val="28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一种数据的逻辑结构可以用多种存储结构来存储，而采用不同的存储结构，其数据处理的效率往往是不同的。</a:t>
            </a:r>
            <a:endParaRPr kumimoji="1"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ts val="2800"/>
              </a:lnSpc>
            </a:pPr>
            <a:r>
              <a:rPr kumimoji="1" lang="zh-CN" altLang="en-US" sz="3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数据结构的学习内容：</a:t>
            </a:r>
            <a:endParaRPr kumimoji="1" lang="en-US" altLang="zh-CN" sz="38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ts val="28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数据对象的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结构形式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，各种数据结构的性质</a:t>
            </a:r>
            <a:r>
              <a:rPr kumimoji="1"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逻辑结构</a:t>
            </a:r>
            <a:r>
              <a:rPr kumimoji="1"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); </a:t>
            </a:r>
            <a:endParaRPr kumimoji="1"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ts val="28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数据对象和“关系”在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计算机中的表示</a:t>
            </a:r>
            <a:r>
              <a:rPr kumimoji="1"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物理结构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存储结构</a:t>
            </a:r>
            <a:r>
              <a:rPr kumimoji="1"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); </a:t>
            </a:r>
            <a:endParaRPr kumimoji="1"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ts val="28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数据结构上定义的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基本操作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及其实现</a:t>
            </a:r>
            <a:r>
              <a:rPr kumimoji="1"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; </a:t>
            </a:r>
            <a:endParaRPr kumimoji="1"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ts val="28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算法的效率（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时间和空间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kumimoji="1"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kumimoji="1"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>
              <a:lnSpc>
                <a:spcPts val="2800"/>
              </a:lnSpc>
            </a:pP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数据结构的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应用</a:t>
            </a:r>
            <a:r>
              <a:rPr kumimoji="1"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，如数据分类、检索等。</a:t>
            </a:r>
            <a:endParaRPr kumimoji="1" lang="en-US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320800"/>
            <a:ext cx="798195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1.2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基本概念和术语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zh-CN" altLang="en-US" sz="3800" b="1" dirty="0">
                <a:solidFill>
                  <a:srgbClr val="FF0000"/>
                </a:solidFill>
              </a:rPr>
              <a:t>学习内容一览：</a:t>
            </a:r>
            <a:endParaRPr lang="en-US" altLang="zh-CN" sz="38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第一章 绪论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数据结构及其讨论范畴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基本概念和术语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1.3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抽象数据类型的表示与实现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1.4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算法和算法分析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ts val="34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1.3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抽象数据类型的表示与实现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抽象数据类型</a:t>
            </a:r>
            <a:r>
              <a:rPr lang="zh-CN" altLang="en-US" sz="2800" b="1" dirty="0"/>
              <a:t>（</a:t>
            </a:r>
            <a:r>
              <a:rPr lang="en-US" altLang="zh-CN" sz="2800" b="1" dirty="0">
                <a:solidFill>
                  <a:srgbClr val="FF0000"/>
                </a:solidFill>
              </a:rPr>
              <a:t>A</a:t>
            </a:r>
            <a:r>
              <a:rPr lang="en-US" altLang="zh-CN" sz="2800" b="1" dirty="0"/>
              <a:t>bstract </a:t>
            </a:r>
            <a:r>
              <a:rPr lang="en-US" altLang="zh-CN" sz="2800" b="1" dirty="0">
                <a:solidFill>
                  <a:srgbClr val="FF0000"/>
                </a:solidFill>
              </a:rPr>
              <a:t>D</a:t>
            </a:r>
            <a:r>
              <a:rPr lang="en-US" altLang="zh-CN" sz="2800" b="1" dirty="0"/>
              <a:t>ata 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b="1" dirty="0"/>
              <a:t>ype</a:t>
            </a:r>
            <a:r>
              <a:rPr lang="zh-CN" altLang="en-US" sz="2800" b="1" dirty="0"/>
              <a:t>） </a:t>
            </a:r>
            <a:endParaRPr lang="en-US" altLang="zh-CN" sz="28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定义</a:t>
            </a:r>
            <a:r>
              <a:rPr lang="zh-CN" altLang="en-US" sz="2400" b="1" dirty="0"/>
              <a:t>：一个数学模型和在该模型上定义的操作集合的总称 。</a:t>
            </a:r>
            <a:endParaRPr lang="en-US" altLang="zh-CN" sz="2400" b="1" dirty="0"/>
          </a:p>
          <a:p>
            <a:pPr lvl="2">
              <a:lnSpc>
                <a:spcPts val="3000"/>
              </a:lnSpc>
            </a:pPr>
            <a:r>
              <a:rPr lang="en-US" altLang="zh-CN" sz="2000" b="1" dirty="0"/>
              <a:t>ADT</a:t>
            </a:r>
            <a:r>
              <a:rPr lang="zh-CN" altLang="en-US" sz="2000" b="1" dirty="0"/>
              <a:t>是程序设计语言中数据类型概念的进一步推广和进 一步抽象。 </a:t>
            </a:r>
            <a:endParaRPr lang="en-US" altLang="zh-CN" sz="2000" b="1" dirty="0"/>
          </a:p>
          <a:p>
            <a:pPr lvl="2">
              <a:lnSpc>
                <a:spcPts val="3000"/>
              </a:lnSpc>
            </a:pPr>
            <a:r>
              <a:rPr lang="zh-CN" altLang="en-US" sz="2000" b="1" dirty="0"/>
              <a:t>例：</a:t>
            </a:r>
            <a:r>
              <a:rPr lang="en-US" altLang="zh-CN" sz="2000" b="1" dirty="0"/>
              <a:t>ADT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= (  {</a:t>
            </a:r>
            <a:r>
              <a:rPr lang="en-US" altLang="zh-CN" sz="2000" b="1" dirty="0" err="1"/>
              <a:t>x|x</a:t>
            </a:r>
            <a:r>
              <a:rPr lang="en-US" altLang="zh-CN" sz="2000" b="1" dirty="0"/>
              <a:t>      Z}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{+,-,*,/,%, ≤,==}  ) </a:t>
            </a:r>
            <a:endParaRPr lang="en-US" altLang="zh-CN" sz="2000" b="1" dirty="0"/>
          </a:p>
          <a:p>
            <a:pPr lvl="2">
              <a:lnSpc>
                <a:spcPts val="3000"/>
              </a:lnSpc>
            </a:pPr>
            <a:r>
              <a:rPr lang="zh-CN" altLang="en-US" sz="2000" b="1" dirty="0"/>
              <a:t>同一数学模型上定义不同的操作集，则它们代表不同的 </a:t>
            </a:r>
            <a:r>
              <a:rPr lang="en-US" altLang="zh-CN" sz="2000" b="1" dirty="0"/>
              <a:t>ADT</a:t>
            </a:r>
            <a:r>
              <a:rPr lang="zh-CN" altLang="en-US" sz="2000" b="1" dirty="0"/>
              <a:t>。</a:t>
            </a:r>
            <a:endParaRPr lang="en-US" altLang="zh-CN" sz="2000" b="1" dirty="0"/>
          </a:p>
          <a:p>
            <a:pPr lvl="1">
              <a:lnSpc>
                <a:spcPts val="34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实现</a:t>
            </a:r>
            <a:r>
              <a:rPr lang="zh-CN" altLang="en-US" sz="2400" b="1" dirty="0"/>
              <a:t>：用适当的</a:t>
            </a:r>
            <a:r>
              <a:rPr lang="zh-CN" altLang="en-US" sz="2400" b="1" dirty="0">
                <a:solidFill>
                  <a:srgbClr val="FF0000"/>
                </a:solidFill>
              </a:rPr>
              <a:t>数据结构</a:t>
            </a:r>
            <a:r>
              <a:rPr lang="zh-CN" altLang="en-US" sz="2400" b="1" dirty="0"/>
              <a:t>来表示</a:t>
            </a:r>
            <a:r>
              <a:rPr lang="en-US" altLang="zh-CN" sz="2400" b="1" dirty="0"/>
              <a:t>ADT</a:t>
            </a:r>
            <a:r>
              <a:rPr lang="zh-CN" altLang="en-US" sz="2400" b="1" dirty="0"/>
              <a:t>中的</a:t>
            </a:r>
            <a:r>
              <a:rPr lang="zh-CN" altLang="en-US" sz="2400" b="1" dirty="0">
                <a:solidFill>
                  <a:srgbClr val="FF0000"/>
                </a:solidFill>
              </a:rPr>
              <a:t>数学模型</a:t>
            </a:r>
            <a:r>
              <a:rPr lang="en-US" altLang="zh-CN" sz="2400" b="1" dirty="0"/>
              <a:t>,</a:t>
            </a:r>
            <a:r>
              <a:rPr lang="zh-CN" altLang="en-US" sz="2400" b="1" dirty="0"/>
              <a:t>并用一 组</a:t>
            </a:r>
            <a:r>
              <a:rPr lang="zh-CN" altLang="en-US" sz="2400" b="1" dirty="0">
                <a:solidFill>
                  <a:srgbClr val="FF0000"/>
                </a:solidFill>
              </a:rPr>
              <a:t>函数（方法）</a:t>
            </a:r>
            <a:r>
              <a:rPr lang="zh-CN" altLang="en-US" sz="2400" b="1" dirty="0"/>
              <a:t>来实现该模型上的</a:t>
            </a:r>
            <a:r>
              <a:rPr lang="zh-CN" altLang="en-US" sz="2400" b="1" dirty="0">
                <a:solidFill>
                  <a:srgbClr val="FF0000"/>
                </a:solidFill>
              </a:rPr>
              <a:t>各种操作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868" y="3590924"/>
            <a:ext cx="147637" cy="14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1.3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抽象数据类型的表示与实现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en-US" altLang="zh-CN" sz="2800" b="1" dirty="0">
                <a:solidFill>
                  <a:srgbClr val="FF0000"/>
                </a:solidFill>
              </a:rPr>
              <a:t>ADT</a:t>
            </a:r>
            <a:r>
              <a:rPr lang="zh-CN" altLang="en-US" sz="2800" b="1" dirty="0">
                <a:solidFill>
                  <a:srgbClr val="FF0000"/>
                </a:solidFill>
              </a:rPr>
              <a:t>特点：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不再局限于目前处理器中已经定义并实现的数据类型（固有数据类型），还包括</a:t>
            </a:r>
            <a:r>
              <a:rPr lang="zh-CN" altLang="en-US" sz="2400" b="1" dirty="0">
                <a:solidFill>
                  <a:srgbClr val="FF0000"/>
                </a:solidFill>
              </a:rPr>
              <a:t>用户</a:t>
            </a:r>
            <a:r>
              <a:rPr lang="zh-CN" altLang="en-US" sz="2400" b="1" dirty="0"/>
              <a:t>在</a:t>
            </a:r>
            <a:r>
              <a:rPr lang="zh-CN" altLang="en-US" sz="2400" b="1" dirty="0">
                <a:solidFill>
                  <a:srgbClr val="FF0000"/>
                </a:solidFill>
              </a:rPr>
              <a:t>设计</a:t>
            </a:r>
            <a:r>
              <a:rPr lang="zh-CN" altLang="en-US" sz="2400" b="1" dirty="0"/>
              <a:t>软件系统时自己定义的数据类型；</a:t>
            </a:r>
            <a:endParaRPr lang="zh-CN" altLang="en-US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近代程序设计方法学：</a:t>
            </a:r>
            <a:r>
              <a:rPr lang="zh-CN" altLang="en-US" sz="2400" b="1" dirty="0">
                <a:solidFill>
                  <a:srgbClr val="FF0000"/>
                </a:solidFill>
              </a:rPr>
              <a:t>软件系统的框架建立在数据之上，而不是操作之上</a:t>
            </a:r>
            <a:r>
              <a:rPr lang="zh-CN" altLang="en-US" sz="2400" b="1" dirty="0"/>
              <a:t>；</a:t>
            </a:r>
            <a:endParaRPr lang="zh-CN" altLang="en-US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在构成软件系统的每个</a:t>
            </a:r>
            <a:r>
              <a:rPr lang="zh-CN" altLang="en-US" sz="2400" b="1" dirty="0">
                <a:solidFill>
                  <a:srgbClr val="FF0000"/>
                </a:solidFill>
              </a:rPr>
              <a:t>相对独立的模块</a:t>
            </a:r>
            <a:r>
              <a:rPr lang="zh-CN" altLang="en-US" sz="2400" b="1" dirty="0"/>
              <a:t>上，定义一组数据和施于这些数据上的一组操作。</a:t>
            </a:r>
            <a:endParaRPr lang="zh-CN" altLang="en-US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 bwMode="auto">
          <a:xfrm>
            <a:off x="602695" y="5438775"/>
            <a:ext cx="8072438" cy="714375"/>
          </a:xfrm>
          <a:prstGeom prst="roundRect">
            <a:avLst/>
          </a:prstGeom>
          <a:gradFill rotWithShape="1">
            <a:gsLst>
              <a:gs pos="0">
                <a:srgbClr val="008EC4">
                  <a:tint val="50000"/>
                  <a:satMod val="300000"/>
                </a:srgbClr>
              </a:gs>
              <a:gs pos="35000">
                <a:srgbClr val="008EC4">
                  <a:tint val="37000"/>
                  <a:satMod val="300000"/>
                </a:srgbClr>
              </a:gs>
              <a:gs pos="100000">
                <a:srgbClr val="008EC4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8EC4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pPr marL="273050" marR="0" lvl="0" indent="-27305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数据类型的抽象层次越高，软件复用程度越高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AutoShape 4"/>
          <p:cNvSpPr>
            <a:spLocks noChangeArrowheads="1"/>
          </p:cNvSpPr>
          <p:nvPr/>
        </p:nvSpPr>
        <p:spPr bwMode="auto">
          <a:xfrm>
            <a:off x="4822826" y="4267200"/>
            <a:ext cx="4321174" cy="893762"/>
          </a:xfrm>
          <a:prstGeom prst="cloudCallout">
            <a:avLst>
              <a:gd name="adj1" fmla="val -43468"/>
              <a:gd name="adj2" fmla="val 89310"/>
            </a:avLst>
          </a:prstGeom>
          <a:solidFill>
            <a:srgbClr val="CCFFFF"/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lvl1pPr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在软件设计中，可以对哪三种不同的对象进行抽象？</a:t>
            </a:r>
            <a:endParaRPr kumimoji="1" lang="zh-CN" altLang="en-US" sz="16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1.3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抽象数据类型的表示与实现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软件设计中的对象抽象：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9"/>
          <p:cNvGrpSpPr/>
          <p:nvPr/>
        </p:nvGrpSpPr>
        <p:grpSpPr bwMode="auto">
          <a:xfrm>
            <a:off x="585788" y="1982788"/>
            <a:ext cx="3556000" cy="2516187"/>
            <a:chOff x="369" y="711"/>
            <a:chExt cx="2240" cy="1585"/>
          </a:xfrm>
        </p:grpSpPr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369" y="1382"/>
              <a:ext cx="10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软件系统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AutoShape 10"/>
            <p:cNvSpPr/>
            <p:nvPr/>
          </p:nvSpPr>
          <p:spPr bwMode="auto">
            <a:xfrm>
              <a:off x="1381" y="883"/>
              <a:ext cx="169" cy="1409"/>
            </a:xfrm>
            <a:prstGeom prst="leftBrace">
              <a:avLst>
                <a:gd name="adj1" fmla="val 69477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 marL="273050" indent="-2730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273050" marR="0" lvl="0" indent="-273050" algn="ctr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zh-CN" sz="8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1595" y="711"/>
              <a:ext cx="10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数据结构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Text Box 12"/>
            <p:cNvSpPr txBox="1">
              <a:spLocks noChangeArrowheads="1"/>
            </p:cNvSpPr>
            <p:nvPr/>
          </p:nvSpPr>
          <p:spPr bwMode="auto">
            <a:xfrm>
              <a:off x="1505" y="1754"/>
              <a:ext cx="1014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控制机能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Text Box 13"/>
            <p:cNvSpPr txBox="1">
              <a:spLocks noChangeArrowheads="1"/>
            </p:cNvSpPr>
            <p:nvPr/>
          </p:nvSpPr>
          <p:spPr bwMode="auto">
            <a:xfrm>
              <a:off x="1565" y="1379"/>
              <a:ext cx="10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操作过程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" name="Text Box 14"/>
          <p:cNvSpPr txBox="1">
            <a:spLocks noChangeArrowheads="1"/>
          </p:cNvSpPr>
          <p:nvPr/>
        </p:nvSpPr>
        <p:spPr bwMode="auto">
          <a:xfrm>
            <a:off x="5867400" y="2987675"/>
            <a:ext cx="1609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软件设计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22" name="Group 20"/>
          <p:cNvGrpSpPr/>
          <p:nvPr/>
        </p:nvGrpSpPr>
        <p:grpSpPr bwMode="auto">
          <a:xfrm>
            <a:off x="4664075" y="2195513"/>
            <a:ext cx="1301750" cy="2236787"/>
            <a:chOff x="2938" y="845"/>
            <a:chExt cx="820" cy="1409"/>
          </a:xfrm>
        </p:grpSpPr>
        <p:sp>
          <p:nvSpPr>
            <p:cNvPr id="23" name="AutoShape 15"/>
            <p:cNvSpPr/>
            <p:nvPr/>
          </p:nvSpPr>
          <p:spPr bwMode="auto">
            <a:xfrm rot="10800000">
              <a:off x="2938" y="845"/>
              <a:ext cx="169" cy="1409"/>
            </a:xfrm>
            <a:prstGeom prst="leftBrace">
              <a:avLst>
                <a:gd name="adj1" fmla="val 69477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lIns="90000" tIns="46800" rIns="90000" bIns="46800" anchor="ctr">
              <a:spAutoFit/>
            </a:bodyPr>
            <a:lstStyle>
              <a:lvl1pPr marL="273050" indent="-2730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273050" marR="0" lvl="0" indent="-273050" algn="ctr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  <a:buSzPct val="95000"/>
                <a:buFont typeface="Wingdings" panose="05000000000000000000" pitchFamily="2" charset="2"/>
                <a:buChar char="Ø"/>
                <a:defRPr/>
              </a:pPr>
              <a:endParaRPr kumimoji="0" lang="zh-CN" altLang="zh-CN" sz="8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>
              <a:off x="3081" y="1551"/>
              <a:ext cx="49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</a:endParaRPr>
            </a:p>
          </p:txBody>
        </p:sp>
        <p:sp>
          <p:nvSpPr>
            <p:cNvPr id="25" name="Text Box 17"/>
            <p:cNvSpPr txBox="1">
              <a:spLocks noChangeArrowheads="1"/>
            </p:cNvSpPr>
            <p:nvPr/>
          </p:nvSpPr>
          <p:spPr bwMode="auto">
            <a:xfrm>
              <a:off x="3107" y="1162"/>
              <a:ext cx="6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eaLnBrk="0" hangingPunct="0">
                <a:lnSpc>
                  <a:spcPct val="150000"/>
                </a:lnSpc>
                <a:spcBef>
                  <a:spcPct val="20000"/>
                </a:spcBef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95000"/>
                <a:buFont typeface="Wingdings" panose="05000000000000000000" pitchFamily="2" charset="2"/>
                <a:buChar char="Ø"/>
                <a:defRPr sz="2400" b="1">
                  <a:solidFill>
                    <a:srgbClr val="0000FF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抽象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827088" y="5338763"/>
            <a:ext cx="7777162" cy="528637"/>
          </a:xfrm>
          <a:prstGeom prst="rect">
            <a:avLst/>
          </a:prstGeom>
          <a:noFill/>
          <a:ln w="9525" algn="ctr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73050" indent="-2730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marL="273050" marR="0" lvl="0" indent="-273050" defTabSz="91440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100000"/>
              </a:spcAft>
              <a:buClr>
                <a:srgbClr val="000000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软件设计是对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数据抽象、过程抽象和控制抽象。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1.3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抽象数据类型的表示与实现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ts val="27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抽象数据类型的形式描述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2700"/>
              </a:lnSpc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2700"/>
              </a:lnSpc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2700"/>
              </a:lnSpc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27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抽象数据型的规格描述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完整性：反映所定义的抽象数据型的全部特征；</a:t>
            </a:r>
            <a:endParaRPr lang="zh-CN" altLang="en-US" sz="2400" b="1" dirty="0"/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统一性：前后协调，不自相矛盾；</a:t>
            </a:r>
            <a:endParaRPr lang="zh-CN" altLang="en-US" sz="2400" b="1" dirty="0"/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通用性：适用于尽量广泛的对象；</a:t>
            </a:r>
            <a:endParaRPr lang="zh-CN" altLang="en-US" sz="2400" b="1" dirty="0"/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不依赖性：不依赖于程序设计语言。</a:t>
            </a:r>
            <a:endParaRPr lang="zh-CN" altLang="en-US" sz="2400" b="1" dirty="0"/>
          </a:p>
          <a:p>
            <a:pPr>
              <a:lnSpc>
                <a:spcPts val="27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规格描述的两个方面</a:t>
            </a:r>
            <a:r>
              <a:rPr lang="en-US" altLang="zh-CN" sz="2800" b="1" dirty="0">
                <a:solidFill>
                  <a:srgbClr val="FF0000"/>
                </a:solidFill>
              </a:rPr>
              <a:t>:  </a:t>
            </a:r>
            <a:r>
              <a:rPr lang="zh-CN" altLang="en-US" sz="2800" b="1" dirty="0">
                <a:solidFill>
                  <a:srgbClr val="FF0000"/>
                </a:solidFill>
              </a:rPr>
              <a:t>语法和语义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语法：给出操作的名称、</a:t>
            </a:r>
            <a:r>
              <a:rPr lang="en-US" altLang="zh-CN" sz="2400" b="1" dirty="0"/>
              <a:t>I/O</a:t>
            </a:r>
            <a:r>
              <a:rPr lang="zh-CN" altLang="en-US" sz="2400" b="1" dirty="0"/>
              <a:t>参数的数目和类型；</a:t>
            </a:r>
            <a:endParaRPr lang="zh-CN" altLang="en-US" sz="2400" b="1" dirty="0"/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语义：由一组等式组成，定义各种操作的功能及相互之间的关系。</a:t>
            </a:r>
            <a:endParaRPr lang="zh-CN" altLang="en-US" sz="2400" b="1" dirty="0"/>
          </a:p>
          <a:p>
            <a:pPr>
              <a:lnSpc>
                <a:spcPts val="3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533400" y="1752601"/>
            <a:ext cx="8429625" cy="1066799"/>
          </a:xfrm>
          <a:prstGeom prst="rect">
            <a:avLst/>
          </a:prstGeom>
          <a:noFill/>
          <a:ln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ADT = ( D</a:t>
            </a:r>
            <a:r>
              <a:rPr lang="zh-CN" altLang="en-US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S</a:t>
            </a:r>
            <a:r>
              <a:rPr lang="zh-CN" altLang="en-US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P ),</a:t>
            </a:r>
            <a:r>
              <a:rPr lang="zh-CN" altLang="en-US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其中：</a:t>
            </a:r>
            <a:endParaRPr lang="en-US" altLang="zh-CN" sz="2400" b="1" kern="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D </a:t>
            </a:r>
            <a:r>
              <a:rPr lang="zh-CN" altLang="en-US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是数据对象</a:t>
            </a:r>
            <a:r>
              <a:rPr lang="en-US" altLang="zh-CN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; S</a:t>
            </a:r>
            <a:r>
              <a:rPr lang="zh-CN" altLang="en-US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是 </a:t>
            </a:r>
            <a:r>
              <a:rPr lang="en-US" altLang="zh-CN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D </a:t>
            </a:r>
            <a:r>
              <a:rPr lang="zh-CN" altLang="en-US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上的关系集</a:t>
            </a:r>
            <a:r>
              <a:rPr lang="en-US" altLang="zh-CN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;P</a:t>
            </a:r>
            <a:r>
              <a:rPr lang="zh-CN" altLang="en-US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是 </a:t>
            </a:r>
            <a:r>
              <a:rPr lang="en-US" altLang="zh-CN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D </a:t>
            </a:r>
            <a:r>
              <a:rPr lang="zh-CN" altLang="en-US" sz="2400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的基本操作集。</a:t>
            </a:r>
            <a:r>
              <a:rPr lang="zh-CN" altLang="en-US" b="1" kern="0" dirty="0">
                <a:solidFill>
                  <a:srgbClr val="0000FF"/>
                </a:solidFill>
                <a:latin typeface="宋体" panose="02010600030101010101" pitchFamily="2" charset="-122"/>
              </a:rPr>
              <a:t>　</a:t>
            </a:r>
            <a:endParaRPr lang="zh-CN" altLang="en-US" b="1" kern="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1.3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抽象数据类型的表示与实现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ts val="27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抽象数据类型的作用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抽象数据类型可以使我们更容易描述现实世界。例：用线性表描述学生成绩表，用树或图描述遗传关系。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27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抽象数据型的定义</a:t>
            </a:r>
            <a:endParaRPr lang="zh-CN" altLang="en-US" sz="2800" b="1" dirty="0">
              <a:solidFill>
                <a:srgbClr val="FF0000"/>
              </a:solidFill>
            </a:endParaRPr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一个数学模型以及定义在该模型上的一组操作。</a:t>
            </a:r>
            <a:endParaRPr lang="zh-CN" altLang="en-US" sz="2400" b="1" dirty="0"/>
          </a:p>
          <a:p>
            <a:pPr>
              <a:lnSpc>
                <a:spcPts val="27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关键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使用它的人可以只关心它的逻辑特征，不需要了解它的存储方式；</a:t>
            </a:r>
            <a:endParaRPr lang="zh-CN" altLang="en-US" sz="2400" b="1" dirty="0"/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定义它的人同样不必要关心它如何存储。</a:t>
            </a:r>
            <a:endParaRPr lang="en-US" altLang="zh-CN" sz="2400" b="1" dirty="0"/>
          </a:p>
          <a:p>
            <a:pPr>
              <a:lnSpc>
                <a:spcPts val="2700"/>
              </a:lnSpc>
            </a:pPr>
            <a:r>
              <a:rPr lang="zh-CN" altLang="en-US" sz="2800" b="1" dirty="0">
                <a:solidFill>
                  <a:srgbClr val="FF0000"/>
                </a:solidFill>
              </a:rPr>
              <a:t>例子</a:t>
            </a:r>
            <a:endParaRPr lang="en-US" altLang="zh-CN" b="1" dirty="0"/>
          </a:p>
          <a:p>
            <a:pPr lvl="1">
              <a:lnSpc>
                <a:spcPts val="2700"/>
              </a:lnSpc>
            </a:pPr>
            <a:r>
              <a:rPr lang="zh-CN" altLang="en-US" sz="2400" b="1" dirty="0"/>
              <a:t>线性表这样的抽象数据类型，其数学模型是：数据元素的集合；该集合内的元素有这样的关系：除第一个和最后一个外，每个元素有唯一的前趋和唯一的后继；可以有这样一些操作：插入一个元素、删除一个元素等。</a:t>
            </a:r>
            <a:endParaRPr lang="zh-CN" altLang="en-US" sz="2400" b="1" dirty="0"/>
          </a:p>
          <a:p>
            <a:pPr>
              <a:lnSpc>
                <a:spcPts val="3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1.3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抽象数据类型的表示与实现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数据类型、数据结构和</a:t>
            </a:r>
            <a:r>
              <a:rPr lang="en-US" altLang="zh-CN" b="1" dirty="0">
                <a:solidFill>
                  <a:srgbClr val="FF0000"/>
                </a:solidFill>
              </a:rPr>
              <a:t>ADT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各自含义：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ts val="3200"/>
              </a:lnSpc>
            </a:pPr>
            <a:r>
              <a:rPr lang="zh-CN" altLang="en-US" sz="2000" b="1" dirty="0"/>
              <a:t>数据类型是一组</a:t>
            </a:r>
            <a:r>
              <a:rPr lang="zh-CN" altLang="en-US" sz="2000" b="1" dirty="0">
                <a:solidFill>
                  <a:srgbClr val="FF0000"/>
                </a:solidFill>
              </a:rPr>
              <a:t>值</a:t>
            </a:r>
            <a:r>
              <a:rPr lang="zh-CN" altLang="en-US" sz="2000" b="1" dirty="0"/>
              <a:t>的集合 </a:t>
            </a:r>
            <a:endParaRPr lang="en-US" altLang="zh-CN" sz="2000" b="1" dirty="0"/>
          </a:p>
          <a:p>
            <a:pPr lvl="2">
              <a:lnSpc>
                <a:spcPts val="3200"/>
              </a:lnSpc>
            </a:pPr>
            <a:r>
              <a:rPr lang="zh-CN" altLang="en-US" sz="2000" b="1" dirty="0"/>
              <a:t>数据结构则是</a:t>
            </a:r>
            <a:r>
              <a:rPr lang="zh-CN" altLang="en-US" sz="2000" b="1" dirty="0">
                <a:solidFill>
                  <a:srgbClr val="FF0000"/>
                </a:solidFill>
              </a:rPr>
              <a:t>数据元素之间</a:t>
            </a:r>
            <a:r>
              <a:rPr lang="zh-CN" altLang="en-US" sz="2000" b="1" dirty="0"/>
              <a:t>的抽象关系</a:t>
            </a:r>
            <a:r>
              <a:rPr lang="en-US" altLang="zh-CN" sz="2000" b="1" dirty="0"/>
              <a:t>; </a:t>
            </a:r>
            <a:endParaRPr lang="en-US" altLang="zh-CN" sz="2000" b="1" dirty="0"/>
          </a:p>
          <a:p>
            <a:pPr lvl="2">
              <a:lnSpc>
                <a:spcPts val="3200"/>
              </a:lnSpc>
            </a:pPr>
            <a:r>
              <a:rPr lang="zh-CN" altLang="en-US" sz="2000" b="1" dirty="0"/>
              <a:t>抽象数据型是一个</a:t>
            </a:r>
            <a:r>
              <a:rPr lang="zh-CN" altLang="en-US" sz="2000" b="1" dirty="0">
                <a:solidFill>
                  <a:srgbClr val="FF0000"/>
                </a:solidFill>
              </a:rPr>
              <a:t>数学模型</a:t>
            </a:r>
            <a:r>
              <a:rPr lang="zh-CN" altLang="en-US" sz="2000" b="1" dirty="0"/>
              <a:t>及在该模型上定义的</a:t>
            </a:r>
            <a:r>
              <a:rPr lang="zh-CN" altLang="en-US" sz="2000" b="1" dirty="0">
                <a:solidFill>
                  <a:srgbClr val="FF0000"/>
                </a:solidFill>
              </a:rPr>
              <a:t>操作集</a:t>
            </a:r>
            <a:r>
              <a:rPr lang="zh-CN" altLang="en-US" sz="2000" b="1" dirty="0"/>
              <a:t>的总称</a:t>
            </a:r>
            <a:endParaRPr lang="en-US" altLang="zh-CN" sz="2000" b="1" dirty="0"/>
          </a:p>
          <a:p>
            <a:pPr lvl="1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相互关系 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ts val="3200"/>
              </a:lnSpc>
            </a:pPr>
            <a:r>
              <a:rPr lang="zh-CN" altLang="en-US" b="1" dirty="0"/>
              <a:t>数据类型是根据</a:t>
            </a:r>
            <a:r>
              <a:rPr lang="zh-CN" altLang="en-US" b="1" dirty="0">
                <a:solidFill>
                  <a:srgbClr val="FF0000"/>
                </a:solidFill>
              </a:rPr>
              <a:t>数据结构</a:t>
            </a:r>
            <a:r>
              <a:rPr lang="zh-CN" altLang="en-US" b="1" dirty="0"/>
              <a:t>分类的</a:t>
            </a:r>
            <a:r>
              <a:rPr lang="en-US" altLang="zh-CN" b="1" dirty="0"/>
              <a:t>,</a:t>
            </a:r>
            <a:r>
              <a:rPr lang="zh-CN" altLang="en-US" b="1" dirty="0">
                <a:solidFill>
                  <a:srgbClr val="FF0000"/>
                </a:solidFill>
              </a:rPr>
              <a:t>同类型</a:t>
            </a:r>
            <a:r>
              <a:rPr lang="zh-CN" altLang="en-US" b="1" dirty="0"/>
              <a:t>的数据元素的</a:t>
            </a:r>
            <a:r>
              <a:rPr lang="zh-CN" altLang="en-US" b="1" dirty="0">
                <a:solidFill>
                  <a:srgbClr val="FF0000"/>
                </a:solidFill>
              </a:rPr>
              <a:t>数据结构相同</a:t>
            </a:r>
            <a:r>
              <a:rPr lang="zh-CN" altLang="en-US" b="1" dirty="0"/>
              <a:t>。 </a:t>
            </a:r>
            <a:endParaRPr lang="en-US" altLang="zh-CN" b="1" dirty="0"/>
          </a:p>
          <a:p>
            <a:pPr lvl="2">
              <a:lnSpc>
                <a:spcPts val="3200"/>
              </a:lnSpc>
            </a:pPr>
            <a:r>
              <a:rPr lang="zh-CN" altLang="en-US" b="1" dirty="0"/>
              <a:t>数据结构则是抽象数据型中</a:t>
            </a:r>
            <a:r>
              <a:rPr lang="zh-CN" altLang="en-US" b="1" dirty="0">
                <a:solidFill>
                  <a:srgbClr val="FF0000"/>
                </a:solidFill>
              </a:rPr>
              <a:t>数学模型</a:t>
            </a:r>
            <a:r>
              <a:rPr lang="zh-CN" altLang="en-US" b="1" dirty="0"/>
              <a:t>的表示</a:t>
            </a:r>
            <a:r>
              <a:rPr lang="en-US" altLang="zh-CN" b="1" dirty="0"/>
              <a:t>; </a:t>
            </a:r>
            <a:endParaRPr lang="en-US" altLang="zh-CN" b="1" dirty="0"/>
          </a:p>
          <a:p>
            <a:pPr lvl="2">
              <a:lnSpc>
                <a:spcPts val="3200"/>
              </a:lnSpc>
            </a:pPr>
            <a:r>
              <a:rPr lang="en-US" altLang="zh-CN" b="1" dirty="0"/>
              <a:t>ADT</a:t>
            </a:r>
            <a:r>
              <a:rPr lang="zh-CN" altLang="en-US" b="1" dirty="0"/>
              <a:t>是数据类型的进一步推广和</a:t>
            </a:r>
            <a:r>
              <a:rPr lang="zh-CN" altLang="en-US" b="1" dirty="0">
                <a:solidFill>
                  <a:srgbClr val="FF0000"/>
                </a:solidFill>
              </a:rPr>
              <a:t>进一步抽象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>
              <a:lnSpc>
                <a:spcPts val="2700"/>
              </a:lnSpc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2700"/>
              </a:lnSpc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第一章 绪论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1.1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数据结构及其讨论范畴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1.2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基本概念和术语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1.3   </a:t>
            </a:r>
            <a:r>
              <a:rPr kumimoji="1" lang="zh-CN" altLang="en-US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抽象数据类型的表示与实现</a:t>
            </a:r>
            <a:endParaRPr kumimoji="1" lang="zh-CN" altLang="en-US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0" indent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  <a:buNone/>
            </a:pPr>
            <a:r>
              <a:rPr kumimoji="1"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1.4   </a:t>
            </a:r>
            <a:r>
              <a:rPr kumimoji="1"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算法和算法分析</a:t>
            </a:r>
            <a:endParaRPr kumimoji="1" lang="zh-CN" altLang="en-US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ts val="3400"/>
              </a:lnSpc>
            </a:pPr>
            <a:endParaRPr lang="zh-CN" altLang="en-US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算法（</a:t>
            </a:r>
            <a:r>
              <a:rPr lang="en-US" altLang="zh-CN" b="1" dirty="0">
                <a:solidFill>
                  <a:srgbClr val="FF0000"/>
                </a:solidFill>
              </a:rPr>
              <a:t>algorithm</a:t>
            </a:r>
            <a:r>
              <a:rPr lang="zh-CN" altLang="en-US" b="1" dirty="0">
                <a:solidFill>
                  <a:srgbClr val="FF0000"/>
                </a:solidFill>
              </a:rPr>
              <a:t>）的概念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ts val="3200"/>
              </a:lnSpc>
            </a:pPr>
            <a:r>
              <a:rPr lang="zh-CN" altLang="en-US" b="1" dirty="0"/>
              <a:t>算法是对问题求解过程的一种描述，是为解决一个或一类问题给出的一个确定的、有限长的操作序列。</a:t>
            </a:r>
            <a:endParaRPr lang="en-US" altLang="zh-CN" b="1" dirty="0"/>
          </a:p>
          <a:p>
            <a:pPr lvl="1">
              <a:lnSpc>
                <a:spcPts val="3200"/>
              </a:lnSpc>
            </a:pPr>
            <a:r>
              <a:rPr lang="zh-CN" altLang="en-US" b="1" dirty="0"/>
              <a:t>算法描述</a:t>
            </a:r>
            <a:endParaRPr lang="en-US" altLang="zh-CN" b="1" dirty="0"/>
          </a:p>
          <a:p>
            <a:pPr lvl="2">
              <a:lnSpc>
                <a:spcPts val="3200"/>
              </a:lnSpc>
            </a:pPr>
            <a:r>
              <a:rPr lang="zh-CN" altLang="en-US" b="1" dirty="0"/>
              <a:t>自然语言；</a:t>
            </a:r>
            <a:endParaRPr lang="zh-CN" altLang="en-US" b="1" dirty="0"/>
          </a:p>
          <a:p>
            <a:pPr lvl="2">
              <a:lnSpc>
                <a:spcPts val="3200"/>
              </a:lnSpc>
            </a:pPr>
            <a:r>
              <a:rPr lang="zh-CN" altLang="en-US" b="1" dirty="0"/>
              <a:t>程序设计语言；</a:t>
            </a:r>
            <a:endParaRPr lang="zh-CN" altLang="en-US" b="1" dirty="0"/>
          </a:p>
          <a:p>
            <a:pPr lvl="2">
              <a:lnSpc>
                <a:spcPts val="3200"/>
              </a:lnSpc>
            </a:pPr>
            <a:r>
              <a:rPr lang="zh-CN" altLang="en-US" b="1" dirty="0"/>
              <a:t>类语言*；</a:t>
            </a:r>
            <a:endParaRPr lang="zh-CN" altLang="en-US" b="1" dirty="0"/>
          </a:p>
          <a:p>
            <a:pPr lvl="2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关于本书采用的类语言描述：</a:t>
            </a:r>
            <a:r>
              <a:rPr lang="en-US" altLang="zh-CN" b="1" dirty="0">
                <a:solidFill>
                  <a:srgbClr val="FF0000"/>
                </a:solidFill>
              </a:rPr>
              <a:t>C </a:t>
            </a:r>
            <a:r>
              <a:rPr lang="zh-CN" altLang="en-US" b="1" dirty="0">
                <a:solidFill>
                  <a:srgbClr val="FF0000"/>
                </a:solidFill>
              </a:rPr>
              <a:t>或 </a:t>
            </a:r>
            <a:r>
              <a:rPr lang="en-US" altLang="zh-CN" b="1" dirty="0">
                <a:solidFill>
                  <a:srgbClr val="FF0000"/>
                </a:solidFill>
              </a:rPr>
              <a:t>C++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ts val="3200"/>
              </a:lnSpc>
            </a:pPr>
            <a:endParaRPr lang="en-US" altLang="zh-CN" sz="2400" b="1" dirty="0"/>
          </a:p>
          <a:p>
            <a:pPr>
              <a:lnSpc>
                <a:spcPts val="2700"/>
              </a:lnSpc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ts val="3200"/>
              </a:lnSpc>
            </a:pPr>
            <a:r>
              <a:rPr lang="zh-CN" altLang="en-US" b="1" dirty="0"/>
              <a:t>            欧几里德算法</a:t>
            </a:r>
            <a:r>
              <a:rPr lang="en-US" altLang="zh-CN" b="1" dirty="0"/>
              <a:t>—</a:t>
            </a:r>
            <a:r>
              <a:rPr lang="zh-CN" altLang="en-US" b="1" dirty="0"/>
              <a:t>辗转相除法求两个自然数</a:t>
            </a:r>
            <a:r>
              <a:rPr lang="en-US" altLang="zh-CN" b="1" dirty="0"/>
              <a:t>m</a:t>
            </a:r>
            <a:r>
              <a:rPr lang="zh-CN" altLang="en-US" b="1" dirty="0"/>
              <a:t>和</a:t>
            </a:r>
            <a:r>
              <a:rPr lang="en-US" altLang="zh-CN" b="1" dirty="0"/>
              <a:t>n</a:t>
            </a:r>
            <a:r>
              <a:rPr lang="zh-CN" altLang="en-US" b="1" dirty="0"/>
              <a:t>的最大公约数。</a:t>
            </a:r>
            <a:endParaRPr lang="en-US" altLang="zh-CN" b="1" dirty="0"/>
          </a:p>
          <a:p>
            <a:pPr lvl="1">
              <a:lnSpc>
                <a:spcPts val="3200"/>
              </a:lnSpc>
            </a:pPr>
            <a:r>
              <a:rPr lang="zh-CN" altLang="en-US" b="1" dirty="0"/>
              <a:t>自然语言描述</a:t>
            </a:r>
            <a:endParaRPr lang="en-US" altLang="zh-CN" b="1" dirty="0"/>
          </a:p>
          <a:p>
            <a:pPr lvl="2">
              <a:lnSpc>
                <a:spcPts val="3200"/>
              </a:lnSpc>
            </a:pPr>
            <a:r>
              <a:rPr lang="zh-CN" altLang="en-US" b="1" dirty="0"/>
              <a:t>①输入</a:t>
            </a:r>
            <a:r>
              <a:rPr lang="en-US" altLang="zh-CN" b="1" dirty="0"/>
              <a:t>m</a:t>
            </a:r>
            <a:r>
              <a:rPr lang="zh-CN" altLang="en-US" b="1" dirty="0"/>
              <a:t>和</a:t>
            </a:r>
            <a:r>
              <a:rPr lang="en-US" altLang="zh-CN" b="1" dirty="0"/>
              <a:t>n</a:t>
            </a:r>
            <a:r>
              <a:rPr lang="zh-CN" altLang="en-US" b="1" dirty="0"/>
              <a:t>； </a:t>
            </a:r>
            <a:endParaRPr lang="en-US" altLang="zh-CN" b="1" dirty="0"/>
          </a:p>
          <a:p>
            <a:pPr lvl="2">
              <a:lnSpc>
                <a:spcPts val="3200"/>
              </a:lnSpc>
            </a:pPr>
            <a:r>
              <a:rPr lang="zh-CN" altLang="en-US" b="1" dirty="0"/>
              <a:t>②求</a:t>
            </a:r>
            <a:r>
              <a:rPr lang="en-US" altLang="zh-CN" b="1" dirty="0"/>
              <a:t>m</a:t>
            </a:r>
            <a:r>
              <a:rPr lang="zh-CN" altLang="en-US" b="1" dirty="0"/>
              <a:t>除以</a:t>
            </a:r>
            <a:r>
              <a:rPr lang="en-US" altLang="zh-CN" b="1" dirty="0"/>
              <a:t>n</a:t>
            </a:r>
            <a:r>
              <a:rPr lang="zh-CN" altLang="en-US" b="1" dirty="0"/>
              <a:t>的余数</a:t>
            </a:r>
            <a:r>
              <a:rPr lang="en-US" altLang="zh-CN" b="1" dirty="0"/>
              <a:t>r</a:t>
            </a:r>
            <a:r>
              <a:rPr lang="zh-CN" altLang="en-US" b="1" dirty="0"/>
              <a:t>； </a:t>
            </a:r>
            <a:endParaRPr lang="en-US" altLang="zh-CN" b="1" dirty="0"/>
          </a:p>
          <a:p>
            <a:pPr lvl="2">
              <a:lnSpc>
                <a:spcPts val="3200"/>
              </a:lnSpc>
            </a:pPr>
            <a:r>
              <a:rPr lang="zh-CN" altLang="en-US" b="1" dirty="0"/>
              <a:t>③若 </a:t>
            </a:r>
            <a:r>
              <a:rPr lang="en-US" altLang="zh-CN" b="1" dirty="0"/>
              <a:t>r</a:t>
            </a:r>
            <a:r>
              <a:rPr lang="zh-CN" altLang="en-US" b="1" dirty="0"/>
              <a:t>等于</a:t>
            </a:r>
            <a:r>
              <a:rPr lang="en-US" altLang="zh-CN" b="1" dirty="0"/>
              <a:t>0</a:t>
            </a:r>
            <a:r>
              <a:rPr lang="zh-CN" altLang="en-US" b="1" dirty="0"/>
              <a:t>，则</a:t>
            </a:r>
            <a:r>
              <a:rPr lang="en-US" altLang="zh-CN" b="1" dirty="0"/>
              <a:t>n</a:t>
            </a:r>
            <a:r>
              <a:rPr lang="zh-CN" altLang="en-US" b="1"/>
              <a:t>为最大公约数</a:t>
            </a:r>
            <a:r>
              <a:rPr lang="zh-CN" altLang="en-US" b="1" dirty="0"/>
              <a:t>，算法结束；否则执行第④步；</a:t>
            </a:r>
            <a:endParaRPr lang="en-US" altLang="zh-CN" b="1" dirty="0"/>
          </a:p>
          <a:p>
            <a:pPr lvl="2">
              <a:lnSpc>
                <a:spcPts val="3200"/>
              </a:lnSpc>
            </a:pPr>
            <a:r>
              <a:rPr lang="zh-CN" altLang="en-US" b="1" dirty="0"/>
              <a:t>④将</a:t>
            </a:r>
            <a:r>
              <a:rPr lang="en-US" altLang="zh-CN" b="1" dirty="0"/>
              <a:t>n</a:t>
            </a:r>
            <a:r>
              <a:rPr lang="zh-CN" altLang="en-US" b="1" dirty="0"/>
              <a:t>的值放在</a:t>
            </a:r>
            <a:r>
              <a:rPr lang="en-US" altLang="zh-CN" b="1" dirty="0"/>
              <a:t>m</a:t>
            </a:r>
            <a:r>
              <a:rPr lang="zh-CN" altLang="en-US" b="1" dirty="0"/>
              <a:t>中，将</a:t>
            </a:r>
            <a:r>
              <a:rPr lang="en-US" altLang="zh-CN" b="1" dirty="0"/>
              <a:t>r</a:t>
            </a:r>
            <a:r>
              <a:rPr lang="zh-CN" altLang="en-US" b="1" dirty="0"/>
              <a:t>的值放在</a:t>
            </a:r>
            <a:r>
              <a:rPr lang="en-US" altLang="zh-CN" b="1" dirty="0"/>
              <a:t>n</a:t>
            </a:r>
            <a:r>
              <a:rPr lang="zh-CN" altLang="en-US" b="1" dirty="0"/>
              <a:t>中； </a:t>
            </a:r>
            <a:endParaRPr lang="en-US" altLang="zh-CN" b="1" dirty="0"/>
          </a:p>
          <a:p>
            <a:pPr lvl="2">
              <a:lnSpc>
                <a:spcPts val="3200"/>
              </a:lnSpc>
            </a:pPr>
            <a:r>
              <a:rPr lang="zh-CN" altLang="en-US" b="1" dirty="0"/>
              <a:t>⑤重新执行第②步 。 </a:t>
            </a:r>
            <a:endParaRPr lang="en-US" altLang="zh-CN" b="1" dirty="0"/>
          </a:p>
          <a:p>
            <a:pPr lvl="1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优点</a:t>
            </a:r>
            <a:r>
              <a:rPr lang="zh-CN" altLang="en-US" b="1" dirty="0"/>
              <a:t>：容易理解</a:t>
            </a:r>
            <a:endParaRPr lang="zh-CN" altLang="en-US" b="1" dirty="0"/>
          </a:p>
          <a:p>
            <a:pPr lvl="1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缺点</a:t>
            </a:r>
            <a:r>
              <a:rPr lang="zh-CN" altLang="en-US" b="1" dirty="0"/>
              <a:t>：冗长、二义性</a:t>
            </a:r>
            <a:endParaRPr lang="en-US" altLang="zh-CN" b="1" dirty="0"/>
          </a:p>
          <a:p>
            <a:pPr lvl="2">
              <a:lnSpc>
                <a:spcPts val="3200"/>
              </a:lnSpc>
            </a:pPr>
            <a:endParaRPr lang="en-US" altLang="zh-CN" sz="2400" b="1" dirty="0"/>
          </a:p>
          <a:p>
            <a:pPr>
              <a:lnSpc>
                <a:spcPts val="2700"/>
              </a:lnSpc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55700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lang="zh-CN" altLang="en-US" b="1" dirty="0"/>
              <a:t>例：欧几里德算法</a:t>
            </a:r>
            <a:r>
              <a:rPr lang="en-US" altLang="zh-CN" b="1" dirty="0"/>
              <a:t>—</a:t>
            </a:r>
            <a:r>
              <a:rPr lang="zh-CN" altLang="en-US" b="1" dirty="0"/>
              <a:t>辗转相除法求两个自然数</a:t>
            </a:r>
            <a:r>
              <a:rPr lang="en-US" altLang="zh-CN" b="1" dirty="0"/>
              <a:t>m</a:t>
            </a:r>
            <a:r>
              <a:rPr lang="zh-CN" altLang="en-US" b="1" dirty="0"/>
              <a:t>和</a:t>
            </a:r>
            <a:r>
              <a:rPr lang="en-US" altLang="zh-CN" b="1" dirty="0"/>
              <a:t>n</a:t>
            </a:r>
            <a:r>
              <a:rPr lang="zh-CN" altLang="en-US" b="1" dirty="0"/>
              <a:t>的最大公约数。</a:t>
            </a:r>
            <a:endParaRPr lang="en-US" altLang="zh-CN" b="1" dirty="0"/>
          </a:p>
          <a:p>
            <a:pPr lvl="1">
              <a:lnSpc>
                <a:spcPts val="3200"/>
              </a:lnSpc>
            </a:pPr>
            <a:r>
              <a:rPr lang="zh-CN" altLang="en-US" b="1" dirty="0"/>
              <a:t>伪代码描述</a:t>
            </a:r>
            <a:endParaRPr lang="en-US" altLang="zh-CN" b="1" dirty="0"/>
          </a:p>
          <a:p>
            <a:pPr marL="914400" lvl="2" indent="0">
              <a:lnSpc>
                <a:spcPts val="3200"/>
              </a:lnSpc>
              <a:buNone/>
            </a:pPr>
            <a:r>
              <a:rPr lang="en-US" altLang="zh-CN" b="1" dirty="0"/>
              <a:t>1. r = m % n;</a:t>
            </a:r>
            <a:endParaRPr lang="en-US" altLang="zh-CN" b="1" dirty="0"/>
          </a:p>
          <a:p>
            <a:pPr marL="914400" lvl="2" indent="0">
              <a:lnSpc>
                <a:spcPts val="3200"/>
              </a:lnSpc>
              <a:buNone/>
            </a:pPr>
            <a:r>
              <a:rPr lang="en-US" altLang="zh-CN" b="1" dirty="0"/>
              <a:t>2. </a:t>
            </a:r>
            <a:r>
              <a:rPr lang="zh-CN" altLang="en-US" b="1" dirty="0"/>
              <a:t>循环直到</a:t>
            </a:r>
            <a:r>
              <a:rPr lang="en-US" altLang="zh-CN" b="1" dirty="0"/>
              <a:t>r</a:t>
            </a:r>
            <a:r>
              <a:rPr lang="zh-CN" altLang="en-US" b="1" dirty="0"/>
              <a:t>等于</a:t>
            </a:r>
            <a:r>
              <a:rPr lang="en-US" altLang="zh-CN" b="1" dirty="0"/>
              <a:t>0 </a:t>
            </a:r>
            <a:endParaRPr lang="en-US" altLang="zh-CN" b="1" dirty="0"/>
          </a:p>
          <a:p>
            <a:pPr marL="1371600" lvl="3" indent="0">
              <a:lnSpc>
                <a:spcPts val="3200"/>
              </a:lnSpc>
              <a:buNone/>
            </a:pPr>
            <a:r>
              <a:rPr lang="en-US" altLang="zh-CN" b="1" dirty="0"/>
              <a:t>2.1 m = n; </a:t>
            </a:r>
            <a:endParaRPr lang="en-US" altLang="zh-CN" b="1" dirty="0"/>
          </a:p>
          <a:p>
            <a:pPr marL="1371600" lvl="3" indent="0">
              <a:lnSpc>
                <a:spcPts val="3200"/>
              </a:lnSpc>
              <a:buNone/>
            </a:pPr>
            <a:r>
              <a:rPr lang="en-US" altLang="zh-CN" b="1" dirty="0"/>
              <a:t>2.2 n = r ; </a:t>
            </a:r>
            <a:endParaRPr lang="en-US" altLang="zh-CN" b="1" dirty="0"/>
          </a:p>
          <a:p>
            <a:pPr marL="1371600" lvl="3" indent="0">
              <a:lnSpc>
                <a:spcPts val="3200"/>
              </a:lnSpc>
              <a:buNone/>
            </a:pPr>
            <a:r>
              <a:rPr lang="en-US" altLang="zh-CN" b="1" dirty="0"/>
              <a:t>2.3 r = m % n; </a:t>
            </a:r>
            <a:endParaRPr lang="en-US" altLang="zh-CN" b="1" dirty="0"/>
          </a:p>
          <a:p>
            <a:pPr marL="914400" lvl="2" indent="0">
              <a:lnSpc>
                <a:spcPts val="3200"/>
              </a:lnSpc>
              <a:buNone/>
            </a:pPr>
            <a:r>
              <a:rPr lang="en-US" altLang="zh-CN" b="1" dirty="0"/>
              <a:t>3. </a:t>
            </a:r>
            <a:r>
              <a:rPr lang="zh-CN" altLang="en-US" b="1" dirty="0"/>
              <a:t>输出</a:t>
            </a:r>
            <a:r>
              <a:rPr lang="en-US" altLang="zh-CN" b="1" dirty="0"/>
              <a:t>n;</a:t>
            </a:r>
            <a:endParaRPr lang="en-US" altLang="zh-CN" b="1" dirty="0"/>
          </a:p>
          <a:p>
            <a:pPr lvl="1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表达能力强，抽象性强，容易理解</a:t>
            </a:r>
            <a:endParaRPr lang="en-US" altLang="zh-CN" sz="2400" b="1" dirty="0"/>
          </a:p>
          <a:p>
            <a:pPr>
              <a:lnSpc>
                <a:spcPts val="2700"/>
              </a:lnSpc>
            </a:pP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92500"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算法的五个基本特征：</a:t>
            </a:r>
            <a:endParaRPr kumimoji="1" lang="zh-CN" altLang="en-US" sz="28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有穷性</a:t>
            </a:r>
            <a:r>
              <a:rPr lang="zh-CN" altLang="en-US" sz="2400" b="1" dirty="0"/>
              <a:t>：算法中的操作步骤为</a:t>
            </a:r>
            <a:r>
              <a:rPr lang="zh-CN" altLang="en-US" sz="2400" b="1" dirty="0">
                <a:solidFill>
                  <a:srgbClr val="1801BF"/>
                </a:solidFill>
              </a:rPr>
              <a:t>有限</a:t>
            </a:r>
            <a:r>
              <a:rPr lang="zh-CN" altLang="en-US" sz="2400" b="1" dirty="0"/>
              <a:t>个，且每个步骤都能在</a:t>
            </a:r>
            <a:r>
              <a:rPr lang="zh-CN" altLang="en-US" sz="2400" b="1" dirty="0">
                <a:solidFill>
                  <a:srgbClr val="1801BF"/>
                </a:solidFill>
              </a:rPr>
              <a:t>有限</a:t>
            </a:r>
            <a:r>
              <a:rPr lang="zh-CN" altLang="en-US" sz="2400" b="1" dirty="0"/>
              <a:t>时间内完成。</a:t>
            </a:r>
            <a:endParaRPr lang="zh-CN" altLang="en-US" sz="24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确定性</a:t>
            </a:r>
            <a:r>
              <a:rPr lang="zh-CN" altLang="en-US" sz="2400" b="1" dirty="0"/>
              <a:t>：组成算法的操作必须清晰无二义性。</a:t>
            </a:r>
            <a:endParaRPr lang="zh-CN" altLang="en-US" sz="24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可行性</a:t>
            </a:r>
            <a:r>
              <a:rPr lang="zh-CN" altLang="en-US" sz="2400" b="1" dirty="0"/>
              <a:t>：算法中的所有操作都必须足够基本，都可以通过已经实现的基本操作运算有限次实现之。</a:t>
            </a:r>
            <a:endParaRPr lang="zh-CN" altLang="en-US" sz="24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输入</a:t>
            </a:r>
            <a:r>
              <a:rPr lang="zh-CN" altLang="en-US" sz="2400" b="1" dirty="0"/>
              <a:t>：作为算法加工对象的量值，通常体现为算法中的一组变量。某些算法的字面上可以没有输入，实际上已被嵌入算法之中。</a:t>
            </a:r>
            <a:endParaRPr lang="zh-CN" altLang="en-US" sz="24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输出</a:t>
            </a:r>
            <a:r>
              <a:rPr lang="zh-CN" altLang="en-US" sz="2400" b="1" dirty="0"/>
              <a:t>：它是一组与输入有确定关系的量值，是算法进行信息加工后得到的结果，这种确定关系即为算法的功能。</a:t>
            </a:r>
            <a:endParaRPr lang="en-US" altLang="zh-CN" sz="2400" b="1" dirty="0"/>
          </a:p>
          <a:p>
            <a:pPr>
              <a:lnSpc>
                <a:spcPts val="3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       考虑下列两段描述：</a:t>
            </a:r>
            <a:endParaRPr kumimoji="1" lang="zh-CN" altLang="en-US" sz="2800" b="1" dirty="0"/>
          </a:p>
          <a:p>
            <a:pPr>
              <a:lnSpc>
                <a:spcPts val="32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55700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066800" y="1806476"/>
            <a:ext cx="6189663" cy="2308324"/>
          </a:xfrm>
          <a:prstGeom prst="rect">
            <a:avLst/>
          </a:prstGeom>
          <a:noFill/>
          <a:ln w="12700" cap="rnd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(1)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void exam1() 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{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 n</a:t>
            </a:r>
            <a:r>
              <a:rPr kumimoji="1"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2;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while (n%2</a:t>
            </a:r>
            <a:r>
              <a:rPr kumimoji="1"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＝＝</a:t>
            </a: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0)    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       n</a:t>
            </a:r>
            <a:r>
              <a:rPr kumimoji="1" lang="zh-CN" altLang="en-US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＝</a:t>
            </a: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n+2; 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</a:t>
            </a:r>
            <a:r>
              <a:rPr kumimoji="1" lang="en-US" altLang="zh-CN" sz="1800" b="1" dirty="0" err="1">
                <a:solidFill>
                  <a:srgbClr val="0000FF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("%d\</a:t>
            </a:r>
            <a:r>
              <a:rPr kumimoji="1" lang="en-US" altLang="zh-CN" sz="1800" b="1" dirty="0" err="1">
                <a:solidFill>
                  <a:srgbClr val="0000FF"/>
                </a:solidFill>
                <a:latin typeface="宋体" panose="02010600030101010101" pitchFamily="2" charset="-122"/>
              </a:rPr>
              <a:t>n",n</a:t>
            </a: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);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1068733" y="4217075"/>
            <a:ext cx="6187730" cy="2031325"/>
          </a:xfrm>
          <a:prstGeom prst="rect">
            <a:avLst/>
          </a:prstGeom>
          <a:noFill/>
          <a:ln w="12700" cap="rnd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Constantia" panose="02030602050306030303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(2)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s-E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void exam2()</a:t>
            </a:r>
            <a:endParaRPr kumimoji="1" lang="es-E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s-E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{</a:t>
            </a:r>
            <a:endParaRPr kumimoji="1" lang="es-E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s-E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y=0;</a:t>
            </a:r>
            <a:endParaRPr kumimoji="1" lang="es-E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s-E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x=5/y;</a:t>
            </a:r>
            <a:endParaRPr kumimoji="1" lang="es-E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s-E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     printf(“%d,%d\n”,x,y);</a:t>
            </a:r>
            <a:endParaRPr kumimoji="1" lang="es-E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kumimoji="1" lang="en-US" altLang="zh-CN" sz="1800" b="1" dirty="0">
                <a:solidFill>
                  <a:srgbClr val="0000FF"/>
                </a:solidFill>
                <a:latin typeface="宋体" panose="02010600030101010101" pitchFamily="2" charset="-122"/>
              </a:rPr>
              <a:t>}</a:t>
            </a:r>
            <a:endParaRPr kumimoji="1" lang="en-US" altLang="zh-CN" sz="1800" b="1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4724400" y="2763838"/>
            <a:ext cx="4495800" cy="1350962"/>
          </a:xfrm>
          <a:prstGeom prst="cloudCallout">
            <a:avLst>
              <a:gd name="adj1" fmla="val -43468"/>
              <a:gd name="adj2" fmla="val 89310"/>
            </a:avLst>
          </a:prstGeom>
          <a:solidFill>
            <a:srgbClr val="CCFFFF"/>
          </a:solidFill>
          <a:ln w="9525">
            <a:solidFill>
              <a:srgbClr val="000000"/>
            </a:solidFill>
            <a:round/>
          </a:ln>
        </p:spPr>
        <p:txBody>
          <a:bodyPr/>
          <a:lstStyle>
            <a:lvl1pPr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buFont typeface="Wingdings" panose="05000000000000000000" pitchFamily="2" charset="2"/>
              <a:buChar char="Ø"/>
              <a:defRPr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这两段描述均不能满足算法的特征</a:t>
            </a:r>
            <a:r>
              <a:rPr kumimoji="1" lang="en-US" altLang="zh-CN" sz="1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1" lang="zh-CN" altLang="en-US" sz="1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试问它们违反了哪些特征？</a:t>
            </a:r>
            <a:endParaRPr kumimoji="1" lang="zh-CN" altLang="en-US" sz="180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4724400"/>
            <a:ext cx="40386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b="1" dirty="0"/>
              <a:t>解：</a:t>
            </a:r>
            <a:endParaRPr lang="zh-CN" altLang="en-US" b="1" dirty="0"/>
          </a:p>
          <a:p>
            <a:r>
              <a:rPr lang="en-US" altLang="zh-CN" b="1" dirty="0"/>
              <a:t>(1)</a:t>
            </a:r>
            <a:r>
              <a:rPr lang="zh-CN" altLang="en-US" b="1" dirty="0"/>
              <a:t>算法是一个死循环</a:t>
            </a:r>
            <a:r>
              <a:rPr lang="en-US" altLang="zh-CN" b="1" dirty="0"/>
              <a:t>,</a:t>
            </a:r>
            <a:r>
              <a:rPr lang="zh-CN" altLang="en-US" b="1" dirty="0"/>
              <a:t>违反了算法的</a:t>
            </a:r>
            <a:r>
              <a:rPr lang="zh-CN" altLang="en-US" b="1" dirty="0">
                <a:solidFill>
                  <a:srgbClr val="FF0000"/>
                </a:solidFill>
              </a:rPr>
              <a:t>有穷性特征</a:t>
            </a:r>
            <a:r>
              <a:rPr lang="zh-CN" altLang="en-US" b="1" dirty="0"/>
              <a:t>。 </a:t>
            </a:r>
            <a:endParaRPr lang="zh-CN" altLang="en-US" b="1" dirty="0"/>
          </a:p>
          <a:p>
            <a:r>
              <a:rPr lang="en-US" altLang="zh-CN" b="1" dirty="0"/>
              <a:t>(2)</a:t>
            </a:r>
            <a:r>
              <a:rPr lang="zh-CN" altLang="en-US" b="1" dirty="0"/>
              <a:t>算法包含除零错误</a:t>
            </a:r>
            <a:r>
              <a:rPr lang="en-US" altLang="zh-CN" b="1" dirty="0"/>
              <a:t>,</a:t>
            </a:r>
            <a:r>
              <a:rPr lang="zh-CN" altLang="en-US" b="1" dirty="0"/>
              <a:t>违反了算法的</a:t>
            </a:r>
            <a:r>
              <a:rPr lang="zh-CN" altLang="en-US" b="1" dirty="0">
                <a:solidFill>
                  <a:srgbClr val="FF0000"/>
                </a:solidFill>
              </a:rPr>
              <a:t>可行性特征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在设计算法时通常应考虑以下原则：</a:t>
            </a:r>
            <a:endParaRPr kumimoji="1" lang="zh-CN" altLang="en-US" sz="28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/>
              <a:t>算法必须是“</a:t>
            </a:r>
            <a:r>
              <a:rPr lang="zh-CN" altLang="en-US" sz="2400" b="1" dirty="0">
                <a:solidFill>
                  <a:srgbClr val="FF0000"/>
                </a:solidFill>
              </a:rPr>
              <a:t>正确的</a:t>
            </a:r>
            <a:r>
              <a:rPr lang="zh-CN" altLang="en-US" sz="2400" b="1" dirty="0"/>
              <a:t>”；</a:t>
            </a:r>
            <a:endParaRPr lang="zh-CN" altLang="en-US" sz="24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/>
              <a:t>应有很好的“</a:t>
            </a:r>
            <a:r>
              <a:rPr lang="zh-CN" altLang="en-US" sz="2400" b="1" dirty="0">
                <a:solidFill>
                  <a:srgbClr val="FF0000"/>
                </a:solidFill>
              </a:rPr>
              <a:t>可读性</a:t>
            </a:r>
            <a:r>
              <a:rPr lang="zh-CN" altLang="en-US" sz="2400" b="1" dirty="0"/>
              <a:t>”；</a:t>
            </a:r>
            <a:endParaRPr lang="zh-CN" altLang="en-US" sz="24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/>
              <a:t> 在算法是正确的前提下，算法的可读性是摆在第一位的；</a:t>
            </a:r>
            <a:endParaRPr lang="zh-CN" altLang="en-US" sz="24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/>
              <a:t>必须具有“</a:t>
            </a:r>
            <a:r>
              <a:rPr lang="zh-CN" altLang="en-US" sz="2400" b="1" dirty="0">
                <a:solidFill>
                  <a:srgbClr val="FF0000"/>
                </a:solidFill>
              </a:rPr>
              <a:t>健壮性</a:t>
            </a:r>
            <a:r>
              <a:rPr lang="zh-CN" altLang="en-US" sz="2400" b="1" dirty="0"/>
              <a:t>”：指算法应对非法输入的数据作出恰当反映或进行相应处理，一般情况下，应向调用它的函数返回一个表示错误或错误性质的值。</a:t>
            </a:r>
            <a:endParaRPr lang="zh-CN" altLang="en-US" sz="24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算法的效率</a:t>
            </a:r>
            <a:r>
              <a:rPr lang="zh-CN" altLang="en-US" sz="2400" b="1" dirty="0"/>
              <a:t>：应考虑所设计的算法具有“高效率与低存储量”。</a:t>
            </a:r>
            <a:endParaRPr lang="zh-CN" altLang="en-US" sz="2400" b="1" dirty="0"/>
          </a:p>
          <a:p>
            <a:pPr>
              <a:lnSpc>
                <a:spcPts val="3000"/>
              </a:lnSpc>
            </a:pP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评价算法效率的方法 ：</a:t>
            </a:r>
            <a:endParaRPr kumimoji="1" lang="zh-CN" altLang="en-US" sz="28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事后统计</a:t>
            </a:r>
            <a:r>
              <a:rPr lang="zh-CN" altLang="en-US" sz="2400" b="1" dirty="0"/>
              <a:t>：将算法实现，测算其时间和空间开销。 </a:t>
            </a:r>
            <a:endParaRPr lang="en-US" altLang="zh-CN" sz="2400" b="1" dirty="0"/>
          </a:p>
          <a:p>
            <a:pPr lvl="2">
              <a:lnSpc>
                <a:spcPts val="3200"/>
              </a:lnSpc>
            </a:pPr>
            <a:r>
              <a:rPr lang="zh-CN" altLang="en-US" sz="2000" b="1" dirty="0"/>
              <a:t>优点：准确的实测值 。</a:t>
            </a:r>
            <a:endParaRPr lang="en-US" altLang="zh-CN" sz="2000" b="1" dirty="0"/>
          </a:p>
          <a:p>
            <a:pPr lvl="2">
              <a:lnSpc>
                <a:spcPts val="3200"/>
              </a:lnSpc>
            </a:pPr>
            <a:r>
              <a:rPr lang="zh-CN" altLang="en-US" sz="2000" b="1" dirty="0"/>
              <a:t>缺点： 编写程序实现算法将花费较多的时间和精力； 所得实验结果依赖于计算机的软、硬件等环境因素。 </a:t>
            </a:r>
            <a:endParaRPr lang="en-US" altLang="zh-CN" sz="2000" b="1" dirty="0"/>
          </a:p>
          <a:p>
            <a:pPr lvl="1">
              <a:lnSpc>
                <a:spcPts val="32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事前分析</a:t>
            </a:r>
            <a:r>
              <a:rPr lang="zh-CN" altLang="en-US" sz="2400" b="1" dirty="0"/>
              <a:t>：对算法所消耗资源的一种估算方法。</a:t>
            </a:r>
            <a:endParaRPr lang="en-US" altLang="zh-CN" sz="2400" b="1" dirty="0"/>
          </a:p>
          <a:p>
            <a:pPr>
              <a:lnSpc>
                <a:spcPts val="3200"/>
              </a:lnSpc>
            </a:pPr>
            <a:r>
              <a:rPr lang="zh-CN" altLang="en-US" sz="2800" b="1" dirty="0"/>
              <a:t>算法分析：对算法所需要的计算机资源</a:t>
            </a:r>
            <a:r>
              <a:rPr lang="en-US" altLang="zh-CN" sz="2800" b="1" dirty="0"/>
              <a:t>—</a:t>
            </a:r>
            <a:r>
              <a:rPr lang="zh-CN" altLang="en-US" sz="2800" b="1" dirty="0"/>
              <a:t>时间和空间进行估算。</a:t>
            </a:r>
            <a:endParaRPr lang="en-US" altLang="zh-CN" sz="2800" b="1" dirty="0"/>
          </a:p>
          <a:p>
            <a:pPr lvl="1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时间</a:t>
            </a:r>
            <a:r>
              <a:rPr lang="zh-CN" altLang="en-US" b="1" dirty="0"/>
              <a:t>复杂性（</a:t>
            </a:r>
            <a:r>
              <a:rPr lang="en-US" altLang="zh-CN" b="1" dirty="0"/>
              <a:t>Time Complexity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lvl="1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空间</a:t>
            </a:r>
            <a:r>
              <a:rPr lang="zh-CN" altLang="en-US" b="1" dirty="0"/>
              <a:t>复杂性（</a:t>
            </a:r>
            <a:r>
              <a:rPr lang="en-US" altLang="zh-CN" b="1" dirty="0"/>
              <a:t>Space Complexity</a:t>
            </a:r>
            <a:r>
              <a:rPr lang="zh-CN" altLang="en-US" b="1" dirty="0"/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算法时间复杂度（性）分析：</a:t>
            </a:r>
            <a:endParaRPr kumimoji="1" lang="zh-CN" altLang="en-US" sz="2800" b="1" dirty="0"/>
          </a:p>
          <a:p>
            <a:pPr marL="457200" lvl="1" indent="0">
              <a:lnSpc>
                <a:spcPts val="3200"/>
              </a:lnSpc>
              <a:buNone/>
            </a:pPr>
            <a:r>
              <a:rPr lang="zh-CN" altLang="en-US" sz="2400" b="1" dirty="0"/>
              <a:t> </a:t>
            </a:r>
            <a:endParaRPr lang="en-US" altLang="zh-CN" sz="2400" b="1" dirty="0"/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381000" y="1752600"/>
            <a:ext cx="8496300" cy="4352925"/>
          </a:xfrm>
          <a:prstGeom prst="rect">
            <a:avLst/>
          </a:prstGeom>
          <a:noFill/>
          <a:ln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93700" lvl="1" indent="0" eaLnBrk="1" hangingPunct="1">
              <a:lnSpc>
                <a:spcPct val="150000"/>
              </a:lnSpc>
              <a:buClr>
                <a:srgbClr val="0000FF"/>
              </a:buClr>
              <a:buSzTx/>
              <a:defRPr/>
            </a:pPr>
            <a:r>
              <a:rPr kumimoji="1"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和算法执行时间相关的因素：</a:t>
            </a:r>
            <a:endParaRPr kumimoji="1" lang="en-US" altLang="zh-CN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908050" lvl="1" indent="-514350" eaLnBrk="1" hangingPunct="1">
              <a:lnSpc>
                <a:spcPct val="150000"/>
              </a:lnSpc>
              <a:buClr>
                <a:srgbClr val="0000FF"/>
              </a:buClr>
              <a:buSzTx/>
              <a:buFont typeface="+mj-ea"/>
              <a:buAutoNum type="circleNumDbPlain"/>
              <a:defRPr/>
            </a:pPr>
            <a:r>
              <a:rPr lang="zh-CN" altLang="en-US" b="1" kern="0" dirty="0">
                <a:solidFill>
                  <a:srgbClr val="FF0000"/>
                </a:solidFill>
                <a:latin typeface="宋体" panose="02010600030101010101" pitchFamily="2" charset="-122"/>
              </a:rPr>
              <a:t>算法选用的策略</a:t>
            </a:r>
            <a:endParaRPr lang="en-US" altLang="zh-CN" b="1" kern="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908050" lvl="1" indent="-514350" eaLnBrk="1" hangingPunct="1">
              <a:lnSpc>
                <a:spcPct val="150000"/>
              </a:lnSpc>
              <a:buClr>
                <a:srgbClr val="0000FF"/>
              </a:buClr>
              <a:buSzTx/>
              <a:buFont typeface="+mj-ea"/>
              <a:buAutoNum type="circleNumDbPlain"/>
              <a:defRPr/>
            </a:pPr>
            <a:r>
              <a:rPr lang="zh-CN" altLang="en-US" b="1" kern="0" dirty="0">
                <a:solidFill>
                  <a:srgbClr val="FF0000"/>
                </a:solidFill>
                <a:latin typeface="宋体" panose="02010600030101010101" pitchFamily="2" charset="-122"/>
              </a:rPr>
              <a:t>问题的规模</a:t>
            </a:r>
            <a:endParaRPr lang="en-US" altLang="zh-CN" b="1" kern="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marL="908050" lvl="1" indent="-514350" eaLnBrk="1" hangingPunct="1">
              <a:lnSpc>
                <a:spcPct val="150000"/>
              </a:lnSpc>
              <a:buClr>
                <a:srgbClr val="0000FF"/>
              </a:buClr>
              <a:buSzTx/>
              <a:buFont typeface="+mj-ea"/>
              <a:buAutoNum type="circleNumDbPlain"/>
              <a:defRPr/>
            </a:pPr>
            <a:r>
              <a:rPr lang="zh-CN" altLang="en-US" b="1" kern="0" dirty="0">
                <a:latin typeface="宋体" panose="02010600030101010101" pitchFamily="2" charset="-122"/>
              </a:rPr>
              <a:t>编写程序的语言</a:t>
            </a:r>
            <a:endParaRPr lang="en-US" altLang="zh-CN" b="1" kern="0" dirty="0">
              <a:latin typeface="宋体" panose="02010600030101010101" pitchFamily="2" charset="-122"/>
            </a:endParaRPr>
          </a:p>
          <a:p>
            <a:pPr marL="908050" lvl="1" indent="-514350" eaLnBrk="1" hangingPunct="1">
              <a:lnSpc>
                <a:spcPct val="150000"/>
              </a:lnSpc>
              <a:buClr>
                <a:srgbClr val="0000FF"/>
              </a:buClr>
              <a:buSzTx/>
              <a:buFont typeface="+mj-ea"/>
              <a:buAutoNum type="circleNumDbPlain"/>
              <a:defRPr/>
            </a:pPr>
            <a:r>
              <a:rPr lang="zh-CN" altLang="en-US" b="1" kern="0" dirty="0">
                <a:latin typeface="宋体" panose="02010600030101010101" pitchFamily="2" charset="-122"/>
              </a:rPr>
              <a:t>编译程序产生的机器代码的质量</a:t>
            </a:r>
            <a:endParaRPr lang="en-US" altLang="zh-CN" b="1" kern="0" dirty="0">
              <a:latin typeface="宋体" panose="02010600030101010101" pitchFamily="2" charset="-122"/>
            </a:endParaRPr>
          </a:p>
          <a:p>
            <a:pPr marL="908050" lvl="1" indent="-514350" eaLnBrk="1" hangingPunct="1">
              <a:lnSpc>
                <a:spcPct val="150000"/>
              </a:lnSpc>
              <a:buClr>
                <a:srgbClr val="0000FF"/>
              </a:buClr>
              <a:buSzTx/>
              <a:buFont typeface="+mj-ea"/>
              <a:buAutoNum type="circleNumDbPlain"/>
              <a:defRPr/>
            </a:pPr>
            <a:r>
              <a:rPr lang="zh-CN" altLang="en-US" b="1" kern="0" dirty="0">
                <a:latin typeface="宋体" panose="02010600030101010101" pitchFamily="2" charset="-122"/>
              </a:rPr>
              <a:t>计算机执行指令的速度</a:t>
            </a:r>
            <a:endParaRPr lang="zh-CN" altLang="en-US" b="1" kern="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defRPr/>
            </a:pPr>
            <a:endParaRPr lang="zh-CN" altLang="en-US" sz="2400" b="1" kern="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6324600" y="4267200"/>
            <a:ext cx="533400" cy="1752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858000" y="4572000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u="sng" dirty="0"/>
              <a:t>与计算机软件和硬件相关，不考虑</a:t>
            </a:r>
            <a:endParaRPr lang="zh-CN" altLang="en-US" sz="2400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build="p"/>
      <p:bldP spid="7" grpId="0" animBg="1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算法分析</a:t>
            </a:r>
            <a:r>
              <a:rPr kumimoji="1" lang="en-US" altLang="zh-CN" sz="2800" b="1" dirty="0"/>
              <a:t>-</a:t>
            </a:r>
            <a:r>
              <a:rPr kumimoji="1" lang="zh-CN" altLang="en-US" sz="2800" b="1" dirty="0"/>
              <a:t>时间复杂度（性）：</a:t>
            </a:r>
            <a:endParaRPr kumimoji="1" lang="zh-CN" altLang="en-US" sz="2800" b="1" dirty="0"/>
          </a:p>
          <a:p>
            <a:pPr>
              <a:lnSpc>
                <a:spcPts val="3000"/>
              </a:lnSpc>
            </a:pPr>
            <a:endParaRPr lang="en-US" altLang="zh-CN" sz="28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" y="1933575"/>
            <a:ext cx="745490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3352800" y="5334000"/>
            <a:ext cx="51162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/>
              <a:t>执行一次的时间对于不同的算法来说都是一样的，所以一般忽略不计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算法分析</a:t>
            </a:r>
            <a:r>
              <a:rPr kumimoji="1" lang="en-US" altLang="zh-CN" sz="2800" b="1" dirty="0"/>
              <a:t>-</a:t>
            </a:r>
            <a:r>
              <a:rPr kumimoji="1" lang="zh-CN" altLang="en-US" sz="2800" b="1" dirty="0"/>
              <a:t>时间复杂度（性）：</a:t>
            </a:r>
            <a:endParaRPr kumimoji="1" lang="zh-CN" altLang="en-US" sz="2800" b="1" dirty="0"/>
          </a:p>
          <a:p>
            <a:pPr lvl="1">
              <a:lnSpc>
                <a:spcPts val="3000"/>
              </a:lnSpc>
            </a:pPr>
            <a:r>
              <a:rPr lang="zh-CN" altLang="en-US" sz="2000" b="1" dirty="0"/>
              <a:t>算法的执行时间，是</a:t>
            </a:r>
            <a:r>
              <a:rPr lang="zh-CN" altLang="en-US" sz="2000" b="1" dirty="0">
                <a:solidFill>
                  <a:srgbClr val="FF0000"/>
                </a:solidFill>
              </a:rPr>
              <a:t>基本（操作）语句</a:t>
            </a:r>
            <a:r>
              <a:rPr lang="zh-CN" altLang="en-US" sz="2000" b="1" dirty="0"/>
              <a:t>重复执行的次数，它是</a:t>
            </a:r>
            <a:r>
              <a:rPr lang="zh-CN" altLang="en-US" sz="2000" b="1" dirty="0">
                <a:solidFill>
                  <a:srgbClr val="FF0000"/>
                </a:solidFill>
              </a:rPr>
              <a:t>问题规模</a:t>
            </a:r>
            <a:r>
              <a:rPr lang="zh-CN" altLang="en-US" sz="2000" b="1" dirty="0"/>
              <a:t>的一个函数。我们把这个函数的渐近阶称为该算法的时间复杂度。 </a:t>
            </a:r>
            <a:endParaRPr lang="en-US" altLang="zh-CN" sz="2000" b="1" dirty="0"/>
          </a:p>
          <a:p>
            <a:pPr lvl="1">
              <a:lnSpc>
                <a:spcPts val="3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问题规模</a:t>
            </a:r>
            <a:r>
              <a:rPr lang="zh-CN" altLang="en-US" sz="2000" b="1" dirty="0"/>
              <a:t>：输入量的多少。 </a:t>
            </a:r>
            <a:endParaRPr lang="en-US" altLang="zh-CN" sz="2000" b="1" dirty="0"/>
          </a:p>
          <a:p>
            <a:pPr lvl="1">
              <a:lnSpc>
                <a:spcPts val="3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基本语句</a:t>
            </a:r>
            <a:r>
              <a:rPr lang="zh-CN" altLang="en-US" sz="2000" b="1" dirty="0"/>
              <a:t>：是</a:t>
            </a:r>
            <a:r>
              <a:rPr lang="zh-CN" altLang="en-US" sz="2000" b="1" dirty="0">
                <a:solidFill>
                  <a:srgbClr val="FF0000"/>
                </a:solidFill>
              </a:rPr>
              <a:t>执行次数</a:t>
            </a:r>
            <a:r>
              <a:rPr lang="zh-CN" altLang="en-US" sz="2000" b="1" dirty="0"/>
              <a:t>与整个算法的</a:t>
            </a:r>
            <a:r>
              <a:rPr lang="zh-CN" altLang="en-US" sz="2000" b="1" dirty="0">
                <a:solidFill>
                  <a:srgbClr val="FF0000"/>
                </a:solidFill>
              </a:rPr>
              <a:t>执行次数</a:t>
            </a:r>
            <a:r>
              <a:rPr lang="zh-CN" altLang="en-US" sz="2000" b="1" dirty="0"/>
              <a:t>成正比的操作指令。 </a:t>
            </a:r>
            <a:endParaRPr lang="en-US" altLang="zh-CN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25550" y="3810000"/>
            <a:ext cx="43370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</a:rPr>
              <a:t>例：</a:t>
            </a:r>
            <a:r>
              <a:rPr lang="en-US" altLang="zh-CN" sz="2000" b="1" dirty="0">
                <a:solidFill>
                  <a:prstClr val="black"/>
                </a:solidFill>
              </a:rPr>
              <a:t>for (</a:t>
            </a:r>
            <a:r>
              <a:rPr lang="en-US" altLang="zh-CN" sz="2000" b="1" dirty="0" err="1">
                <a:solidFill>
                  <a:prstClr val="black"/>
                </a:solidFill>
              </a:rPr>
              <a:t>i</a:t>
            </a:r>
            <a:r>
              <a:rPr lang="en-US" altLang="zh-CN" sz="2000" b="1" dirty="0">
                <a:solidFill>
                  <a:prstClr val="black"/>
                </a:solidFill>
              </a:rPr>
              <a:t>=1; </a:t>
            </a:r>
            <a:r>
              <a:rPr lang="en-US" altLang="zh-CN" sz="2000" b="1" dirty="0" err="1">
                <a:solidFill>
                  <a:prstClr val="black"/>
                </a:solidFill>
              </a:rPr>
              <a:t>i</a:t>
            </a:r>
            <a:r>
              <a:rPr lang="en-US" altLang="zh-CN" sz="2000" b="1" dirty="0">
                <a:solidFill>
                  <a:prstClr val="black"/>
                </a:solidFill>
              </a:rPr>
              <a:t>&lt;=n; </a:t>
            </a:r>
            <a:r>
              <a:rPr lang="en-US" altLang="zh-CN" sz="2000" b="1" dirty="0" err="1">
                <a:solidFill>
                  <a:prstClr val="black"/>
                </a:solidFill>
              </a:rPr>
              <a:t>i</a:t>
            </a:r>
            <a:r>
              <a:rPr lang="en-US" altLang="zh-CN" sz="2000" b="1" dirty="0">
                <a:solidFill>
                  <a:prstClr val="black"/>
                </a:solidFill>
              </a:rPr>
              <a:t>++) </a:t>
            </a:r>
            <a:endParaRPr lang="en-US" altLang="zh-CN" sz="2000" b="1" dirty="0">
              <a:solidFill>
                <a:prstClr val="black"/>
              </a:solidFill>
            </a:endParaRPr>
          </a:p>
          <a:p>
            <a:r>
              <a:rPr lang="en-US" altLang="zh-CN" sz="2000" b="1" dirty="0">
                <a:solidFill>
                  <a:prstClr val="black"/>
                </a:solidFill>
              </a:rPr>
              <a:t>               for (j=1; j&lt;=n; </a:t>
            </a:r>
            <a:r>
              <a:rPr lang="en-US" altLang="zh-CN" sz="2000" b="1" dirty="0" err="1">
                <a:solidFill>
                  <a:prstClr val="black"/>
                </a:solidFill>
              </a:rPr>
              <a:t>j++</a:t>
            </a:r>
            <a:r>
              <a:rPr lang="en-US" altLang="zh-CN" sz="2000" b="1" dirty="0">
                <a:solidFill>
                  <a:prstClr val="black"/>
                </a:solidFill>
              </a:rPr>
              <a:t>) </a:t>
            </a:r>
            <a:endParaRPr lang="en-US" altLang="zh-CN" sz="2000" b="1" dirty="0">
              <a:solidFill>
                <a:prstClr val="black"/>
              </a:solidFill>
            </a:endParaRPr>
          </a:p>
          <a:p>
            <a:r>
              <a:rPr lang="en-US" altLang="zh-CN" sz="2000" b="1" dirty="0">
                <a:solidFill>
                  <a:prstClr val="black"/>
                </a:solidFill>
              </a:rPr>
              <a:t>                     x++;</a:t>
            </a:r>
            <a:endParaRPr lang="en-US" altLang="zh-CN" sz="2000" b="1" dirty="0">
              <a:solidFill>
                <a:prstClr val="black"/>
              </a:solidFill>
            </a:endParaRPr>
          </a:p>
          <a:p>
            <a:endParaRPr lang="en-US" altLang="zh-CN" sz="2400" b="1" dirty="0">
              <a:solidFill>
                <a:prstClr val="black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prstClr val="black"/>
                </a:solidFill>
              </a:rPr>
              <a:t>问题规模：</a:t>
            </a:r>
            <a:r>
              <a:rPr lang="en-US" altLang="zh-CN" sz="2400" b="1" dirty="0">
                <a:solidFill>
                  <a:prstClr val="black"/>
                </a:solidFill>
              </a:rPr>
              <a:t>n</a:t>
            </a:r>
            <a:endParaRPr lang="en-US" altLang="zh-CN" sz="2400" b="1" dirty="0">
              <a:solidFill>
                <a:prstClr val="black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prstClr val="black"/>
                </a:solidFill>
              </a:rPr>
              <a:t>基本语句：</a:t>
            </a:r>
            <a:r>
              <a:rPr lang="en-US" altLang="zh-CN" sz="2400" b="1" dirty="0">
                <a:solidFill>
                  <a:prstClr val="black"/>
                </a:solidFill>
              </a:rPr>
              <a:t>x++</a:t>
            </a:r>
            <a:endParaRPr lang="en-US" altLang="zh-CN" sz="2400" b="1" dirty="0">
              <a:solidFill>
                <a:prstClr val="black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prstClr val="black"/>
                </a:solidFill>
              </a:rPr>
              <a:t>时间复杂性：</a:t>
            </a:r>
            <a:r>
              <a:rPr lang="en-US" altLang="zh-CN" sz="2400" b="1" dirty="0">
                <a:solidFill>
                  <a:prstClr val="black"/>
                </a:solidFill>
              </a:rPr>
              <a:t>O(n</a:t>
            </a:r>
            <a:r>
              <a:rPr lang="en-US" altLang="zh-CN" sz="2400" b="1" baseline="30000" dirty="0">
                <a:solidFill>
                  <a:prstClr val="black"/>
                </a:solidFill>
              </a:rPr>
              <a:t>2</a:t>
            </a:r>
            <a:r>
              <a:rPr lang="en-US" altLang="zh-CN" sz="2400" b="1" dirty="0">
                <a:solidFill>
                  <a:prstClr val="black"/>
                </a:solidFill>
              </a:rPr>
              <a:t>)</a:t>
            </a:r>
            <a:endParaRPr lang="zh-CN" altLang="en-US" sz="2400" b="1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算法分析</a:t>
            </a:r>
            <a:r>
              <a:rPr kumimoji="1" lang="en-US" altLang="zh-CN" sz="2800" b="1" dirty="0"/>
              <a:t>---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大</a:t>
            </a:r>
            <a:r>
              <a:rPr kumimoji="1" lang="en-US" altLang="zh-CN" sz="2800" b="1" i="1" dirty="0">
                <a:solidFill>
                  <a:srgbClr val="FF0000"/>
                </a:solidFill>
              </a:rPr>
              <a:t>O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符号</a:t>
            </a:r>
            <a:r>
              <a:rPr kumimoji="1" lang="zh-CN" altLang="en-US" sz="2800" b="1" dirty="0"/>
              <a:t>：</a:t>
            </a:r>
            <a:endParaRPr kumimoji="1" lang="zh-CN" altLang="en-US" sz="28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定义 </a:t>
            </a:r>
            <a:r>
              <a:rPr lang="zh-CN" altLang="en-US" sz="2400" b="1" dirty="0"/>
              <a:t> 若存在两个正的常数 </a:t>
            </a:r>
            <a:r>
              <a:rPr lang="en-US" altLang="zh-CN" sz="2400" b="1" i="1" dirty="0"/>
              <a:t>c </a:t>
            </a:r>
            <a:r>
              <a:rPr lang="zh-CN" altLang="en-US" sz="2400" b="1" dirty="0"/>
              <a:t>和 </a:t>
            </a:r>
            <a:r>
              <a:rPr lang="en-US" altLang="zh-CN" sz="2400" b="1" i="1" dirty="0"/>
              <a:t>n</a:t>
            </a:r>
            <a:r>
              <a:rPr lang="en-US" altLang="zh-CN" sz="2400" b="1" i="1" baseline="-25000" dirty="0"/>
              <a:t>0</a:t>
            </a:r>
            <a:r>
              <a:rPr lang="en-US" altLang="zh-CN" sz="2400" b="1" i="1" dirty="0"/>
              <a:t> </a:t>
            </a:r>
            <a:r>
              <a:rPr lang="zh-CN" altLang="en-US" sz="2400" b="1" dirty="0"/>
              <a:t>，对于任意 </a:t>
            </a:r>
            <a:r>
              <a:rPr lang="en-US" altLang="zh-CN" sz="2400" b="1" i="1" dirty="0"/>
              <a:t>n</a:t>
            </a:r>
            <a:r>
              <a:rPr lang="en-US" altLang="zh-CN" sz="2400" b="1" dirty="0"/>
              <a:t> ≥ </a:t>
            </a:r>
            <a:r>
              <a:rPr lang="en-US" altLang="zh-CN" sz="2400" b="1" i="1" dirty="0"/>
              <a:t>n</a:t>
            </a:r>
            <a:r>
              <a:rPr lang="en-US" altLang="zh-CN" sz="2400" b="1" i="1" baseline="-25000" dirty="0"/>
              <a:t>0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，都有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(n )≤ c × f ( n )</a:t>
            </a:r>
            <a:r>
              <a:rPr lang="zh-CN" altLang="en-US" sz="2400" b="1" dirty="0"/>
              <a:t>，则称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( n )= O ( f ( n ))</a:t>
            </a:r>
            <a:r>
              <a:rPr lang="zh-CN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CN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667000"/>
            <a:ext cx="5314950" cy="3160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286000" y="5943600"/>
            <a:ext cx="480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当问题规模充分大时在渐近意义下的阶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算法分析</a:t>
            </a:r>
            <a:r>
              <a:rPr kumimoji="1" lang="en-US" altLang="zh-CN" sz="2800" b="1" dirty="0"/>
              <a:t>---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大</a:t>
            </a:r>
            <a:r>
              <a:rPr kumimoji="1" lang="en-US" altLang="zh-CN" sz="2800" b="1" i="1" dirty="0">
                <a:solidFill>
                  <a:srgbClr val="FF0000"/>
                </a:solidFill>
              </a:rPr>
              <a:t>O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符号</a:t>
            </a:r>
            <a:r>
              <a:rPr kumimoji="1" lang="zh-CN" altLang="en-US" sz="2800" b="1" dirty="0"/>
              <a:t>：</a:t>
            </a:r>
            <a:endParaRPr kumimoji="1" lang="zh-CN" altLang="en-US" sz="28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定理  </a:t>
            </a:r>
            <a:r>
              <a:rPr lang="zh-CN" altLang="en-US" sz="2400" b="1" dirty="0"/>
              <a:t>若</a:t>
            </a:r>
            <a:r>
              <a:rPr lang="en-US" altLang="zh-CN" sz="2400" b="1" dirty="0"/>
              <a:t>A(n)=a</a:t>
            </a:r>
            <a:r>
              <a:rPr lang="en-US" altLang="zh-CN" sz="2400" b="1" baseline="-25000" dirty="0"/>
              <a:t>m</a:t>
            </a:r>
            <a:r>
              <a:rPr lang="en-US" altLang="zh-CN" sz="2400" b="1" dirty="0"/>
              <a:t>n</a:t>
            </a:r>
            <a:r>
              <a:rPr lang="en-US" altLang="zh-CN" sz="2400" b="1" baseline="30000" dirty="0"/>
              <a:t>m</a:t>
            </a:r>
            <a:r>
              <a:rPr lang="en-US" altLang="zh-CN" sz="2400" b="1" dirty="0"/>
              <a:t>+a</a:t>
            </a:r>
            <a:r>
              <a:rPr lang="en-US" altLang="zh-CN" sz="2400" b="1" baseline="-25000" dirty="0"/>
              <a:t>m-1</a:t>
            </a:r>
            <a:r>
              <a:rPr lang="en-US" altLang="zh-CN" sz="2400" b="1" dirty="0"/>
              <a:t>n</a:t>
            </a:r>
            <a:r>
              <a:rPr lang="en-US" altLang="zh-CN" sz="2400" b="1" baseline="30000" dirty="0"/>
              <a:t>m-1</a:t>
            </a:r>
            <a:r>
              <a:rPr lang="en-US" altLang="zh-CN" sz="2400" b="1" dirty="0"/>
              <a:t>+…+a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n+a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是一个</a:t>
            </a:r>
            <a:r>
              <a:rPr lang="en-US" altLang="zh-CN" sz="2400" b="1" dirty="0"/>
              <a:t>m</a:t>
            </a:r>
            <a:r>
              <a:rPr lang="zh-CN" altLang="en-US" sz="2400" b="1" dirty="0"/>
              <a:t>次多项式，则 </a:t>
            </a:r>
            <a:r>
              <a:rPr lang="en-US" altLang="zh-CN" sz="2400" b="1" dirty="0"/>
              <a:t>A(n)=O(n</a:t>
            </a:r>
            <a:r>
              <a:rPr lang="en-US" altLang="zh-CN" sz="2400" b="1" baseline="30000" dirty="0"/>
              <a:t>m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说明</a:t>
            </a:r>
            <a:r>
              <a:rPr lang="zh-CN" altLang="en-US" sz="2400" b="1" dirty="0"/>
              <a:t>：在计算算法时间复杂度时，可以忽略所有低次幂（低阶）项 和高次幂（高阶）项的系数。 </a:t>
            </a:r>
            <a:endParaRPr lang="en-US" altLang="zh-CN" sz="20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3405616"/>
            <a:ext cx="6896100" cy="2918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92500"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算法分析</a:t>
            </a:r>
            <a:r>
              <a:rPr kumimoji="1" lang="en-US" altLang="zh-CN" sz="2800" b="1" dirty="0"/>
              <a:t>---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好情况、坏情况、平均情况 </a:t>
            </a:r>
            <a:r>
              <a:rPr kumimoji="1" lang="zh-CN" altLang="en-US" sz="2800" b="1" dirty="0"/>
              <a:t>：</a:t>
            </a:r>
            <a:endParaRPr kumimoji="1" lang="zh-CN" altLang="en-US" sz="28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例：在一维整型数组</a:t>
            </a:r>
            <a:r>
              <a:rPr lang="en-US" altLang="zh-CN" sz="2400" b="1" dirty="0"/>
              <a:t>A[n]</a:t>
            </a:r>
            <a:r>
              <a:rPr lang="zh-CN" altLang="en-US" sz="2400" b="1" dirty="0"/>
              <a:t>中顺序查找与给定值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相等的元素（假设该数组中有且仅有一个元素值为</a:t>
            </a:r>
            <a:r>
              <a:rPr lang="en-US" altLang="zh-CN" sz="2400" b="1" dirty="0"/>
              <a:t>k</a:t>
            </a:r>
            <a:r>
              <a:rPr lang="zh-CN" altLang="en-US" sz="2400" b="1" dirty="0"/>
              <a:t>）。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基本语句的执行次数是否只和问题规模有关？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结论</a:t>
            </a:r>
            <a:r>
              <a:rPr lang="zh-CN" altLang="en-US" sz="2400" b="1" dirty="0"/>
              <a:t>：如果</a:t>
            </a:r>
            <a:r>
              <a:rPr lang="zh-CN" altLang="en-US" sz="2400" b="1" dirty="0">
                <a:solidFill>
                  <a:srgbClr val="FF0000"/>
                </a:solidFill>
              </a:rPr>
              <a:t>问题规模相同</a:t>
            </a:r>
            <a:r>
              <a:rPr lang="zh-CN" altLang="en-US" sz="2400" b="1" dirty="0"/>
              <a:t>，时间代价</a:t>
            </a:r>
            <a:r>
              <a:rPr lang="zh-CN" altLang="en-US" sz="2400" b="1" dirty="0">
                <a:solidFill>
                  <a:srgbClr val="FF0000"/>
                </a:solidFill>
              </a:rPr>
              <a:t>与输入数据（的分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457200" lvl="1" indent="0">
              <a:lnSpc>
                <a:spcPts val="3000"/>
              </a:lnSpc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布）</a:t>
            </a:r>
            <a:r>
              <a:rPr lang="zh-CN" altLang="en-US" sz="2400" b="1" dirty="0"/>
              <a:t>有关，则需要分析</a:t>
            </a:r>
            <a:r>
              <a:rPr lang="zh-CN" altLang="en-US" sz="2400" b="1" dirty="0">
                <a:solidFill>
                  <a:srgbClr val="FF0000"/>
                </a:solidFill>
              </a:rPr>
              <a:t>最好情况、最坏情况、平均情况。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582" y="2643186"/>
            <a:ext cx="3623418" cy="2233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791200"/>
            <a:ext cx="6042024" cy="609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算法分析</a:t>
            </a:r>
            <a:r>
              <a:rPr kumimoji="1" lang="en-US" altLang="zh-CN" sz="2800" b="1" dirty="0"/>
              <a:t>---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常见的时间复杂度</a:t>
            </a:r>
            <a:r>
              <a:rPr kumimoji="1" lang="zh-CN" altLang="en-US" sz="2800" b="1" dirty="0"/>
              <a:t>：</a:t>
            </a:r>
            <a:endParaRPr kumimoji="1" lang="zh-CN" altLang="en-US" sz="28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r>
              <a:rPr lang="zh-CN" altLang="en-US" sz="2400" b="1" dirty="0"/>
              <a:t>常见</a:t>
            </a:r>
            <a:r>
              <a:rPr lang="zh-CN" altLang="en-US" sz="2400" b="1" dirty="0">
                <a:solidFill>
                  <a:srgbClr val="FF0000"/>
                </a:solidFill>
              </a:rPr>
              <a:t>阶的比较</a:t>
            </a:r>
            <a:r>
              <a:rPr lang="zh-CN" altLang="en-US" sz="2400" b="1" dirty="0"/>
              <a:t>： 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0" y="1828800"/>
            <a:ext cx="74930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b="1" dirty="0"/>
              <a:t>算法分析</a:t>
            </a:r>
            <a:r>
              <a:rPr kumimoji="1" lang="en-US" altLang="zh-CN" b="1" dirty="0"/>
              <a:t>---</a:t>
            </a:r>
            <a:r>
              <a:rPr kumimoji="1" lang="zh-CN" altLang="en-US" b="1" dirty="0">
                <a:solidFill>
                  <a:srgbClr val="FF0000"/>
                </a:solidFill>
              </a:rPr>
              <a:t>时间复杂度分析的基本方法</a:t>
            </a:r>
            <a:r>
              <a:rPr kumimoji="1" lang="zh-CN" altLang="en-US" b="1" dirty="0"/>
              <a:t>：</a:t>
            </a:r>
            <a:endParaRPr kumimoji="1" lang="en-US" altLang="zh-CN" b="1" dirty="0"/>
          </a:p>
          <a:p>
            <a:pPr lvl="1">
              <a:lnSpc>
                <a:spcPts val="3200"/>
              </a:lnSpc>
            </a:pPr>
            <a:r>
              <a:rPr kumimoji="1" lang="zh-CN" altLang="en-US" b="1" dirty="0"/>
              <a:t>时间复杂性的运算法则 </a:t>
            </a:r>
            <a:endParaRPr kumimoji="1" lang="en-US" altLang="zh-CN" b="1" dirty="0"/>
          </a:p>
          <a:p>
            <a:pPr lvl="1">
              <a:lnSpc>
                <a:spcPts val="3200"/>
              </a:lnSpc>
            </a:pPr>
            <a:endParaRPr kumimoji="1" lang="en-US" altLang="zh-CN" sz="2400" b="1" dirty="0"/>
          </a:p>
          <a:p>
            <a:pPr lvl="1">
              <a:lnSpc>
                <a:spcPts val="3200"/>
              </a:lnSpc>
            </a:pPr>
            <a:endParaRPr kumimoji="1" lang="en-US" altLang="zh-CN" sz="2400" b="1" dirty="0"/>
          </a:p>
          <a:p>
            <a:pPr lvl="1">
              <a:lnSpc>
                <a:spcPts val="3200"/>
              </a:lnSpc>
            </a:pPr>
            <a:endParaRPr kumimoji="1" lang="en-US" altLang="zh-CN" sz="2400" b="1" dirty="0"/>
          </a:p>
          <a:p>
            <a:pPr lvl="1">
              <a:lnSpc>
                <a:spcPts val="3200"/>
              </a:lnSpc>
            </a:pPr>
            <a:endParaRPr kumimoji="1" lang="en-US" altLang="zh-CN" b="1" dirty="0"/>
          </a:p>
          <a:p>
            <a:pPr lvl="1">
              <a:lnSpc>
                <a:spcPts val="3200"/>
              </a:lnSpc>
            </a:pPr>
            <a:r>
              <a:rPr kumimoji="1" lang="zh-CN" altLang="en-US" b="1" dirty="0"/>
              <a:t>时间复杂性的分析方法 </a:t>
            </a:r>
            <a:endParaRPr kumimoji="1" lang="zh-CN" altLang="en-US" b="1" dirty="0"/>
          </a:p>
          <a:p>
            <a:pPr lvl="2">
              <a:lnSpc>
                <a:spcPts val="3000"/>
              </a:lnSpc>
            </a:pPr>
            <a:r>
              <a:rPr lang="zh-CN" altLang="en-US" b="1" dirty="0"/>
              <a:t>首先求出程序中各语句、各模块的运行时间</a:t>
            </a:r>
            <a:r>
              <a:rPr lang="en-US" altLang="zh-CN" b="1" dirty="0"/>
              <a:t>, </a:t>
            </a:r>
            <a:endParaRPr lang="en-US" altLang="zh-CN" b="1" dirty="0"/>
          </a:p>
          <a:p>
            <a:pPr lvl="2">
              <a:lnSpc>
                <a:spcPts val="3000"/>
              </a:lnSpc>
            </a:pPr>
            <a:r>
              <a:rPr lang="zh-CN" altLang="en-US" b="1" dirty="0"/>
              <a:t>再求整个程序的运行时间。 </a:t>
            </a:r>
            <a:endParaRPr lang="en-US" altLang="zh-CN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650" y="2381250"/>
            <a:ext cx="711835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算法分析</a:t>
            </a:r>
            <a:r>
              <a:rPr kumimoji="1" lang="en-US" altLang="zh-CN" sz="2800" b="1" dirty="0"/>
              <a:t>---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各种语句和模块分析应遵循的规则 </a:t>
            </a:r>
            <a:r>
              <a:rPr kumimoji="1" lang="zh-CN" altLang="en-US" b="1" dirty="0"/>
              <a:t>：</a:t>
            </a:r>
            <a:endParaRPr kumimoji="1" lang="en-US" altLang="zh-CN" b="1" dirty="0"/>
          </a:p>
          <a:p>
            <a:pPr marL="914400" lvl="1" indent="-457200">
              <a:lnSpc>
                <a:spcPts val="3000"/>
              </a:lnSpc>
              <a:buFont typeface="+mj-ea"/>
              <a:buAutoNum type="circleNumDbPlain"/>
            </a:pPr>
            <a:r>
              <a:rPr lang="zh-CN" altLang="en-US" sz="2400" b="1" dirty="0"/>
              <a:t>赋值语句或读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写语句</a:t>
            </a:r>
            <a:r>
              <a:rPr lang="en-US" altLang="zh-CN" sz="2400" b="1" dirty="0"/>
              <a:t>:     </a:t>
            </a:r>
            <a:endParaRPr lang="en-US" altLang="zh-CN" sz="2400" b="1" dirty="0"/>
          </a:p>
          <a:p>
            <a:pPr marL="1200150" lvl="2" indent="-342900">
              <a:lnSpc>
                <a:spcPts val="3000"/>
              </a:lnSpc>
            </a:pPr>
            <a:r>
              <a:rPr lang="zh-CN" altLang="en-US" b="1" dirty="0"/>
              <a:t>运行时间通常取</a:t>
            </a:r>
            <a:r>
              <a:rPr lang="en-US" altLang="zh-CN" b="1" dirty="0"/>
              <a:t>O(1)</a:t>
            </a:r>
            <a:r>
              <a:rPr lang="zh-CN" altLang="en-US" b="1" dirty="0"/>
              <a:t>。有函数调用的除外，此时要考虑函数的执行时间。 </a:t>
            </a:r>
            <a:endParaRPr lang="en-US" altLang="zh-CN" b="1" dirty="0"/>
          </a:p>
          <a:p>
            <a:pPr marL="971550" lvl="1" indent="-514350">
              <a:lnSpc>
                <a:spcPts val="3000"/>
              </a:lnSpc>
              <a:buFont typeface="+mj-ea"/>
              <a:buAutoNum type="circleNumDbPlain"/>
            </a:pPr>
            <a:r>
              <a:rPr lang="zh-CN" altLang="en-US" b="1" dirty="0"/>
              <a:t>语句序列</a:t>
            </a:r>
            <a:r>
              <a:rPr lang="en-US" altLang="zh-CN" b="1" dirty="0"/>
              <a:t>: </a:t>
            </a:r>
            <a:endParaRPr lang="en-US" altLang="zh-CN" b="1" dirty="0"/>
          </a:p>
          <a:p>
            <a:pPr marL="1200150" lvl="2" indent="-342900">
              <a:lnSpc>
                <a:spcPts val="3000"/>
              </a:lnSpc>
            </a:pPr>
            <a:r>
              <a:rPr lang="zh-CN" altLang="en-US" b="1" dirty="0"/>
              <a:t>运行时间由加法规则确定，即该序列中耗时最多的语句的运行时间。 </a:t>
            </a:r>
            <a:endParaRPr lang="en-US" altLang="zh-CN" b="1" dirty="0"/>
          </a:p>
          <a:p>
            <a:pPr marL="971550" lvl="1" indent="-514350">
              <a:lnSpc>
                <a:spcPts val="3000"/>
              </a:lnSpc>
              <a:buFont typeface="+mj-ea"/>
              <a:buAutoNum type="circleNumDbPlain"/>
            </a:pPr>
            <a:r>
              <a:rPr lang="zh-CN" altLang="en-US" b="1" dirty="0"/>
              <a:t>分支语句： </a:t>
            </a:r>
            <a:endParaRPr lang="en-US" altLang="zh-CN" b="1" dirty="0"/>
          </a:p>
          <a:p>
            <a:pPr marL="1200150" lvl="2" indent="-342900">
              <a:lnSpc>
                <a:spcPts val="3000"/>
              </a:lnSpc>
            </a:pPr>
            <a:r>
              <a:rPr lang="zh-CN" altLang="en-US" b="1" dirty="0"/>
              <a:t>运行时间由条件测试（通常为</a:t>
            </a:r>
            <a:r>
              <a:rPr lang="en-US" altLang="zh-CN" b="1" dirty="0"/>
              <a:t>O(1)</a:t>
            </a:r>
            <a:r>
              <a:rPr lang="zh-CN" altLang="en-US" b="1" dirty="0"/>
              <a:t>）加上分支中运行时间最长的语句的运行时间 </a:t>
            </a:r>
            <a:endParaRPr lang="en-US" altLang="zh-CN" b="1" dirty="0"/>
          </a:p>
          <a:p>
            <a:pPr marL="457200" lvl="1" indent="0">
              <a:lnSpc>
                <a:spcPts val="3000"/>
              </a:lnSpc>
              <a:buNone/>
            </a:pPr>
            <a:endParaRPr lang="en-US" altLang="zh-CN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算法分析</a:t>
            </a:r>
            <a:r>
              <a:rPr kumimoji="1" lang="en-US" altLang="zh-CN" sz="2800" b="1" dirty="0"/>
              <a:t>---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各种语句和模块分析应遵循的规则 </a:t>
            </a:r>
            <a:r>
              <a:rPr kumimoji="1" lang="zh-CN" altLang="en-US" b="1" dirty="0"/>
              <a:t>：</a:t>
            </a:r>
            <a:endParaRPr kumimoji="1" lang="en-US" altLang="zh-CN" b="1" dirty="0"/>
          </a:p>
          <a:p>
            <a:pPr marL="971550" lvl="1" indent="-514350">
              <a:lnSpc>
                <a:spcPts val="3000"/>
              </a:lnSpc>
              <a:buFont typeface="+mj-ea"/>
              <a:buAutoNum type="circleNumDbPlain"/>
            </a:pPr>
            <a:r>
              <a:rPr lang="zh-CN" altLang="en-US" sz="3400" b="1" dirty="0">
                <a:solidFill>
                  <a:prstClr val="black"/>
                </a:solidFill>
              </a:rPr>
              <a:t>循环语句</a:t>
            </a:r>
            <a:r>
              <a:rPr lang="zh-CN" altLang="en-US" sz="3400" b="1" dirty="0"/>
              <a:t>： </a:t>
            </a:r>
            <a:endParaRPr lang="en-US" altLang="zh-CN" sz="3400" b="1" dirty="0"/>
          </a:p>
          <a:p>
            <a:pPr lvl="1">
              <a:lnSpc>
                <a:spcPts val="3000"/>
              </a:lnSpc>
            </a:pPr>
            <a:r>
              <a:rPr lang="zh-CN" altLang="en-US" b="1" dirty="0"/>
              <a:t>运行时间是对输入数据重复执行</a:t>
            </a:r>
            <a:r>
              <a:rPr lang="en-US" altLang="zh-CN" b="1" dirty="0">
                <a:solidFill>
                  <a:srgbClr val="FF0000"/>
                </a:solidFill>
              </a:rPr>
              <a:t>n</a:t>
            </a:r>
            <a:r>
              <a:rPr lang="zh-CN" altLang="en-US" b="1" dirty="0">
                <a:solidFill>
                  <a:srgbClr val="FF0000"/>
                </a:solidFill>
              </a:rPr>
              <a:t>次</a:t>
            </a:r>
            <a:r>
              <a:rPr lang="zh-CN" altLang="en-US" b="1" dirty="0"/>
              <a:t>循环体所耗时间的总和 。</a:t>
            </a:r>
            <a:endParaRPr lang="en-US" altLang="zh-CN" b="1" dirty="0"/>
          </a:p>
          <a:p>
            <a:pPr lvl="1">
              <a:lnSpc>
                <a:spcPts val="3000"/>
              </a:lnSpc>
            </a:pPr>
            <a:r>
              <a:rPr lang="zh-CN" altLang="en-US" b="1" dirty="0"/>
              <a:t>每次重复所耗时间包括两部分：一是循环体本身的运行时间；二是计算循环参数、测试循环终止条件和跳回循环头所耗时间。后一部分通常为</a:t>
            </a:r>
            <a:r>
              <a:rPr lang="en-US" altLang="zh-CN" b="1" dirty="0"/>
              <a:t>O(1)</a:t>
            </a:r>
            <a:r>
              <a:rPr lang="zh-CN" altLang="en-US" b="1" dirty="0"/>
              <a:t>。 </a:t>
            </a:r>
            <a:endParaRPr lang="en-US" altLang="zh-CN" b="1" dirty="0"/>
          </a:p>
          <a:p>
            <a:pPr lvl="1">
              <a:lnSpc>
                <a:spcPts val="3000"/>
              </a:lnSpc>
            </a:pPr>
            <a:r>
              <a:rPr lang="zh-CN" altLang="en-US" b="1" dirty="0"/>
              <a:t>通常，将常数因子忽略不计，可以认为上述时间是循环重复次数</a:t>
            </a:r>
            <a:r>
              <a:rPr lang="en-US" altLang="zh-CN" b="1" dirty="0"/>
              <a:t>n</a:t>
            </a:r>
            <a:r>
              <a:rPr lang="zh-CN" altLang="en-US" b="1" dirty="0"/>
              <a:t>和</a:t>
            </a:r>
            <a:r>
              <a:rPr lang="en-US" altLang="zh-CN" b="1" dirty="0"/>
              <a:t>m</a:t>
            </a:r>
            <a:r>
              <a:rPr lang="zh-CN" altLang="en-US" b="1" dirty="0"/>
              <a:t>的乘积，其中</a:t>
            </a:r>
            <a:r>
              <a:rPr lang="en-US" altLang="zh-CN" b="1" dirty="0"/>
              <a:t>m</a:t>
            </a:r>
            <a:r>
              <a:rPr lang="zh-CN" altLang="en-US" b="1" dirty="0"/>
              <a:t>是</a:t>
            </a:r>
            <a:r>
              <a:rPr lang="en-US" altLang="zh-CN" b="1" dirty="0"/>
              <a:t>n</a:t>
            </a:r>
            <a:r>
              <a:rPr lang="zh-CN" altLang="en-US" b="1" dirty="0"/>
              <a:t>次执行循环体当中时间消耗多的那一次的运行时间</a:t>
            </a:r>
            <a:r>
              <a:rPr lang="en-US" altLang="zh-CN" b="1" dirty="0"/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乘法规则</a:t>
            </a:r>
            <a:r>
              <a:rPr lang="en-US" altLang="zh-CN" b="1" dirty="0"/>
              <a:t>) 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lvl="1">
              <a:lnSpc>
                <a:spcPts val="3000"/>
              </a:lnSpc>
            </a:pPr>
            <a:r>
              <a:rPr lang="zh-CN" altLang="en-US" b="1" dirty="0"/>
              <a:t>当遇到多重循环时，要由内层循环向外层逐层分析。 因此，当分析外层循环的运行时间时，内层循环的运行时间应该是已知的。此时可以把内层循环看成是外层循环的循环体的一部分。</a:t>
            </a:r>
            <a:endParaRPr lang="en-US" altLang="zh-CN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1752600"/>
            <a:ext cx="523875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/>
              <a:t>算法分析</a:t>
            </a:r>
            <a:r>
              <a:rPr kumimoji="1" lang="en-US" altLang="zh-CN" sz="2800" b="1" dirty="0"/>
              <a:t>---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各种语句和模块分析应遵循的规则 </a:t>
            </a:r>
            <a:r>
              <a:rPr kumimoji="1" lang="zh-CN" altLang="en-US" b="1" dirty="0"/>
              <a:t>：</a:t>
            </a:r>
            <a:endParaRPr kumimoji="1" lang="en-US" altLang="zh-CN" b="1" dirty="0"/>
          </a:p>
          <a:p>
            <a:pPr marL="971550" lvl="1" indent="-514350">
              <a:lnSpc>
                <a:spcPts val="3000"/>
              </a:lnSpc>
              <a:buFont typeface="+mj-ea"/>
              <a:buAutoNum type="circleNumDbPlain"/>
            </a:pPr>
            <a:r>
              <a:rPr lang="zh-CN" altLang="en-US" sz="3400" b="1" dirty="0">
                <a:solidFill>
                  <a:prstClr val="black"/>
                </a:solidFill>
              </a:rPr>
              <a:t>函数调用语句</a:t>
            </a:r>
            <a:r>
              <a:rPr lang="en-US" altLang="zh-CN" sz="3400" b="1" dirty="0">
                <a:solidFill>
                  <a:prstClr val="black"/>
                </a:solidFill>
              </a:rPr>
              <a:t>:</a:t>
            </a:r>
            <a:r>
              <a:rPr lang="zh-CN" altLang="en-US" sz="3400" b="1" dirty="0"/>
              <a:t> </a:t>
            </a:r>
            <a:endParaRPr lang="en-US" altLang="zh-CN" sz="3400" b="1" dirty="0"/>
          </a:p>
          <a:p>
            <a:pPr marL="914400" lvl="1" indent="-457200">
              <a:lnSpc>
                <a:spcPts val="3800"/>
              </a:lnSpc>
              <a:buFont typeface="+mj-lt"/>
              <a:buAutoNum type="alphaLcParenR"/>
            </a:pPr>
            <a:r>
              <a:rPr lang="zh-CN" altLang="en-US" sz="2400" b="1" dirty="0"/>
              <a:t>若程序中只有非递归调用，则从没有函数调用的被调函数开始，计算所有这种函数的运行时间。然后考虑有函数调用的任意一个函数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，在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调用的全部函数的运行时间都计算完之后，即可开始计算</a:t>
            </a:r>
            <a:r>
              <a:rPr lang="en-US" altLang="zh-CN" sz="2400" b="1" dirty="0"/>
              <a:t>P</a:t>
            </a:r>
            <a:r>
              <a:rPr lang="zh-CN" altLang="en-US" sz="2400" b="1" dirty="0"/>
              <a:t>的运行时间。</a:t>
            </a:r>
            <a:endParaRPr lang="zh-CN" altLang="en-US" sz="2400" b="1" dirty="0"/>
          </a:p>
          <a:p>
            <a:pPr marL="914400" lvl="1" indent="-457200">
              <a:lnSpc>
                <a:spcPts val="3800"/>
              </a:lnSpc>
              <a:buFont typeface="+mj-lt"/>
              <a:buAutoNum type="alphaLcParenR"/>
            </a:pPr>
            <a:r>
              <a:rPr lang="zh-CN" altLang="en-US" sz="2400" b="1" dirty="0"/>
              <a:t>若程序中有递归调用，则令每个递归函数对应于一个未知的时间开销函数</a:t>
            </a:r>
            <a:r>
              <a:rPr lang="en-US" altLang="zh-CN" sz="2400" b="1" dirty="0"/>
              <a:t>T(n)</a:t>
            </a:r>
            <a:r>
              <a:rPr lang="zh-CN" altLang="en-US" sz="2400" b="1" dirty="0"/>
              <a:t>，其中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是该函数参数的大小，之后列出关于</a:t>
            </a:r>
            <a:r>
              <a:rPr lang="en-US" altLang="zh-CN" sz="2400" b="1" dirty="0"/>
              <a:t>T</a:t>
            </a:r>
            <a:r>
              <a:rPr lang="zh-CN" altLang="en-US" sz="2400" b="1" dirty="0"/>
              <a:t>的递归方程并求解之。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74902"/>
            <a:ext cx="457200" cy="434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>
                <a:solidFill>
                  <a:srgbClr val="FF0000"/>
                </a:solidFill>
              </a:rPr>
              <a:t>     </a:t>
            </a:r>
            <a:r>
              <a:rPr kumimoji="1" lang="zh-CN" altLang="en-US" sz="2800" b="1" dirty="0"/>
              <a:t>分析下述“</a:t>
            </a:r>
            <a:r>
              <a:rPr kumimoji="1" lang="zh-CN" altLang="en-US" sz="2800" b="1" dirty="0">
                <a:solidFill>
                  <a:srgbClr val="FF0000"/>
                </a:solidFill>
              </a:rPr>
              <a:t>选择</a:t>
            </a:r>
            <a:r>
              <a:rPr kumimoji="1" lang="zh-CN" altLang="en-US" sz="2800" b="1" dirty="0"/>
              <a:t>”排序程序的时间复杂性</a:t>
            </a:r>
            <a:r>
              <a:rPr kumimoji="1" lang="zh-CN" altLang="en-US" b="1" dirty="0"/>
              <a:t>：</a:t>
            </a:r>
            <a:endParaRPr kumimoji="1" lang="en-US" altLang="zh-CN" b="1" dirty="0"/>
          </a:p>
          <a:p>
            <a:pPr marL="457200" lvl="1" indent="0">
              <a:lnSpc>
                <a:spcPts val="3000"/>
              </a:lnSpc>
              <a:buNone/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155700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1190625" y="1905000"/>
            <a:ext cx="6762750" cy="4343400"/>
          </a:xfrm>
          <a:prstGeom prst="rect">
            <a:avLst/>
          </a:prstGeom>
          <a:noFill/>
          <a:ln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zh-CN" altLang="en-US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void 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select_sort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a[], 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int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n)</a:t>
            </a:r>
            <a:endParaRPr kumimoji="1" lang="en-US" altLang="zh-CN" sz="20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 { </a:t>
            </a:r>
            <a:r>
              <a:rPr kumimoji="1" lang="en-US" altLang="zh-CN" sz="1800" b="1" kern="1200" dirty="0">
                <a:solidFill>
                  <a:srgbClr val="00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//</a:t>
            </a:r>
            <a:r>
              <a:rPr kumimoji="1" lang="zh-CN" altLang="en-US" sz="1800" b="1" kern="1200" dirty="0">
                <a:solidFill>
                  <a:srgbClr val="00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将</a:t>
            </a:r>
            <a:r>
              <a:rPr kumimoji="1" lang="en-US" altLang="zh-CN" sz="1800" b="1" kern="1200" dirty="0">
                <a:solidFill>
                  <a:srgbClr val="00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a</a:t>
            </a:r>
            <a:r>
              <a:rPr kumimoji="1" lang="zh-CN" altLang="en-US" sz="1800" b="1" kern="1200" dirty="0">
                <a:solidFill>
                  <a:srgbClr val="0000FF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中整数序列重新排列成自小到大有序的整数序列</a:t>
            </a:r>
            <a:endParaRPr kumimoji="1" lang="en-US" altLang="zh-CN" sz="20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      for (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=0;i&lt;n-1;++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) {</a:t>
            </a:r>
            <a:endParaRPr kumimoji="1" lang="en-US" altLang="zh-CN" sz="20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          j=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;          </a:t>
            </a:r>
            <a:endParaRPr kumimoji="1" lang="en-US" altLang="zh-CN" sz="20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          for (k=i+1;k&lt;n;++k)  	</a:t>
            </a:r>
            <a:endParaRPr kumimoji="1" lang="en-US" altLang="zh-CN" sz="20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               if (a[k]&lt;a[j])  j=k; //O(n-i-1)</a:t>
            </a:r>
            <a:endParaRPr kumimoji="1" lang="en-US" altLang="zh-CN" sz="20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               if (j != 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) a[j]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宋体" panose="02010600030101010101" pitchFamily="2" charset="-122"/>
                <a:cs typeface="Courier New" panose="02070309020205020404" pitchFamily="49" charset="0"/>
              </a:rPr>
              <a:t>←→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a[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] ; //O(1)  </a:t>
            </a:r>
            <a:endParaRPr kumimoji="1" lang="en-US" altLang="zh-CN" sz="20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            }//sum(n-i-1) for 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=0…n-2</a:t>
            </a:r>
            <a:endParaRPr kumimoji="1" lang="en-US" altLang="zh-CN" sz="20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en-US" altLang="zh-CN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}//</a:t>
            </a:r>
            <a:r>
              <a:rPr kumimoji="1" lang="en-US" altLang="zh-CN" sz="2000" b="1" kern="1200" dirty="0" err="1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select_sort</a:t>
            </a:r>
            <a:r>
              <a:rPr kumimoji="1" lang="en-US" altLang="zh-CN" sz="14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zh-CN" altLang="en-US" sz="1400" dirty="0"/>
              <a:t>总的比较次数是</a:t>
            </a:r>
            <a:r>
              <a:rPr lang="en-US" altLang="zh-CN" sz="1400" dirty="0"/>
              <a:t>(n-1) + (n-2) + (n-3)….+1</a:t>
            </a:r>
            <a:r>
              <a:rPr lang="zh-CN" altLang="en-US" sz="1400" dirty="0"/>
              <a:t>等差序列之和</a:t>
            </a:r>
            <a:r>
              <a:rPr lang="en-US" altLang="zh-CN" sz="1400" dirty="0"/>
              <a:t>=n(n-1)/2</a:t>
            </a:r>
            <a:r>
              <a:rPr kumimoji="1" lang="en-US" altLang="zh-CN" sz="14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kumimoji="1" lang="en-US" altLang="zh-CN" sz="14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zh-CN" altLang="en-US" sz="2000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基本操作：</a:t>
            </a:r>
            <a:r>
              <a:rPr kumimoji="1" lang="zh-CN" altLang="en-US" sz="2000" b="1" kern="1200" dirty="0">
                <a:solidFill>
                  <a:srgbClr val="0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比较（数据元素）操作</a:t>
            </a:r>
            <a:endParaRPr kumimoji="1" lang="en-US" altLang="zh-CN" sz="2000" b="1" kern="1200" dirty="0">
              <a:solidFill>
                <a:srgbClr val="000000"/>
              </a:solidFill>
              <a:latin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algn="just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defRPr/>
            </a:pPr>
            <a:r>
              <a:rPr kumimoji="1" lang="zh-CN" altLang="en-US" sz="2000" b="1" kern="1200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49" charset="-122"/>
              </a:rPr>
              <a:t>时间复杂度：</a:t>
            </a:r>
            <a:r>
              <a:rPr kumimoji="1" lang="zh-CN" altLang="en-US" sz="2000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000" b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O(n</a:t>
            </a:r>
            <a:r>
              <a:rPr kumimoji="1" lang="en-US" altLang="zh-CN" sz="2000" b="1" kern="0" baseline="30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000" b="1" kern="0" dirty="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2000" b="1" kern="1200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ts val="3200"/>
              </a:lnSpc>
            </a:pPr>
            <a:r>
              <a:rPr kumimoji="1" lang="zh-CN" altLang="en-US" sz="2800" b="1" dirty="0">
                <a:solidFill>
                  <a:srgbClr val="FF0000"/>
                </a:solidFill>
              </a:rPr>
              <a:t>     </a:t>
            </a:r>
            <a:r>
              <a:rPr kumimoji="1" lang="zh-CN" altLang="en-US" sz="2800" b="1" dirty="0"/>
              <a:t>编写求</a:t>
            </a:r>
            <a:r>
              <a:rPr kumimoji="1" lang="en-US" altLang="zh-CN" sz="2800" b="1" dirty="0"/>
              <a:t>n!</a:t>
            </a:r>
            <a:r>
              <a:rPr kumimoji="1" lang="zh-CN" altLang="en-US" sz="2800" b="1" dirty="0"/>
              <a:t>的程序，并分析其时间复杂性</a:t>
            </a:r>
            <a:r>
              <a:rPr kumimoji="1" lang="zh-CN" altLang="en-US" b="1" dirty="0"/>
              <a:t>：</a:t>
            </a:r>
            <a:endParaRPr kumimoji="1" lang="en-US" altLang="zh-CN" b="1" dirty="0"/>
          </a:p>
          <a:p>
            <a:pPr marL="457200" lvl="1" indent="0">
              <a:lnSpc>
                <a:spcPts val="3000"/>
              </a:lnSpc>
              <a:buNone/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155700"/>
            <a:ext cx="1158875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50" y="1899893"/>
            <a:ext cx="3510719" cy="2443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15510"/>
            <a:ext cx="3771900" cy="1445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699" y="1899893"/>
            <a:ext cx="3159651" cy="435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en-US" altLang="zh-CN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1.4   </a:t>
            </a:r>
            <a:r>
              <a:rPr kumimoji="1" lang="zh-CN" altLang="en-US" sz="3200" b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算法和算法分析</a:t>
            </a:r>
            <a:endParaRPr kumimoji="1" lang="zh-CN" altLang="en-US" sz="3200" b="1" dirty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ts val="3200"/>
              </a:lnSpc>
            </a:pPr>
            <a:r>
              <a:rPr kumimoji="1" lang="zh-CN" altLang="en-US" sz="4000" b="1" dirty="0"/>
              <a:t>算法分析</a:t>
            </a:r>
            <a:r>
              <a:rPr kumimoji="1" lang="en-US" altLang="zh-CN" sz="4000" b="1" dirty="0"/>
              <a:t>---</a:t>
            </a:r>
            <a:r>
              <a:rPr kumimoji="1" lang="zh-CN" altLang="en-US" sz="4000" b="1" dirty="0">
                <a:solidFill>
                  <a:srgbClr val="FF0000"/>
                </a:solidFill>
              </a:rPr>
              <a:t>空间复杂性</a:t>
            </a:r>
            <a:endParaRPr kumimoji="1" lang="en-US" altLang="zh-CN" sz="4000" b="1" dirty="0"/>
          </a:p>
          <a:p>
            <a:pPr lvl="1">
              <a:lnSpc>
                <a:spcPts val="3200"/>
              </a:lnSpc>
            </a:pPr>
            <a:r>
              <a:rPr kumimoji="1" lang="zh-CN" altLang="en-US" b="1" dirty="0"/>
              <a:t>算法的空间复杂性是指算法在执行过程中的</a:t>
            </a:r>
            <a:r>
              <a:rPr kumimoji="1" lang="zh-CN" altLang="en-US" b="1" dirty="0">
                <a:solidFill>
                  <a:srgbClr val="FF0000"/>
                </a:solidFill>
              </a:rPr>
              <a:t>存储量</a:t>
            </a:r>
            <a:r>
              <a:rPr kumimoji="1" lang="zh-CN" altLang="en-US" b="1" dirty="0"/>
              <a:t>需求</a:t>
            </a:r>
            <a:endParaRPr kumimoji="1" lang="en-US" altLang="zh-CN" b="1" dirty="0"/>
          </a:p>
          <a:p>
            <a:pPr lvl="1">
              <a:lnSpc>
                <a:spcPts val="3200"/>
              </a:lnSpc>
            </a:pPr>
            <a:r>
              <a:rPr kumimoji="1" lang="zh-CN" altLang="en-US" b="1" dirty="0"/>
              <a:t>一个算法的存储量需求除了存放算法本身所有的指令、 常数变量和输入数据外，还包括对数据进行操作的工 作单元和存储实现计算所需信息的</a:t>
            </a:r>
            <a:r>
              <a:rPr kumimoji="1" lang="zh-CN" altLang="en-US" b="1" dirty="0">
                <a:solidFill>
                  <a:srgbClr val="FF0000"/>
                </a:solidFill>
              </a:rPr>
              <a:t>辅助空间 </a:t>
            </a:r>
            <a:endParaRPr kumimoji="1" lang="en-US" altLang="zh-CN" b="1" dirty="0">
              <a:solidFill>
                <a:srgbClr val="FF0000"/>
              </a:solidFill>
            </a:endParaRPr>
          </a:p>
          <a:p>
            <a:pPr lvl="1">
              <a:lnSpc>
                <a:spcPts val="3200"/>
              </a:lnSpc>
            </a:pPr>
            <a:r>
              <a:rPr kumimoji="1" lang="zh-CN" altLang="en-US" b="1" dirty="0"/>
              <a:t>算法的存储量需求与</a:t>
            </a:r>
            <a:r>
              <a:rPr kumimoji="1" lang="zh-CN" altLang="en-US" b="1" dirty="0">
                <a:solidFill>
                  <a:srgbClr val="FF0000"/>
                </a:solidFill>
              </a:rPr>
              <a:t>输入的规模</a:t>
            </a:r>
            <a:r>
              <a:rPr kumimoji="1" lang="zh-CN" altLang="en-US" b="1" dirty="0"/>
              <a:t>、</a:t>
            </a:r>
            <a:r>
              <a:rPr kumimoji="1" lang="zh-CN" altLang="en-US" b="1" dirty="0">
                <a:solidFill>
                  <a:srgbClr val="FF0000"/>
                </a:solidFill>
              </a:rPr>
              <a:t>表示方式</a:t>
            </a:r>
            <a:r>
              <a:rPr kumimoji="1" lang="zh-CN" altLang="en-US" b="1" dirty="0"/>
              <a:t>、算法采用的</a:t>
            </a:r>
            <a:r>
              <a:rPr kumimoji="1" lang="zh-CN" altLang="en-US" b="1" dirty="0">
                <a:solidFill>
                  <a:srgbClr val="FF0000"/>
                </a:solidFill>
              </a:rPr>
              <a:t>数据结构</a:t>
            </a:r>
            <a:r>
              <a:rPr kumimoji="1" lang="zh-CN" altLang="en-US" b="1" dirty="0"/>
              <a:t>、</a:t>
            </a:r>
            <a:r>
              <a:rPr kumimoji="1" lang="zh-CN" altLang="en-US" b="1" dirty="0">
                <a:solidFill>
                  <a:srgbClr val="FF0000"/>
                </a:solidFill>
              </a:rPr>
              <a:t>算法的设计</a:t>
            </a:r>
            <a:r>
              <a:rPr kumimoji="1" lang="zh-CN" altLang="en-US" b="1" dirty="0"/>
              <a:t>以及</a:t>
            </a:r>
            <a:r>
              <a:rPr kumimoji="1" lang="zh-CN" altLang="en-US" b="1" dirty="0">
                <a:solidFill>
                  <a:srgbClr val="FF0000"/>
                </a:solidFill>
              </a:rPr>
              <a:t>输入数据的性质</a:t>
            </a:r>
            <a:r>
              <a:rPr kumimoji="1" lang="zh-CN" altLang="en-US" b="1" dirty="0"/>
              <a:t>有关 </a:t>
            </a:r>
            <a:endParaRPr kumimoji="1" lang="en-US" altLang="zh-CN" b="1" dirty="0"/>
          </a:p>
          <a:p>
            <a:pPr lvl="1">
              <a:lnSpc>
                <a:spcPts val="3200"/>
              </a:lnSpc>
            </a:pPr>
            <a:r>
              <a:rPr kumimoji="1" lang="zh-CN" altLang="en-US" b="1" dirty="0"/>
              <a:t>算法的执行的不同时刻，其空间需求可能是不同的 </a:t>
            </a:r>
            <a:endParaRPr kumimoji="1" lang="en-US" altLang="zh-CN" b="1" dirty="0"/>
          </a:p>
          <a:p>
            <a:pPr lvl="1">
              <a:lnSpc>
                <a:spcPts val="3200"/>
              </a:lnSpc>
            </a:pPr>
            <a:r>
              <a:rPr kumimoji="1" lang="zh-CN" altLang="en-US" b="1" dirty="0"/>
              <a:t>算法的</a:t>
            </a:r>
            <a:r>
              <a:rPr kumimoji="1" lang="zh-CN" altLang="en-US" b="1" dirty="0">
                <a:solidFill>
                  <a:srgbClr val="FF0000"/>
                </a:solidFill>
              </a:rPr>
              <a:t>空间复杂性</a:t>
            </a:r>
            <a:r>
              <a:rPr kumimoji="1" lang="zh-CN" altLang="en-US" b="1" dirty="0"/>
              <a:t>是指算法在执行过程中的</a:t>
            </a:r>
            <a:r>
              <a:rPr kumimoji="1" lang="zh-CN" altLang="en-US" b="1" dirty="0">
                <a:solidFill>
                  <a:srgbClr val="FF0000"/>
                </a:solidFill>
              </a:rPr>
              <a:t>最大存储量</a:t>
            </a:r>
            <a:r>
              <a:rPr kumimoji="1" lang="zh-CN" altLang="en-US" b="1" dirty="0"/>
              <a:t>需求</a:t>
            </a:r>
            <a:endParaRPr kumimoji="1" lang="en-US" altLang="zh-CN" b="1" dirty="0"/>
          </a:p>
          <a:p>
            <a:pPr lvl="1">
              <a:lnSpc>
                <a:spcPts val="3200"/>
              </a:lnSpc>
            </a:pPr>
            <a:r>
              <a:rPr kumimoji="1" lang="zh-CN" altLang="en-US" b="1" dirty="0"/>
              <a:t>空间复杂性的渐近表示</a:t>
            </a:r>
            <a:r>
              <a:rPr kumimoji="1" lang="en-US" altLang="zh-CN" b="1" dirty="0"/>
              <a:t>----</a:t>
            </a:r>
            <a:r>
              <a:rPr kumimoji="1" lang="zh-CN" altLang="en-US" b="1" dirty="0"/>
              <a:t>空间复杂度</a:t>
            </a:r>
            <a:endParaRPr kumimoji="1" lang="en-US" altLang="zh-CN" b="1" dirty="0"/>
          </a:p>
          <a:p>
            <a:pPr marL="457200" lvl="1" indent="0">
              <a:lnSpc>
                <a:spcPts val="3200"/>
              </a:lnSpc>
              <a:buNone/>
            </a:pPr>
            <a:r>
              <a:rPr kumimoji="1" lang="zh-CN" altLang="en-US" b="1" dirty="0"/>
              <a:t>  </a:t>
            </a: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867400"/>
            <a:ext cx="5562600" cy="305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fontAlgn="base">
              <a:lnSpc>
                <a:spcPct val="150000"/>
              </a:lnSpc>
              <a:spcBef>
                <a:spcPct val="5000"/>
              </a:spcBef>
              <a:spcAft>
                <a:spcPct val="5000"/>
              </a:spcAft>
            </a:pPr>
            <a:r>
              <a:rPr kumimoji="1" lang="zh-CN" altLang="en-US" sz="40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Courier New" panose="02070309020205020404" pitchFamily="49" charset="0"/>
              </a:rPr>
              <a:t>本章小结</a:t>
            </a:r>
            <a:endParaRPr kumimoji="1" lang="zh-CN" altLang="en-US" sz="40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/>
          </a:bodyPr>
          <a:lstStyle/>
          <a:p>
            <a:pPr marL="457200" lvl="1" indent="0">
              <a:lnSpc>
                <a:spcPts val="3000"/>
              </a:lnSpc>
              <a:buNone/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  <a:p>
            <a:pPr lvl="1">
              <a:lnSpc>
                <a:spcPts val="3000"/>
              </a:lnSpc>
            </a:pPr>
            <a:endParaRPr lang="en-US" altLang="zh-CN" sz="2400" b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0F3-2F15-4643-BD88-DA7D2CC1FAEE}" type="datetime1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79646">
                    <a:lumMod val="75000"/>
                  </a:srgbClr>
                </a:solidFill>
              </a:rPr>
              <a:t>哈工大（深圳）计算机 </a:t>
            </a:r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3EC4C-CFD8-4F45-A0A2-30028C1F73DB}" type="slidenum">
              <a:rPr lang="zh-CN" altLang="en-US" b="1">
                <a:solidFill>
                  <a:srgbClr val="F79646">
                    <a:lumMod val="75000"/>
                  </a:srgbClr>
                </a:solidFill>
              </a:rPr>
            </a:fld>
            <a:endParaRPr lang="zh-CN" altLang="en-US" b="1" dirty="0">
              <a:solidFill>
                <a:srgbClr val="F79646">
                  <a:lumMod val="75000"/>
                </a:srgbClr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57200" y="274983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457200" y="248478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页脚占位符 4"/>
          <p:cNvSpPr txBox="1"/>
          <p:nvPr/>
        </p:nvSpPr>
        <p:spPr>
          <a:xfrm>
            <a:off x="0" y="-29817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rgbClr val="00B0F0"/>
                </a:solidFill>
              </a:rPr>
              <a:t>第</a:t>
            </a:r>
            <a:r>
              <a:rPr lang="en-US" altLang="zh-CN" b="1" dirty="0">
                <a:solidFill>
                  <a:srgbClr val="00B0F0"/>
                </a:solidFill>
              </a:rPr>
              <a:t>1</a:t>
            </a:r>
            <a:r>
              <a:rPr lang="zh-CN" altLang="en-US" b="1" dirty="0">
                <a:solidFill>
                  <a:srgbClr val="00B0F0"/>
                </a:solidFill>
              </a:rPr>
              <a:t>章 绪论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  <p:pic>
        <p:nvPicPr>
          <p:cNvPr id="2049" name="Picture 1" descr="C:\Users\Haijun\AppData\Roaming\Tencent\Users\2968516474\QQ\WinTemp\RichOle\O5)[OOM[}$H7(6{A~41GY`Q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137" y="1"/>
            <a:ext cx="970863" cy="83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接连接符 11"/>
          <p:cNvCxnSpPr/>
          <p:nvPr/>
        </p:nvCxnSpPr>
        <p:spPr>
          <a:xfrm>
            <a:off x="457200" y="6324600"/>
            <a:ext cx="8229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39750" y="1300163"/>
            <a:ext cx="8175625" cy="4795837"/>
          </a:xfrm>
          <a:prstGeom prst="rect">
            <a:avLst/>
          </a:prstGeom>
          <a:noFill/>
          <a:ln w="38100" cmpd="dbl">
            <a:solidFill>
              <a:srgbClr val="0000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9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-2463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 2" panose="05020102010507070707" pitchFamily="18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3pPr>
            <a:lvl4pPr marL="11874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4pPr>
            <a:lvl5pPr marL="146240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5pPr>
            <a:lvl6pPr marL="19196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6pPr>
            <a:lvl7pPr marL="23768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7pPr>
            <a:lvl8pPr marL="28340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8pPr>
            <a:lvl9pPr marL="3291205" indent="-209550" algn="l" rtl="0" fontAlgn="base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anose="02010509060101010101" pitchFamily="49" charset="-122"/>
              </a:rPr>
              <a:t>数据结构的地位；</a:t>
            </a:r>
            <a:endParaRPr lang="en-US" altLang="zh-CN" kern="0" dirty="0">
              <a:ea typeface="隶书" panose="02010509060101010101" pitchFamily="49" charset="-122"/>
            </a:endParaRPr>
          </a:p>
          <a:p>
            <a:pPr marL="457200" indent="-45720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anose="02010509060101010101" pitchFamily="49" charset="-122"/>
              </a:rPr>
              <a:t>数据结构和算法等基本概念；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457200" indent="-45720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anose="02010509060101010101" pitchFamily="49" charset="-122"/>
              </a:rPr>
              <a:t>数据的逻辑结构：线性结构和非线性结构；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457200" indent="-45720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anose="02010509060101010101" pitchFamily="49" charset="-122"/>
              </a:rPr>
              <a:t>数据的存储结构可以用以下存储方法；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850900" lvl="1" indent="-457200" eaLnBrk="1" hangingPunct="1">
              <a:lnSpc>
                <a:spcPct val="80000"/>
              </a:lnSpc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kern="0" dirty="0">
                <a:ea typeface="隶书" panose="02010509060101010101" pitchFamily="49" charset="-122"/>
              </a:rPr>
              <a:t>   顺序存储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850900" lvl="1" indent="-457200" eaLnBrk="1" hangingPunct="1">
              <a:lnSpc>
                <a:spcPct val="80000"/>
              </a:lnSpc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kern="0" dirty="0">
                <a:ea typeface="隶书" panose="02010509060101010101" pitchFamily="49" charset="-122"/>
              </a:rPr>
              <a:t>   链式存储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850900" lvl="1" indent="-457200" eaLnBrk="1" hangingPunct="1">
              <a:lnSpc>
                <a:spcPct val="80000"/>
              </a:lnSpc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kern="0" dirty="0">
                <a:ea typeface="隶书" panose="02010509060101010101" pitchFamily="49" charset="-122"/>
              </a:rPr>
              <a:t>  索引存储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850900" lvl="1" indent="-457200" eaLnBrk="1" hangingPunct="1">
              <a:lnSpc>
                <a:spcPct val="80000"/>
              </a:lnSpc>
              <a:buClr>
                <a:srgbClr val="0000FF"/>
              </a:buClr>
              <a:buFont typeface="Arial" panose="020B0604020202020204" pitchFamily="34" charset="0"/>
              <a:buChar char="•"/>
            </a:pPr>
            <a:r>
              <a:rPr lang="zh-CN" altLang="en-US" kern="0" dirty="0">
                <a:ea typeface="隶书" panose="02010509060101010101" pitchFamily="49" charset="-122"/>
              </a:rPr>
              <a:t>   散列存储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457200" indent="-45720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anose="02010509060101010101" pitchFamily="49" charset="-122"/>
              </a:rPr>
              <a:t>抽象数据类型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457200" indent="-45720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anose="02010509060101010101" pitchFamily="49" charset="-122"/>
              </a:rPr>
              <a:t>算法的特性</a:t>
            </a:r>
            <a:endParaRPr lang="zh-CN" altLang="en-US" kern="0" dirty="0">
              <a:ea typeface="隶书" panose="02010509060101010101" pitchFamily="49" charset="-122"/>
            </a:endParaRPr>
          </a:p>
          <a:p>
            <a:pPr marL="457200" indent="-45720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ea typeface="隶书" panose="02010509060101010101" pitchFamily="49" charset="-122"/>
              </a:rPr>
              <a:t>算法的复杂度基本分析  </a:t>
            </a:r>
            <a:endParaRPr lang="zh-CN" altLang="en-US" kern="0" dirty="0"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11764</Words>
  <Application>WPS 演示</Application>
  <PresentationFormat>全屏显示(4:3)</PresentationFormat>
  <Paragraphs>1535</Paragraphs>
  <Slides>68</Slides>
  <Notes>67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4" baseType="lpstr">
      <vt:lpstr>Arial</vt:lpstr>
      <vt:lpstr>宋体</vt:lpstr>
      <vt:lpstr>Wingdings</vt:lpstr>
      <vt:lpstr>Wingdings 2</vt:lpstr>
      <vt:lpstr>Constantia</vt:lpstr>
      <vt:lpstr>Calibri</vt:lpstr>
      <vt:lpstr>微软雅黑</vt:lpstr>
      <vt:lpstr>Arial Unicode MS</vt:lpstr>
      <vt:lpstr>隶书</vt:lpstr>
      <vt:lpstr>Tahoma</vt:lpstr>
      <vt:lpstr>楷体_GB2312</vt:lpstr>
      <vt:lpstr>新宋体</vt:lpstr>
      <vt:lpstr>Times New Roman</vt:lpstr>
      <vt:lpstr>华文楷体</vt:lpstr>
      <vt:lpstr>Courier New</vt:lpstr>
      <vt:lpstr>Office 主题​​</vt:lpstr>
      <vt:lpstr>数据结构与算法 Data Structures &amp; Algorithms</vt:lpstr>
      <vt:lpstr>课程安排</vt:lpstr>
      <vt:lpstr>教材选择</vt:lpstr>
      <vt:lpstr>课程地位</vt:lpstr>
      <vt:lpstr>教学内容</vt:lpstr>
      <vt:lpstr>教学内容</vt:lpstr>
      <vt:lpstr>课程一览</vt:lpstr>
      <vt:lpstr>学习目标</vt:lpstr>
      <vt:lpstr>第1章 绪论</vt:lpstr>
      <vt:lpstr>本章重点与难点</vt:lpstr>
      <vt:lpstr>第一章 绪论</vt:lpstr>
      <vt:lpstr>第一章 绪论</vt:lpstr>
      <vt:lpstr>1.1   数据结构及其讨论范畴</vt:lpstr>
      <vt:lpstr>1.1   数据结构及其讨论范畴</vt:lpstr>
      <vt:lpstr>1.1   数据结构及其讨论范畴</vt:lpstr>
      <vt:lpstr>1.1   数据结构及其讨论范畴</vt:lpstr>
      <vt:lpstr>1.1   数据结构及其讨论范畴</vt:lpstr>
      <vt:lpstr>1.1   数据结构及其讨论范畴</vt:lpstr>
      <vt:lpstr>1.1   数据结构及其讨论范畴</vt:lpstr>
      <vt:lpstr>1.1   数据结构及其讨论范畴</vt:lpstr>
      <vt:lpstr>1.1   数据结构及其讨论范畴</vt:lpstr>
      <vt:lpstr>1.1   数据结构及其讨论范畴</vt:lpstr>
      <vt:lpstr>1.1   数据结构及其讨论范畴</vt:lpstr>
      <vt:lpstr>第一章 绪论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1.2   基本概念和术语</vt:lpstr>
      <vt:lpstr>第一章 绪论</vt:lpstr>
      <vt:lpstr>1.3   抽象数据类型的表示与实现</vt:lpstr>
      <vt:lpstr>1.3   抽象数据类型的表示与实现</vt:lpstr>
      <vt:lpstr>1.3   抽象数据类型的表示与实现</vt:lpstr>
      <vt:lpstr>1.3   抽象数据类型的表示与实现</vt:lpstr>
      <vt:lpstr>1.3   抽象数据类型的表示与实现</vt:lpstr>
      <vt:lpstr>1.3   抽象数据类型的表示与实现</vt:lpstr>
      <vt:lpstr>第一章 绪论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1.4   算法和算法分析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Data Structures</dc:title>
  <dc:creator>Haijun ZHANG</dc:creator>
  <cp:lastModifiedBy>大宇哥</cp:lastModifiedBy>
  <cp:revision>246</cp:revision>
  <cp:lastPrinted>2018-04-09T04:00:00Z</cp:lastPrinted>
  <dcterms:created xsi:type="dcterms:W3CDTF">2017-08-09T05:01:00Z</dcterms:created>
  <dcterms:modified xsi:type="dcterms:W3CDTF">2025-03-13T12:23:45Z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5361287596194066B53DEFA35B73FF48_12</vt:lpwstr>
  </property>
  <property fmtid="{D5CDD505-2E9C-101B-9397-08002B2CF9AE}" pid="3" name="KSOProductBuildVer">
    <vt:lpwstr>2052-12.1.0.20305</vt:lpwstr>
  </property>
</Properties>
</file>