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38"/>
  </p:handoutMasterIdLst>
  <p:sldIdLst>
    <p:sldId id="266" r:id="rId3"/>
    <p:sldId id="267" r:id="rId5"/>
    <p:sldId id="268" r:id="rId6"/>
    <p:sldId id="494" r:id="rId7"/>
    <p:sldId id="270" r:id="rId8"/>
    <p:sldId id="495" r:id="rId9"/>
    <p:sldId id="497" r:id="rId10"/>
    <p:sldId id="498" r:id="rId11"/>
    <p:sldId id="499" r:id="rId12"/>
    <p:sldId id="500" r:id="rId13"/>
    <p:sldId id="501" r:id="rId14"/>
    <p:sldId id="502" r:id="rId15"/>
    <p:sldId id="503" r:id="rId16"/>
    <p:sldId id="614" r:id="rId17"/>
    <p:sldId id="504" r:id="rId18"/>
    <p:sldId id="506" r:id="rId19"/>
    <p:sldId id="507" r:id="rId20"/>
    <p:sldId id="505" r:id="rId21"/>
    <p:sldId id="508" r:id="rId22"/>
    <p:sldId id="509" r:id="rId23"/>
    <p:sldId id="510" r:id="rId24"/>
    <p:sldId id="511" r:id="rId25"/>
    <p:sldId id="512" r:id="rId26"/>
    <p:sldId id="513" r:id="rId27"/>
    <p:sldId id="514" r:id="rId28"/>
    <p:sldId id="515" r:id="rId29"/>
    <p:sldId id="516" r:id="rId30"/>
    <p:sldId id="517" r:id="rId31"/>
    <p:sldId id="518" r:id="rId32"/>
    <p:sldId id="520" r:id="rId33"/>
    <p:sldId id="519" r:id="rId34"/>
    <p:sldId id="521" r:id="rId35"/>
    <p:sldId id="522" r:id="rId36"/>
    <p:sldId id="523" r:id="rId37"/>
    <p:sldId id="524" r:id="rId38"/>
    <p:sldId id="645" r:id="rId39"/>
    <p:sldId id="644" r:id="rId40"/>
    <p:sldId id="526" r:id="rId41"/>
    <p:sldId id="527" r:id="rId42"/>
    <p:sldId id="528" r:id="rId43"/>
    <p:sldId id="529" r:id="rId44"/>
    <p:sldId id="530" r:id="rId45"/>
    <p:sldId id="531" r:id="rId46"/>
    <p:sldId id="615" r:id="rId47"/>
    <p:sldId id="616" r:id="rId48"/>
    <p:sldId id="617" r:id="rId49"/>
    <p:sldId id="618" r:id="rId50"/>
    <p:sldId id="619" r:id="rId51"/>
    <p:sldId id="532" r:id="rId52"/>
    <p:sldId id="533" r:id="rId53"/>
    <p:sldId id="534" r:id="rId54"/>
    <p:sldId id="535" r:id="rId55"/>
    <p:sldId id="537" r:id="rId56"/>
    <p:sldId id="538" r:id="rId57"/>
    <p:sldId id="539" r:id="rId58"/>
    <p:sldId id="542" r:id="rId59"/>
    <p:sldId id="543" r:id="rId60"/>
    <p:sldId id="540" r:id="rId61"/>
    <p:sldId id="541" r:id="rId62"/>
    <p:sldId id="544" r:id="rId63"/>
    <p:sldId id="545" r:id="rId64"/>
    <p:sldId id="546" r:id="rId65"/>
    <p:sldId id="547" r:id="rId66"/>
    <p:sldId id="548" r:id="rId67"/>
    <p:sldId id="549" r:id="rId68"/>
    <p:sldId id="550" r:id="rId69"/>
    <p:sldId id="551" r:id="rId70"/>
    <p:sldId id="552" r:id="rId71"/>
    <p:sldId id="536" r:id="rId72"/>
    <p:sldId id="553" r:id="rId73"/>
    <p:sldId id="555" r:id="rId74"/>
    <p:sldId id="556" r:id="rId75"/>
    <p:sldId id="557" r:id="rId76"/>
    <p:sldId id="559" r:id="rId77"/>
    <p:sldId id="560" r:id="rId78"/>
    <p:sldId id="558" r:id="rId79"/>
    <p:sldId id="561" r:id="rId80"/>
    <p:sldId id="620" r:id="rId81"/>
    <p:sldId id="562" r:id="rId82"/>
    <p:sldId id="563" r:id="rId83"/>
    <p:sldId id="564" r:id="rId84"/>
    <p:sldId id="646" r:id="rId85"/>
    <p:sldId id="565" r:id="rId86"/>
    <p:sldId id="566" r:id="rId87"/>
    <p:sldId id="567" r:id="rId88"/>
    <p:sldId id="568" r:id="rId89"/>
    <p:sldId id="569" r:id="rId90"/>
    <p:sldId id="622" r:id="rId91"/>
    <p:sldId id="570" r:id="rId92"/>
    <p:sldId id="571" r:id="rId93"/>
    <p:sldId id="572" r:id="rId94"/>
    <p:sldId id="647" r:id="rId95"/>
    <p:sldId id="648" r:id="rId96"/>
    <p:sldId id="573" r:id="rId97"/>
    <p:sldId id="574" r:id="rId98"/>
    <p:sldId id="575" r:id="rId99"/>
    <p:sldId id="576" r:id="rId100"/>
    <p:sldId id="577" r:id="rId101"/>
    <p:sldId id="578" r:id="rId102"/>
    <p:sldId id="579" r:id="rId103"/>
    <p:sldId id="580" r:id="rId104"/>
    <p:sldId id="581" r:id="rId105"/>
    <p:sldId id="584" r:id="rId106"/>
    <p:sldId id="582" r:id="rId107"/>
    <p:sldId id="585" r:id="rId108"/>
    <p:sldId id="586" r:id="rId109"/>
    <p:sldId id="587" r:id="rId110"/>
    <p:sldId id="588" r:id="rId111"/>
    <p:sldId id="589" r:id="rId112"/>
    <p:sldId id="590" r:id="rId113"/>
    <p:sldId id="591" r:id="rId114"/>
    <p:sldId id="592" r:id="rId115"/>
    <p:sldId id="593" r:id="rId116"/>
    <p:sldId id="594" r:id="rId117"/>
    <p:sldId id="597" r:id="rId118"/>
    <p:sldId id="595" r:id="rId119"/>
    <p:sldId id="624" r:id="rId120"/>
    <p:sldId id="598" r:id="rId121"/>
    <p:sldId id="596" r:id="rId122"/>
    <p:sldId id="599" r:id="rId123"/>
    <p:sldId id="600" r:id="rId124"/>
    <p:sldId id="601" r:id="rId125"/>
    <p:sldId id="602" r:id="rId126"/>
    <p:sldId id="603" r:id="rId127"/>
    <p:sldId id="604" r:id="rId128"/>
    <p:sldId id="605" r:id="rId129"/>
    <p:sldId id="606" r:id="rId130"/>
    <p:sldId id="607" r:id="rId131"/>
    <p:sldId id="608" r:id="rId132"/>
    <p:sldId id="609" r:id="rId133"/>
    <p:sldId id="610" r:id="rId134"/>
    <p:sldId id="613" r:id="rId135"/>
    <p:sldId id="611" r:id="rId136"/>
    <p:sldId id="326" r:id="rId137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06BA"/>
    <a:srgbClr val="1801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77460" autoAdjust="0"/>
  </p:normalViewPr>
  <p:slideViewPr>
    <p:cSldViewPr showGuides="1">
      <p:cViewPr varScale="1">
        <p:scale>
          <a:sx n="68" d="100"/>
          <a:sy n="68" d="100"/>
        </p:scale>
        <p:origin x="1486" y="3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6.xml"/><Relationship Id="rId98" Type="http://schemas.openxmlformats.org/officeDocument/2006/relationships/slide" Target="slides/slide95.xml"/><Relationship Id="rId97" Type="http://schemas.openxmlformats.org/officeDocument/2006/relationships/slide" Target="slides/slide94.xml"/><Relationship Id="rId96" Type="http://schemas.openxmlformats.org/officeDocument/2006/relationships/slide" Target="slides/slide93.xml"/><Relationship Id="rId95" Type="http://schemas.openxmlformats.org/officeDocument/2006/relationships/slide" Target="slides/slide92.xml"/><Relationship Id="rId94" Type="http://schemas.openxmlformats.org/officeDocument/2006/relationships/slide" Target="slides/slide91.xml"/><Relationship Id="rId93" Type="http://schemas.openxmlformats.org/officeDocument/2006/relationships/slide" Target="slides/slide90.xml"/><Relationship Id="rId92" Type="http://schemas.openxmlformats.org/officeDocument/2006/relationships/slide" Target="slides/slide89.xml"/><Relationship Id="rId91" Type="http://schemas.openxmlformats.org/officeDocument/2006/relationships/slide" Target="slides/slide88.xml"/><Relationship Id="rId90" Type="http://schemas.openxmlformats.org/officeDocument/2006/relationships/slide" Target="slides/slide87.xml"/><Relationship Id="rId9" Type="http://schemas.openxmlformats.org/officeDocument/2006/relationships/slide" Target="slides/slide6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1" Type="http://schemas.openxmlformats.org/officeDocument/2006/relationships/tableStyles" Target="tableStyles.xml"/><Relationship Id="rId140" Type="http://schemas.openxmlformats.org/officeDocument/2006/relationships/viewProps" Target="viewProps.xml"/><Relationship Id="rId14" Type="http://schemas.openxmlformats.org/officeDocument/2006/relationships/slide" Target="slides/slide11.xml"/><Relationship Id="rId139" Type="http://schemas.openxmlformats.org/officeDocument/2006/relationships/presProps" Target="presProps.xml"/><Relationship Id="rId138" Type="http://schemas.openxmlformats.org/officeDocument/2006/relationships/handoutMaster" Target="handoutMasters/handoutMaster1.xml"/><Relationship Id="rId137" Type="http://schemas.openxmlformats.org/officeDocument/2006/relationships/slide" Target="slides/slide134.xml"/><Relationship Id="rId136" Type="http://schemas.openxmlformats.org/officeDocument/2006/relationships/slide" Target="slides/slide133.xml"/><Relationship Id="rId135" Type="http://schemas.openxmlformats.org/officeDocument/2006/relationships/slide" Target="slides/slide132.xml"/><Relationship Id="rId134" Type="http://schemas.openxmlformats.org/officeDocument/2006/relationships/slide" Target="slides/slide131.xml"/><Relationship Id="rId133" Type="http://schemas.openxmlformats.org/officeDocument/2006/relationships/slide" Target="slides/slide130.xml"/><Relationship Id="rId132" Type="http://schemas.openxmlformats.org/officeDocument/2006/relationships/slide" Target="slides/slide129.xml"/><Relationship Id="rId131" Type="http://schemas.openxmlformats.org/officeDocument/2006/relationships/slide" Target="slides/slide128.xml"/><Relationship Id="rId130" Type="http://schemas.openxmlformats.org/officeDocument/2006/relationships/slide" Target="slides/slide127.xml"/><Relationship Id="rId13" Type="http://schemas.openxmlformats.org/officeDocument/2006/relationships/slide" Target="slides/slide10.xml"/><Relationship Id="rId129" Type="http://schemas.openxmlformats.org/officeDocument/2006/relationships/slide" Target="slides/slide126.xml"/><Relationship Id="rId128" Type="http://schemas.openxmlformats.org/officeDocument/2006/relationships/slide" Target="slides/slide125.xml"/><Relationship Id="rId127" Type="http://schemas.openxmlformats.org/officeDocument/2006/relationships/slide" Target="slides/slide124.xml"/><Relationship Id="rId126" Type="http://schemas.openxmlformats.org/officeDocument/2006/relationships/slide" Target="slides/slide123.xml"/><Relationship Id="rId125" Type="http://schemas.openxmlformats.org/officeDocument/2006/relationships/slide" Target="slides/slide122.xml"/><Relationship Id="rId124" Type="http://schemas.openxmlformats.org/officeDocument/2006/relationships/slide" Target="slides/slide121.xml"/><Relationship Id="rId123" Type="http://schemas.openxmlformats.org/officeDocument/2006/relationships/slide" Target="slides/slide120.xml"/><Relationship Id="rId122" Type="http://schemas.openxmlformats.org/officeDocument/2006/relationships/slide" Target="slides/slide119.xml"/><Relationship Id="rId121" Type="http://schemas.openxmlformats.org/officeDocument/2006/relationships/slide" Target="slides/slide118.xml"/><Relationship Id="rId120" Type="http://schemas.openxmlformats.org/officeDocument/2006/relationships/slide" Target="slides/slide117.xml"/><Relationship Id="rId12" Type="http://schemas.openxmlformats.org/officeDocument/2006/relationships/slide" Target="slides/slide9.xml"/><Relationship Id="rId119" Type="http://schemas.openxmlformats.org/officeDocument/2006/relationships/slide" Target="slides/slide116.xml"/><Relationship Id="rId118" Type="http://schemas.openxmlformats.org/officeDocument/2006/relationships/slide" Target="slides/slide115.xml"/><Relationship Id="rId117" Type="http://schemas.openxmlformats.org/officeDocument/2006/relationships/slide" Target="slides/slide114.xml"/><Relationship Id="rId116" Type="http://schemas.openxmlformats.org/officeDocument/2006/relationships/slide" Target="slides/slide113.xml"/><Relationship Id="rId115" Type="http://schemas.openxmlformats.org/officeDocument/2006/relationships/slide" Target="slides/slide112.xml"/><Relationship Id="rId114" Type="http://schemas.openxmlformats.org/officeDocument/2006/relationships/slide" Target="slides/slide111.xml"/><Relationship Id="rId113" Type="http://schemas.openxmlformats.org/officeDocument/2006/relationships/slide" Target="slides/slide110.xml"/><Relationship Id="rId112" Type="http://schemas.openxmlformats.org/officeDocument/2006/relationships/slide" Target="slides/slide109.xml"/><Relationship Id="rId111" Type="http://schemas.openxmlformats.org/officeDocument/2006/relationships/slide" Target="slides/slide108.xml"/><Relationship Id="rId110" Type="http://schemas.openxmlformats.org/officeDocument/2006/relationships/slide" Target="slides/slide107.xml"/><Relationship Id="rId11" Type="http://schemas.openxmlformats.org/officeDocument/2006/relationships/slide" Target="slides/slide8.xml"/><Relationship Id="rId109" Type="http://schemas.openxmlformats.org/officeDocument/2006/relationships/slide" Target="slides/slide106.xml"/><Relationship Id="rId108" Type="http://schemas.openxmlformats.org/officeDocument/2006/relationships/slide" Target="slides/slide105.xml"/><Relationship Id="rId107" Type="http://schemas.openxmlformats.org/officeDocument/2006/relationships/slide" Target="slides/slide104.xml"/><Relationship Id="rId106" Type="http://schemas.openxmlformats.org/officeDocument/2006/relationships/slide" Target="slides/slide103.xml"/><Relationship Id="rId105" Type="http://schemas.openxmlformats.org/officeDocument/2006/relationships/slide" Target="slides/slide102.xml"/><Relationship Id="rId104" Type="http://schemas.openxmlformats.org/officeDocument/2006/relationships/slide" Target="slides/slide101.xml"/><Relationship Id="rId103" Type="http://schemas.openxmlformats.org/officeDocument/2006/relationships/slide" Target="slides/slide100.xml"/><Relationship Id="rId102" Type="http://schemas.openxmlformats.org/officeDocument/2006/relationships/slide" Target="slides/slide99.xml"/><Relationship Id="rId101" Type="http://schemas.openxmlformats.org/officeDocument/2006/relationships/slide" Target="slides/slide98.xml"/><Relationship Id="rId100" Type="http://schemas.openxmlformats.org/officeDocument/2006/relationships/slide" Target="slides/slide97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image" Target="../media/image6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zh-CN" altLang="en-US"/>
              <a:t>第</a:t>
            </a:r>
            <a:r>
              <a:rPr lang="en-US" altLang="zh-CN"/>
              <a:t>1</a:t>
            </a:r>
            <a:r>
              <a:rPr lang="zh-CN" altLang="en-US"/>
              <a:t>章 绪论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4B3334-8B19-41FD-BA5B-2CDDAB13B5A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5231CD-A0B8-4499-BF13-ACF9615008C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zh-CN" altLang="en-US"/>
              <a:t>第</a:t>
            </a:r>
            <a:r>
              <a:rPr lang="en-US" altLang="zh-CN"/>
              <a:t>1</a:t>
            </a:r>
            <a:r>
              <a:rPr lang="zh-CN" altLang="en-US"/>
              <a:t>章 绪论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426617-0DE9-4FCC-BA51-2984BBE6735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3ADF5C-0B53-4BD5-BF19-A16D1C70E8A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4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5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6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7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8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9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0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2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3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4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5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6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7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8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9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0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2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3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4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5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6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7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8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9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0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2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3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4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5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6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7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8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9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0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2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3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4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5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6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7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8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9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0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2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3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4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5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6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7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8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9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0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2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3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排序算法的初步了解，系统性了解。。。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EE0C-DA5D-4CBF-AE69-673E66EC0F2E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哈工大（深圳）计算机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2A0DA-05AB-48D6-BBBF-D7B6BD89ACA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哈工大（深圳）计算机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33392-582D-4AEE-8D92-7C41E2F4A70E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哈工大（深圳）计算机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9265F-BE93-4AD9-9411-B582945BC9C8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哈工大（深圳）计算机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8F1F4-7225-47CF-BAEA-B2E33B7AE34A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哈工大（深圳）计算机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F2D57-E987-4FD5-9369-1A7D215680F2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哈工大（深圳）计算机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BA72-A676-4C13-828D-76D806DD871F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哈工大（深圳）计算机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32D7E-A780-4A4D-B49A-9F75A22F7418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哈工大（深圳）计算机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040B9-DB5B-4CED-9F95-D64D672EDC57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哈工大（深圳）计算机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4A896-4F9E-45E4-A06D-FB8C0ABF14B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哈工大（深圳）计算机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0C735-B0C5-433E-85ED-0C1F5A1376AD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哈工大（深圳）计算机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DB1308-D2BA-4A66-BA4F-C657BC2B4751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哈工大（深圳）计算机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63EC4C-CFD8-4F45-A0A2-30028C1F73D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hyperlink" Target="http://www.hitsz.edu.cn/article/view/id-26348.html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2.xml"/><Relationship Id="rId5" Type="http://schemas.openxmlformats.org/officeDocument/2006/relationships/slide" Target="slide12.xml"/><Relationship Id="rId4" Type="http://schemas.openxmlformats.org/officeDocument/2006/relationships/slide" Target="slide11.xml"/><Relationship Id="rId3" Type="http://schemas.openxmlformats.org/officeDocument/2006/relationships/slide" Target="slide10.xml"/><Relationship Id="rId2" Type="http://schemas.openxmlformats.org/officeDocument/2006/relationships/slide" Target="slide9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8.xml"/><Relationship Id="rId5" Type="http://schemas.openxmlformats.org/officeDocument/2006/relationships/slideLayout" Target="../slideLayouts/slideLayout2.xml"/><Relationship Id="rId4" Type="http://schemas.openxmlformats.org/officeDocument/2006/relationships/slide" Target="slide127.xml"/><Relationship Id="rId3" Type="http://schemas.openxmlformats.org/officeDocument/2006/relationships/slide" Target="slide5.xml"/><Relationship Id="rId2" Type="http://schemas.openxmlformats.org/officeDocument/2006/relationships/slide" Target="slide27.xml"/><Relationship Id="rId1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2.xml"/><Relationship Id="rId2" Type="http://schemas.openxmlformats.org/officeDocument/2006/relationships/hyperlink" Target="InsertSort.swf" TargetMode="External"/><Relationship Id="rId1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2.xml"/><Relationship Id="rId2" Type="http://schemas.openxmlformats.org/officeDocument/2006/relationships/slide" Target="slide12.xml"/><Relationship Id="rId1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6.xml"/><Relationship Id="rId3" Type="http://schemas.openxmlformats.org/officeDocument/2006/relationships/slideLayout" Target="../slideLayouts/slideLayout2.xml"/><Relationship Id="rId2" Type="http://schemas.openxmlformats.org/officeDocument/2006/relationships/hyperlink" Target="InsertSort.swf" TargetMode="External"/><Relationship Id="rId1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.v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5.emf"/><Relationship Id="rId6" Type="http://schemas.openxmlformats.org/officeDocument/2006/relationships/oleObject" Target="../embeddings/oleObject3.bin"/><Relationship Id="rId5" Type="http://schemas.openxmlformats.org/officeDocument/2006/relationships/image" Target="../media/image4.emf"/><Relationship Id="rId4" Type="http://schemas.openxmlformats.org/officeDocument/2006/relationships/oleObject" Target="../embeddings/oleObject2.bin"/><Relationship Id="rId3" Type="http://schemas.openxmlformats.org/officeDocument/2006/relationships/image" Target="../media/image3.emf"/><Relationship Id="rId2" Type="http://schemas.openxmlformats.org/officeDocument/2006/relationships/oleObject" Target="../embeddings/oleObject1.bin"/><Relationship Id="rId10" Type="http://schemas.openxmlformats.org/officeDocument/2006/relationships/notesSlide" Target="../notesSlides/notesSlide28.xml"/><Relationship Id="rId1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0.xml"/><Relationship Id="rId3" Type="http://schemas.openxmlformats.org/officeDocument/2006/relationships/slideLayout" Target="../slideLayouts/slideLayout2.xml"/><Relationship Id="rId2" Type="http://schemas.openxmlformats.org/officeDocument/2006/relationships/hyperlink" Target="&#25240;&#21322;&#25554;&#20837;&#25490;&#24207;.swf" TargetMode="External"/><Relationship Id="rId1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4.xml"/><Relationship Id="rId5" Type="http://schemas.openxmlformats.org/officeDocument/2006/relationships/slideLayout" Target="../slideLayouts/slideLayout2.xml"/><Relationship Id="rId4" Type="http://schemas.openxmlformats.org/officeDocument/2006/relationships/slide" Target="slide127.xml"/><Relationship Id="rId3" Type="http://schemas.openxmlformats.org/officeDocument/2006/relationships/slide" Target="slide5.xml"/><Relationship Id="rId2" Type="http://schemas.openxmlformats.org/officeDocument/2006/relationships/slide" Target="slide27.xml"/><Relationship Id="rId1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7.xml"/><Relationship Id="rId3" Type="http://schemas.openxmlformats.org/officeDocument/2006/relationships/slideLayout" Target="../slideLayouts/slideLayout2.xml"/><Relationship Id="rId2" Type="http://schemas.openxmlformats.org/officeDocument/2006/relationships/hyperlink" Target="&#34920;&#25554;&#20837;&#25490;&#24207;.swf" TargetMode="External"/><Relationship Id="rId1" Type="http://schemas.openxmlformats.org/officeDocument/2006/relationships/image" Target="../media/image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8.xml"/><Relationship Id="rId3" Type="http://schemas.openxmlformats.org/officeDocument/2006/relationships/slideLayout" Target="../slideLayouts/slideLayout2.xml"/><Relationship Id="rId2" Type="http://schemas.openxmlformats.org/officeDocument/2006/relationships/hyperlink" Target="bubble.swf" TargetMode="External"/><Relationship Id="rId1" Type="http://schemas.openxmlformats.org/officeDocument/2006/relationships/image" Target="../media/image2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0.xml"/><Relationship Id="rId3" Type="http://schemas.openxmlformats.org/officeDocument/2006/relationships/slideLayout" Target="../slideLayouts/slideLayout2.xml"/><Relationship Id="rId2" Type="http://schemas.openxmlformats.org/officeDocument/2006/relationships/hyperlink" Target="BubbleSort.swf" TargetMode="External"/><Relationship Id="rId1" Type="http://schemas.openxmlformats.org/officeDocument/2006/relationships/image" Target="../media/image2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1.xml"/><Relationship Id="rId7" Type="http://schemas.openxmlformats.org/officeDocument/2006/relationships/vmlDrawing" Target="../drawings/vmlDrawing2.v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5.bin"/><Relationship Id="rId3" Type="http://schemas.openxmlformats.org/officeDocument/2006/relationships/image" Target="../media/image6.emf"/><Relationship Id="rId2" Type="http://schemas.openxmlformats.org/officeDocument/2006/relationships/oleObject" Target="../embeddings/oleObject4.bin"/><Relationship Id="rId1" Type="http://schemas.openxmlformats.org/officeDocument/2006/relationships/image" Target="../media/image2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6.xml"/><Relationship Id="rId6" Type="http://schemas.openxmlformats.org/officeDocument/2006/relationships/vmlDrawing" Target="../drawings/vmlDrawing3.vml"/><Relationship Id="rId5" Type="http://schemas.openxmlformats.org/officeDocument/2006/relationships/slideLayout" Target="../slideLayouts/slideLayout2.xml"/><Relationship Id="rId4" Type="http://schemas.openxmlformats.org/officeDocument/2006/relationships/hyperlink" Target="QuickSort.swf" TargetMode="External"/><Relationship Id="rId3" Type="http://schemas.openxmlformats.org/officeDocument/2006/relationships/image" Target="../media/image8.emf"/><Relationship Id="rId2" Type="http://schemas.openxmlformats.org/officeDocument/2006/relationships/oleObject" Target="../embeddings/oleObject6.bin"/><Relationship Id="rId1" Type="http://schemas.openxmlformats.org/officeDocument/2006/relationships/image" Target="../media/image2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8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2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2.png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4" descr="http://www.hitsz.edu.cn/UserFiles/banner/large/1498189993954.jpg">
            <a:hlinkClick r:id="rId1"/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42009"/>
            <a:ext cx="9144000" cy="3463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8968" y="19050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zh-CN" altLang="en-US" sz="6600" b="1" dirty="0">
                <a:solidFill>
                  <a:srgbClr val="FF0000"/>
                </a:solidFill>
              </a:rPr>
              <a:t>第</a:t>
            </a:r>
            <a:r>
              <a:rPr lang="en-US" altLang="zh-CN" sz="6600" b="1" dirty="0">
                <a:solidFill>
                  <a:srgbClr val="FF0000"/>
                </a:solidFill>
              </a:rPr>
              <a:t>6</a:t>
            </a:r>
            <a:r>
              <a:rPr lang="zh-CN" altLang="en-US" sz="6600" b="1" dirty="0">
                <a:solidFill>
                  <a:srgbClr val="FF0000"/>
                </a:solidFill>
              </a:rPr>
              <a:t>章 分治与排序</a:t>
            </a:r>
            <a:r>
              <a:rPr lang="en-US" altLang="zh-CN" sz="6600" b="1" dirty="0">
                <a:solidFill>
                  <a:srgbClr val="FF0000"/>
                </a:solidFill>
              </a:rPr>
              <a:t>(1)</a:t>
            </a:r>
            <a:br>
              <a:rPr lang="en-US" altLang="zh-CN" sz="6600" b="1" dirty="0">
                <a:solidFill>
                  <a:srgbClr val="FF0000"/>
                </a:solidFill>
              </a:rPr>
            </a:br>
            <a:r>
              <a:rPr lang="en-US" altLang="zh-CN" sz="6600" b="1" dirty="0">
                <a:solidFill>
                  <a:srgbClr val="FF0000"/>
                </a:solidFill>
              </a:rPr>
              <a:t>                 </a:t>
            </a:r>
            <a:r>
              <a:rPr lang="en-US" altLang="zh-CN" sz="5300" b="1" dirty="0">
                <a:solidFill>
                  <a:srgbClr val="FF0000"/>
                </a:solidFill>
              </a:rPr>
              <a:t>——</a:t>
            </a:r>
            <a:r>
              <a:rPr lang="zh-CN" altLang="en-US" sz="5300" b="1" dirty="0">
                <a:solidFill>
                  <a:srgbClr val="FF0000"/>
                </a:solidFill>
              </a:rPr>
              <a:t>排序算法总览</a:t>
            </a:r>
            <a:endParaRPr lang="zh-CN" altLang="en-US" sz="6600" b="1" dirty="0">
              <a:solidFill>
                <a:srgbClr val="FF0000"/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BC197-084A-46F9-913A-C6CEAD6EDE8F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直接连接符 12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F0000"/>
                </a:solidFill>
              </a:rPr>
              <a:t>本章重点与难点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kumimoji="1"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重点</a:t>
            </a:r>
            <a:r>
              <a:rPr kumimoji="1" lang="en-US" altLang="zh-CN" sz="2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endParaRPr kumimoji="1" lang="en-US" altLang="zh-CN" sz="2800" b="1" dirty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00050" lvl="1" indent="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1"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插入排序、快速排序、选择排序、归并排序、基数排序的思想和算法。</a:t>
            </a:r>
            <a:endParaRPr kumimoji="1"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kumimoji="1"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难点</a:t>
            </a:r>
            <a:r>
              <a:rPr kumimoji="1" lang="en-US" altLang="zh-CN" sz="2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 </a:t>
            </a:r>
            <a:endParaRPr kumimoji="1" lang="en-US" altLang="zh-CN" sz="2800" b="1" dirty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00050" lvl="1" indent="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1"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堆排序的思想和算法，在实际应用中如何根据实际情况，选择最优的排序算法。</a:t>
            </a:r>
            <a:endParaRPr kumimoji="1"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A30F8-5A0D-45CA-9B9A-CA238C59AEC4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F0000"/>
                </a:solidFill>
              </a:rPr>
              <a:t>第六章 排序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 lnSpcReduction="10000"/>
          </a:bodyPr>
          <a:lstStyle/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6.1  </a:t>
            </a:r>
            <a:r>
              <a:rPr kumimoji="1" lang="zh-CN" altLang="en-US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概述</a:t>
            </a:r>
            <a:endParaRPr kumimoji="1" lang="zh-CN" altLang="en-US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6.2  </a:t>
            </a:r>
            <a:r>
              <a:rPr kumimoji="1" lang="zh-CN" altLang="en-US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插入排序</a:t>
            </a:r>
            <a:endParaRPr kumimoji="1" lang="zh-CN" altLang="en-US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6.3  </a:t>
            </a:r>
            <a:r>
              <a:rPr kumimoji="1" lang="zh-CN" altLang="en-US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快速排序</a:t>
            </a:r>
            <a:endParaRPr kumimoji="1" lang="zh-CN" altLang="en-US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6.4  </a:t>
            </a:r>
            <a:r>
              <a:rPr kumimoji="1" lang="zh-CN" altLang="en-US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选择排序</a:t>
            </a:r>
            <a:endParaRPr kumimoji="1" lang="zh-CN" altLang="en-US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6.5  </a:t>
            </a:r>
            <a:r>
              <a:rPr kumimoji="1" lang="zh-CN" altLang="en-US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归并排序</a:t>
            </a:r>
            <a:endParaRPr kumimoji="1" lang="zh-CN" altLang="en-US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6.6  </a:t>
            </a:r>
            <a:r>
              <a:rPr kumimoji="1" lang="zh-CN" altLang="en-US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基数排序</a:t>
            </a:r>
            <a:endParaRPr kumimoji="1" lang="zh-CN" altLang="en-US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6.7  </a:t>
            </a:r>
            <a:r>
              <a:rPr kumimoji="1" lang="zh-CN" altLang="en-US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内部排序方法的比较</a:t>
            </a:r>
            <a:endParaRPr kumimoji="1" lang="zh-CN" altLang="en-US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CBE81-6F2B-4880-AC95-A481148036F9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F0000"/>
                </a:solidFill>
              </a:rPr>
              <a:t>第六章 排序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 lnSpcReduction="10000"/>
          </a:bodyPr>
          <a:lstStyle/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6.1  </a:t>
            </a:r>
            <a:r>
              <a:rPr kumimoji="1" lang="zh-CN" altLang="en-US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概述</a:t>
            </a:r>
            <a:endParaRPr kumimoji="1" lang="zh-CN" altLang="en-US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6.2 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插入排序</a:t>
            </a:r>
            <a:endParaRPr kumimoji="1" lang="zh-CN" altLang="en-US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6.3 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快速排序</a:t>
            </a:r>
            <a:endParaRPr kumimoji="1" lang="zh-CN" altLang="en-US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6.4 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选择排序</a:t>
            </a:r>
            <a:endParaRPr kumimoji="1" lang="zh-CN" altLang="en-US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6.5 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归并排序</a:t>
            </a:r>
            <a:endParaRPr kumimoji="1" lang="zh-CN" altLang="en-US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6.6 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基数排序</a:t>
            </a:r>
            <a:endParaRPr kumimoji="1" lang="zh-CN" altLang="en-US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6.7 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内部排序方法的比较</a:t>
            </a:r>
            <a:endParaRPr kumimoji="1" lang="zh-CN" altLang="en-US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FFF79-AFA1-40F8-A729-84F104409CB3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6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6.1  </a:t>
            </a:r>
            <a:r>
              <a:rPr kumimoji="1" lang="zh-CN" altLang="en-US" sz="36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概述</a:t>
            </a:r>
            <a:endParaRPr kumimoji="1" lang="zh-CN" altLang="en-US" sz="36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>
              <a:lnSpc>
                <a:spcPts val="4200"/>
              </a:lnSpc>
            </a:pPr>
            <a:r>
              <a:rPr lang="zh-CN" altLang="en-US" b="1" dirty="0">
                <a:solidFill>
                  <a:srgbClr val="FF0000"/>
                </a:solidFill>
              </a:rPr>
              <a:t>排序</a:t>
            </a:r>
            <a:r>
              <a:rPr lang="zh-CN" altLang="en-US" b="1" dirty="0"/>
              <a:t>是计算机程序设计中的一种重要操作，它的功能是将一个数据元素</a:t>
            </a:r>
            <a:r>
              <a:rPr lang="en-US" altLang="zh-CN" b="1" dirty="0"/>
              <a:t>(</a:t>
            </a:r>
            <a:r>
              <a:rPr lang="zh-CN" altLang="en-US" b="1" dirty="0"/>
              <a:t>或记录</a:t>
            </a:r>
            <a:r>
              <a:rPr lang="en-US" altLang="zh-CN" b="1" dirty="0"/>
              <a:t>)</a:t>
            </a:r>
            <a:r>
              <a:rPr lang="zh-CN" altLang="en-US" b="1" dirty="0"/>
              <a:t>的任意序列，重新排列成一个按关键字有序的序列。</a:t>
            </a:r>
            <a:endParaRPr lang="zh-CN" altLang="en-US" b="1" dirty="0"/>
          </a:p>
          <a:p>
            <a:pPr>
              <a:lnSpc>
                <a:spcPts val="4200"/>
              </a:lnSpc>
            </a:pPr>
            <a:r>
              <a:rPr lang="zh-CN" altLang="en-US" b="1" dirty="0">
                <a:solidFill>
                  <a:srgbClr val="FF0000"/>
                </a:solidFill>
              </a:rPr>
              <a:t>排序的目的</a:t>
            </a:r>
            <a:r>
              <a:rPr lang="zh-CN" altLang="en-US" b="1" dirty="0"/>
              <a:t>之一是方便数据查找。</a:t>
            </a:r>
            <a:endParaRPr lang="zh-CN" altLang="en-US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43BA7-7BDD-436F-BD80-A07B830D24FA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6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6.1  </a:t>
            </a:r>
            <a:r>
              <a:rPr kumimoji="1" lang="zh-CN" altLang="en-US" sz="36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概述</a:t>
            </a:r>
            <a:endParaRPr kumimoji="1" lang="zh-CN" altLang="en-US" sz="36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7D2FB-B510-4B15-A4E1-E97DD9EF37EF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685800" y="2016371"/>
            <a:ext cx="8153400" cy="3927229"/>
          </a:xfrm>
          <a:prstGeom prst="rect">
            <a:avLst/>
          </a:prstGeom>
          <a:noFill/>
          <a:ln w="9525">
            <a:solidFill>
              <a:srgbClr val="003300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 algn="just" fontAlgn="base">
              <a:lnSpc>
                <a:spcPct val="125000"/>
              </a:lnSpc>
              <a:spcBef>
                <a:spcPct val="15000"/>
              </a:spcBef>
              <a:spcAft>
                <a:spcPct val="0"/>
              </a:spcAft>
              <a:buClr>
                <a:srgbClr val="3333FF"/>
              </a:buClr>
              <a:buFont typeface="Wingdings" panose="05000000000000000000" pitchFamily="2" charset="2"/>
              <a:buNone/>
            </a:pPr>
            <a:r>
              <a:rPr kumimoji="1" lang="zh-CN" altLang="en-US" sz="2800" b="1" dirty="0">
                <a:solidFill>
                  <a:srgbClr val="003366"/>
                </a:solidFill>
                <a:latin typeface="楷体_GB2312" pitchFamily="49" charset="-122"/>
                <a:ea typeface="楷体_GB2312" pitchFamily="49" charset="-122"/>
              </a:rPr>
              <a:t>在排序过程中，有若干记录的</a:t>
            </a:r>
            <a:r>
              <a:rPr kumimoji="1" lang="zh-CN" altLang="en-US" sz="2800" b="1" dirty="0">
                <a:solidFill>
                  <a:srgbClr val="3333FF"/>
                </a:solidFill>
                <a:latin typeface="楷体_GB2312" pitchFamily="49" charset="-122"/>
                <a:ea typeface="楷体_GB2312" pitchFamily="49" charset="-122"/>
              </a:rPr>
              <a:t>关键字相等</a:t>
            </a:r>
            <a:r>
              <a:rPr kumimoji="1" lang="zh-CN" altLang="en-US" sz="2800" b="1" dirty="0">
                <a:solidFill>
                  <a:srgbClr val="003366"/>
                </a:solidFill>
                <a:latin typeface="楷体_GB2312" pitchFamily="49" charset="-122"/>
                <a:ea typeface="楷体_GB2312" pitchFamily="49" charset="-122"/>
              </a:rPr>
              <a:t>，即</a:t>
            </a:r>
            <a:r>
              <a:rPr kumimoji="1" lang="en-US" altLang="zh-CN" sz="2800" b="1" dirty="0" err="1">
                <a:solidFill>
                  <a:srgbClr val="003366"/>
                </a:solidFill>
                <a:latin typeface="楷体_GB2312" pitchFamily="49" charset="-122"/>
                <a:ea typeface="楷体_GB2312" pitchFamily="49" charset="-122"/>
              </a:rPr>
              <a:t>K</a:t>
            </a:r>
            <a:r>
              <a:rPr kumimoji="1" lang="en-US" altLang="zh-CN" sz="2800" b="1" baseline="-25000" dirty="0" err="1">
                <a:solidFill>
                  <a:srgbClr val="003366"/>
                </a:solidFill>
                <a:latin typeface="楷体_GB2312" pitchFamily="49" charset="-122"/>
                <a:ea typeface="楷体_GB2312" pitchFamily="49" charset="-122"/>
              </a:rPr>
              <a:t>i</a:t>
            </a:r>
            <a:r>
              <a:rPr kumimoji="1" lang="en-US" altLang="zh-CN" sz="2800" b="1" dirty="0">
                <a:solidFill>
                  <a:srgbClr val="003366"/>
                </a:solidFill>
                <a:latin typeface="楷体_GB2312" pitchFamily="49" charset="-122"/>
                <a:ea typeface="楷体_GB2312" pitchFamily="49" charset="-122"/>
              </a:rPr>
              <a:t>=</a:t>
            </a:r>
            <a:r>
              <a:rPr kumimoji="1" lang="en-US" altLang="zh-CN" sz="2800" b="1" dirty="0" err="1">
                <a:solidFill>
                  <a:srgbClr val="003366"/>
                </a:solidFill>
                <a:latin typeface="楷体_GB2312" pitchFamily="49" charset="-122"/>
                <a:ea typeface="楷体_GB2312" pitchFamily="49" charset="-122"/>
              </a:rPr>
              <a:t>K</a:t>
            </a:r>
            <a:r>
              <a:rPr kumimoji="1" lang="en-US" altLang="zh-CN" sz="2800" b="1" baseline="-25000" dirty="0" err="1">
                <a:solidFill>
                  <a:srgbClr val="003366"/>
                </a:solidFill>
                <a:latin typeface="楷体_GB2312" pitchFamily="49" charset="-122"/>
                <a:ea typeface="楷体_GB2312" pitchFamily="49" charset="-122"/>
              </a:rPr>
              <a:t>j</a:t>
            </a:r>
            <a:r>
              <a:rPr kumimoji="1" lang="en-US" altLang="zh-CN" sz="2800" b="1" dirty="0">
                <a:solidFill>
                  <a:srgbClr val="003366"/>
                </a:solidFill>
                <a:latin typeface="楷体_GB2312" pitchFamily="49" charset="-122"/>
                <a:ea typeface="楷体_GB2312" pitchFamily="49" charset="-122"/>
              </a:rPr>
              <a:t>(1≤i≤n</a:t>
            </a:r>
            <a:r>
              <a:rPr kumimoji="1" lang="zh-CN" altLang="en-US" sz="2800" b="1" dirty="0">
                <a:solidFill>
                  <a:srgbClr val="003366"/>
                </a:solidFill>
                <a:latin typeface="楷体_GB2312" pitchFamily="49" charset="-122"/>
                <a:ea typeface="楷体_GB2312" pitchFamily="49" charset="-122"/>
              </a:rPr>
              <a:t>，</a:t>
            </a:r>
            <a:r>
              <a:rPr kumimoji="1" lang="en-US" altLang="zh-CN" sz="2800" b="1" dirty="0">
                <a:solidFill>
                  <a:srgbClr val="003366"/>
                </a:solidFill>
                <a:latin typeface="楷体_GB2312" pitchFamily="49" charset="-122"/>
                <a:ea typeface="楷体_GB2312" pitchFamily="49" charset="-122"/>
              </a:rPr>
              <a:t>1 1≤j≤n</a:t>
            </a:r>
            <a:r>
              <a:rPr kumimoji="1" lang="zh-CN" altLang="en-US" sz="2800" b="1" dirty="0">
                <a:solidFill>
                  <a:srgbClr val="003366"/>
                </a:solidFill>
                <a:latin typeface="楷体_GB2312" pitchFamily="49" charset="-122"/>
                <a:ea typeface="楷体_GB2312" pitchFamily="49" charset="-122"/>
              </a:rPr>
              <a:t>，</a:t>
            </a:r>
            <a:r>
              <a:rPr kumimoji="1" lang="en-US" altLang="zh-CN" sz="2800" b="1" dirty="0" err="1">
                <a:solidFill>
                  <a:srgbClr val="003366"/>
                </a:solidFill>
                <a:latin typeface="楷体_GB2312" pitchFamily="49" charset="-122"/>
                <a:ea typeface="楷体_GB2312" pitchFamily="49" charset="-122"/>
              </a:rPr>
              <a:t>i≠j</a:t>
            </a:r>
            <a:r>
              <a:rPr kumimoji="1" lang="en-US" altLang="zh-CN" sz="2800" b="1" dirty="0">
                <a:solidFill>
                  <a:srgbClr val="003366"/>
                </a:solidFill>
                <a:latin typeface="楷体_GB2312" pitchFamily="49" charset="-122"/>
                <a:ea typeface="楷体_GB2312" pitchFamily="49" charset="-122"/>
              </a:rPr>
              <a:t>) </a:t>
            </a:r>
            <a:r>
              <a:rPr kumimoji="1" lang="zh-CN" altLang="en-US" sz="2800" b="1" dirty="0">
                <a:solidFill>
                  <a:srgbClr val="003366"/>
                </a:solidFill>
                <a:latin typeface="楷体_GB2312" pitchFamily="49" charset="-122"/>
                <a:ea typeface="楷体_GB2312" pitchFamily="49" charset="-122"/>
              </a:rPr>
              <a:t>，在排序前后，含相等关键字的记录的</a:t>
            </a:r>
            <a:r>
              <a:rPr kumimoji="1" lang="zh-CN" altLang="en-US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相对位置保持不变</a:t>
            </a:r>
            <a:r>
              <a:rPr kumimoji="1" lang="zh-CN" altLang="en-US" sz="2800" b="1" dirty="0">
                <a:solidFill>
                  <a:srgbClr val="003366"/>
                </a:solidFill>
                <a:latin typeface="楷体_GB2312" pitchFamily="49" charset="-122"/>
                <a:ea typeface="楷体_GB2312" pitchFamily="49" charset="-122"/>
              </a:rPr>
              <a:t>，即排序前</a:t>
            </a:r>
            <a:r>
              <a:rPr kumimoji="1" lang="en-US" altLang="zh-CN" sz="2800" b="1" dirty="0" err="1">
                <a:solidFill>
                  <a:srgbClr val="3333FF"/>
                </a:solidFill>
                <a:latin typeface="楷体_GB2312" pitchFamily="49" charset="-122"/>
                <a:ea typeface="楷体_GB2312" pitchFamily="49" charset="-122"/>
              </a:rPr>
              <a:t>R</a:t>
            </a:r>
            <a:r>
              <a:rPr kumimoji="1" lang="en-US" altLang="zh-CN" sz="2800" b="1" baseline="-25000" dirty="0" err="1">
                <a:solidFill>
                  <a:srgbClr val="3333FF"/>
                </a:solidFill>
                <a:latin typeface="楷体_GB2312" pitchFamily="49" charset="-122"/>
                <a:ea typeface="楷体_GB2312" pitchFamily="49" charset="-122"/>
              </a:rPr>
              <a:t>i</a:t>
            </a:r>
            <a:r>
              <a:rPr kumimoji="1" lang="zh-CN" altLang="en-US" sz="2800" b="1" dirty="0">
                <a:solidFill>
                  <a:srgbClr val="003366"/>
                </a:solidFill>
                <a:latin typeface="楷体_GB2312" pitchFamily="49" charset="-122"/>
                <a:ea typeface="楷体_GB2312" pitchFamily="49" charset="-122"/>
              </a:rPr>
              <a:t>在</a:t>
            </a:r>
            <a:r>
              <a:rPr kumimoji="1" lang="en-US" altLang="zh-CN" sz="2800" b="1" dirty="0" err="1">
                <a:solidFill>
                  <a:srgbClr val="3333FF"/>
                </a:solidFill>
                <a:latin typeface="楷体_GB2312" pitchFamily="49" charset="-122"/>
                <a:ea typeface="楷体_GB2312" pitchFamily="49" charset="-122"/>
              </a:rPr>
              <a:t>R</a:t>
            </a:r>
            <a:r>
              <a:rPr kumimoji="1" lang="en-US" altLang="zh-CN" sz="2800" b="1" baseline="-25000" dirty="0" err="1">
                <a:solidFill>
                  <a:srgbClr val="3333FF"/>
                </a:solidFill>
                <a:latin typeface="楷体_GB2312" pitchFamily="49" charset="-122"/>
                <a:ea typeface="楷体_GB2312" pitchFamily="49" charset="-122"/>
              </a:rPr>
              <a:t>j</a:t>
            </a:r>
            <a:r>
              <a:rPr kumimoji="1" lang="zh-CN" altLang="en-US" sz="2800" b="1" dirty="0">
                <a:solidFill>
                  <a:srgbClr val="003366"/>
                </a:solidFill>
                <a:latin typeface="楷体_GB2312" pitchFamily="49" charset="-122"/>
                <a:ea typeface="楷体_GB2312" pitchFamily="49" charset="-122"/>
              </a:rPr>
              <a:t>之前，排序后</a:t>
            </a:r>
            <a:r>
              <a:rPr kumimoji="1" lang="en-US" altLang="zh-CN" sz="2800" b="1" dirty="0" err="1">
                <a:solidFill>
                  <a:srgbClr val="3333FF"/>
                </a:solidFill>
                <a:latin typeface="楷体_GB2312" pitchFamily="49" charset="-122"/>
                <a:ea typeface="楷体_GB2312" pitchFamily="49" charset="-122"/>
              </a:rPr>
              <a:t>R</a:t>
            </a:r>
            <a:r>
              <a:rPr kumimoji="1" lang="en-US" altLang="zh-CN" sz="2800" b="1" baseline="-25000" dirty="0" err="1">
                <a:solidFill>
                  <a:srgbClr val="3333FF"/>
                </a:solidFill>
                <a:latin typeface="楷体_GB2312" pitchFamily="49" charset="-122"/>
                <a:ea typeface="楷体_GB2312" pitchFamily="49" charset="-122"/>
              </a:rPr>
              <a:t>i</a:t>
            </a:r>
            <a:r>
              <a:rPr kumimoji="1" lang="zh-CN" altLang="en-US" sz="2800" b="1" dirty="0">
                <a:solidFill>
                  <a:srgbClr val="003366"/>
                </a:solidFill>
                <a:latin typeface="楷体_GB2312" pitchFamily="49" charset="-122"/>
                <a:ea typeface="楷体_GB2312" pitchFamily="49" charset="-122"/>
              </a:rPr>
              <a:t>仍在</a:t>
            </a:r>
            <a:r>
              <a:rPr kumimoji="1" lang="en-US" altLang="zh-CN" sz="2800" b="1" dirty="0" err="1">
                <a:solidFill>
                  <a:srgbClr val="3333FF"/>
                </a:solidFill>
                <a:latin typeface="楷体_GB2312" pitchFamily="49" charset="-122"/>
                <a:ea typeface="楷体_GB2312" pitchFamily="49" charset="-122"/>
              </a:rPr>
              <a:t>R</a:t>
            </a:r>
            <a:r>
              <a:rPr kumimoji="1" lang="en-US" altLang="zh-CN" sz="2800" b="1" baseline="-25000" dirty="0" err="1">
                <a:solidFill>
                  <a:srgbClr val="3333FF"/>
                </a:solidFill>
                <a:latin typeface="楷体_GB2312" pitchFamily="49" charset="-122"/>
                <a:ea typeface="楷体_GB2312" pitchFamily="49" charset="-122"/>
              </a:rPr>
              <a:t>j</a:t>
            </a:r>
            <a:r>
              <a:rPr kumimoji="1" lang="zh-CN" altLang="en-US" sz="2800" b="1" dirty="0">
                <a:solidFill>
                  <a:srgbClr val="003366"/>
                </a:solidFill>
                <a:latin typeface="楷体_GB2312" pitchFamily="49" charset="-122"/>
                <a:ea typeface="楷体_GB2312" pitchFamily="49" charset="-122"/>
              </a:rPr>
              <a:t>之前，称这种排序方法是</a:t>
            </a:r>
            <a:r>
              <a:rPr kumimoji="1" lang="zh-CN" altLang="en-US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稳定的</a:t>
            </a:r>
            <a:r>
              <a:rPr kumimoji="1" lang="zh-CN" altLang="en-US" sz="2800" b="1" dirty="0">
                <a:solidFill>
                  <a:srgbClr val="003366"/>
                </a:solidFill>
                <a:latin typeface="楷体_GB2312" pitchFamily="49" charset="-122"/>
                <a:ea typeface="楷体_GB2312" pitchFamily="49" charset="-122"/>
              </a:rPr>
              <a:t>；</a:t>
            </a:r>
            <a:endParaRPr kumimoji="1" lang="zh-CN" altLang="en-US" sz="2800" b="1" dirty="0">
              <a:solidFill>
                <a:srgbClr val="003366"/>
              </a:solidFill>
              <a:latin typeface="楷体_GB2312" pitchFamily="49" charset="-122"/>
              <a:ea typeface="楷体_GB2312" pitchFamily="49" charset="-122"/>
            </a:endParaRPr>
          </a:p>
          <a:p>
            <a:pPr algn="just" fontAlgn="base">
              <a:lnSpc>
                <a:spcPct val="125000"/>
              </a:lnSpc>
              <a:spcBef>
                <a:spcPct val="1500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3366"/>
                </a:solidFill>
                <a:latin typeface="楷体_GB2312" pitchFamily="49" charset="-122"/>
                <a:ea typeface="楷体_GB2312" pitchFamily="49" charset="-122"/>
              </a:rPr>
              <a:t>    反之，若可能使排序后的序列中</a:t>
            </a:r>
            <a:r>
              <a:rPr kumimoji="1" lang="en-US" altLang="zh-CN" sz="2800" b="1" dirty="0" err="1">
                <a:solidFill>
                  <a:srgbClr val="3333FF"/>
                </a:solidFill>
                <a:latin typeface="楷体_GB2312" pitchFamily="49" charset="-122"/>
                <a:ea typeface="楷体_GB2312" pitchFamily="49" charset="-122"/>
              </a:rPr>
              <a:t>R</a:t>
            </a:r>
            <a:r>
              <a:rPr kumimoji="1" lang="en-US" altLang="zh-CN" sz="2800" b="1" baseline="-25000" dirty="0" err="1">
                <a:solidFill>
                  <a:srgbClr val="3333FF"/>
                </a:solidFill>
                <a:latin typeface="楷体_GB2312" pitchFamily="49" charset="-122"/>
                <a:ea typeface="楷体_GB2312" pitchFamily="49" charset="-122"/>
              </a:rPr>
              <a:t>i</a:t>
            </a:r>
            <a:r>
              <a:rPr kumimoji="1" lang="zh-CN" altLang="en-US" sz="2800" b="1" dirty="0">
                <a:solidFill>
                  <a:srgbClr val="003366"/>
                </a:solidFill>
                <a:latin typeface="楷体_GB2312" pitchFamily="49" charset="-122"/>
                <a:ea typeface="楷体_GB2312" pitchFamily="49" charset="-122"/>
              </a:rPr>
              <a:t>在</a:t>
            </a:r>
            <a:r>
              <a:rPr kumimoji="1" lang="en-US" altLang="zh-CN" sz="2800" b="1" dirty="0" err="1">
                <a:solidFill>
                  <a:srgbClr val="3333FF"/>
                </a:solidFill>
                <a:latin typeface="楷体_GB2312" pitchFamily="49" charset="-122"/>
                <a:ea typeface="楷体_GB2312" pitchFamily="49" charset="-122"/>
              </a:rPr>
              <a:t>R</a:t>
            </a:r>
            <a:r>
              <a:rPr kumimoji="1" lang="en-US" altLang="zh-CN" sz="2800" b="1" baseline="-25000" dirty="0" err="1">
                <a:solidFill>
                  <a:srgbClr val="3333FF"/>
                </a:solidFill>
                <a:latin typeface="楷体_GB2312" pitchFamily="49" charset="-122"/>
                <a:ea typeface="楷体_GB2312" pitchFamily="49" charset="-122"/>
              </a:rPr>
              <a:t>j</a:t>
            </a:r>
            <a:r>
              <a:rPr kumimoji="1" lang="zh-CN" altLang="en-US" sz="2800" b="1" dirty="0">
                <a:solidFill>
                  <a:srgbClr val="003366"/>
                </a:solidFill>
                <a:latin typeface="楷体_GB2312" pitchFamily="49" charset="-122"/>
                <a:ea typeface="楷体_GB2312" pitchFamily="49" charset="-122"/>
              </a:rPr>
              <a:t>之后，称所用排序方法是</a:t>
            </a:r>
            <a:r>
              <a:rPr kumimoji="1" lang="zh-CN" altLang="en-US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不稳定的。</a:t>
            </a:r>
            <a:endParaRPr kumimoji="1" lang="en-US" altLang="zh-CN" sz="2800" b="1" dirty="0">
              <a:solidFill>
                <a:srgbClr val="6600CC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4" name="Text Box 4"/>
          <p:cNvSpPr txBox="1">
            <a:spLocks noChangeArrowheads="1"/>
          </p:cNvSpPr>
          <p:nvPr/>
        </p:nvSpPr>
        <p:spPr bwMode="auto">
          <a:xfrm>
            <a:off x="107950" y="1292168"/>
            <a:ext cx="4608513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排序方法的稳定和不稳定    </a:t>
            </a:r>
            <a:endParaRPr kumimoji="1" lang="zh-CN" altLang="en-US" sz="2800" b="1" dirty="0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6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6.1  </a:t>
            </a:r>
            <a:r>
              <a:rPr kumimoji="1" lang="zh-CN" altLang="en-US" sz="36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概述</a:t>
            </a:r>
            <a:endParaRPr kumimoji="1" lang="zh-CN" altLang="en-US" sz="36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D4351-F447-424F-95C3-123AE3024448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330200" y="1295400"/>
            <a:ext cx="6553200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内部排序和外部排序    </a:t>
            </a:r>
            <a:endParaRPr kumimoji="1" lang="zh-CN" altLang="en-US" sz="2800" b="1" dirty="0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" name="Text Box 8"/>
          <p:cNvSpPr txBox="1">
            <a:spLocks noChangeArrowheads="1"/>
          </p:cNvSpPr>
          <p:nvPr/>
        </p:nvSpPr>
        <p:spPr bwMode="auto">
          <a:xfrm>
            <a:off x="690562" y="3379788"/>
            <a:ext cx="7696200" cy="1643527"/>
          </a:xfrm>
          <a:prstGeom prst="rect">
            <a:avLst/>
          </a:prstGeom>
          <a:noFill/>
          <a:ln w="38100" cmpd="dbl" algn="ctr">
            <a:solidFill>
              <a:srgbClr val="808000"/>
            </a:solidFill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    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排序期间文件的全部记录不能同时存放在计算机的内存中，要</a:t>
            </a:r>
            <a:r>
              <a:rPr kumimoji="1"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借助计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算机的</a:t>
            </a:r>
            <a:r>
              <a:rPr kumimoji="1"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外存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才能完成排序，称之为</a:t>
            </a:r>
            <a:r>
              <a:rPr kumimoji="1"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“外部排序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”。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" name="Text Box 9"/>
          <p:cNvSpPr txBox="1">
            <a:spLocks noChangeArrowheads="1"/>
          </p:cNvSpPr>
          <p:nvPr/>
        </p:nvSpPr>
        <p:spPr bwMode="auto">
          <a:xfrm>
            <a:off x="690562" y="2011363"/>
            <a:ext cx="7696200" cy="1076961"/>
          </a:xfrm>
          <a:prstGeom prst="rect">
            <a:avLst/>
          </a:prstGeom>
          <a:noFill/>
          <a:ln w="38100" cmpd="dbl" algn="ctr">
            <a:solidFill>
              <a:srgbClr val="808000"/>
            </a:solidFill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    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在排序过程中，只使用</a:t>
            </a:r>
            <a:r>
              <a:rPr kumimoji="1"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计算机的内存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存放待排序记录，称这种排序为内部排序。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" name="Text Box 10"/>
          <p:cNvSpPr txBox="1">
            <a:spLocks noChangeArrowheads="1"/>
          </p:cNvSpPr>
          <p:nvPr/>
        </p:nvSpPr>
        <p:spPr bwMode="auto">
          <a:xfrm>
            <a:off x="762000" y="5180013"/>
            <a:ext cx="7696200" cy="11176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    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内外存之间的数据交换次数就成为影响外部排序速度的主要因素。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7" grpId="0" animBg="1"/>
      <p:bldP spid="1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6.1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概述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EC516-E885-4C45-9127-ED99F22198EA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Box 4"/>
          <p:cNvSpPr txBox="1">
            <a:spLocks noChangeArrowheads="1"/>
          </p:cNvSpPr>
          <p:nvPr/>
        </p:nvSpPr>
        <p:spPr bwMode="auto">
          <a:xfrm>
            <a:off x="762000" y="1273175"/>
            <a:ext cx="7848600" cy="15414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　　</a:t>
            </a:r>
            <a:r>
              <a:rPr kumimoji="1" lang="zh-CN" altLang="en-US" sz="36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内部排序的过程是一个逐步扩大</a:t>
            </a:r>
            <a:endParaRPr kumimoji="1" lang="zh-CN" altLang="en-US" sz="36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6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记录的有序序列长度的过程。</a:t>
            </a:r>
            <a:endParaRPr kumimoji="1" lang="zh-CN" altLang="en-US" sz="4000" b="1" dirty="0">
              <a:solidFill>
                <a:srgbClr val="66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6" name="Text Box 7"/>
          <p:cNvSpPr txBox="1">
            <a:spLocks noChangeArrowheads="1"/>
          </p:cNvSpPr>
          <p:nvPr/>
        </p:nvSpPr>
        <p:spPr bwMode="auto">
          <a:xfrm>
            <a:off x="5638800" y="4413250"/>
            <a:ext cx="3505200" cy="641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6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经过一趟排序</a:t>
            </a:r>
            <a:endParaRPr kumimoji="1" lang="zh-CN" altLang="en-US" sz="4000" b="1" dirty="0">
              <a:solidFill>
                <a:srgbClr val="0033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9" name="Rectangle 8" descr="60%"/>
          <p:cNvSpPr>
            <a:spLocks noChangeArrowheads="1"/>
          </p:cNvSpPr>
          <p:nvPr/>
        </p:nvSpPr>
        <p:spPr bwMode="auto">
          <a:xfrm>
            <a:off x="1143000" y="3270250"/>
            <a:ext cx="2514600" cy="838200"/>
          </a:xfrm>
          <a:prstGeom prst="rect">
            <a:avLst/>
          </a:prstGeom>
          <a:pattFill prst="pct60">
            <a:fgClr>
              <a:srgbClr val="E2D700"/>
            </a:fgClr>
            <a:bgClr>
              <a:srgbClr val="FFFFFF"/>
            </a:bgClr>
          </a:pattFill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600" b="1" i="0" u="none" strike="noStrike" kern="0" cap="none" spc="0" normalizeH="0" baseline="0" noProof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</a:rPr>
              <a:t>有序序列区</a:t>
            </a:r>
            <a:endParaRPr kumimoji="1" lang="zh-CN" altLang="en-US" sz="3600" b="1" i="0" u="none" strike="noStrike" kern="0" cap="none" spc="0" normalizeH="0" baseline="0" noProof="0">
              <a:ln>
                <a:noFill/>
              </a:ln>
              <a:solidFill>
                <a:srgbClr val="0033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0" name="Rectangle 9" descr="棚架"/>
          <p:cNvSpPr>
            <a:spLocks noChangeArrowheads="1"/>
          </p:cNvSpPr>
          <p:nvPr/>
        </p:nvSpPr>
        <p:spPr bwMode="auto">
          <a:xfrm>
            <a:off x="3657600" y="3270250"/>
            <a:ext cx="4038600" cy="838200"/>
          </a:xfrm>
          <a:prstGeom prst="rect">
            <a:avLst/>
          </a:prstGeom>
          <a:pattFill prst="trellis">
            <a:fgClr>
              <a:srgbClr val="00FFFF"/>
            </a:fgClr>
            <a:bgClr>
              <a:srgbClr val="FFFFFF"/>
            </a:bgClr>
          </a:pattFill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600" b="1" i="0" u="none" strike="noStrike" kern="0" cap="none" spc="0" normalizeH="0" baseline="0" noProof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</a:rPr>
              <a:t>无 序 序 列 区</a:t>
            </a:r>
            <a:endParaRPr kumimoji="1" lang="zh-CN" altLang="en-US" sz="4400" b="1" i="0" u="none" strike="noStrike" kern="0" cap="none" spc="0" normalizeH="0" baseline="0" noProof="0">
              <a:ln>
                <a:noFill/>
              </a:ln>
              <a:solidFill>
                <a:srgbClr val="0033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1" name="Rectangle 12" descr="60%"/>
          <p:cNvSpPr>
            <a:spLocks noChangeArrowheads="1"/>
          </p:cNvSpPr>
          <p:nvPr/>
        </p:nvSpPr>
        <p:spPr bwMode="auto">
          <a:xfrm>
            <a:off x="1219200" y="5403850"/>
            <a:ext cx="2971800" cy="838200"/>
          </a:xfrm>
          <a:prstGeom prst="rect">
            <a:avLst/>
          </a:prstGeom>
          <a:pattFill prst="pct60">
            <a:fgClr>
              <a:srgbClr val="E2D700"/>
            </a:fgClr>
            <a:bgClr>
              <a:srgbClr val="FFFFFF"/>
            </a:bgClr>
          </a:pattFill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600" b="1" i="0" u="none" strike="noStrike" kern="0" cap="none" spc="0" normalizeH="0" baseline="0" noProof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</a:rPr>
              <a:t>有序序列区</a:t>
            </a:r>
            <a:endParaRPr kumimoji="1" lang="zh-CN" altLang="en-US" sz="3600" b="1" i="0" u="none" strike="noStrike" kern="0" cap="none" spc="0" normalizeH="0" baseline="0" noProof="0">
              <a:ln>
                <a:noFill/>
              </a:ln>
              <a:solidFill>
                <a:srgbClr val="0033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2" name="Rectangle 13" descr="棚架"/>
          <p:cNvSpPr>
            <a:spLocks noChangeArrowheads="1"/>
          </p:cNvSpPr>
          <p:nvPr/>
        </p:nvSpPr>
        <p:spPr bwMode="auto">
          <a:xfrm>
            <a:off x="4191000" y="5403850"/>
            <a:ext cx="3505200" cy="838200"/>
          </a:xfrm>
          <a:prstGeom prst="rect">
            <a:avLst/>
          </a:prstGeom>
          <a:pattFill prst="trellis">
            <a:fgClr>
              <a:srgbClr val="00FFFF"/>
            </a:fgClr>
            <a:bgClr>
              <a:srgbClr val="FFFFFF"/>
            </a:bgClr>
          </a:pattFill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600" b="1" i="0" u="none" strike="noStrike" kern="0" cap="none" spc="0" normalizeH="0" baseline="0" noProof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</a:rPr>
              <a:t>无 序 序 列 区</a:t>
            </a:r>
            <a:endParaRPr kumimoji="1" lang="zh-CN" altLang="en-US" sz="4400" b="1" i="0" u="none" strike="noStrike" kern="0" cap="none" spc="0" normalizeH="0" baseline="0" noProof="0">
              <a:ln>
                <a:noFill/>
              </a:ln>
              <a:solidFill>
                <a:srgbClr val="0033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3" name="AutoShape 14"/>
          <p:cNvSpPr>
            <a:spLocks noChangeArrowheads="1"/>
          </p:cNvSpPr>
          <p:nvPr/>
        </p:nvSpPr>
        <p:spPr bwMode="auto">
          <a:xfrm>
            <a:off x="4876800" y="4337050"/>
            <a:ext cx="533400" cy="914400"/>
          </a:xfrm>
          <a:prstGeom prst="downArrow">
            <a:avLst>
              <a:gd name="adj1" fmla="val 50000"/>
              <a:gd name="adj2" fmla="val 42857"/>
            </a:avLst>
          </a:prstGeom>
          <a:solidFill>
            <a:srgbClr val="E2D700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vert="eaVert"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4" name="Line 15"/>
          <p:cNvSpPr>
            <a:spLocks noChangeShapeType="1"/>
          </p:cNvSpPr>
          <p:nvPr/>
        </p:nvSpPr>
        <p:spPr bwMode="auto">
          <a:xfrm>
            <a:off x="3657600" y="4108450"/>
            <a:ext cx="0" cy="1295400"/>
          </a:xfrm>
          <a:prstGeom prst="line">
            <a:avLst/>
          </a:prstGeom>
          <a:noFill/>
          <a:ln w="9525" cap="rnd">
            <a:solidFill>
              <a:srgbClr val="003366"/>
            </a:solidFill>
            <a:prstDash val="sysDot"/>
            <a:rou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3000" b="1">
              <a:solidFill>
                <a:srgbClr val="66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5" name="Line 16"/>
          <p:cNvSpPr>
            <a:spLocks noChangeShapeType="1"/>
          </p:cNvSpPr>
          <p:nvPr/>
        </p:nvSpPr>
        <p:spPr bwMode="auto">
          <a:xfrm>
            <a:off x="4191000" y="4108450"/>
            <a:ext cx="0" cy="1295400"/>
          </a:xfrm>
          <a:prstGeom prst="line">
            <a:avLst/>
          </a:prstGeom>
          <a:noFill/>
          <a:ln w="9525" cap="rnd">
            <a:solidFill>
              <a:srgbClr val="003366"/>
            </a:solidFill>
            <a:prstDash val="sysDot"/>
            <a:rou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3000" b="1">
              <a:solidFill>
                <a:srgbClr val="66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6" name="Text Box 2"/>
          <p:cNvSpPr txBox="1">
            <a:spLocks noChangeArrowheads="1"/>
          </p:cNvSpPr>
          <p:nvPr/>
        </p:nvSpPr>
        <p:spPr bwMode="auto">
          <a:xfrm>
            <a:off x="179388" y="838200"/>
            <a:ext cx="6553200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内部排序</a:t>
            </a:r>
            <a:endParaRPr kumimoji="1" lang="zh-CN" altLang="en-US" sz="2800" b="1" dirty="0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500"/>
                            </p:stCondLst>
                            <p:childTnLst>
                              <p:par>
                                <p:cTn id="46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utoUpdateAnimBg="0"/>
      <p:bldP spid="16" grpId="0" autoUpdateAnimBg="0"/>
      <p:bldP spid="19" grpId="0" animBg="1" autoUpdateAnimBg="0"/>
      <p:bldP spid="20" grpId="0" animBg="1" autoUpdateAnimBg="0"/>
      <p:bldP spid="21" grpId="0" animBg="1" autoUpdateAnimBg="0"/>
      <p:bldP spid="22" grpId="0" animBg="1" autoUpdateAnimBg="0"/>
      <p:bldP spid="23" grpId="0" animBg="1"/>
      <p:bldP spid="24" grpId="0" animBg="1"/>
      <p:bldP spid="2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6.1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概述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8C83A-E4BD-475E-9A75-559CFBBD340B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 Box 2"/>
          <p:cNvSpPr txBox="1">
            <a:spLocks noChangeArrowheads="1"/>
          </p:cNvSpPr>
          <p:nvPr/>
        </p:nvSpPr>
        <p:spPr bwMode="auto">
          <a:xfrm>
            <a:off x="457200" y="1537231"/>
            <a:ext cx="8093075" cy="1323439"/>
          </a:xfrm>
          <a:prstGeom prst="rect">
            <a:avLst/>
          </a:prstGeom>
          <a:noFill/>
          <a:ln w="9525">
            <a:solidFill>
              <a:srgbClr val="003300"/>
            </a:solidFill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　基于不同的“扩大” 有序序列长度的方法，内部排序方法大致可分下列几种类型：</a:t>
            </a:r>
            <a:endParaRPr kumimoji="1" lang="zh-CN" altLang="en-US" sz="32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8" name="Text Box 6">
            <a:hlinkClick r:id="rId2" action="ppaction://hlinksldjump" highlightClick="1"/>
          </p:cNvPr>
          <p:cNvSpPr txBox="1">
            <a:spLocks noChangeArrowheads="1"/>
          </p:cNvSpPr>
          <p:nvPr/>
        </p:nvSpPr>
        <p:spPr bwMode="auto">
          <a:xfrm>
            <a:off x="838200" y="3719513"/>
            <a:ext cx="1874838" cy="762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4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插入类</a:t>
            </a:r>
            <a:endParaRPr kumimoji="1" lang="zh-CN" altLang="en-US" sz="4800" b="1" dirty="0">
              <a:solidFill>
                <a:srgbClr val="0033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9" name="Text Box 7">
            <a:hlinkClick r:id="rId3" action="ppaction://hlinksldjump" highlightClick="1"/>
          </p:cNvPr>
          <p:cNvSpPr txBox="1">
            <a:spLocks noChangeArrowheads="1"/>
          </p:cNvSpPr>
          <p:nvPr/>
        </p:nvSpPr>
        <p:spPr bwMode="auto">
          <a:xfrm>
            <a:off x="3657600" y="3719513"/>
            <a:ext cx="1874838" cy="762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400" b="1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交换类</a:t>
            </a:r>
            <a:endParaRPr kumimoji="1" lang="zh-CN" altLang="en-US" sz="4800" b="1">
              <a:solidFill>
                <a:srgbClr val="0033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0" name="Text Box 8">
            <a:hlinkClick r:id="rId4" action="ppaction://hlinksldjump" highlightClick="1"/>
          </p:cNvPr>
          <p:cNvSpPr txBox="1">
            <a:spLocks noChangeArrowheads="1"/>
          </p:cNvSpPr>
          <p:nvPr/>
        </p:nvSpPr>
        <p:spPr bwMode="auto">
          <a:xfrm>
            <a:off x="6477000" y="3719513"/>
            <a:ext cx="1874838" cy="762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400" b="1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选择类</a:t>
            </a:r>
            <a:endParaRPr kumimoji="1" lang="zh-CN" altLang="en-US" sz="4800" b="1">
              <a:solidFill>
                <a:srgbClr val="0033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1" name="Text Box 9">
            <a:hlinkClick r:id="rId5" action="ppaction://hlinksldjump"/>
          </p:cNvPr>
          <p:cNvSpPr txBox="1">
            <a:spLocks noChangeArrowheads="1"/>
          </p:cNvSpPr>
          <p:nvPr/>
        </p:nvSpPr>
        <p:spPr bwMode="auto">
          <a:xfrm>
            <a:off x="1782763" y="5022850"/>
            <a:ext cx="2014537" cy="762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4400" b="1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4400" b="1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归并类</a:t>
            </a:r>
            <a:endParaRPr kumimoji="1" lang="zh-CN" altLang="en-US" sz="4800" b="1">
              <a:solidFill>
                <a:srgbClr val="0033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2" name="Text Box 10">
            <a:hlinkClick r:id="rId5" action="ppaction://hlinksldjump" highlightClick="1"/>
          </p:cNvPr>
          <p:cNvSpPr txBox="1">
            <a:spLocks noChangeArrowheads="1"/>
          </p:cNvSpPr>
          <p:nvPr/>
        </p:nvSpPr>
        <p:spPr bwMode="auto">
          <a:xfrm>
            <a:off x="4953000" y="5022850"/>
            <a:ext cx="2438400" cy="762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400" b="1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其它方法</a:t>
            </a:r>
            <a:endParaRPr kumimoji="1" lang="zh-CN" altLang="en-US" sz="4400" b="1">
              <a:solidFill>
                <a:srgbClr val="0033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3" name="Text Box 2"/>
          <p:cNvSpPr txBox="1">
            <a:spLocks noChangeArrowheads="1"/>
          </p:cNvSpPr>
          <p:nvPr/>
        </p:nvSpPr>
        <p:spPr bwMode="auto">
          <a:xfrm>
            <a:off x="179388" y="838200"/>
            <a:ext cx="6553200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内部排序</a:t>
            </a:r>
            <a:endParaRPr kumimoji="1" lang="zh-CN" altLang="en-US" sz="2800" b="1" dirty="0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 autoUpdateAnimBg="0"/>
      <p:bldP spid="28" grpId="0" autoUpdateAnimBg="0"/>
      <p:bldP spid="29" grpId="0" autoUpdateAnimBg="0"/>
      <p:bldP spid="30" grpId="0" autoUpdateAnimBg="0"/>
      <p:bldP spid="31" grpId="0" autoUpdateAnimBg="0"/>
      <p:bldP spid="32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6.1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概述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32C5-74F6-4B5A-8F7F-DEA35A0552F4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1026"/>
          <p:cNvSpPr txBox="1">
            <a:spLocks noChangeArrowheads="1"/>
          </p:cNvSpPr>
          <p:nvPr/>
        </p:nvSpPr>
        <p:spPr bwMode="auto">
          <a:xfrm>
            <a:off x="792163" y="1522404"/>
            <a:ext cx="2241319" cy="70788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40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1. </a:t>
            </a:r>
            <a:r>
              <a:rPr kumimoji="1" lang="zh-CN" altLang="en-US" sz="40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插入类</a:t>
            </a:r>
            <a:endParaRPr kumimoji="1" lang="zh-CN" altLang="en-US" sz="4000" b="1" dirty="0">
              <a:solidFill>
                <a:srgbClr val="0033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4" name="Text Box 1027"/>
          <p:cNvSpPr txBox="1">
            <a:spLocks noChangeArrowheads="1"/>
          </p:cNvSpPr>
          <p:nvPr/>
        </p:nvSpPr>
        <p:spPr bwMode="auto">
          <a:xfrm>
            <a:off x="762000" y="2355850"/>
            <a:ext cx="7881966" cy="2837828"/>
          </a:xfrm>
          <a:prstGeom prst="rect">
            <a:avLst/>
          </a:prstGeom>
          <a:noFill/>
          <a:ln w="9525">
            <a:solidFill>
              <a:srgbClr val="003300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4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　　</a:t>
            </a:r>
            <a:r>
              <a:rPr kumimoji="1" lang="zh-CN" altLang="en-US" sz="40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将无序子序列中的一个或几个记录“插入”到有序序列中，从而增加记录的有序子序列的长度。</a:t>
            </a:r>
            <a:endParaRPr kumimoji="1" lang="zh-CN" altLang="en-US" sz="40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5" name="Text Box 2"/>
          <p:cNvSpPr txBox="1">
            <a:spLocks noChangeArrowheads="1"/>
          </p:cNvSpPr>
          <p:nvPr/>
        </p:nvSpPr>
        <p:spPr bwMode="auto">
          <a:xfrm>
            <a:off x="179388" y="914400"/>
            <a:ext cx="6553200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内部排序</a:t>
            </a:r>
            <a:endParaRPr kumimoji="1" lang="zh-CN" altLang="en-US" sz="2800" b="1" dirty="0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utoUpdateAnimBg="0"/>
      <p:bldP spid="14" grpId="0" animBg="1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6.1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概述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F3915-8DD9-438D-B130-C71425F3519F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8"/>
          <p:cNvSpPr txBox="1">
            <a:spLocks noChangeArrowheads="1"/>
          </p:cNvSpPr>
          <p:nvPr/>
        </p:nvSpPr>
        <p:spPr bwMode="auto">
          <a:xfrm>
            <a:off x="746125" y="2313917"/>
            <a:ext cx="7826403" cy="3194721"/>
          </a:xfrm>
          <a:prstGeom prst="rect">
            <a:avLst/>
          </a:prstGeom>
          <a:noFill/>
          <a:ln w="9525">
            <a:solidFill>
              <a:srgbClr val="003300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6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　　通过“</a:t>
            </a:r>
            <a:r>
              <a:rPr kumimoji="1"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交换</a:t>
            </a:r>
            <a:r>
              <a:rPr kumimoji="1" lang="zh-CN" altLang="en-US" sz="36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”无序序列中的记录从而得到其中</a:t>
            </a:r>
            <a:r>
              <a:rPr kumimoji="1"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关键字最小或最大</a:t>
            </a:r>
            <a:r>
              <a:rPr kumimoji="1" lang="zh-CN" altLang="en-US" sz="36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的记录，并将它</a:t>
            </a:r>
            <a:r>
              <a:rPr kumimoji="1"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加入到有序子序列</a:t>
            </a:r>
            <a:r>
              <a:rPr kumimoji="1" lang="zh-CN" altLang="en-US" sz="36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中，以此方法增加记录的有序子序列的长度。</a:t>
            </a:r>
            <a:endParaRPr kumimoji="1" lang="zh-CN" altLang="en-US" sz="36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4" name="Text Box 2"/>
          <p:cNvSpPr txBox="1">
            <a:spLocks noChangeArrowheads="1"/>
          </p:cNvSpPr>
          <p:nvPr/>
        </p:nvSpPr>
        <p:spPr bwMode="auto">
          <a:xfrm>
            <a:off x="179388" y="914400"/>
            <a:ext cx="6553200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内部排序</a:t>
            </a:r>
            <a:endParaRPr kumimoji="1" lang="zh-CN" altLang="en-US" sz="2800" b="1" dirty="0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" name="Text Box 1026"/>
          <p:cNvSpPr txBox="1">
            <a:spLocks noChangeArrowheads="1"/>
          </p:cNvSpPr>
          <p:nvPr/>
        </p:nvSpPr>
        <p:spPr bwMode="auto">
          <a:xfrm>
            <a:off x="792163" y="1522404"/>
            <a:ext cx="2241319" cy="70788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40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2. </a:t>
            </a:r>
            <a:r>
              <a:rPr kumimoji="1" lang="zh-CN" altLang="en-US" sz="40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交换类</a:t>
            </a:r>
            <a:endParaRPr kumimoji="1" lang="zh-CN" altLang="en-US" sz="4000" b="1" dirty="0">
              <a:solidFill>
                <a:srgbClr val="0033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9500"/>
                            </p:stCondLst>
                            <p:childTnLst>
                              <p:par>
                                <p:cTn id="9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 autoUpdateAnimBg="0"/>
      <p:bldP spid="15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6.1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概述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22163-714E-467A-80E9-CF8DD9F2FFC2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889001" y="2528231"/>
            <a:ext cx="7397775" cy="3194721"/>
          </a:xfrm>
          <a:prstGeom prst="rect">
            <a:avLst/>
          </a:prstGeom>
          <a:noFill/>
          <a:ln w="9525">
            <a:solidFill>
              <a:srgbClr val="003300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6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　　从记录的无序子序列中“</a:t>
            </a:r>
            <a:r>
              <a:rPr kumimoji="1"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选择</a:t>
            </a:r>
            <a:r>
              <a:rPr kumimoji="1" lang="zh-CN" altLang="en-US" sz="36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”关键字</a:t>
            </a:r>
            <a:r>
              <a:rPr kumimoji="1"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最小或最大</a:t>
            </a:r>
            <a:r>
              <a:rPr kumimoji="1" lang="zh-CN" altLang="en-US" sz="36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的记录，并将它</a:t>
            </a:r>
            <a:r>
              <a:rPr kumimoji="1"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加入到有序子序列</a:t>
            </a:r>
            <a:r>
              <a:rPr kumimoji="1" lang="zh-CN" altLang="en-US" sz="36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中，以此方法增加记录的有序子序列的长度。</a:t>
            </a:r>
            <a:endParaRPr kumimoji="1" lang="zh-CN" altLang="en-US" sz="36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4" name="Text Box 2"/>
          <p:cNvSpPr txBox="1">
            <a:spLocks noChangeArrowheads="1"/>
          </p:cNvSpPr>
          <p:nvPr/>
        </p:nvSpPr>
        <p:spPr bwMode="auto">
          <a:xfrm>
            <a:off x="179388" y="914400"/>
            <a:ext cx="6553200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内部排序</a:t>
            </a:r>
            <a:endParaRPr kumimoji="1" lang="zh-CN" altLang="en-US" sz="2800" b="1" dirty="0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" name="Text Box 1026"/>
          <p:cNvSpPr txBox="1">
            <a:spLocks noChangeArrowheads="1"/>
          </p:cNvSpPr>
          <p:nvPr/>
        </p:nvSpPr>
        <p:spPr bwMode="auto">
          <a:xfrm>
            <a:off x="792163" y="1522404"/>
            <a:ext cx="2241319" cy="70788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40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3. </a:t>
            </a:r>
            <a:r>
              <a:rPr kumimoji="1" lang="zh-CN" altLang="en-US" sz="40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选择类</a:t>
            </a:r>
            <a:endParaRPr kumimoji="1" lang="zh-CN" altLang="en-US" sz="4000" b="1" dirty="0">
              <a:solidFill>
                <a:srgbClr val="0033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 autoUpdateAnimBg="0"/>
      <p:bldP spid="15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6.1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概述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F54B7-B21F-4949-8B73-876E3B7C9075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762000" y="2359034"/>
            <a:ext cx="6953272" cy="2654300"/>
          </a:xfrm>
          <a:prstGeom prst="rect">
            <a:avLst/>
          </a:prstGeom>
          <a:noFill/>
          <a:ln w="9525">
            <a:solidFill>
              <a:srgbClr val="003300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　通过“</a:t>
            </a:r>
            <a:r>
              <a:rPr kumimoji="1" lang="zh-CN" alt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归并</a:t>
            </a:r>
            <a:r>
              <a:rPr kumimoji="1" lang="zh-CN" altLang="en-US" sz="40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”两个或两个以上的记录有序子序列，</a:t>
            </a:r>
            <a:r>
              <a:rPr kumimoji="1" lang="zh-CN" alt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逐步增加</a:t>
            </a:r>
            <a:r>
              <a:rPr kumimoji="1" lang="zh-CN" altLang="en-US" sz="40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记录</a:t>
            </a:r>
            <a:r>
              <a:rPr kumimoji="1" lang="zh-CN" alt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有序序列的长度</a:t>
            </a:r>
            <a:r>
              <a:rPr kumimoji="1" lang="zh-CN" altLang="en-US" sz="40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。</a:t>
            </a:r>
            <a:endParaRPr kumimoji="1" lang="zh-CN" altLang="en-US" sz="40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4" name="Text Box 2"/>
          <p:cNvSpPr txBox="1">
            <a:spLocks noChangeArrowheads="1"/>
          </p:cNvSpPr>
          <p:nvPr/>
        </p:nvSpPr>
        <p:spPr bwMode="auto">
          <a:xfrm>
            <a:off x="179388" y="990600"/>
            <a:ext cx="6553200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内部排序</a:t>
            </a:r>
            <a:endParaRPr kumimoji="1" lang="zh-CN" altLang="en-US" sz="2800" b="1" dirty="0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" name="Text Box 1026"/>
          <p:cNvSpPr txBox="1">
            <a:spLocks noChangeArrowheads="1"/>
          </p:cNvSpPr>
          <p:nvPr/>
        </p:nvSpPr>
        <p:spPr bwMode="auto">
          <a:xfrm>
            <a:off x="792163" y="1512872"/>
            <a:ext cx="2113079" cy="70788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40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4.</a:t>
            </a:r>
            <a:r>
              <a:rPr kumimoji="1" lang="zh-CN" altLang="en-US" sz="40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归并类</a:t>
            </a:r>
            <a:endParaRPr kumimoji="1" lang="zh-CN" altLang="en-US" sz="4000" b="1" dirty="0">
              <a:solidFill>
                <a:srgbClr val="0033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6" name="Text Box 1026"/>
          <p:cNvSpPr txBox="1">
            <a:spLocks noChangeArrowheads="1"/>
          </p:cNvSpPr>
          <p:nvPr/>
        </p:nvSpPr>
        <p:spPr bwMode="auto">
          <a:xfrm>
            <a:off x="792163" y="5377018"/>
            <a:ext cx="2627642" cy="70788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40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5.</a:t>
            </a:r>
            <a:r>
              <a:rPr kumimoji="1" lang="zh-CN" altLang="en-US" sz="40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其它方法</a:t>
            </a:r>
            <a:endParaRPr kumimoji="1" lang="zh-CN" altLang="en-US" sz="4000" b="1" dirty="0">
              <a:solidFill>
                <a:srgbClr val="0033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 autoUpdateAnimBg="0"/>
      <p:bldP spid="15" grpId="0" autoUpdateAnimBg="0"/>
      <p:bldP spid="16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6.1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概述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65B91-CAB9-412C-8F9F-0449FACC0636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Box 2"/>
          <p:cNvSpPr txBox="1">
            <a:spLocks noChangeArrowheads="1"/>
          </p:cNvSpPr>
          <p:nvPr/>
        </p:nvSpPr>
        <p:spPr bwMode="auto">
          <a:xfrm>
            <a:off x="179388" y="990600"/>
            <a:ext cx="6553200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内部排序</a:t>
            </a:r>
            <a:endParaRPr kumimoji="1" lang="zh-CN" altLang="en-US" sz="2800" b="1" dirty="0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" name="Text Box 1026"/>
          <p:cNvSpPr txBox="1">
            <a:spLocks noChangeArrowheads="1"/>
          </p:cNvSpPr>
          <p:nvPr/>
        </p:nvSpPr>
        <p:spPr bwMode="auto">
          <a:xfrm>
            <a:off x="609600" y="1547704"/>
            <a:ext cx="7907889" cy="4593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fontAlgn="base">
              <a:lnSpc>
                <a:spcPts val="39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排序算法的性能： </a:t>
            </a:r>
            <a:endParaRPr kumimoji="1" lang="en-US" altLang="zh-CN" sz="28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marL="914400" lvl="1" indent="-457200" fontAlgn="base">
              <a:lnSpc>
                <a:spcPts val="39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基本操作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。内排序在排序过程中的基本操作： </a:t>
            </a:r>
            <a:endParaRPr kumimoji="1" lang="en-US" altLang="zh-CN" sz="2800" b="1" dirty="0">
              <a:solidFill>
                <a:srgbClr val="0033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marL="1371600" lvl="2" indent="-457200" fontAlgn="base">
              <a:lnSpc>
                <a:spcPts val="39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比较</a:t>
            </a:r>
            <a:r>
              <a:rPr kumimoji="1" lang="zh-CN" altLang="en-US" sz="24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：关键码之间的比较； </a:t>
            </a:r>
            <a:endParaRPr kumimoji="1" lang="en-US" altLang="zh-CN" sz="2400" b="1" dirty="0">
              <a:solidFill>
                <a:srgbClr val="0033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marL="1371600" lvl="2" indent="-457200" fontAlgn="base">
              <a:lnSpc>
                <a:spcPts val="39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移动</a:t>
            </a:r>
            <a:r>
              <a:rPr kumimoji="1" lang="zh-CN" altLang="en-US" sz="24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：记录从一个位置移动到另一个位置。 </a:t>
            </a:r>
            <a:endParaRPr kumimoji="1" lang="en-US" altLang="zh-CN" sz="2400" b="1" dirty="0">
              <a:solidFill>
                <a:srgbClr val="0033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marL="914400" lvl="1" indent="-457200" fontAlgn="base">
              <a:lnSpc>
                <a:spcPts val="39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辅助存储空间。 </a:t>
            </a:r>
            <a:endParaRPr kumimoji="1" lang="en-US" altLang="zh-CN" sz="28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marL="1371600" lvl="2" indent="-457200" fontAlgn="base">
              <a:lnSpc>
                <a:spcPts val="39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zh-CN" altLang="en-US" sz="24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辅助存储空间是指在数据规模一定的条件下，除了存放待排序记录占用的存储空间之外，执行算法所需要 的其他额外存储空间。</a:t>
            </a:r>
            <a:endParaRPr kumimoji="1" lang="en-US" altLang="zh-CN" sz="2400" b="1" dirty="0">
              <a:solidFill>
                <a:srgbClr val="0033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marL="914400" lvl="1" indent="-457200" fontAlgn="base">
              <a:lnSpc>
                <a:spcPts val="39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算法本身的复杂度。</a:t>
            </a:r>
            <a:endParaRPr kumimoji="1"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6.1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概述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04EDF-2FC4-4D18-8955-AD31993121EA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5"/>
          <p:cNvSpPr txBox="1">
            <a:spLocks noChangeArrowheads="1"/>
          </p:cNvSpPr>
          <p:nvPr/>
        </p:nvSpPr>
        <p:spPr bwMode="auto">
          <a:xfrm>
            <a:off x="1231900" y="1616075"/>
            <a:ext cx="7588250" cy="34766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#define MAXSIZE  1000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// 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待排顺序表最大长度</a:t>
            </a:r>
            <a:endParaRPr kumimoji="1" lang="zh-CN" altLang="en-US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" name="Text Box 6"/>
          <p:cNvSpPr txBox="1">
            <a:spLocks noChangeArrowheads="1"/>
          </p:cNvSpPr>
          <p:nvPr/>
        </p:nvSpPr>
        <p:spPr bwMode="auto">
          <a:xfrm>
            <a:off x="1260475" y="2120900"/>
            <a:ext cx="7632700" cy="34766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typedef  int  KeyType;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 // 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关键字类型为整数类型</a:t>
            </a:r>
            <a:endParaRPr kumimoji="1" lang="zh-CN" altLang="en-US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" name="Text Box 7"/>
          <p:cNvSpPr txBox="1">
            <a:spLocks noChangeArrowheads="1"/>
          </p:cNvSpPr>
          <p:nvPr/>
        </p:nvSpPr>
        <p:spPr bwMode="auto">
          <a:xfrm>
            <a:off x="1692275" y="2624138"/>
            <a:ext cx="7056438" cy="175736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typedef  struct {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  </a:t>
            </a:r>
            <a:r>
              <a:rPr kumimoji="1"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KeyType   key;                            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// 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关键字项</a:t>
            </a:r>
            <a:endParaRPr kumimoji="1" lang="zh-CN" altLang="en-US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FF3300"/>
                </a:solidFill>
                <a:latin typeface="Times New Roman" panose="02020603050405020304" pitchFamily="18" charset="0"/>
              </a:rPr>
              <a:t>    </a:t>
            </a:r>
            <a:r>
              <a:rPr kumimoji="1"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InfoType  otherinfo;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             // 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其它数据项</a:t>
            </a:r>
            <a:endParaRPr kumimoji="1" lang="zh-CN" altLang="en-US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} RcdType;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                                     // 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记录类型</a:t>
            </a:r>
            <a:endParaRPr kumimoji="1" lang="zh-CN" altLang="en-US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" name="Text Box 8"/>
          <p:cNvSpPr txBox="1">
            <a:spLocks noChangeArrowheads="1"/>
          </p:cNvSpPr>
          <p:nvPr/>
        </p:nvSpPr>
        <p:spPr bwMode="auto">
          <a:xfrm>
            <a:off x="1258888" y="4567238"/>
            <a:ext cx="7416800" cy="175736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typedef  struct {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   </a:t>
            </a:r>
            <a:r>
              <a:rPr kumimoji="1"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RcdType    r[MAXSIZE+1];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          // r[0]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闲置</a:t>
            </a:r>
            <a:endParaRPr kumimoji="1" lang="zh-CN" altLang="en-US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   </a:t>
            </a:r>
            <a:r>
              <a:rPr kumimoji="1"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int               length;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                     // 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顺序表长度</a:t>
            </a:r>
            <a:endParaRPr kumimoji="1" lang="zh-CN" altLang="en-US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} SqList;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                                          // 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顺序表类型</a:t>
            </a:r>
            <a:endParaRPr kumimoji="1" lang="zh-CN" altLang="en-US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" name="Text Box 9"/>
          <p:cNvSpPr txBox="1">
            <a:spLocks noChangeArrowheads="1"/>
          </p:cNvSpPr>
          <p:nvPr/>
        </p:nvSpPr>
        <p:spPr bwMode="auto">
          <a:xfrm>
            <a:off x="36513" y="838200"/>
            <a:ext cx="2951162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 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存储结构</a:t>
            </a:r>
            <a:endParaRPr kumimoji="1" lang="zh-CN" altLang="en-US" sz="2800" b="1" dirty="0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F0000"/>
                </a:solidFill>
              </a:rPr>
              <a:t>第六章 排序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 lnSpcReduction="10000"/>
          </a:bodyPr>
          <a:lstStyle/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6.1 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概述</a:t>
            </a:r>
            <a:endParaRPr kumimoji="1" lang="zh-CN" altLang="en-US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6.2  </a:t>
            </a:r>
            <a:r>
              <a:rPr kumimoji="1" lang="zh-CN" altLang="en-US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插入排序</a:t>
            </a:r>
            <a:endParaRPr kumimoji="1" lang="zh-CN" altLang="en-US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6.3 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快速排序</a:t>
            </a:r>
            <a:endParaRPr kumimoji="1" lang="zh-CN" altLang="en-US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6.4 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选择排序</a:t>
            </a:r>
            <a:endParaRPr kumimoji="1" lang="zh-CN" altLang="en-US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6.5 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归并排序</a:t>
            </a:r>
            <a:endParaRPr kumimoji="1" lang="zh-CN" altLang="en-US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6.6 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基数排序</a:t>
            </a:r>
            <a:endParaRPr kumimoji="1" lang="zh-CN" altLang="en-US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6.7 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内部排序方法的比较</a:t>
            </a:r>
            <a:endParaRPr kumimoji="1" lang="zh-CN" altLang="en-US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6F0F5-E1DB-431D-8996-6E8A56C353EA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6.2 </a:t>
            </a:r>
            <a:r>
              <a:rPr lang="zh-CN" altLang="en-US" b="1" dirty="0"/>
              <a:t>插入排序</a:t>
            </a:r>
            <a:endParaRPr lang="zh-CN" altLang="en-US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6.2.1 </a:t>
            </a:r>
            <a:r>
              <a:rPr kumimoji="1" lang="zh-CN" altLang="en-US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直接插入排序</a:t>
            </a:r>
            <a:endParaRPr kumimoji="1" lang="zh-CN" altLang="en-US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6.2.2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折半插入排序</a:t>
            </a:r>
            <a:endParaRPr kumimoji="1" lang="en-US" altLang="zh-CN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6.2.3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表插入排序</a:t>
            </a:r>
            <a:endParaRPr kumimoji="1" lang="zh-CN" altLang="en-US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6.2.4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希尔排序</a:t>
            </a:r>
            <a:endParaRPr kumimoji="1" lang="zh-CN" altLang="en-US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B1B06-8E59-4BCB-B764-896841A125E6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6.2.1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直接插入排序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CBBCE-1F08-4710-AF08-461CC687E02D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1026">
            <a:hlinkClick r:id="" action="ppaction://hlinkshowjump?jump=nextslide"/>
          </p:cNvPr>
          <p:cNvSpPr txBox="1">
            <a:spLocks noChangeArrowheads="1"/>
          </p:cNvSpPr>
          <p:nvPr/>
        </p:nvSpPr>
        <p:spPr bwMode="auto">
          <a:xfrm>
            <a:off x="1066800" y="2068289"/>
            <a:ext cx="6858000" cy="64633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zh-CN" altLang="en-US" sz="36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直接插入排序（基于</a:t>
            </a:r>
            <a:r>
              <a:rPr kumimoji="1"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顺序</a:t>
            </a:r>
            <a:r>
              <a:rPr kumimoji="1" lang="zh-CN" altLang="en-US" sz="36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查找）</a:t>
            </a:r>
            <a:endParaRPr kumimoji="1" lang="zh-CN" altLang="en-US" sz="36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4" name="Text Box 1028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1143000" y="3786190"/>
            <a:ext cx="6369051" cy="64633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zh-CN" altLang="en-US" sz="36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表插入排序（基于</a:t>
            </a:r>
            <a:r>
              <a:rPr kumimoji="1"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链表</a:t>
            </a:r>
            <a:r>
              <a:rPr kumimoji="1" lang="zh-CN" altLang="en-US" sz="36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存储）</a:t>
            </a:r>
            <a:endParaRPr kumimoji="1" lang="zh-CN" altLang="en-US" sz="36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5" name="Text Box 1036"/>
          <p:cNvSpPr txBox="1">
            <a:spLocks noChangeArrowheads="1"/>
          </p:cNvSpPr>
          <p:nvPr/>
        </p:nvSpPr>
        <p:spPr bwMode="auto">
          <a:xfrm>
            <a:off x="425450" y="1001700"/>
            <a:ext cx="8470900" cy="641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600" b="1" dirty="0">
                <a:solidFill>
                  <a:srgbClr val="003300"/>
                </a:solidFill>
                <a:latin typeface="宋体" panose="02010600030101010101" pitchFamily="2" charset="-122"/>
              </a:rPr>
              <a:t>不同的具体实现方法导致不同的算法描述</a:t>
            </a:r>
            <a:endParaRPr kumimoji="1" lang="zh-CN" altLang="en-US" sz="3600" b="1" dirty="0">
              <a:solidFill>
                <a:srgbClr val="003300"/>
              </a:solidFill>
              <a:latin typeface="宋体" panose="02010600030101010101" pitchFamily="2" charset="-122"/>
            </a:endParaRPr>
          </a:p>
        </p:txBody>
      </p:sp>
      <p:sp>
        <p:nvSpPr>
          <p:cNvPr id="16" name="Text Box 1037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1143000" y="2987475"/>
            <a:ext cx="6858000" cy="64633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zh-CN" altLang="en-US" sz="36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折半插入排序（基于</a:t>
            </a:r>
            <a:r>
              <a:rPr kumimoji="1"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折半</a:t>
            </a:r>
            <a:r>
              <a:rPr kumimoji="1" lang="zh-CN" altLang="en-US" sz="36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查找）</a:t>
            </a:r>
            <a:endParaRPr kumimoji="1" lang="zh-CN" altLang="en-US" sz="36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7" name="Text Box 1038">
            <a:hlinkClick r:id="rId4" action="ppaction://hlinksldjump"/>
          </p:cNvPr>
          <p:cNvSpPr txBox="1">
            <a:spLocks noChangeArrowheads="1"/>
          </p:cNvSpPr>
          <p:nvPr/>
        </p:nvSpPr>
        <p:spPr bwMode="auto">
          <a:xfrm>
            <a:off x="1143000" y="4857760"/>
            <a:ext cx="6858000" cy="64633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zh-CN" altLang="en-US" sz="36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希尔排序（基于</a:t>
            </a:r>
            <a:r>
              <a:rPr kumimoji="1"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逐趟缩小增量</a:t>
            </a:r>
            <a:r>
              <a:rPr kumimoji="1" lang="zh-CN" altLang="en-US" sz="36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）</a:t>
            </a:r>
            <a:endParaRPr kumimoji="1" lang="zh-CN" altLang="en-US" sz="36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utoUpdateAnimBg="0"/>
      <p:bldP spid="14" grpId="0" autoUpdateAnimBg="0"/>
      <p:bldP spid="15" grpId="0" autoUpdateAnimBg="0"/>
      <p:bldP spid="16" grpId="0" autoUpdateAnimBg="0"/>
      <p:bldP spid="17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6.2.1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直接插入排序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30E71-B26E-4B87-88BD-2359FAF58529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4" descr="60%"/>
          <p:cNvSpPr>
            <a:spLocks noChangeArrowheads="1"/>
          </p:cNvSpPr>
          <p:nvPr/>
        </p:nvSpPr>
        <p:spPr bwMode="auto">
          <a:xfrm>
            <a:off x="533400" y="2095520"/>
            <a:ext cx="3352800" cy="838200"/>
          </a:xfrm>
          <a:prstGeom prst="rect">
            <a:avLst/>
          </a:prstGeom>
          <a:pattFill prst="pct60">
            <a:fgClr>
              <a:srgbClr val="CC99FF"/>
            </a:fgClr>
            <a:bgClr>
              <a:srgbClr val="FFFFFF"/>
            </a:bgClr>
          </a:pattFill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1" i="0" u="none" strike="noStrike" kern="0" cap="none" spc="0" normalizeH="0" baseline="0" noProof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有序序列</a:t>
            </a:r>
            <a:r>
              <a:rPr kumimoji="1" lang="en-US" altLang="zh-CN" sz="3200" b="1" i="0" u="none" strike="noStrike" kern="0" cap="none" spc="0" normalizeH="0" baseline="0" noProof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R[1..i-1]</a:t>
            </a:r>
            <a:endParaRPr kumimoji="1" lang="en-US" altLang="zh-CN" sz="3000" b="1" i="0" u="none" strike="noStrike" kern="0" cap="none" spc="0" normalizeH="0" baseline="0" noProof="0">
              <a:ln>
                <a:noFill/>
              </a:ln>
              <a:solidFill>
                <a:srgbClr val="0033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9" name="Rectangle 5"/>
          <p:cNvSpPr>
            <a:spLocks noChangeArrowheads="1"/>
          </p:cNvSpPr>
          <p:nvPr/>
        </p:nvSpPr>
        <p:spPr bwMode="auto">
          <a:xfrm>
            <a:off x="3886200" y="3238520"/>
            <a:ext cx="762000" cy="838200"/>
          </a:xfrm>
          <a:prstGeom prst="rect">
            <a:avLst/>
          </a:prstGeom>
          <a:gradFill rotWithShape="0">
            <a:gsLst>
              <a:gs pos="0">
                <a:srgbClr val="66FFFF"/>
              </a:gs>
              <a:gs pos="100000">
                <a:srgbClr val="66FFFF">
                  <a:gamma/>
                  <a:shade val="94118"/>
                  <a:invGamma/>
                </a:srgbClr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0" cap="none" spc="0" normalizeH="0" baseline="0" noProof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R[i]</a:t>
            </a:r>
            <a:endParaRPr kumimoji="1" lang="en-US" altLang="zh-CN" sz="3000" b="1" i="0" u="none" strike="noStrike" kern="0" cap="none" spc="0" normalizeH="0" baseline="0" noProof="0">
              <a:ln>
                <a:noFill/>
              </a:ln>
              <a:solidFill>
                <a:srgbClr val="0033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0" name="Rectangle 6" descr="棚架"/>
          <p:cNvSpPr>
            <a:spLocks noChangeArrowheads="1"/>
          </p:cNvSpPr>
          <p:nvPr/>
        </p:nvSpPr>
        <p:spPr bwMode="auto">
          <a:xfrm>
            <a:off x="3886200" y="2095520"/>
            <a:ext cx="4724400" cy="838200"/>
          </a:xfrm>
          <a:prstGeom prst="rect">
            <a:avLst/>
          </a:prstGeom>
          <a:pattFill prst="trellis">
            <a:fgClr>
              <a:srgbClr val="00FFFF"/>
            </a:fgClr>
            <a:bgClr>
              <a:srgbClr val="FFFFFF"/>
            </a:bgClr>
          </a:pattFill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1" i="0" u="none" strike="noStrike" kern="0" cap="none" spc="0" normalizeH="0" baseline="0" noProof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无序序列 </a:t>
            </a:r>
            <a:r>
              <a:rPr kumimoji="1" lang="en-US" altLang="zh-CN" sz="3200" b="1" i="0" u="none" strike="noStrike" kern="0" cap="none" spc="0" normalizeH="0" baseline="0" noProof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R[i..n]</a:t>
            </a:r>
            <a:endParaRPr kumimoji="1" lang="en-US" altLang="zh-CN" sz="3200" b="1" i="0" u="none" strike="noStrike" kern="0" cap="none" spc="0" normalizeH="0" baseline="0" noProof="0">
              <a:ln>
                <a:noFill/>
              </a:ln>
              <a:solidFill>
                <a:srgbClr val="0033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1" name="Text Box 14"/>
          <p:cNvSpPr txBox="1">
            <a:spLocks noChangeArrowheads="1"/>
          </p:cNvSpPr>
          <p:nvPr/>
        </p:nvSpPr>
        <p:spPr bwMode="auto">
          <a:xfrm>
            <a:off x="441325" y="1504122"/>
            <a:ext cx="5952270" cy="5847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一趟直接插入排序的基本思想：</a:t>
            </a:r>
            <a:endParaRPr kumimoji="1" lang="zh-CN" altLang="en-US" sz="32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2" name="Rectangle 15" descr="60%"/>
          <p:cNvSpPr>
            <a:spLocks noChangeArrowheads="1"/>
          </p:cNvSpPr>
          <p:nvPr/>
        </p:nvSpPr>
        <p:spPr bwMode="auto">
          <a:xfrm>
            <a:off x="533400" y="5448320"/>
            <a:ext cx="4114800" cy="838200"/>
          </a:xfrm>
          <a:prstGeom prst="rect">
            <a:avLst/>
          </a:prstGeom>
          <a:pattFill prst="pct60">
            <a:fgClr>
              <a:srgbClr val="CC99FF"/>
            </a:fgClr>
            <a:bgClr>
              <a:srgbClr val="FFFFFF"/>
            </a:bgClr>
          </a:pattFill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1" i="0" u="none" strike="noStrike" kern="0" cap="none" spc="0" normalizeH="0" baseline="0" noProof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有序序列</a:t>
            </a:r>
            <a:r>
              <a:rPr kumimoji="1" lang="en-US" altLang="zh-CN" sz="3200" b="1" i="0" u="none" strike="noStrike" kern="0" cap="none" spc="0" normalizeH="0" baseline="0" noProof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R[1..i]</a:t>
            </a:r>
            <a:endParaRPr kumimoji="1" lang="en-US" altLang="zh-CN" sz="3000" b="1" i="0" u="none" strike="noStrike" kern="0" cap="none" spc="0" normalizeH="0" baseline="0" noProof="0">
              <a:ln>
                <a:noFill/>
              </a:ln>
              <a:solidFill>
                <a:srgbClr val="0033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3" name="Rectangle 16" descr="棚架"/>
          <p:cNvSpPr>
            <a:spLocks noChangeArrowheads="1"/>
          </p:cNvSpPr>
          <p:nvPr/>
        </p:nvSpPr>
        <p:spPr bwMode="auto">
          <a:xfrm>
            <a:off x="4648200" y="5448320"/>
            <a:ext cx="3962400" cy="838200"/>
          </a:xfrm>
          <a:prstGeom prst="rect">
            <a:avLst/>
          </a:prstGeom>
          <a:pattFill prst="trellis">
            <a:fgClr>
              <a:srgbClr val="00FFFF"/>
            </a:fgClr>
            <a:bgClr>
              <a:srgbClr val="FFFFFF"/>
            </a:bgClr>
          </a:pattFill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1" i="0" u="none" strike="noStrike" kern="0" cap="none" spc="0" normalizeH="0" baseline="0" noProof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无序序列 </a:t>
            </a:r>
            <a:r>
              <a:rPr kumimoji="1" lang="en-US" altLang="zh-CN" sz="3200" b="1" i="0" u="none" strike="noStrike" kern="0" cap="none" spc="0" normalizeH="0" baseline="0" noProof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R[i+1..n]</a:t>
            </a:r>
            <a:endParaRPr kumimoji="1" lang="en-US" altLang="zh-CN" sz="3200" b="1" i="0" u="none" strike="noStrike" kern="0" cap="none" spc="0" normalizeH="0" baseline="0" noProof="0">
              <a:ln>
                <a:noFill/>
              </a:ln>
              <a:solidFill>
                <a:srgbClr val="0033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cxnSp>
        <p:nvCxnSpPr>
          <p:cNvPr id="24" name="AutoShape 21"/>
          <p:cNvCxnSpPr>
            <a:cxnSpLocks noChangeShapeType="1"/>
            <a:stCxn id="19" idx="1"/>
            <a:endCxn id="18" idx="2"/>
          </p:cNvCxnSpPr>
          <p:nvPr/>
        </p:nvCxnSpPr>
        <p:spPr bwMode="auto">
          <a:xfrm rot="10800000">
            <a:off x="2209800" y="2933720"/>
            <a:ext cx="1676400" cy="723900"/>
          </a:xfrm>
          <a:prstGeom prst="bentConnector2">
            <a:avLst/>
          </a:prstGeom>
          <a:noFill/>
          <a:ln w="57150">
            <a:solidFill>
              <a:srgbClr val="000000"/>
            </a:solidFill>
            <a:miter lim="800000"/>
            <a:tailEnd type="triangle" w="med" len="med"/>
          </a:ln>
          <a:effectLst/>
        </p:spPr>
      </p:cxnSp>
      <p:sp>
        <p:nvSpPr>
          <p:cNvPr id="25" name="AutoShape 22"/>
          <p:cNvSpPr>
            <a:spLocks noChangeArrowheads="1"/>
          </p:cNvSpPr>
          <p:nvPr/>
        </p:nvSpPr>
        <p:spPr bwMode="auto">
          <a:xfrm>
            <a:off x="2971800" y="3924320"/>
            <a:ext cx="838200" cy="1371600"/>
          </a:xfrm>
          <a:prstGeom prst="downArrow">
            <a:avLst>
              <a:gd name="adj1" fmla="val 50000"/>
              <a:gd name="adj2" fmla="val 40909"/>
            </a:avLst>
          </a:prstGeom>
          <a:solidFill>
            <a:srgbClr val="E2D700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vert="eaVert"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6" name="Line 23"/>
          <p:cNvSpPr>
            <a:spLocks noChangeShapeType="1"/>
          </p:cNvSpPr>
          <p:nvPr/>
        </p:nvSpPr>
        <p:spPr bwMode="auto">
          <a:xfrm>
            <a:off x="4648200" y="2095520"/>
            <a:ext cx="0" cy="83820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7" name="Line 24"/>
          <p:cNvSpPr>
            <a:spLocks noChangeShapeType="1"/>
          </p:cNvSpPr>
          <p:nvPr/>
        </p:nvSpPr>
        <p:spPr bwMode="auto">
          <a:xfrm>
            <a:off x="4648200" y="4076720"/>
            <a:ext cx="0" cy="137160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ysDot"/>
            <a:round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8" name="Text Box 2"/>
          <p:cNvSpPr txBox="1">
            <a:spLocks noChangeArrowheads="1"/>
          </p:cNvSpPr>
          <p:nvPr/>
        </p:nvSpPr>
        <p:spPr bwMode="auto">
          <a:xfrm>
            <a:off x="468313" y="928687"/>
            <a:ext cx="3384550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插入排序的思想</a:t>
            </a:r>
            <a:endParaRPr kumimoji="1" lang="zh-CN" altLang="en-US" sz="2800" b="1" dirty="0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 autoUpdateAnimBg="0"/>
      <p:bldP spid="19" grpId="0" animBg="1" autoUpdateAnimBg="0"/>
      <p:bldP spid="20" grpId="0" animBg="1" autoUpdateAnimBg="0"/>
      <p:bldP spid="22" grpId="0" animBg="1" autoUpdateAnimBg="0"/>
      <p:bldP spid="23" grpId="0" animBg="1" autoUpdateAnimBg="0"/>
      <p:bldP spid="25" grpId="0" animBg="1"/>
      <p:bldP spid="26" grpId="0" animBg="1"/>
      <p:bldP spid="2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6.2.1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直接插入排序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C18EE-BFCC-4DA1-8959-44DF37F492BE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 Box 3074"/>
          <p:cNvSpPr txBox="1">
            <a:spLocks noChangeArrowheads="1"/>
          </p:cNvSpPr>
          <p:nvPr/>
        </p:nvSpPr>
        <p:spPr bwMode="auto">
          <a:xfrm>
            <a:off x="379413" y="1470367"/>
            <a:ext cx="7188186" cy="68326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200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实现“一趟插入排序”可分三步进行：</a:t>
            </a:r>
            <a:endParaRPr kumimoji="1" lang="zh-CN" altLang="en-US" sz="3200" b="1" dirty="0">
              <a:solidFill>
                <a:srgbClr val="FF33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0" name="Text Box 3081"/>
          <p:cNvSpPr txBox="1">
            <a:spLocks noChangeArrowheads="1"/>
          </p:cNvSpPr>
          <p:nvPr/>
        </p:nvSpPr>
        <p:spPr bwMode="auto">
          <a:xfrm>
            <a:off x="609600" y="4869888"/>
            <a:ext cx="8534400" cy="5847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kumimoji="1"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．将</a:t>
            </a:r>
            <a:r>
              <a:rPr kumimoji="1"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R[</a:t>
            </a:r>
            <a:r>
              <a:rPr kumimoji="1" lang="en-US" altLang="zh-CN" sz="3200" b="1" dirty="0" err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1"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] </a:t>
            </a:r>
            <a:r>
              <a:rPr kumimoji="1" lang="zh-CN" altLang="en-US" sz="3200" b="1" dirty="0">
                <a:solidFill>
                  <a:srgbClr val="003366"/>
                </a:solidFill>
                <a:latin typeface="Times New Roman" panose="02020603050405020304" pitchFamily="18" charset="0"/>
                <a:ea typeface="楷体_GB2312" pitchFamily="49" charset="-122"/>
              </a:rPr>
              <a:t>插入</a:t>
            </a:r>
            <a:r>
              <a:rPr kumimoji="1"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复制</a:t>
            </a:r>
            <a:r>
              <a:rPr kumimoji="1"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kumimoji="1"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到</a:t>
            </a:r>
            <a:r>
              <a:rPr kumimoji="1"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R[j+1]</a:t>
            </a:r>
            <a:r>
              <a:rPr kumimoji="1"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的位置上。</a:t>
            </a:r>
            <a:endParaRPr kumimoji="1" lang="zh-CN" altLang="en-US" sz="32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1" name="Rectangle 3082"/>
          <p:cNvSpPr>
            <a:spLocks noChangeArrowheads="1"/>
          </p:cNvSpPr>
          <p:nvPr/>
        </p:nvSpPr>
        <p:spPr bwMode="auto">
          <a:xfrm>
            <a:off x="609600" y="3584004"/>
            <a:ext cx="8534400" cy="130381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1"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．将</a:t>
            </a:r>
            <a:r>
              <a:rPr kumimoji="1"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R[j+1..i-1]</a:t>
            </a:r>
            <a:r>
              <a:rPr kumimoji="1"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中的所有</a:t>
            </a:r>
            <a:r>
              <a:rPr kumimoji="1" lang="zh-CN" altLang="en-US" sz="3200" b="1" dirty="0">
                <a:solidFill>
                  <a:srgbClr val="003366"/>
                </a:solidFill>
                <a:latin typeface="Times New Roman" panose="02020603050405020304" pitchFamily="18" charset="0"/>
                <a:ea typeface="楷体_GB2312" pitchFamily="49" charset="-122"/>
              </a:rPr>
              <a:t>记录</a:t>
            </a:r>
            <a:r>
              <a:rPr kumimoji="1"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均</a:t>
            </a:r>
            <a:r>
              <a:rPr kumimoji="1" lang="zh-CN" altLang="en-US" sz="3200" b="1" dirty="0">
                <a:solidFill>
                  <a:srgbClr val="003366"/>
                </a:solidFill>
                <a:latin typeface="Times New Roman" panose="02020603050405020304" pitchFamily="18" charset="0"/>
                <a:ea typeface="楷体_GB2312" pitchFamily="49" charset="-122"/>
              </a:rPr>
              <a:t>后移</a:t>
            </a:r>
            <a:endParaRPr kumimoji="1" lang="zh-CN" altLang="en-US" sz="32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     一个位置；</a:t>
            </a:r>
            <a:endParaRPr kumimoji="1" lang="zh-CN" altLang="en-US" sz="32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2" name="Rectangle 3083"/>
          <p:cNvSpPr>
            <a:spLocks noChangeArrowheads="1"/>
          </p:cNvSpPr>
          <p:nvPr/>
        </p:nvSpPr>
        <p:spPr bwMode="auto">
          <a:xfrm>
            <a:off x="552450" y="2294402"/>
            <a:ext cx="7635424" cy="130381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1"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．在</a:t>
            </a:r>
            <a:r>
              <a:rPr kumimoji="1"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R[1..i-1]</a:t>
            </a:r>
            <a:r>
              <a:rPr kumimoji="1"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中</a:t>
            </a:r>
            <a:r>
              <a:rPr kumimoji="1" lang="zh-CN" altLang="en-US" sz="3200" b="1" dirty="0">
                <a:solidFill>
                  <a:srgbClr val="003366"/>
                </a:solidFill>
                <a:latin typeface="Times New Roman" panose="02020603050405020304" pitchFamily="18" charset="0"/>
                <a:ea typeface="楷体_GB2312" pitchFamily="49" charset="-122"/>
              </a:rPr>
              <a:t>查找</a:t>
            </a:r>
            <a:r>
              <a:rPr kumimoji="1"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R[</a:t>
            </a:r>
            <a:r>
              <a:rPr kumimoji="1" lang="en-US" altLang="zh-CN" sz="3200" b="1" dirty="0" err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1"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]</a:t>
            </a:r>
            <a:r>
              <a:rPr kumimoji="1"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的插入位置，</a:t>
            </a:r>
            <a:endParaRPr kumimoji="1" lang="zh-CN" altLang="en-US" sz="32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    </a:t>
            </a:r>
            <a:r>
              <a:rPr kumimoji="1"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R[1..j].key </a:t>
            </a:r>
            <a:r>
              <a:rPr kumimoji="1" lang="en-US" altLang="zh-CN" sz="3200" b="1" dirty="0">
                <a:solidFill>
                  <a:srgbClr val="003366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</a:t>
            </a:r>
            <a:r>
              <a:rPr kumimoji="1"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 R[</a:t>
            </a:r>
            <a:r>
              <a:rPr kumimoji="1" lang="en-US" altLang="zh-CN" sz="3200" b="1" dirty="0" err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i</a:t>
            </a:r>
            <a:r>
              <a:rPr kumimoji="1"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].key </a:t>
            </a:r>
            <a:r>
              <a:rPr kumimoji="1" lang="en-US" altLang="zh-CN" sz="3200" b="1" dirty="0">
                <a:solidFill>
                  <a:srgbClr val="003366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&lt;</a:t>
            </a:r>
            <a:r>
              <a:rPr kumimoji="1"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 R[j+1..i-1].key</a:t>
            </a:r>
            <a:r>
              <a:rPr kumimoji="1"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；</a:t>
            </a:r>
            <a:endParaRPr kumimoji="1" lang="zh-CN" altLang="en-US" sz="32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3" name="Text Box 2"/>
          <p:cNvSpPr txBox="1">
            <a:spLocks noChangeArrowheads="1"/>
          </p:cNvSpPr>
          <p:nvPr/>
        </p:nvSpPr>
        <p:spPr bwMode="auto">
          <a:xfrm>
            <a:off x="468313" y="990600"/>
            <a:ext cx="3384550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>
                <a:solidFill>
                  <a:srgbClr val="0033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</a:rPr>
              <a:t>插入排序的思想</a:t>
            </a:r>
            <a:endParaRPr kumimoji="1" lang="zh-CN" altLang="en-US" sz="2800" b="1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utoUpdateAnimBg="0"/>
      <p:bldP spid="30" grpId="0" autoUpdateAnimBg="0"/>
      <p:bldP spid="31" grpId="0" autoUpdateAnimBg="0"/>
      <p:bldP spid="32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6.2.1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直接插入排序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DD9FE-32E2-4057-A767-F19A8FF494F2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468313" y="990600"/>
            <a:ext cx="5103819" cy="52322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直接插入排序算法概述    </a:t>
            </a:r>
            <a:endParaRPr kumimoji="1" lang="zh-CN" altLang="en-US" sz="2800" b="1" dirty="0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" name="Text Box 12"/>
          <p:cNvSpPr txBox="1">
            <a:spLocks noChangeArrowheads="1"/>
          </p:cNvSpPr>
          <p:nvPr/>
        </p:nvSpPr>
        <p:spPr bwMode="auto">
          <a:xfrm>
            <a:off x="827088" y="1855788"/>
            <a:ext cx="7262812" cy="3825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>
                <a:solidFill>
                  <a:srgbClr val="0000FF"/>
                </a:solidFill>
                <a:latin typeface="Times New Roman" panose="02020603050405020304" pitchFamily="18" charset="0"/>
              </a:rPr>
              <a:t>        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(1)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将序列中的第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个记录看成是一个有序的子序列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;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        </a:t>
            </a:r>
            <a:r>
              <a:rPr kumimoji="1"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(2)</a:t>
            </a:r>
            <a:r>
              <a:rPr kumimoji="1" lang="zh-CN" altLang="en-US" sz="2800" b="1">
                <a:solidFill>
                  <a:srgbClr val="FF3300"/>
                </a:solidFill>
                <a:latin typeface="Times New Roman" panose="02020603050405020304" pitchFamily="18" charset="0"/>
              </a:rPr>
              <a:t>从第</a:t>
            </a:r>
            <a:r>
              <a:rPr kumimoji="1" lang="en-US" altLang="zh-CN" sz="2800" b="1">
                <a:solidFill>
                  <a:srgbClr val="FF3300"/>
                </a:solidFill>
                <a:latin typeface="Times New Roman" panose="02020603050405020304" pitchFamily="18" charset="0"/>
              </a:rPr>
              <a:t>2</a:t>
            </a:r>
            <a:r>
              <a:rPr kumimoji="1" lang="zh-CN" altLang="en-US" sz="2800" b="1">
                <a:solidFill>
                  <a:srgbClr val="FF3300"/>
                </a:solidFill>
                <a:latin typeface="Times New Roman" panose="02020603050405020304" pitchFamily="18" charset="0"/>
              </a:rPr>
              <a:t>个记录起逐个进行插入，直至整个序列变成按关键字有序序列为止；</a:t>
            </a:r>
            <a:endParaRPr kumimoji="1" lang="zh-CN" altLang="en-US" sz="2800" b="1">
              <a:solidFill>
                <a:srgbClr val="FF3300"/>
              </a:solidFill>
              <a:latin typeface="Times New Roman" panose="02020603050405020304" pitchFamily="18" charset="0"/>
            </a:endParaRPr>
          </a:p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        整个排序过程需要进行比较、后移记录、插入适当位置。从第二个记录到第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n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个记录共需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n-1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趟。</a:t>
            </a:r>
            <a:endParaRPr kumimoji="1" lang="zh-CN" altLang="en-US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6.2.1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直接插入排序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C1C4D-C0ED-421A-B520-9C62913AF6F5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2320"/>
          <p:cNvSpPr txBox="1">
            <a:spLocks noChangeArrowheads="1"/>
          </p:cNvSpPr>
          <p:nvPr/>
        </p:nvSpPr>
        <p:spPr bwMode="auto">
          <a:xfrm>
            <a:off x="466725" y="849289"/>
            <a:ext cx="4537075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直接插入排序示例演示</a:t>
            </a:r>
            <a:endParaRPr kumimoji="1" lang="zh-CN" altLang="en-US" sz="2800" b="1" dirty="0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428596" y="1300122"/>
            <a:ext cx="8305800" cy="5386388"/>
            <a:chOff x="838200" y="1524000"/>
            <a:chExt cx="8305800" cy="5386388"/>
          </a:xfrm>
        </p:grpSpPr>
        <p:sp>
          <p:nvSpPr>
            <p:cNvPr id="15" name="Text Box 2052"/>
            <p:cNvSpPr txBox="1">
              <a:spLocks noChangeArrowheads="1"/>
            </p:cNvSpPr>
            <p:nvPr/>
          </p:nvSpPr>
          <p:spPr bwMode="auto">
            <a:xfrm>
              <a:off x="838200" y="1524000"/>
              <a:ext cx="8305800" cy="53863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L="0" marR="0" lvl="0" indent="0" algn="just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例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1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3366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 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3366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直接插入排序的过程。</a:t>
              </a:r>
              <a:endPara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endParaRPr>
            </a:p>
            <a:p>
              <a:pPr marL="0" marR="0" lvl="0" indent="0" algn="just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3366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初始关键字：     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3366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(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49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3366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)  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66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38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3366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  65  97  76  13  27  </a:t>
              </a:r>
              <a:r>
                <a:rPr kumimoji="1" lang="en-US" altLang="zh-CN" sz="2400" b="1" i="0" u="sng" strike="noStrike" kern="0" cap="none" spc="0" normalizeH="0" baseline="0" noProof="0" dirty="0">
                  <a:ln>
                    <a:noFill/>
                  </a:ln>
                  <a:solidFill>
                    <a:srgbClr val="003366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49</a:t>
              </a:r>
              <a:endParaRPr kumimoji="1" lang="en-US" altLang="zh-CN" sz="2400" b="1" i="0" u="sng" strike="noStrike" kern="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endParaRP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3366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       </a:t>
              </a:r>
              <a:r>
                <a:rPr kumimoji="1" lang="en-US" altLang="zh-CN" sz="2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3366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i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3366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=2: (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66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38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3366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) (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66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38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3366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  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49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3366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)  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66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65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3366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  97  76  13  27  </a:t>
              </a:r>
              <a:r>
                <a:rPr kumimoji="1" lang="en-US" altLang="zh-CN" sz="2400" b="1" i="0" u="sng" strike="noStrike" kern="0" cap="none" spc="0" normalizeH="0" baseline="0" noProof="0" dirty="0">
                  <a:ln>
                    <a:noFill/>
                  </a:ln>
                  <a:solidFill>
                    <a:srgbClr val="003366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49</a:t>
              </a:r>
              <a:endParaRPr kumimoji="1" lang="en-US" altLang="zh-CN" sz="2400" b="1" i="0" u="sng" strike="noStrike" kern="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endParaRP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3366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       </a:t>
              </a:r>
              <a:r>
                <a:rPr kumimoji="1" lang="en-US" altLang="zh-CN" sz="2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3366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i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3366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=3: (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66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65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3366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) (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38  49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3366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  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66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65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3366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)  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66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97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3366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  76  13  27  </a:t>
              </a:r>
              <a:r>
                <a:rPr kumimoji="1" lang="en-US" altLang="zh-CN" sz="2400" b="1" i="0" u="sng" strike="noStrike" kern="0" cap="none" spc="0" normalizeH="0" baseline="0" noProof="0" dirty="0">
                  <a:ln>
                    <a:noFill/>
                  </a:ln>
                  <a:solidFill>
                    <a:srgbClr val="003366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49</a:t>
              </a:r>
              <a:endParaRPr kumimoji="1" lang="en-US" altLang="zh-CN" sz="2400" b="1" i="0" u="sng" strike="noStrike" kern="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endParaRP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3366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       </a:t>
              </a:r>
              <a:r>
                <a:rPr kumimoji="1" lang="en-US" altLang="zh-CN" sz="2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3366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i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3366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=4: (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66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97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3366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) (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38  49  65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3366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  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66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97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3366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)  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66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76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3366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  13  27  </a:t>
              </a:r>
              <a:r>
                <a:rPr kumimoji="1" lang="en-US" altLang="zh-CN" sz="2400" b="1" i="0" u="sng" strike="noStrike" kern="0" cap="none" spc="0" normalizeH="0" baseline="0" noProof="0" dirty="0">
                  <a:ln>
                    <a:noFill/>
                  </a:ln>
                  <a:solidFill>
                    <a:srgbClr val="003366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49</a:t>
              </a:r>
              <a:endParaRPr kumimoji="1" lang="en-US" altLang="zh-CN" sz="2400" b="1" i="0" u="sng" strike="noStrike" kern="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endParaRP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6600CC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       </a:t>
              </a:r>
              <a:r>
                <a:rPr kumimoji="1" lang="en-US" altLang="zh-CN" sz="2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3366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i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3366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=5: (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66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76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3366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) (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38  49  65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3366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  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66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76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3366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 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 97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3366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)  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66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13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3366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  27  </a:t>
              </a:r>
              <a:r>
                <a:rPr kumimoji="1" lang="en-US" altLang="zh-CN" sz="2400" b="1" i="0" u="sng" strike="noStrike" kern="0" cap="none" spc="0" normalizeH="0" baseline="0" noProof="0" dirty="0">
                  <a:ln>
                    <a:noFill/>
                  </a:ln>
                  <a:solidFill>
                    <a:srgbClr val="003366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49</a:t>
              </a:r>
              <a:endParaRPr kumimoji="1" lang="en-US" altLang="zh-CN" sz="2400" b="1" i="0" u="sng" strike="noStrike" kern="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endParaRP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3366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       </a:t>
              </a:r>
              <a:r>
                <a:rPr kumimoji="1" lang="en-US" altLang="zh-CN" sz="2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3366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i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3366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=6: (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66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13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3366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) (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66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13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3366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  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38  49  65  76  97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3366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) 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66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 27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3366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  </a:t>
              </a:r>
              <a:r>
                <a:rPr kumimoji="1" lang="en-US" altLang="zh-CN" sz="2400" b="1" i="0" u="sng" strike="noStrike" kern="0" cap="none" spc="0" normalizeH="0" baseline="0" noProof="0" dirty="0">
                  <a:ln>
                    <a:noFill/>
                  </a:ln>
                  <a:solidFill>
                    <a:srgbClr val="003366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49</a:t>
              </a:r>
              <a:endParaRPr kumimoji="1" lang="en-US" altLang="zh-CN" sz="2400" b="1" i="0" u="sng" strike="noStrike" kern="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endParaRP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3366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       </a:t>
              </a:r>
              <a:r>
                <a:rPr kumimoji="1" lang="en-US" altLang="zh-CN" sz="2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3366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i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3366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=7: (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66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27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3366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) (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13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3366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  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66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27 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3366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 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38  49  65  76  97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3366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) 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66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 </a:t>
              </a:r>
              <a:r>
                <a:rPr kumimoji="1" lang="en-US" altLang="zh-CN" sz="2400" b="1" i="0" u="sng" strike="noStrike" kern="0" cap="none" spc="0" normalizeH="0" baseline="0" noProof="0" dirty="0">
                  <a:ln>
                    <a:noFill/>
                  </a:ln>
                  <a:solidFill>
                    <a:srgbClr val="FF0066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49</a:t>
              </a:r>
              <a:endParaRPr kumimoji="1" lang="en-US" altLang="zh-CN" sz="2400" b="1" i="0" u="sng" strike="noStrike" kern="0" cap="none" spc="0" normalizeH="0" baseline="0" noProof="0" dirty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endParaRP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3366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       </a:t>
              </a:r>
              <a:r>
                <a:rPr kumimoji="1" lang="en-US" altLang="zh-CN" sz="2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3366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i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3366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=8: (</a:t>
              </a:r>
              <a:r>
                <a:rPr kumimoji="1" lang="en-US" altLang="zh-CN" sz="2400" b="1" i="0" u="sng" strike="noStrike" kern="0" cap="none" spc="0" normalizeH="0" baseline="0" noProof="0" dirty="0">
                  <a:ln>
                    <a:noFill/>
                  </a:ln>
                  <a:solidFill>
                    <a:srgbClr val="FF0066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49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3366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) (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13  27  38  49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3366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 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66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 </a:t>
              </a:r>
              <a:r>
                <a:rPr kumimoji="1" lang="en-US" altLang="zh-CN" sz="2400" b="1" i="0" u="sng" strike="noStrike" kern="0" cap="none" spc="0" normalizeH="0" baseline="0" noProof="0" dirty="0">
                  <a:ln>
                    <a:noFill/>
                  </a:ln>
                  <a:solidFill>
                    <a:srgbClr val="FF0066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49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3366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  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3333FF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65  76   97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3366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)</a:t>
              </a:r>
              <a:endParaRPr kumimoji="1" lang="en-US" altLang="zh-CN" sz="2400" b="1" i="0" u="sng" strike="noStrike" kern="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endParaRP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6" name="Line 2053"/>
            <p:cNvSpPr>
              <a:spLocks noChangeShapeType="1"/>
            </p:cNvSpPr>
            <p:nvPr/>
          </p:nvSpPr>
          <p:spPr bwMode="auto">
            <a:xfrm flipH="1">
              <a:off x="3733800" y="2438400"/>
              <a:ext cx="533400" cy="2286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7" name="Line 2054"/>
            <p:cNvSpPr>
              <a:spLocks noChangeShapeType="1"/>
            </p:cNvSpPr>
            <p:nvPr/>
          </p:nvSpPr>
          <p:spPr bwMode="auto">
            <a:xfrm>
              <a:off x="5181600" y="2971800"/>
              <a:ext cx="0" cy="3048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8" name="Line 2055"/>
            <p:cNvSpPr>
              <a:spLocks noChangeShapeType="1"/>
            </p:cNvSpPr>
            <p:nvPr/>
          </p:nvSpPr>
          <p:spPr bwMode="auto">
            <a:xfrm>
              <a:off x="5791200" y="3505200"/>
              <a:ext cx="0" cy="3048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9" name="Line 2056"/>
            <p:cNvSpPr>
              <a:spLocks noChangeShapeType="1"/>
            </p:cNvSpPr>
            <p:nvPr/>
          </p:nvSpPr>
          <p:spPr bwMode="auto">
            <a:xfrm flipH="1">
              <a:off x="5867400" y="4038600"/>
              <a:ext cx="381000" cy="3048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0" name="Line 2057"/>
            <p:cNvSpPr>
              <a:spLocks noChangeShapeType="1"/>
            </p:cNvSpPr>
            <p:nvPr/>
          </p:nvSpPr>
          <p:spPr bwMode="auto">
            <a:xfrm flipH="1">
              <a:off x="3962400" y="4572000"/>
              <a:ext cx="3048000" cy="3048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1" name="Line 2058"/>
            <p:cNvSpPr>
              <a:spLocks noChangeShapeType="1"/>
            </p:cNvSpPr>
            <p:nvPr/>
          </p:nvSpPr>
          <p:spPr bwMode="auto">
            <a:xfrm flipH="1">
              <a:off x="4648200" y="5105400"/>
              <a:ext cx="2971800" cy="3048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2" name="Line 2059"/>
            <p:cNvSpPr>
              <a:spLocks noChangeShapeType="1"/>
            </p:cNvSpPr>
            <p:nvPr/>
          </p:nvSpPr>
          <p:spPr bwMode="auto">
            <a:xfrm flipH="1">
              <a:off x="6324600" y="5715000"/>
              <a:ext cx="1981200" cy="3048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sp>
        <p:nvSpPr>
          <p:cNvPr id="23" name="AutoShape 159">
            <a:hlinkClick r:id="rId2" action="ppaction://hlinkfile"/>
          </p:cNvPr>
          <p:cNvSpPr>
            <a:spLocks noChangeArrowheads="1"/>
          </p:cNvSpPr>
          <p:nvPr/>
        </p:nvSpPr>
        <p:spPr bwMode="auto">
          <a:xfrm>
            <a:off x="6581764" y="6019800"/>
            <a:ext cx="1571636" cy="866749"/>
          </a:xfrm>
          <a:custGeom>
            <a:avLst/>
            <a:gdLst>
              <a:gd name="G0" fmla="+- 16200 0 0"/>
              <a:gd name="G1" fmla="+- 5400 0 0"/>
              <a:gd name="G2" fmla="+- 21600 0 5400"/>
              <a:gd name="G3" fmla="+- 10800 0 5400"/>
              <a:gd name="G4" fmla="+- 21600 0 16200"/>
              <a:gd name="G5" fmla="*/ G4 G3 10800"/>
              <a:gd name="G6" fmla="+- 21600 0 G5"/>
              <a:gd name="T0" fmla="*/ 16200 w 21600"/>
              <a:gd name="T1" fmla="*/ 0 h 21600"/>
              <a:gd name="T2" fmla="*/ 0 w 21600"/>
              <a:gd name="T3" fmla="*/ 10800 h 21600"/>
              <a:gd name="T4" fmla="*/ 16200 w 21600"/>
              <a:gd name="T5" fmla="*/ 21600 h 21600"/>
              <a:gd name="T6" fmla="*/ 21600 w 21600"/>
              <a:gd name="T7" fmla="*/ 10800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G1 h 21600"/>
              <a:gd name="T14" fmla="*/ G6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rgbClr val="009DD9">
              <a:lumMod val="40000"/>
              <a:lumOff val="60000"/>
            </a:srgbClr>
          </a:solidFill>
          <a:ln w="9525">
            <a:solidFill>
              <a:srgbClr val="04617B">
                <a:lumMod val="40000"/>
                <a:lumOff val="60000"/>
              </a:srgbClr>
            </a:solidFill>
            <a:miter lim="800000"/>
          </a:ln>
          <a:effectLst>
            <a:glow rad="139700">
              <a:srgbClr val="FFFFFF">
                <a:satMod val="175000"/>
                <a:alpha val="40000"/>
              </a:srgbClr>
            </a:glo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rPr>
              <a:t>图示</a:t>
            </a:r>
            <a:endParaRPr kumimoji="1" lang="zh-CN" altLang="en-US" sz="3000" b="0" i="0" u="none" strike="noStrike" kern="0" cap="none" spc="0" normalizeH="0" baseline="0" noProof="0" dirty="0">
              <a:ln>
                <a:noFill/>
              </a:ln>
              <a:solidFill>
                <a:srgbClr val="003300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6.2.1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直接插入排序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43D9B-C815-40E6-9E9E-8F3FFEB48D90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1027"/>
          <p:cNvSpPr txBox="1">
            <a:spLocks noChangeArrowheads="1"/>
          </p:cNvSpPr>
          <p:nvPr/>
        </p:nvSpPr>
        <p:spPr bwMode="auto">
          <a:xfrm>
            <a:off x="561975" y="1447800"/>
            <a:ext cx="8201025" cy="1893339"/>
          </a:xfrm>
          <a:prstGeom prst="rect">
            <a:avLst/>
          </a:prstGeom>
          <a:noFill/>
          <a:ln w="9525">
            <a:solidFill>
              <a:srgbClr val="003300"/>
            </a:solidFill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6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　　</a:t>
            </a:r>
            <a:r>
              <a:rPr kumimoji="1" lang="zh-CN" altLang="en-US" sz="40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利用 “顺序查找”实现</a:t>
            </a:r>
            <a:endParaRPr kumimoji="1" lang="zh-CN" altLang="en-US" sz="40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“在</a:t>
            </a:r>
            <a:r>
              <a:rPr kumimoji="1" lang="en-US" altLang="zh-CN" sz="40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R[1..i-1]</a:t>
            </a:r>
            <a:r>
              <a:rPr kumimoji="1" lang="zh-CN" altLang="en-US" sz="40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中</a:t>
            </a:r>
            <a:r>
              <a:rPr kumimoji="1" lang="zh-CN" altLang="en-US" sz="4400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查找</a:t>
            </a:r>
            <a:r>
              <a:rPr kumimoji="1" lang="en-US" altLang="zh-CN" sz="40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R[</a:t>
            </a:r>
            <a:r>
              <a:rPr kumimoji="1" lang="en-US" altLang="zh-CN" sz="4000" b="1" dirty="0" err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1" lang="en-US" altLang="zh-CN" sz="40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]</a:t>
            </a:r>
            <a:r>
              <a:rPr kumimoji="1" lang="zh-CN" altLang="en-US" sz="40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的插入位置”</a:t>
            </a:r>
            <a:endParaRPr kumimoji="1" lang="zh-CN" altLang="en-US" sz="40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4" name="Text Box 1029"/>
          <p:cNvSpPr txBox="1">
            <a:spLocks noChangeArrowheads="1"/>
          </p:cNvSpPr>
          <p:nvPr/>
        </p:nvSpPr>
        <p:spPr bwMode="auto">
          <a:xfrm>
            <a:off x="1355725" y="4205288"/>
            <a:ext cx="5099050" cy="8239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算法的实现要点：</a:t>
            </a:r>
            <a:endParaRPr kumimoji="1" lang="zh-CN" altLang="en-US" sz="3000" b="1" dirty="0">
              <a:solidFill>
                <a:srgbClr val="0033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 autoUpdateAnimBg="0"/>
      <p:bldP spid="14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6.2.1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直接插入排序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E5425-B670-4D9C-9C2A-AB14B236EE0C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4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722283" y="1421249"/>
            <a:ext cx="6340475" cy="116955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从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R[i-1]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起向前进行顺序查找，            </a:t>
            </a:r>
            <a:r>
              <a:rPr kumimoji="1" lang="zh-CN" altLang="en-US" sz="2800" b="1" dirty="0">
                <a:solidFill>
                  <a:srgbClr val="FF6600"/>
                </a:solidFill>
                <a:latin typeface="Times New Roman" panose="02020603050405020304" pitchFamily="18" charset="0"/>
                <a:ea typeface="楷体_GB2312" pitchFamily="49" charset="-122"/>
              </a:rPr>
              <a:t>监视哨设置在</a:t>
            </a:r>
            <a:r>
              <a:rPr kumimoji="1" lang="en-US" altLang="zh-CN" sz="2800" b="1" dirty="0">
                <a:solidFill>
                  <a:srgbClr val="FF6600"/>
                </a:solidFill>
                <a:latin typeface="Times New Roman" panose="02020603050405020304" pitchFamily="18" charset="0"/>
                <a:ea typeface="楷体_GB2312" pitchFamily="49" charset="-122"/>
              </a:rPr>
              <a:t>R[0]</a:t>
            </a:r>
            <a:r>
              <a:rPr kumimoji="1" lang="zh-CN" altLang="en-US" sz="2800" b="1" dirty="0">
                <a:solidFill>
                  <a:srgbClr val="FF6600"/>
                </a:solidFill>
                <a:latin typeface="Times New Roman" panose="02020603050405020304" pitchFamily="18" charset="0"/>
                <a:ea typeface="楷体_GB2312" pitchFamily="49" charset="-122"/>
              </a:rPr>
              <a:t>；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4" name="Text Box 12"/>
          <p:cNvSpPr txBox="1">
            <a:spLocks noChangeArrowheads="1"/>
          </p:cNvSpPr>
          <p:nvPr/>
        </p:nvSpPr>
        <p:spPr bwMode="auto">
          <a:xfrm>
            <a:off x="715933" y="4226879"/>
            <a:ext cx="5498621" cy="62453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R[0] = R[i];            // </a:t>
            </a: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设置“哨兵”</a:t>
            </a:r>
            <a:endParaRPr kumimoji="1" lang="zh-CN" altLang="en-US" sz="2800" b="1">
              <a:solidFill>
                <a:srgbClr val="0033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5" name="Text Box 13"/>
          <p:cNvSpPr txBox="1">
            <a:spLocks noChangeArrowheads="1"/>
          </p:cNvSpPr>
          <p:nvPr/>
        </p:nvSpPr>
        <p:spPr bwMode="auto">
          <a:xfrm>
            <a:off x="728633" y="5780103"/>
            <a:ext cx="5775940" cy="6955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循环结束表明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R[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]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的插入位置为 </a:t>
            </a:r>
            <a:r>
              <a:rPr kumimoji="1"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j +1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6" name="Rectangle 14" descr="大棋盘"/>
          <p:cNvSpPr>
            <a:spLocks noChangeArrowheads="1"/>
          </p:cNvSpPr>
          <p:nvPr/>
        </p:nvSpPr>
        <p:spPr bwMode="auto">
          <a:xfrm>
            <a:off x="1423958" y="3106104"/>
            <a:ext cx="3124200" cy="304800"/>
          </a:xfrm>
          <a:prstGeom prst="rect">
            <a:avLst/>
          </a:prstGeom>
          <a:pattFill prst="lgCheck">
            <a:fgClr>
              <a:srgbClr val="CCFFFF"/>
            </a:fgClr>
            <a:bgClr>
              <a:srgbClr val="FFFFFF"/>
            </a:bgClr>
          </a:pattFill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1119158" y="3106104"/>
            <a:ext cx="304800" cy="304800"/>
          </a:xfrm>
          <a:prstGeom prst="rect">
            <a:avLst/>
          </a:prstGeom>
          <a:solidFill>
            <a:srgbClr val="00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8" name="Text Box 17"/>
          <p:cNvSpPr txBox="1">
            <a:spLocks noChangeArrowheads="1"/>
          </p:cNvSpPr>
          <p:nvPr/>
        </p:nvSpPr>
        <p:spPr bwMode="auto">
          <a:xfrm>
            <a:off x="890558" y="2496504"/>
            <a:ext cx="838200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R[0]</a:t>
            </a:r>
            <a:endParaRPr kumimoji="1" lang="en-US" altLang="zh-CN" sz="2800" b="1" dirty="0">
              <a:solidFill>
                <a:srgbClr val="0033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9" name="Line 18"/>
          <p:cNvSpPr>
            <a:spLocks noChangeShapeType="1"/>
          </p:cNvSpPr>
          <p:nvPr/>
        </p:nvSpPr>
        <p:spPr bwMode="auto">
          <a:xfrm>
            <a:off x="4395758" y="3410904"/>
            <a:ext cx="0" cy="762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stealth" w="med" len="lg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0" name="Line 19"/>
          <p:cNvSpPr>
            <a:spLocks noChangeShapeType="1"/>
          </p:cNvSpPr>
          <p:nvPr/>
        </p:nvSpPr>
        <p:spPr bwMode="auto">
          <a:xfrm>
            <a:off x="3100358" y="3410904"/>
            <a:ext cx="0" cy="762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stealth" w="med" len="lg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1" name="Text Box 20"/>
          <p:cNvSpPr txBox="1">
            <a:spLocks noChangeArrowheads="1"/>
          </p:cNvSpPr>
          <p:nvPr/>
        </p:nvSpPr>
        <p:spPr bwMode="auto">
          <a:xfrm>
            <a:off x="3122583" y="3563304"/>
            <a:ext cx="587375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6600CC"/>
                </a:solidFill>
                <a:latin typeface="Times New Roman" panose="02020603050405020304" pitchFamily="18" charset="0"/>
                <a:ea typeface="楷体_GB2312" pitchFamily="49" charset="-122"/>
              </a:rPr>
              <a:t>j</a:t>
            </a:r>
            <a:endParaRPr kumimoji="1" lang="en-US" altLang="zh-CN" sz="2800" b="1">
              <a:solidFill>
                <a:srgbClr val="66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2" name="Rectangle 21" descr="60%"/>
          <p:cNvSpPr>
            <a:spLocks noChangeArrowheads="1"/>
          </p:cNvSpPr>
          <p:nvPr/>
        </p:nvSpPr>
        <p:spPr bwMode="auto">
          <a:xfrm>
            <a:off x="3252758" y="3106104"/>
            <a:ext cx="1295400" cy="304800"/>
          </a:xfrm>
          <a:prstGeom prst="rect">
            <a:avLst/>
          </a:prstGeom>
          <a:pattFill prst="pct60">
            <a:fgClr>
              <a:srgbClr val="FF99FF"/>
            </a:fgClr>
            <a:bgClr>
              <a:srgbClr val="FFFFFF"/>
            </a:bgClr>
          </a:pattFill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3" name="Rectangle 22"/>
          <p:cNvSpPr>
            <a:spLocks noChangeArrowheads="1"/>
          </p:cNvSpPr>
          <p:nvPr/>
        </p:nvSpPr>
        <p:spPr bwMode="auto">
          <a:xfrm>
            <a:off x="4548158" y="3106104"/>
            <a:ext cx="3429000" cy="304800"/>
          </a:xfrm>
          <a:prstGeom prst="rect">
            <a:avLst/>
          </a:prstGeom>
          <a:solidFill>
            <a:srgbClr val="E2D700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4" name="Rectangle 23"/>
          <p:cNvSpPr>
            <a:spLocks noChangeArrowheads="1"/>
          </p:cNvSpPr>
          <p:nvPr/>
        </p:nvSpPr>
        <p:spPr bwMode="auto">
          <a:xfrm>
            <a:off x="4548158" y="3106104"/>
            <a:ext cx="304800" cy="304800"/>
          </a:xfrm>
          <a:prstGeom prst="rect">
            <a:avLst/>
          </a:prstGeom>
          <a:solidFill>
            <a:srgbClr val="00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5" name="Rectangle 24"/>
          <p:cNvSpPr>
            <a:spLocks noChangeArrowheads="1"/>
          </p:cNvSpPr>
          <p:nvPr/>
        </p:nvSpPr>
        <p:spPr bwMode="auto">
          <a:xfrm>
            <a:off x="4319558" y="2572704"/>
            <a:ext cx="784189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R[i]</a:t>
            </a:r>
            <a:endParaRPr kumimoji="1" lang="en-US" altLang="zh-CN" sz="2800" b="1">
              <a:solidFill>
                <a:srgbClr val="0033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6" name="Rectangle 25"/>
          <p:cNvSpPr>
            <a:spLocks noChangeArrowheads="1"/>
          </p:cNvSpPr>
          <p:nvPr/>
        </p:nvSpPr>
        <p:spPr bwMode="auto">
          <a:xfrm>
            <a:off x="712758" y="4766645"/>
            <a:ext cx="5533823" cy="122777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for (j=i-1; R[0].key&lt;R[j].key; --j);  </a:t>
            </a:r>
            <a:endParaRPr kumimoji="1" lang="en-US" altLang="zh-CN" sz="2800" b="1" dirty="0">
              <a:solidFill>
                <a:srgbClr val="0033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                              //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从后往前找</a:t>
            </a:r>
            <a:endParaRPr kumimoji="1" lang="zh-CN" altLang="en-US" sz="2800" b="1" dirty="0">
              <a:solidFill>
                <a:srgbClr val="0033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7" name="Text Box 26"/>
          <p:cNvSpPr txBox="1">
            <a:spLocks noChangeArrowheads="1"/>
          </p:cNvSpPr>
          <p:nvPr/>
        </p:nvSpPr>
        <p:spPr bwMode="auto">
          <a:xfrm>
            <a:off x="4471958" y="3715704"/>
            <a:ext cx="968375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6600CC"/>
                </a:solidFill>
                <a:latin typeface="Times New Roman" panose="02020603050405020304" pitchFamily="18" charset="0"/>
                <a:ea typeface="楷体_GB2312" pitchFamily="49" charset="-122"/>
              </a:rPr>
              <a:t>j=i-1</a:t>
            </a:r>
            <a:endParaRPr kumimoji="1" lang="en-US" altLang="zh-CN" sz="2800" b="1">
              <a:solidFill>
                <a:srgbClr val="66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8" name="AutoShape 27"/>
          <p:cNvSpPr>
            <a:spLocks noChangeArrowheads="1"/>
          </p:cNvSpPr>
          <p:nvPr/>
        </p:nvSpPr>
        <p:spPr bwMode="auto">
          <a:xfrm>
            <a:off x="3862358" y="3791904"/>
            <a:ext cx="1600200" cy="457200"/>
          </a:xfrm>
          <a:prstGeom prst="wedgeRoundRectCallout">
            <a:avLst>
              <a:gd name="adj1" fmla="val -80653"/>
              <a:gd name="adj2" fmla="val -129861"/>
              <a:gd name="adj3" fmla="val 16667"/>
            </a:avLst>
          </a:prstGeom>
          <a:solidFill>
            <a:srgbClr val="FFFF99">
              <a:alpha val="50000"/>
            </a:srgbClr>
          </a:solidFill>
          <a:ln w="12700">
            <a:solidFill>
              <a:srgbClr val="800000"/>
            </a:solidFill>
            <a:miter lim="800000"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插入位置</a:t>
            </a:r>
            <a:endParaRPr kumimoji="1" lang="zh-CN" altLang="en-US" sz="2800" b="1">
              <a:solidFill>
                <a:srgbClr val="66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9" name="Text Box 2320"/>
          <p:cNvSpPr txBox="1">
            <a:spLocks noChangeArrowheads="1"/>
          </p:cNvSpPr>
          <p:nvPr/>
        </p:nvSpPr>
        <p:spPr bwMode="auto">
          <a:xfrm>
            <a:off x="466725" y="928688"/>
            <a:ext cx="4537075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直接插入排序算法要点</a:t>
            </a:r>
            <a:endParaRPr kumimoji="1" lang="zh-CN" altLang="en-US" sz="2800" b="1" dirty="0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000"/>
                            </p:stCondLst>
                            <p:childTnLst>
                              <p:par>
                                <p:cTn id="7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8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utoUpdateAnimBg="0"/>
      <p:bldP spid="14" grpId="0" autoUpdateAnimBg="0"/>
      <p:bldP spid="15" grpId="0" autoUpdateAnimBg="0"/>
      <p:bldP spid="16" grpId="0" animBg="1"/>
      <p:bldP spid="17" grpId="0" animBg="1"/>
      <p:bldP spid="18" grpId="0" autoUpdateAnimBg="0"/>
      <p:bldP spid="19" grpId="0" animBg="1"/>
      <p:bldP spid="20" grpId="0" animBg="1"/>
      <p:bldP spid="21" grpId="0" autoUpdateAnimBg="0"/>
      <p:bldP spid="22" grpId="0" animBg="1"/>
      <p:bldP spid="23" grpId="0" animBg="1"/>
      <p:bldP spid="24" grpId="0" animBg="1"/>
      <p:bldP spid="25" grpId="0" autoUpdateAnimBg="0"/>
      <p:bldP spid="26" grpId="0" autoUpdateAnimBg="0"/>
      <p:bldP spid="27" grpId="0" autoUpdateAnimBg="0"/>
      <p:bldP spid="28" grpId="0" animBg="1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6.2.1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直接插入排序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94A42-C628-48D4-8DB4-1C8F723E1ADC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5"/>
          <p:cNvSpPr txBox="1">
            <a:spLocks noChangeArrowheads="1"/>
          </p:cNvSpPr>
          <p:nvPr/>
        </p:nvSpPr>
        <p:spPr bwMode="auto">
          <a:xfrm>
            <a:off x="285721" y="1573649"/>
            <a:ext cx="8401080" cy="1169551"/>
          </a:xfrm>
          <a:prstGeom prst="rect">
            <a:avLst/>
          </a:prstGeom>
          <a:noFill/>
          <a:ln w="9525">
            <a:solidFill>
              <a:srgbClr val="003300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     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对于在查找过程中找到的那些关键字不小于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R[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].key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的记录，并在查找的同时实现记录向后移动；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4" name="Text Box 6"/>
          <p:cNvSpPr txBox="1">
            <a:spLocks noChangeArrowheads="1"/>
          </p:cNvSpPr>
          <p:nvPr/>
        </p:nvSpPr>
        <p:spPr bwMode="auto">
          <a:xfrm>
            <a:off x="1117600" y="2786729"/>
            <a:ext cx="5533823" cy="11264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for (j=i-1; R[0].key&lt;R[j].key; --j);  </a:t>
            </a:r>
            <a:endParaRPr kumimoji="1" lang="en-US" altLang="zh-CN" sz="2800" b="1" dirty="0">
              <a:solidFill>
                <a:srgbClr val="0033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        R[j+1] = R[j]</a:t>
            </a:r>
            <a:endParaRPr kumimoji="1" lang="en-US" altLang="zh-CN" sz="2800" b="1" dirty="0">
              <a:solidFill>
                <a:srgbClr val="0033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5" name="Rectangle 17" descr="大棋盘"/>
          <p:cNvSpPr>
            <a:spLocks noChangeArrowheads="1"/>
          </p:cNvSpPr>
          <p:nvPr/>
        </p:nvSpPr>
        <p:spPr bwMode="auto">
          <a:xfrm>
            <a:off x="1828800" y="4560887"/>
            <a:ext cx="3124200" cy="457200"/>
          </a:xfrm>
          <a:prstGeom prst="rect">
            <a:avLst/>
          </a:prstGeom>
          <a:pattFill prst="lgCheck">
            <a:fgClr>
              <a:srgbClr val="CCFFCC"/>
            </a:fgClr>
            <a:bgClr>
              <a:srgbClr val="FFFFFF"/>
            </a:bgClr>
          </a:pattFill>
          <a:ln w="12700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6" name="Rectangle 18"/>
          <p:cNvSpPr>
            <a:spLocks noChangeArrowheads="1"/>
          </p:cNvSpPr>
          <p:nvPr/>
        </p:nvSpPr>
        <p:spPr bwMode="auto">
          <a:xfrm>
            <a:off x="1524000" y="4560887"/>
            <a:ext cx="304800" cy="457200"/>
          </a:xfrm>
          <a:prstGeom prst="rect">
            <a:avLst/>
          </a:prstGeom>
          <a:solidFill>
            <a:srgbClr val="00FFFF"/>
          </a:solidFill>
          <a:ln w="12700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7" name="Text Box 19"/>
          <p:cNvSpPr txBox="1">
            <a:spLocks noChangeArrowheads="1"/>
          </p:cNvSpPr>
          <p:nvPr/>
        </p:nvSpPr>
        <p:spPr bwMode="auto">
          <a:xfrm>
            <a:off x="1295400" y="3951287"/>
            <a:ext cx="838200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R[0]</a:t>
            </a:r>
            <a:endParaRPr kumimoji="1" lang="en-US" altLang="zh-CN" sz="2800" b="1">
              <a:solidFill>
                <a:srgbClr val="0033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8" name="Line 20"/>
          <p:cNvSpPr>
            <a:spLocks noChangeShapeType="1"/>
          </p:cNvSpPr>
          <p:nvPr/>
        </p:nvSpPr>
        <p:spPr bwMode="auto">
          <a:xfrm>
            <a:off x="4800600" y="5094287"/>
            <a:ext cx="0" cy="762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stealth" w="med" len="lg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9" name="Line 21"/>
          <p:cNvSpPr>
            <a:spLocks noChangeShapeType="1"/>
          </p:cNvSpPr>
          <p:nvPr/>
        </p:nvSpPr>
        <p:spPr bwMode="auto">
          <a:xfrm>
            <a:off x="3505200" y="5018087"/>
            <a:ext cx="0" cy="762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stealth" w="med" len="lg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0" name="Text Box 22"/>
          <p:cNvSpPr txBox="1">
            <a:spLocks noChangeArrowheads="1"/>
          </p:cNvSpPr>
          <p:nvPr/>
        </p:nvSpPr>
        <p:spPr bwMode="auto">
          <a:xfrm>
            <a:off x="3527425" y="5094287"/>
            <a:ext cx="587375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6600CC"/>
                </a:solidFill>
                <a:latin typeface="Times New Roman" panose="02020603050405020304" pitchFamily="18" charset="0"/>
                <a:ea typeface="楷体_GB2312" pitchFamily="49" charset="-122"/>
              </a:rPr>
              <a:t>j</a:t>
            </a:r>
            <a:endParaRPr kumimoji="1" lang="en-US" altLang="zh-CN" sz="2800" b="1">
              <a:solidFill>
                <a:srgbClr val="66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1" name="Rectangle 24"/>
          <p:cNvSpPr>
            <a:spLocks noChangeArrowheads="1"/>
          </p:cNvSpPr>
          <p:nvPr/>
        </p:nvSpPr>
        <p:spPr bwMode="auto">
          <a:xfrm>
            <a:off x="4953000" y="4560887"/>
            <a:ext cx="3429000" cy="457200"/>
          </a:xfrm>
          <a:prstGeom prst="rect">
            <a:avLst/>
          </a:prstGeom>
          <a:solidFill>
            <a:srgbClr val="E2D700"/>
          </a:solidFill>
          <a:ln w="12700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2" name="Rectangle 25"/>
          <p:cNvSpPr>
            <a:spLocks noChangeArrowheads="1"/>
          </p:cNvSpPr>
          <p:nvPr/>
        </p:nvSpPr>
        <p:spPr bwMode="auto">
          <a:xfrm>
            <a:off x="4953000" y="4560887"/>
            <a:ext cx="304800" cy="457200"/>
          </a:xfrm>
          <a:prstGeom prst="rect">
            <a:avLst/>
          </a:prstGeom>
          <a:solidFill>
            <a:srgbClr val="00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3" name="Rectangle 26"/>
          <p:cNvSpPr>
            <a:spLocks noChangeArrowheads="1"/>
          </p:cNvSpPr>
          <p:nvPr/>
        </p:nvSpPr>
        <p:spPr bwMode="auto">
          <a:xfrm>
            <a:off x="4724400" y="4027487"/>
            <a:ext cx="784189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R[i]</a:t>
            </a:r>
            <a:endParaRPr kumimoji="1" lang="en-US" altLang="zh-CN" sz="2800" b="1">
              <a:solidFill>
                <a:srgbClr val="0033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4" name="Rectangle 28" descr="60%"/>
          <p:cNvSpPr>
            <a:spLocks noChangeArrowheads="1"/>
          </p:cNvSpPr>
          <p:nvPr/>
        </p:nvSpPr>
        <p:spPr bwMode="auto">
          <a:xfrm>
            <a:off x="3962400" y="4560887"/>
            <a:ext cx="1295400" cy="457200"/>
          </a:xfrm>
          <a:prstGeom prst="rect">
            <a:avLst/>
          </a:prstGeom>
          <a:pattFill prst="pct60">
            <a:fgClr>
              <a:srgbClr val="FF99FF"/>
            </a:fgClr>
            <a:bgClr>
              <a:srgbClr val="FFFFFF"/>
            </a:bgClr>
          </a:pattFill>
          <a:ln w="12700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5" name="Rectangle 29" descr="大棋盘"/>
          <p:cNvSpPr>
            <a:spLocks noChangeArrowheads="1"/>
          </p:cNvSpPr>
          <p:nvPr/>
        </p:nvSpPr>
        <p:spPr bwMode="auto">
          <a:xfrm>
            <a:off x="3657600" y="4560887"/>
            <a:ext cx="304800" cy="457200"/>
          </a:xfrm>
          <a:prstGeom prst="rect">
            <a:avLst/>
          </a:prstGeom>
          <a:pattFill prst="lgCheck">
            <a:fgClr>
              <a:srgbClr val="CCFFCC"/>
            </a:fgClr>
            <a:bgClr>
              <a:srgbClr val="FFFFFF"/>
            </a:bgClr>
          </a:pattFill>
          <a:ln w="12700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6" name="Text Box 30"/>
          <p:cNvSpPr txBox="1">
            <a:spLocks noChangeArrowheads="1"/>
          </p:cNvSpPr>
          <p:nvPr/>
        </p:nvSpPr>
        <p:spPr bwMode="auto">
          <a:xfrm>
            <a:off x="4876800" y="5094287"/>
            <a:ext cx="1196975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6600CC"/>
                </a:solidFill>
                <a:latin typeface="Times New Roman" panose="02020603050405020304" pitchFamily="18" charset="0"/>
                <a:ea typeface="楷体_GB2312" pitchFamily="49" charset="-122"/>
              </a:rPr>
              <a:t>j= i-1</a:t>
            </a:r>
            <a:endParaRPr kumimoji="1" lang="en-US" altLang="zh-CN" sz="2800" b="1">
              <a:solidFill>
                <a:srgbClr val="66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7" name="Line 33"/>
          <p:cNvSpPr>
            <a:spLocks noChangeShapeType="1"/>
          </p:cNvSpPr>
          <p:nvPr/>
        </p:nvSpPr>
        <p:spPr bwMode="auto">
          <a:xfrm>
            <a:off x="4953000" y="4560887"/>
            <a:ext cx="1588" cy="457200"/>
          </a:xfrm>
          <a:prstGeom prst="line">
            <a:avLst/>
          </a:prstGeom>
          <a:noFill/>
          <a:ln w="12700" cap="rnd">
            <a:solidFill>
              <a:srgbClr val="000000"/>
            </a:solidFill>
            <a:prstDash val="sysDot"/>
            <a:round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8" name="Text Box 34"/>
          <p:cNvSpPr txBox="1">
            <a:spLocks noChangeArrowheads="1"/>
          </p:cNvSpPr>
          <p:nvPr/>
        </p:nvSpPr>
        <p:spPr bwMode="auto">
          <a:xfrm>
            <a:off x="1184805" y="5818863"/>
            <a:ext cx="6316153" cy="523220"/>
          </a:xfrm>
          <a:prstGeom prst="rect">
            <a:avLst/>
          </a:prstGeom>
          <a:noFill/>
          <a:ln w="9525">
            <a:solidFill>
              <a:srgbClr val="003300"/>
            </a:solidFill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上述循环结束后可以直接进行“插入”</a:t>
            </a:r>
            <a:endParaRPr kumimoji="1" lang="zh-CN" altLang="en-US" sz="2800" b="1" dirty="0">
              <a:solidFill>
                <a:srgbClr val="0033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9" name="AutoShape 36"/>
          <p:cNvSpPr>
            <a:spLocks noChangeArrowheads="1"/>
          </p:cNvSpPr>
          <p:nvPr/>
        </p:nvSpPr>
        <p:spPr bwMode="auto">
          <a:xfrm>
            <a:off x="4419600" y="5322887"/>
            <a:ext cx="1600200" cy="457200"/>
          </a:xfrm>
          <a:prstGeom prst="wedgeRoundRectCallout">
            <a:avLst>
              <a:gd name="adj1" fmla="val -87796"/>
              <a:gd name="adj2" fmla="val -163194"/>
              <a:gd name="adj3" fmla="val 16667"/>
            </a:avLst>
          </a:prstGeom>
          <a:solidFill>
            <a:srgbClr val="FFFF99">
              <a:alpha val="50000"/>
            </a:srgbClr>
          </a:solidFill>
          <a:ln w="12700">
            <a:solidFill>
              <a:srgbClr val="800000"/>
            </a:solidFill>
            <a:miter lim="800000"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插入位置</a:t>
            </a:r>
            <a:endParaRPr kumimoji="1" lang="zh-CN" altLang="en-US" sz="2800" b="1">
              <a:solidFill>
                <a:srgbClr val="66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0" name="Text Box 2320"/>
          <p:cNvSpPr txBox="1">
            <a:spLocks noChangeArrowheads="1"/>
          </p:cNvSpPr>
          <p:nvPr/>
        </p:nvSpPr>
        <p:spPr bwMode="auto">
          <a:xfrm>
            <a:off x="466725" y="928688"/>
            <a:ext cx="4537075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直接插入排序算法要点</a:t>
            </a:r>
            <a:endParaRPr kumimoji="1" lang="zh-CN" altLang="en-US" sz="2800" b="1" dirty="0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50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000"/>
                            </p:stCondLst>
                            <p:childTnLst>
                              <p:par>
                                <p:cTn id="6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utoUpdateAnimBg="0"/>
      <p:bldP spid="15" grpId="0" animBg="1"/>
      <p:bldP spid="16" grpId="0" animBg="1"/>
      <p:bldP spid="17" grpId="0" autoUpdateAnimBg="0"/>
      <p:bldP spid="18" grpId="0" animBg="1"/>
      <p:bldP spid="19" grpId="0" animBg="1"/>
      <p:bldP spid="20" grpId="0" autoUpdateAnimBg="0"/>
      <p:bldP spid="21" grpId="0" animBg="1"/>
      <p:bldP spid="22" grpId="0" animBg="1"/>
      <p:bldP spid="23" grpId="0" autoUpdateAnimBg="0"/>
      <p:bldP spid="24" grpId="0" animBg="1"/>
      <p:bldP spid="25" grpId="0" animBg="1"/>
      <p:bldP spid="26" grpId="0" autoUpdateAnimBg="0"/>
      <p:bldP spid="27" grpId="0" animBg="1"/>
      <p:bldP spid="28" grpId="0" animBg="1" autoUpdateAnimBg="0"/>
      <p:bldP spid="29" grpId="0" animBg="1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6.2.1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直接插入排序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D082B-5738-40B1-9EA5-F7DAA8941B99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17"/>
          <p:cNvSpPr txBox="1">
            <a:spLocks noChangeArrowheads="1"/>
          </p:cNvSpPr>
          <p:nvPr/>
        </p:nvSpPr>
        <p:spPr bwMode="auto">
          <a:xfrm>
            <a:off x="539750" y="1328742"/>
            <a:ext cx="8072438" cy="5090624"/>
          </a:xfrm>
          <a:prstGeom prst="rect">
            <a:avLst/>
          </a:prstGeom>
          <a:noFill/>
          <a:ln w="9525" algn="ctr">
            <a:solidFill>
              <a:srgbClr val="003300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void 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InsertionSort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( 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SqList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&amp;L ) {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// 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对顺序表 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L 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作直接插入排序。</a:t>
            </a:r>
            <a:endParaRPr kumimoji="1" lang="zh-CN" altLang="en-US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for ( 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=2; 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&lt;=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L.length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; ++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) 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if (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L.r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[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].key &lt; 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L.r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[i-1].key) {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    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L.r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[0] = 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L.r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[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];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         // 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复制为监视哨</a:t>
            </a:r>
            <a:endParaRPr kumimoji="1" lang="zh-CN" altLang="en-US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   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for ( j=i-1; </a:t>
            </a:r>
            <a:r>
              <a:rPr kumimoji="1" lang="en-US" altLang="zh-CN" sz="2800" b="1" dirty="0" err="1">
                <a:solidFill>
                  <a:srgbClr val="FF3300"/>
                </a:solidFill>
                <a:latin typeface="Times New Roman" panose="02020603050405020304" pitchFamily="18" charset="0"/>
              </a:rPr>
              <a:t>L.r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[0].key &lt; </a:t>
            </a:r>
            <a:r>
              <a:rPr kumimoji="1" lang="en-US" altLang="zh-CN" sz="2800" b="1" dirty="0" err="1">
                <a:solidFill>
                  <a:srgbClr val="FF3300"/>
                </a:solidFill>
                <a:latin typeface="Times New Roman" panose="02020603050405020304" pitchFamily="18" charset="0"/>
              </a:rPr>
              <a:t>L.r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[j].key;  -- j )</a:t>
            </a:r>
            <a:endParaRPr kumimoji="1" lang="en-US" altLang="zh-CN" sz="2800" b="1" dirty="0">
              <a:solidFill>
                <a:srgbClr val="FF3300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        </a:t>
            </a:r>
            <a:r>
              <a:rPr kumimoji="1" lang="en-US" altLang="zh-CN" sz="2800" b="1" dirty="0" err="1">
                <a:solidFill>
                  <a:srgbClr val="FF3300"/>
                </a:solidFill>
                <a:latin typeface="Times New Roman" panose="02020603050405020304" pitchFamily="18" charset="0"/>
              </a:rPr>
              <a:t>L.r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[j+1] = </a:t>
            </a:r>
            <a:r>
              <a:rPr kumimoji="1" lang="en-US" altLang="zh-CN" sz="2800" b="1" dirty="0" err="1">
                <a:solidFill>
                  <a:srgbClr val="FF3300"/>
                </a:solidFill>
                <a:latin typeface="Times New Roman" panose="02020603050405020304" pitchFamily="18" charset="0"/>
              </a:rPr>
              <a:t>L.r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[j];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// 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记录后移</a:t>
            </a:r>
            <a:endParaRPr kumimoji="1" lang="zh-CN" altLang="en-US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        </a:t>
            </a:r>
            <a:r>
              <a:rPr kumimoji="1" lang="en-US" altLang="zh-CN" sz="2800" b="1" dirty="0" err="1">
                <a:solidFill>
                  <a:srgbClr val="FF3300"/>
                </a:solidFill>
                <a:latin typeface="Times New Roman" panose="02020603050405020304" pitchFamily="18" charset="0"/>
              </a:rPr>
              <a:t>L.r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[j+1] = </a:t>
            </a:r>
            <a:r>
              <a:rPr kumimoji="1" lang="en-US" altLang="zh-CN" sz="2800" b="1" dirty="0" err="1">
                <a:solidFill>
                  <a:srgbClr val="FF3300"/>
                </a:solidFill>
                <a:latin typeface="Times New Roman" panose="02020603050405020304" pitchFamily="18" charset="0"/>
              </a:rPr>
              <a:t>L.r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[0];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// 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插入到正确位置</a:t>
            </a:r>
            <a:endParaRPr kumimoji="1" lang="zh-CN" altLang="en-US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}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}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// </a:t>
            </a:r>
            <a:r>
              <a:rPr kumimoji="1" lang="en-US" altLang="zh-CN" sz="28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InsertSort</a:t>
            </a:r>
            <a:endParaRPr kumimoji="1" lang="en-US" altLang="zh-CN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" name="Text Box 22"/>
          <p:cNvSpPr txBox="1">
            <a:spLocks noChangeArrowheads="1"/>
          </p:cNvSpPr>
          <p:nvPr/>
        </p:nvSpPr>
        <p:spPr bwMode="auto">
          <a:xfrm>
            <a:off x="539750" y="874644"/>
            <a:ext cx="5111750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直接插入排序算法</a:t>
            </a:r>
            <a:endParaRPr kumimoji="1" lang="zh-CN" altLang="en-US" sz="2800" b="1" dirty="0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" name="AutoShape 159">
            <a:hlinkClick r:id="rId2" action="ppaction://hlinkfile"/>
          </p:cNvPr>
          <p:cNvSpPr>
            <a:spLocks noChangeArrowheads="1"/>
          </p:cNvSpPr>
          <p:nvPr/>
        </p:nvSpPr>
        <p:spPr bwMode="auto">
          <a:xfrm>
            <a:off x="6143636" y="5943600"/>
            <a:ext cx="1571636" cy="866749"/>
          </a:xfrm>
          <a:custGeom>
            <a:avLst/>
            <a:gdLst>
              <a:gd name="G0" fmla="+- 16200 0 0"/>
              <a:gd name="G1" fmla="+- 5400 0 0"/>
              <a:gd name="G2" fmla="+- 21600 0 5400"/>
              <a:gd name="G3" fmla="+- 10800 0 5400"/>
              <a:gd name="G4" fmla="+- 21600 0 16200"/>
              <a:gd name="G5" fmla="*/ G4 G3 10800"/>
              <a:gd name="G6" fmla="+- 21600 0 G5"/>
              <a:gd name="T0" fmla="*/ 16200 w 21600"/>
              <a:gd name="T1" fmla="*/ 0 h 21600"/>
              <a:gd name="T2" fmla="*/ 0 w 21600"/>
              <a:gd name="T3" fmla="*/ 10800 h 21600"/>
              <a:gd name="T4" fmla="*/ 16200 w 21600"/>
              <a:gd name="T5" fmla="*/ 21600 h 21600"/>
              <a:gd name="T6" fmla="*/ 21600 w 21600"/>
              <a:gd name="T7" fmla="*/ 10800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G1 h 21600"/>
              <a:gd name="T14" fmla="*/ G6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rgbClr val="009DD9">
              <a:lumMod val="40000"/>
              <a:lumOff val="60000"/>
            </a:srgbClr>
          </a:solidFill>
          <a:ln w="9525">
            <a:solidFill>
              <a:srgbClr val="04617B">
                <a:lumMod val="40000"/>
                <a:lumOff val="60000"/>
              </a:srgbClr>
            </a:solidFill>
            <a:miter lim="800000"/>
          </a:ln>
          <a:effectLst>
            <a:glow rad="139700">
              <a:srgbClr val="FFFFFF">
                <a:satMod val="175000"/>
                <a:alpha val="40000"/>
              </a:srgbClr>
            </a:glo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rPr>
              <a:t>图示</a:t>
            </a:r>
            <a:endParaRPr kumimoji="1" lang="zh-CN" altLang="en-US" sz="3000" b="0" i="0" u="none" strike="noStrike" kern="0" cap="none" spc="0" normalizeH="0" baseline="0" noProof="0" dirty="0">
              <a:ln>
                <a:noFill/>
              </a:ln>
              <a:solidFill>
                <a:srgbClr val="003300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6.2.1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直接插入排序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BC155-01B7-48ED-99A5-7ADFF02E3A83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571472" y="2096869"/>
            <a:ext cx="7133684" cy="81817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6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实现内部排序的基本操作有两个：</a:t>
            </a:r>
            <a:endParaRPr kumimoji="1" lang="zh-CN" altLang="en-US" sz="36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4" name="Rectangle 4"/>
          <p:cNvSpPr>
            <a:spLocks noChangeArrowheads="1"/>
          </p:cNvSpPr>
          <p:nvPr/>
        </p:nvSpPr>
        <p:spPr bwMode="auto">
          <a:xfrm>
            <a:off x="571472" y="5144869"/>
            <a:ext cx="4584909" cy="64633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6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kumimoji="1" lang="en-US" altLang="zh-CN" sz="36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1" lang="zh-CN" altLang="en-US" sz="36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）“</a:t>
            </a:r>
            <a:r>
              <a:rPr kumimoji="1" lang="zh-CN" altLang="en-US" sz="3600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移动</a:t>
            </a:r>
            <a:r>
              <a:rPr kumimoji="1" lang="zh-CN" altLang="en-US" sz="36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”记录。</a:t>
            </a:r>
            <a:endParaRPr kumimoji="1" lang="zh-CN" altLang="en-US" sz="36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5" name="Rectangle 5"/>
          <p:cNvSpPr>
            <a:spLocks noChangeArrowheads="1"/>
          </p:cNvSpPr>
          <p:nvPr/>
        </p:nvSpPr>
        <p:spPr bwMode="auto">
          <a:xfrm>
            <a:off x="571472" y="3468469"/>
            <a:ext cx="9017000" cy="142192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6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kumimoji="1" lang="en-US" altLang="zh-CN" sz="36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1" lang="zh-CN" altLang="en-US" sz="36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）“</a:t>
            </a:r>
            <a:r>
              <a:rPr kumimoji="1" lang="zh-CN" altLang="en-US" sz="3600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比较</a:t>
            </a:r>
            <a:r>
              <a:rPr kumimoji="1" lang="zh-CN" altLang="en-US" sz="36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”序列中两个关键字的</a:t>
            </a:r>
            <a:endParaRPr kumimoji="1" lang="zh-CN" altLang="en-US" sz="36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6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          大小；</a:t>
            </a:r>
            <a:endParaRPr kumimoji="1" lang="zh-CN" altLang="en-US" sz="36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6" name="Text Box 22"/>
          <p:cNvSpPr txBox="1">
            <a:spLocks noChangeArrowheads="1"/>
          </p:cNvSpPr>
          <p:nvPr/>
        </p:nvSpPr>
        <p:spPr bwMode="auto">
          <a:xfrm>
            <a:off x="539750" y="988806"/>
            <a:ext cx="5111750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直接插入排序算法分析</a:t>
            </a:r>
            <a:endParaRPr kumimoji="1" lang="zh-CN" altLang="en-US" sz="2800" b="1" dirty="0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utoUpdateAnimBg="0"/>
      <p:bldP spid="14" grpId="0" autoUpdateAnimBg="0"/>
      <p:bldP spid="15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6.2.1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直接插入排序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9E22D-EDAE-4A7A-A335-5BFE4D55A4D8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450825" y="1361764"/>
            <a:ext cx="7758855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80"/>
                </a:solidFill>
                <a:latin typeface="Times New Roman" panose="02020603050405020304" pitchFamily="18" charset="0"/>
                <a:ea typeface="楷体_GB2312" pitchFamily="49" charset="-122"/>
              </a:rPr>
              <a:t>最好的情况（关键字在记录序列中顺序有序）：</a:t>
            </a:r>
            <a:endParaRPr kumimoji="1" lang="zh-CN" altLang="en-US" sz="2800" b="1" dirty="0">
              <a:solidFill>
                <a:srgbClr val="00008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4" name="Text Box 4"/>
          <p:cNvSpPr txBox="1">
            <a:spLocks noChangeArrowheads="1"/>
          </p:cNvSpPr>
          <p:nvPr/>
        </p:nvSpPr>
        <p:spPr bwMode="auto">
          <a:xfrm>
            <a:off x="847700" y="1994555"/>
            <a:ext cx="2888932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“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比较”的次数：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5" name="Text Box 8"/>
          <p:cNvSpPr txBox="1">
            <a:spLocks noChangeArrowheads="1"/>
          </p:cNvSpPr>
          <p:nvPr/>
        </p:nvSpPr>
        <p:spPr bwMode="auto">
          <a:xfrm>
            <a:off x="466700" y="3928130"/>
            <a:ext cx="7758855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80"/>
                </a:solidFill>
                <a:latin typeface="Times New Roman" panose="02020603050405020304" pitchFamily="18" charset="0"/>
                <a:ea typeface="楷体_GB2312" pitchFamily="49" charset="-122"/>
              </a:rPr>
              <a:t>最坏的情况（关键字在记录序列中逆序有序）：</a:t>
            </a:r>
            <a:endParaRPr kumimoji="1" lang="zh-CN" altLang="en-US" sz="2800" b="1">
              <a:solidFill>
                <a:srgbClr val="00008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6" name="Text Box 9"/>
          <p:cNvSpPr txBox="1">
            <a:spLocks noChangeArrowheads="1"/>
          </p:cNvSpPr>
          <p:nvPr/>
        </p:nvSpPr>
        <p:spPr bwMode="auto">
          <a:xfrm>
            <a:off x="771500" y="4658380"/>
            <a:ext cx="2888932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“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比较”的次数：</a:t>
            </a:r>
            <a:endParaRPr kumimoji="1" lang="zh-CN" altLang="en-US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7" name="Object 10"/>
          <p:cNvGraphicFramePr>
            <a:graphicFrameLocks noChangeAspect="1"/>
          </p:cNvGraphicFramePr>
          <p:nvPr/>
        </p:nvGraphicFramePr>
        <p:xfrm>
          <a:off x="1381100" y="2556530"/>
          <a:ext cx="2438400" cy="1135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0" name="公式" r:id="rId2" imgW="9871075" imgH="5993130" progId="Equation.3">
                  <p:embed/>
                </p:oleObj>
              </mc:Choice>
              <mc:Fallback>
                <p:oleObj name="公式" r:id="rId2" imgW="9871075" imgH="5993130" progId="Equation.3">
                  <p:embed/>
                  <p:pic>
                    <p:nvPicPr>
                      <p:cNvPr id="0" name="图片 41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1100" y="2556530"/>
                        <a:ext cx="2438400" cy="1135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Box 11"/>
          <p:cNvSpPr txBox="1">
            <a:spLocks noChangeArrowheads="1"/>
          </p:cNvSpPr>
          <p:nvPr/>
        </p:nvSpPr>
        <p:spPr bwMode="auto">
          <a:xfrm>
            <a:off x="6105500" y="2708930"/>
            <a:ext cx="364202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endParaRPr kumimoji="1" lang="en-US" altLang="zh-CN" sz="2800" b="1">
              <a:solidFill>
                <a:srgbClr val="66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9" name="Object 13"/>
          <p:cNvGraphicFramePr>
            <a:graphicFrameLocks noChangeAspect="1"/>
          </p:cNvGraphicFramePr>
          <p:nvPr/>
        </p:nvGraphicFramePr>
        <p:xfrm>
          <a:off x="5038700" y="5213371"/>
          <a:ext cx="3190900" cy="11792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1" name="公式" r:id="rId4" imgW="21328380" imgH="5993130" progId="Equation.3">
                  <p:embed/>
                </p:oleObj>
              </mc:Choice>
              <mc:Fallback>
                <p:oleObj name="公式" r:id="rId4" imgW="21328380" imgH="5993130" progId="Equation.3">
                  <p:embed/>
                  <p:pic>
                    <p:nvPicPr>
                      <p:cNvPr id="0" name="图片 41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8700" y="5213371"/>
                        <a:ext cx="3190900" cy="11792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ectangle 14"/>
          <p:cNvSpPr>
            <a:spLocks noChangeArrowheads="1"/>
          </p:cNvSpPr>
          <p:nvPr/>
        </p:nvSpPr>
        <p:spPr bwMode="auto">
          <a:xfrm>
            <a:off x="4886300" y="1991380"/>
            <a:ext cx="2888932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“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移动”的次数：</a:t>
            </a:r>
            <a:endParaRPr kumimoji="1" lang="zh-CN" altLang="en-US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1" name="Rectangle 15"/>
          <p:cNvSpPr>
            <a:spLocks noChangeArrowheads="1"/>
          </p:cNvSpPr>
          <p:nvPr/>
        </p:nvSpPr>
        <p:spPr bwMode="auto">
          <a:xfrm>
            <a:off x="4962500" y="4658380"/>
            <a:ext cx="2888932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“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移动”的次数：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22" name="Object 19"/>
          <p:cNvGraphicFramePr>
            <a:graphicFrameLocks noChangeAspect="1"/>
          </p:cNvGraphicFramePr>
          <p:nvPr/>
        </p:nvGraphicFramePr>
        <p:xfrm>
          <a:off x="695300" y="5213371"/>
          <a:ext cx="3176582" cy="11739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2" name="公式" r:id="rId6" imgW="1332865" imgH="374650" progId="Equation.3">
                  <p:embed/>
                </p:oleObj>
              </mc:Choice>
              <mc:Fallback>
                <p:oleObj name="公式" r:id="rId6" imgW="1332865" imgH="374650" progId="Equation.3">
                  <p:embed/>
                  <p:pic>
                    <p:nvPicPr>
                      <p:cNvPr id="0" name="图片 41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300" y="5213371"/>
                        <a:ext cx="3176582" cy="11739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 Box 22"/>
          <p:cNvSpPr txBox="1">
            <a:spLocks noChangeArrowheads="1"/>
          </p:cNvSpPr>
          <p:nvPr/>
        </p:nvSpPr>
        <p:spPr bwMode="auto">
          <a:xfrm>
            <a:off x="457200" y="914400"/>
            <a:ext cx="5111750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直接插入排序算法分析</a:t>
            </a:r>
            <a:endParaRPr kumimoji="1" lang="zh-CN" altLang="en-US" sz="2800" b="1" dirty="0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utoUpdateAnimBg="0"/>
      <p:bldP spid="14" grpId="0" autoUpdateAnimBg="0"/>
      <p:bldP spid="15" grpId="0" autoUpdateAnimBg="0"/>
      <p:bldP spid="16" grpId="0" autoUpdateAnimBg="0"/>
      <p:bldP spid="18" grpId="0" autoUpdateAnimBg="0"/>
      <p:bldP spid="20" grpId="0" autoUpdateAnimBg="0"/>
      <p:bldP spid="21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6.2.1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直接插入排序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F7B94-23BD-4AE4-AA6D-B6E7621D91FB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16"/>
          <p:cNvSpPr txBox="1">
            <a:spLocks noChangeArrowheads="1"/>
          </p:cNvSpPr>
          <p:nvPr/>
        </p:nvSpPr>
        <p:spPr bwMode="auto">
          <a:xfrm>
            <a:off x="971550" y="1361754"/>
            <a:ext cx="6688138" cy="511524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3366"/>
                </a:solidFill>
                <a:latin typeface="Times New Roman" panose="02020603050405020304" pitchFamily="18" charset="0"/>
              </a:rPr>
              <a:t>  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(1)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稳定性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algn="just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  直接插入排序是</a:t>
            </a:r>
            <a:r>
              <a:rPr kumimoji="1" lang="zh-CN" altLang="en-US" sz="3200" b="1" u="sng" dirty="0">
                <a:solidFill>
                  <a:srgbClr val="FF3300"/>
                </a:solidFill>
                <a:latin typeface="Times New Roman" panose="02020603050405020304" pitchFamily="18" charset="0"/>
              </a:rPr>
              <a:t>稳定的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排序方法。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algn="just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(2)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算法效率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algn="just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   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a.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时间复杂度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algn="just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      最好情况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: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比较</a:t>
            </a:r>
            <a:r>
              <a:rPr kumimoji="1" lang="en-US" altLang="zh-CN" sz="3200" b="1" u="sng" dirty="0">
                <a:solidFill>
                  <a:srgbClr val="FF3300"/>
                </a:solidFill>
                <a:latin typeface="Times New Roman" panose="02020603050405020304" pitchFamily="18" charset="0"/>
              </a:rPr>
              <a:t>O(n),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移动</a:t>
            </a:r>
            <a:r>
              <a:rPr kumimoji="1" lang="en-US" altLang="zh-CN" sz="3200" b="1" u="sng" dirty="0">
                <a:solidFill>
                  <a:srgbClr val="FF3300"/>
                </a:solidFill>
                <a:latin typeface="Times New Roman" panose="02020603050405020304" pitchFamily="18" charset="0"/>
              </a:rPr>
              <a:t>O(1);</a:t>
            </a:r>
            <a:endParaRPr kumimoji="1" lang="en-US" altLang="zh-CN" sz="3200" b="1" u="sng" dirty="0">
              <a:solidFill>
                <a:srgbClr val="FF3300"/>
              </a:solidFill>
              <a:latin typeface="Times New Roman" panose="02020603050405020304" pitchFamily="18" charset="0"/>
            </a:endParaRPr>
          </a:p>
          <a:p>
            <a:pPr algn="just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      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最坏情况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: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比较</a:t>
            </a:r>
            <a:r>
              <a:rPr kumimoji="1" lang="en-US" altLang="zh-CN" sz="3200" b="1" u="sng" dirty="0">
                <a:solidFill>
                  <a:srgbClr val="FF3300"/>
                </a:solidFill>
                <a:latin typeface="Times New Roman" panose="02020603050405020304" pitchFamily="18" charset="0"/>
              </a:rPr>
              <a:t>O(n</a:t>
            </a:r>
            <a:r>
              <a:rPr kumimoji="1" lang="en-US" altLang="zh-CN" sz="3200" b="1" u="sng" baseline="30000" dirty="0">
                <a:solidFill>
                  <a:srgbClr val="FF3300"/>
                </a:solidFill>
                <a:latin typeface="Times New Roman" panose="02020603050405020304" pitchFamily="18" charset="0"/>
              </a:rPr>
              <a:t>2</a:t>
            </a:r>
            <a:r>
              <a:rPr kumimoji="1" lang="en-US" altLang="zh-CN" sz="3200" b="1" u="sng" dirty="0">
                <a:solidFill>
                  <a:srgbClr val="FF3300"/>
                </a:solidFill>
                <a:latin typeface="Times New Roman" panose="02020603050405020304" pitchFamily="18" charset="0"/>
              </a:rPr>
              <a:t>),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移动</a:t>
            </a:r>
            <a:r>
              <a:rPr kumimoji="1" lang="en-US" altLang="zh-CN" sz="3200" b="1" u="sng" dirty="0">
                <a:solidFill>
                  <a:srgbClr val="FF3300"/>
                </a:solidFill>
                <a:latin typeface="Times New Roman" panose="02020603050405020304" pitchFamily="18" charset="0"/>
              </a:rPr>
              <a:t>O(n</a:t>
            </a:r>
            <a:r>
              <a:rPr kumimoji="1" lang="en-US" altLang="zh-CN" sz="3200" b="1" u="sng" baseline="30000" dirty="0">
                <a:solidFill>
                  <a:srgbClr val="FF3300"/>
                </a:solidFill>
                <a:latin typeface="Times New Roman" panose="02020603050405020304" pitchFamily="18" charset="0"/>
              </a:rPr>
              <a:t>2</a:t>
            </a:r>
            <a:r>
              <a:rPr kumimoji="1" lang="en-US" altLang="zh-CN" sz="3200" b="1" u="sng" dirty="0">
                <a:solidFill>
                  <a:srgbClr val="FF3300"/>
                </a:solidFill>
                <a:latin typeface="Times New Roman" panose="02020603050405020304" pitchFamily="18" charset="0"/>
              </a:rPr>
              <a:t>);</a:t>
            </a:r>
            <a:endParaRPr kumimoji="1" lang="en-US" altLang="zh-CN" sz="3200" b="1" u="sng" dirty="0">
              <a:solidFill>
                <a:srgbClr val="FF3300"/>
              </a:solidFill>
              <a:latin typeface="Times New Roman" panose="02020603050405020304" pitchFamily="18" charset="0"/>
            </a:endParaRPr>
          </a:p>
          <a:p>
            <a:pPr algn="just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      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平均</a:t>
            </a:r>
            <a:r>
              <a:rPr kumimoji="1" lang="en-US" altLang="zh-CN" sz="3200" b="1" u="sng" dirty="0">
                <a:solidFill>
                  <a:srgbClr val="FF3300"/>
                </a:solidFill>
                <a:latin typeface="Times New Roman" panose="02020603050405020304" pitchFamily="18" charset="0"/>
              </a:rPr>
              <a:t>O(n</a:t>
            </a:r>
            <a:r>
              <a:rPr kumimoji="1" lang="en-US" altLang="zh-CN" sz="3200" b="1" u="sng" baseline="30000" dirty="0">
                <a:solidFill>
                  <a:srgbClr val="FF3300"/>
                </a:solidFill>
                <a:latin typeface="Times New Roman" panose="02020603050405020304" pitchFamily="18" charset="0"/>
              </a:rPr>
              <a:t>2</a:t>
            </a:r>
            <a:r>
              <a:rPr kumimoji="1" lang="en-US" altLang="zh-CN" sz="3200" b="1" u="sng" dirty="0">
                <a:solidFill>
                  <a:srgbClr val="FF3300"/>
                </a:solidFill>
                <a:latin typeface="Times New Roman" panose="02020603050405020304" pitchFamily="18" charset="0"/>
              </a:rPr>
              <a:t>)</a:t>
            </a:r>
            <a:endParaRPr kumimoji="1" lang="en-US" altLang="zh-CN" sz="3200" b="1" u="sng" dirty="0">
              <a:solidFill>
                <a:srgbClr val="FF3300"/>
              </a:solidFill>
              <a:latin typeface="Times New Roman" panose="02020603050405020304" pitchFamily="18" charset="0"/>
            </a:endParaRPr>
          </a:p>
          <a:p>
            <a:pPr algn="just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    b.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空间复杂度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algn="just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       </a:t>
            </a:r>
            <a:r>
              <a:rPr kumimoji="1" lang="en-US" altLang="zh-CN" sz="3200" b="1" u="sng" dirty="0">
                <a:solidFill>
                  <a:srgbClr val="FF3300"/>
                </a:solidFill>
                <a:latin typeface="Times New Roman" panose="02020603050405020304" pitchFamily="18" charset="0"/>
              </a:rPr>
              <a:t>O(1)</a:t>
            </a:r>
            <a:r>
              <a:rPr kumimoji="1" lang="zh-CN" altLang="en-US" sz="3200" b="1" u="sng" dirty="0">
                <a:solidFill>
                  <a:srgbClr val="FF3300"/>
                </a:solidFill>
                <a:latin typeface="Times New Roman" panose="02020603050405020304" pitchFamily="18" charset="0"/>
              </a:rPr>
              <a:t>。</a:t>
            </a:r>
            <a:endParaRPr kumimoji="1" lang="zh-CN" altLang="en-US" sz="3200" b="1" u="sng" dirty="0">
              <a:solidFill>
                <a:srgbClr val="FF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" name="Text Box 22"/>
          <p:cNvSpPr txBox="1">
            <a:spLocks noChangeArrowheads="1"/>
          </p:cNvSpPr>
          <p:nvPr/>
        </p:nvSpPr>
        <p:spPr bwMode="auto">
          <a:xfrm>
            <a:off x="539750" y="847404"/>
            <a:ext cx="5111750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直接插入排序算法分析</a:t>
            </a:r>
            <a:endParaRPr kumimoji="1" lang="zh-CN" altLang="en-US" sz="2800" b="1" dirty="0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6.2.2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折半插入排序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3C601-7BEA-490F-8E43-3D3A462E73EE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466725" y="901709"/>
            <a:ext cx="4105275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>
                <a:solidFill>
                  <a:srgbClr val="0033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</a:rPr>
              <a:t>折半插入排序思想</a:t>
            </a:r>
            <a:endParaRPr kumimoji="1" lang="zh-CN" altLang="en-US" sz="2800" b="1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" name="Text Box 6"/>
          <p:cNvSpPr txBox="1">
            <a:spLocks noChangeArrowheads="1"/>
          </p:cNvSpPr>
          <p:nvPr/>
        </p:nvSpPr>
        <p:spPr bwMode="auto">
          <a:xfrm>
            <a:off x="755650" y="1909772"/>
            <a:ext cx="6985000" cy="32988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        (1)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在直接插入排序中，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r[1..i-1] 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是一个按关键字有序的有序序列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;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        (2)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可以利用折半查找实现“在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r[1..i-1]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中查找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r[i]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的插入位置”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;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        (3)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称这种排序为折半插入排序。</a:t>
            </a:r>
            <a:endParaRPr kumimoji="1" lang="zh-CN" altLang="en-US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" name="AutoShape 159">
            <a:hlinkClick r:id="rId2" action="ppaction://hlinkfile"/>
          </p:cNvPr>
          <p:cNvSpPr>
            <a:spLocks noChangeArrowheads="1"/>
          </p:cNvSpPr>
          <p:nvPr/>
        </p:nvSpPr>
        <p:spPr bwMode="auto">
          <a:xfrm>
            <a:off x="6143636" y="5867400"/>
            <a:ext cx="1571636" cy="866749"/>
          </a:xfrm>
          <a:custGeom>
            <a:avLst/>
            <a:gdLst>
              <a:gd name="G0" fmla="+- 16200 0 0"/>
              <a:gd name="G1" fmla="+- 5400 0 0"/>
              <a:gd name="G2" fmla="+- 21600 0 5400"/>
              <a:gd name="G3" fmla="+- 10800 0 5400"/>
              <a:gd name="G4" fmla="+- 21600 0 16200"/>
              <a:gd name="G5" fmla="*/ G4 G3 10800"/>
              <a:gd name="G6" fmla="+- 21600 0 G5"/>
              <a:gd name="T0" fmla="*/ 16200 w 21600"/>
              <a:gd name="T1" fmla="*/ 0 h 21600"/>
              <a:gd name="T2" fmla="*/ 0 w 21600"/>
              <a:gd name="T3" fmla="*/ 10800 h 21600"/>
              <a:gd name="T4" fmla="*/ 16200 w 21600"/>
              <a:gd name="T5" fmla="*/ 21600 h 21600"/>
              <a:gd name="T6" fmla="*/ 21600 w 21600"/>
              <a:gd name="T7" fmla="*/ 10800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G1 h 21600"/>
              <a:gd name="T14" fmla="*/ G6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rgbClr val="009DD9">
              <a:lumMod val="40000"/>
              <a:lumOff val="60000"/>
            </a:srgbClr>
          </a:solidFill>
          <a:ln w="9525">
            <a:solidFill>
              <a:srgbClr val="04617B">
                <a:lumMod val="40000"/>
                <a:lumOff val="60000"/>
              </a:srgbClr>
            </a:solidFill>
            <a:miter lim="800000"/>
          </a:ln>
          <a:effectLst>
            <a:glow rad="139700">
              <a:srgbClr val="FFFFFF">
                <a:satMod val="175000"/>
                <a:alpha val="40000"/>
              </a:srgbClr>
            </a:glo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rPr>
              <a:t>图示</a:t>
            </a:r>
            <a:endParaRPr kumimoji="1" lang="zh-CN" altLang="en-US" sz="3000" b="0" i="0" u="none" strike="noStrike" kern="0" cap="none" spc="0" normalizeH="0" baseline="0" noProof="0" dirty="0">
              <a:ln>
                <a:noFill/>
              </a:ln>
              <a:solidFill>
                <a:srgbClr val="003300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6.2.2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折半插入排序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43B7D-5ECF-4434-A232-C2FBDE1EABC2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468312" y="1354137"/>
            <a:ext cx="8675687" cy="116955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        0     1    2    3    4    5    6    7    8    9    10    11   12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u="sng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查</a:t>
            </a:r>
            <a:r>
              <a:rPr kumimoji="1" lang="en-US" altLang="zh-CN" sz="2800" b="1" u="sng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22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05   13  19  21  37  56  64  75  80  88   90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" name="Line 3"/>
          <p:cNvSpPr>
            <a:spLocks noChangeShapeType="1"/>
          </p:cNvSpPr>
          <p:nvPr/>
        </p:nvSpPr>
        <p:spPr bwMode="auto">
          <a:xfrm flipH="1" flipV="1">
            <a:off x="1692275" y="2505075"/>
            <a:ext cx="0" cy="358775"/>
          </a:xfrm>
          <a:prstGeom prst="line">
            <a:avLst/>
          </a:prstGeom>
          <a:noFill/>
          <a:ln w="28575">
            <a:solidFill>
              <a:srgbClr val="04617B"/>
            </a:solidFill>
            <a:round/>
            <a:tailEnd type="triangle" w="med" len="med"/>
          </a:ln>
          <a:effectLst/>
        </p:spPr>
        <p:txBody>
          <a:bodyPr wrap="none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5" name="Line 4"/>
          <p:cNvSpPr>
            <a:spLocks noChangeShapeType="1"/>
          </p:cNvSpPr>
          <p:nvPr/>
        </p:nvSpPr>
        <p:spPr bwMode="auto">
          <a:xfrm flipV="1">
            <a:off x="7237413" y="2433637"/>
            <a:ext cx="0" cy="504825"/>
          </a:xfrm>
          <a:prstGeom prst="line">
            <a:avLst/>
          </a:prstGeom>
          <a:noFill/>
          <a:ln w="28575">
            <a:solidFill>
              <a:srgbClr val="04617B"/>
            </a:solidFill>
            <a:round/>
            <a:tailEnd type="triangle" w="med" len="med"/>
          </a:ln>
          <a:effectLst/>
        </p:spPr>
        <p:txBody>
          <a:bodyPr wrap="none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6" name="Text Box 5"/>
          <p:cNvSpPr txBox="1">
            <a:spLocks noChangeArrowheads="1"/>
          </p:cNvSpPr>
          <p:nvPr/>
        </p:nvSpPr>
        <p:spPr bwMode="auto">
          <a:xfrm>
            <a:off x="1219200" y="2720975"/>
            <a:ext cx="762000" cy="5191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low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" name="Text Box 6"/>
          <p:cNvSpPr txBox="1">
            <a:spLocks noChangeArrowheads="1"/>
          </p:cNvSpPr>
          <p:nvPr/>
        </p:nvSpPr>
        <p:spPr bwMode="auto">
          <a:xfrm>
            <a:off x="6950075" y="2865437"/>
            <a:ext cx="1079500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high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" name="Line 7"/>
          <p:cNvSpPr>
            <a:spLocks noChangeShapeType="1"/>
          </p:cNvSpPr>
          <p:nvPr/>
        </p:nvSpPr>
        <p:spPr bwMode="auto">
          <a:xfrm flipV="1">
            <a:off x="4500563" y="2505075"/>
            <a:ext cx="0" cy="360362"/>
          </a:xfrm>
          <a:prstGeom prst="line">
            <a:avLst/>
          </a:prstGeom>
          <a:noFill/>
          <a:ln w="28575">
            <a:solidFill>
              <a:srgbClr val="04617B"/>
            </a:solidFill>
            <a:round/>
            <a:tailEnd type="triangle" w="med" len="med"/>
          </a:ln>
          <a:effectLst/>
        </p:spPr>
        <p:txBody>
          <a:bodyPr wrap="none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9" name="Text Box 8"/>
          <p:cNvSpPr txBox="1">
            <a:spLocks noChangeArrowheads="1"/>
          </p:cNvSpPr>
          <p:nvPr/>
        </p:nvSpPr>
        <p:spPr bwMode="auto">
          <a:xfrm>
            <a:off x="3805238" y="2865437"/>
            <a:ext cx="3432175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mid=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(low+high)/2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0" name="Line 9"/>
          <p:cNvSpPr>
            <a:spLocks noChangeShapeType="1"/>
          </p:cNvSpPr>
          <p:nvPr/>
        </p:nvSpPr>
        <p:spPr bwMode="auto">
          <a:xfrm flipV="1">
            <a:off x="3924300" y="2433637"/>
            <a:ext cx="0" cy="1112838"/>
          </a:xfrm>
          <a:prstGeom prst="line">
            <a:avLst/>
          </a:prstGeom>
          <a:noFill/>
          <a:ln w="28575">
            <a:solidFill>
              <a:srgbClr val="04617B"/>
            </a:solidFill>
            <a:round/>
            <a:tailEnd type="triangle" w="med" len="med"/>
          </a:ln>
          <a:effectLst/>
        </p:spPr>
        <p:txBody>
          <a:bodyPr wrap="none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1" name="Text Box 10"/>
          <p:cNvSpPr txBox="1">
            <a:spLocks noChangeArrowheads="1"/>
          </p:cNvSpPr>
          <p:nvPr/>
        </p:nvSpPr>
        <p:spPr bwMode="auto">
          <a:xfrm>
            <a:off x="3271838" y="3546475"/>
            <a:ext cx="2020887" cy="5191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high=mid-1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" name="Line 11"/>
          <p:cNvSpPr>
            <a:spLocks noChangeShapeType="1"/>
          </p:cNvSpPr>
          <p:nvPr/>
        </p:nvSpPr>
        <p:spPr bwMode="auto">
          <a:xfrm flipV="1">
            <a:off x="2882900" y="2578100"/>
            <a:ext cx="0" cy="762000"/>
          </a:xfrm>
          <a:prstGeom prst="line">
            <a:avLst/>
          </a:prstGeom>
          <a:noFill/>
          <a:ln w="28575">
            <a:solidFill>
              <a:srgbClr val="04617B"/>
            </a:solidFill>
            <a:round/>
            <a:tailEnd type="triangle" w="med" len="med"/>
          </a:ln>
          <a:effectLst/>
        </p:spPr>
        <p:txBody>
          <a:bodyPr wrap="none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3" name="Text Box 12"/>
          <p:cNvSpPr txBox="1">
            <a:spLocks noChangeArrowheads="1"/>
          </p:cNvSpPr>
          <p:nvPr/>
        </p:nvSpPr>
        <p:spPr bwMode="auto">
          <a:xfrm>
            <a:off x="2654300" y="3340100"/>
            <a:ext cx="838200" cy="5191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mid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" name="Line 13"/>
          <p:cNvSpPr>
            <a:spLocks noChangeShapeType="1"/>
          </p:cNvSpPr>
          <p:nvPr/>
        </p:nvSpPr>
        <p:spPr bwMode="auto">
          <a:xfrm flipV="1">
            <a:off x="3421063" y="2649537"/>
            <a:ext cx="0" cy="1447800"/>
          </a:xfrm>
          <a:prstGeom prst="line">
            <a:avLst/>
          </a:prstGeom>
          <a:noFill/>
          <a:ln w="28575">
            <a:solidFill>
              <a:srgbClr val="04617B"/>
            </a:solidFill>
            <a:round/>
            <a:tailEnd type="triangle" w="med" len="med"/>
          </a:ln>
          <a:effectLst/>
        </p:spPr>
        <p:txBody>
          <a:bodyPr wrap="none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5" name="Text Box 14"/>
          <p:cNvSpPr txBox="1">
            <a:spLocks noChangeArrowheads="1"/>
          </p:cNvSpPr>
          <p:nvPr/>
        </p:nvSpPr>
        <p:spPr bwMode="auto">
          <a:xfrm>
            <a:off x="1116013" y="4089400"/>
            <a:ext cx="2308225" cy="5191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low=mid+1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" name="Line 15"/>
          <p:cNvSpPr>
            <a:spLocks noChangeShapeType="1"/>
          </p:cNvSpPr>
          <p:nvPr/>
        </p:nvSpPr>
        <p:spPr bwMode="auto">
          <a:xfrm flipV="1">
            <a:off x="3492500" y="2649537"/>
            <a:ext cx="0" cy="1447800"/>
          </a:xfrm>
          <a:prstGeom prst="line">
            <a:avLst/>
          </a:prstGeom>
          <a:noFill/>
          <a:ln w="28575">
            <a:solidFill>
              <a:srgbClr val="04617B"/>
            </a:solidFill>
            <a:round/>
            <a:tailEnd type="triangle" w="med" len="med"/>
          </a:ln>
          <a:effectLst/>
        </p:spPr>
        <p:txBody>
          <a:bodyPr wrap="none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7" name="Text Box 16"/>
          <p:cNvSpPr txBox="1">
            <a:spLocks noChangeArrowheads="1"/>
          </p:cNvSpPr>
          <p:nvPr/>
        </p:nvSpPr>
        <p:spPr bwMode="auto">
          <a:xfrm>
            <a:off x="3043238" y="4079875"/>
            <a:ext cx="838200" cy="5191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mid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" name="Text Box 19"/>
          <p:cNvSpPr txBox="1">
            <a:spLocks noChangeArrowheads="1"/>
          </p:cNvSpPr>
          <p:nvPr/>
        </p:nvSpPr>
        <p:spPr bwMode="auto">
          <a:xfrm>
            <a:off x="2192338" y="5083175"/>
            <a:ext cx="2308225" cy="5191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low=mid+1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" name="Line 20"/>
          <p:cNvSpPr>
            <a:spLocks noChangeShapeType="1"/>
          </p:cNvSpPr>
          <p:nvPr/>
        </p:nvSpPr>
        <p:spPr bwMode="auto">
          <a:xfrm flipV="1">
            <a:off x="3852863" y="3649662"/>
            <a:ext cx="0" cy="1447800"/>
          </a:xfrm>
          <a:prstGeom prst="line">
            <a:avLst/>
          </a:prstGeom>
          <a:noFill/>
          <a:ln w="28575">
            <a:solidFill>
              <a:srgbClr val="04617B"/>
            </a:solidFill>
            <a:round/>
            <a:tailEnd type="triangle" w="med" len="med"/>
          </a:ln>
          <a:effectLst/>
        </p:spPr>
        <p:txBody>
          <a:bodyPr wrap="none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0" name="Line 21"/>
          <p:cNvSpPr>
            <a:spLocks noChangeShapeType="1"/>
          </p:cNvSpPr>
          <p:nvPr/>
        </p:nvSpPr>
        <p:spPr bwMode="auto">
          <a:xfrm flipV="1">
            <a:off x="3421063" y="4978400"/>
            <a:ext cx="0" cy="1112837"/>
          </a:xfrm>
          <a:prstGeom prst="line">
            <a:avLst/>
          </a:prstGeom>
          <a:noFill/>
          <a:ln w="28575">
            <a:solidFill>
              <a:srgbClr val="04617B"/>
            </a:solidFill>
            <a:round/>
            <a:tailEnd type="triangle" w="med" len="med"/>
          </a:ln>
          <a:effectLst/>
        </p:spPr>
        <p:txBody>
          <a:bodyPr wrap="none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1" name="Text Box 22"/>
          <p:cNvSpPr txBox="1">
            <a:spLocks noChangeArrowheads="1"/>
          </p:cNvSpPr>
          <p:nvPr/>
        </p:nvSpPr>
        <p:spPr bwMode="auto">
          <a:xfrm>
            <a:off x="2768600" y="5943600"/>
            <a:ext cx="2020888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high=mid-1</a:t>
            </a:r>
            <a:endParaRPr kumimoji="1" lang="en-US" altLang="zh-CN" sz="2800" b="1" dirty="0">
              <a:solidFill>
                <a:srgbClr val="FF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" name="Text Box 24"/>
          <p:cNvSpPr txBox="1">
            <a:spLocks noChangeArrowheads="1"/>
          </p:cNvSpPr>
          <p:nvPr/>
        </p:nvSpPr>
        <p:spPr bwMode="auto">
          <a:xfrm>
            <a:off x="538163" y="920750"/>
            <a:ext cx="5473700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>
                <a:solidFill>
                  <a:srgbClr val="6600CC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solidFill>
                  <a:srgbClr val="6600CC"/>
                </a:solidFill>
                <a:latin typeface="Times New Roman" panose="02020603050405020304" pitchFamily="18" charset="0"/>
              </a:rPr>
              <a:t>折半插入排序的演示过程</a:t>
            </a:r>
            <a:endParaRPr kumimoji="1" lang="zh-CN" altLang="en-US" sz="28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utoUpdateAnimBg="0"/>
      <p:bldP spid="17" grpId="0" autoUpdateAnimBg="0"/>
      <p:bldP spid="18" grpId="0" animBg="1"/>
      <p:bldP spid="19" grpId="0" autoUpdateAnimBg="0"/>
      <p:bldP spid="20" grpId="0" animBg="1"/>
      <p:bldP spid="21" grpId="0" autoUpdateAnimBg="0"/>
      <p:bldP spid="22" grpId="0" animBg="1"/>
      <p:bldP spid="23" grpId="0" autoUpdateAnimBg="0"/>
      <p:bldP spid="24" grpId="0" animBg="1"/>
      <p:bldP spid="25" grpId="0" autoUpdateAnimBg="0"/>
      <p:bldP spid="26" grpId="0" animBg="1"/>
      <p:bldP spid="27" grpId="0" autoUpdateAnimBg="0"/>
      <p:bldP spid="28" grpId="0" autoUpdateAnimBg="0"/>
      <p:bldP spid="29" grpId="0" animBg="1"/>
      <p:bldP spid="30" grpId="0" animBg="1"/>
      <p:bldP spid="31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6.2.2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折半插入排序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933BB-98E6-4270-B187-2C2A2851ABEA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5"/>
          <p:cNvSpPr txBox="1">
            <a:spLocks noChangeArrowheads="1"/>
          </p:cNvSpPr>
          <p:nvPr/>
        </p:nvSpPr>
        <p:spPr bwMode="auto">
          <a:xfrm>
            <a:off x="285720" y="1346466"/>
            <a:ext cx="8643998" cy="5435334"/>
          </a:xfrm>
          <a:prstGeom prst="rect">
            <a:avLst/>
          </a:prstGeom>
          <a:noFill/>
          <a:ln w="9525">
            <a:solidFill>
              <a:srgbClr val="003300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void 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BiInsertionSort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( 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SqList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&amp;L ) 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{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 for ( 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=2; 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&lt;=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L.length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; ++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) {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 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L.r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[0] = 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L.r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[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];              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// 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将 </a:t>
            </a:r>
            <a:r>
              <a:rPr kumimoji="1" lang="en-US" altLang="zh-CN" sz="28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L.r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[</a:t>
            </a:r>
            <a:r>
              <a:rPr kumimoji="1" lang="en-US" altLang="zh-CN" sz="28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] 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暂存到 </a:t>
            </a:r>
            <a:r>
              <a:rPr kumimoji="1" lang="en-US" altLang="zh-CN" sz="28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L.r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[0]</a:t>
            </a:r>
            <a:endParaRPr kumimoji="1" lang="en-US" altLang="zh-CN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     </a:t>
            </a:r>
            <a:r>
              <a:rPr kumimoji="1" lang="zh-CN" altLang="zh-CN" sz="2800" b="1" u="sng" dirty="0">
                <a:solidFill>
                  <a:srgbClr val="0000FF"/>
                </a:solidFill>
                <a:latin typeface="Times New Roman" panose="02020603050405020304" pitchFamily="18" charset="0"/>
              </a:rPr>
              <a:t>在 </a:t>
            </a:r>
            <a:r>
              <a:rPr kumimoji="1" lang="en-US" altLang="zh-CN" sz="2800" b="1" u="sng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L.r</a:t>
            </a:r>
            <a:r>
              <a:rPr kumimoji="1" lang="en-US" altLang="zh-CN" sz="2800" b="1" u="sng" dirty="0">
                <a:solidFill>
                  <a:srgbClr val="0000FF"/>
                </a:solidFill>
                <a:latin typeface="Times New Roman" panose="02020603050405020304" pitchFamily="18" charset="0"/>
              </a:rPr>
              <a:t>[1..i-1]</a:t>
            </a:r>
            <a:r>
              <a:rPr kumimoji="1" lang="zh-CN" altLang="zh-CN" sz="2800" b="1" u="sng" dirty="0">
                <a:solidFill>
                  <a:srgbClr val="0000FF"/>
                </a:solidFill>
                <a:latin typeface="Times New Roman" panose="02020603050405020304" pitchFamily="18" charset="0"/>
              </a:rPr>
              <a:t>中折半查找插入位置</a:t>
            </a:r>
            <a:r>
              <a:rPr kumimoji="1" lang="zh-CN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；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//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见下一页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     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for ( j=i-1;  j&gt;=high+1;  --j )//</a:t>
            </a:r>
            <a:r>
              <a:rPr kumimoji="1"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插入位置为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high+1</a:t>
            </a:r>
            <a:endParaRPr kumimoji="1" lang="en-US" altLang="zh-CN" sz="2800" b="1" dirty="0">
              <a:solidFill>
                <a:srgbClr val="FF3300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     </a:t>
            </a:r>
            <a:r>
              <a:rPr kumimoji="1" lang="en-US" altLang="zh-CN" sz="2800" b="1" dirty="0" err="1">
                <a:solidFill>
                  <a:srgbClr val="FF3300"/>
                </a:solidFill>
                <a:latin typeface="Times New Roman" panose="02020603050405020304" pitchFamily="18" charset="0"/>
              </a:rPr>
              <a:t>L.r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[j+1] = </a:t>
            </a:r>
            <a:r>
              <a:rPr kumimoji="1" lang="en-US" altLang="zh-CN" sz="2800" b="1" dirty="0" err="1">
                <a:solidFill>
                  <a:srgbClr val="FF3300"/>
                </a:solidFill>
                <a:latin typeface="Times New Roman" panose="02020603050405020304" pitchFamily="18" charset="0"/>
              </a:rPr>
              <a:t>L.r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[j];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                       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// 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记录后移</a:t>
            </a:r>
            <a:endParaRPr kumimoji="1" lang="zh-CN" altLang="en-US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     </a:t>
            </a:r>
            <a:r>
              <a:rPr kumimoji="1" lang="en-US" altLang="zh-CN" sz="2800" b="1" dirty="0" err="1">
                <a:solidFill>
                  <a:srgbClr val="FF3300"/>
                </a:solidFill>
                <a:latin typeface="Times New Roman" panose="02020603050405020304" pitchFamily="18" charset="0"/>
              </a:rPr>
              <a:t>L.r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[high+1] = </a:t>
            </a:r>
            <a:r>
              <a:rPr kumimoji="1" lang="en-US" altLang="zh-CN" sz="2800" b="1" dirty="0" err="1">
                <a:solidFill>
                  <a:srgbClr val="FF3300"/>
                </a:solidFill>
                <a:latin typeface="Times New Roman" panose="02020603050405020304" pitchFamily="18" charset="0"/>
              </a:rPr>
              <a:t>L.r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[0];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                        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// 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插入</a:t>
            </a:r>
            <a:endParaRPr kumimoji="1" lang="zh-CN" altLang="en-US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}                                                                         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// for</a:t>
            </a:r>
            <a:endParaRPr kumimoji="1" lang="en-US" altLang="zh-CN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}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                                                   // </a:t>
            </a:r>
            <a:r>
              <a:rPr kumimoji="1" lang="en-US" altLang="zh-CN" sz="28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BInsertSort</a:t>
            </a:r>
            <a:endParaRPr kumimoji="1" lang="en-US" altLang="zh-CN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" name="Text Box 8"/>
          <p:cNvSpPr txBox="1">
            <a:spLocks noChangeArrowheads="1"/>
          </p:cNvSpPr>
          <p:nvPr/>
        </p:nvSpPr>
        <p:spPr bwMode="auto">
          <a:xfrm>
            <a:off x="538163" y="838200"/>
            <a:ext cx="5473700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>
                <a:solidFill>
                  <a:srgbClr val="6600CC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solidFill>
                  <a:srgbClr val="6600CC"/>
                </a:solidFill>
                <a:latin typeface="Times New Roman" panose="02020603050405020304" pitchFamily="18" charset="0"/>
              </a:rPr>
              <a:t>折半插入排序算法</a:t>
            </a:r>
            <a:endParaRPr kumimoji="1" lang="zh-CN" altLang="en-US" sz="28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6.2.2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折半插入排序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1FCC2-9A66-44DF-B9B1-B78D518FCFDE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1403350" y="1965325"/>
            <a:ext cx="6697663" cy="3825875"/>
          </a:xfrm>
          <a:prstGeom prst="rect">
            <a:avLst/>
          </a:prstGeom>
          <a:noFill/>
          <a:ln w="9525" algn="ctr">
            <a:solidFill>
              <a:srgbClr val="003300"/>
            </a:solidFill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low = 1;   high = i-1;              //</a:t>
            </a:r>
            <a:r>
              <a:rPr kumimoji="1"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查找区间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endParaRPr kumimoji="1" lang="en-US" altLang="zh-CN" sz="2800" b="1" dirty="0">
              <a:solidFill>
                <a:srgbClr val="FF33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while (low&lt;=high) { </a:t>
            </a:r>
            <a:endParaRPr kumimoji="1" lang="en-US" altLang="zh-CN" sz="2800" b="1" dirty="0">
              <a:solidFill>
                <a:srgbClr val="FF3300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     m = (</a:t>
            </a:r>
            <a:r>
              <a:rPr kumimoji="1" lang="en-US" altLang="zh-CN" sz="2800" b="1" dirty="0" err="1">
                <a:solidFill>
                  <a:srgbClr val="FF3300"/>
                </a:solidFill>
                <a:latin typeface="Times New Roman" panose="02020603050405020304" pitchFamily="18" charset="0"/>
              </a:rPr>
              <a:t>low+high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)/2;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                     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// 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折半</a:t>
            </a:r>
            <a:endParaRPr kumimoji="1" lang="zh-CN" alt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 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if (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L.r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[0].key &lt; 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L.r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[m].key)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     high = m-1;            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// 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插入点在低半区</a:t>
            </a:r>
            <a:endParaRPr kumimoji="1" lang="zh-CN" alt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    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else  low = m+1;      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// 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插入点在高半区</a:t>
            </a:r>
            <a:endParaRPr kumimoji="1" lang="zh-CN" alt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}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" name="Text Box 7"/>
          <p:cNvSpPr txBox="1">
            <a:spLocks noChangeArrowheads="1"/>
          </p:cNvSpPr>
          <p:nvPr/>
        </p:nvSpPr>
        <p:spPr bwMode="auto">
          <a:xfrm>
            <a:off x="466725" y="957262"/>
            <a:ext cx="5473700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>
                <a:solidFill>
                  <a:srgbClr val="6600CC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solidFill>
                  <a:srgbClr val="6600CC"/>
                </a:solidFill>
                <a:latin typeface="Times New Roman" panose="02020603050405020304" pitchFamily="18" charset="0"/>
              </a:rPr>
              <a:t>折半插入排序算法</a:t>
            </a:r>
            <a:endParaRPr kumimoji="1" lang="zh-CN" altLang="en-US" sz="2800" b="1">
              <a:solidFill>
                <a:srgbClr val="6600CC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6.2.2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折半插入排序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96CCC-6343-4B5B-9366-283CFC4B1BE7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1026">
            <a:hlinkClick r:id="" action="ppaction://hlinkshowjump?jump=nextslide"/>
          </p:cNvPr>
          <p:cNvSpPr txBox="1">
            <a:spLocks noChangeArrowheads="1"/>
          </p:cNvSpPr>
          <p:nvPr/>
        </p:nvSpPr>
        <p:spPr bwMode="auto">
          <a:xfrm>
            <a:off x="357190" y="2188354"/>
            <a:ext cx="8858280" cy="5847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直接插入排序</a:t>
            </a:r>
            <a:r>
              <a:rPr kumimoji="1"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—</a:t>
            </a:r>
            <a:r>
              <a:rPr kumimoji="1"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（基于</a:t>
            </a:r>
            <a:r>
              <a:rPr kumimoji="1"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顺序</a:t>
            </a:r>
            <a:r>
              <a:rPr kumimoji="1"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查找）</a:t>
            </a:r>
            <a:endParaRPr kumimoji="1" lang="zh-CN" altLang="en-US" sz="32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4" name="Text Box 1028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361920" y="3906255"/>
            <a:ext cx="5684569" cy="5847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表插入排序（基于</a:t>
            </a:r>
            <a:r>
              <a:rPr kumimoji="1"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链表</a:t>
            </a:r>
            <a:r>
              <a:rPr kumimoji="1"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存储）</a:t>
            </a:r>
            <a:endParaRPr kumimoji="1" lang="zh-CN" altLang="en-US" sz="32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5" name="Text Box 1036"/>
          <p:cNvSpPr txBox="1">
            <a:spLocks noChangeArrowheads="1"/>
          </p:cNvSpPr>
          <p:nvPr/>
        </p:nvSpPr>
        <p:spPr bwMode="auto">
          <a:xfrm>
            <a:off x="425450" y="1121765"/>
            <a:ext cx="8470900" cy="641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600" b="1" dirty="0">
                <a:solidFill>
                  <a:srgbClr val="003300"/>
                </a:solidFill>
                <a:latin typeface="宋体" panose="02010600030101010101" pitchFamily="2" charset="-122"/>
              </a:rPr>
              <a:t>不同的具体实现方法导致不同的算法描述</a:t>
            </a:r>
            <a:endParaRPr kumimoji="1" lang="zh-CN" altLang="en-US" sz="3600" b="1" dirty="0">
              <a:solidFill>
                <a:srgbClr val="003300"/>
              </a:solidFill>
              <a:latin typeface="宋体" panose="02010600030101010101" pitchFamily="2" charset="-122"/>
            </a:endParaRPr>
          </a:p>
        </p:txBody>
      </p:sp>
      <p:sp>
        <p:nvSpPr>
          <p:cNvPr id="16" name="Text Box 1037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361920" y="3107540"/>
            <a:ext cx="6858000" cy="5847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折半插入排序（基于</a:t>
            </a:r>
            <a:r>
              <a:rPr kumimoji="1"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折半</a:t>
            </a:r>
            <a:r>
              <a:rPr kumimoji="1"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查找）</a:t>
            </a:r>
            <a:endParaRPr kumimoji="1" lang="zh-CN" altLang="en-US" sz="32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7" name="Text Box 1038">
            <a:hlinkClick r:id="rId4" action="ppaction://hlinksldjump"/>
          </p:cNvPr>
          <p:cNvSpPr txBox="1">
            <a:spLocks noChangeArrowheads="1"/>
          </p:cNvSpPr>
          <p:nvPr/>
        </p:nvSpPr>
        <p:spPr bwMode="auto">
          <a:xfrm>
            <a:off x="361920" y="4977825"/>
            <a:ext cx="6858000" cy="5847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希尔排序（基于</a:t>
            </a:r>
            <a:r>
              <a:rPr kumimoji="1"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逐趟缩小增量</a:t>
            </a:r>
            <a:r>
              <a:rPr kumimoji="1"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）</a:t>
            </a:r>
            <a:endParaRPr kumimoji="1" lang="zh-CN" altLang="en-US" sz="32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8" name="右大括号 17"/>
          <p:cNvSpPr/>
          <p:nvPr/>
        </p:nvSpPr>
        <p:spPr bwMode="auto">
          <a:xfrm>
            <a:off x="6500826" y="2120305"/>
            <a:ext cx="214314" cy="1500198"/>
          </a:xfrm>
          <a:prstGeom prst="rightBrace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643702" y="2594958"/>
            <a:ext cx="234872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移动相同数量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的关键字</a:t>
            </a:r>
            <a:endParaRPr kumimoji="1" lang="zh-CN" altLang="en-US" sz="3000" b="1" dirty="0">
              <a:solidFill>
                <a:srgbClr val="66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241930" y="3763379"/>
            <a:ext cx="211628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000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改进排序的</a:t>
            </a:r>
            <a:endParaRPr kumimoji="1" lang="en-US" altLang="zh-CN" sz="3000" b="1" dirty="0">
              <a:solidFill>
                <a:srgbClr val="FF33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000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存储结构</a:t>
            </a:r>
            <a:endParaRPr kumimoji="1" lang="zh-CN" altLang="en-US" sz="3000" b="1" dirty="0">
              <a:solidFill>
                <a:srgbClr val="FF33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cxnSp>
        <p:nvCxnSpPr>
          <p:cNvPr id="21" name="直接箭头连接符 20"/>
          <p:cNvCxnSpPr>
            <a:endCxn id="20" idx="1"/>
          </p:cNvCxnSpPr>
          <p:nvPr/>
        </p:nvCxnSpPr>
        <p:spPr bwMode="auto">
          <a:xfrm>
            <a:off x="5765180" y="4257167"/>
            <a:ext cx="476750" cy="14044"/>
          </a:xfrm>
          <a:prstGeom prst="straightConnector1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/>
      <p:bldP spid="20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6.2.3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表插入排序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E33AB-6191-47B9-BAD8-20AF98259886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395288" y="914400"/>
            <a:ext cx="4321175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表插入排序的思想</a:t>
            </a:r>
            <a:endParaRPr kumimoji="1" lang="zh-CN" altLang="en-US" sz="2800" b="1" dirty="0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539750" y="1711339"/>
            <a:ext cx="7705725" cy="4524315"/>
          </a:xfrm>
          <a:prstGeom prst="rect">
            <a:avLst/>
          </a:prstGeom>
          <a:noFill/>
          <a:ln w="9525" algn="ctr">
            <a:solidFill>
              <a:srgbClr val="003300"/>
            </a:solidFill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所谓表插入排序，是利用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静态链表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的形式，分两步完成排序。</a:t>
            </a:r>
            <a:endParaRPr kumimoji="1" lang="zh-CN" altLang="en-US" sz="24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一、对一个有序的循环链表，插入一新的元素，修改每个节点的后继指针的指向，使顺着这个指针的指向，元素是有序的。在这个过程中，我们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不移动或交换元素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，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只是修改指针的指向。</a:t>
            </a:r>
            <a:endParaRPr kumimoji="1" lang="zh-CN" altLang="en-US" sz="24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二、顺着指针的指向调整元素的位置，使其在链表中真正做到物理有序。</a:t>
            </a:r>
            <a:endParaRPr kumimoji="1" lang="zh-CN" altLang="en-US" sz="24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6.2.3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表插入排序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5FBA2-6B6B-4236-92C8-EC3D45D41ADF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395288" y="914400"/>
            <a:ext cx="4321175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表插入排序的思想</a:t>
            </a:r>
            <a:endParaRPr kumimoji="1" lang="zh-CN" altLang="en-US" sz="2800" b="1" dirty="0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539750" y="1711339"/>
            <a:ext cx="7705725" cy="4524315"/>
          </a:xfrm>
          <a:prstGeom prst="rect">
            <a:avLst/>
          </a:prstGeom>
          <a:noFill/>
          <a:ln w="9525" algn="ctr">
            <a:solidFill>
              <a:srgbClr val="003300"/>
            </a:solidFill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思路：</a:t>
            </a:r>
            <a:endParaRPr kumimoji="1" lang="zh-CN" altLang="en-US" sz="24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、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构建一新的结构体类型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，使其封装了值域和指针域。并增加一结点，当做头结点，为循环终止创造条件，头结点值域存贮的值应不小于原序列中的最大值。</a:t>
            </a:r>
            <a:endParaRPr kumimoji="1" lang="zh-CN" altLang="en-US" sz="24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2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、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初始化静态链表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：使第一个结点和头结点构成循环的链表。由于链表中只有一个元素，那当然是有序的。</a:t>
            </a:r>
            <a:endParaRPr kumimoji="1" lang="zh-CN" altLang="en-US" sz="24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3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、把后续的结点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依次插入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到该循环链表中，调整各结点的指针指向，使其沿着指针方向是有序的。</a:t>
            </a:r>
            <a:endParaRPr kumimoji="1" lang="zh-CN" altLang="en-US" sz="24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6.2.3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表插入排序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4E358-D534-4E01-A8CA-E2F09425C62B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395288" y="914400"/>
            <a:ext cx="4321175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表插入排序的思想</a:t>
            </a:r>
            <a:endParaRPr kumimoji="1" lang="zh-CN" altLang="en-US" sz="2800" b="1" dirty="0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539750" y="1711339"/>
            <a:ext cx="7705725" cy="4616648"/>
          </a:xfrm>
          <a:prstGeom prst="rect">
            <a:avLst/>
          </a:prstGeom>
          <a:noFill/>
          <a:ln w="9525" algn="ctr">
            <a:solidFill>
              <a:srgbClr val="003300"/>
            </a:solidFill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小结：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  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   (1)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目的是为了</a:t>
            </a:r>
            <a:r>
              <a:rPr kumimoji="1"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减少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在排序过程中进行的 “</a:t>
            </a:r>
            <a:r>
              <a:rPr kumimoji="1"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移动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”记录的操作；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    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(2)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利用</a:t>
            </a:r>
            <a:r>
              <a:rPr kumimoji="1"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静态链表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进行排序，排序中只修改指针指向；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    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(3)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在排序完成之后，一次性地调整各个记录相互之间的位置。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" name="AutoShape 159">
            <a:hlinkClick r:id="rId2" action="ppaction://hlinkfile"/>
          </p:cNvPr>
          <p:cNvSpPr>
            <a:spLocks noChangeArrowheads="1"/>
          </p:cNvSpPr>
          <p:nvPr/>
        </p:nvSpPr>
        <p:spPr bwMode="auto">
          <a:xfrm>
            <a:off x="6143636" y="5867400"/>
            <a:ext cx="1571636" cy="866749"/>
          </a:xfrm>
          <a:custGeom>
            <a:avLst/>
            <a:gdLst>
              <a:gd name="G0" fmla="+- 16200 0 0"/>
              <a:gd name="G1" fmla="+- 5400 0 0"/>
              <a:gd name="G2" fmla="+- 21600 0 5400"/>
              <a:gd name="G3" fmla="+- 10800 0 5400"/>
              <a:gd name="G4" fmla="+- 21600 0 16200"/>
              <a:gd name="G5" fmla="*/ G4 G3 10800"/>
              <a:gd name="G6" fmla="+- 21600 0 G5"/>
              <a:gd name="T0" fmla="*/ 16200 w 21600"/>
              <a:gd name="T1" fmla="*/ 0 h 21600"/>
              <a:gd name="T2" fmla="*/ 0 w 21600"/>
              <a:gd name="T3" fmla="*/ 10800 h 21600"/>
              <a:gd name="T4" fmla="*/ 16200 w 21600"/>
              <a:gd name="T5" fmla="*/ 21600 h 21600"/>
              <a:gd name="T6" fmla="*/ 21600 w 21600"/>
              <a:gd name="T7" fmla="*/ 10800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G1 h 21600"/>
              <a:gd name="T14" fmla="*/ G6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rgbClr val="009DD9">
              <a:lumMod val="40000"/>
              <a:lumOff val="60000"/>
            </a:srgbClr>
          </a:solidFill>
          <a:ln w="9525">
            <a:solidFill>
              <a:srgbClr val="04617B">
                <a:lumMod val="40000"/>
                <a:lumOff val="60000"/>
              </a:srgbClr>
            </a:solidFill>
            <a:miter lim="800000"/>
          </a:ln>
          <a:effectLst>
            <a:glow rad="139700">
              <a:srgbClr val="FFFFFF">
                <a:satMod val="175000"/>
                <a:alpha val="40000"/>
              </a:srgbClr>
            </a:glo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33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rPr>
              <a:t>图示</a:t>
            </a:r>
            <a:endParaRPr kumimoji="1" lang="zh-CN" altLang="en-US" sz="3000" b="0" i="0" u="none" strike="noStrike" kern="0" cap="none" spc="0" normalizeH="0" baseline="0" noProof="0" dirty="0">
              <a:ln>
                <a:noFill/>
              </a:ln>
              <a:solidFill>
                <a:srgbClr val="003300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6.2.3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表插入排序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1A906-54C5-4D20-8743-59616D3264FF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Group 232"/>
          <p:cNvGraphicFramePr>
            <a:graphicFrameLocks noGrp="1"/>
          </p:cNvGraphicFramePr>
          <p:nvPr/>
        </p:nvGraphicFramePr>
        <p:xfrm>
          <a:off x="780992" y="1984383"/>
          <a:ext cx="6457970" cy="841192"/>
        </p:xfrm>
        <a:graphic>
          <a:graphicData uri="http://schemas.openxmlformats.org/drawingml/2006/table">
            <a:tbl>
              <a:tblPr/>
              <a:tblGrid>
                <a:gridCol w="717715"/>
                <a:gridCol w="716247"/>
                <a:gridCol w="717716"/>
                <a:gridCol w="717715"/>
                <a:gridCol w="719183"/>
                <a:gridCol w="717716"/>
                <a:gridCol w="717715"/>
                <a:gridCol w="716247"/>
                <a:gridCol w="717716"/>
              </a:tblGrid>
              <a:tr h="40085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</a:t>
                      </a:r>
                      <a:endParaRPr kumimoji="0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035" marR="82035" marT="42658" marB="42658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49</a:t>
                      </a:r>
                      <a:endParaRPr kumimoji="0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035" marR="82035" marT="42658" marB="4265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38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035" marR="82035" marT="42658" marB="4265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65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035" marR="82035" marT="42658" marB="4265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27</a:t>
                      </a:r>
                      <a:endParaRPr kumimoji="0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035" marR="82035" marT="42658" marB="4265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76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035" marR="82035" marT="42658" marB="4265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13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035" marR="82035" marT="42658" marB="4265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97</a:t>
                      </a:r>
                      <a:endParaRPr kumimoji="0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035" marR="82035" marT="42658" marB="4265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49*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035" marR="82035" marT="42658" marB="4265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085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035" marR="82035" marT="42658" marB="42658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035" marR="82035" marT="42658" marB="4265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035" marR="82035" marT="42658" marB="4265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035" marR="82035" marT="42658" marB="4265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035" marR="82035" marT="42658" marB="4265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035" marR="82035" marT="42658" marB="4265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035" marR="82035" marT="42658" marB="4265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035" marR="82035" marT="42658" marB="4265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035" marR="82035" marT="42658" marB="4265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7" name="Group 237"/>
          <p:cNvGraphicFramePr>
            <a:graphicFrameLocks noGrp="1"/>
          </p:cNvGraphicFramePr>
          <p:nvPr/>
        </p:nvGraphicFramePr>
        <p:xfrm>
          <a:off x="923870" y="1417646"/>
          <a:ext cx="6391915" cy="481556"/>
        </p:xfrm>
        <a:graphic>
          <a:graphicData uri="http://schemas.openxmlformats.org/drawingml/2006/table">
            <a:tbl>
              <a:tblPr/>
              <a:tblGrid>
                <a:gridCol w="710376"/>
                <a:gridCol w="708907"/>
                <a:gridCol w="711845"/>
                <a:gridCol w="710376"/>
                <a:gridCol w="708907"/>
                <a:gridCol w="710376"/>
                <a:gridCol w="711845"/>
                <a:gridCol w="708907"/>
                <a:gridCol w="710376"/>
              </a:tblGrid>
              <a:tr h="45895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035" marR="82035" marT="42658" marB="42658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600" b="1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035" marR="82035" marT="42658" marB="42658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2</a:t>
                      </a:r>
                      <a:endParaRPr kumimoji="0" lang="en-US" altLang="zh-CN" sz="2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035" marR="82035" marT="42658" marB="42658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3</a:t>
                      </a:r>
                      <a:endParaRPr kumimoji="0" lang="en-US" altLang="zh-CN" sz="2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035" marR="82035" marT="42658" marB="42658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2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035" marR="82035" marT="42658" marB="42658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0" lang="en-US" altLang="zh-CN" sz="2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035" marR="82035" marT="42658" marB="42658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en-US" altLang="zh-CN" sz="2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035" marR="82035" marT="42658" marB="42658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0" lang="en-US" altLang="zh-CN" sz="2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035" marR="82035" marT="42658" marB="42658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kumimoji="0" lang="en-US" altLang="zh-CN" sz="2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035" marR="82035" marT="42658" marB="42658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8" name="Group 228"/>
          <p:cNvGraphicFramePr>
            <a:graphicFrameLocks noGrp="1"/>
          </p:cNvGraphicFramePr>
          <p:nvPr/>
        </p:nvGraphicFramePr>
        <p:xfrm>
          <a:off x="780992" y="3116271"/>
          <a:ext cx="6457970" cy="841192"/>
        </p:xfrm>
        <a:graphic>
          <a:graphicData uri="http://schemas.openxmlformats.org/drawingml/2006/table">
            <a:tbl>
              <a:tblPr/>
              <a:tblGrid>
                <a:gridCol w="717715"/>
                <a:gridCol w="716247"/>
                <a:gridCol w="717716"/>
                <a:gridCol w="717715"/>
                <a:gridCol w="719183"/>
                <a:gridCol w="717716"/>
                <a:gridCol w="717715"/>
                <a:gridCol w="716247"/>
                <a:gridCol w="717716"/>
              </a:tblGrid>
              <a:tr h="40085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</a:t>
                      </a:r>
                      <a:endParaRPr kumimoji="0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035" marR="82035" marT="42658" marB="42658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49</a:t>
                      </a:r>
                      <a:endParaRPr kumimoji="0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035" marR="82035" marT="42658" marB="4265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38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035" marR="82035" marT="42658" marB="4265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65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035" marR="82035" marT="42658" marB="4265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27</a:t>
                      </a:r>
                      <a:endParaRPr kumimoji="0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035" marR="82035" marT="42658" marB="4265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76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035" marR="82035" marT="42658" marB="4265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13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035" marR="82035" marT="42658" marB="4265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97</a:t>
                      </a:r>
                      <a:endParaRPr kumimoji="0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035" marR="82035" marT="42658" marB="4265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49*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035" marR="82035" marT="42658" marB="4265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085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035" marR="82035" marT="42658" marB="42658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035" marR="82035" marT="42658" marB="4265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035" marR="82035" marT="42658" marB="4265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035" marR="82035" marT="42658" marB="4265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035" marR="82035" marT="42658" marB="4265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035" marR="82035" marT="42658" marB="4265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035" marR="82035" marT="42658" marB="4265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035" marR="82035" marT="42658" marB="4265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</a:t>
                      </a:r>
                      <a:endParaRPr kumimoji="0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035" marR="82035" marT="42658" marB="4265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9" name="Group 229"/>
          <p:cNvGraphicFramePr>
            <a:graphicFrameLocks noGrp="1"/>
          </p:cNvGraphicFramePr>
          <p:nvPr/>
        </p:nvGraphicFramePr>
        <p:xfrm>
          <a:off x="780992" y="4268796"/>
          <a:ext cx="6457970" cy="841192"/>
        </p:xfrm>
        <a:graphic>
          <a:graphicData uri="http://schemas.openxmlformats.org/drawingml/2006/table">
            <a:tbl>
              <a:tblPr/>
              <a:tblGrid>
                <a:gridCol w="717715"/>
                <a:gridCol w="716247"/>
                <a:gridCol w="717716"/>
                <a:gridCol w="717715"/>
                <a:gridCol w="719183"/>
                <a:gridCol w="717716"/>
                <a:gridCol w="717715"/>
                <a:gridCol w="716247"/>
                <a:gridCol w="717716"/>
              </a:tblGrid>
              <a:tr h="40085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</a:t>
                      </a:r>
                      <a:endParaRPr kumimoji="0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035" marR="82035" marT="42658" marB="42658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49</a:t>
                      </a:r>
                      <a:endParaRPr kumimoji="0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035" marR="82035" marT="42658" marB="4265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38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035" marR="82035" marT="42658" marB="4265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65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035" marR="82035" marT="42658" marB="4265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27</a:t>
                      </a:r>
                      <a:endParaRPr kumimoji="0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035" marR="82035" marT="42658" marB="4265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76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035" marR="82035" marT="42658" marB="4265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13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035" marR="82035" marT="42658" marB="4265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97</a:t>
                      </a:r>
                      <a:endParaRPr kumimoji="0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035" marR="82035" marT="42658" marB="4265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49*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035" marR="82035" marT="42658" marB="4265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085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035" marR="82035" marT="42658" marB="42658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035" marR="82035" marT="42658" marB="4265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035" marR="82035" marT="42658" marB="4265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035" marR="82035" marT="42658" marB="4265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035" marR="82035" marT="42658" marB="4265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035" marR="82035" marT="42658" marB="4265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035" marR="82035" marT="42658" marB="4265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035" marR="82035" marT="42658" marB="4265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035" marR="82035" marT="42658" marB="4265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0" name="Text Box 154"/>
          <p:cNvSpPr txBox="1">
            <a:spLocks noChangeArrowheads="1"/>
          </p:cNvSpPr>
          <p:nvPr/>
        </p:nvSpPr>
        <p:spPr bwMode="auto">
          <a:xfrm>
            <a:off x="30131" y="1560522"/>
            <a:ext cx="935038" cy="830997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初始</a:t>
            </a:r>
            <a:endParaRPr kumimoji="1" lang="zh-CN" altLang="en-US" sz="24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状态</a:t>
            </a:r>
            <a:endParaRPr kumimoji="1" lang="zh-CN" altLang="en-US" sz="24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" name="Text Box 155"/>
          <p:cNvSpPr txBox="1">
            <a:spLocks noChangeArrowheads="1"/>
          </p:cNvSpPr>
          <p:nvPr/>
        </p:nvSpPr>
        <p:spPr bwMode="auto">
          <a:xfrm>
            <a:off x="7210412" y="1774836"/>
            <a:ext cx="1857388" cy="120032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key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域</a:t>
            </a:r>
            <a:endParaRPr kumimoji="1" lang="zh-CN" altLang="en-US" sz="24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next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域</a:t>
            </a:r>
            <a:endParaRPr kumimoji="1" lang="en-US" altLang="zh-CN" sz="24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是头指针</a:t>
            </a:r>
            <a:endParaRPr kumimoji="1" lang="zh-CN" altLang="en-US" sz="24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22" name="Group 234"/>
          <p:cNvGraphicFramePr>
            <a:graphicFrameLocks noGrp="1"/>
          </p:cNvGraphicFramePr>
          <p:nvPr/>
        </p:nvGraphicFramePr>
        <p:xfrm>
          <a:off x="780992" y="5505676"/>
          <a:ext cx="6457970" cy="841192"/>
        </p:xfrm>
        <a:graphic>
          <a:graphicData uri="http://schemas.openxmlformats.org/drawingml/2006/table">
            <a:tbl>
              <a:tblPr/>
              <a:tblGrid>
                <a:gridCol w="717715"/>
                <a:gridCol w="716247"/>
                <a:gridCol w="717716"/>
                <a:gridCol w="717715"/>
                <a:gridCol w="719183"/>
                <a:gridCol w="717716"/>
                <a:gridCol w="717715"/>
                <a:gridCol w="716247"/>
                <a:gridCol w="717716"/>
              </a:tblGrid>
              <a:tr h="40085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</a:t>
                      </a:r>
                      <a:endParaRPr kumimoji="0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035" marR="82035" marT="42658" marB="42658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49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035" marR="82035" marT="42658" marB="4265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38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035" marR="82035" marT="42658" marB="4265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65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035" marR="82035" marT="42658" marB="4265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27</a:t>
                      </a:r>
                      <a:endParaRPr kumimoji="0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035" marR="82035" marT="42658" marB="4265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76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035" marR="82035" marT="42658" marB="4265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13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035" marR="82035" marT="42658" marB="4265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97</a:t>
                      </a:r>
                      <a:endParaRPr kumimoji="0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035" marR="82035" marT="42658" marB="4265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49*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035" marR="82035" marT="42658" marB="4265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085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035" marR="82035" marT="42658" marB="42658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  <a:defRPr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035" marR="82035" marT="42658" marB="4265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  <a:defRPr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035" marR="82035" marT="42658" marB="4265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035" marR="82035" marT="42658" marB="4265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CC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33CC33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035" marR="82035" marT="42658" marB="4265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035" marR="82035" marT="42658" marB="4265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035" marR="82035" marT="42658" marB="4265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035" marR="82035" marT="42658" marB="4265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</a:t>
                      </a:r>
                      <a:endParaRPr kumimoji="0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035" marR="82035" marT="42658" marB="4265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cxnSp>
        <p:nvCxnSpPr>
          <p:cNvPr id="23" name="直接箭头连接符 22"/>
          <p:cNvCxnSpPr/>
          <p:nvPr/>
        </p:nvCxnSpPr>
        <p:spPr bwMode="auto">
          <a:xfrm>
            <a:off x="138050" y="2632092"/>
            <a:ext cx="571504" cy="1588"/>
          </a:xfrm>
          <a:prstGeom prst="straightConnector1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4" name="TextBox 23"/>
          <p:cNvSpPr txBox="1"/>
          <p:nvPr/>
        </p:nvSpPr>
        <p:spPr>
          <a:xfrm>
            <a:off x="139053" y="2560654"/>
            <a:ext cx="3561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h</a:t>
            </a:r>
            <a:endParaRPr kumimoji="1" lang="zh-CN" altLang="en-US" sz="2400" b="1" dirty="0">
              <a:solidFill>
                <a:srgbClr val="0033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cxnSp>
        <p:nvCxnSpPr>
          <p:cNvPr id="25" name="直接箭头连接符 24"/>
          <p:cNvCxnSpPr/>
          <p:nvPr/>
        </p:nvCxnSpPr>
        <p:spPr bwMode="auto">
          <a:xfrm rot="5400000">
            <a:off x="1066744" y="1274770"/>
            <a:ext cx="714380" cy="571504"/>
          </a:xfrm>
          <a:prstGeom prst="straightConnector1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6" name="TextBox 25"/>
          <p:cNvSpPr txBox="1"/>
          <p:nvPr/>
        </p:nvSpPr>
        <p:spPr>
          <a:xfrm>
            <a:off x="1352496" y="846142"/>
            <a:ext cx="20409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最小值的位置</a:t>
            </a:r>
            <a:endParaRPr kumimoji="1" lang="zh-CN" altLang="en-US" sz="24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27" name="Group 237"/>
          <p:cNvGraphicFramePr>
            <a:graphicFrameLocks noGrp="1"/>
          </p:cNvGraphicFramePr>
          <p:nvPr/>
        </p:nvGraphicFramePr>
        <p:xfrm>
          <a:off x="852430" y="3865048"/>
          <a:ext cx="6391915" cy="481556"/>
        </p:xfrm>
        <a:graphic>
          <a:graphicData uri="http://schemas.openxmlformats.org/drawingml/2006/table">
            <a:tbl>
              <a:tblPr/>
              <a:tblGrid>
                <a:gridCol w="710376"/>
                <a:gridCol w="708907"/>
                <a:gridCol w="711845"/>
                <a:gridCol w="710376"/>
                <a:gridCol w="708907"/>
                <a:gridCol w="710376"/>
                <a:gridCol w="711845"/>
                <a:gridCol w="708907"/>
                <a:gridCol w="710376"/>
              </a:tblGrid>
              <a:tr h="45895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035" marR="82035" marT="42658" marB="42658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1</a:t>
                      </a:r>
                      <a:endParaRPr kumimoji="0" lang="en-US" altLang="zh-CN" sz="2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035" marR="82035" marT="42658" marB="42658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2</a:t>
                      </a:r>
                      <a:endParaRPr kumimoji="0" lang="en-US" altLang="zh-CN" sz="2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035" marR="82035" marT="42658" marB="42658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600" b="1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035" marR="82035" marT="42658" marB="42658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2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035" marR="82035" marT="42658" marB="42658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0" lang="en-US" altLang="zh-CN" sz="2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035" marR="82035" marT="42658" marB="42658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en-US" altLang="zh-CN" sz="2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035" marR="82035" marT="42658" marB="42658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0" lang="en-US" altLang="zh-CN" sz="2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035" marR="82035" marT="42658" marB="42658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kumimoji="0" lang="en-US" altLang="zh-CN" sz="2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035" marR="82035" marT="42658" marB="42658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8" name="Group 237"/>
          <p:cNvGraphicFramePr>
            <a:graphicFrameLocks noGrp="1"/>
          </p:cNvGraphicFramePr>
          <p:nvPr/>
        </p:nvGraphicFramePr>
        <p:xfrm>
          <a:off x="780992" y="2703530"/>
          <a:ext cx="6391915" cy="481556"/>
        </p:xfrm>
        <a:graphic>
          <a:graphicData uri="http://schemas.openxmlformats.org/drawingml/2006/table">
            <a:tbl>
              <a:tblPr/>
              <a:tblGrid>
                <a:gridCol w="710376"/>
                <a:gridCol w="708907"/>
                <a:gridCol w="711845"/>
                <a:gridCol w="710376"/>
                <a:gridCol w="708907"/>
                <a:gridCol w="710376"/>
                <a:gridCol w="711845"/>
                <a:gridCol w="708907"/>
                <a:gridCol w="710376"/>
              </a:tblGrid>
              <a:tr h="45895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035" marR="82035" marT="42658" marB="42658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1</a:t>
                      </a:r>
                      <a:endParaRPr kumimoji="0" lang="en-US" altLang="zh-CN" sz="2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035" marR="82035" marT="42658" marB="42658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2</a:t>
                      </a:r>
                      <a:endParaRPr kumimoji="0" lang="en-US" altLang="zh-CN" sz="26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035" marR="82035" marT="42658" marB="42658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3</a:t>
                      </a:r>
                      <a:endParaRPr kumimoji="0" lang="en-US" altLang="zh-CN" sz="2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035" marR="82035" marT="42658" marB="42658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2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035" marR="82035" marT="42658" marB="42658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0" lang="en-US" altLang="zh-CN" sz="2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035" marR="82035" marT="42658" marB="42658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en-US" altLang="zh-CN" sz="2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035" marR="82035" marT="42658" marB="42658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0" lang="en-US" altLang="zh-CN" sz="2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035" marR="82035" marT="42658" marB="42658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kumimoji="0" lang="en-US" altLang="zh-CN" sz="2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035" marR="82035" marT="42658" marB="42658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9" name="Group 237"/>
          <p:cNvGraphicFramePr>
            <a:graphicFrameLocks noGrp="1"/>
          </p:cNvGraphicFramePr>
          <p:nvPr/>
        </p:nvGraphicFramePr>
        <p:xfrm>
          <a:off x="852430" y="5079494"/>
          <a:ext cx="6391915" cy="481556"/>
        </p:xfrm>
        <a:graphic>
          <a:graphicData uri="http://schemas.openxmlformats.org/drawingml/2006/table">
            <a:tbl>
              <a:tblPr/>
              <a:tblGrid>
                <a:gridCol w="710376"/>
                <a:gridCol w="708907"/>
                <a:gridCol w="711845"/>
                <a:gridCol w="710376"/>
                <a:gridCol w="708907"/>
                <a:gridCol w="710376"/>
                <a:gridCol w="711845"/>
                <a:gridCol w="708907"/>
                <a:gridCol w="710376"/>
              </a:tblGrid>
              <a:tr h="45895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035" marR="82035" marT="42658" marB="42658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1</a:t>
                      </a:r>
                      <a:endParaRPr kumimoji="0" lang="en-US" altLang="zh-CN" sz="2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035" marR="82035" marT="42658" marB="42658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2</a:t>
                      </a:r>
                      <a:endParaRPr kumimoji="0" lang="en-US" altLang="zh-CN" sz="2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035" marR="82035" marT="42658" marB="42658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3</a:t>
                      </a:r>
                      <a:endParaRPr kumimoji="0" lang="en-US" altLang="zh-CN" sz="2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035" marR="82035" marT="42658" marB="42658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26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035" marR="82035" marT="42658" marB="42658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0" lang="en-US" altLang="zh-CN" sz="2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035" marR="82035" marT="42658" marB="42658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en-US" altLang="zh-CN" sz="2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035" marR="82035" marT="42658" marB="42658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0" lang="en-US" altLang="zh-CN" sz="2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035" marR="82035" marT="42658" marB="42658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kumimoji="0" lang="en-US" altLang="zh-CN" sz="2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2035" marR="82035" marT="42658" marB="42658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cxnSp>
        <p:nvCxnSpPr>
          <p:cNvPr id="30" name="直接箭头连接符 29"/>
          <p:cNvCxnSpPr/>
          <p:nvPr/>
        </p:nvCxnSpPr>
        <p:spPr bwMode="auto">
          <a:xfrm rot="10800000">
            <a:off x="1852562" y="3346472"/>
            <a:ext cx="428628" cy="357190"/>
          </a:xfrm>
          <a:prstGeom prst="straightConnector1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1" name="直接箭头连接符 30"/>
          <p:cNvCxnSpPr/>
          <p:nvPr/>
        </p:nvCxnSpPr>
        <p:spPr bwMode="auto">
          <a:xfrm flipV="1">
            <a:off x="1781124" y="4418042"/>
            <a:ext cx="1214446" cy="500066"/>
          </a:xfrm>
          <a:prstGeom prst="straightConnector1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2" name="直接箭头连接符 31"/>
          <p:cNvCxnSpPr/>
          <p:nvPr/>
        </p:nvCxnSpPr>
        <p:spPr bwMode="auto">
          <a:xfrm rot="16200000" flipV="1">
            <a:off x="995306" y="3060720"/>
            <a:ext cx="571504" cy="571504"/>
          </a:xfrm>
          <a:prstGeom prst="straightConnector1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3" name="直接箭头连接符 32"/>
          <p:cNvCxnSpPr/>
          <p:nvPr/>
        </p:nvCxnSpPr>
        <p:spPr bwMode="auto">
          <a:xfrm rot="10800000">
            <a:off x="1066744" y="4132290"/>
            <a:ext cx="2000264" cy="857256"/>
          </a:xfrm>
          <a:prstGeom prst="straightConnector1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4" name="直接箭头连接符 33"/>
          <p:cNvCxnSpPr/>
          <p:nvPr/>
        </p:nvCxnSpPr>
        <p:spPr bwMode="auto">
          <a:xfrm rot="10800000">
            <a:off x="2566942" y="5775364"/>
            <a:ext cx="1357322" cy="285752"/>
          </a:xfrm>
          <a:prstGeom prst="straightConnector1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5" name="TextBox 34"/>
          <p:cNvSpPr txBox="1"/>
          <p:nvPr/>
        </p:nvSpPr>
        <p:spPr>
          <a:xfrm>
            <a:off x="761155" y="5846802"/>
            <a:ext cx="377027" cy="553998"/>
          </a:xfrm>
          <a:prstGeom prst="rect">
            <a:avLst/>
          </a:prstGeom>
          <a:solidFill>
            <a:srgbClr val="DBF5F9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4</a:t>
            </a:r>
            <a:endParaRPr kumimoji="1" lang="zh-CN" altLang="en-US" sz="3000" b="1" i="0" u="none" strike="noStrike" kern="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6.2.3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表插入排序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4C9EB-D069-46ED-8258-C20795AFE0FB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1187450" y="1635125"/>
            <a:ext cx="5518150" cy="224676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        #define SIZE 100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        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typedef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struct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{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            </a:t>
            </a:r>
            <a:r>
              <a:rPr kumimoji="1" lang="en-US" altLang="zh-CN" sz="2800" b="1" dirty="0" err="1">
                <a:solidFill>
                  <a:srgbClr val="FF3300"/>
                </a:solidFill>
                <a:latin typeface="Times New Roman" panose="02020603050405020304" pitchFamily="18" charset="0"/>
              </a:rPr>
              <a:t>RcdType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   </a:t>
            </a:r>
            <a:r>
              <a:rPr kumimoji="1" lang="en-US" altLang="zh-CN" sz="2800" b="1" dirty="0" err="1">
                <a:solidFill>
                  <a:srgbClr val="FF3300"/>
                </a:solidFill>
                <a:latin typeface="Times New Roman" panose="02020603050405020304" pitchFamily="18" charset="0"/>
              </a:rPr>
              <a:t>rc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; 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//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记录项</a:t>
            </a:r>
            <a:endParaRPr kumimoji="1" lang="en-US" altLang="zh-CN" sz="2400" b="1" dirty="0"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                </a:t>
            </a:r>
            <a:r>
              <a:rPr kumimoji="1" lang="en-US" altLang="zh-CN" sz="2800" b="1" dirty="0" err="1">
                <a:solidFill>
                  <a:srgbClr val="FF3300"/>
                </a:solidFill>
                <a:latin typeface="Times New Roman" panose="02020603050405020304" pitchFamily="18" charset="0"/>
              </a:rPr>
              <a:t>int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          next; 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//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指针项</a:t>
            </a:r>
            <a:endParaRPr kumimoji="1" lang="en-US" altLang="zh-CN" sz="2400" b="1" dirty="0"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        }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SLNode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;  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//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表结点类型</a:t>
            </a:r>
            <a:endParaRPr kumimoji="1"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1187450" y="4011613"/>
            <a:ext cx="7471118" cy="181588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        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typedef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struct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{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            </a:t>
            </a:r>
            <a:r>
              <a:rPr kumimoji="1" lang="en-US" altLang="zh-CN" sz="2800" b="1" dirty="0" err="1">
                <a:solidFill>
                  <a:srgbClr val="FF3300"/>
                </a:solidFill>
                <a:latin typeface="Times New Roman" panose="02020603050405020304" pitchFamily="18" charset="0"/>
              </a:rPr>
              <a:t>SLNode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    r[SIZE]; 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//0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号单元为表头结点</a:t>
            </a:r>
            <a:endParaRPr kumimoji="1" lang="en-US" altLang="zh-CN" sz="2400" b="1" dirty="0"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                </a:t>
            </a:r>
            <a:r>
              <a:rPr kumimoji="1" lang="en-US" altLang="zh-CN" sz="2800" b="1" dirty="0" err="1">
                <a:solidFill>
                  <a:srgbClr val="FF3300"/>
                </a:solidFill>
                <a:latin typeface="Times New Roman" panose="02020603050405020304" pitchFamily="18" charset="0"/>
              </a:rPr>
              <a:t>int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             length; 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//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链表当前长度</a:t>
            </a:r>
            <a:endParaRPr kumimoji="1" lang="en-US" altLang="zh-CN" sz="2400" b="1" dirty="0"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        }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SLinkListType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;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" name="Text Box 6"/>
          <p:cNvSpPr txBox="1">
            <a:spLocks noChangeArrowheads="1"/>
          </p:cNvSpPr>
          <p:nvPr/>
        </p:nvSpPr>
        <p:spPr bwMode="auto">
          <a:xfrm>
            <a:off x="468313" y="914400"/>
            <a:ext cx="5256212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表插入排序的存储结构</a:t>
            </a:r>
            <a:endParaRPr kumimoji="1" lang="zh-CN" altLang="en-US" sz="2800" b="1" dirty="0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6.2.3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表插入排序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852A7-B970-4CA6-80D5-51900616B850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5"/>
          <p:cNvSpPr txBox="1">
            <a:spLocks noChangeArrowheads="1"/>
          </p:cNvSpPr>
          <p:nvPr/>
        </p:nvSpPr>
        <p:spPr bwMode="auto">
          <a:xfrm>
            <a:off x="827088" y="1406987"/>
            <a:ext cx="7561262" cy="408111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void </a:t>
            </a:r>
            <a:r>
              <a:rPr kumimoji="1" lang="en-US" altLang="zh-CN" sz="24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LInsertionSort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(</a:t>
            </a:r>
            <a:r>
              <a:rPr kumimoji="1" lang="en-US" altLang="zh-CN" sz="24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SLinkListType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&amp;SL){</a:t>
            </a:r>
            <a:endParaRPr kumimoji="1" lang="en-US" altLang="zh-CN" sz="24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//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对记录序列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SL[1..n]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作表插入排序</a:t>
            </a:r>
            <a:endParaRPr kumimoji="1" lang="zh-CN" altLang="en-US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</a:t>
            </a:r>
            <a:r>
              <a:rPr kumimoji="1" lang="en-US" altLang="zh-CN" sz="24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SL.r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[0].key = MAXINT ;</a:t>
            </a:r>
            <a:endParaRPr kumimoji="1" lang="en-US" altLang="zh-CN" sz="24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</a:t>
            </a:r>
            <a:r>
              <a:rPr kumimoji="1" lang="en-US" altLang="zh-CN" sz="2400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SL.r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[0].next = 1;  </a:t>
            </a:r>
            <a:r>
              <a:rPr kumimoji="1" lang="en-US" altLang="zh-CN" sz="2400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SL.r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[1].next = 0; </a:t>
            </a:r>
            <a:endParaRPr kumimoji="1" lang="en-US" altLang="zh-CN" sz="24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//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初始状态，一个是有序的，头结点的下标为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0                                                         </a:t>
            </a:r>
            <a:endParaRPr kumimoji="1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for ( </a:t>
            </a:r>
            <a:r>
              <a:rPr kumimoji="1" lang="en-US" altLang="zh-CN" sz="24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=2; </a:t>
            </a:r>
            <a:r>
              <a:rPr kumimoji="1" lang="en-US" altLang="zh-CN" sz="24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&lt;=n; ++</a:t>
            </a:r>
            <a:r>
              <a:rPr kumimoji="1" lang="en-US" altLang="zh-CN" sz="24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)//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指示要处理的位置</a:t>
            </a:r>
            <a:endParaRPr kumimoji="1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  for ( j=0, k = </a:t>
            </a:r>
            <a:r>
              <a:rPr kumimoji="1" lang="en-US" altLang="zh-CN" sz="24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SL.r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[0].</a:t>
            </a:r>
            <a:r>
              <a:rPr kumimoji="1" lang="en-US" altLang="zh-CN" sz="24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next;SL.r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[k].key&lt;=</a:t>
            </a:r>
            <a:endParaRPr kumimoji="1" lang="en-US" altLang="zh-CN" sz="24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            </a:t>
            </a:r>
            <a:r>
              <a:rPr kumimoji="1" lang="en-US" altLang="zh-CN" sz="24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SL.r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[</a:t>
            </a:r>
            <a:r>
              <a:rPr kumimoji="1" lang="en-US" altLang="zh-CN" sz="24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].key ; j=k, k=</a:t>
            </a:r>
            <a:r>
              <a:rPr kumimoji="1" lang="en-US" altLang="zh-CN" sz="24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SL.r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[k].next )</a:t>
            </a:r>
            <a:endParaRPr kumimoji="1" lang="en-US" altLang="zh-CN" sz="24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                            //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查找插入位置</a:t>
            </a:r>
            <a:endParaRPr kumimoji="1" lang="en-US" altLang="zh-CN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" name="Text Box 7"/>
          <p:cNvSpPr txBox="1">
            <a:spLocks noChangeArrowheads="1"/>
          </p:cNvSpPr>
          <p:nvPr/>
        </p:nvSpPr>
        <p:spPr bwMode="auto">
          <a:xfrm>
            <a:off x="468313" y="903749"/>
            <a:ext cx="5256212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表插入排序的算法</a:t>
            </a:r>
            <a:endParaRPr kumimoji="1" lang="zh-CN" altLang="en-US" sz="2800" b="1" dirty="0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643042" y="5283672"/>
            <a:ext cx="7072362" cy="14219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 { SL[j].next = </a:t>
            </a:r>
            <a:r>
              <a:rPr kumimoji="1" lang="en-US" altLang="zh-CN" sz="2400" b="1" dirty="0" err="1">
                <a:solidFill>
                  <a:srgbClr val="FF330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;  SL[</a:t>
            </a:r>
            <a:r>
              <a:rPr kumimoji="1" lang="en-US" altLang="zh-CN" sz="2400" b="1" dirty="0" err="1">
                <a:solidFill>
                  <a:srgbClr val="FF330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].next = k; }</a:t>
            </a:r>
            <a:endParaRPr kumimoji="1" lang="en-US" altLang="zh-CN" sz="2400" b="1" dirty="0">
              <a:solidFill>
                <a:srgbClr val="FF3300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    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//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结点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插入在结点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j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和结点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k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之间</a:t>
            </a:r>
            <a:endParaRPr kumimoji="1" lang="zh-CN" altLang="en-US" sz="24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}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//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LinsertionSort</a:t>
            </a:r>
            <a:endParaRPr kumimoji="1" lang="zh-CN" altLang="en-US" sz="2400" b="1" dirty="0">
              <a:solidFill>
                <a:srgbClr val="66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3857620" y="-145616"/>
            <a:ext cx="5616575" cy="3500462"/>
            <a:chOff x="3527425" y="2714620"/>
            <a:chExt cx="5616575" cy="3500462"/>
          </a:xfrm>
        </p:grpSpPr>
        <p:grpSp>
          <p:nvGrpSpPr>
            <p:cNvPr id="17" name="组合 16"/>
            <p:cNvGrpSpPr/>
            <p:nvPr/>
          </p:nvGrpSpPr>
          <p:grpSpPr>
            <a:xfrm>
              <a:off x="3527425" y="2714620"/>
              <a:ext cx="5616575" cy="3500462"/>
              <a:chOff x="3527457" y="214290"/>
              <a:chExt cx="5616575" cy="3500462"/>
            </a:xfrm>
          </p:grpSpPr>
          <p:sp>
            <p:nvSpPr>
              <p:cNvPr id="20" name="矩形 19"/>
              <p:cNvSpPr/>
              <p:nvPr/>
            </p:nvSpPr>
            <p:spPr bwMode="auto">
              <a:xfrm>
                <a:off x="4143372" y="214290"/>
                <a:ext cx="4786346" cy="3500462"/>
              </a:xfrm>
              <a:prstGeom prst="rect">
                <a:avLst/>
              </a:prstGeom>
              <a:solidFill>
                <a:srgbClr val="DBF5F9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30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grpSp>
            <p:nvGrpSpPr>
              <p:cNvPr id="21" name="Group 171"/>
              <p:cNvGrpSpPr/>
              <p:nvPr/>
            </p:nvGrpSpPr>
            <p:grpSpPr bwMode="auto">
              <a:xfrm>
                <a:off x="3527457" y="995348"/>
                <a:ext cx="5616578" cy="2525713"/>
                <a:chOff x="262" y="2520"/>
                <a:chExt cx="3538" cy="1591"/>
              </a:xfrm>
            </p:grpSpPr>
            <p:grpSp>
              <p:nvGrpSpPr>
                <p:cNvPr id="22" name="Group 22"/>
                <p:cNvGrpSpPr/>
                <p:nvPr/>
              </p:nvGrpSpPr>
              <p:grpSpPr bwMode="auto">
                <a:xfrm>
                  <a:off x="761" y="2886"/>
                  <a:ext cx="681" cy="318"/>
                  <a:chOff x="1532" y="1525"/>
                  <a:chExt cx="681" cy="318"/>
                </a:xfrm>
              </p:grpSpPr>
              <p:grpSp>
                <p:nvGrpSpPr>
                  <p:cNvPr id="65" name="Group 23"/>
                  <p:cNvGrpSpPr/>
                  <p:nvPr/>
                </p:nvGrpSpPr>
                <p:grpSpPr bwMode="auto">
                  <a:xfrm>
                    <a:off x="1532" y="1525"/>
                    <a:ext cx="681" cy="318"/>
                    <a:chOff x="1532" y="1298"/>
                    <a:chExt cx="681" cy="318"/>
                  </a:xfrm>
                </p:grpSpPr>
                <p:sp>
                  <p:nvSpPr>
                    <p:cNvPr id="67" name="Rectangle 2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532" y="1298"/>
                      <a:ext cx="681" cy="318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9525" algn="ctr">
                      <a:solidFill>
                        <a:srgbClr val="000000"/>
                      </a:solidFill>
                      <a:miter lim="800000"/>
                    </a:ln>
                    <a:effectLst/>
                  </p:spPr>
                  <p:txBody>
                    <a:bodyPr wrap="none" anchor="ctr"/>
                    <a:lstStyle/>
                    <a:p>
                      <a:pPr marL="0" marR="0" lvl="0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1" lang="zh-CN" altLang="en-US" sz="3000" b="1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6600CC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p:txBody>
                </p:sp>
                <p:sp>
                  <p:nvSpPr>
                    <p:cNvPr id="68" name="Line 2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875" y="1298"/>
                      <a:ext cx="0" cy="318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</a:ln>
                    <a:effectLst/>
                  </p:spPr>
                  <p:txBody>
                    <a:bodyPr/>
                    <a:lstStyle/>
                    <a:p>
                      <a:pPr marL="0" marR="0" lvl="0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1" lang="zh-CN" altLang="en-US" sz="3000" b="1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6600CC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p:txBody>
                </p:sp>
              </p:grpSp>
              <p:sp>
                <p:nvSpPr>
                  <p:cNvPr id="66" name="Text Box 2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895" y="1525"/>
                    <a:ext cx="272" cy="288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</a:ln>
                  <a:effectLst/>
                </p:spPr>
                <p:txBody>
                  <a:bodyPr>
                    <a:spAutoFit/>
                  </a:bodyPr>
                  <a:lstStyle/>
                  <a:p>
                    <a:pPr marL="342900" marR="0" lvl="0" indent="-342900" algn="ctr" defTabSz="914400" eaLnBrk="1" fontAlgn="base" latinLnBrk="0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 typeface="Wingdings" panose="05000000000000000000" pitchFamily="2" charset="2"/>
                      <a:buNone/>
                      <a:defRPr/>
                    </a:pPr>
                    <a:endParaRPr kumimoji="1" lang="zh-CN" altLang="en-US" sz="20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6600CC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楷体_GB2312" pitchFamily="49" charset="-122"/>
                    </a:endParaRPr>
                  </a:p>
                </p:txBody>
              </p:sp>
            </p:grpSp>
            <p:grpSp>
              <p:nvGrpSpPr>
                <p:cNvPr id="23" name="Group 27"/>
                <p:cNvGrpSpPr/>
                <p:nvPr/>
              </p:nvGrpSpPr>
              <p:grpSpPr bwMode="auto">
                <a:xfrm>
                  <a:off x="1759" y="2886"/>
                  <a:ext cx="681" cy="318"/>
                  <a:chOff x="1532" y="1525"/>
                  <a:chExt cx="681" cy="318"/>
                </a:xfrm>
              </p:grpSpPr>
              <p:grpSp>
                <p:nvGrpSpPr>
                  <p:cNvPr id="61" name="Group 28"/>
                  <p:cNvGrpSpPr/>
                  <p:nvPr/>
                </p:nvGrpSpPr>
                <p:grpSpPr bwMode="auto">
                  <a:xfrm>
                    <a:off x="1532" y="1525"/>
                    <a:ext cx="681" cy="318"/>
                    <a:chOff x="1532" y="1298"/>
                    <a:chExt cx="681" cy="318"/>
                  </a:xfrm>
                </p:grpSpPr>
                <p:sp>
                  <p:nvSpPr>
                    <p:cNvPr id="63" name="Rectangle 2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532" y="1298"/>
                      <a:ext cx="681" cy="318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9525" algn="ctr">
                      <a:solidFill>
                        <a:srgbClr val="000000"/>
                      </a:solidFill>
                      <a:miter lim="800000"/>
                    </a:ln>
                    <a:effectLst/>
                  </p:spPr>
                  <p:txBody>
                    <a:bodyPr wrap="none" anchor="ctr"/>
                    <a:lstStyle/>
                    <a:p>
                      <a:pPr marL="0" marR="0" lvl="0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1" lang="zh-CN" altLang="en-US" sz="3000" b="1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6600CC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p:txBody>
                </p:sp>
                <p:sp>
                  <p:nvSpPr>
                    <p:cNvPr id="64" name="Line 3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875" y="1298"/>
                      <a:ext cx="0" cy="318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</a:ln>
                    <a:effectLst/>
                  </p:spPr>
                  <p:txBody>
                    <a:bodyPr/>
                    <a:lstStyle/>
                    <a:p>
                      <a:pPr marL="0" marR="0" lvl="0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1" lang="zh-CN" altLang="en-US" sz="3000" b="1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6600CC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p:txBody>
                </p:sp>
              </p:grpSp>
              <p:sp>
                <p:nvSpPr>
                  <p:cNvPr id="62" name="Text Box 3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895" y="1525"/>
                    <a:ext cx="272" cy="288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</a:ln>
                  <a:effectLst/>
                </p:spPr>
                <p:txBody>
                  <a:bodyPr>
                    <a:spAutoFit/>
                  </a:bodyPr>
                  <a:lstStyle/>
                  <a:p>
                    <a:pPr marL="342900" marR="0" lvl="0" indent="-342900" algn="ctr" defTabSz="914400" eaLnBrk="1" fontAlgn="base" latinLnBrk="0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 typeface="Wingdings" panose="05000000000000000000" pitchFamily="2" charset="2"/>
                      <a:buNone/>
                      <a:defRPr/>
                    </a:pPr>
                    <a:endParaRPr kumimoji="1" lang="zh-CN" altLang="en-US" sz="20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6600CC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楷体_GB2312" pitchFamily="49" charset="-122"/>
                    </a:endParaRPr>
                  </a:p>
                </p:txBody>
              </p:sp>
            </p:grpSp>
            <p:grpSp>
              <p:nvGrpSpPr>
                <p:cNvPr id="24" name="Group 86"/>
                <p:cNvGrpSpPr/>
                <p:nvPr/>
              </p:nvGrpSpPr>
              <p:grpSpPr bwMode="auto">
                <a:xfrm>
                  <a:off x="2757" y="2886"/>
                  <a:ext cx="681" cy="318"/>
                  <a:chOff x="1532" y="1525"/>
                  <a:chExt cx="681" cy="318"/>
                </a:xfrm>
              </p:grpSpPr>
              <p:grpSp>
                <p:nvGrpSpPr>
                  <p:cNvPr id="57" name="Group 87"/>
                  <p:cNvGrpSpPr/>
                  <p:nvPr/>
                </p:nvGrpSpPr>
                <p:grpSpPr bwMode="auto">
                  <a:xfrm>
                    <a:off x="1532" y="1525"/>
                    <a:ext cx="681" cy="318"/>
                    <a:chOff x="1532" y="1298"/>
                    <a:chExt cx="681" cy="318"/>
                  </a:xfrm>
                </p:grpSpPr>
                <p:sp>
                  <p:nvSpPr>
                    <p:cNvPr id="59" name="Rectangle 8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532" y="1298"/>
                      <a:ext cx="681" cy="318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9525" algn="ctr">
                      <a:solidFill>
                        <a:srgbClr val="000000"/>
                      </a:solidFill>
                      <a:miter lim="800000"/>
                    </a:ln>
                    <a:effectLst/>
                  </p:spPr>
                  <p:txBody>
                    <a:bodyPr wrap="none" anchor="ctr"/>
                    <a:lstStyle/>
                    <a:p>
                      <a:pPr marL="0" marR="0" lvl="0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1" lang="zh-CN" altLang="en-US" sz="3000" b="1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6600CC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p:txBody>
                </p:sp>
                <p:sp>
                  <p:nvSpPr>
                    <p:cNvPr id="60" name="Line 8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875" y="1298"/>
                      <a:ext cx="0" cy="318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</a:ln>
                    <a:effectLst/>
                  </p:spPr>
                  <p:txBody>
                    <a:bodyPr/>
                    <a:lstStyle/>
                    <a:p>
                      <a:pPr marL="0" marR="0" lvl="0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1" lang="zh-CN" altLang="en-US" sz="3000" b="1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6600CC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p:txBody>
                </p:sp>
              </p:grpSp>
              <p:sp>
                <p:nvSpPr>
                  <p:cNvPr id="58" name="Text Box 9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895" y="1525"/>
                    <a:ext cx="272" cy="288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</a:ln>
                  <a:effectLst/>
                </p:spPr>
                <p:txBody>
                  <a:bodyPr>
                    <a:spAutoFit/>
                  </a:bodyPr>
                  <a:lstStyle/>
                  <a:p>
                    <a:pPr marL="342900" marR="0" lvl="0" indent="-342900" algn="ctr" defTabSz="914400" eaLnBrk="1" fontAlgn="base" latinLnBrk="0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 typeface="Wingdings" panose="05000000000000000000" pitchFamily="2" charset="2"/>
                      <a:buNone/>
                      <a:defRPr/>
                    </a:pPr>
                    <a:endParaRPr kumimoji="1" lang="zh-CN" altLang="en-US" sz="20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6600CC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楷体_GB2312" pitchFamily="49" charset="-122"/>
                    </a:endParaRPr>
                  </a:p>
                </p:txBody>
              </p:sp>
            </p:grpSp>
            <p:grpSp>
              <p:nvGrpSpPr>
                <p:cNvPr id="25" name="Group 91"/>
                <p:cNvGrpSpPr/>
                <p:nvPr/>
              </p:nvGrpSpPr>
              <p:grpSpPr bwMode="auto">
                <a:xfrm>
                  <a:off x="2757" y="2886"/>
                  <a:ext cx="681" cy="318"/>
                  <a:chOff x="1532" y="1525"/>
                  <a:chExt cx="681" cy="318"/>
                </a:xfrm>
              </p:grpSpPr>
              <p:grpSp>
                <p:nvGrpSpPr>
                  <p:cNvPr id="53" name="Group 92"/>
                  <p:cNvGrpSpPr/>
                  <p:nvPr/>
                </p:nvGrpSpPr>
                <p:grpSpPr bwMode="auto">
                  <a:xfrm>
                    <a:off x="1532" y="1525"/>
                    <a:ext cx="681" cy="318"/>
                    <a:chOff x="1532" y="1298"/>
                    <a:chExt cx="681" cy="318"/>
                  </a:xfrm>
                </p:grpSpPr>
                <p:sp>
                  <p:nvSpPr>
                    <p:cNvPr id="55" name="Rectangle 9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532" y="1298"/>
                      <a:ext cx="681" cy="318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9525" algn="ctr">
                      <a:solidFill>
                        <a:srgbClr val="000000"/>
                      </a:solidFill>
                      <a:miter lim="800000"/>
                    </a:ln>
                    <a:effectLst/>
                  </p:spPr>
                  <p:txBody>
                    <a:bodyPr wrap="none" anchor="ctr"/>
                    <a:lstStyle/>
                    <a:p>
                      <a:pPr marL="0" marR="0" lvl="0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1" lang="zh-CN" altLang="en-US" sz="3000" b="1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6600CC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p:txBody>
                </p:sp>
                <p:sp>
                  <p:nvSpPr>
                    <p:cNvPr id="56" name="Line 9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875" y="1298"/>
                      <a:ext cx="0" cy="318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</a:ln>
                    <a:effectLst/>
                  </p:spPr>
                  <p:txBody>
                    <a:bodyPr/>
                    <a:lstStyle/>
                    <a:p>
                      <a:pPr marL="0" marR="0" lvl="0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1" lang="zh-CN" altLang="en-US" sz="3000" b="1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6600CC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p:txBody>
                </p:sp>
              </p:grpSp>
              <p:sp>
                <p:nvSpPr>
                  <p:cNvPr id="54" name="Text Box 9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895" y="1525"/>
                    <a:ext cx="272" cy="288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</a:ln>
                  <a:effectLst/>
                </p:spPr>
                <p:txBody>
                  <a:bodyPr>
                    <a:spAutoFit/>
                  </a:bodyPr>
                  <a:lstStyle/>
                  <a:p>
                    <a:pPr marL="342900" marR="0" lvl="0" indent="-342900" algn="ctr" defTabSz="914400" eaLnBrk="1" fontAlgn="base" latinLnBrk="0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 typeface="Wingdings" panose="05000000000000000000" pitchFamily="2" charset="2"/>
                      <a:buNone/>
                      <a:defRPr/>
                    </a:pPr>
                    <a:endParaRPr kumimoji="1" lang="zh-CN" altLang="en-US" sz="20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6600CC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楷体_GB2312" pitchFamily="49" charset="-122"/>
                    </a:endParaRPr>
                  </a:p>
                </p:txBody>
              </p:sp>
            </p:grpSp>
            <p:grpSp>
              <p:nvGrpSpPr>
                <p:cNvPr id="26" name="Group 96"/>
                <p:cNvGrpSpPr/>
                <p:nvPr/>
              </p:nvGrpSpPr>
              <p:grpSpPr bwMode="auto">
                <a:xfrm>
                  <a:off x="2757" y="2886"/>
                  <a:ext cx="681" cy="318"/>
                  <a:chOff x="1532" y="1525"/>
                  <a:chExt cx="681" cy="318"/>
                </a:xfrm>
              </p:grpSpPr>
              <p:grpSp>
                <p:nvGrpSpPr>
                  <p:cNvPr id="49" name="Group 97"/>
                  <p:cNvGrpSpPr/>
                  <p:nvPr/>
                </p:nvGrpSpPr>
                <p:grpSpPr bwMode="auto">
                  <a:xfrm>
                    <a:off x="1532" y="1525"/>
                    <a:ext cx="681" cy="318"/>
                    <a:chOff x="1532" y="1298"/>
                    <a:chExt cx="681" cy="318"/>
                  </a:xfrm>
                </p:grpSpPr>
                <p:sp>
                  <p:nvSpPr>
                    <p:cNvPr id="51" name="Rectangle 9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532" y="1298"/>
                      <a:ext cx="681" cy="318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9525" algn="ctr">
                      <a:solidFill>
                        <a:srgbClr val="000000"/>
                      </a:solidFill>
                      <a:miter lim="800000"/>
                    </a:ln>
                    <a:effectLst/>
                  </p:spPr>
                  <p:txBody>
                    <a:bodyPr wrap="none" anchor="ctr"/>
                    <a:lstStyle/>
                    <a:p>
                      <a:pPr marL="0" marR="0" lvl="0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1" lang="zh-CN" altLang="en-US" sz="3000" b="1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6600CC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p:txBody>
                </p:sp>
                <p:sp>
                  <p:nvSpPr>
                    <p:cNvPr id="52" name="Line 9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875" y="1298"/>
                      <a:ext cx="0" cy="318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</a:ln>
                    <a:effectLst/>
                  </p:spPr>
                  <p:txBody>
                    <a:bodyPr/>
                    <a:lstStyle/>
                    <a:p>
                      <a:pPr marL="0" marR="0" lvl="0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1" lang="zh-CN" altLang="en-US" sz="3000" b="1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6600CC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p:txBody>
                </p:sp>
              </p:grpSp>
              <p:sp>
                <p:nvSpPr>
                  <p:cNvPr id="50" name="Text Box 10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895" y="1525"/>
                    <a:ext cx="272" cy="288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</a:ln>
                  <a:effectLst/>
                </p:spPr>
                <p:txBody>
                  <a:bodyPr>
                    <a:spAutoFit/>
                  </a:bodyPr>
                  <a:lstStyle/>
                  <a:p>
                    <a:pPr marL="342900" marR="0" lvl="0" indent="-342900" algn="ctr" defTabSz="914400" eaLnBrk="1" fontAlgn="base" latinLnBrk="0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 typeface="Wingdings" panose="05000000000000000000" pitchFamily="2" charset="2"/>
                      <a:buNone/>
                      <a:defRPr/>
                    </a:pPr>
                    <a:endParaRPr kumimoji="1" lang="zh-CN" altLang="en-US" sz="20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6600CC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楷体_GB2312" pitchFamily="49" charset="-122"/>
                    </a:endParaRPr>
                  </a:p>
                </p:txBody>
              </p:sp>
            </p:grpSp>
            <p:grpSp>
              <p:nvGrpSpPr>
                <p:cNvPr id="27" name="Group 101"/>
                <p:cNvGrpSpPr/>
                <p:nvPr/>
              </p:nvGrpSpPr>
              <p:grpSpPr bwMode="auto">
                <a:xfrm>
                  <a:off x="2213" y="3793"/>
                  <a:ext cx="681" cy="318"/>
                  <a:chOff x="1532" y="1525"/>
                  <a:chExt cx="681" cy="318"/>
                </a:xfrm>
              </p:grpSpPr>
              <p:grpSp>
                <p:nvGrpSpPr>
                  <p:cNvPr id="45" name="Group 102"/>
                  <p:cNvGrpSpPr/>
                  <p:nvPr/>
                </p:nvGrpSpPr>
                <p:grpSpPr bwMode="auto">
                  <a:xfrm>
                    <a:off x="1532" y="1525"/>
                    <a:ext cx="681" cy="318"/>
                    <a:chOff x="1532" y="1298"/>
                    <a:chExt cx="681" cy="318"/>
                  </a:xfrm>
                </p:grpSpPr>
                <p:sp>
                  <p:nvSpPr>
                    <p:cNvPr id="47" name="Rectangle 10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532" y="1298"/>
                      <a:ext cx="681" cy="318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9525" algn="ctr">
                      <a:solidFill>
                        <a:srgbClr val="000000"/>
                      </a:solidFill>
                      <a:miter lim="800000"/>
                    </a:ln>
                    <a:effectLst/>
                  </p:spPr>
                  <p:txBody>
                    <a:bodyPr wrap="none" anchor="ctr"/>
                    <a:lstStyle/>
                    <a:p>
                      <a:pPr marL="0" marR="0" lvl="0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1" lang="zh-CN" altLang="en-US" sz="3000" b="1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6600CC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p:txBody>
                </p:sp>
                <p:sp>
                  <p:nvSpPr>
                    <p:cNvPr id="48" name="Line 10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875" y="1298"/>
                      <a:ext cx="0" cy="318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</a:ln>
                    <a:effectLst/>
                  </p:spPr>
                  <p:txBody>
                    <a:bodyPr/>
                    <a:lstStyle/>
                    <a:p>
                      <a:pPr marL="0" marR="0" lvl="0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1" lang="zh-CN" altLang="en-US" sz="3000" b="1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6600CC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p:txBody>
                </p:sp>
              </p:grpSp>
              <p:sp>
                <p:nvSpPr>
                  <p:cNvPr id="46" name="Text Box 10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895" y="1525"/>
                    <a:ext cx="272" cy="288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</a:ln>
                  <a:effectLst/>
                </p:spPr>
                <p:txBody>
                  <a:bodyPr>
                    <a:spAutoFit/>
                  </a:bodyPr>
                  <a:lstStyle/>
                  <a:p>
                    <a:pPr marL="342900" marR="0" lvl="0" indent="-342900" algn="ctr" defTabSz="914400" eaLnBrk="1" fontAlgn="base" latinLnBrk="0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 typeface="Wingdings" panose="05000000000000000000" pitchFamily="2" charset="2"/>
                      <a:buNone/>
                      <a:defRPr/>
                    </a:pPr>
                    <a:endParaRPr kumimoji="1" lang="zh-CN" altLang="en-US" sz="20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6600CC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楷体_GB2312" pitchFamily="49" charset="-122"/>
                    </a:endParaRPr>
                  </a:p>
                </p:txBody>
              </p:sp>
            </p:grpSp>
            <p:grpSp>
              <p:nvGrpSpPr>
                <p:cNvPr id="28" name="Group 106"/>
                <p:cNvGrpSpPr/>
                <p:nvPr/>
              </p:nvGrpSpPr>
              <p:grpSpPr bwMode="auto">
                <a:xfrm>
                  <a:off x="2757" y="2886"/>
                  <a:ext cx="681" cy="318"/>
                  <a:chOff x="1532" y="1525"/>
                  <a:chExt cx="681" cy="318"/>
                </a:xfrm>
              </p:grpSpPr>
              <p:grpSp>
                <p:nvGrpSpPr>
                  <p:cNvPr id="41" name="Group 107"/>
                  <p:cNvGrpSpPr/>
                  <p:nvPr/>
                </p:nvGrpSpPr>
                <p:grpSpPr bwMode="auto">
                  <a:xfrm>
                    <a:off x="1532" y="1525"/>
                    <a:ext cx="681" cy="318"/>
                    <a:chOff x="1532" y="1298"/>
                    <a:chExt cx="681" cy="318"/>
                  </a:xfrm>
                </p:grpSpPr>
                <p:sp>
                  <p:nvSpPr>
                    <p:cNvPr id="43" name="Rectangle 10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532" y="1298"/>
                      <a:ext cx="681" cy="318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9525" algn="ctr">
                      <a:solidFill>
                        <a:srgbClr val="000000"/>
                      </a:solidFill>
                      <a:miter lim="800000"/>
                    </a:ln>
                    <a:effectLst/>
                  </p:spPr>
                  <p:txBody>
                    <a:bodyPr wrap="none" anchor="ctr"/>
                    <a:lstStyle/>
                    <a:p>
                      <a:pPr marL="0" marR="0" lvl="0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1" lang="zh-CN" altLang="en-US" sz="3000" b="1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6600CC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p:txBody>
                </p:sp>
                <p:sp>
                  <p:nvSpPr>
                    <p:cNvPr id="44" name="Line 10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875" y="1298"/>
                      <a:ext cx="0" cy="318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</a:ln>
                    <a:effectLst/>
                  </p:spPr>
                  <p:txBody>
                    <a:bodyPr/>
                    <a:lstStyle/>
                    <a:p>
                      <a:pPr marL="0" marR="0" lvl="0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1" lang="zh-CN" altLang="en-US" sz="3000" b="1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6600CC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p:txBody>
                </p:sp>
              </p:grpSp>
              <p:sp>
                <p:nvSpPr>
                  <p:cNvPr id="42" name="Text Box 11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895" y="1525"/>
                    <a:ext cx="272" cy="288"/>
                  </a:xfrm>
                  <a:prstGeom prst="rect">
                    <a:avLst/>
                  </a:prstGeom>
                  <a:noFill/>
                  <a:ln w="9525" algn="ctr">
                    <a:noFill/>
                    <a:miter lim="800000"/>
                  </a:ln>
                  <a:effectLst/>
                </p:spPr>
                <p:txBody>
                  <a:bodyPr>
                    <a:spAutoFit/>
                  </a:bodyPr>
                  <a:lstStyle/>
                  <a:p>
                    <a:pPr marL="342900" marR="0" lvl="0" indent="-342900" algn="ctr" defTabSz="914400" eaLnBrk="1" fontAlgn="base" latinLnBrk="0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 typeface="Wingdings" panose="05000000000000000000" pitchFamily="2" charset="2"/>
                      <a:buNone/>
                      <a:defRPr/>
                    </a:pPr>
                    <a:endParaRPr kumimoji="1" lang="zh-CN" altLang="en-US" sz="20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6600CC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楷体_GB2312" pitchFamily="49" charset="-122"/>
                    </a:endParaRPr>
                  </a:p>
                </p:txBody>
              </p:sp>
            </p:grpSp>
            <p:sp>
              <p:nvSpPr>
                <p:cNvPr id="29" name="Text Box 111"/>
                <p:cNvSpPr txBox="1">
                  <a:spLocks noChangeArrowheads="1"/>
                </p:cNvSpPr>
                <p:nvPr/>
              </p:nvSpPr>
              <p:spPr bwMode="auto">
                <a:xfrm>
                  <a:off x="1804" y="2886"/>
                  <a:ext cx="376" cy="252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marL="342900" marR="0" lvl="0" indent="-342900" algn="ctr" defTabSz="91440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 typeface="Wingdings" panose="05000000000000000000" pitchFamily="2" charset="2"/>
                    <a:buNone/>
                    <a:defRPr/>
                  </a:pPr>
                  <a:r>
                    <a:rPr kumimoji="1" lang="en-US" altLang="zh-CN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6600CC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楷体_GB2312" pitchFamily="49" charset="-122"/>
                    </a:rPr>
                    <a:t>37</a:t>
                  </a:r>
                  <a:endParaRPr kumimoji="1" lang="en-US" altLang="zh-CN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6600CC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  <p:sp>
              <p:nvSpPr>
                <p:cNvPr id="30" name="Text Box 112"/>
                <p:cNvSpPr txBox="1">
                  <a:spLocks noChangeArrowheads="1"/>
                </p:cNvSpPr>
                <p:nvPr/>
              </p:nvSpPr>
              <p:spPr bwMode="auto">
                <a:xfrm>
                  <a:off x="2757" y="2886"/>
                  <a:ext cx="363" cy="252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</a:ln>
                <a:effectLst/>
              </p:spPr>
              <p:txBody>
                <a:bodyPr>
                  <a:spAutoFit/>
                </a:bodyPr>
                <a:lstStyle/>
                <a:p>
                  <a:pPr marL="342900" marR="0" lvl="0" indent="-342900" algn="ctr" defTabSz="91440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 typeface="Wingdings" panose="05000000000000000000" pitchFamily="2" charset="2"/>
                    <a:buNone/>
                    <a:defRPr/>
                  </a:pPr>
                  <a:r>
                    <a:rPr kumimoji="1" lang="en-US" altLang="zh-CN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6600CC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楷体_GB2312" pitchFamily="49" charset="-122"/>
                    </a:rPr>
                    <a:t>63</a:t>
                  </a:r>
                  <a:endParaRPr kumimoji="1" lang="en-US" altLang="zh-CN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6600CC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  <p:sp>
              <p:nvSpPr>
                <p:cNvPr id="31" name="Text Box 114"/>
                <p:cNvSpPr txBox="1">
                  <a:spLocks noChangeArrowheads="1"/>
                </p:cNvSpPr>
                <p:nvPr/>
              </p:nvSpPr>
              <p:spPr bwMode="auto">
                <a:xfrm>
                  <a:off x="2122" y="3339"/>
                  <a:ext cx="545" cy="330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</a:ln>
                <a:effectLst/>
              </p:spPr>
              <p:txBody>
                <a:bodyPr>
                  <a:spAutoFit/>
                </a:bodyPr>
                <a:lstStyle/>
                <a:p>
                  <a:pPr marL="342900" marR="0" lvl="0" indent="-342900" algn="ctr" defTabSz="91440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 typeface="Wingdings" panose="05000000000000000000" pitchFamily="2" charset="2"/>
                    <a:buNone/>
                    <a:defRPr/>
                  </a:pPr>
                  <a:r>
                    <a:rPr kumimoji="1" lang="en-US" altLang="zh-CN" sz="2800" b="1" i="0" u="none" strike="noStrike" kern="0" cap="none" spc="0" normalizeH="0" baseline="0" noProof="0" dirty="0" err="1">
                      <a:ln>
                        <a:noFill/>
                      </a:ln>
                      <a:solidFill>
                        <a:srgbClr val="0000FF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楷体_GB2312" pitchFamily="49" charset="-122"/>
                    </a:rPr>
                    <a:t>i</a:t>
                  </a:r>
                  <a:endParaRPr kumimoji="1" lang="en-US" altLang="zh-CN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  <p:sp>
              <p:nvSpPr>
                <p:cNvPr id="32" name="Line 119"/>
                <p:cNvSpPr>
                  <a:spLocks noChangeShapeType="1"/>
                </p:cNvSpPr>
                <p:nvPr/>
              </p:nvSpPr>
              <p:spPr bwMode="auto">
                <a:xfrm>
                  <a:off x="3437" y="3067"/>
                  <a:ext cx="363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tailEnd type="triangle" w="med" len="med"/>
                </a:ln>
                <a:effectLst/>
              </p:spPr>
              <p:txBody>
                <a:bodyPr/>
                <a:lstStyle/>
                <a:p>
                  <a:pPr marL="0" marR="0" lvl="0" indent="0" algn="ctr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3000" b="1" i="0" u="none" strike="noStrike" kern="0" cap="none" spc="0" normalizeH="0" baseline="0" noProof="0">
                    <a:ln>
                      <a:noFill/>
                    </a:ln>
                    <a:solidFill>
                      <a:srgbClr val="6600CC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  <p:sp>
              <p:nvSpPr>
                <p:cNvPr id="33" name="Text Box 163"/>
                <p:cNvSpPr txBox="1">
                  <a:spLocks noChangeArrowheads="1"/>
                </p:cNvSpPr>
                <p:nvPr/>
              </p:nvSpPr>
              <p:spPr bwMode="auto">
                <a:xfrm>
                  <a:off x="2258" y="3838"/>
                  <a:ext cx="462" cy="252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pPr marL="342900" marR="0" lvl="0" indent="-342900" algn="ctr" defTabSz="91440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 typeface="Wingdings" panose="05000000000000000000" pitchFamily="2" charset="2"/>
                    <a:buNone/>
                    <a:defRPr/>
                  </a:pPr>
                  <a:r>
                    <a:rPr kumimoji="1" lang="en-US" altLang="zh-CN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6600CC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楷体_GB2312" pitchFamily="49" charset="-122"/>
                    </a:rPr>
                    <a:t>54</a:t>
                  </a:r>
                  <a:endParaRPr kumimoji="1" lang="en-US" altLang="zh-CN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6600CC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  <p:sp>
              <p:nvSpPr>
                <p:cNvPr id="34" name="Line 164"/>
                <p:cNvSpPr>
                  <a:spLocks noChangeShapeType="1"/>
                </p:cNvSpPr>
                <p:nvPr/>
              </p:nvSpPr>
              <p:spPr bwMode="auto">
                <a:xfrm>
                  <a:off x="262" y="3067"/>
                  <a:ext cx="499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tailEnd type="triangle" w="med" len="med"/>
                </a:ln>
                <a:effectLst/>
              </p:spPr>
              <p:txBody>
                <a:bodyPr/>
                <a:lstStyle/>
                <a:p>
                  <a:pPr marL="0" marR="0" lvl="0" indent="0" algn="ctr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3000" b="1" i="0" u="none" strike="noStrike" kern="0" cap="none" spc="0" normalizeH="0" baseline="0" noProof="0">
                    <a:ln>
                      <a:noFill/>
                    </a:ln>
                    <a:solidFill>
                      <a:srgbClr val="6600CC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  <p:sp>
              <p:nvSpPr>
                <p:cNvPr id="35" name="Line 165"/>
                <p:cNvSpPr>
                  <a:spLocks noChangeShapeType="1"/>
                </p:cNvSpPr>
                <p:nvPr/>
              </p:nvSpPr>
              <p:spPr bwMode="auto">
                <a:xfrm>
                  <a:off x="1442" y="3067"/>
                  <a:ext cx="317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tailEnd type="triangle" w="med" len="med"/>
                </a:ln>
                <a:effectLst/>
              </p:spPr>
              <p:txBody>
                <a:bodyPr/>
                <a:lstStyle/>
                <a:p>
                  <a:pPr marL="0" marR="0" lvl="0" indent="0" algn="ctr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3000" b="1" i="0" u="none" strike="noStrike" kern="0" cap="none" spc="0" normalizeH="0" baseline="0" noProof="0">
                    <a:ln>
                      <a:noFill/>
                    </a:ln>
                    <a:solidFill>
                      <a:srgbClr val="6600CC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  <p:sp>
              <p:nvSpPr>
                <p:cNvPr id="36" name="Text Box 166"/>
                <p:cNvSpPr txBox="1">
                  <a:spLocks noChangeArrowheads="1"/>
                </p:cNvSpPr>
                <p:nvPr/>
              </p:nvSpPr>
              <p:spPr bwMode="auto">
                <a:xfrm>
                  <a:off x="1759" y="2520"/>
                  <a:ext cx="363" cy="330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</a:ln>
                <a:effectLst/>
              </p:spPr>
              <p:txBody>
                <a:bodyPr>
                  <a:spAutoFit/>
                </a:bodyPr>
                <a:lstStyle/>
                <a:p>
                  <a:pPr marL="342900" marR="0" lvl="0" indent="-342900" algn="ctr" defTabSz="91440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 typeface="Wingdings" panose="05000000000000000000" pitchFamily="2" charset="2"/>
                    <a:buNone/>
                    <a:defRPr/>
                  </a:pPr>
                  <a:r>
                    <a:rPr kumimoji="1" lang="en-US" altLang="zh-CN" sz="28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FF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楷体_GB2312" pitchFamily="49" charset="-122"/>
                    </a:rPr>
                    <a:t>j</a:t>
                  </a:r>
                  <a:endParaRPr kumimoji="1" lang="en-US" altLang="zh-CN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  <p:sp>
              <p:nvSpPr>
                <p:cNvPr id="37" name="Line 167"/>
                <p:cNvSpPr>
                  <a:spLocks noChangeShapeType="1"/>
                </p:cNvSpPr>
                <p:nvPr/>
              </p:nvSpPr>
              <p:spPr bwMode="auto">
                <a:xfrm>
                  <a:off x="1941" y="2701"/>
                  <a:ext cx="181" cy="18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tailEnd type="triangle" w="med" len="med"/>
                </a:ln>
                <a:effectLst/>
              </p:spPr>
              <p:txBody>
                <a:bodyPr/>
                <a:lstStyle/>
                <a:p>
                  <a:pPr marL="0" marR="0" lvl="0" indent="0" algn="ctr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3000" b="1" i="0" u="none" strike="noStrike" kern="0" cap="none" spc="0" normalizeH="0" baseline="0" noProof="0">
                    <a:ln>
                      <a:noFill/>
                    </a:ln>
                    <a:solidFill>
                      <a:srgbClr val="6600CC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  <p:cxnSp>
              <p:nvCxnSpPr>
                <p:cNvPr id="38" name="AutoShape 168"/>
                <p:cNvCxnSpPr>
                  <a:cxnSpLocks noChangeShapeType="1"/>
                  <a:endCxn id="33" idx="1"/>
                </p:cNvCxnSpPr>
                <p:nvPr/>
              </p:nvCxnSpPr>
              <p:spPr bwMode="auto">
                <a:xfrm rot="16200000" flipH="1">
                  <a:off x="1741" y="3448"/>
                  <a:ext cx="761" cy="273"/>
                </a:xfrm>
                <a:prstGeom prst="bentConnector2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  <a:tailEnd type="triangle" w="med" len="med"/>
                </a:ln>
                <a:effectLst/>
              </p:spPr>
            </p:cxnSp>
            <p:cxnSp>
              <p:nvCxnSpPr>
                <p:cNvPr id="39" name="AutoShape 169"/>
                <p:cNvCxnSpPr>
                  <a:cxnSpLocks noChangeShapeType="1"/>
                  <a:stCxn id="46" idx="0"/>
                  <a:endCxn id="30" idx="0"/>
                </p:cNvCxnSpPr>
                <p:nvPr/>
              </p:nvCxnSpPr>
              <p:spPr bwMode="auto">
                <a:xfrm rot="5400000" flipH="1" flipV="1">
                  <a:off x="2372" y="3226"/>
                  <a:ext cx="907" cy="227"/>
                </a:xfrm>
                <a:prstGeom prst="bentConnector3">
                  <a:avLst>
                    <a:gd name="adj1" fmla="val 115877"/>
                  </a:avLst>
                </a:prstGeom>
                <a:noFill/>
                <a:ln w="9525">
                  <a:solidFill>
                    <a:srgbClr val="000000"/>
                  </a:solidFill>
                  <a:miter lim="800000"/>
                  <a:tailEnd type="triangle" w="med" len="med"/>
                </a:ln>
                <a:effectLst/>
              </p:spPr>
            </p:cxnSp>
            <p:sp>
              <p:nvSpPr>
                <p:cNvPr id="40" name="Line 170"/>
                <p:cNvSpPr>
                  <a:spLocks noChangeShapeType="1"/>
                </p:cNvSpPr>
                <p:nvPr/>
              </p:nvSpPr>
              <p:spPr bwMode="auto">
                <a:xfrm>
                  <a:off x="2394" y="3657"/>
                  <a:ext cx="46" cy="13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tailEnd type="triangle" w="med" len="med"/>
                </a:ln>
                <a:effectLst/>
              </p:spPr>
              <p:txBody>
                <a:bodyPr/>
                <a:lstStyle/>
                <a:p>
                  <a:pPr marL="0" marR="0" lvl="0" indent="0" algn="ctr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3000" b="1" i="0" u="none" strike="noStrike" kern="0" cap="none" spc="0" normalizeH="0" baseline="0" noProof="0">
                    <a:ln>
                      <a:noFill/>
                    </a:ln>
                    <a:solidFill>
                      <a:srgbClr val="6600CC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</p:grpSp>
        </p:grpSp>
        <p:sp>
          <p:nvSpPr>
            <p:cNvPr id="18" name="Line 167"/>
            <p:cNvSpPr>
              <a:spLocks noChangeShapeType="1"/>
            </p:cNvSpPr>
            <p:nvPr/>
          </p:nvSpPr>
          <p:spPr bwMode="auto">
            <a:xfrm>
              <a:off x="7715272" y="3640141"/>
              <a:ext cx="287338" cy="2889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9" name="Text Box 166"/>
            <p:cNvSpPr txBox="1">
              <a:spLocks noChangeArrowheads="1"/>
            </p:cNvSpPr>
            <p:nvPr/>
          </p:nvSpPr>
          <p:spPr bwMode="auto">
            <a:xfrm>
              <a:off x="7286644" y="3262970"/>
              <a:ext cx="576263" cy="52322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L="342900" marR="0" lvl="0" indent="-34290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r>
                <a:rPr kumimoji="1" lang="en-US" altLang="zh-CN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k</a:t>
              </a:r>
              <a:endPara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6834192" y="3886200"/>
            <a:ext cx="223360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u="sng" dirty="0">
                <a:solidFill>
                  <a:srgbClr val="FF0000"/>
                </a:solidFill>
              </a:rPr>
              <a:t>只是求得一个有序链表，则只能对它进行顺序查找，不能进行随机查找。</a:t>
            </a:r>
            <a:endParaRPr lang="zh-CN" altLang="en-US" sz="2400" b="1" u="sng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00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500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4" dur="500"/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9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6.2.3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表插入排序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34787-B51D-45C0-94AD-BF116E985E31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Group 306"/>
          <p:cNvGraphicFramePr>
            <a:graphicFrameLocks noGrp="1"/>
          </p:cNvGraphicFramePr>
          <p:nvPr/>
        </p:nvGraphicFramePr>
        <p:xfrm>
          <a:off x="1835150" y="1463656"/>
          <a:ext cx="6767513" cy="519113"/>
        </p:xfrm>
        <a:graphic>
          <a:graphicData uri="http://schemas.openxmlformats.org/drawingml/2006/table">
            <a:tbl>
              <a:tblPr/>
              <a:tblGrid>
                <a:gridCol w="752475"/>
                <a:gridCol w="750888"/>
                <a:gridCol w="752475"/>
                <a:gridCol w="752475"/>
                <a:gridCol w="750887"/>
                <a:gridCol w="752475"/>
                <a:gridCol w="752475"/>
                <a:gridCol w="750888"/>
                <a:gridCol w="752475"/>
              </a:tblGrid>
              <a:tr h="5191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2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3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4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5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6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CC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33CC33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8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4" name="Group 301"/>
          <p:cNvGraphicFramePr>
            <a:graphicFrameLocks noGrp="1"/>
          </p:cNvGraphicFramePr>
          <p:nvPr/>
        </p:nvGraphicFramePr>
        <p:xfrm>
          <a:off x="1546225" y="2111356"/>
          <a:ext cx="7273925" cy="1038226"/>
        </p:xfrm>
        <a:graphic>
          <a:graphicData uri="http://schemas.openxmlformats.org/drawingml/2006/table">
            <a:tbl>
              <a:tblPr/>
              <a:tblGrid>
                <a:gridCol w="808038"/>
                <a:gridCol w="806450"/>
                <a:gridCol w="809625"/>
                <a:gridCol w="808037"/>
                <a:gridCol w="809625"/>
                <a:gridCol w="808038"/>
                <a:gridCol w="809625"/>
                <a:gridCol w="806450"/>
                <a:gridCol w="808037"/>
              </a:tblGrid>
              <a:tr h="5191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49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38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65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97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76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13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27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52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91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CC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33CC33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5" name="Text Box 195"/>
          <p:cNvSpPr txBox="1">
            <a:spLocks noChangeArrowheads="1"/>
          </p:cNvSpPr>
          <p:nvPr/>
        </p:nvSpPr>
        <p:spPr bwMode="auto">
          <a:xfrm>
            <a:off x="323850" y="1750993"/>
            <a:ext cx="935038" cy="11160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=1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p=6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q=7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6" name="Text Box 308"/>
          <p:cNvSpPr txBox="1">
            <a:spLocks noChangeArrowheads="1"/>
          </p:cNvSpPr>
          <p:nvPr/>
        </p:nvSpPr>
        <p:spPr bwMode="auto">
          <a:xfrm>
            <a:off x="468313" y="887393"/>
            <a:ext cx="5832475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表插入排序的示例演示</a:t>
            </a:r>
            <a:endParaRPr kumimoji="1" lang="zh-CN" altLang="en-US" sz="2800" b="1" dirty="0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371600" y="4383274"/>
            <a:ext cx="5735866" cy="1865126"/>
          </a:xfrm>
          <a:prstGeom prst="rect">
            <a:avLst/>
          </a:prstGeom>
          <a:noFill/>
          <a:ln>
            <a:solidFill>
              <a:srgbClr val="003300"/>
            </a:solidFill>
          </a:ln>
        </p:spPr>
        <p:txBody>
          <a:bodyPr wrap="none" rtlCol="0">
            <a:spAutoFit/>
          </a:bodyPr>
          <a:lstStyle/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p:</a:t>
            </a:r>
            <a:r>
              <a:rPr kumimoji="1" lang="zh-CN" altLang="en-US" sz="32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指示第</a:t>
            </a:r>
            <a:r>
              <a:rPr kumimoji="1" lang="en-US" altLang="zh-CN" sz="3200" b="1" dirty="0" err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1" lang="zh-CN" altLang="en-US" sz="32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个记录的</a:t>
            </a:r>
            <a:r>
              <a:rPr kumimoji="1"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当前</a:t>
            </a:r>
            <a:r>
              <a:rPr kumimoji="1" lang="zh-CN" altLang="en-US" sz="32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位置</a:t>
            </a:r>
            <a:endParaRPr kumimoji="1" lang="en-US" altLang="zh-CN" sz="3200" b="1" dirty="0">
              <a:solidFill>
                <a:srgbClr val="0033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dirty="0" err="1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1" lang="en-US" altLang="zh-CN" sz="32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 :</a:t>
            </a:r>
            <a:r>
              <a:rPr kumimoji="1" lang="zh-CN" altLang="en-US" sz="32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指示第</a:t>
            </a:r>
            <a:r>
              <a:rPr kumimoji="1" lang="en-US" altLang="zh-CN" sz="3200" b="1" dirty="0" err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1" lang="zh-CN" altLang="en-US" sz="32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个记录</a:t>
            </a:r>
            <a:r>
              <a:rPr kumimoji="1"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应在</a:t>
            </a:r>
            <a:r>
              <a:rPr kumimoji="1" lang="zh-CN" altLang="en-US" sz="32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的位置</a:t>
            </a:r>
            <a:endParaRPr kumimoji="1" lang="en-US" altLang="zh-CN" sz="3200" b="1" dirty="0">
              <a:solidFill>
                <a:srgbClr val="0033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q :</a:t>
            </a:r>
            <a:r>
              <a:rPr kumimoji="1" lang="zh-CN" altLang="en-US" sz="32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指示第</a:t>
            </a:r>
            <a:r>
              <a:rPr kumimoji="1"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i+1</a:t>
            </a:r>
            <a:r>
              <a:rPr kumimoji="1" lang="zh-CN" altLang="en-US" sz="32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个记录的</a:t>
            </a:r>
            <a:r>
              <a:rPr kumimoji="1"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当前</a:t>
            </a:r>
            <a:r>
              <a:rPr kumimoji="1" lang="zh-CN" altLang="en-US" sz="32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位置</a:t>
            </a:r>
            <a:endParaRPr kumimoji="1" lang="zh-CN" altLang="en-US" sz="3000" b="1" dirty="0">
              <a:solidFill>
                <a:srgbClr val="66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cxnSp>
        <p:nvCxnSpPr>
          <p:cNvPr id="18" name="直接箭头连接符 17"/>
          <p:cNvCxnSpPr/>
          <p:nvPr/>
        </p:nvCxnSpPr>
        <p:spPr bwMode="auto">
          <a:xfrm rot="5400000" flipH="1" flipV="1">
            <a:off x="2107389" y="3588523"/>
            <a:ext cx="642942" cy="1588"/>
          </a:xfrm>
          <a:prstGeom prst="straightConnector1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9" name="Text Box 195"/>
          <p:cNvSpPr txBox="1">
            <a:spLocks noChangeArrowheads="1"/>
          </p:cNvSpPr>
          <p:nvPr/>
        </p:nvSpPr>
        <p:spPr bwMode="auto">
          <a:xfrm>
            <a:off x="2500298" y="3401513"/>
            <a:ext cx="523850" cy="43704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cxnSp>
        <p:nvCxnSpPr>
          <p:cNvPr id="20" name="直接箭头连接符 19"/>
          <p:cNvCxnSpPr/>
          <p:nvPr/>
        </p:nvCxnSpPr>
        <p:spPr bwMode="auto">
          <a:xfrm rot="5400000" flipH="1" flipV="1">
            <a:off x="6155571" y="3444853"/>
            <a:ext cx="642942" cy="1588"/>
          </a:xfrm>
          <a:prstGeom prst="straightConnector1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1" name="Text Box 195"/>
          <p:cNvSpPr txBox="1">
            <a:spLocks noChangeArrowheads="1"/>
          </p:cNvSpPr>
          <p:nvPr/>
        </p:nvSpPr>
        <p:spPr bwMode="auto">
          <a:xfrm>
            <a:off x="6548480" y="3257843"/>
            <a:ext cx="523850" cy="43704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cxnSp>
        <p:nvCxnSpPr>
          <p:cNvPr id="22" name="直接箭头连接符 21"/>
          <p:cNvCxnSpPr/>
          <p:nvPr/>
        </p:nvCxnSpPr>
        <p:spPr bwMode="auto">
          <a:xfrm rot="5400000" flipH="1" flipV="1">
            <a:off x="6941389" y="3444853"/>
            <a:ext cx="642942" cy="1588"/>
          </a:xfrm>
          <a:prstGeom prst="straightConnector1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3" name="Text Box 195"/>
          <p:cNvSpPr txBox="1">
            <a:spLocks noChangeArrowheads="1"/>
          </p:cNvSpPr>
          <p:nvPr/>
        </p:nvSpPr>
        <p:spPr bwMode="auto">
          <a:xfrm>
            <a:off x="7334298" y="3257843"/>
            <a:ext cx="523850" cy="43704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193806" y="4417874"/>
            <a:ext cx="1873994" cy="17543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u="sng" dirty="0"/>
              <a:t>核心：先交换，调整到</a:t>
            </a:r>
            <a:r>
              <a:rPr lang="en-US" altLang="zh-CN" u="sng" dirty="0" err="1"/>
              <a:t>i</a:t>
            </a:r>
            <a:r>
              <a:rPr lang="zh-CN" altLang="en-US" u="sng" dirty="0"/>
              <a:t>位置上的指针域保留被调整后的位置信息；</a:t>
            </a:r>
            <a:endParaRPr lang="zh-CN" altLang="en-US" u="sng" dirty="0"/>
          </a:p>
          <a:p>
            <a:r>
              <a:rPr lang="zh-CN" altLang="en-US" u="sng" dirty="0"/>
              <a:t>更新</a:t>
            </a:r>
            <a:r>
              <a:rPr lang="en-US" altLang="zh-CN" u="sng" dirty="0"/>
              <a:t>p=q</a:t>
            </a:r>
            <a:r>
              <a:rPr lang="zh-CN" altLang="en-US" u="sng" dirty="0"/>
              <a:t>；这一轮结束；</a:t>
            </a:r>
            <a:endParaRPr lang="zh-CN" altLang="en-US" u="sng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6.2.3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表插入排序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6D4AC-4B64-407D-BE99-73C1F19DBCA1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Group 306"/>
          <p:cNvGraphicFramePr>
            <a:graphicFrameLocks noGrp="1"/>
          </p:cNvGraphicFramePr>
          <p:nvPr/>
        </p:nvGraphicFramePr>
        <p:xfrm>
          <a:off x="1835150" y="1277938"/>
          <a:ext cx="6767513" cy="519113"/>
        </p:xfrm>
        <a:graphic>
          <a:graphicData uri="http://schemas.openxmlformats.org/drawingml/2006/table">
            <a:tbl>
              <a:tblPr/>
              <a:tblGrid>
                <a:gridCol w="752475"/>
                <a:gridCol w="750888"/>
                <a:gridCol w="752475"/>
                <a:gridCol w="752475"/>
                <a:gridCol w="750887"/>
                <a:gridCol w="752475"/>
                <a:gridCol w="752475"/>
                <a:gridCol w="750888"/>
                <a:gridCol w="752475"/>
              </a:tblGrid>
              <a:tr h="5191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2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3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4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5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6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CC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33CC33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8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4" name="Group 301"/>
          <p:cNvGraphicFramePr>
            <a:graphicFrameLocks noGrp="1"/>
          </p:cNvGraphicFramePr>
          <p:nvPr/>
        </p:nvGraphicFramePr>
        <p:xfrm>
          <a:off x="1546225" y="1925638"/>
          <a:ext cx="7273925" cy="1038226"/>
        </p:xfrm>
        <a:graphic>
          <a:graphicData uri="http://schemas.openxmlformats.org/drawingml/2006/table">
            <a:tbl>
              <a:tblPr/>
              <a:tblGrid>
                <a:gridCol w="808038"/>
                <a:gridCol w="806450"/>
                <a:gridCol w="809625"/>
                <a:gridCol w="808037"/>
                <a:gridCol w="809625"/>
                <a:gridCol w="808038"/>
                <a:gridCol w="809625"/>
                <a:gridCol w="806450"/>
                <a:gridCol w="808037"/>
              </a:tblGrid>
              <a:tr h="5191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49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38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65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97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76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13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27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52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91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CC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33CC33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5" name="Text Box 195"/>
          <p:cNvSpPr txBox="1">
            <a:spLocks noChangeArrowheads="1"/>
          </p:cNvSpPr>
          <p:nvPr/>
        </p:nvSpPr>
        <p:spPr bwMode="auto">
          <a:xfrm>
            <a:off x="323850" y="1565275"/>
            <a:ext cx="935038" cy="11160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=1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p=6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q=7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6" name="Text Box 308"/>
          <p:cNvSpPr txBox="1">
            <a:spLocks noChangeArrowheads="1"/>
          </p:cNvSpPr>
          <p:nvPr/>
        </p:nvSpPr>
        <p:spPr bwMode="auto">
          <a:xfrm>
            <a:off x="468313" y="838200"/>
            <a:ext cx="5832475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表插入排序的示例演示</a:t>
            </a:r>
            <a:endParaRPr kumimoji="1" lang="zh-CN" altLang="en-US" sz="2800" b="1" dirty="0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00562" y="5486400"/>
            <a:ext cx="4352474" cy="1421928"/>
          </a:xfrm>
          <a:prstGeom prst="rect">
            <a:avLst/>
          </a:prstGeom>
          <a:noFill/>
          <a:ln>
            <a:solidFill>
              <a:srgbClr val="003300"/>
            </a:solidFill>
          </a:ln>
        </p:spPr>
        <p:txBody>
          <a:bodyPr wrap="none" rtlCol="0">
            <a:spAutoFit/>
          </a:bodyPr>
          <a:lstStyle/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p:</a:t>
            </a:r>
            <a:r>
              <a:rPr kumimoji="1" lang="zh-CN" altLang="en-US" sz="24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指示第</a:t>
            </a:r>
            <a:r>
              <a:rPr kumimoji="1" lang="en-US" altLang="zh-CN" sz="2400" b="1" dirty="0" err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1" lang="zh-CN" altLang="en-US" sz="24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个记录的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当前</a:t>
            </a:r>
            <a:r>
              <a:rPr kumimoji="1" lang="zh-CN" altLang="en-US" sz="24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位置</a:t>
            </a:r>
            <a:endParaRPr kumimoji="1" lang="en-US" altLang="zh-CN" sz="2400" b="1" dirty="0">
              <a:solidFill>
                <a:srgbClr val="0033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 err="1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1" lang="en-US" altLang="zh-CN" sz="24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 :</a:t>
            </a:r>
            <a:r>
              <a:rPr kumimoji="1" lang="zh-CN" altLang="en-US" sz="24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指示第</a:t>
            </a:r>
            <a:r>
              <a:rPr kumimoji="1" lang="en-US" altLang="zh-CN" sz="2400" b="1" dirty="0" err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1" lang="zh-CN" altLang="en-US" sz="24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个记录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应在</a:t>
            </a:r>
            <a:r>
              <a:rPr kumimoji="1" lang="zh-CN" altLang="en-US" sz="24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的位置</a:t>
            </a:r>
            <a:endParaRPr kumimoji="1" lang="en-US" altLang="zh-CN" sz="2400" b="1" dirty="0">
              <a:solidFill>
                <a:srgbClr val="0033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q :</a:t>
            </a:r>
            <a:r>
              <a:rPr kumimoji="1" lang="zh-CN" altLang="en-US" sz="24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指示第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i+1</a:t>
            </a:r>
            <a:r>
              <a:rPr kumimoji="1" lang="zh-CN" altLang="en-US" sz="24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个记录的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当前</a:t>
            </a:r>
            <a:r>
              <a:rPr kumimoji="1" lang="zh-CN" altLang="en-US" sz="24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位置</a:t>
            </a:r>
            <a:endParaRPr kumimoji="1" lang="zh-CN" altLang="en-US" sz="2400" b="1" dirty="0">
              <a:solidFill>
                <a:srgbClr val="66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cxnSp>
        <p:nvCxnSpPr>
          <p:cNvPr id="18" name="直接箭头连接符 17"/>
          <p:cNvCxnSpPr/>
          <p:nvPr/>
        </p:nvCxnSpPr>
        <p:spPr bwMode="auto">
          <a:xfrm rot="5400000" flipH="1" flipV="1">
            <a:off x="2107389" y="3402805"/>
            <a:ext cx="642942" cy="1588"/>
          </a:xfrm>
          <a:prstGeom prst="straightConnector1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9" name="Text Box 195"/>
          <p:cNvSpPr txBox="1">
            <a:spLocks noChangeArrowheads="1"/>
          </p:cNvSpPr>
          <p:nvPr/>
        </p:nvSpPr>
        <p:spPr bwMode="auto">
          <a:xfrm>
            <a:off x="2500298" y="3215795"/>
            <a:ext cx="523850" cy="43704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6476248" y="2938458"/>
            <a:ext cx="596082" cy="642942"/>
            <a:chOff x="6476248" y="2786058"/>
            <a:chExt cx="596082" cy="642942"/>
          </a:xfrm>
        </p:grpSpPr>
        <p:cxnSp>
          <p:nvCxnSpPr>
            <p:cNvPr id="21" name="直接箭头连接符 20"/>
            <p:cNvCxnSpPr/>
            <p:nvPr/>
          </p:nvCxnSpPr>
          <p:spPr bwMode="auto">
            <a:xfrm rot="5400000" flipH="1" flipV="1">
              <a:off x="6155571" y="3106735"/>
              <a:ext cx="642942" cy="1588"/>
            </a:xfrm>
            <a:prstGeom prst="straightConnector1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22" name="Text Box 195"/>
            <p:cNvSpPr txBox="1">
              <a:spLocks noChangeArrowheads="1"/>
            </p:cNvSpPr>
            <p:nvPr/>
          </p:nvSpPr>
          <p:spPr bwMode="auto">
            <a:xfrm>
              <a:off x="6548480" y="2919725"/>
              <a:ext cx="523850" cy="437043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p</a:t>
              </a:r>
              <a:endPara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7262066" y="2938458"/>
            <a:ext cx="596082" cy="642942"/>
            <a:chOff x="7262066" y="2786058"/>
            <a:chExt cx="596082" cy="642942"/>
          </a:xfrm>
        </p:grpSpPr>
        <p:cxnSp>
          <p:nvCxnSpPr>
            <p:cNvPr id="24" name="直接箭头连接符 23"/>
            <p:cNvCxnSpPr/>
            <p:nvPr/>
          </p:nvCxnSpPr>
          <p:spPr bwMode="auto">
            <a:xfrm rot="5400000" flipH="1" flipV="1">
              <a:off x="6941389" y="3106735"/>
              <a:ext cx="642942" cy="1588"/>
            </a:xfrm>
            <a:prstGeom prst="straightConnector1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25" name="Text Box 195"/>
            <p:cNvSpPr txBox="1">
              <a:spLocks noChangeArrowheads="1"/>
            </p:cNvSpPr>
            <p:nvPr/>
          </p:nvSpPr>
          <p:spPr bwMode="auto">
            <a:xfrm>
              <a:off x="7334298" y="2919725"/>
              <a:ext cx="523850" cy="437043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q</a:t>
              </a:r>
              <a:endPara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aphicFrame>
        <p:nvGraphicFramePr>
          <p:cNvPr id="26" name="Group 302"/>
          <p:cNvGraphicFramePr>
            <a:graphicFrameLocks noGrp="1"/>
          </p:cNvGraphicFramePr>
          <p:nvPr/>
        </p:nvGraphicFramePr>
        <p:xfrm>
          <a:off x="1547813" y="3829058"/>
          <a:ext cx="7272337" cy="1038226"/>
        </p:xfrm>
        <a:graphic>
          <a:graphicData uri="http://schemas.openxmlformats.org/drawingml/2006/table">
            <a:tbl>
              <a:tblPr/>
              <a:tblGrid>
                <a:gridCol w="808037"/>
                <a:gridCol w="808038"/>
                <a:gridCol w="808037"/>
                <a:gridCol w="808038"/>
                <a:gridCol w="808037"/>
                <a:gridCol w="808038"/>
                <a:gridCol w="808037"/>
                <a:gridCol w="808038"/>
                <a:gridCol w="808037"/>
              </a:tblGrid>
              <a:tr h="5191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13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38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65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97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76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49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27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52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91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(6)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7" name="Text Box 294"/>
          <p:cNvSpPr txBox="1">
            <a:spLocks noChangeArrowheads="1"/>
          </p:cNvSpPr>
          <p:nvPr/>
        </p:nvSpPr>
        <p:spPr bwMode="auto">
          <a:xfrm>
            <a:off x="252413" y="3590933"/>
            <a:ext cx="935037" cy="11160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=2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p=7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q=2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3261538" y="4938722"/>
            <a:ext cx="596082" cy="642942"/>
            <a:chOff x="7262066" y="4786322"/>
            <a:chExt cx="596082" cy="642942"/>
          </a:xfrm>
        </p:grpSpPr>
        <p:cxnSp>
          <p:nvCxnSpPr>
            <p:cNvPr id="29" name="直接箭头连接符 28"/>
            <p:cNvCxnSpPr/>
            <p:nvPr/>
          </p:nvCxnSpPr>
          <p:spPr bwMode="auto">
            <a:xfrm rot="5400000" flipH="1" flipV="1">
              <a:off x="6941389" y="5106999"/>
              <a:ext cx="642942" cy="1588"/>
            </a:xfrm>
            <a:prstGeom prst="straightConnector1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30" name="Text Box 195"/>
            <p:cNvSpPr txBox="1">
              <a:spLocks noChangeArrowheads="1"/>
            </p:cNvSpPr>
            <p:nvPr/>
          </p:nvSpPr>
          <p:spPr bwMode="auto">
            <a:xfrm>
              <a:off x="7334298" y="4919989"/>
              <a:ext cx="523850" cy="437043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8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endPara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cxnSp>
        <p:nvCxnSpPr>
          <p:cNvPr id="31" name="直接箭头连接符 30"/>
          <p:cNvCxnSpPr/>
          <p:nvPr/>
        </p:nvCxnSpPr>
        <p:spPr bwMode="auto">
          <a:xfrm rot="10800000" flipV="1">
            <a:off x="3500430" y="2652706"/>
            <a:ext cx="3786214" cy="1143008"/>
          </a:xfrm>
          <a:prstGeom prst="straightConnector1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arrow"/>
          </a:ln>
          <a:effectLst/>
        </p:spPr>
      </p:cxnSp>
      <p:grpSp>
        <p:nvGrpSpPr>
          <p:cNvPr id="32" name="组合 31"/>
          <p:cNvGrpSpPr/>
          <p:nvPr/>
        </p:nvGrpSpPr>
        <p:grpSpPr>
          <a:xfrm>
            <a:off x="2786050" y="1724012"/>
            <a:ext cx="3857652" cy="553998"/>
            <a:chOff x="2786050" y="1571612"/>
            <a:chExt cx="3857652" cy="553998"/>
          </a:xfrm>
        </p:grpSpPr>
        <p:sp>
          <p:nvSpPr>
            <p:cNvPr id="33" name="TextBox 32"/>
            <p:cNvSpPr txBox="1"/>
            <p:nvPr/>
          </p:nvSpPr>
          <p:spPr>
            <a:xfrm>
              <a:off x="4286248" y="1571612"/>
              <a:ext cx="957313" cy="553998"/>
            </a:xfrm>
            <a:prstGeom prst="rect">
              <a:avLst/>
            </a:prstGeom>
            <a:solidFill>
              <a:srgbClr val="DBF5F9">
                <a:lumMod val="90000"/>
              </a:srgbClr>
            </a:solidFill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30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交换</a:t>
              </a:r>
              <a:endParaRPr kumimoji="1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cxnSp>
          <p:nvCxnSpPr>
            <p:cNvPr id="34" name="直接箭头连接符 33"/>
            <p:cNvCxnSpPr/>
            <p:nvPr/>
          </p:nvCxnSpPr>
          <p:spPr bwMode="auto">
            <a:xfrm>
              <a:off x="2786050" y="1571612"/>
              <a:ext cx="3857652" cy="1588"/>
            </a:xfrm>
            <a:prstGeom prst="straightConnector1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round/>
              <a:headEnd type="arrow"/>
              <a:tailEnd type="arrow"/>
            </a:ln>
            <a:effectLst/>
          </p:spPr>
        </p:cxnSp>
      </p:grpSp>
      <p:grpSp>
        <p:nvGrpSpPr>
          <p:cNvPr id="35" name="组合 34"/>
          <p:cNvGrpSpPr/>
          <p:nvPr/>
        </p:nvGrpSpPr>
        <p:grpSpPr>
          <a:xfrm>
            <a:off x="1006676" y="4867284"/>
            <a:ext cx="1636498" cy="902435"/>
            <a:chOff x="1006676" y="4714884"/>
            <a:chExt cx="1636498" cy="902435"/>
          </a:xfrm>
        </p:grpSpPr>
        <p:cxnSp>
          <p:nvCxnSpPr>
            <p:cNvPr id="36" name="直接箭头连接符 35"/>
            <p:cNvCxnSpPr/>
            <p:nvPr/>
          </p:nvCxnSpPr>
          <p:spPr bwMode="auto">
            <a:xfrm rot="5400000" flipH="1" flipV="1">
              <a:off x="2393141" y="4822041"/>
              <a:ext cx="357190" cy="142876"/>
            </a:xfrm>
            <a:prstGeom prst="straightConnector1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37" name="TextBox 36"/>
            <p:cNvSpPr txBox="1"/>
            <p:nvPr/>
          </p:nvSpPr>
          <p:spPr>
            <a:xfrm>
              <a:off x="1006676" y="4786322"/>
              <a:ext cx="1422184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保留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49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的</a:t>
              </a:r>
              <a:endPara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新的位置</a:t>
              </a:r>
              <a:endPara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aphicFrame>
        <p:nvGraphicFramePr>
          <p:cNvPr id="38" name="Group 306"/>
          <p:cNvGraphicFramePr>
            <a:graphicFrameLocks noGrp="1"/>
          </p:cNvGraphicFramePr>
          <p:nvPr/>
        </p:nvGraphicFramePr>
        <p:xfrm>
          <a:off x="1733577" y="3438524"/>
          <a:ext cx="6767513" cy="519113"/>
        </p:xfrm>
        <a:graphic>
          <a:graphicData uri="http://schemas.openxmlformats.org/drawingml/2006/table">
            <a:tbl>
              <a:tblPr/>
              <a:tblGrid>
                <a:gridCol w="752475"/>
                <a:gridCol w="750888"/>
                <a:gridCol w="752475"/>
                <a:gridCol w="752475"/>
                <a:gridCol w="750887"/>
                <a:gridCol w="752475"/>
                <a:gridCol w="752475"/>
                <a:gridCol w="750888"/>
                <a:gridCol w="752475"/>
              </a:tblGrid>
              <a:tr h="5191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2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3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4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5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6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CC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33CC33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8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39" name="组合 38"/>
          <p:cNvGrpSpPr/>
          <p:nvPr/>
        </p:nvGrpSpPr>
        <p:grpSpPr>
          <a:xfrm>
            <a:off x="3657600" y="4919658"/>
            <a:ext cx="596082" cy="642942"/>
            <a:chOff x="7262066" y="2786058"/>
            <a:chExt cx="596082" cy="642942"/>
          </a:xfrm>
        </p:grpSpPr>
        <p:cxnSp>
          <p:nvCxnSpPr>
            <p:cNvPr id="40" name="直接箭头连接符 39"/>
            <p:cNvCxnSpPr/>
            <p:nvPr/>
          </p:nvCxnSpPr>
          <p:spPr bwMode="auto">
            <a:xfrm rot="5400000" flipH="1" flipV="1">
              <a:off x="6941389" y="3106735"/>
              <a:ext cx="642942" cy="1588"/>
            </a:xfrm>
            <a:prstGeom prst="straightConnector1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41" name="Text Box 195"/>
            <p:cNvSpPr txBox="1">
              <a:spLocks noChangeArrowheads="1"/>
            </p:cNvSpPr>
            <p:nvPr/>
          </p:nvSpPr>
          <p:spPr bwMode="auto">
            <a:xfrm>
              <a:off x="7334298" y="2919725"/>
              <a:ext cx="523850" cy="437043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q</a:t>
              </a:r>
              <a:endPara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7262066" y="4867284"/>
            <a:ext cx="596082" cy="642942"/>
            <a:chOff x="6476248" y="2786058"/>
            <a:chExt cx="596082" cy="642942"/>
          </a:xfrm>
        </p:grpSpPr>
        <p:cxnSp>
          <p:nvCxnSpPr>
            <p:cNvPr id="43" name="直接箭头连接符 42"/>
            <p:cNvCxnSpPr/>
            <p:nvPr/>
          </p:nvCxnSpPr>
          <p:spPr bwMode="auto">
            <a:xfrm rot="5400000" flipH="1" flipV="1">
              <a:off x="6155571" y="3106735"/>
              <a:ext cx="642942" cy="1588"/>
            </a:xfrm>
            <a:prstGeom prst="straightConnector1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44" name="Text Box 195"/>
            <p:cNvSpPr txBox="1">
              <a:spLocks noChangeArrowheads="1"/>
            </p:cNvSpPr>
            <p:nvPr/>
          </p:nvSpPr>
          <p:spPr bwMode="auto">
            <a:xfrm>
              <a:off x="6548480" y="2919725"/>
              <a:ext cx="523850" cy="437043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p</a:t>
              </a:r>
              <a:endPara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3500430" y="4027534"/>
            <a:ext cx="3857652" cy="553998"/>
            <a:chOff x="2786050" y="1571612"/>
            <a:chExt cx="3857652" cy="553998"/>
          </a:xfrm>
        </p:grpSpPr>
        <p:sp>
          <p:nvSpPr>
            <p:cNvPr id="46" name="TextBox 45"/>
            <p:cNvSpPr txBox="1"/>
            <p:nvPr/>
          </p:nvSpPr>
          <p:spPr>
            <a:xfrm>
              <a:off x="4286248" y="1571612"/>
              <a:ext cx="957313" cy="553998"/>
            </a:xfrm>
            <a:prstGeom prst="rect">
              <a:avLst/>
            </a:prstGeom>
            <a:solidFill>
              <a:srgbClr val="DBF5F9">
                <a:lumMod val="90000"/>
              </a:srgbClr>
            </a:solidFill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30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交换</a:t>
              </a:r>
              <a:endParaRPr kumimoji="1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cxnSp>
          <p:nvCxnSpPr>
            <p:cNvPr id="47" name="直接箭头连接符 46"/>
            <p:cNvCxnSpPr/>
            <p:nvPr/>
          </p:nvCxnSpPr>
          <p:spPr bwMode="auto">
            <a:xfrm>
              <a:off x="2786050" y="1571612"/>
              <a:ext cx="3857652" cy="1588"/>
            </a:xfrm>
            <a:prstGeom prst="straightConnector1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round/>
              <a:headEnd type="arrow"/>
              <a:tailEnd type="arrow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" name="Group 303"/>
          <p:cNvGraphicFramePr>
            <a:graphicFrameLocks noGrp="1"/>
          </p:cNvGraphicFramePr>
          <p:nvPr/>
        </p:nvGraphicFramePr>
        <p:xfrm>
          <a:off x="1546225" y="3624720"/>
          <a:ext cx="7319963" cy="1038226"/>
        </p:xfrm>
        <a:graphic>
          <a:graphicData uri="http://schemas.openxmlformats.org/drawingml/2006/table">
            <a:tbl>
              <a:tblPr/>
              <a:tblGrid>
                <a:gridCol w="812800"/>
                <a:gridCol w="812800"/>
                <a:gridCol w="812800"/>
                <a:gridCol w="814388"/>
                <a:gridCol w="814387"/>
                <a:gridCol w="814388"/>
                <a:gridCol w="812800"/>
                <a:gridCol w="812800"/>
                <a:gridCol w="812800"/>
              </a:tblGrid>
              <a:tr h="5191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13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27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65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97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76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49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38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52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91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(6)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(7)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6.2.3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表插入排序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284AB-995E-491D-B861-4F7F4736F9D3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000364" y="5436072"/>
            <a:ext cx="4352474" cy="1421928"/>
          </a:xfrm>
          <a:prstGeom prst="rect">
            <a:avLst/>
          </a:prstGeom>
          <a:noFill/>
          <a:ln>
            <a:solidFill>
              <a:srgbClr val="003300"/>
            </a:solidFill>
          </a:ln>
        </p:spPr>
        <p:txBody>
          <a:bodyPr wrap="none" rtlCol="0">
            <a:spAutoFit/>
          </a:bodyPr>
          <a:lstStyle/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p:</a:t>
            </a:r>
            <a:r>
              <a:rPr kumimoji="1" lang="zh-CN" altLang="en-US" sz="24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指示第</a:t>
            </a:r>
            <a:r>
              <a:rPr kumimoji="1" lang="en-US" altLang="zh-CN" sz="2400" b="1" dirty="0" err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1" lang="zh-CN" altLang="en-US" sz="24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个记录的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当前</a:t>
            </a:r>
            <a:r>
              <a:rPr kumimoji="1" lang="zh-CN" altLang="en-US" sz="24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位置</a:t>
            </a:r>
            <a:endParaRPr kumimoji="1" lang="en-US" altLang="zh-CN" sz="2400" b="1" dirty="0">
              <a:solidFill>
                <a:srgbClr val="0033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 err="1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1" lang="en-US" altLang="zh-CN" sz="24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 :</a:t>
            </a:r>
            <a:r>
              <a:rPr kumimoji="1" lang="zh-CN" altLang="en-US" sz="24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指示第</a:t>
            </a:r>
            <a:r>
              <a:rPr kumimoji="1" lang="en-US" altLang="zh-CN" sz="2400" b="1" dirty="0" err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1" lang="zh-CN" altLang="en-US" sz="24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个记录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应在</a:t>
            </a:r>
            <a:r>
              <a:rPr kumimoji="1" lang="zh-CN" altLang="en-US" sz="24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的位置</a:t>
            </a:r>
            <a:endParaRPr kumimoji="1" lang="en-US" altLang="zh-CN" sz="2400" b="1" dirty="0">
              <a:solidFill>
                <a:srgbClr val="0033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q :</a:t>
            </a:r>
            <a:r>
              <a:rPr kumimoji="1" lang="zh-CN" altLang="en-US" sz="24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指示第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i+1</a:t>
            </a:r>
            <a:r>
              <a:rPr kumimoji="1" lang="zh-CN" altLang="en-US" sz="24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个记录的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当前</a:t>
            </a:r>
            <a:r>
              <a:rPr kumimoji="1" lang="zh-CN" altLang="en-US" sz="24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位置</a:t>
            </a:r>
            <a:endParaRPr kumimoji="1" lang="zh-CN" altLang="en-US" sz="2400" b="1" dirty="0">
              <a:solidFill>
                <a:srgbClr val="66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5" name="Group 302"/>
          <p:cNvGraphicFramePr>
            <a:graphicFrameLocks noGrp="1"/>
          </p:cNvGraphicFramePr>
          <p:nvPr/>
        </p:nvGraphicFramePr>
        <p:xfrm>
          <a:off x="1547813" y="1692727"/>
          <a:ext cx="7272337" cy="1038226"/>
        </p:xfrm>
        <a:graphic>
          <a:graphicData uri="http://schemas.openxmlformats.org/drawingml/2006/table">
            <a:tbl>
              <a:tblPr/>
              <a:tblGrid>
                <a:gridCol w="808037"/>
                <a:gridCol w="808038"/>
                <a:gridCol w="808037"/>
                <a:gridCol w="808038"/>
                <a:gridCol w="808037"/>
                <a:gridCol w="808038"/>
                <a:gridCol w="808037"/>
                <a:gridCol w="808038"/>
                <a:gridCol w="808037"/>
              </a:tblGrid>
              <a:tr h="5191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13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38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65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97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76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49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27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52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91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(6)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6" name="Text Box 294"/>
          <p:cNvSpPr txBox="1">
            <a:spLocks noChangeArrowheads="1"/>
          </p:cNvSpPr>
          <p:nvPr/>
        </p:nvSpPr>
        <p:spPr bwMode="auto">
          <a:xfrm>
            <a:off x="252413" y="1454602"/>
            <a:ext cx="935037" cy="11160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=2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p=7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q=2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17" name="组合 25"/>
          <p:cNvGrpSpPr/>
          <p:nvPr/>
        </p:nvGrpSpPr>
        <p:grpSpPr>
          <a:xfrm>
            <a:off x="3261538" y="2802391"/>
            <a:ext cx="596082" cy="642942"/>
            <a:chOff x="7262066" y="4786322"/>
            <a:chExt cx="596082" cy="642942"/>
          </a:xfrm>
        </p:grpSpPr>
        <p:cxnSp>
          <p:nvCxnSpPr>
            <p:cNvPr id="18" name="直接箭头连接符 17"/>
            <p:cNvCxnSpPr/>
            <p:nvPr/>
          </p:nvCxnSpPr>
          <p:spPr bwMode="auto">
            <a:xfrm rot="5400000" flipH="1" flipV="1">
              <a:off x="6941389" y="5106999"/>
              <a:ext cx="642942" cy="1588"/>
            </a:xfrm>
            <a:prstGeom prst="straightConnector1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19" name="Text Box 195"/>
            <p:cNvSpPr txBox="1">
              <a:spLocks noChangeArrowheads="1"/>
            </p:cNvSpPr>
            <p:nvPr/>
          </p:nvSpPr>
          <p:spPr bwMode="auto">
            <a:xfrm>
              <a:off x="7334298" y="4919989"/>
              <a:ext cx="523850" cy="437043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8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endPara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aphicFrame>
        <p:nvGraphicFramePr>
          <p:cNvPr id="20" name="Group 306"/>
          <p:cNvGraphicFramePr>
            <a:graphicFrameLocks noGrp="1"/>
          </p:cNvGraphicFramePr>
          <p:nvPr/>
        </p:nvGraphicFramePr>
        <p:xfrm>
          <a:off x="1733577" y="1233487"/>
          <a:ext cx="6767513" cy="519113"/>
        </p:xfrm>
        <a:graphic>
          <a:graphicData uri="http://schemas.openxmlformats.org/drawingml/2006/table">
            <a:tbl>
              <a:tblPr/>
              <a:tblGrid>
                <a:gridCol w="752475"/>
                <a:gridCol w="750888"/>
                <a:gridCol w="752475"/>
                <a:gridCol w="752475"/>
                <a:gridCol w="750887"/>
                <a:gridCol w="752475"/>
                <a:gridCol w="752475"/>
                <a:gridCol w="750888"/>
                <a:gridCol w="752475"/>
              </a:tblGrid>
              <a:tr h="5191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2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3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4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5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7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8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21" name="组合 44"/>
          <p:cNvGrpSpPr/>
          <p:nvPr/>
        </p:nvGrpSpPr>
        <p:grpSpPr>
          <a:xfrm>
            <a:off x="3747318" y="2786058"/>
            <a:ext cx="596082" cy="642942"/>
            <a:chOff x="7262066" y="2786058"/>
            <a:chExt cx="596082" cy="642942"/>
          </a:xfrm>
        </p:grpSpPr>
        <p:cxnSp>
          <p:nvCxnSpPr>
            <p:cNvPr id="22" name="直接箭头连接符 21"/>
            <p:cNvCxnSpPr/>
            <p:nvPr/>
          </p:nvCxnSpPr>
          <p:spPr bwMode="auto">
            <a:xfrm rot="5400000" flipH="1" flipV="1">
              <a:off x="6941389" y="3106735"/>
              <a:ext cx="642942" cy="1588"/>
            </a:xfrm>
            <a:prstGeom prst="straightConnector1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23" name="Text Box 195"/>
            <p:cNvSpPr txBox="1">
              <a:spLocks noChangeArrowheads="1"/>
            </p:cNvSpPr>
            <p:nvPr/>
          </p:nvSpPr>
          <p:spPr bwMode="auto">
            <a:xfrm>
              <a:off x="7334298" y="2919725"/>
              <a:ext cx="523850" cy="437043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q</a:t>
              </a:r>
              <a:endPara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24" name="组合 48"/>
          <p:cNvGrpSpPr/>
          <p:nvPr/>
        </p:nvGrpSpPr>
        <p:grpSpPr>
          <a:xfrm>
            <a:off x="7262066" y="2730953"/>
            <a:ext cx="596082" cy="642942"/>
            <a:chOff x="6476248" y="2786058"/>
            <a:chExt cx="596082" cy="642942"/>
          </a:xfrm>
        </p:grpSpPr>
        <p:cxnSp>
          <p:nvCxnSpPr>
            <p:cNvPr id="25" name="直接箭头连接符 24"/>
            <p:cNvCxnSpPr/>
            <p:nvPr/>
          </p:nvCxnSpPr>
          <p:spPr bwMode="auto">
            <a:xfrm rot="5400000" flipH="1" flipV="1">
              <a:off x="6155571" y="3106735"/>
              <a:ext cx="642942" cy="1588"/>
            </a:xfrm>
            <a:prstGeom prst="straightConnector1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26" name="Text Box 195"/>
            <p:cNvSpPr txBox="1">
              <a:spLocks noChangeArrowheads="1"/>
            </p:cNvSpPr>
            <p:nvPr/>
          </p:nvSpPr>
          <p:spPr bwMode="auto">
            <a:xfrm>
              <a:off x="6548480" y="2919725"/>
              <a:ext cx="523850" cy="437043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p</a:t>
              </a:r>
              <a:endPara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27" name="组合 51"/>
          <p:cNvGrpSpPr/>
          <p:nvPr/>
        </p:nvGrpSpPr>
        <p:grpSpPr>
          <a:xfrm>
            <a:off x="3500430" y="1891203"/>
            <a:ext cx="3857652" cy="553998"/>
            <a:chOff x="2786050" y="1571612"/>
            <a:chExt cx="3857652" cy="553998"/>
          </a:xfrm>
        </p:grpSpPr>
        <p:sp>
          <p:nvSpPr>
            <p:cNvPr id="28" name="TextBox 27"/>
            <p:cNvSpPr txBox="1"/>
            <p:nvPr/>
          </p:nvSpPr>
          <p:spPr>
            <a:xfrm>
              <a:off x="4286248" y="1571612"/>
              <a:ext cx="957313" cy="553998"/>
            </a:xfrm>
            <a:prstGeom prst="rect">
              <a:avLst/>
            </a:prstGeom>
            <a:solidFill>
              <a:srgbClr val="DBF5F9">
                <a:lumMod val="90000"/>
              </a:srgbClr>
            </a:solidFill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30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交换</a:t>
              </a:r>
              <a:endParaRPr kumimoji="1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cxnSp>
          <p:nvCxnSpPr>
            <p:cNvPr id="29" name="直接箭头连接符 28"/>
            <p:cNvCxnSpPr/>
            <p:nvPr/>
          </p:nvCxnSpPr>
          <p:spPr bwMode="auto">
            <a:xfrm>
              <a:off x="2786050" y="1571612"/>
              <a:ext cx="3857652" cy="1588"/>
            </a:xfrm>
            <a:prstGeom prst="straightConnector1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round/>
              <a:headEnd type="arrow"/>
              <a:tailEnd type="arrow"/>
            </a:ln>
            <a:effectLst/>
          </p:spPr>
        </p:cxnSp>
      </p:grpSp>
      <p:sp>
        <p:nvSpPr>
          <p:cNvPr id="30" name="Text Box 228"/>
          <p:cNvSpPr txBox="1">
            <a:spLocks noChangeArrowheads="1"/>
          </p:cNvSpPr>
          <p:nvPr/>
        </p:nvSpPr>
        <p:spPr bwMode="auto">
          <a:xfrm>
            <a:off x="142877" y="3516770"/>
            <a:ext cx="1428727" cy="112646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=3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p=2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7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）</a:t>
            </a:r>
            <a:endParaRPr kumimoji="1" lang="en-US" altLang="zh-CN" sz="28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q=1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32" name="Group 306"/>
          <p:cNvGraphicFramePr>
            <a:graphicFrameLocks noGrp="1"/>
          </p:cNvGraphicFramePr>
          <p:nvPr/>
        </p:nvGraphicFramePr>
        <p:xfrm>
          <a:off x="1885977" y="3211971"/>
          <a:ext cx="6767513" cy="519113"/>
        </p:xfrm>
        <a:graphic>
          <a:graphicData uri="http://schemas.openxmlformats.org/drawingml/2006/table">
            <a:tbl>
              <a:tblPr/>
              <a:tblGrid>
                <a:gridCol w="752475"/>
                <a:gridCol w="750888"/>
                <a:gridCol w="752475"/>
                <a:gridCol w="752475"/>
                <a:gridCol w="750887"/>
                <a:gridCol w="752475"/>
                <a:gridCol w="752475"/>
                <a:gridCol w="750888"/>
                <a:gridCol w="752475"/>
              </a:tblGrid>
              <a:tr h="5191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2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3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4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5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6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8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33" name="组合 32"/>
          <p:cNvGrpSpPr/>
          <p:nvPr/>
        </p:nvGrpSpPr>
        <p:grpSpPr>
          <a:xfrm>
            <a:off x="1857356" y="4588340"/>
            <a:ext cx="1636498" cy="902435"/>
            <a:chOff x="1006676" y="4714884"/>
            <a:chExt cx="1636498" cy="902435"/>
          </a:xfrm>
        </p:grpSpPr>
        <p:cxnSp>
          <p:nvCxnSpPr>
            <p:cNvPr id="34" name="直接箭头连接符 33"/>
            <p:cNvCxnSpPr/>
            <p:nvPr/>
          </p:nvCxnSpPr>
          <p:spPr bwMode="auto">
            <a:xfrm rot="5400000" flipH="1" flipV="1">
              <a:off x="2393141" y="4822041"/>
              <a:ext cx="357190" cy="142876"/>
            </a:xfrm>
            <a:prstGeom prst="straightConnector1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35" name="TextBox 34"/>
            <p:cNvSpPr txBox="1"/>
            <p:nvPr/>
          </p:nvSpPr>
          <p:spPr>
            <a:xfrm>
              <a:off x="1006676" y="4786322"/>
              <a:ext cx="1422184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保留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38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的</a:t>
              </a:r>
              <a:endPara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新的位置</a:t>
              </a:r>
              <a:endPara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36" name="组合 25"/>
          <p:cNvGrpSpPr/>
          <p:nvPr/>
        </p:nvGrpSpPr>
        <p:grpSpPr>
          <a:xfrm>
            <a:off x="4261670" y="4659778"/>
            <a:ext cx="596082" cy="642942"/>
            <a:chOff x="7262066" y="4786322"/>
            <a:chExt cx="596082" cy="642942"/>
          </a:xfrm>
        </p:grpSpPr>
        <p:cxnSp>
          <p:nvCxnSpPr>
            <p:cNvPr id="37" name="直接箭头连接符 36"/>
            <p:cNvCxnSpPr/>
            <p:nvPr/>
          </p:nvCxnSpPr>
          <p:spPr bwMode="auto">
            <a:xfrm rot="5400000" flipH="1" flipV="1">
              <a:off x="6941389" y="5106999"/>
              <a:ext cx="642942" cy="1588"/>
            </a:xfrm>
            <a:prstGeom prst="straightConnector1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38" name="Text Box 195"/>
            <p:cNvSpPr txBox="1">
              <a:spLocks noChangeArrowheads="1"/>
            </p:cNvSpPr>
            <p:nvPr/>
          </p:nvSpPr>
          <p:spPr bwMode="auto">
            <a:xfrm>
              <a:off x="7334298" y="4919989"/>
              <a:ext cx="523850" cy="437043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8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endPara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39" name="组合 48"/>
          <p:cNvGrpSpPr/>
          <p:nvPr/>
        </p:nvGrpSpPr>
        <p:grpSpPr>
          <a:xfrm>
            <a:off x="7286644" y="4802654"/>
            <a:ext cx="596082" cy="642942"/>
            <a:chOff x="6476248" y="2786058"/>
            <a:chExt cx="596082" cy="642942"/>
          </a:xfrm>
        </p:grpSpPr>
        <p:cxnSp>
          <p:nvCxnSpPr>
            <p:cNvPr id="40" name="直接箭头连接符 39"/>
            <p:cNvCxnSpPr/>
            <p:nvPr/>
          </p:nvCxnSpPr>
          <p:spPr bwMode="auto">
            <a:xfrm rot="5400000" flipH="1" flipV="1">
              <a:off x="6155571" y="3106735"/>
              <a:ext cx="642942" cy="1588"/>
            </a:xfrm>
            <a:prstGeom prst="straightConnector1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41" name="Text Box 195"/>
            <p:cNvSpPr txBox="1">
              <a:spLocks noChangeArrowheads="1"/>
            </p:cNvSpPr>
            <p:nvPr/>
          </p:nvSpPr>
          <p:spPr bwMode="auto">
            <a:xfrm>
              <a:off x="6548480" y="2919725"/>
              <a:ext cx="523850" cy="437043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p</a:t>
              </a:r>
              <a:endPara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42" name="组合 44"/>
          <p:cNvGrpSpPr/>
          <p:nvPr/>
        </p:nvGrpSpPr>
        <p:grpSpPr>
          <a:xfrm>
            <a:off x="2667044" y="4731216"/>
            <a:ext cx="596082" cy="642942"/>
            <a:chOff x="7262066" y="2786058"/>
            <a:chExt cx="596082" cy="642942"/>
          </a:xfrm>
        </p:grpSpPr>
        <p:cxnSp>
          <p:nvCxnSpPr>
            <p:cNvPr id="43" name="直接箭头连接符 42"/>
            <p:cNvCxnSpPr/>
            <p:nvPr/>
          </p:nvCxnSpPr>
          <p:spPr bwMode="auto">
            <a:xfrm rot="5400000" flipH="1" flipV="1">
              <a:off x="6941389" y="3106735"/>
              <a:ext cx="642942" cy="1588"/>
            </a:xfrm>
            <a:prstGeom prst="straightConnector1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44" name="Text Box 195"/>
            <p:cNvSpPr txBox="1">
              <a:spLocks noChangeArrowheads="1"/>
            </p:cNvSpPr>
            <p:nvPr/>
          </p:nvSpPr>
          <p:spPr bwMode="auto">
            <a:xfrm>
              <a:off x="7334298" y="2919725"/>
              <a:ext cx="523850" cy="437043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q</a:t>
              </a:r>
              <a:endPara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sp>
        <p:nvSpPr>
          <p:cNvPr id="45" name="Text Box 308"/>
          <p:cNvSpPr txBox="1">
            <a:spLocks noChangeArrowheads="1"/>
          </p:cNvSpPr>
          <p:nvPr/>
        </p:nvSpPr>
        <p:spPr bwMode="auto">
          <a:xfrm>
            <a:off x="468313" y="852487"/>
            <a:ext cx="5832475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表插入排序的示例演示</a:t>
            </a:r>
            <a:endParaRPr kumimoji="1" lang="zh-CN" altLang="en-US" sz="2800" b="1" dirty="0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" name="Group 303"/>
          <p:cNvGraphicFramePr>
            <a:graphicFrameLocks noGrp="1"/>
          </p:cNvGraphicFramePr>
          <p:nvPr/>
        </p:nvGraphicFramePr>
        <p:xfrm>
          <a:off x="1546225" y="3624720"/>
          <a:ext cx="7319963" cy="1038226"/>
        </p:xfrm>
        <a:graphic>
          <a:graphicData uri="http://schemas.openxmlformats.org/drawingml/2006/table">
            <a:tbl>
              <a:tblPr/>
              <a:tblGrid>
                <a:gridCol w="812800"/>
                <a:gridCol w="812800"/>
                <a:gridCol w="812800"/>
                <a:gridCol w="814388"/>
                <a:gridCol w="814387"/>
                <a:gridCol w="814388"/>
                <a:gridCol w="812800"/>
                <a:gridCol w="812800"/>
                <a:gridCol w="812800"/>
              </a:tblGrid>
              <a:tr h="5191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13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27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38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97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76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49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65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52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91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(6)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(7)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（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）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6.2.3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表插入排序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45529-2CD5-4E4E-80AA-825C9DA501AB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000364" y="5436072"/>
            <a:ext cx="4352474" cy="1421928"/>
          </a:xfrm>
          <a:prstGeom prst="rect">
            <a:avLst/>
          </a:prstGeom>
          <a:noFill/>
          <a:ln>
            <a:solidFill>
              <a:srgbClr val="003300"/>
            </a:solidFill>
          </a:ln>
        </p:spPr>
        <p:txBody>
          <a:bodyPr wrap="none" rtlCol="0">
            <a:spAutoFit/>
          </a:bodyPr>
          <a:lstStyle/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p:</a:t>
            </a:r>
            <a:r>
              <a:rPr kumimoji="1" lang="zh-CN" altLang="en-US" sz="24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指示第</a:t>
            </a:r>
            <a:r>
              <a:rPr kumimoji="1" lang="en-US" altLang="zh-CN" sz="2400" b="1" dirty="0" err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1" lang="zh-CN" altLang="en-US" sz="24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个记录的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当前</a:t>
            </a:r>
            <a:r>
              <a:rPr kumimoji="1" lang="zh-CN" altLang="en-US" sz="24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位置</a:t>
            </a:r>
            <a:endParaRPr kumimoji="1" lang="en-US" altLang="zh-CN" sz="2400" b="1" dirty="0">
              <a:solidFill>
                <a:srgbClr val="0033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 err="1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1" lang="en-US" altLang="zh-CN" sz="24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 :</a:t>
            </a:r>
            <a:r>
              <a:rPr kumimoji="1" lang="zh-CN" altLang="en-US" sz="24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指示第</a:t>
            </a:r>
            <a:r>
              <a:rPr kumimoji="1" lang="en-US" altLang="zh-CN" sz="2400" b="1" dirty="0" err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1" lang="zh-CN" altLang="en-US" sz="24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个记录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应在</a:t>
            </a:r>
            <a:r>
              <a:rPr kumimoji="1" lang="zh-CN" altLang="en-US" sz="24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的位置</a:t>
            </a:r>
            <a:endParaRPr kumimoji="1" lang="en-US" altLang="zh-CN" sz="2400" b="1" dirty="0">
              <a:solidFill>
                <a:srgbClr val="0033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q :</a:t>
            </a:r>
            <a:r>
              <a:rPr kumimoji="1" lang="zh-CN" altLang="en-US" sz="24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指示第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i+1</a:t>
            </a:r>
            <a:r>
              <a:rPr kumimoji="1" lang="zh-CN" altLang="en-US" sz="24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个记录的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当前</a:t>
            </a:r>
            <a:r>
              <a:rPr kumimoji="1" lang="zh-CN" altLang="en-US" sz="2400" b="1" dirty="0">
                <a:solidFill>
                  <a:srgbClr val="003300"/>
                </a:solidFill>
                <a:latin typeface="Times New Roman" panose="02020603050405020304" pitchFamily="18" charset="0"/>
                <a:ea typeface="楷体_GB2312" pitchFamily="49" charset="-122"/>
              </a:rPr>
              <a:t>位置</a:t>
            </a:r>
            <a:endParaRPr kumimoji="1" lang="zh-CN" altLang="en-US" sz="2400" b="1" dirty="0">
              <a:solidFill>
                <a:srgbClr val="66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5" name="Group 302"/>
          <p:cNvGraphicFramePr>
            <a:graphicFrameLocks noGrp="1"/>
          </p:cNvGraphicFramePr>
          <p:nvPr/>
        </p:nvGraphicFramePr>
        <p:xfrm>
          <a:off x="1547813" y="1692727"/>
          <a:ext cx="7272337" cy="1038226"/>
        </p:xfrm>
        <a:graphic>
          <a:graphicData uri="http://schemas.openxmlformats.org/drawingml/2006/table">
            <a:tbl>
              <a:tblPr/>
              <a:tblGrid>
                <a:gridCol w="808037"/>
                <a:gridCol w="808038"/>
                <a:gridCol w="808037"/>
                <a:gridCol w="808038"/>
                <a:gridCol w="808037"/>
                <a:gridCol w="808038"/>
                <a:gridCol w="808037"/>
                <a:gridCol w="808038"/>
                <a:gridCol w="808037"/>
              </a:tblGrid>
              <a:tr h="5191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13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27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65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97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76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49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38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52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91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(6)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（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）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6" name="Text Box 294"/>
          <p:cNvSpPr txBox="1">
            <a:spLocks noChangeArrowheads="1"/>
          </p:cNvSpPr>
          <p:nvPr/>
        </p:nvSpPr>
        <p:spPr bwMode="auto">
          <a:xfrm>
            <a:off x="252413" y="1454602"/>
            <a:ext cx="935037" cy="11160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=3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p=7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q=1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17" name="组合 25"/>
          <p:cNvGrpSpPr/>
          <p:nvPr/>
        </p:nvGrpSpPr>
        <p:grpSpPr>
          <a:xfrm>
            <a:off x="4204518" y="2786058"/>
            <a:ext cx="596082" cy="642942"/>
            <a:chOff x="7262066" y="4786322"/>
            <a:chExt cx="596082" cy="642942"/>
          </a:xfrm>
        </p:grpSpPr>
        <p:cxnSp>
          <p:nvCxnSpPr>
            <p:cNvPr id="18" name="直接箭头连接符 17"/>
            <p:cNvCxnSpPr/>
            <p:nvPr/>
          </p:nvCxnSpPr>
          <p:spPr bwMode="auto">
            <a:xfrm rot="5400000" flipH="1" flipV="1">
              <a:off x="6941389" y="5106999"/>
              <a:ext cx="642942" cy="1588"/>
            </a:xfrm>
            <a:prstGeom prst="straightConnector1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19" name="Text Box 195"/>
            <p:cNvSpPr txBox="1">
              <a:spLocks noChangeArrowheads="1"/>
            </p:cNvSpPr>
            <p:nvPr/>
          </p:nvSpPr>
          <p:spPr bwMode="auto">
            <a:xfrm>
              <a:off x="7334298" y="4919989"/>
              <a:ext cx="523850" cy="437043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 fontAlgn="base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zh-CN" sz="2800" b="1" kern="0" dirty="0" err="1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endParaRPr kumimoji="1" lang="en-US" altLang="zh-CN" sz="2800" b="1" kern="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aphicFrame>
        <p:nvGraphicFramePr>
          <p:cNvPr id="20" name="Group 306"/>
          <p:cNvGraphicFramePr>
            <a:graphicFrameLocks noGrp="1"/>
          </p:cNvGraphicFramePr>
          <p:nvPr/>
        </p:nvGraphicFramePr>
        <p:xfrm>
          <a:off x="1733577" y="1233487"/>
          <a:ext cx="6767513" cy="519113"/>
        </p:xfrm>
        <a:graphic>
          <a:graphicData uri="http://schemas.openxmlformats.org/drawingml/2006/table">
            <a:tbl>
              <a:tblPr/>
              <a:tblGrid>
                <a:gridCol w="752475"/>
                <a:gridCol w="750888"/>
                <a:gridCol w="752475"/>
                <a:gridCol w="752475"/>
                <a:gridCol w="750887"/>
                <a:gridCol w="752475"/>
                <a:gridCol w="752475"/>
                <a:gridCol w="750888"/>
                <a:gridCol w="752475"/>
              </a:tblGrid>
              <a:tr h="5191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2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3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4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5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7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8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21" name="组合 44"/>
          <p:cNvGrpSpPr/>
          <p:nvPr/>
        </p:nvGrpSpPr>
        <p:grpSpPr>
          <a:xfrm>
            <a:off x="2665456" y="2761670"/>
            <a:ext cx="596082" cy="642942"/>
            <a:chOff x="7262066" y="2786058"/>
            <a:chExt cx="596082" cy="642942"/>
          </a:xfrm>
        </p:grpSpPr>
        <p:cxnSp>
          <p:nvCxnSpPr>
            <p:cNvPr id="22" name="直接箭头连接符 21"/>
            <p:cNvCxnSpPr/>
            <p:nvPr/>
          </p:nvCxnSpPr>
          <p:spPr bwMode="auto">
            <a:xfrm rot="5400000" flipH="1" flipV="1">
              <a:off x="6941389" y="3106735"/>
              <a:ext cx="642942" cy="1588"/>
            </a:xfrm>
            <a:prstGeom prst="straightConnector1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23" name="Text Box 195"/>
            <p:cNvSpPr txBox="1">
              <a:spLocks noChangeArrowheads="1"/>
            </p:cNvSpPr>
            <p:nvPr/>
          </p:nvSpPr>
          <p:spPr bwMode="auto">
            <a:xfrm>
              <a:off x="7334298" y="2919725"/>
              <a:ext cx="523850" cy="437043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 fontAlgn="base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zh-CN" sz="2800" b="1" kern="0" dirty="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q</a:t>
              </a:r>
              <a:endParaRPr kumimoji="1" lang="en-US" altLang="zh-CN" sz="2800" b="1" kern="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24" name="组合 48"/>
          <p:cNvGrpSpPr/>
          <p:nvPr/>
        </p:nvGrpSpPr>
        <p:grpSpPr>
          <a:xfrm>
            <a:off x="7262066" y="2730953"/>
            <a:ext cx="596082" cy="642942"/>
            <a:chOff x="6476248" y="2786058"/>
            <a:chExt cx="596082" cy="642942"/>
          </a:xfrm>
        </p:grpSpPr>
        <p:cxnSp>
          <p:nvCxnSpPr>
            <p:cNvPr id="25" name="直接箭头连接符 24"/>
            <p:cNvCxnSpPr/>
            <p:nvPr/>
          </p:nvCxnSpPr>
          <p:spPr bwMode="auto">
            <a:xfrm rot="5400000" flipH="1" flipV="1">
              <a:off x="6155571" y="3106735"/>
              <a:ext cx="642942" cy="1588"/>
            </a:xfrm>
            <a:prstGeom prst="straightConnector1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26" name="Text Box 195"/>
            <p:cNvSpPr txBox="1">
              <a:spLocks noChangeArrowheads="1"/>
            </p:cNvSpPr>
            <p:nvPr/>
          </p:nvSpPr>
          <p:spPr bwMode="auto">
            <a:xfrm>
              <a:off x="6548480" y="2919725"/>
              <a:ext cx="523850" cy="437043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 fontAlgn="base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zh-CN" sz="2800" b="1" kern="0" dirty="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p</a:t>
              </a:r>
              <a:endParaRPr kumimoji="1" lang="en-US" altLang="zh-CN" sz="2800" b="1" kern="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27" name="组合 51"/>
          <p:cNvGrpSpPr/>
          <p:nvPr/>
        </p:nvGrpSpPr>
        <p:grpSpPr>
          <a:xfrm>
            <a:off x="4333902" y="1891203"/>
            <a:ext cx="3024180" cy="553998"/>
            <a:chOff x="2786050" y="1571612"/>
            <a:chExt cx="3857652" cy="553998"/>
          </a:xfrm>
        </p:grpSpPr>
        <p:sp>
          <p:nvSpPr>
            <p:cNvPr id="28" name="TextBox 27"/>
            <p:cNvSpPr txBox="1"/>
            <p:nvPr/>
          </p:nvSpPr>
          <p:spPr>
            <a:xfrm>
              <a:off x="4286248" y="1571612"/>
              <a:ext cx="957313" cy="553998"/>
            </a:xfrm>
            <a:prstGeom prst="rect">
              <a:avLst/>
            </a:prstGeom>
            <a:solidFill>
              <a:srgbClr val="DBF5F9">
                <a:lumMod val="90000"/>
              </a:srgbClr>
            </a:solidFill>
          </p:spPr>
          <p:txBody>
            <a:bodyPr wrap="none" rtlCol="0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zh-CN" altLang="en-US" sz="3000" b="1" kern="0" dirty="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交换</a:t>
              </a:r>
              <a:endParaRPr kumimoji="1" lang="zh-CN" altLang="en-US" sz="3000" b="1" kern="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cxnSp>
          <p:nvCxnSpPr>
            <p:cNvPr id="29" name="直接箭头连接符 28"/>
            <p:cNvCxnSpPr/>
            <p:nvPr/>
          </p:nvCxnSpPr>
          <p:spPr bwMode="auto">
            <a:xfrm>
              <a:off x="2786050" y="1571612"/>
              <a:ext cx="3857652" cy="1588"/>
            </a:xfrm>
            <a:prstGeom prst="straightConnector1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round/>
              <a:headEnd type="arrow"/>
              <a:tailEnd type="arrow"/>
            </a:ln>
            <a:effectLst/>
          </p:spPr>
        </p:cxnSp>
      </p:grpSp>
      <p:sp>
        <p:nvSpPr>
          <p:cNvPr id="30" name="Text Box 228"/>
          <p:cNvSpPr txBox="1">
            <a:spLocks noChangeArrowheads="1"/>
          </p:cNvSpPr>
          <p:nvPr/>
        </p:nvSpPr>
        <p:spPr bwMode="auto">
          <a:xfrm>
            <a:off x="142877" y="3516770"/>
            <a:ext cx="1428727" cy="112646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=4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p=1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6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）</a:t>
            </a:r>
            <a:endParaRPr kumimoji="1" lang="en-US" altLang="zh-CN" sz="28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q=8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32" name="Group 306"/>
          <p:cNvGraphicFramePr>
            <a:graphicFrameLocks noGrp="1"/>
          </p:cNvGraphicFramePr>
          <p:nvPr/>
        </p:nvGraphicFramePr>
        <p:xfrm>
          <a:off x="1885977" y="3211971"/>
          <a:ext cx="6767513" cy="519113"/>
        </p:xfrm>
        <a:graphic>
          <a:graphicData uri="http://schemas.openxmlformats.org/drawingml/2006/table">
            <a:tbl>
              <a:tblPr/>
              <a:tblGrid>
                <a:gridCol w="752475"/>
                <a:gridCol w="750888"/>
                <a:gridCol w="752475"/>
                <a:gridCol w="752475"/>
                <a:gridCol w="750887"/>
                <a:gridCol w="752475"/>
                <a:gridCol w="752475"/>
                <a:gridCol w="750888"/>
                <a:gridCol w="752475"/>
              </a:tblGrid>
              <a:tr h="5191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2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3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4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5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6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8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36" name="组合 25"/>
          <p:cNvGrpSpPr/>
          <p:nvPr/>
        </p:nvGrpSpPr>
        <p:grpSpPr>
          <a:xfrm>
            <a:off x="5118918" y="4691058"/>
            <a:ext cx="596082" cy="642942"/>
            <a:chOff x="7262066" y="4786322"/>
            <a:chExt cx="596082" cy="642942"/>
          </a:xfrm>
        </p:grpSpPr>
        <p:cxnSp>
          <p:nvCxnSpPr>
            <p:cNvPr id="37" name="直接箭头连接符 36"/>
            <p:cNvCxnSpPr/>
            <p:nvPr/>
          </p:nvCxnSpPr>
          <p:spPr bwMode="auto">
            <a:xfrm rot="5400000" flipH="1" flipV="1">
              <a:off x="6941389" y="5106999"/>
              <a:ext cx="642942" cy="1588"/>
            </a:xfrm>
            <a:prstGeom prst="straightConnector1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38" name="Text Box 195"/>
            <p:cNvSpPr txBox="1">
              <a:spLocks noChangeArrowheads="1"/>
            </p:cNvSpPr>
            <p:nvPr/>
          </p:nvSpPr>
          <p:spPr bwMode="auto">
            <a:xfrm>
              <a:off x="7334298" y="4919989"/>
              <a:ext cx="523850" cy="437043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 fontAlgn="base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zh-CN" sz="2800" b="1" kern="0" dirty="0" err="1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endParaRPr kumimoji="1" lang="en-US" altLang="zh-CN" sz="2800" b="1" kern="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39" name="组合 48"/>
          <p:cNvGrpSpPr/>
          <p:nvPr/>
        </p:nvGrpSpPr>
        <p:grpSpPr>
          <a:xfrm>
            <a:off x="6665984" y="4730422"/>
            <a:ext cx="596082" cy="642942"/>
            <a:chOff x="6476248" y="2786058"/>
            <a:chExt cx="596082" cy="642942"/>
          </a:xfrm>
        </p:grpSpPr>
        <p:cxnSp>
          <p:nvCxnSpPr>
            <p:cNvPr id="40" name="直接箭头连接符 39"/>
            <p:cNvCxnSpPr/>
            <p:nvPr/>
          </p:nvCxnSpPr>
          <p:spPr bwMode="auto">
            <a:xfrm rot="5400000" flipH="1" flipV="1">
              <a:off x="6155571" y="3106735"/>
              <a:ext cx="642942" cy="1588"/>
            </a:xfrm>
            <a:prstGeom prst="straightConnector1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41" name="Text Box 195"/>
            <p:cNvSpPr txBox="1">
              <a:spLocks noChangeArrowheads="1"/>
            </p:cNvSpPr>
            <p:nvPr/>
          </p:nvSpPr>
          <p:spPr bwMode="auto">
            <a:xfrm>
              <a:off x="6548480" y="2919725"/>
              <a:ext cx="523850" cy="437043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 fontAlgn="base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zh-CN" sz="2800" b="1" kern="0" dirty="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p</a:t>
              </a:r>
              <a:endParaRPr kumimoji="1" lang="en-US" altLang="zh-CN" sz="2800" b="1" kern="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42" name="组合 44"/>
          <p:cNvGrpSpPr/>
          <p:nvPr/>
        </p:nvGrpSpPr>
        <p:grpSpPr>
          <a:xfrm>
            <a:off x="8388759" y="4737544"/>
            <a:ext cx="596082" cy="642942"/>
            <a:chOff x="7262066" y="2786058"/>
            <a:chExt cx="596082" cy="642942"/>
          </a:xfrm>
        </p:grpSpPr>
        <p:cxnSp>
          <p:nvCxnSpPr>
            <p:cNvPr id="43" name="直接箭头连接符 42"/>
            <p:cNvCxnSpPr/>
            <p:nvPr/>
          </p:nvCxnSpPr>
          <p:spPr bwMode="auto">
            <a:xfrm rot="5400000" flipH="1" flipV="1">
              <a:off x="6941389" y="3106735"/>
              <a:ext cx="642942" cy="1588"/>
            </a:xfrm>
            <a:prstGeom prst="straightConnector1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44" name="Text Box 195"/>
            <p:cNvSpPr txBox="1">
              <a:spLocks noChangeArrowheads="1"/>
            </p:cNvSpPr>
            <p:nvPr/>
          </p:nvSpPr>
          <p:spPr bwMode="auto">
            <a:xfrm>
              <a:off x="7334298" y="2919725"/>
              <a:ext cx="523850" cy="437043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 fontAlgn="base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zh-CN" sz="2800" b="1" kern="0" dirty="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q</a:t>
              </a:r>
              <a:endParaRPr kumimoji="1" lang="en-US" altLang="zh-CN" sz="2800" b="1" kern="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sp>
        <p:nvSpPr>
          <p:cNvPr id="45" name="Text Box 308"/>
          <p:cNvSpPr txBox="1">
            <a:spLocks noChangeArrowheads="1"/>
          </p:cNvSpPr>
          <p:nvPr/>
        </p:nvSpPr>
        <p:spPr bwMode="auto">
          <a:xfrm>
            <a:off x="468313" y="852487"/>
            <a:ext cx="5832475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表插入排序的示例演示</a:t>
            </a:r>
            <a:endParaRPr kumimoji="1" lang="zh-CN" altLang="en-US" sz="2800" b="1" dirty="0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" name="Group 303"/>
          <p:cNvGraphicFramePr>
            <a:graphicFrameLocks noGrp="1"/>
          </p:cNvGraphicFramePr>
          <p:nvPr/>
        </p:nvGraphicFramePr>
        <p:xfrm>
          <a:off x="1546225" y="3730634"/>
          <a:ext cx="7319963" cy="1038226"/>
        </p:xfrm>
        <a:graphic>
          <a:graphicData uri="http://schemas.openxmlformats.org/drawingml/2006/table">
            <a:tbl>
              <a:tblPr/>
              <a:tblGrid>
                <a:gridCol w="812800"/>
                <a:gridCol w="812800"/>
                <a:gridCol w="812800"/>
                <a:gridCol w="814388"/>
                <a:gridCol w="814387"/>
                <a:gridCol w="814388"/>
                <a:gridCol w="812800"/>
                <a:gridCol w="812800"/>
                <a:gridCol w="812800"/>
              </a:tblGrid>
              <a:tr h="5191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13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27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38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49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76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97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65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52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91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(6)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(7)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（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）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(6)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31" name="Group 303"/>
          <p:cNvGraphicFramePr>
            <a:graphicFrameLocks noGrp="1"/>
          </p:cNvGraphicFramePr>
          <p:nvPr/>
        </p:nvGraphicFramePr>
        <p:xfrm>
          <a:off x="1546225" y="1631949"/>
          <a:ext cx="7319963" cy="1038226"/>
        </p:xfrm>
        <a:graphic>
          <a:graphicData uri="http://schemas.openxmlformats.org/drawingml/2006/table">
            <a:tbl>
              <a:tblPr/>
              <a:tblGrid>
                <a:gridCol w="812800"/>
                <a:gridCol w="812800"/>
                <a:gridCol w="812800"/>
                <a:gridCol w="814388"/>
                <a:gridCol w="814387"/>
                <a:gridCol w="814388"/>
                <a:gridCol w="812800"/>
                <a:gridCol w="812800"/>
                <a:gridCol w="812800"/>
              </a:tblGrid>
              <a:tr h="5191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13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27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38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97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76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49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65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52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91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(6)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(7)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（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）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6.2.3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表插入排序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D99F1-E5A4-412A-B3AA-3C62BEA45A71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 Box 228"/>
          <p:cNvSpPr txBox="1">
            <a:spLocks noChangeArrowheads="1"/>
          </p:cNvSpPr>
          <p:nvPr/>
        </p:nvSpPr>
        <p:spPr bwMode="auto">
          <a:xfrm>
            <a:off x="142877" y="1523999"/>
            <a:ext cx="1428727" cy="112646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=4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p=1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6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）</a:t>
            </a:r>
            <a:endParaRPr kumimoji="1" lang="en-US" altLang="zh-CN" sz="28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q=8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32" name="Group 306"/>
          <p:cNvGraphicFramePr>
            <a:graphicFrameLocks noGrp="1"/>
          </p:cNvGraphicFramePr>
          <p:nvPr/>
        </p:nvGraphicFramePr>
        <p:xfrm>
          <a:off x="1885977" y="1219200"/>
          <a:ext cx="6767513" cy="519113"/>
        </p:xfrm>
        <a:graphic>
          <a:graphicData uri="http://schemas.openxmlformats.org/drawingml/2006/table">
            <a:tbl>
              <a:tblPr/>
              <a:tblGrid>
                <a:gridCol w="752475"/>
                <a:gridCol w="750888"/>
                <a:gridCol w="752475"/>
                <a:gridCol w="752475"/>
                <a:gridCol w="750887"/>
                <a:gridCol w="752475"/>
                <a:gridCol w="752475"/>
                <a:gridCol w="750888"/>
                <a:gridCol w="752475"/>
              </a:tblGrid>
              <a:tr h="5191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2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3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4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5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6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8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36" name="组合 25"/>
          <p:cNvGrpSpPr/>
          <p:nvPr/>
        </p:nvGrpSpPr>
        <p:grpSpPr>
          <a:xfrm>
            <a:off x="5118918" y="2698287"/>
            <a:ext cx="596082" cy="642942"/>
            <a:chOff x="7262066" y="4786322"/>
            <a:chExt cx="596082" cy="642942"/>
          </a:xfrm>
        </p:grpSpPr>
        <p:cxnSp>
          <p:nvCxnSpPr>
            <p:cNvPr id="37" name="直接箭头连接符 36"/>
            <p:cNvCxnSpPr/>
            <p:nvPr/>
          </p:nvCxnSpPr>
          <p:spPr bwMode="auto">
            <a:xfrm rot="5400000" flipH="1" flipV="1">
              <a:off x="6941389" y="5106999"/>
              <a:ext cx="642942" cy="1588"/>
            </a:xfrm>
            <a:prstGeom prst="straightConnector1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38" name="Text Box 195"/>
            <p:cNvSpPr txBox="1">
              <a:spLocks noChangeArrowheads="1"/>
            </p:cNvSpPr>
            <p:nvPr/>
          </p:nvSpPr>
          <p:spPr bwMode="auto">
            <a:xfrm>
              <a:off x="7334298" y="4919989"/>
              <a:ext cx="523850" cy="437043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 fontAlgn="base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zh-CN" sz="2800" b="1" kern="0" dirty="0" err="1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endParaRPr kumimoji="1" lang="en-US" altLang="zh-CN" sz="2800" b="1" kern="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39" name="组合 48"/>
          <p:cNvGrpSpPr/>
          <p:nvPr/>
        </p:nvGrpSpPr>
        <p:grpSpPr>
          <a:xfrm>
            <a:off x="6665984" y="2737651"/>
            <a:ext cx="596082" cy="642942"/>
            <a:chOff x="6476248" y="2786058"/>
            <a:chExt cx="596082" cy="642942"/>
          </a:xfrm>
        </p:grpSpPr>
        <p:cxnSp>
          <p:nvCxnSpPr>
            <p:cNvPr id="40" name="直接箭头连接符 39"/>
            <p:cNvCxnSpPr/>
            <p:nvPr/>
          </p:nvCxnSpPr>
          <p:spPr bwMode="auto">
            <a:xfrm rot="5400000" flipH="1" flipV="1">
              <a:off x="6155571" y="3106735"/>
              <a:ext cx="642942" cy="1588"/>
            </a:xfrm>
            <a:prstGeom prst="straightConnector1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41" name="Text Box 195"/>
            <p:cNvSpPr txBox="1">
              <a:spLocks noChangeArrowheads="1"/>
            </p:cNvSpPr>
            <p:nvPr/>
          </p:nvSpPr>
          <p:spPr bwMode="auto">
            <a:xfrm>
              <a:off x="6548480" y="2919725"/>
              <a:ext cx="523850" cy="437043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 fontAlgn="base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zh-CN" sz="2800" b="1" kern="0" dirty="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p</a:t>
              </a:r>
              <a:endParaRPr kumimoji="1" lang="en-US" altLang="zh-CN" sz="2800" b="1" kern="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42" name="组合 44"/>
          <p:cNvGrpSpPr/>
          <p:nvPr/>
        </p:nvGrpSpPr>
        <p:grpSpPr>
          <a:xfrm>
            <a:off x="8388759" y="2744773"/>
            <a:ext cx="596082" cy="642942"/>
            <a:chOff x="7262066" y="2786058"/>
            <a:chExt cx="596082" cy="642942"/>
          </a:xfrm>
        </p:grpSpPr>
        <p:cxnSp>
          <p:nvCxnSpPr>
            <p:cNvPr id="43" name="直接箭头连接符 42"/>
            <p:cNvCxnSpPr/>
            <p:nvPr/>
          </p:nvCxnSpPr>
          <p:spPr bwMode="auto">
            <a:xfrm rot="5400000" flipH="1" flipV="1">
              <a:off x="6941389" y="3106735"/>
              <a:ext cx="642942" cy="1588"/>
            </a:xfrm>
            <a:prstGeom prst="straightConnector1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44" name="Text Box 195"/>
            <p:cNvSpPr txBox="1">
              <a:spLocks noChangeArrowheads="1"/>
            </p:cNvSpPr>
            <p:nvPr/>
          </p:nvSpPr>
          <p:spPr bwMode="auto">
            <a:xfrm>
              <a:off x="7334298" y="2919725"/>
              <a:ext cx="523850" cy="437043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 fontAlgn="base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zh-CN" sz="2800" b="1" kern="0" dirty="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q</a:t>
              </a:r>
              <a:endParaRPr kumimoji="1" lang="en-US" altLang="zh-CN" sz="2800" b="1" kern="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sp>
        <p:nvSpPr>
          <p:cNvPr id="45" name="Text Box 308"/>
          <p:cNvSpPr txBox="1">
            <a:spLocks noChangeArrowheads="1"/>
          </p:cNvSpPr>
          <p:nvPr/>
        </p:nvSpPr>
        <p:spPr bwMode="auto">
          <a:xfrm>
            <a:off x="468313" y="852487"/>
            <a:ext cx="5832475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表插入排序的示例演示</a:t>
            </a:r>
            <a:endParaRPr kumimoji="1" lang="zh-CN" altLang="en-US" sz="2800" b="1" dirty="0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46" name="组合 51"/>
          <p:cNvGrpSpPr/>
          <p:nvPr/>
        </p:nvGrpSpPr>
        <p:grpSpPr>
          <a:xfrm>
            <a:off x="5024490" y="1806858"/>
            <a:ext cx="1643082" cy="461665"/>
            <a:chOff x="2786050" y="1571612"/>
            <a:chExt cx="3857652" cy="461665"/>
          </a:xfrm>
        </p:grpSpPr>
        <p:sp>
          <p:nvSpPr>
            <p:cNvPr id="47" name="TextBox 46"/>
            <p:cNvSpPr txBox="1"/>
            <p:nvPr/>
          </p:nvSpPr>
          <p:spPr>
            <a:xfrm>
              <a:off x="3821758" y="1571612"/>
              <a:ext cx="1886293" cy="461665"/>
            </a:xfrm>
            <a:prstGeom prst="rect">
              <a:avLst/>
            </a:prstGeom>
            <a:solidFill>
              <a:srgbClr val="DBF5F9">
                <a:lumMod val="90000"/>
              </a:srgbClr>
            </a:solidFill>
          </p:spPr>
          <p:txBody>
            <a:bodyPr wrap="none" rtlCol="0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zh-CN" altLang="en-US" sz="2400" b="1" kern="0" dirty="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交换</a:t>
              </a:r>
              <a:endParaRPr kumimoji="1" lang="zh-CN" altLang="en-US" sz="2400" b="1" kern="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cxnSp>
          <p:nvCxnSpPr>
            <p:cNvPr id="48" name="直接箭头连接符 47"/>
            <p:cNvCxnSpPr/>
            <p:nvPr/>
          </p:nvCxnSpPr>
          <p:spPr bwMode="auto">
            <a:xfrm>
              <a:off x="2786050" y="1571612"/>
              <a:ext cx="3857652" cy="1588"/>
            </a:xfrm>
            <a:prstGeom prst="straightConnector1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round/>
              <a:headEnd type="arrow"/>
              <a:tailEnd type="arrow"/>
            </a:ln>
            <a:effectLst/>
          </p:spPr>
        </p:cxnSp>
      </p:grpSp>
      <p:sp>
        <p:nvSpPr>
          <p:cNvPr id="50" name="Text Box 228"/>
          <p:cNvSpPr txBox="1">
            <a:spLocks noChangeArrowheads="1"/>
          </p:cNvSpPr>
          <p:nvPr/>
        </p:nvSpPr>
        <p:spPr bwMode="auto">
          <a:xfrm>
            <a:off x="142877" y="3622684"/>
            <a:ext cx="1428727" cy="112646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=5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p=8</a:t>
            </a:r>
            <a:endParaRPr kumimoji="1" lang="en-US" altLang="zh-CN" sz="28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q=3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52" name="Group 306"/>
          <p:cNvGraphicFramePr>
            <a:graphicFrameLocks noGrp="1"/>
          </p:cNvGraphicFramePr>
          <p:nvPr/>
        </p:nvGraphicFramePr>
        <p:xfrm>
          <a:off x="1885977" y="3317885"/>
          <a:ext cx="6767513" cy="519113"/>
        </p:xfrm>
        <a:graphic>
          <a:graphicData uri="http://schemas.openxmlformats.org/drawingml/2006/table">
            <a:tbl>
              <a:tblPr/>
              <a:tblGrid>
                <a:gridCol w="752475"/>
                <a:gridCol w="750888"/>
                <a:gridCol w="752475"/>
                <a:gridCol w="752475"/>
                <a:gridCol w="750887"/>
                <a:gridCol w="752475"/>
                <a:gridCol w="752475"/>
                <a:gridCol w="750888"/>
                <a:gridCol w="752475"/>
              </a:tblGrid>
              <a:tr h="5191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2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3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4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5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6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8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53" name="组合 25"/>
          <p:cNvGrpSpPr/>
          <p:nvPr/>
        </p:nvGrpSpPr>
        <p:grpSpPr>
          <a:xfrm>
            <a:off x="5715000" y="4836336"/>
            <a:ext cx="596082" cy="642942"/>
            <a:chOff x="7262066" y="4786322"/>
            <a:chExt cx="596082" cy="642942"/>
          </a:xfrm>
        </p:grpSpPr>
        <p:cxnSp>
          <p:nvCxnSpPr>
            <p:cNvPr id="54" name="直接箭头连接符 53"/>
            <p:cNvCxnSpPr/>
            <p:nvPr/>
          </p:nvCxnSpPr>
          <p:spPr bwMode="auto">
            <a:xfrm rot="5400000" flipH="1" flipV="1">
              <a:off x="6941389" y="5106999"/>
              <a:ext cx="642942" cy="1588"/>
            </a:xfrm>
            <a:prstGeom prst="straightConnector1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55" name="Text Box 195"/>
            <p:cNvSpPr txBox="1">
              <a:spLocks noChangeArrowheads="1"/>
            </p:cNvSpPr>
            <p:nvPr/>
          </p:nvSpPr>
          <p:spPr bwMode="auto">
            <a:xfrm>
              <a:off x="7334298" y="4919989"/>
              <a:ext cx="523850" cy="437043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 fontAlgn="base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zh-CN" sz="2800" b="1" kern="0" dirty="0" err="1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endParaRPr kumimoji="1" lang="en-US" altLang="zh-CN" sz="2800" b="1" kern="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56" name="组合 48"/>
          <p:cNvGrpSpPr/>
          <p:nvPr/>
        </p:nvGrpSpPr>
        <p:grpSpPr>
          <a:xfrm>
            <a:off x="8460991" y="4800600"/>
            <a:ext cx="596082" cy="642942"/>
            <a:chOff x="6476248" y="2786058"/>
            <a:chExt cx="596082" cy="642942"/>
          </a:xfrm>
        </p:grpSpPr>
        <p:cxnSp>
          <p:nvCxnSpPr>
            <p:cNvPr id="57" name="直接箭头连接符 56"/>
            <p:cNvCxnSpPr/>
            <p:nvPr/>
          </p:nvCxnSpPr>
          <p:spPr bwMode="auto">
            <a:xfrm rot="5400000" flipH="1" flipV="1">
              <a:off x="6155571" y="3106735"/>
              <a:ext cx="642942" cy="1588"/>
            </a:xfrm>
            <a:prstGeom prst="straightConnector1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58" name="Text Box 195"/>
            <p:cNvSpPr txBox="1">
              <a:spLocks noChangeArrowheads="1"/>
            </p:cNvSpPr>
            <p:nvPr/>
          </p:nvSpPr>
          <p:spPr bwMode="auto">
            <a:xfrm>
              <a:off x="6548480" y="2919725"/>
              <a:ext cx="523850" cy="437043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 fontAlgn="base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zh-CN" sz="2800" b="1" kern="0" dirty="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p</a:t>
              </a:r>
              <a:endParaRPr kumimoji="1" lang="en-US" altLang="zh-CN" sz="2800" b="1" kern="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59" name="组合 44"/>
          <p:cNvGrpSpPr/>
          <p:nvPr/>
        </p:nvGrpSpPr>
        <p:grpSpPr>
          <a:xfrm>
            <a:off x="4191000" y="4800600"/>
            <a:ext cx="596082" cy="642942"/>
            <a:chOff x="7262066" y="2786058"/>
            <a:chExt cx="596082" cy="642942"/>
          </a:xfrm>
        </p:grpSpPr>
        <p:cxnSp>
          <p:nvCxnSpPr>
            <p:cNvPr id="60" name="直接箭头连接符 59"/>
            <p:cNvCxnSpPr/>
            <p:nvPr/>
          </p:nvCxnSpPr>
          <p:spPr bwMode="auto">
            <a:xfrm rot="5400000" flipH="1" flipV="1">
              <a:off x="6941389" y="3106735"/>
              <a:ext cx="642942" cy="1588"/>
            </a:xfrm>
            <a:prstGeom prst="straightConnector1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61" name="Text Box 195"/>
            <p:cNvSpPr txBox="1">
              <a:spLocks noChangeArrowheads="1"/>
            </p:cNvSpPr>
            <p:nvPr/>
          </p:nvSpPr>
          <p:spPr bwMode="auto">
            <a:xfrm>
              <a:off x="7334298" y="2919725"/>
              <a:ext cx="523850" cy="437043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 fontAlgn="base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zh-CN" sz="2800" b="1" kern="0" dirty="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q</a:t>
              </a:r>
              <a:endParaRPr kumimoji="1" lang="en-US" altLang="zh-CN" sz="2800" b="1" kern="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50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8" name="Group 303"/>
          <p:cNvGraphicFramePr>
            <a:graphicFrameLocks noGrp="1"/>
          </p:cNvGraphicFramePr>
          <p:nvPr/>
        </p:nvGraphicFramePr>
        <p:xfrm>
          <a:off x="1546225" y="3813956"/>
          <a:ext cx="7319963" cy="1038226"/>
        </p:xfrm>
        <a:graphic>
          <a:graphicData uri="http://schemas.openxmlformats.org/drawingml/2006/table">
            <a:tbl>
              <a:tblPr/>
              <a:tblGrid>
                <a:gridCol w="812800"/>
                <a:gridCol w="812800"/>
                <a:gridCol w="812800"/>
                <a:gridCol w="814388"/>
                <a:gridCol w="814387"/>
                <a:gridCol w="814388"/>
                <a:gridCol w="812800"/>
                <a:gridCol w="812800"/>
                <a:gridCol w="812800"/>
              </a:tblGrid>
              <a:tr h="5191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13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27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38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49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52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97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65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76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91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(6)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(7)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（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）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(6)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(8)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51" name="Group 303"/>
          <p:cNvGraphicFramePr>
            <a:graphicFrameLocks noGrp="1"/>
          </p:cNvGraphicFramePr>
          <p:nvPr/>
        </p:nvGraphicFramePr>
        <p:xfrm>
          <a:off x="1546225" y="1708149"/>
          <a:ext cx="7319963" cy="1038226"/>
        </p:xfrm>
        <a:graphic>
          <a:graphicData uri="http://schemas.openxmlformats.org/drawingml/2006/table">
            <a:tbl>
              <a:tblPr/>
              <a:tblGrid>
                <a:gridCol w="812800"/>
                <a:gridCol w="812800"/>
                <a:gridCol w="812800"/>
                <a:gridCol w="814388"/>
                <a:gridCol w="814387"/>
                <a:gridCol w="814388"/>
                <a:gridCol w="812800"/>
                <a:gridCol w="812800"/>
                <a:gridCol w="812800"/>
              </a:tblGrid>
              <a:tr h="5191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13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27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38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49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76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97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65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52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91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(6)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(7)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（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）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(6)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6.2.3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表插入排序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13250-2D3D-4F12-BC06-754068C2D008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 Box 308"/>
          <p:cNvSpPr txBox="1">
            <a:spLocks noChangeArrowheads="1"/>
          </p:cNvSpPr>
          <p:nvPr/>
        </p:nvSpPr>
        <p:spPr bwMode="auto">
          <a:xfrm>
            <a:off x="468313" y="852487"/>
            <a:ext cx="5832475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表插入排序的示例演示</a:t>
            </a:r>
            <a:endParaRPr kumimoji="1" lang="zh-CN" altLang="en-US" sz="2800" b="1" dirty="0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0" name="Text Box 228"/>
          <p:cNvSpPr txBox="1">
            <a:spLocks noChangeArrowheads="1"/>
          </p:cNvSpPr>
          <p:nvPr/>
        </p:nvSpPr>
        <p:spPr bwMode="auto">
          <a:xfrm>
            <a:off x="142877" y="1600199"/>
            <a:ext cx="1428727" cy="112646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=5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p=8</a:t>
            </a:r>
            <a:endParaRPr kumimoji="1" lang="en-US" altLang="zh-CN" sz="28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q=3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52" name="Group 306"/>
          <p:cNvGraphicFramePr>
            <a:graphicFrameLocks noGrp="1"/>
          </p:cNvGraphicFramePr>
          <p:nvPr/>
        </p:nvGraphicFramePr>
        <p:xfrm>
          <a:off x="1885977" y="1295400"/>
          <a:ext cx="6767513" cy="519113"/>
        </p:xfrm>
        <a:graphic>
          <a:graphicData uri="http://schemas.openxmlformats.org/drawingml/2006/table">
            <a:tbl>
              <a:tblPr/>
              <a:tblGrid>
                <a:gridCol w="752475"/>
                <a:gridCol w="750888"/>
                <a:gridCol w="752475"/>
                <a:gridCol w="752475"/>
                <a:gridCol w="750887"/>
                <a:gridCol w="752475"/>
                <a:gridCol w="752475"/>
                <a:gridCol w="750888"/>
                <a:gridCol w="752475"/>
              </a:tblGrid>
              <a:tr h="5191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2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3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4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5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6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8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53" name="组合 25"/>
          <p:cNvGrpSpPr/>
          <p:nvPr/>
        </p:nvGrpSpPr>
        <p:grpSpPr>
          <a:xfrm>
            <a:off x="5715000" y="2813851"/>
            <a:ext cx="596082" cy="642942"/>
            <a:chOff x="7262066" y="4786322"/>
            <a:chExt cx="596082" cy="642942"/>
          </a:xfrm>
        </p:grpSpPr>
        <p:cxnSp>
          <p:nvCxnSpPr>
            <p:cNvPr id="54" name="直接箭头连接符 53"/>
            <p:cNvCxnSpPr/>
            <p:nvPr/>
          </p:nvCxnSpPr>
          <p:spPr bwMode="auto">
            <a:xfrm rot="5400000" flipH="1" flipV="1">
              <a:off x="6941389" y="5106999"/>
              <a:ext cx="642942" cy="1588"/>
            </a:xfrm>
            <a:prstGeom prst="straightConnector1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55" name="Text Box 195"/>
            <p:cNvSpPr txBox="1">
              <a:spLocks noChangeArrowheads="1"/>
            </p:cNvSpPr>
            <p:nvPr/>
          </p:nvSpPr>
          <p:spPr bwMode="auto">
            <a:xfrm>
              <a:off x="7334298" y="4919989"/>
              <a:ext cx="523850" cy="437043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 fontAlgn="base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zh-CN" sz="2800" b="1" kern="0" dirty="0" err="1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endParaRPr kumimoji="1" lang="en-US" altLang="zh-CN" sz="2800" b="1" kern="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56" name="组合 48"/>
          <p:cNvGrpSpPr/>
          <p:nvPr/>
        </p:nvGrpSpPr>
        <p:grpSpPr>
          <a:xfrm>
            <a:off x="8460991" y="2778115"/>
            <a:ext cx="596082" cy="642942"/>
            <a:chOff x="6476248" y="2786058"/>
            <a:chExt cx="596082" cy="642942"/>
          </a:xfrm>
        </p:grpSpPr>
        <p:cxnSp>
          <p:nvCxnSpPr>
            <p:cNvPr id="57" name="直接箭头连接符 56"/>
            <p:cNvCxnSpPr/>
            <p:nvPr/>
          </p:nvCxnSpPr>
          <p:spPr bwMode="auto">
            <a:xfrm rot="5400000" flipH="1" flipV="1">
              <a:off x="6155571" y="3106735"/>
              <a:ext cx="642942" cy="1588"/>
            </a:xfrm>
            <a:prstGeom prst="straightConnector1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58" name="Text Box 195"/>
            <p:cNvSpPr txBox="1">
              <a:spLocks noChangeArrowheads="1"/>
            </p:cNvSpPr>
            <p:nvPr/>
          </p:nvSpPr>
          <p:spPr bwMode="auto">
            <a:xfrm>
              <a:off x="6548480" y="2919725"/>
              <a:ext cx="523850" cy="437043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 fontAlgn="base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zh-CN" sz="2800" b="1" kern="0" dirty="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p</a:t>
              </a:r>
              <a:endParaRPr kumimoji="1" lang="en-US" altLang="zh-CN" sz="2800" b="1" kern="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59" name="组合 44"/>
          <p:cNvGrpSpPr/>
          <p:nvPr/>
        </p:nvGrpSpPr>
        <p:grpSpPr>
          <a:xfrm>
            <a:off x="4191000" y="2778115"/>
            <a:ext cx="596082" cy="642942"/>
            <a:chOff x="7262066" y="2786058"/>
            <a:chExt cx="596082" cy="642942"/>
          </a:xfrm>
        </p:grpSpPr>
        <p:cxnSp>
          <p:nvCxnSpPr>
            <p:cNvPr id="60" name="直接箭头连接符 59"/>
            <p:cNvCxnSpPr/>
            <p:nvPr/>
          </p:nvCxnSpPr>
          <p:spPr bwMode="auto">
            <a:xfrm rot="5400000" flipH="1" flipV="1">
              <a:off x="6941389" y="3106735"/>
              <a:ext cx="642942" cy="1588"/>
            </a:xfrm>
            <a:prstGeom prst="straightConnector1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61" name="Text Box 195"/>
            <p:cNvSpPr txBox="1">
              <a:spLocks noChangeArrowheads="1"/>
            </p:cNvSpPr>
            <p:nvPr/>
          </p:nvSpPr>
          <p:spPr bwMode="auto">
            <a:xfrm>
              <a:off x="7334298" y="2919725"/>
              <a:ext cx="523850" cy="437043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 fontAlgn="base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zh-CN" sz="2800" b="1" kern="0" dirty="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q</a:t>
              </a:r>
              <a:endParaRPr kumimoji="1" lang="en-US" altLang="zh-CN" sz="2800" b="1" kern="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63" name="组合 51"/>
          <p:cNvGrpSpPr/>
          <p:nvPr/>
        </p:nvGrpSpPr>
        <p:grpSpPr>
          <a:xfrm>
            <a:off x="6049157" y="1874896"/>
            <a:ext cx="2123980" cy="461665"/>
            <a:chOff x="2786050" y="1571612"/>
            <a:chExt cx="3857652" cy="461665"/>
          </a:xfrm>
        </p:grpSpPr>
        <p:sp>
          <p:nvSpPr>
            <p:cNvPr id="64" name="TextBox 63"/>
            <p:cNvSpPr txBox="1"/>
            <p:nvPr/>
          </p:nvSpPr>
          <p:spPr>
            <a:xfrm>
              <a:off x="3821758" y="1571612"/>
              <a:ext cx="1886293" cy="461665"/>
            </a:xfrm>
            <a:prstGeom prst="rect">
              <a:avLst/>
            </a:prstGeom>
            <a:solidFill>
              <a:srgbClr val="DBF5F9">
                <a:lumMod val="90000"/>
              </a:srgbClr>
            </a:solidFill>
          </p:spPr>
          <p:txBody>
            <a:bodyPr wrap="none" rtlCol="0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zh-CN" altLang="en-US" sz="2400" b="1" kern="0" dirty="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交换</a:t>
              </a:r>
              <a:endParaRPr kumimoji="1" lang="zh-CN" altLang="en-US" sz="2400" b="1" kern="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cxnSp>
          <p:nvCxnSpPr>
            <p:cNvPr id="65" name="直接箭头连接符 64"/>
            <p:cNvCxnSpPr/>
            <p:nvPr/>
          </p:nvCxnSpPr>
          <p:spPr bwMode="auto">
            <a:xfrm>
              <a:off x="2786050" y="1571612"/>
              <a:ext cx="3857652" cy="1588"/>
            </a:xfrm>
            <a:prstGeom prst="straightConnector1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round/>
              <a:headEnd type="arrow"/>
              <a:tailEnd type="arrow"/>
            </a:ln>
            <a:effectLst/>
          </p:spPr>
        </p:cxnSp>
      </p:grpSp>
      <p:sp>
        <p:nvSpPr>
          <p:cNvPr id="67" name="Text Box 228"/>
          <p:cNvSpPr txBox="1">
            <a:spLocks noChangeArrowheads="1"/>
          </p:cNvSpPr>
          <p:nvPr/>
        </p:nvSpPr>
        <p:spPr bwMode="auto">
          <a:xfrm>
            <a:off x="142877" y="3706006"/>
            <a:ext cx="1428727" cy="112646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=6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p=3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7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）</a:t>
            </a:r>
            <a:endParaRPr kumimoji="1" lang="en-US" altLang="zh-CN" sz="28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q=5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69" name="Group 306"/>
          <p:cNvGraphicFramePr>
            <a:graphicFrameLocks noGrp="1"/>
          </p:cNvGraphicFramePr>
          <p:nvPr/>
        </p:nvGraphicFramePr>
        <p:xfrm>
          <a:off x="1885977" y="3401207"/>
          <a:ext cx="6767513" cy="519113"/>
        </p:xfrm>
        <a:graphic>
          <a:graphicData uri="http://schemas.openxmlformats.org/drawingml/2006/table">
            <a:tbl>
              <a:tblPr/>
              <a:tblGrid>
                <a:gridCol w="752475"/>
                <a:gridCol w="750888"/>
                <a:gridCol w="752475"/>
                <a:gridCol w="752475"/>
                <a:gridCol w="750887"/>
                <a:gridCol w="752475"/>
                <a:gridCol w="752475"/>
                <a:gridCol w="750888"/>
                <a:gridCol w="752475"/>
              </a:tblGrid>
              <a:tr h="5191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2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3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4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5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6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8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70" name="组合 25"/>
          <p:cNvGrpSpPr/>
          <p:nvPr/>
        </p:nvGrpSpPr>
        <p:grpSpPr>
          <a:xfrm>
            <a:off x="6619406" y="4883922"/>
            <a:ext cx="596082" cy="642942"/>
            <a:chOff x="7262066" y="4786322"/>
            <a:chExt cx="596082" cy="642942"/>
          </a:xfrm>
        </p:grpSpPr>
        <p:cxnSp>
          <p:nvCxnSpPr>
            <p:cNvPr id="71" name="直接箭头连接符 70"/>
            <p:cNvCxnSpPr/>
            <p:nvPr/>
          </p:nvCxnSpPr>
          <p:spPr bwMode="auto">
            <a:xfrm rot="5400000" flipH="1" flipV="1">
              <a:off x="6941389" y="5106999"/>
              <a:ext cx="642942" cy="1588"/>
            </a:xfrm>
            <a:prstGeom prst="straightConnector1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72" name="Text Box 195"/>
            <p:cNvSpPr txBox="1">
              <a:spLocks noChangeArrowheads="1"/>
            </p:cNvSpPr>
            <p:nvPr/>
          </p:nvSpPr>
          <p:spPr bwMode="auto">
            <a:xfrm>
              <a:off x="7334298" y="4919989"/>
              <a:ext cx="523850" cy="437043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 fontAlgn="base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zh-CN" sz="2800" b="1" kern="0" dirty="0" err="1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endParaRPr kumimoji="1" lang="en-US" altLang="zh-CN" sz="2800" b="1" kern="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73" name="组合 48"/>
          <p:cNvGrpSpPr/>
          <p:nvPr/>
        </p:nvGrpSpPr>
        <p:grpSpPr>
          <a:xfrm>
            <a:off x="7558783" y="4847346"/>
            <a:ext cx="596082" cy="642942"/>
            <a:chOff x="6476248" y="2786058"/>
            <a:chExt cx="596082" cy="642942"/>
          </a:xfrm>
        </p:grpSpPr>
        <p:cxnSp>
          <p:nvCxnSpPr>
            <p:cNvPr id="74" name="直接箭头连接符 73"/>
            <p:cNvCxnSpPr/>
            <p:nvPr/>
          </p:nvCxnSpPr>
          <p:spPr bwMode="auto">
            <a:xfrm rot="5400000" flipH="1" flipV="1">
              <a:off x="6155571" y="3106735"/>
              <a:ext cx="642942" cy="1588"/>
            </a:xfrm>
            <a:prstGeom prst="straightConnector1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75" name="Text Box 195"/>
            <p:cNvSpPr txBox="1">
              <a:spLocks noChangeArrowheads="1"/>
            </p:cNvSpPr>
            <p:nvPr/>
          </p:nvSpPr>
          <p:spPr bwMode="auto">
            <a:xfrm>
              <a:off x="6548480" y="2919725"/>
              <a:ext cx="523850" cy="437043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 fontAlgn="base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zh-CN" sz="2800" b="1" kern="0" dirty="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p</a:t>
              </a:r>
              <a:endParaRPr kumimoji="1" lang="en-US" altLang="zh-CN" sz="2800" b="1" kern="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76" name="组合 44"/>
          <p:cNvGrpSpPr/>
          <p:nvPr/>
        </p:nvGrpSpPr>
        <p:grpSpPr>
          <a:xfrm>
            <a:off x="5787232" y="4883922"/>
            <a:ext cx="596082" cy="642942"/>
            <a:chOff x="7262066" y="2786058"/>
            <a:chExt cx="596082" cy="642942"/>
          </a:xfrm>
        </p:grpSpPr>
        <p:cxnSp>
          <p:nvCxnSpPr>
            <p:cNvPr id="77" name="直接箭头连接符 76"/>
            <p:cNvCxnSpPr/>
            <p:nvPr/>
          </p:nvCxnSpPr>
          <p:spPr bwMode="auto">
            <a:xfrm rot="5400000" flipH="1" flipV="1">
              <a:off x="6941389" y="3106735"/>
              <a:ext cx="642942" cy="1588"/>
            </a:xfrm>
            <a:prstGeom prst="straightConnector1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78" name="Text Box 195"/>
            <p:cNvSpPr txBox="1">
              <a:spLocks noChangeArrowheads="1"/>
            </p:cNvSpPr>
            <p:nvPr/>
          </p:nvSpPr>
          <p:spPr bwMode="auto">
            <a:xfrm>
              <a:off x="7334298" y="2919725"/>
              <a:ext cx="523850" cy="437043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 fontAlgn="base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zh-CN" sz="2800" b="1" kern="0" dirty="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q</a:t>
              </a:r>
              <a:endParaRPr kumimoji="1" lang="en-US" altLang="zh-CN" sz="2800" b="1" kern="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67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" name="Group 303"/>
          <p:cNvGraphicFramePr>
            <a:graphicFrameLocks noGrp="1"/>
          </p:cNvGraphicFramePr>
          <p:nvPr/>
        </p:nvGraphicFramePr>
        <p:xfrm>
          <a:off x="1546225" y="4002092"/>
          <a:ext cx="7319963" cy="1038226"/>
        </p:xfrm>
        <a:graphic>
          <a:graphicData uri="http://schemas.openxmlformats.org/drawingml/2006/table">
            <a:tbl>
              <a:tblPr/>
              <a:tblGrid>
                <a:gridCol w="812800"/>
                <a:gridCol w="812800"/>
                <a:gridCol w="812800"/>
                <a:gridCol w="814388"/>
                <a:gridCol w="814387"/>
                <a:gridCol w="814388"/>
                <a:gridCol w="812800"/>
                <a:gridCol w="812800"/>
                <a:gridCol w="812800"/>
              </a:tblGrid>
              <a:tr h="5191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13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27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38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49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52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65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97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76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91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(6)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(7)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（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）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(6)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(8)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(7)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68" name="Group 303"/>
          <p:cNvGraphicFramePr>
            <a:graphicFrameLocks noGrp="1"/>
          </p:cNvGraphicFramePr>
          <p:nvPr/>
        </p:nvGraphicFramePr>
        <p:xfrm>
          <a:off x="1546225" y="1708149"/>
          <a:ext cx="7319963" cy="1038226"/>
        </p:xfrm>
        <a:graphic>
          <a:graphicData uri="http://schemas.openxmlformats.org/drawingml/2006/table">
            <a:tbl>
              <a:tblPr/>
              <a:tblGrid>
                <a:gridCol w="812800"/>
                <a:gridCol w="812800"/>
                <a:gridCol w="812800"/>
                <a:gridCol w="814388"/>
                <a:gridCol w="814387"/>
                <a:gridCol w="814388"/>
                <a:gridCol w="812800"/>
                <a:gridCol w="812800"/>
                <a:gridCol w="812800"/>
              </a:tblGrid>
              <a:tr h="5191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13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27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38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49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52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97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65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76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91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(6)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(7)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（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）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(6)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(8)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6.2.3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表插入排序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846C0-B86F-4DFF-BB58-1D52E3CDD2CF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 Box 308"/>
          <p:cNvSpPr txBox="1">
            <a:spLocks noChangeArrowheads="1"/>
          </p:cNvSpPr>
          <p:nvPr/>
        </p:nvSpPr>
        <p:spPr bwMode="auto">
          <a:xfrm>
            <a:off x="468313" y="852487"/>
            <a:ext cx="5832475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表插入排序的示例演示</a:t>
            </a:r>
            <a:endParaRPr kumimoji="1" lang="zh-CN" altLang="en-US" sz="2800" b="1" dirty="0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7" name="Text Box 228"/>
          <p:cNvSpPr txBox="1">
            <a:spLocks noChangeArrowheads="1"/>
          </p:cNvSpPr>
          <p:nvPr/>
        </p:nvSpPr>
        <p:spPr bwMode="auto">
          <a:xfrm>
            <a:off x="142877" y="1600199"/>
            <a:ext cx="1428727" cy="112646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=6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p=3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7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）</a:t>
            </a:r>
            <a:endParaRPr kumimoji="1" lang="en-US" altLang="zh-CN" sz="28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q=5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69" name="Group 306"/>
          <p:cNvGraphicFramePr>
            <a:graphicFrameLocks noGrp="1"/>
          </p:cNvGraphicFramePr>
          <p:nvPr/>
        </p:nvGraphicFramePr>
        <p:xfrm>
          <a:off x="1885977" y="1295400"/>
          <a:ext cx="6767513" cy="519113"/>
        </p:xfrm>
        <a:graphic>
          <a:graphicData uri="http://schemas.openxmlformats.org/drawingml/2006/table">
            <a:tbl>
              <a:tblPr/>
              <a:tblGrid>
                <a:gridCol w="752475"/>
                <a:gridCol w="750888"/>
                <a:gridCol w="752475"/>
                <a:gridCol w="752475"/>
                <a:gridCol w="750887"/>
                <a:gridCol w="752475"/>
                <a:gridCol w="752475"/>
                <a:gridCol w="750888"/>
                <a:gridCol w="752475"/>
              </a:tblGrid>
              <a:tr h="5191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2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3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4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5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6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8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70" name="组合 25"/>
          <p:cNvGrpSpPr/>
          <p:nvPr/>
        </p:nvGrpSpPr>
        <p:grpSpPr>
          <a:xfrm>
            <a:off x="6619406" y="2778115"/>
            <a:ext cx="596082" cy="642942"/>
            <a:chOff x="7262066" y="4786322"/>
            <a:chExt cx="596082" cy="642942"/>
          </a:xfrm>
        </p:grpSpPr>
        <p:cxnSp>
          <p:nvCxnSpPr>
            <p:cNvPr id="71" name="直接箭头连接符 70"/>
            <p:cNvCxnSpPr/>
            <p:nvPr/>
          </p:nvCxnSpPr>
          <p:spPr bwMode="auto">
            <a:xfrm rot="5400000" flipH="1" flipV="1">
              <a:off x="6941389" y="5106999"/>
              <a:ext cx="642942" cy="1588"/>
            </a:xfrm>
            <a:prstGeom prst="straightConnector1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72" name="Text Box 195"/>
            <p:cNvSpPr txBox="1">
              <a:spLocks noChangeArrowheads="1"/>
            </p:cNvSpPr>
            <p:nvPr/>
          </p:nvSpPr>
          <p:spPr bwMode="auto">
            <a:xfrm>
              <a:off x="7334298" y="4919989"/>
              <a:ext cx="523850" cy="437043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 fontAlgn="base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zh-CN" sz="2800" b="1" kern="0" dirty="0" err="1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endParaRPr kumimoji="1" lang="en-US" altLang="zh-CN" sz="2800" b="1" kern="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73" name="组合 48"/>
          <p:cNvGrpSpPr/>
          <p:nvPr/>
        </p:nvGrpSpPr>
        <p:grpSpPr>
          <a:xfrm>
            <a:off x="7558783" y="2741539"/>
            <a:ext cx="596082" cy="642942"/>
            <a:chOff x="6476248" y="2786058"/>
            <a:chExt cx="596082" cy="642942"/>
          </a:xfrm>
        </p:grpSpPr>
        <p:cxnSp>
          <p:nvCxnSpPr>
            <p:cNvPr id="74" name="直接箭头连接符 73"/>
            <p:cNvCxnSpPr/>
            <p:nvPr/>
          </p:nvCxnSpPr>
          <p:spPr bwMode="auto">
            <a:xfrm rot="5400000" flipH="1" flipV="1">
              <a:off x="6155571" y="3106735"/>
              <a:ext cx="642942" cy="1588"/>
            </a:xfrm>
            <a:prstGeom prst="straightConnector1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75" name="Text Box 195"/>
            <p:cNvSpPr txBox="1">
              <a:spLocks noChangeArrowheads="1"/>
            </p:cNvSpPr>
            <p:nvPr/>
          </p:nvSpPr>
          <p:spPr bwMode="auto">
            <a:xfrm>
              <a:off x="6548480" y="2919725"/>
              <a:ext cx="523850" cy="437043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 fontAlgn="base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zh-CN" sz="2800" b="1" kern="0" dirty="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p</a:t>
              </a:r>
              <a:endParaRPr kumimoji="1" lang="en-US" altLang="zh-CN" sz="2800" b="1" kern="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76" name="组合 44"/>
          <p:cNvGrpSpPr/>
          <p:nvPr/>
        </p:nvGrpSpPr>
        <p:grpSpPr>
          <a:xfrm>
            <a:off x="5787232" y="2778115"/>
            <a:ext cx="596082" cy="642942"/>
            <a:chOff x="7262066" y="2786058"/>
            <a:chExt cx="596082" cy="642942"/>
          </a:xfrm>
        </p:grpSpPr>
        <p:cxnSp>
          <p:nvCxnSpPr>
            <p:cNvPr id="77" name="直接箭头连接符 76"/>
            <p:cNvCxnSpPr/>
            <p:nvPr/>
          </p:nvCxnSpPr>
          <p:spPr bwMode="auto">
            <a:xfrm rot="5400000" flipH="1" flipV="1">
              <a:off x="6941389" y="3106735"/>
              <a:ext cx="642942" cy="1588"/>
            </a:xfrm>
            <a:prstGeom prst="straightConnector1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78" name="Text Box 195"/>
            <p:cNvSpPr txBox="1">
              <a:spLocks noChangeArrowheads="1"/>
            </p:cNvSpPr>
            <p:nvPr/>
          </p:nvSpPr>
          <p:spPr bwMode="auto">
            <a:xfrm>
              <a:off x="7334298" y="2919725"/>
              <a:ext cx="523850" cy="437043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 fontAlgn="base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zh-CN" sz="2800" b="1" kern="0" dirty="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q</a:t>
              </a:r>
              <a:endParaRPr kumimoji="1" lang="en-US" altLang="zh-CN" sz="2800" b="1" kern="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41" name="组合 51"/>
          <p:cNvGrpSpPr/>
          <p:nvPr/>
        </p:nvGrpSpPr>
        <p:grpSpPr>
          <a:xfrm>
            <a:off x="6629400" y="1143000"/>
            <a:ext cx="1083744" cy="461665"/>
            <a:chOff x="2786050" y="1571612"/>
            <a:chExt cx="3857652" cy="461665"/>
          </a:xfrm>
        </p:grpSpPr>
        <p:sp>
          <p:nvSpPr>
            <p:cNvPr id="42" name="TextBox 41"/>
            <p:cNvSpPr txBox="1"/>
            <p:nvPr/>
          </p:nvSpPr>
          <p:spPr>
            <a:xfrm>
              <a:off x="3821758" y="1571612"/>
              <a:ext cx="1886293" cy="461665"/>
            </a:xfrm>
            <a:prstGeom prst="rect">
              <a:avLst/>
            </a:prstGeom>
            <a:solidFill>
              <a:srgbClr val="DBF5F9">
                <a:lumMod val="90000"/>
              </a:srgbClr>
            </a:solidFill>
          </p:spPr>
          <p:txBody>
            <a:bodyPr wrap="none" rtlCol="0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zh-CN" altLang="en-US" sz="2400" b="1" kern="0" dirty="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交换</a:t>
              </a:r>
              <a:endParaRPr kumimoji="1" lang="zh-CN" altLang="en-US" sz="2400" b="1" kern="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cxnSp>
          <p:nvCxnSpPr>
            <p:cNvPr id="43" name="直接箭头连接符 42"/>
            <p:cNvCxnSpPr/>
            <p:nvPr/>
          </p:nvCxnSpPr>
          <p:spPr bwMode="auto">
            <a:xfrm>
              <a:off x="2786050" y="1571612"/>
              <a:ext cx="3857652" cy="1588"/>
            </a:xfrm>
            <a:prstGeom prst="straightConnector1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round/>
              <a:headEnd type="arrow"/>
              <a:tailEnd type="arrow"/>
            </a:ln>
            <a:effectLst/>
          </p:spPr>
        </p:cxnSp>
      </p:grpSp>
      <p:sp>
        <p:nvSpPr>
          <p:cNvPr id="46" name="Text Box 228"/>
          <p:cNvSpPr txBox="1">
            <a:spLocks noChangeArrowheads="1"/>
          </p:cNvSpPr>
          <p:nvPr/>
        </p:nvSpPr>
        <p:spPr bwMode="auto">
          <a:xfrm>
            <a:off x="142877" y="3894142"/>
            <a:ext cx="1428727" cy="112646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=7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p=5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8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）</a:t>
            </a:r>
            <a:endParaRPr kumimoji="1" lang="en-US" altLang="zh-CN" sz="28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q=4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48" name="Group 306"/>
          <p:cNvGraphicFramePr>
            <a:graphicFrameLocks noGrp="1"/>
          </p:cNvGraphicFramePr>
          <p:nvPr/>
        </p:nvGraphicFramePr>
        <p:xfrm>
          <a:off x="1885977" y="3589343"/>
          <a:ext cx="6767513" cy="519113"/>
        </p:xfrm>
        <a:graphic>
          <a:graphicData uri="http://schemas.openxmlformats.org/drawingml/2006/table">
            <a:tbl>
              <a:tblPr/>
              <a:tblGrid>
                <a:gridCol w="752475"/>
                <a:gridCol w="750888"/>
                <a:gridCol w="752475"/>
                <a:gridCol w="752475"/>
                <a:gridCol w="750887"/>
                <a:gridCol w="752475"/>
                <a:gridCol w="752475"/>
                <a:gridCol w="750888"/>
                <a:gridCol w="752475"/>
              </a:tblGrid>
              <a:tr h="5191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2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3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4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5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6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8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62" name="组合 25"/>
          <p:cNvGrpSpPr/>
          <p:nvPr/>
        </p:nvGrpSpPr>
        <p:grpSpPr>
          <a:xfrm>
            <a:off x="7539030" y="5053584"/>
            <a:ext cx="596082" cy="642942"/>
            <a:chOff x="7262066" y="4786322"/>
            <a:chExt cx="596082" cy="642942"/>
          </a:xfrm>
        </p:grpSpPr>
        <p:cxnSp>
          <p:nvCxnSpPr>
            <p:cNvPr id="79" name="直接箭头连接符 78"/>
            <p:cNvCxnSpPr/>
            <p:nvPr/>
          </p:nvCxnSpPr>
          <p:spPr bwMode="auto">
            <a:xfrm rot="5400000" flipH="1" flipV="1">
              <a:off x="6941389" y="5106999"/>
              <a:ext cx="642942" cy="1588"/>
            </a:xfrm>
            <a:prstGeom prst="straightConnector1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80" name="Text Box 195"/>
            <p:cNvSpPr txBox="1">
              <a:spLocks noChangeArrowheads="1"/>
            </p:cNvSpPr>
            <p:nvPr/>
          </p:nvSpPr>
          <p:spPr bwMode="auto">
            <a:xfrm>
              <a:off x="7334298" y="4919989"/>
              <a:ext cx="523850" cy="437043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 fontAlgn="base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zh-CN" sz="2800" b="1" kern="0" dirty="0" err="1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endParaRPr kumimoji="1" lang="en-US" altLang="zh-CN" sz="2800" b="1" kern="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81" name="组合 48"/>
          <p:cNvGrpSpPr/>
          <p:nvPr/>
        </p:nvGrpSpPr>
        <p:grpSpPr>
          <a:xfrm>
            <a:off x="8229600" y="5046057"/>
            <a:ext cx="596082" cy="642942"/>
            <a:chOff x="6476248" y="2786058"/>
            <a:chExt cx="596082" cy="642942"/>
          </a:xfrm>
        </p:grpSpPr>
        <p:cxnSp>
          <p:nvCxnSpPr>
            <p:cNvPr id="82" name="直接箭头连接符 81"/>
            <p:cNvCxnSpPr/>
            <p:nvPr/>
          </p:nvCxnSpPr>
          <p:spPr bwMode="auto">
            <a:xfrm rot="5400000" flipH="1" flipV="1">
              <a:off x="6155571" y="3106735"/>
              <a:ext cx="642942" cy="1588"/>
            </a:xfrm>
            <a:prstGeom prst="straightConnector1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83" name="Text Box 195"/>
            <p:cNvSpPr txBox="1">
              <a:spLocks noChangeArrowheads="1"/>
            </p:cNvSpPr>
            <p:nvPr/>
          </p:nvSpPr>
          <p:spPr bwMode="auto">
            <a:xfrm>
              <a:off x="6548480" y="2919725"/>
              <a:ext cx="523850" cy="437043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 fontAlgn="base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zh-CN" sz="2800" b="1" kern="0" dirty="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p</a:t>
              </a:r>
              <a:endParaRPr kumimoji="1" lang="en-US" altLang="zh-CN" sz="2800" b="1" kern="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84" name="组合 44"/>
          <p:cNvGrpSpPr/>
          <p:nvPr/>
        </p:nvGrpSpPr>
        <p:grpSpPr>
          <a:xfrm>
            <a:off x="5125302" y="5072058"/>
            <a:ext cx="596082" cy="642942"/>
            <a:chOff x="7262066" y="2786058"/>
            <a:chExt cx="596082" cy="642942"/>
          </a:xfrm>
        </p:grpSpPr>
        <p:cxnSp>
          <p:nvCxnSpPr>
            <p:cNvPr id="85" name="直接箭头连接符 84"/>
            <p:cNvCxnSpPr/>
            <p:nvPr/>
          </p:nvCxnSpPr>
          <p:spPr bwMode="auto">
            <a:xfrm rot="5400000" flipH="1" flipV="1">
              <a:off x="6941389" y="3106735"/>
              <a:ext cx="642942" cy="1588"/>
            </a:xfrm>
            <a:prstGeom prst="straightConnector1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86" name="Text Box 195"/>
            <p:cNvSpPr txBox="1">
              <a:spLocks noChangeArrowheads="1"/>
            </p:cNvSpPr>
            <p:nvPr/>
          </p:nvSpPr>
          <p:spPr bwMode="auto">
            <a:xfrm>
              <a:off x="7334298" y="2919725"/>
              <a:ext cx="523850" cy="437043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 fontAlgn="base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zh-CN" sz="2800" b="1" kern="0" dirty="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q</a:t>
              </a:r>
              <a:endParaRPr kumimoji="1" lang="en-US" altLang="zh-CN" sz="2800" b="1" kern="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/>
      <p:bldP spid="46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" name="Group 303"/>
          <p:cNvGraphicFramePr>
            <a:graphicFrameLocks noGrp="1"/>
          </p:cNvGraphicFramePr>
          <p:nvPr/>
        </p:nvGraphicFramePr>
        <p:xfrm>
          <a:off x="1546225" y="4002092"/>
          <a:ext cx="7319963" cy="1038226"/>
        </p:xfrm>
        <a:graphic>
          <a:graphicData uri="http://schemas.openxmlformats.org/drawingml/2006/table">
            <a:tbl>
              <a:tblPr/>
              <a:tblGrid>
                <a:gridCol w="812800"/>
                <a:gridCol w="812800"/>
                <a:gridCol w="812800"/>
                <a:gridCol w="814388"/>
                <a:gridCol w="814387"/>
                <a:gridCol w="814388"/>
                <a:gridCol w="812800"/>
                <a:gridCol w="812800"/>
                <a:gridCol w="812800"/>
              </a:tblGrid>
              <a:tr h="5191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13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27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38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49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52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65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76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97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91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(6)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(7)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（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）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(6)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(8)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(7)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(8)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7" name="Group 303"/>
          <p:cNvGraphicFramePr>
            <a:graphicFrameLocks noGrp="1"/>
          </p:cNvGraphicFramePr>
          <p:nvPr/>
        </p:nvGraphicFramePr>
        <p:xfrm>
          <a:off x="1546225" y="1784349"/>
          <a:ext cx="7319963" cy="1038226"/>
        </p:xfrm>
        <a:graphic>
          <a:graphicData uri="http://schemas.openxmlformats.org/drawingml/2006/table">
            <a:tbl>
              <a:tblPr/>
              <a:tblGrid>
                <a:gridCol w="812800"/>
                <a:gridCol w="812800"/>
                <a:gridCol w="812800"/>
                <a:gridCol w="814388"/>
                <a:gridCol w="814387"/>
                <a:gridCol w="814388"/>
                <a:gridCol w="812800"/>
                <a:gridCol w="812800"/>
                <a:gridCol w="812800"/>
              </a:tblGrid>
              <a:tr h="5191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13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27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38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49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52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65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97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76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91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(6)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(7)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（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）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(6)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(8)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(7)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6.2.3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表插入排序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D649F-93F4-4796-908E-2EFB870FE4CA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 Box 308"/>
          <p:cNvSpPr txBox="1">
            <a:spLocks noChangeArrowheads="1"/>
          </p:cNvSpPr>
          <p:nvPr/>
        </p:nvSpPr>
        <p:spPr bwMode="auto">
          <a:xfrm>
            <a:off x="468313" y="852487"/>
            <a:ext cx="5832475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表插入排序的示例演示</a:t>
            </a:r>
            <a:endParaRPr kumimoji="1" lang="zh-CN" altLang="en-US" sz="2800" b="1" dirty="0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41" name="组合 51"/>
          <p:cNvGrpSpPr/>
          <p:nvPr/>
        </p:nvGrpSpPr>
        <p:grpSpPr>
          <a:xfrm>
            <a:off x="7374456" y="1143000"/>
            <a:ext cx="1083744" cy="461665"/>
            <a:chOff x="2786050" y="1571612"/>
            <a:chExt cx="3857652" cy="461665"/>
          </a:xfrm>
        </p:grpSpPr>
        <p:sp>
          <p:nvSpPr>
            <p:cNvPr id="42" name="TextBox 41"/>
            <p:cNvSpPr txBox="1"/>
            <p:nvPr/>
          </p:nvSpPr>
          <p:spPr>
            <a:xfrm>
              <a:off x="3821758" y="1571612"/>
              <a:ext cx="1886293" cy="461665"/>
            </a:xfrm>
            <a:prstGeom prst="rect">
              <a:avLst/>
            </a:prstGeom>
            <a:solidFill>
              <a:srgbClr val="DBF5F9">
                <a:lumMod val="90000"/>
              </a:srgbClr>
            </a:solidFill>
          </p:spPr>
          <p:txBody>
            <a:bodyPr wrap="none" rtlCol="0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zh-CN" altLang="en-US" sz="2400" b="1" kern="0" dirty="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交换</a:t>
              </a:r>
              <a:endParaRPr kumimoji="1" lang="zh-CN" altLang="en-US" sz="2400" b="1" kern="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cxnSp>
          <p:nvCxnSpPr>
            <p:cNvPr id="43" name="直接箭头连接符 42"/>
            <p:cNvCxnSpPr/>
            <p:nvPr/>
          </p:nvCxnSpPr>
          <p:spPr bwMode="auto">
            <a:xfrm>
              <a:off x="2786050" y="1571612"/>
              <a:ext cx="3857652" cy="1588"/>
            </a:xfrm>
            <a:prstGeom prst="straightConnector1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round/>
              <a:headEnd type="arrow"/>
              <a:tailEnd type="arrow"/>
            </a:ln>
            <a:effectLst/>
          </p:spPr>
        </p:cxnSp>
      </p:grpSp>
      <p:sp>
        <p:nvSpPr>
          <p:cNvPr id="46" name="Text Box 228"/>
          <p:cNvSpPr txBox="1">
            <a:spLocks noChangeArrowheads="1"/>
          </p:cNvSpPr>
          <p:nvPr/>
        </p:nvSpPr>
        <p:spPr bwMode="auto">
          <a:xfrm>
            <a:off x="142877" y="1676399"/>
            <a:ext cx="1428727" cy="112646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=7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p=5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8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）</a:t>
            </a:r>
            <a:endParaRPr kumimoji="1" lang="en-US" altLang="zh-CN" sz="28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q=4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48" name="Group 306"/>
          <p:cNvGraphicFramePr>
            <a:graphicFrameLocks noGrp="1"/>
          </p:cNvGraphicFramePr>
          <p:nvPr/>
        </p:nvGraphicFramePr>
        <p:xfrm>
          <a:off x="1885977" y="1371600"/>
          <a:ext cx="6767513" cy="519113"/>
        </p:xfrm>
        <a:graphic>
          <a:graphicData uri="http://schemas.openxmlformats.org/drawingml/2006/table">
            <a:tbl>
              <a:tblPr/>
              <a:tblGrid>
                <a:gridCol w="752475"/>
                <a:gridCol w="750888"/>
                <a:gridCol w="752475"/>
                <a:gridCol w="752475"/>
                <a:gridCol w="750887"/>
                <a:gridCol w="752475"/>
                <a:gridCol w="752475"/>
                <a:gridCol w="750888"/>
                <a:gridCol w="752475"/>
              </a:tblGrid>
              <a:tr h="5191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2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3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4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5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6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8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62" name="组合 25"/>
          <p:cNvGrpSpPr/>
          <p:nvPr/>
        </p:nvGrpSpPr>
        <p:grpSpPr>
          <a:xfrm>
            <a:off x="7539030" y="2835841"/>
            <a:ext cx="596082" cy="642942"/>
            <a:chOff x="7262066" y="4786322"/>
            <a:chExt cx="596082" cy="642942"/>
          </a:xfrm>
        </p:grpSpPr>
        <p:cxnSp>
          <p:nvCxnSpPr>
            <p:cNvPr id="79" name="直接箭头连接符 78"/>
            <p:cNvCxnSpPr/>
            <p:nvPr/>
          </p:nvCxnSpPr>
          <p:spPr bwMode="auto">
            <a:xfrm rot="5400000" flipH="1" flipV="1">
              <a:off x="6941389" y="5106999"/>
              <a:ext cx="642942" cy="1588"/>
            </a:xfrm>
            <a:prstGeom prst="straightConnector1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80" name="Text Box 195"/>
            <p:cNvSpPr txBox="1">
              <a:spLocks noChangeArrowheads="1"/>
            </p:cNvSpPr>
            <p:nvPr/>
          </p:nvSpPr>
          <p:spPr bwMode="auto">
            <a:xfrm>
              <a:off x="7334298" y="4919989"/>
              <a:ext cx="523850" cy="437043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 fontAlgn="base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zh-CN" sz="2800" b="1" kern="0" dirty="0" err="1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endParaRPr kumimoji="1" lang="en-US" altLang="zh-CN" sz="2800" b="1" kern="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81" name="组合 48"/>
          <p:cNvGrpSpPr/>
          <p:nvPr/>
        </p:nvGrpSpPr>
        <p:grpSpPr>
          <a:xfrm>
            <a:off x="8229600" y="2828314"/>
            <a:ext cx="596082" cy="642942"/>
            <a:chOff x="6476248" y="2786058"/>
            <a:chExt cx="596082" cy="642942"/>
          </a:xfrm>
        </p:grpSpPr>
        <p:cxnSp>
          <p:nvCxnSpPr>
            <p:cNvPr id="82" name="直接箭头连接符 81"/>
            <p:cNvCxnSpPr/>
            <p:nvPr/>
          </p:nvCxnSpPr>
          <p:spPr bwMode="auto">
            <a:xfrm rot="5400000" flipH="1" flipV="1">
              <a:off x="6155571" y="3106735"/>
              <a:ext cx="642942" cy="1588"/>
            </a:xfrm>
            <a:prstGeom prst="straightConnector1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83" name="Text Box 195"/>
            <p:cNvSpPr txBox="1">
              <a:spLocks noChangeArrowheads="1"/>
            </p:cNvSpPr>
            <p:nvPr/>
          </p:nvSpPr>
          <p:spPr bwMode="auto">
            <a:xfrm>
              <a:off x="6548480" y="2919725"/>
              <a:ext cx="523850" cy="437043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 fontAlgn="base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zh-CN" sz="2800" b="1" kern="0" dirty="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p</a:t>
              </a:r>
              <a:endParaRPr kumimoji="1" lang="en-US" altLang="zh-CN" sz="2800" b="1" kern="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84" name="组合 44"/>
          <p:cNvGrpSpPr/>
          <p:nvPr/>
        </p:nvGrpSpPr>
        <p:grpSpPr>
          <a:xfrm>
            <a:off x="5125302" y="2854315"/>
            <a:ext cx="596082" cy="642942"/>
            <a:chOff x="7262066" y="2786058"/>
            <a:chExt cx="596082" cy="642942"/>
          </a:xfrm>
        </p:grpSpPr>
        <p:cxnSp>
          <p:nvCxnSpPr>
            <p:cNvPr id="85" name="直接箭头连接符 84"/>
            <p:cNvCxnSpPr/>
            <p:nvPr/>
          </p:nvCxnSpPr>
          <p:spPr bwMode="auto">
            <a:xfrm rot="5400000" flipH="1" flipV="1">
              <a:off x="6941389" y="3106735"/>
              <a:ext cx="642942" cy="1588"/>
            </a:xfrm>
            <a:prstGeom prst="straightConnector1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86" name="Text Box 195"/>
            <p:cNvSpPr txBox="1">
              <a:spLocks noChangeArrowheads="1"/>
            </p:cNvSpPr>
            <p:nvPr/>
          </p:nvSpPr>
          <p:spPr bwMode="auto">
            <a:xfrm>
              <a:off x="7334298" y="2919725"/>
              <a:ext cx="523850" cy="437043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 fontAlgn="base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zh-CN" sz="2800" b="1" kern="0" dirty="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q</a:t>
              </a:r>
              <a:endParaRPr kumimoji="1" lang="en-US" altLang="zh-CN" sz="2800" b="1" kern="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sp>
        <p:nvSpPr>
          <p:cNvPr id="50" name="Text Box 228"/>
          <p:cNvSpPr txBox="1">
            <a:spLocks noChangeArrowheads="1"/>
          </p:cNvSpPr>
          <p:nvPr/>
        </p:nvSpPr>
        <p:spPr bwMode="auto">
          <a:xfrm>
            <a:off x="142877" y="3894142"/>
            <a:ext cx="1428727" cy="112646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=8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p=4</a:t>
            </a: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kumimoji="1"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6,7,8</a:t>
            </a: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）</a:t>
            </a:r>
            <a:endParaRPr kumimoji="1" lang="en-US" altLang="zh-CN" sz="16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q=0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52" name="Group 306"/>
          <p:cNvGraphicFramePr>
            <a:graphicFrameLocks noGrp="1"/>
          </p:cNvGraphicFramePr>
          <p:nvPr/>
        </p:nvGraphicFramePr>
        <p:xfrm>
          <a:off x="1885977" y="3589343"/>
          <a:ext cx="6767513" cy="519113"/>
        </p:xfrm>
        <a:graphic>
          <a:graphicData uri="http://schemas.openxmlformats.org/drawingml/2006/table">
            <a:tbl>
              <a:tblPr/>
              <a:tblGrid>
                <a:gridCol w="752475"/>
                <a:gridCol w="750888"/>
                <a:gridCol w="752475"/>
                <a:gridCol w="752475"/>
                <a:gridCol w="750887"/>
                <a:gridCol w="752475"/>
                <a:gridCol w="752475"/>
                <a:gridCol w="750888"/>
                <a:gridCol w="752475"/>
              </a:tblGrid>
              <a:tr h="5191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2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3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4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5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6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8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53" name="组合 25"/>
          <p:cNvGrpSpPr/>
          <p:nvPr/>
        </p:nvGrpSpPr>
        <p:grpSpPr>
          <a:xfrm>
            <a:off x="8563757" y="5029200"/>
            <a:ext cx="596082" cy="642942"/>
            <a:chOff x="7262066" y="4786322"/>
            <a:chExt cx="596082" cy="642942"/>
          </a:xfrm>
        </p:grpSpPr>
        <p:cxnSp>
          <p:nvCxnSpPr>
            <p:cNvPr id="54" name="直接箭头连接符 53"/>
            <p:cNvCxnSpPr/>
            <p:nvPr/>
          </p:nvCxnSpPr>
          <p:spPr bwMode="auto">
            <a:xfrm rot="5400000" flipH="1" flipV="1">
              <a:off x="6941389" y="5106999"/>
              <a:ext cx="642942" cy="1588"/>
            </a:xfrm>
            <a:prstGeom prst="straightConnector1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55" name="Text Box 195"/>
            <p:cNvSpPr txBox="1">
              <a:spLocks noChangeArrowheads="1"/>
            </p:cNvSpPr>
            <p:nvPr/>
          </p:nvSpPr>
          <p:spPr bwMode="auto">
            <a:xfrm>
              <a:off x="7334298" y="4919989"/>
              <a:ext cx="523850" cy="437043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 fontAlgn="base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zh-CN" sz="2800" b="1" kern="0" dirty="0" err="1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</a:t>
              </a:r>
              <a:endParaRPr kumimoji="1" lang="en-US" altLang="zh-CN" sz="2800" b="1" kern="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56" name="组合 48"/>
          <p:cNvGrpSpPr/>
          <p:nvPr/>
        </p:nvGrpSpPr>
        <p:grpSpPr>
          <a:xfrm>
            <a:off x="8229600" y="5046057"/>
            <a:ext cx="596082" cy="642942"/>
            <a:chOff x="6476248" y="2786058"/>
            <a:chExt cx="596082" cy="642942"/>
          </a:xfrm>
        </p:grpSpPr>
        <p:cxnSp>
          <p:nvCxnSpPr>
            <p:cNvPr id="57" name="直接箭头连接符 56"/>
            <p:cNvCxnSpPr/>
            <p:nvPr/>
          </p:nvCxnSpPr>
          <p:spPr bwMode="auto">
            <a:xfrm rot="5400000" flipH="1" flipV="1">
              <a:off x="6155571" y="3106735"/>
              <a:ext cx="642942" cy="1588"/>
            </a:xfrm>
            <a:prstGeom prst="straightConnector1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58" name="Text Box 195"/>
            <p:cNvSpPr txBox="1">
              <a:spLocks noChangeArrowheads="1"/>
            </p:cNvSpPr>
            <p:nvPr/>
          </p:nvSpPr>
          <p:spPr bwMode="auto">
            <a:xfrm>
              <a:off x="6548480" y="2919725"/>
              <a:ext cx="523850" cy="437043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 fontAlgn="base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zh-CN" sz="2800" b="1" kern="0" dirty="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p</a:t>
              </a:r>
              <a:endParaRPr kumimoji="1" lang="en-US" altLang="zh-CN" sz="2800" b="1" kern="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59" name="组合 44"/>
          <p:cNvGrpSpPr/>
          <p:nvPr/>
        </p:nvGrpSpPr>
        <p:grpSpPr>
          <a:xfrm>
            <a:off x="1828800" y="5076774"/>
            <a:ext cx="596082" cy="642942"/>
            <a:chOff x="7262066" y="2786058"/>
            <a:chExt cx="596082" cy="642942"/>
          </a:xfrm>
        </p:grpSpPr>
        <p:cxnSp>
          <p:nvCxnSpPr>
            <p:cNvPr id="60" name="直接箭头连接符 59"/>
            <p:cNvCxnSpPr/>
            <p:nvPr/>
          </p:nvCxnSpPr>
          <p:spPr bwMode="auto">
            <a:xfrm rot="5400000" flipH="1" flipV="1">
              <a:off x="6941389" y="3106735"/>
              <a:ext cx="642942" cy="1588"/>
            </a:xfrm>
            <a:prstGeom prst="straightConnector1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61" name="Text Box 195"/>
            <p:cNvSpPr txBox="1">
              <a:spLocks noChangeArrowheads="1"/>
            </p:cNvSpPr>
            <p:nvPr/>
          </p:nvSpPr>
          <p:spPr bwMode="auto">
            <a:xfrm>
              <a:off x="7334298" y="2919725"/>
              <a:ext cx="523850" cy="437043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 fontAlgn="base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zh-CN" sz="2800" b="1" kern="0" dirty="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q</a:t>
              </a:r>
              <a:endParaRPr kumimoji="1" lang="en-US" altLang="zh-CN" sz="2800" b="1" kern="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50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6.2.3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表插入排序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B52D1-58B7-4D41-A284-E66E8D320079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6"/>
          <p:cNvSpPr txBox="1">
            <a:spLocks noChangeArrowheads="1"/>
          </p:cNvSpPr>
          <p:nvPr/>
        </p:nvSpPr>
        <p:spPr bwMode="auto">
          <a:xfrm>
            <a:off x="304800" y="1485900"/>
            <a:ext cx="8776762" cy="5133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void Arrange (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SLinkListType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&amp;SL) {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p = 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SL.r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[0].next;         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// p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指示第一个记录的当前位置</a:t>
            </a:r>
            <a:endParaRPr kumimoji="1" lang="zh-CN" altLang="en-US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for ( </a:t>
            </a:r>
            <a:r>
              <a:rPr kumimoji="1" lang="en-US" altLang="zh-CN" sz="2800" b="1" dirty="0" err="1">
                <a:solidFill>
                  <a:srgbClr val="FF330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=1; </a:t>
            </a:r>
            <a:r>
              <a:rPr kumimoji="1" lang="en-US" altLang="zh-CN" sz="2800" b="1" dirty="0" err="1">
                <a:solidFill>
                  <a:srgbClr val="FF330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&lt;</a:t>
            </a:r>
            <a:r>
              <a:rPr kumimoji="1" lang="en-US" altLang="zh-CN" sz="2800" b="1" dirty="0" err="1">
                <a:solidFill>
                  <a:srgbClr val="FF3300"/>
                </a:solidFill>
                <a:latin typeface="Times New Roman" panose="02020603050405020304" pitchFamily="18" charset="0"/>
              </a:rPr>
              <a:t>Sl.length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; ++</a:t>
            </a:r>
            <a:r>
              <a:rPr kumimoji="1" lang="en-US" altLang="zh-CN" sz="2800" b="1" dirty="0" err="1">
                <a:solidFill>
                  <a:srgbClr val="FF330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 ) { </a:t>
            </a:r>
            <a:endParaRPr kumimoji="1" lang="en-US" altLang="zh-CN" sz="2800" b="1" dirty="0">
              <a:solidFill>
                <a:srgbClr val="FF3300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    while (p&lt;</a:t>
            </a:r>
            <a:r>
              <a:rPr kumimoji="1" lang="en-US" altLang="zh-CN" sz="2800" b="1" dirty="0" err="1">
                <a:solidFill>
                  <a:srgbClr val="FF330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)  p = </a:t>
            </a:r>
            <a:r>
              <a:rPr kumimoji="1" lang="en-US" altLang="zh-CN" sz="2800" b="1" dirty="0" err="1">
                <a:solidFill>
                  <a:srgbClr val="FF3300"/>
                </a:solidFill>
                <a:latin typeface="Times New Roman" panose="02020603050405020304" pitchFamily="18" charset="0"/>
              </a:rPr>
              <a:t>SL.r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[p].next</a:t>
            </a:r>
            <a:r>
              <a:rPr kumimoji="1" lang="en-US" altLang="zh-CN" b="1" dirty="0">
                <a:latin typeface="Times New Roman" panose="02020603050405020304" pitchFamily="18" charset="0"/>
              </a:rPr>
              <a:t>;//</a:t>
            </a:r>
            <a:r>
              <a:rPr kumimoji="1" lang="zh-CN" altLang="en-US" b="1" dirty="0">
                <a:latin typeface="Times New Roman" panose="02020603050405020304" pitchFamily="18" charset="0"/>
              </a:rPr>
              <a:t>找到第</a:t>
            </a:r>
            <a:r>
              <a:rPr kumimoji="1" lang="en-US" altLang="zh-CN" b="1" dirty="0" err="1">
                <a:latin typeface="Times New Roman" panose="02020603050405020304" pitchFamily="18" charset="0"/>
              </a:rPr>
              <a:t>i</a:t>
            </a:r>
            <a:r>
              <a:rPr kumimoji="1" lang="zh-CN" altLang="en-US" b="1" dirty="0">
                <a:latin typeface="Times New Roman" panose="02020603050405020304" pitchFamily="18" charset="0"/>
              </a:rPr>
              <a:t>个记录，用</a:t>
            </a:r>
            <a:r>
              <a:rPr kumimoji="1" lang="en-US" altLang="zh-CN" b="1" dirty="0">
                <a:latin typeface="Times New Roman" panose="02020603050405020304" pitchFamily="18" charset="0"/>
              </a:rPr>
              <a:t>p</a:t>
            </a:r>
            <a:r>
              <a:rPr kumimoji="1" lang="zh-CN" altLang="en-US" b="1" dirty="0">
                <a:latin typeface="Times New Roman" panose="02020603050405020304" pitchFamily="18" charset="0"/>
              </a:rPr>
              <a:t>指示其当前位置</a:t>
            </a:r>
            <a:endParaRPr kumimoji="1" lang="en-US" altLang="zh-CN" b="1" dirty="0">
              <a:latin typeface="Times New Roman" panose="02020603050405020304" pitchFamily="18" charset="0"/>
            </a:endParaRPr>
          </a:p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q = 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SL.r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[p].next;                  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// q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指示尚未调整的表尾</a:t>
            </a:r>
            <a:endParaRPr kumimoji="1" lang="zh-CN" altLang="en-US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if ( p!= 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) {//</a:t>
            </a:r>
            <a:r>
              <a:rPr lang="zh-CN" altLang="en-US" b="1" dirty="0"/>
              <a:t>如果</a:t>
            </a:r>
            <a:r>
              <a:rPr lang="en-US" altLang="zh-CN" b="1" dirty="0"/>
              <a:t>p</a:t>
            </a:r>
            <a:r>
              <a:rPr lang="zh-CN" altLang="en-US" b="1" dirty="0"/>
              <a:t>与</a:t>
            </a:r>
            <a:r>
              <a:rPr lang="en-US" altLang="zh-CN" b="1" dirty="0" err="1"/>
              <a:t>i</a:t>
            </a:r>
            <a:r>
              <a:rPr lang="zh-CN" altLang="en-US" b="1" dirty="0"/>
              <a:t>相等，则表明已在正确的位置上，那就不需要调整了</a:t>
            </a:r>
            <a:r>
              <a:rPr lang="zh-CN" altLang="en-US" sz="2800" dirty="0"/>
              <a:t> 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  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SL.r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[p]←→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SL.r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[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];  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// 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交换记录，使第</a:t>
            </a:r>
            <a:r>
              <a:rPr kumimoji="1" lang="en-US" altLang="zh-CN" sz="28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个记录到位</a:t>
            </a:r>
            <a:endParaRPr kumimoji="1" lang="zh-CN" altLang="en-US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  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SL.r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[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].next = p;                         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// 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指向被移走的记录</a:t>
            </a:r>
            <a:endParaRPr kumimoji="1" lang="zh-CN" altLang="en-US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}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p = q;                                    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// p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指示尚未调整的表尾，</a:t>
            </a:r>
            <a:endParaRPr kumimoji="1" lang="zh-CN" altLang="en-US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                                        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// 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为找第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i+1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个记录作准备</a:t>
            </a:r>
            <a:endParaRPr kumimoji="1" lang="zh-CN" altLang="en-US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}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} 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// Arrange</a:t>
            </a:r>
            <a:endParaRPr kumimoji="1" lang="en-US" altLang="zh-CN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" name="Text Box 9"/>
          <p:cNvSpPr txBox="1">
            <a:spLocks noChangeArrowheads="1"/>
          </p:cNvSpPr>
          <p:nvPr/>
        </p:nvSpPr>
        <p:spPr bwMode="auto">
          <a:xfrm>
            <a:off x="377825" y="838200"/>
            <a:ext cx="5832475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表插入排序的记录调整算法</a:t>
            </a:r>
            <a:endParaRPr kumimoji="1" lang="zh-CN" altLang="en-US" sz="2800" b="1" dirty="0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6.2.4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希尔排序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409E7-A22D-4E0B-B3E7-D898B7797E2D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5"/>
          <p:cNvSpPr txBox="1">
            <a:spLocks noChangeArrowheads="1"/>
          </p:cNvSpPr>
          <p:nvPr/>
        </p:nvSpPr>
        <p:spPr bwMode="auto">
          <a:xfrm>
            <a:off x="755650" y="2462212"/>
            <a:ext cx="6985000" cy="11176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        (1)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对待排记录序列先作“宏观”调整，再作“微观”调整。</a:t>
            </a:r>
            <a:endParaRPr kumimoji="1" lang="zh-CN" altLang="en-US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" name="Text Box 6"/>
          <p:cNvSpPr txBox="1">
            <a:spLocks noChangeArrowheads="1"/>
          </p:cNvSpPr>
          <p:nvPr/>
        </p:nvSpPr>
        <p:spPr bwMode="auto">
          <a:xfrm>
            <a:off x="755650" y="3759200"/>
            <a:ext cx="6911975" cy="11176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        (2)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所谓“宏观”调整，指的是，“跳跃式” 的插入排序。</a:t>
            </a:r>
            <a:endParaRPr kumimoji="1" lang="zh-CN" altLang="en-US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" name="Text Box 7"/>
          <p:cNvSpPr txBox="1">
            <a:spLocks noChangeArrowheads="1"/>
          </p:cNvSpPr>
          <p:nvPr/>
        </p:nvSpPr>
        <p:spPr bwMode="auto">
          <a:xfrm>
            <a:off x="611188" y="973137"/>
            <a:ext cx="5832475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>
                <a:solidFill>
                  <a:srgbClr val="0033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</a:rPr>
              <a:t>希尔排序的思想</a:t>
            </a:r>
            <a:endParaRPr kumimoji="1" lang="zh-CN" altLang="en-US" sz="2800" b="1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6.2.4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希尔排序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97BC0-A6EB-498F-B1C8-EF4D6882DC71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6"/>
          <p:cNvSpPr txBox="1">
            <a:spLocks noChangeArrowheads="1"/>
          </p:cNvSpPr>
          <p:nvPr/>
        </p:nvSpPr>
        <p:spPr bwMode="auto">
          <a:xfrm>
            <a:off x="684213" y="1554163"/>
            <a:ext cx="7872412" cy="11176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        (1)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将记录序列分成若干子序列，分别对每个子序列进行插入排序。</a:t>
            </a:r>
            <a:endParaRPr kumimoji="1" lang="zh-CN" altLang="en-US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" name="Text Box 7"/>
          <p:cNvSpPr txBox="1">
            <a:spLocks noChangeArrowheads="1"/>
          </p:cNvSpPr>
          <p:nvPr/>
        </p:nvSpPr>
        <p:spPr bwMode="auto">
          <a:xfrm>
            <a:off x="611188" y="5446713"/>
            <a:ext cx="8027987" cy="860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        (2)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其中，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d 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称为增量，它的值在排序过程中从大到小逐渐缩小，直至最后一趟排序减为 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。</a:t>
            </a:r>
            <a:endParaRPr kumimoji="1" lang="zh-CN" altLang="en-US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" name="Text Box 8"/>
          <p:cNvSpPr txBox="1">
            <a:spLocks noChangeArrowheads="1"/>
          </p:cNvSpPr>
          <p:nvPr/>
        </p:nvSpPr>
        <p:spPr bwMode="auto">
          <a:xfrm>
            <a:off x="1189038" y="2635250"/>
            <a:ext cx="7343775" cy="2655888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  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例如：将 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n 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个记录分成 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d 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个子序列：</a:t>
            </a:r>
            <a:endParaRPr kumimoji="1" lang="zh-CN" altLang="en-US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  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{R[1],R[1+d],R[1+2d],…,R[1+kd]}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  {R[2],R[2+d],R[2+2d],…,R[2+kd]}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   ……………………………………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  {R[d],R[2d],R[3d],…,R[kd],R[(k+1)d]}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" name="Text Box 11"/>
          <p:cNvSpPr txBox="1">
            <a:spLocks noChangeArrowheads="1"/>
          </p:cNvSpPr>
          <p:nvPr/>
        </p:nvSpPr>
        <p:spPr bwMode="auto">
          <a:xfrm>
            <a:off x="684213" y="928687"/>
            <a:ext cx="3167062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希尔排序概述</a:t>
            </a:r>
            <a:endParaRPr kumimoji="1" lang="zh-CN" altLang="en-US" sz="2800" b="1" dirty="0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6.2.4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希尔排序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2A1D6-D15F-4B91-9787-808A3C42BB13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6"/>
          <p:cNvSpPr>
            <a:spLocks noChangeArrowheads="1"/>
          </p:cNvSpPr>
          <p:nvPr/>
        </p:nvSpPr>
        <p:spPr bwMode="auto">
          <a:xfrm>
            <a:off x="1204913" y="1563688"/>
            <a:ext cx="6705600" cy="609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800" b="1" i="0" u="none" strike="noStrike" kern="0" cap="none" spc="0" normalizeH="0" baseline="0" noProof="0">
              <a:ln>
                <a:noFill/>
              </a:ln>
              <a:solidFill>
                <a:srgbClr val="FF66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14" name="Line 7"/>
          <p:cNvSpPr>
            <a:spLocks noChangeShapeType="1"/>
          </p:cNvSpPr>
          <p:nvPr/>
        </p:nvSpPr>
        <p:spPr bwMode="auto">
          <a:xfrm>
            <a:off x="1814513" y="1563688"/>
            <a:ext cx="0" cy="609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5" name="Line 8"/>
          <p:cNvSpPr>
            <a:spLocks noChangeShapeType="1"/>
          </p:cNvSpPr>
          <p:nvPr/>
        </p:nvSpPr>
        <p:spPr bwMode="auto">
          <a:xfrm>
            <a:off x="2424113" y="1563688"/>
            <a:ext cx="0" cy="609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6" name="Line 9"/>
          <p:cNvSpPr>
            <a:spLocks noChangeShapeType="1"/>
          </p:cNvSpPr>
          <p:nvPr/>
        </p:nvSpPr>
        <p:spPr bwMode="auto">
          <a:xfrm>
            <a:off x="3033713" y="1563688"/>
            <a:ext cx="0" cy="609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7" name="Line 10"/>
          <p:cNvSpPr>
            <a:spLocks noChangeShapeType="1"/>
          </p:cNvSpPr>
          <p:nvPr/>
        </p:nvSpPr>
        <p:spPr bwMode="auto">
          <a:xfrm>
            <a:off x="3643313" y="1563688"/>
            <a:ext cx="0" cy="609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8" name="Line 11"/>
          <p:cNvSpPr>
            <a:spLocks noChangeShapeType="1"/>
          </p:cNvSpPr>
          <p:nvPr/>
        </p:nvSpPr>
        <p:spPr bwMode="auto">
          <a:xfrm>
            <a:off x="4252913" y="1563688"/>
            <a:ext cx="0" cy="609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9" name="Line 12"/>
          <p:cNvSpPr>
            <a:spLocks noChangeShapeType="1"/>
          </p:cNvSpPr>
          <p:nvPr/>
        </p:nvSpPr>
        <p:spPr bwMode="auto">
          <a:xfrm>
            <a:off x="4862513" y="1563688"/>
            <a:ext cx="0" cy="609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0" name="Line 13"/>
          <p:cNvSpPr>
            <a:spLocks noChangeShapeType="1"/>
          </p:cNvSpPr>
          <p:nvPr/>
        </p:nvSpPr>
        <p:spPr bwMode="auto">
          <a:xfrm>
            <a:off x="5472113" y="1563688"/>
            <a:ext cx="0" cy="609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1" name="Line 14"/>
          <p:cNvSpPr>
            <a:spLocks noChangeShapeType="1"/>
          </p:cNvSpPr>
          <p:nvPr/>
        </p:nvSpPr>
        <p:spPr bwMode="auto">
          <a:xfrm>
            <a:off x="6081713" y="1563688"/>
            <a:ext cx="0" cy="609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2" name="Line 15"/>
          <p:cNvSpPr>
            <a:spLocks noChangeShapeType="1"/>
          </p:cNvSpPr>
          <p:nvPr/>
        </p:nvSpPr>
        <p:spPr bwMode="auto">
          <a:xfrm>
            <a:off x="6691313" y="1563688"/>
            <a:ext cx="0" cy="609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3" name="Line 16"/>
          <p:cNvSpPr>
            <a:spLocks noChangeShapeType="1"/>
          </p:cNvSpPr>
          <p:nvPr/>
        </p:nvSpPr>
        <p:spPr bwMode="auto">
          <a:xfrm>
            <a:off x="7300913" y="1563688"/>
            <a:ext cx="0" cy="609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4" name="Text Box 50"/>
          <p:cNvSpPr txBox="1">
            <a:spLocks noChangeArrowheads="1"/>
          </p:cNvSpPr>
          <p:nvPr/>
        </p:nvSpPr>
        <p:spPr bwMode="auto">
          <a:xfrm>
            <a:off x="1241425" y="1603375"/>
            <a:ext cx="6940550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16   25   12   30   47  11   23   36    9   18    31   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" name="Text Box 51"/>
          <p:cNvSpPr txBox="1">
            <a:spLocks noChangeArrowheads="1"/>
          </p:cNvSpPr>
          <p:nvPr/>
        </p:nvSpPr>
        <p:spPr bwMode="auto">
          <a:xfrm>
            <a:off x="1116013" y="2251075"/>
            <a:ext cx="4941887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第一趟希尔排序，设增量 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d =5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" name="Text Box 52"/>
          <p:cNvSpPr txBox="1">
            <a:spLocks noChangeArrowheads="1"/>
          </p:cNvSpPr>
          <p:nvPr/>
        </p:nvSpPr>
        <p:spPr bwMode="auto">
          <a:xfrm>
            <a:off x="1204913" y="2967038"/>
            <a:ext cx="6913562" cy="5191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11   </a:t>
            </a:r>
            <a:r>
              <a:rPr kumimoji="1" lang="en-US" altLang="zh-CN" sz="2800" b="1" dirty="0">
                <a:solidFill>
                  <a:srgbClr val="FF6600"/>
                </a:solidFill>
                <a:latin typeface="Times New Roman" panose="02020603050405020304" pitchFamily="18" charset="0"/>
              </a:rPr>
              <a:t>23 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800" b="1" dirty="0">
                <a:solidFill>
                  <a:srgbClr val="840C26"/>
                </a:solidFill>
                <a:latin typeface="Times New Roman" panose="02020603050405020304" pitchFamily="18" charset="0"/>
              </a:rPr>
              <a:t>12  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800" b="1" dirty="0">
                <a:solidFill>
                  <a:srgbClr val="FF66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9 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18    16  </a:t>
            </a:r>
            <a:r>
              <a:rPr kumimoji="1" lang="en-US" altLang="zh-CN" sz="2800" b="1" dirty="0">
                <a:solidFill>
                  <a:srgbClr val="FF6600"/>
                </a:solidFill>
                <a:latin typeface="Times New Roman" panose="02020603050405020304" pitchFamily="18" charset="0"/>
              </a:rPr>
              <a:t>25</a:t>
            </a:r>
            <a:r>
              <a:rPr kumimoji="1" lang="en-US" altLang="zh-CN" sz="2800" b="1" dirty="0">
                <a:solidFill>
                  <a:srgbClr val="FF99FF"/>
                </a:solidFill>
                <a:latin typeface="Times New Roman" panose="02020603050405020304" pitchFamily="18" charset="0"/>
              </a:rPr>
              <a:t>   </a:t>
            </a:r>
            <a:r>
              <a:rPr kumimoji="1" lang="en-US" altLang="zh-CN" sz="2800" b="1" dirty="0">
                <a:solidFill>
                  <a:srgbClr val="840C26"/>
                </a:solidFill>
                <a:latin typeface="Times New Roman" panose="02020603050405020304" pitchFamily="18" charset="0"/>
              </a:rPr>
              <a:t>36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</a:t>
            </a: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30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47    31 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" name="Text Box 53"/>
          <p:cNvSpPr txBox="1">
            <a:spLocks noChangeArrowheads="1"/>
          </p:cNvSpPr>
          <p:nvPr/>
        </p:nvSpPr>
        <p:spPr bwMode="auto">
          <a:xfrm>
            <a:off x="1204913" y="3563938"/>
            <a:ext cx="4941887" cy="5191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第二趟希尔排序，设增量 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d = 3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" name="Text Box 54"/>
          <p:cNvSpPr txBox="1">
            <a:spLocks noChangeArrowheads="1"/>
          </p:cNvSpPr>
          <p:nvPr/>
        </p:nvSpPr>
        <p:spPr bwMode="auto">
          <a:xfrm>
            <a:off x="1246188" y="4287838"/>
            <a:ext cx="7232650" cy="5191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9   </a:t>
            </a:r>
            <a:r>
              <a:rPr kumimoji="1" lang="en-US" altLang="zh-CN" sz="2800" b="1">
                <a:solidFill>
                  <a:srgbClr val="FF6600"/>
                </a:solidFill>
                <a:latin typeface="Times New Roman" panose="02020603050405020304" pitchFamily="18" charset="0"/>
              </a:rPr>
              <a:t>18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    </a:t>
            </a:r>
            <a:r>
              <a:rPr kumimoji="1" lang="en-US" altLang="zh-CN" sz="2800" b="1">
                <a:solidFill>
                  <a:srgbClr val="840C26"/>
                </a:solidFill>
                <a:latin typeface="Times New Roman" panose="02020603050405020304" pitchFamily="18" charset="0"/>
              </a:rPr>
              <a:t>12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  11   </a:t>
            </a:r>
            <a:r>
              <a:rPr kumimoji="1" lang="en-US" altLang="zh-CN" sz="2800" b="1">
                <a:solidFill>
                  <a:srgbClr val="FF6600"/>
                </a:solidFill>
                <a:latin typeface="Times New Roman" panose="02020603050405020304" pitchFamily="18" charset="0"/>
              </a:rPr>
              <a:t>23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    </a:t>
            </a:r>
            <a:r>
              <a:rPr kumimoji="1" lang="en-US" altLang="zh-CN" sz="2800" b="1">
                <a:solidFill>
                  <a:srgbClr val="840C26"/>
                </a:solidFill>
                <a:latin typeface="Times New Roman" panose="02020603050405020304" pitchFamily="18" charset="0"/>
              </a:rPr>
              <a:t>16  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 25   </a:t>
            </a:r>
            <a:r>
              <a:rPr kumimoji="1" lang="en-US" altLang="zh-CN" sz="2800" b="1">
                <a:solidFill>
                  <a:srgbClr val="FF6600"/>
                </a:solidFill>
                <a:latin typeface="Times New Roman" panose="02020603050405020304" pitchFamily="18" charset="0"/>
              </a:rPr>
              <a:t>31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  </a:t>
            </a:r>
            <a:r>
              <a:rPr kumimoji="1" lang="en-US" altLang="zh-CN" sz="2800" b="1">
                <a:solidFill>
                  <a:srgbClr val="840C26"/>
                </a:solidFill>
                <a:latin typeface="Times New Roman" panose="02020603050405020304" pitchFamily="18" charset="0"/>
              </a:rPr>
              <a:t>30  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 47   </a:t>
            </a:r>
            <a:r>
              <a:rPr kumimoji="1" lang="en-US" altLang="zh-CN" sz="2800" b="1">
                <a:solidFill>
                  <a:srgbClr val="FF6600"/>
                </a:solidFill>
                <a:latin typeface="Times New Roman" panose="02020603050405020304" pitchFamily="18" charset="0"/>
              </a:rPr>
              <a:t>36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" name="Text Box 55"/>
          <p:cNvSpPr txBox="1">
            <a:spLocks noChangeArrowheads="1"/>
          </p:cNvSpPr>
          <p:nvPr/>
        </p:nvSpPr>
        <p:spPr bwMode="auto">
          <a:xfrm>
            <a:off x="1204913" y="4845050"/>
            <a:ext cx="4941887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第三趟希尔排序，设增量 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d = 1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" name="Text Box 56"/>
          <p:cNvSpPr txBox="1">
            <a:spLocks noChangeArrowheads="1"/>
          </p:cNvSpPr>
          <p:nvPr/>
        </p:nvSpPr>
        <p:spPr bwMode="auto">
          <a:xfrm>
            <a:off x="1249363" y="5486400"/>
            <a:ext cx="6940550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 9     11  12  16   18    23  25   30   31   36  47 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" name="Rectangle 57"/>
          <p:cNvSpPr>
            <a:spLocks noChangeArrowheads="1"/>
          </p:cNvSpPr>
          <p:nvPr/>
        </p:nvSpPr>
        <p:spPr bwMode="auto">
          <a:xfrm>
            <a:off x="1196975" y="2932113"/>
            <a:ext cx="6705600" cy="609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800" b="1" i="0" u="none" strike="noStrike" kern="0" cap="none" spc="0" normalizeH="0" baseline="0" noProof="0">
              <a:ln>
                <a:noFill/>
              </a:ln>
              <a:solidFill>
                <a:srgbClr val="FF66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32" name="Line 58"/>
          <p:cNvSpPr>
            <a:spLocks noChangeShapeType="1"/>
          </p:cNvSpPr>
          <p:nvPr/>
        </p:nvSpPr>
        <p:spPr bwMode="auto">
          <a:xfrm>
            <a:off x="1779588" y="2932113"/>
            <a:ext cx="0" cy="609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3" name="Line 59"/>
          <p:cNvSpPr>
            <a:spLocks noChangeShapeType="1"/>
          </p:cNvSpPr>
          <p:nvPr/>
        </p:nvSpPr>
        <p:spPr bwMode="auto">
          <a:xfrm>
            <a:off x="2389188" y="2932113"/>
            <a:ext cx="0" cy="609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4" name="Line 60"/>
          <p:cNvSpPr>
            <a:spLocks noChangeShapeType="1"/>
          </p:cNvSpPr>
          <p:nvPr/>
        </p:nvSpPr>
        <p:spPr bwMode="auto">
          <a:xfrm>
            <a:off x="2998788" y="2932113"/>
            <a:ext cx="0" cy="609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5" name="Line 61"/>
          <p:cNvSpPr>
            <a:spLocks noChangeShapeType="1"/>
          </p:cNvSpPr>
          <p:nvPr/>
        </p:nvSpPr>
        <p:spPr bwMode="auto">
          <a:xfrm>
            <a:off x="3608388" y="2932113"/>
            <a:ext cx="0" cy="609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6" name="Line 62"/>
          <p:cNvSpPr>
            <a:spLocks noChangeShapeType="1"/>
          </p:cNvSpPr>
          <p:nvPr/>
        </p:nvSpPr>
        <p:spPr bwMode="auto">
          <a:xfrm>
            <a:off x="4217988" y="2932113"/>
            <a:ext cx="0" cy="609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7" name="Line 63"/>
          <p:cNvSpPr>
            <a:spLocks noChangeShapeType="1"/>
          </p:cNvSpPr>
          <p:nvPr/>
        </p:nvSpPr>
        <p:spPr bwMode="auto">
          <a:xfrm>
            <a:off x="4827588" y="2932113"/>
            <a:ext cx="0" cy="609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8" name="Line 64"/>
          <p:cNvSpPr>
            <a:spLocks noChangeShapeType="1"/>
          </p:cNvSpPr>
          <p:nvPr/>
        </p:nvSpPr>
        <p:spPr bwMode="auto">
          <a:xfrm>
            <a:off x="5437188" y="2932113"/>
            <a:ext cx="0" cy="609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9" name="Line 65"/>
          <p:cNvSpPr>
            <a:spLocks noChangeShapeType="1"/>
          </p:cNvSpPr>
          <p:nvPr/>
        </p:nvSpPr>
        <p:spPr bwMode="auto">
          <a:xfrm>
            <a:off x="6046788" y="2932113"/>
            <a:ext cx="0" cy="609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0" name="Line 66"/>
          <p:cNvSpPr>
            <a:spLocks noChangeShapeType="1"/>
          </p:cNvSpPr>
          <p:nvPr/>
        </p:nvSpPr>
        <p:spPr bwMode="auto">
          <a:xfrm>
            <a:off x="6656388" y="2932113"/>
            <a:ext cx="0" cy="609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1" name="Line 67"/>
          <p:cNvSpPr>
            <a:spLocks noChangeShapeType="1"/>
          </p:cNvSpPr>
          <p:nvPr/>
        </p:nvSpPr>
        <p:spPr bwMode="auto">
          <a:xfrm>
            <a:off x="7265988" y="2932113"/>
            <a:ext cx="0" cy="609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2" name="Rectangle 70"/>
          <p:cNvSpPr>
            <a:spLocks noChangeArrowheads="1"/>
          </p:cNvSpPr>
          <p:nvPr/>
        </p:nvSpPr>
        <p:spPr bwMode="auto">
          <a:xfrm>
            <a:off x="1268413" y="4229100"/>
            <a:ext cx="6705600" cy="609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800" b="1" i="0" u="none" strike="noStrike" kern="0" cap="none" spc="0" normalizeH="0" baseline="0" noProof="0">
              <a:ln>
                <a:noFill/>
              </a:ln>
              <a:solidFill>
                <a:srgbClr val="FF66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43" name="Line 71"/>
          <p:cNvSpPr>
            <a:spLocks noChangeShapeType="1"/>
          </p:cNvSpPr>
          <p:nvPr/>
        </p:nvSpPr>
        <p:spPr bwMode="auto">
          <a:xfrm>
            <a:off x="1751013" y="4229100"/>
            <a:ext cx="0" cy="609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4" name="Line 72"/>
          <p:cNvSpPr>
            <a:spLocks noChangeShapeType="1"/>
          </p:cNvSpPr>
          <p:nvPr/>
        </p:nvSpPr>
        <p:spPr bwMode="auto">
          <a:xfrm>
            <a:off x="2360613" y="4229100"/>
            <a:ext cx="0" cy="609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5" name="Line 73"/>
          <p:cNvSpPr>
            <a:spLocks noChangeShapeType="1"/>
          </p:cNvSpPr>
          <p:nvPr/>
        </p:nvSpPr>
        <p:spPr bwMode="auto">
          <a:xfrm>
            <a:off x="2970213" y="4229100"/>
            <a:ext cx="0" cy="609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6" name="Line 74"/>
          <p:cNvSpPr>
            <a:spLocks noChangeShapeType="1"/>
          </p:cNvSpPr>
          <p:nvPr/>
        </p:nvSpPr>
        <p:spPr bwMode="auto">
          <a:xfrm>
            <a:off x="3579813" y="4229100"/>
            <a:ext cx="0" cy="609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7" name="Line 75"/>
          <p:cNvSpPr>
            <a:spLocks noChangeShapeType="1"/>
          </p:cNvSpPr>
          <p:nvPr/>
        </p:nvSpPr>
        <p:spPr bwMode="auto">
          <a:xfrm>
            <a:off x="4189413" y="4229100"/>
            <a:ext cx="0" cy="609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8" name="Line 76"/>
          <p:cNvSpPr>
            <a:spLocks noChangeShapeType="1"/>
          </p:cNvSpPr>
          <p:nvPr/>
        </p:nvSpPr>
        <p:spPr bwMode="auto">
          <a:xfrm>
            <a:off x="4799013" y="4229100"/>
            <a:ext cx="0" cy="609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9" name="Line 77"/>
          <p:cNvSpPr>
            <a:spLocks noChangeShapeType="1"/>
          </p:cNvSpPr>
          <p:nvPr/>
        </p:nvSpPr>
        <p:spPr bwMode="auto">
          <a:xfrm>
            <a:off x="5408613" y="4229100"/>
            <a:ext cx="0" cy="609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0" name="Line 78"/>
          <p:cNvSpPr>
            <a:spLocks noChangeShapeType="1"/>
          </p:cNvSpPr>
          <p:nvPr/>
        </p:nvSpPr>
        <p:spPr bwMode="auto">
          <a:xfrm>
            <a:off x="6018213" y="4229100"/>
            <a:ext cx="0" cy="609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1" name="Line 79"/>
          <p:cNvSpPr>
            <a:spLocks noChangeShapeType="1"/>
          </p:cNvSpPr>
          <p:nvPr/>
        </p:nvSpPr>
        <p:spPr bwMode="auto">
          <a:xfrm>
            <a:off x="6627813" y="4229100"/>
            <a:ext cx="0" cy="609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2" name="Line 80"/>
          <p:cNvSpPr>
            <a:spLocks noChangeShapeType="1"/>
          </p:cNvSpPr>
          <p:nvPr/>
        </p:nvSpPr>
        <p:spPr bwMode="auto">
          <a:xfrm>
            <a:off x="7237413" y="4229100"/>
            <a:ext cx="0" cy="609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3" name="Rectangle 82"/>
          <p:cNvSpPr>
            <a:spLocks noChangeArrowheads="1"/>
          </p:cNvSpPr>
          <p:nvPr/>
        </p:nvSpPr>
        <p:spPr bwMode="auto">
          <a:xfrm>
            <a:off x="1241425" y="5453063"/>
            <a:ext cx="6705600" cy="609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800" b="1" i="0" u="none" strike="noStrike" kern="0" cap="none" spc="0" normalizeH="0" baseline="0" noProof="0">
              <a:ln>
                <a:noFill/>
              </a:ln>
              <a:solidFill>
                <a:srgbClr val="FF66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54" name="Line 83"/>
          <p:cNvSpPr>
            <a:spLocks noChangeShapeType="1"/>
          </p:cNvSpPr>
          <p:nvPr/>
        </p:nvSpPr>
        <p:spPr bwMode="auto">
          <a:xfrm>
            <a:off x="1851025" y="5453063"/>
            <a:ext cx="0" cy="609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5" name="Line 84"/>
          <p:cNvSpPr>
            <a:spLocks noChangeShapeType="1"/>
          </p:cNvSpPr>
          <p:nvPr/>
        </p:nvSpPr>
        <p:spPr bwMode="auto">
          <a:xfrm>
            <a:off x="2460625" y="5453063"/>
            <a:ext cx="0" cy="609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6" name="Line 85"/>
          <p:cNvSpPr>
            <a:spLocks noChangeShapeType="1"/>
          </p:cNvSpPr>
          <p:nvPr/>
        </p:nvSpPr>
        <p:spPr bwMode="auto">
          <a:xfrm>
            <a:off x="3070225" y="5453063"/>
            <a:ext cx="0" cy="609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7" name="Line 86"/>
          <p:cNvSpPr>
            <a:spLocks noChangeShapeType="1"/>
          </p:cNvSpPr>
          <p:nvPr/>
        </p:nvSpPr>
        <p:spPr bwMode="auto">
          <a:xfrm>
            <a:off x="3679825" y="5453063"/>
            <a:ext cx="0" cy="609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8" name="Line 87"/>
          <p:cNvSpPr>
            <a:spLocks noChangeShapeType="1"/>
          </p:cNvSpPr>
          <p:nvPr/>
        </p:nvSpPr>
        <p:spPr bwMode="auto">
          <a:xfrm>
            <a:off x="4289425" y="5453063"/>
            <a:ext cx="0" cy="609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9" name="Line 88"/>
          <p:cNvSpPr>
            <a:spLocks noChangeShapeType="1"/>
          </p:cNvSpPr>
          <p:nvPr/>
        </p:nvSpPr>
        <p:spPr bwMode="auto">
          <a:xfrm>
            <a:off x="4899025" y="5453063"/>
            <a:ext cx="0" cy="609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0" name="Line 89"/>
          <p:cNvSpPr>
            <a:spLocks noChangeShapeType="1"/>
          </p:cNvSpPr>
          <p:nvPr/>
        </p:nvSpPr>
        <p:spPr bwMode="auto">
          <a:xfrm>
            <a:off x="5508625" y="5453063"/>
            <a:ext cx="0" cy="609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1" name="Line 90"/>
          <p:cNvSpPr>
            <a:spLocks noChangeShapeType="1"/>
          </p:cNvSpPr>
          <p:nvPr/>
        </p:nvSpPr>
        <p:spPr bwMode="auto">
          <a:xfrm>
            <a:off x="6118225" y="5453063"/>
            <a:ext cx="0" cy="609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2" name="Line 91"/>
          <p:cNvSpPr>
            <a:spLocks noChangeShapeType="1"/>
          </p:cNvSpPr>
          <p:nvPr/>
        </p:nvSpPr>
        <p:spPr bwMode="auto">
          <a:xfrm>
            <a:off x="6727825" y="5453063"/>
            <a:ext cx="0" cy="609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3" name="Line 92"/>
          <p:cNvSpPr>
            <a:spLocks noChangeShapeType="1"/>
          </p:cNvSpPr>
          <p:nvPr/>
        </p:nvSpPr>
        <p:spPr bwMode="auto">
          <a:xfrm>
            <a:off x="7337425" y="5453063"/>
            <a:ext cx="0" cy="609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4" name="Text Box 95"/>
          <p:cNvSpPr txBox="1">
            <a:spLocks noChangeArrowheads="1"/>
          </p:cNvSpPr>
          <p:nvPr/>
        </p:nvSpPr>
        <p:spPr bwMode="auto">
          <a:xfrm>
            <a:off x="684213" y="914400"/>
            <a:ext cx="3889375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>
                <a:solidFill>
                  <a:srgbClr val="0033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</a:rPr>
              <a:t>希尔排序演示</a:t>
            </a:r>
            <a:endParaRPr kumimoji="1" lang="zh-CN" altLang="en-US" sz="2800" b="1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8" grpId="0"/>
      <p:bldP spid="30" grpId="0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6.2.4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希尔排序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C5E86-E8C4-4E98-B7DA-2D6D18BB0152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54"/>
          <p:cNvSpPr txBox="1">
            <a:spLocks noChangeArrowheads="1"/>
          </p:cNvSpPr>
          <p:nvPr/>
        </p:nvSpPr>
        <p:spPr bwMode="auto">
          <a:xfrm>
            <a:off x="673100" y="1485900"/>
            <a:ext cx="8245475" cy="52197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void 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ShellInsert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( 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SqList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&amp;L, 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int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dk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) {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for ( 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=dk+1; 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&lt;=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L.length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; ++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)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  if (LT(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L.r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[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].key, 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L.r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[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i-dk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].key)) { 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// 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表示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’&lt;’</a:t>
            </a:r>
            <a:endParaRPr kumimoji="1" lang="en-US" altLang="zh-CN" sz="2800" b="1" dirty="0">
              <a:latin typeface="Times New Roman" panose="02020603050405020304" pitchFamily="18" charset="0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    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L.r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[0] = 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L.r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[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];                                  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// 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暂存在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R[0]</a:t>
            </a:r>
            <a:endParaRPr kumimoji="1" lang="en-US" altLang="zh-CN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    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for (j=</a:t>
            </a:r>
            <a:r>
              <a:rPr kumimoji="1" lang="en-US" altLang="zh-CN" sz="2800" b="1" dirty="0" err="1">
                <a:solidFill>
                  <a:srgbClr val="FF3300"/>
                </a:solidFill>
                <a:latin typeface="Times New Roman" panose="02020603050405020304" pitchFamily="18" charset="0"/>
              </a:rPr>
              <a:t>i-dk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;  j&gt;0&amp;&amp;LT(</a:t>
            </a:r>
            <a:r>
              <a:rPr kumimoji="1" lang="en-US" altLang="zh-CN" sz="2800" b="1" dirty="0" err="1">
                <a:solidFill>
                  <a:srgbClr val="FF3300"/>
                </a:solidFill>
                <a:latin typeface="Times New Roman" panose="02020603050405020304" pitchFamily="18" charset="0"/>
              </a:rPr>
              <a:t>L.r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[0].</a:t>
            </a:r>
            <a:r>
              <a:rPr kumimoji="1" lang="en-US" altLang="zh-CN" sz="2800" b="1" dirty="0" err="1">
                <a:solidFill>
                  <a:srgbClr val="FF3300"/>
                </a:solidFill>
                <a:latin typeface="Times New Roman" panose="02020603050405020304" pitchFamily="18" charset="0"/>
              </a:rPr>
              <a:t>key,L.r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[j].key);</a:t>
            </a:r>
            <a:endParaRPr kumimoji="1" lang="en-US" altLang="zh-CN" sz="2800" b="1" dirty="0">
              <a:solidFill>
                <a:srgbClr val="FF3300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                                                                         j-=</a:t>
            </a:r>
            <a:r>
              <a:rPr kumimoji="1" lang="en-US" altLang="zh-CN" sz="2800" b="1" dirty="0" err="1">
                <a:solidFill>
                  <a:srgbClr val="FF3300"/>
                </a:solidFill>
                <a:latin typeface="Times New Roman" panose="02020603050405020304" pitchFamily="18" charset="0"/>
              </a:rPr>
              <a:t>dk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)</a:t>
            </a:r>
            <a:endParaRPr kumimoji="1" lang="en-US" altLang="zh-CN" sz="2800" b="1" dirty="0">
              <a:solidFill>
                <a:srgbClr val="FF3300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       </a:t>
            </a:r>
            <a:r>
              <a:rPr kumimoji="1" lang="en-US" altLang="zh-CN" sz="2800" b="1" dirty="0" err="1">
                <a:solidFill>
                  <a:srgbClr val="FF3300"/>
                </a:solidFill>
                <a:latin typeface="Times New Roman" panose="02020603050405020304" pitchFamily="18" charset="0"/>
              </a:rPr>
              <a:t>L.r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[</a:t>
            </a:r>
            <a:r>
              <a:rPr kumimoji="1" lang="en-US" altLang="zh-CN" sz="2800" b="1" dirty="0" err="1">
                <a:solidFill>
                  <a:srgbClr val="FF3300"/>
                </a:solidFill>
                <a:latin typeface="Times New Roman" panose="02020603050405020304" pitchFamily="18" charset="0"/>
              </a:rPr>
              <a:t>j+dk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] = </a:t>
            </a:r>
            <a:r>
              <a:rPr kumimoji="1" lang="en-US" altLang="zh-CN" sz="2800" b="1" dirty="0" err="1">
                <a:solidFill>
                  <a:srgbClr val="FF3300"/>
                </a:solidFill>
                <a:latin typeface="Times New Roman" panose="02020603050405020304" pitchFamily="18" charset="0"/>
              </a:rPr>
              <a:t>L.r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[j]; 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// 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记录后移，查找插入位置</a:t>
            </a:r>
            <a:endParaRPr kumimoji="1" lang="zh-CN" altLang="en-US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    </a:t>
            </a:r>
            <a:r>
              <a:rPr kumimoji="1" lang="en-US" altLang="zh-CN" sz="2800" b="1" dirty="0" err="1">
                <a:solidFill>
                  <a:srgbClr val="FF3300"/>
                </a:solidFill>
                <a:latin typeface="Times New Roman" panose="02020603050405020304" pitchFamily="18" charset="0"/>
              </a:rPr>
              <a:t>L.r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[</a:t>
            </a:r>
            <a:r>
              <a:rPr kumimoji="1" lang="en-US" altLang="zh-CN" sz="2800" b="1" dirty="0" err="1">
                <a:solidFill>
                  <a:srgbClr val="FF3300"/>
                </a:solidFill>
                <a:latin typeface="Times New Roman" panose="02020603050405020304" pitchFamily="18" charset="0"/>
              </a:rPr>
              <a:t>j+dk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] = </a:t>
            </a:r>
            <a:r>
              <a:rPr kumimoji="1" lang="en-US" altLang="zh-CN" sz="2800" b="1" dirty="0" err="1">
                <a:solidFill>
                  <a:srgbClr val="FF3300"/>
                </a:solidFill>
                <a:latin typeface="Times New Roman" panose="02020603050405020304" pitchFamily="18" charset="0"/>
              </a:rPr>
              <a:t>L.r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[0];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// 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插入</a:t>
            </a:r>
            <a:endParaRPr kumimoji="1" lang="zh-CN" altLang="en-US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  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}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}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" name="Text Box 56"/>
          <p:cNvSpPr txBox="1">
            <a:spLocks noChangeArrowheads="1"/>
          </p:cNvSpPr>
          <p:nvPr/>
        </p:nvSpPr>
        <p:spPr bwMode="auto">
          <a:xfrm>
            <a:off x="457200" y="838200"/>
            <a:ext cx="3384550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>
                <a:solidFill>
                  <a:srgbClr val="0033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</a:rPr>
              <a:t>希尔排序算法</a:t>
            </a:r>
            <a:endParaRPr kumimoji="1" lang="zh-CN" altLang="en-US" sz="2800" b="1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6.2.4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希尔排序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9EE8B-D97A-42B3-B9D9-E6E7B51E3DEC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500034" y="2229481"/>
            <a:ext cx="8072494" cy="363791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void </a:t>
            </a:r>
            <a:r>
              <a:rPr kumimoji="1" lang="en-US" altLang="zh-CN" sz="32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ShellSort</a:t>
            </a:r>
            <a:r>
              <a:rPr kumimoji="1"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(</a:t>
            </a:r>
            <a:r>
              <a:rPr kumimoji="1" lang="en-US" altLang="zh-CN" sz="32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SqList</a:t>
            </a:r>
            <a:r>
              <a:rPr kumimoji="1"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&amp;L, </a:t>
            </a:r>
            <a:r>
              <a:rPr kumimoji="1" lang="en-US" altLang="zh-CN" sz="32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int</a:t>
            </a:r>
            <a:r>
              <a:rPr kumimoji="1"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32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dlta</a:t>
            </a:r>
            <a:r>
              <a:rPr kumimoji="1"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[], </a:t>
            </a:r>
            <a:r>
              <a:rPr kumimoji="1" lang="en-US" altLang="zh-CN" sz="32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int</a:t>
            </a:r>
            <a:r>
              <a:rPr kumimoji="1"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t)</a:t>
            </a:r>
            <a:endParaRPr kumimoji="1" lang="en-US" altLang="zh-CN" sz="32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{ </a:t>
            </a:r>
            <a:r>
              <a:rPr kumimoji="1"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                   // </a:t>
            </a:r>
            <a:r>
              <a:rPr kumimoji="1"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增量为</a:t>
            </a:r>
            <a:r>
              <a:rPr kumimoji="1" lang="en-US" altLang="zh-CN" sz="32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dlta</a:t>
            </a:r>
            <a:r>
              <a:rPr kumimoji="1"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[]</a:t>
            </a:r>
            <a:r>
              <a:rPr kumimoji="1"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的希尔排序</a:t>
            </a:r>
            <a:endParaRPr kumimoji="1" lang="zh-CN" altLang="en-US" sz="32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</a:t>
            </a:r>
            <a:r>
              <a:rPr kumimoji="1"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for (k=0; k&lt;t; ++k)</a:t>
            </a:r>
            <a:endParaRPr kumimoji="1" lang="en-US" altLang="zh-CN" sz="32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     </a:t>
            </a:r>
            <a:r>
              <a:rPr kumimoji="1" lang="en-US" altLang="zh-CN" sz="3200" b="1" dirty="0" err="1">
                <a:solidFill>
                  <a:srgbClr val="FF3300"/>
                </a:solidFill>
                <a:latin typeface="Times New Roman" panose="02020603050405020304" pitchFamily="18" charset="0"/>
              </a:rPr>
              <a:t>ShellInsert</a:t>
            </a:r>
            <a:r>
              <a:rPr kumimoji="1" lang="en-US" altLang="zh-CN" sz="32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(L, </a:t>
            </a:r>
            <a:r>
              <a:rPr kumimoji="1" lang="en-US" altLang="zh-CN" sz="3200" b="1" dirty="0" err="1">
                <a:solidFill>
                  <a:srgbClr val="FF3300"/>
                </a:solidFill>
                <a:latin typeface="Times New Roman" panose="02020603050405020304" pitchFamily="18" charset="0"/>
              </a:rPr>
              <a:t>dlta</a:t>
            </a:r>
            <a:r>
              <a:rPr kumimoji="1" lang="en-US" altLang="zh-CN" sz="32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[k]);</a:t>
            </a:r>
            <a:endParaRPr kumimoji="1" lang="en-US" altLang="zh-CN" sz="3200" b="1" dirty="0">
              <a:solidFill>
                <a:srgbClr val="FF3300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             //</a:t>
            </a:r>
            <a:r>
              <a:rPr kumimoji="1"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一趟增量为</a:t>
            </a:r>
            <a:r>
              <a:rPr kumimoji="1" lang="en-US" altLang="zh-CN" sz="32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dlta</a:t>
            </a:r>
            <a:r>
              <a:rPr kumimoji="1"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[k]</a:t>
            </a:r>
            <a:r>
              <a:rPr kumimoji="1"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的插入排序</a:t>
            </a:r>
            <a:endParaRPr kumimoji="1" lang="zh-CN" altLang="en-US" sz="32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}</a:t>
            </a:r>
            <a:endParaRPr kumimoji="1" lang="en-US" altLang="zh-CN" sz="32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" name="Text Box 6"/>
          <p:cNvSpPr txBox="1">
            <a:spLocks noChangeArrowheads="1"/>
          </p:cNvSpPr>
          <p:nvPr/>
        </p:nvSpPr>
        <p:spPr bwMode="auto">
          <a:xfrm>
            <a:off x="684213" y="1058848"/>
            <a:ext cx="5832475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>
                <a:solidFill>
                  <a:srgbClr val="0033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</a:rPr>
              <a:t>希尔排序算法</a:t>
            </a:r>
            <a:endParaRPr kumimoji="1" lang="zh-CN" altLang="en-US" sz="2800" b="1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6.2.4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希尔排序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56B82-0A4C-497A-BE98-803F25CA09A5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1116013" y="1706563"/>
            <a:ext cx="6408737" cy="3895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    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(1)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稳定性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algn="just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希尔排序是</a:t>
            </a:r>
            <a:r>
              <a:rPr kumimoji="1" lang="zh-CN" altLang="en-US" sz="3200" b="1" u="sng" dirty="0">
                <a:solidFill>
                  <a:srgbClr val="FF3300"/>
                </a:solidFill>
                <a:latin typeface="Times New Roman" panose="02020603050405020304" pitchFamily="18" charset="0"/>
              </a:rPr>
              <a:t>不稳定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的排序方法。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algn="just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3366"/>
                </a:solidFill>
                <a:latin typeface="Times New Roman" panose="02020603050405020304" pitchFamily="18" charset="0"/>
              </a:rPr>
              <a:t>    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(2)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算法效率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algn="just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     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(1)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时间复杂度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algn="just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        平均</a:t>
            </a:r>
            <a:r>
              <a:rPr kumimoji="1" lang="en-US" altLang="zh-CN" sz="3200" b="1" u="sng" dirty="0">
                <a:solidFill>
                  <a:srgbClr val="FF3300"/>
                </a:solidFill>
                <a:latin typeface="Times New Roman" panose="02020603050405020304" pitchFamily="18" charset="0"/>
              </a:rPr>
              <a:t>O(n</a:t>
            </a:r>
            <a:r>
              <a:rPr kumimoji="1" lang="en-US" altLang="zh-CN" sz="3200" b="1" u="sng" baseline="30000" dirty="0">
                <a:solidFill>
                  <a:srgbClr val="FF3300"/>
                </a:solidFill>
                <a:latin typeface="Times New Roman" panose="02020603050405020304" pitchFamily="18" charset="0"/>
              </a:rPr>
              <a:t>1.3</a:t>
            </a:r>
            <a:r>
              <a:rPr kumimoji="1" lang="en-US" altLang="zh-CN" sz="3200" b="1" u="sng" dirty="0">
                <a:solidFill>
                  <a:srgbClr val="FF3300"/>
                </a:solidFill>
                <a:latin typeface="Times New Roman" panose="02020603050405020304" pitchFamily="18" charset="0"/>
              </a:rPr>
              <a:t>)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到平均</a:t>
            </a:r>
            <a:r>
              <a:rPr kumimoji="1" lang="en-US" altLang="zh-CN" sz="3200" b="1" u="sng" dirty="0">
                <a:solidFill>
                  <a:srgbClr val="FF3300"/>
                </a:solidFill>
                <a:latin typeface="Times New Roman" panose="02020603050405020304" pitchFamily="18" charset="0"/>
              </a:rPr>
              <a:t>O(n</a:t>
            </a:r>
            <a:r>
              <a:rPr kumimoji="1" lang="en-US" altLang="zh-CN" sz="3200" b="1" u="sng" baseline="30000" dirty="0">
                <a:solidFill>
                  <a:srgbClr val="FF3300"/>
                </a:solidFill>
                <a:latin typeface="Times New Roman" panose="02020603050405020304" pitchFamily="18" charset="0"/>
              </a:rPr>
              <a:t>1.5</a:t>
            </a:r>
            <a:r>
              <a:rPr kumimoji="1" lang="en-US" altLang="zh-CN" sz="3200" b="1" u="sng" dirty="0">
                <a:solidFill>
                  <a:srgbClr val="FF3300"/>
                </a:solidFill>
                <a:latin typeface="Times New Roman" panose="02020603050405020304" pitchFamily="18" charset="0"/>
              </a:rPr>
              <a:t>)</a:t>
            </a:r>
            <a:endParaRPr kumimoji="1" lang="en-US" altLang="zh-CN" sz="3200" b="1" u="sng" dirty="0">
              <a:solidFill>
                <a:srgbClr val="FF3300"/>
              </a:solidFill>
              <a:latin typeface="Times New Roman" panose="02020603050405020304" pitchFamily="18" charset="0"/>
            </a:endParaRPr>
          </a:p>
          <a:p>
            <a:pPr algn="just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 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(2)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空间复杂度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algn="just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3366"/>
                </a:solidFill>
                <a:latin typeface="Times New Roman" panose="02020603050405020304" pitchFamily="18" charset="0"/>
              </a:rPr>
              <a:t>            </a:t>
            </a:r>
            <a:r>
              <a:rPr kumimoji="1" lang="en-US" altLang="zh-CN" sz="3200" b="1" u="sng" dirty="0">
                <a:solidFill>
                  <a:srgbClr val="FF3300"/>
                </a:solidFill>
                <a:latin typeface="Times New Roman" panose="02020603050405020304" pitchFamily="18" charset="0"/>
              </a:rPr>
              <a:t>O(1)</a:t>
            </a:r>
            <a:r>
              <a:rPr kumimoji="1" lang="zh-CN" altLang="en-US" sz="3200" b="1" u="sng" dirty="0">
                <a:solidFill>
                  <a:srgbClr val="FF3300"/>
                </a:solidFill>
                <a:latin typeface="Times New Roman" panose="02020603050405020304" pitchFamily="18" charset="0"/>
              </a:rPr>
              <a:t>。</a:t>
            </a:r>
            <a:endParaRPr kumimoji="1" lang="zh-CN" altLang="en-US" sz="3200" b="1" u="sng" dirty="0">
              <a:solidFill>
                <a:srgbClr val="FF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" name="Text Box 6"/>
          <p:cNvSpPr txBox="1">
            <a:spLocks noChangeArrowheads="1"/>
          </p:cNvSpPr>
          <p:nvPr/>
        </p:nvSpPr>
        <p:spPr bwMode="auto">
          <a:xfrm>
            <a:off x="684213" y="914400"/>
            <a:ext cx="5832475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>
                <a:solidFill>
                  <a:srgbClr val="0033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</a:rPr>
              <a:t>希尔排序算法分析</a:t>
            </a:r>
            <a:endParaRPr kumimoji="1" lang="zh-CN" altLang="en-US" sz="2800" b="1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F0000"/>
                </a:solidFill>
              </a:rPr>
              <a:t>第六章 排序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 lnSpcReduction="10000"/>
          </a:bodyPr>
          <a:lstStyle/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6.1 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概述</a:t>
            </a:r>
            <a:endParaRPr kumimoji="1" lang="zh-CN" altLang="en-US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6.2 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插入排序</a:t>
            </a:r>
            <a:endParaRPr kumimoji="1" lang="zh-CN" altLang="en-US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6.3  </a:t>
            </a:r>
            <a:r>
              <a:rPr kumimoji="1" lang="zh-CN" altLang="en-US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快速排序</a:t>
            </a:r>
            <a:endParaRPr kumimoji="1" lang="zh-CN" altLang="en-US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6.4 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选择排序</a:t>
            </a:r>
            <a:endParaRPr kumimoji="1" lang="zh-CN" altLang="en-US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6.5 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归并排序</a:t>
            </a:r>
            <a:endParaRPr kumimoji="1" lang="zh-CN" altLang="en-US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6.6 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基数排序</a:t>
            </a:r>
            <a:endParaRPr kumimoji="1" lang="zh-CN" altLang="en-US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6.7 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内部排序方法的比较</a:t>
            </a:r>
            <a:endParaRPr kumimoji="1" lang="zh-CN" altLang="en-US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49B70-04D3-40F7-8D73-618B429E5809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b="1" dirty="0"/>
              <a:t>6.3  </a:t>
            </a:r>
            <a:r>
              <a:rPr lang="zh-CN" altLang="en-US" b="1" dirty="0"/>
              <a:t>快速排序</a:t>
            </a:r>
            <a:endParaRPr lang="zh-CN" altLang="en-US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6.3.1   </a:t>
            </a:r>
            <a:r>
              <a:rPr kumimoji="1" lang="zh-CN" altLang="en-US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气泡排序</a:t>
            </a:r>
            <a:endParaRPr kumimoji="1" lang="zh-CN" altLang="en-US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6.3.2  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快速排序</a:t>
            </a:r>
            <a:endParaRPr kumimoji="1" lang="zh-CN" altLang="en-US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46C2F-EC09-48FB-878A-4848F35C039A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6.3.1 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气泡排序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4C71B-324C-4E76-B804-5CA83F962505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5"/>
          <p:cNvSpPr txBox="1">
            <a:spLocks noChangeArrowheads="1"/>
          </p:cNvSpPr>
          <p:nvPr/>
        </p:nvSpPr>
        <p:spPr bwMode="auto">
          <a:xfrm>
            <a:off x="5791200" y="2781256"/>
            <a:ext cx="3352800" cy="58785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第 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i 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趟起泡排序</a:t>
            </a:r>
            <a:endParaRPr kumimoji="1" lang="zh-CN" altLang="en-US" sz="2800" b="1">
              <a:solidFill>
                <a:srgbClr val="00008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4" name="Rectangle 6"/>
          <p:cNvSpPr>
            <a:spLocks noChangeArrowheads="1"/>
          </p:cNvSpPr>
          <p:nvPr/>
        </p:nvSpPr>
        <p:spPr bwMode="auto">
          <a:xfrm>
            <a:off x="762000" y="1638256"/>
            <a:ext cx="4191000" cy="533400"/>
          </a:xfrm>
          <a:prstGeom prst="rect">
            <a:avLst/>
          </a:prstGeom>
          <a:solidFill>
            <a:srgbClr val="CCFFFF"/>
          </a:solidFill>
          <a:ln w="9525">
            <a:solidFill>
              <a:srgbClr val="04617B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无序序列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R[1..n-i+1]</a:t>
            </a:r>
            <a:endParaRPr kumimoji="1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5" name="Rectangle 11"/>
          <p:cNvSpPr>
            <a:spLocks noChangeArrowheads="1"/>
          </p:cNvSpPr>
          <p:nvPr/>
        </p:nvSpPr>
        <p:spPr bwMode="auto">
          <a:xfrm>
            <a:off x="4953000" y="1638256"/>
            <a:ext cx="3505200" cy="533400"/>
          </a:xfrm>
          <a:prstGeom prst="rect">
            <a:avLst/>
          </a:prstGeom>
          <a:solidFill>
            <a:srgbClr val="66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有序序列 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R[n-i+2..n]</a:t>
            </a:r>
            <a:endParaRPr kumimoji="1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6" name="Line 14"/>
          <p:cNvSpPr>
            <a:spLocks noChangeShapeType="1"/>
          </p:cNvSpPr>
          <p:nvPr/>
        </p:nvSpPr>
        <p:spPr bwMode="auto">
          <a:xfrm>
            <a:off x="4800600" y="1104856"/>
            <a:ext cx="0" cy="5334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tailEnd type="stealth" w="lg" len="lg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7" name="Text Box 15"/>
          <p:cNvSpPr txBox="1">
            <a:spLocks noChangeArrowheads="1"/>
          </p:cNvSpPr>
          <p:nvPr/>
        </p:nvSpPr>
        <p:spPr bwMode="auto">
          <a:xfrm>
            <a:off x="4876800" y="876256"/>
            <a:ext cx="1101584" cy="5847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n-i+1</a:t>
            </a:r>
            <a:endParaRPr kumimoji="1" lang="en-US" altLang="zh-CN" sz="32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8" name="Rectangle 16"/>
          <p:cNvSpPr>
            <a:spLocks noChangeArrowheads="1"/>
          </p:cNvSpPr>
          <p:nvPr/>
        </p:nvSpPr>
        <p:spPr bwMode="auto">
          <a:xfrm>
            <a:off x="762000" y="4610056"/>
            <a:ext cx="3810000" cy="533400"/>
          </a:xfrm>
          <a:prstGeom prst="rect">
            <a:avLst/>
          </a:prstGeom>
          <a:solidFill>
            <a:srgbClr val="CCFFFF"/>
          </a:solidFill>
          <a:ln w="9525">
            <a:solidFill>
              <a:srgbClr val="04617B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无序序列</a:t>
            </a: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R[1..n-i]</a:t>
            </a:r>
            <a:endParaRPr kumimoji="1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9" name="Rectangle 17"/>
          <p:cNvSpPr>
            <a:spLocks noChangeArrowheads="1"/>
          </p:cNvSpPr>
          <p:nvPr/>
        </p:nvSpPr>
        <p:spPr bwMode="auto">
          <a:xfrm>
            <a:off x="4572000" y="4610056"/>
            <a:ext cx="3886200" cy="533400"/>
          </a:xfrm>
          <a:prstGeom prst="rect">
            <a:avLst/>
          </a:prstGeom>
          <a:solidFill>
            <a:srgbClr val="66FFFF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有序序列 </a:t>
            </a: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R[n-i+1..n]</a:t>
            </a:r>
            <a:endParaRPr kumimoji="1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0" name="AutoShape 20"/>
          <p:cNvSpPr>
            <a:spLocks noChangeArrowheads="1"/>
          </p:cNvSpPr>
          <p:nvPr/>
        </p:nvSpPr>
        <p:spPr bwMode="auto">
          <a:xfrm>
            <a:off x="5105400" y="2552656"/>
            <a:ext cx="752484" cy="18288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DBF5F9"/>
          </a:solidFill>
          <a:ln w="9525">
            <a:solidFill>
              <a:srgbClr val="006666"/>
            </a:solidFill>
            <a:miter lim="800000"/>
          </a:ln>
          <a:effectLst/>
        </p:spPr>
        <p:txBody>
          <a:bodyPr vert="eaVert"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1" name="Text Box 21"/>
          <p:cNvSpPr txBox="1">
            <a:spLocks noChangeArrowheads="1"/>
          </p:cNvSpPr>
          <p:nvPr/>
        </p:nvSpPr>
        <p:spPr bwMode="auto">
          <a:xfrm>
            <a:off x="212725" y="2705056"/>
            <a:ext cx="4206875" cy="151426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比较相邻记录，将关键字最大的记录</a:t>
            </a:r>
            <a:r>
              <a:rPr kumimoji="1" lang="zh-CN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交换到 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n-i+1 </a:t>
            </a:r>
            <a:r>
              <a:rPr kumimoji="1" lang="zh-CN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的位置上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2" name="AutoShape 22"/>
          <p:cNvSpPr>
            <a:spLocks noChangeArrowheads="1"/>
          </p:cNvSpPr>
          <p:nvPr/>
        </p:nvSpPr>
        <p:spPr bwMode="auto">
          <a:xfrm>
            <a:off x="2743200" y="2171656"/>
            <a:ext cx="533400" cy="304800"/>
          </a:xfrm>
          <a:prstGeom prst="curvedUpArrow">
            <a:avLst>
              <a:gd name="adj1" fmla="val 22288"/>
              <a:gd name="adj2" fmla="val 57288"/>
              <a:gd name="adj3" fmla="val 33333"/>
            </a:avLst>
          </a:prstGeom>
          <a:solidFill>
            <a:srgbClr val="0F6FC6"/>
          </a:solidFill>
          <a:ln w="9525">
            <a:solidFill>
              <a:srgbClr val="00FFFF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3" name="AutoShape 23"/>
          <p:cNvSpPr>
            <a:spLocks noChangeArrowheads="1"/>
          </p:cNvSpPr>
          <p:nvPr/>
        </p:nvSpPr>
        <p:spPr bwMode="auto">
          <a:xfrm>
            <a:off x="4343400" y="2171656"/>
            <a:ext cx="533400" cy="304800"/>
          </a:xfrm>
          <a:prstGeom prst="curvedUpArrow">
            <a:avLst>
              <a:gd name="adj1" fmla="val 22288"/>
              <a:gd name="adj2" fmla="val 57288"/>
              <a:gd name="adj3" fmla="val 33333"/>
            </a:avLst>
          </a:prstGeom>
          <a:solidFill>
            <a:srgbClr val="0F6FC6"/>
          </a:solidFill>
          <a:ln w="9525">
            <a:solidFill>
              <a:srgbClr val="00FFFF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4" name="AutoShape 24"/>
          <p:cNvSpPr>
            <a:spLocks noChangeArrowheads="1"/>
          </p:cNvSpPr>
          <p:nvPr/>
        </p:nvSpPr>
        <p:spPr bwMode="auto">
          <a:xfrm>
            <a:off x="3810000" y="2171656"/>
            <a:ext cx="533400" cy="304800"/>
          </a:xfrm>
          <a:prstGeom prst="curvedUpArrow">
            <a:avLst>
              <a:gd name="adj1" fmla="val 22288"/>
              <a:gd name="adj2" fmla="val 57288"/>
              <a:gd name="adj3" fmla="val 33333"/>
            </a:avLst>
          </a:prstGeom>
          <a:solidFill>
            <a:srgbClr val="0F6FC6"/>
          </a:solidFill>
          <a:ln w="9525">
            <a:solidFill>
              <a:srgbClr val="00FFFF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5" name="AutoShape 25"/>
          <p:cNvSpPr>
            <a:spLocks noChangeArrowheads="1"/>
          </p:cNvSpPr>
          <p:nvPr/>
        </p:nvSpPr>
        <p:spPr bwMode="auto">
          <a:xfrm>
            <a:off x="3276600" y="2171656"/>
            <a:ext cx="533400" cy="304800"/>
          </a:xfrm>
          <a:prstGeom prst="curvedUpArrow">
            <a:avLst>
              <a:gd name="adj1" fmla="val 22288"/>
              <a:gd name="adj2" fmla="val 57288"/>
              <a:gd name="adj3" fmla="val 33333"/>
            </a:avLst>
          </a:prstGeom>
          <a:solidFill>
            <a:srgbClr val="0F6FC6"/>
          </a:solidFill>
          <a:ln w="9525">
            <a:solidFill>
              <a:srgbClr val="00FFFF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6" name="AutoShape 26"/>
          <p:cNvSpPr>
            <a:spLocks noChangeArrowheads="1"/>
          </p:cNvSpPr>
          <p:nvPr/>
        </p:nvSpPr>
        <p:spPr bwMode="auto">
          <a:xfrm>
            <a:off x="2286000" y="2171656"/>
            <a:ext cx="533400" cy="304800"/>
          </a:xfrm>
          <a:prstGeom prst="curvedUpArrow">
            <a:avLst>
              <a:gd name="adj1" fmla="val 22288"/>
              <a:gd name="adj2" fmla="val 57288"/>
              <a:gd name="adj3" fmla="val 33333"/>
            </a:avLst>
          </a:prstGeom>
          <a:solidFill>
            <a:srgbClr val="0F6FC6"/>
          </a:solidFill>
          <a:ln w="9525">
            <a:solidFill>
              <a:srgbClr val="00FFFF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7" name="AutoShape 27"/>
          <p:cNvSpPr>
            <a:spLocks noChangeArrowheads="1"/>
          </p:cNvSpPr>
          <p:nvPr/>
        </p:nvSpPr>
        <p:spPr bwMode="auto">
          <a:xfrm>
            <a:off x="1828800" y="2171656"/>
            <a:ext cx="533400" cy="304800"/>
          </a:xfrm>
          <a:prstGeom prst="curvedUpArrow">
            <a:avLst>
              <a:gd name="adj1" fmla="val 22288"/>
              <a:gd name="adj2" fmla="val 57288"/>
              <a:gd name="adj3" fmla="val 33333"/>
            </a:avLst>
          </a:prstGeom>
          <a:solidFill>
            <a:srgbClr val="0F6FC6"/>
          </a:solidFill>
          <a:ln w="9525">
            <a:solidFill>
              <a:srgbClr val="00FFFF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8" name="AutoShape 28"/>
          <p:cNvSpPr>
            <a:spLocks noChangeArrowheads="1"/>
          </p:cNvSpPr>
          <p:nvPr/>
        </p:nvSpPr>
        <p:spPr bwMode="auto">
          <a:xfrm>
            <a:off x="1371600" y="2171656"/>
            <a:ext cx="533400" cy="304800"/>
          </a:xfrm>
          <a:prstGeom prst="curvedUpArrow">
            <a:avLst>
              <a:gd name="adj1" fmla="val 22288"/>
              <a:gd name="adj2" fmla="val 57288"/>
              <a:gd name="adj3" fmla="val 33333"/>
            </a:avLst>
          </a:prstGeom>
          <a:solidFill>
            <a:srgbClr val="0F6FC6"/>
          </a:solidFill>
          <a:ln w="9525">
            <a:solidFill>
              <a:srgbClr val="00FFFF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9" name="AutoShape 29"/>
          <p:cNvSpPr>
            <a:spLocks noChangeArrowheads="1"/>
          </p:cNvSpPr>
          <p:nvPr/>
        </p:nvSpPr>
        <p:spPr bwMode="auto">
          <a:xfrm>
            <a:off x="838200" y="2171656"/>
            <a:ext cx="533400" cy="304800"/>
          </a:xfrm>
          <a:prstGeom prst="curvedUpArrow">
            <a:avLst>
              <a:gd name="adj1" fmla="val 22288"/>
              <a:gd name="adj2" fmla="val 57288"/>
              <a:gd name="adj3" fmla="val 33333"/>
            </a:avLst>
          </a:prstGeom>
          <a:solidFill>
            <a:srgbClr val="0F6FC6"/>
          </a:solidFill>
          <a:ln w="9525">
            <a:solidFill>
              <a:srgbClr val="00FFFF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0" name="Line 30"/>
          <p:cNvSpPr>
            <a:spLocks noChangeShapeType="1"/>
          </p:cNvSpPr>
          <p:nvPr/>
        </p:nvSpPr>
        <p:spPr bwMode="auto">
          <a:xfrm>
            <a:off x="4953000" y="2171656"/>
            <a:ext cx="0" cy="2971800"/>
          </a:xfrm>
          <a:prstGeom prst="line">
            <a:avLst/>
          </a:prstGeom>
          <a:noFill/>
          <a:ln w="9525" cap="rnd">
            <a:solidFill>
              <a:srgbClr val="FF6600"/>
            </a:solidFill>
            <a:prstDash val="sysDot"/>
            <a:rou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3000" b="1">
              <a:solidFill>
                <a:srgbClr val="66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1" name="Line 31"/>
          <p:cNvSpPr>
            <a:spLocks noChangeShapeType="1"/>
          </p:cNvSpPr>
          <p:nvPr/>
        </p:nvSpPr>
        <p:spPr bwMode="auto">
          <a:xfrm>
            <a:off x="4572000" y="1638256"/>
            <a:ext cx="0" cy="2971800"/>
          </a:xfrm>
          <a:prstGeom prst="line">
            <a:avLst/>
          </a:prstGeom>
          <a:noFill/>
          <a:ln w="9525" cap="rnd">
            <a:solidFill>
              <a:srgbClr val="FF6600"/>
            </a:solidFill>
            <a:prstDash val="sysDot"/>
            <a:rou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3000" b="1">
              <a:solidFill>
                <a:srgbClr val="66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2" name="右箭头 31">
            <a:hlinkClick r:id="rId2" action="ppaction://hlinkfile"/>
          </p:cNvPr>
          <p:cNvSpPr/>
          <p:nvPr/>
        </p:nvSpPr>
        <p:spPr bwMode="auto">
          <a:xfrm>
            <a:off x="6000760" y="6248400"/>
            <a:ext cx="1000132" cy="571504"/>
          </a:xfrm>
          <a:prstGeom prst="rightArrow">
            <a:avLst/>
          </a:prstGeom>
          <a:solidFill>
            <a:srgbClr val="DBF5F9"/>
          </a:solidFill>
          <a:ln w="28575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rgbClr val="009DD9">
                <a:satMod val="175000"/>
                <a:alpha val="40000"/>
              </a:srgbClr>
            </a:glow>
          </a:effectLst>
        </p:spPr>
        <p:txBody>
          <a:bodyPr vert="horz" wrap="none" lIns="91440" tIns="45720" rIns="91440" bIns="45720" numCol="1" rtlCol="0" anchor="ctr" anchorCtr="0" compatLnSpc="1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图示</a:t>
            </a:r>
            <a:endParaRPr kumimoji="1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14348" y="5257800"/>
            <a:ext cx="7524817" cy="1015663"/>
          </a:xfrm>
          <a:prstGeom prst="rect">
            <a:avLst/>
          </a:prstGeom>
          <a:noFill/>
          <a:ln>
            <a:solidFill>
              <a:srgbClr val="003300"/>
            </a:solidFill>
          </a:ln>
        </p:spPr>
        <p:txBody>
          <a:bodyPr wrap="non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000" b="1" dirty="0">
                <a:solidFill>
                  <a:srgbClr val="0033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气泡排序的特点：</a:t>
            </a:r>
            <a:endParaRPr kumimoji="1" lang="en-US" altLang="zh-CN" sz="3000" b="1" dirty="0">
              <a:solidFill>
                <a:srgbClr val="0033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000" b="1" dirty="0">
                <a:solidFill>
                  <a:srgbClr val="FF33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有序序列中的关键字值都比无序序列中的大</a:t>
            </a:r>
            <a:endParaRPr kumimoji="1" lang="zh-CN" altLang="en-US" sz="3000" b="1" dirty="0">
              <a:solidFill>
                <a:srgbClr val="FF33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34" name="Text Box 2"/>
          <p:cNvSpPr txBox="1">
            <a:spLocks noChangeArrowheads="1"/>
          </p:cNvSpPr>
          <p:nvPr/>
        </p:nvSpPr>
        <p:spPr bwMode="auto">
          <a:xfrm>
            <a:off x="395288" y="1090570"/>
            <a:ext cx="3033704" cy="52322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气泡排序特点    </a:t>
            </a:r>
            <a:endParaRPr kumimoji="1" lang="zh-CN" altLang="en-US" sz="2800" b="1" dirty="0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000"/>
                            </p:stCondLst>
                            <p:childTnLst>
                              <p:par>
                                <p:cTn id="8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500"/>
                            </p:stCondLst>
                            <p:childTnLst>
                              <p:par>
                                <p:cTn id="85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2000"/>
                            </p:stCondLst>
                            <p:childTnLst>
                              <p:par>
                                <p:cTn id="92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utoUpdateAnimBg="0"/>
      <p:bldP spid="14" grpId="0" animBg="1" autoUpdateAnimBg="0"/>
      <p:bldP spid="15" grpId="0" animBg="1" autoUpdateAnimBg="0"/>
      <p:bldP spid="16" grpId="0" animBg="1"/>
      <p:bldP spid="17" grpId="0" autoUpdateAnimBg="0"/>
      <p:bldP spid="18" grpId="0" animBg="1" autoUpdateAnimBg="0"/>
      <p:bldP spid="19" grpId="0" animBg="1" autoUpdateAnimBg="0"/>
      <p:bldP spid="20" grpId="0" animBg="1"/>
      <p:bldP spid="21" grpId="0" autoUpdateAnimBg="0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3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6.3.1 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气泡排序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9BF47-CD8F-4262-8F43-1E9ECAED3335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395288" y="1014412"/>
            <a:ext cx="2449512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基本思想      </a:t>
            </a:r>
            <a:endParaRPr kumimoji="1" lang="zh-CN" altLang="en-US" sz="2800" b="1" dirty="0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" name="Text Box 4"/>
          <p:cNvSpPr txBox="1">
            <a:spLocks noChangeArrowheads="1"/>
          </p:cNvSpPr>
          <p:nvPr/>
        </p:nvSpPr>
        <p:spPr bwMode="auto">
          <a:xfrm>
            <a:off x="900113" y="1965325"/>
            <a:ext cx="7353300" cy="2911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        (1)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从第一个记录开始，两两记录比较，若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F[1].key&gt;F[2].key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，则将两个记录交换；</a:t>
            </a:r>
            <a:endParaRPr kumimoji="1" lang="zh-CN" altLang="en-US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algn="just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        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(2)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第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趟比较结果将序列中关键字最大的记录放置到最后一个位置，称为“沉底”，而最小的则上浮一个位置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;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algn="just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       (3)n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个记录比较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n-1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遍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(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趟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)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。</a:t>
            </a:r>
            <a:endParaRPr kumimoji="1" lang="zh-CN" altLang="en-US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6.3.1 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气泡排序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21051-751B-4660-9B2A-FD8FCFD7E07C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395288" y="950912"/>
            <a:ext cx="1657350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>
                <a:solidFill>
                  <a:srgbClr val="0033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</a:rPr>
              <a:t>算法</a:t>
            </a:r>
            <a:endParaRPr kumimoji="1" lang="zh-CN" altLang="en-US" sz="2800" b="1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2555875" y="1023937"/>
            <a:ext cx="5976938" cy="59864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void 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BubbleSort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SqList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&amp;L )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{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int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i,j,noswap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; 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SqList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temp;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for(</a:t>
            </a:r>
            <a:r>
              <a:rPr kumimoji="1" lang="en-US" altLang="zh-CN" sz="2800" b="1" dirty="0" err="1">
                <a:solidFill>
                  <a:srgbClr val="FF330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=1;i&lt;=n-1;i++)</a:t>
            </a:r>
            <a:endParaRPr kumimoji="1" lang="en-US" altLang="zh-CN" sz="2800" b="1" dirty="0">
              <a:solidFill>
                <a:srgbClr val="FF3300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{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noswap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=TRUE;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for(j=1;j&lt;=n-</a:t>
            </a:r>
            <a:r>
              <a:rPr kumimoji="1" lang="en-US" altLang="zh-CN" sz="2800" b="1" dirty="0" err="1">
                <a:solidFill>
                  <a:srgbClr val="FF3300"/>
                </a:solidFill>
                <a:latin typeface="Times New Roman" panose="02020603050405020304" pitchFamily="18" charset="0"/>
              </a:rPr>
              <a:t>i;j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++)</a:t>
            </a:r>
            <a:endParaRPr kumimoji="1" lang="en-US" altLang="zh-CN" sz="2800" b="1" dirty="0">
              <a:solidFill>
                <a:srgbClr val="FF3300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if (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L.r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[j].key&gt;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L.r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[j+1].key)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{temp=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L.r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[j]; 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L.r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[j]=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L.r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[j+1];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 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L.r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[j+1]=temp;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 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noswap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=FALSE;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}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if (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noswap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)  break;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}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}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" name="右箭头 14">
            <a:hlinkClick r:id="rId2" action="ppaction://hlinkfile"/>
          </p:cNvPr>
          <p:cNvSpPr/>
          <p:nvPr/>
        </p:nvSpPr>
        <p:spPr bwMode="auto">
          <a:xfrm>
            <a:off x="6643702" y="6096000"/>
            <a:ext cx="1000132" cy="571504"/>
          </a:xfrm>
          <a:prstGeom prst="rightArrow">
            <a:avLst/>
          </a:prstGeom>
          <a:solidFill>
            <a:srgbClr val="DBF5F9"/>
          </a:solidFill>
          <a:ln w="28575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>
            <a:glow rad="101600">
              <a:srgbClr val="009DD9">
                <a:satMod val="175000"/>
                <a:alpha val="40000"/>
              </a:srgbClr>
            </a:glow>
          </a:effectLst>
        </p:spPr>
        <p:txBody>
          <a:bodyPr vert="horz" wrap="none" lIns="91440" tIns="45720" rIns="91440" bIns="45720" numCol="1" rtlCol="0" anchor="ctr" anchorCtr="0" compatLnSpc="1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图示</a:t>
            </a:r>
            <a:endParaRPr kumimoji="1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6.3.1 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气泡排序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777C9-6699-4BAE-80DD-EEA7A458C54E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Box 1027"/>
          <p:cNvSpPr txBox="1">
            <a:spLocks noChangeArrowheads="1"/>
          </p:cNvSpPr>
          <p:nvPr/>
        </p:nvSpPr>
        <p:spPr bwMode="auto">
          <a:xfrm>
            <a:off x="342900" y="1334133"/>
            <a:ext cx="7758855" cy="1126462"/>
          </a:xfrm>
          <a:prstGeom prst="rect">
            <a:avLst/>
          </a:prstGeom>
          <a:noFill/>
          <a:ln w="9525">
            <a:solidFill>
              <a:srgbClr val="0F6FC6"/>
            </a:solidFill>
            <a:miter lim="800000"/>
          </a:ln>
          <a:effectLst/>
        </p:spPr>
        <p:txBody>
          <a:bodyPr wrap="none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最好的情况（关键字在记录序列中顺序有序）：</a:t>
            </a:r>
            <a:endParaRPr kumimoji="1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marR="0" lvl="0" indent="0" defTabSz="91440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    只需进行一趟起泡</a:t>
            </a:r>
            <a:endParaRPr kumimoji="1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8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7" name="Text Box 1028"/>
          <p:cNvSpPr txBox="1">
            <a:spLocks noChangeArrowheads="1"/>
          </p:cNvSpPr>
          <p:nvPr/>
        </p:nvSpPr>
        <p:spPr bwMode="auto">
          <a:xfrm>
            <a:off x="609600" y="2596863"/>
            <a:ext cx="2888932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504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“</a:t>
            </a:r>
            <a:r>
              <a:rPr kumimoji="1" lang="zh-CN" altLang="en-US" sz="2800" b="1" dirty="0">
                <a:solidFill>
                  <a:srgbClr val="00504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比较”的次数：</a:t>
            </a:r>
            <a:endParaRPr kumimoji="1" lang="zh-CN" altLang="en-US" sz="2800" b="1" dirty="0">
              <a:solidFill>
                <a:srgbClr val="66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8" name="Text Box 1029"/>
          <p:cNvSpPr txBox="1">
            <a:spLocks noChangeArrowheads="1"/>
          </p:cNvSpPr>
          <p:nvPr/>
        </p:nvSpPr>
        <p:spPr bwMode="auto">
          <a:xfrm>
            <a:off x="358775" y="3736034"/>
            <a:ext cx="7758855" cy="1126462"/>
          </a:xfrm>
          <a:prstGeom prst="rect">
            <a:avLst/>
          </a:prstGeom>
          <a:noFill/>
          <a:ln w="9525">
            <a:solidFill>
              <a:srgbClr val="0F6FC6"/>
            </a:solidFill>
            <a:miter lim="800000"/>
          </a:ln>
          <a:effectLst/>
        </p:spPr>
        <p:txBody>
          <a:bodyPr wrap="none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最坏的情况（关键字在记录序列中逆序有序）：</a:t>
            </a:r>
            <a:endParaRPr kumimoji="1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marR="0" lvl="0" indent="0" defTabSz="91440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    需进行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n-1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趟起泡，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每一次比较交换都移动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次</a:t>
            </a:r>
            <a:endParaRPr kumimoji="1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9" name="Text Box 1030"/>
          <p:cNvSpPr txBox="1">
            <a:spLocks noChangeArrowheads="1"/>
          </p:cNvSpPr>
          <p:nvPr/>
        </p:nvSpPr>
        <p:spPr bwMode="auto">
          <a:xfrm>
            <a:off x="609600" y="5009209"/>
            <a:ext cx="2888932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504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“</a:t>
            </a:r>
            <a:r>
              <a:rPr kumimoji="1" lang="zh-CN" altLang="en-US" sz="2800" b="1">
                <a:solidFill>
                  <a:srgbClr val="00504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比较”的次数：</a:t>
            </a:r>
            <a:endParaRPr kumimoji="1" lang="zh-CN" altLang="en-US" sz="2800" b="1">
              <a:solidFill>
                <a:srgbClr val="66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0" name="Text Box 1032"/>
          <p:cNvSpPr txBox="1">
            <a:spLocks noChangeArrowheads="1"/>
          </p:cNvSpPr>
          <p:nvPr/>
        </p:nvSpPr>
        <p:spPr bwMode="auto">
          <a:xfrm>
            <a:off x="6019800" y="3096929"/>
            <a:ext cx="364202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endParaRPr kumimoji="1" lang="en-US" altLang="zh-CN" sz="2800" b="1" dirty="0">
              <a:solidFill>
                <a:srgbClr val="66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1" name="Rectangle 1035"/>
          <p:cNvSpPr>
            <a:spLocks noChangeArrowheads="1"/>
          </p:cNvSpPr>
          <p:nvPr/>
        </p:nvSpPr>
        <p:spPr bwMode="auto">
          <a:xfrm>
            <a:off x="4876800" y="2506406"/>
            <a:ext cx="2888932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504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“</a:t>
            </a:r>
            <a:r>
              <a:rPr kumimoji="1" lang="zh-CN" altLang="en-US" sz="2800" b="1">
                <a:solidFill>
                  <a:srgbClr val="00504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移动”的次数：</a:t>
            </a:r>
            <a:endParaRPr kumimoji="1" lang="zh-CN" altLang="en-US" sz="2800" b="1">
              <a:solidFill>
                <a:srgbClr val="66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2" name="Rectangle 1036"/>
          <p:cNvSpPr>
            <a:spLocks noChangeArrowheads="1"/>
          </p:cNvSpPr>
          <p:nvPr/>
        </p:nvSpPr>
        <p:spPr bwMode="auto">
          <a:xfrm>
            <a:off x="4876800" y="5009209"/>
            <a:ext cx="2888932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504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“</a:t>
            </a:r>
            <a:r>
              <a:rPr kumimoji="1" lang="zh-CN" altLang="en-US" sz="2800" b="1">
                <a:solidFill>
                  <a:srgbClr val="00504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移动”的次数：</a:t>
            </a:r>
            <a:endParaRPr kumimoji="1" lang="zh-CN" altLang="en-US" sz="2800" b="1">
              <a:solidFill>
                <a:srgbClr val="66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3" name="Text Box 1037"/>
          <p:cNvSpPr txBox="1">
            <a:spLocks noChangeArrowheads="1"/>
          </p:cNvSpPr>
          <p:nvPr/>
        </p:nvSpPr>
        <p:spPr bwMode="auto">
          <a:xfrm>
            <a:off x="1676400" y="3081054"/>
            <a:ext cx="684803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n-1</a:t>
            </a:r>
            <a:endParaRPr kumimoji="1" lang="en-US" altLang="zh-CN" sz="2800" b="1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24" name="Object 1024"/>
          <p:cNvGraphicFramePr>
            <a:graphicFrameLocks noChangeAspect="1"/>
          </p:cNvGraphicFramePr>
          <p:nvPr/>
        </p:nvGraphicFramePr>
        <p:xfrm>
          <a:off x="914400" y="5303837"/>
          <a:ext cx="3048000" cy="1087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4" name="公式" r:id="rId2" imgW="16745585" imgH="5993130" progId="Equation.3">
                  <p:embed/>
                </p:oleObj>
              </mc:Choice>
              <mc:Fallback>
                <p:oleObj name="公式" r:id="rId2" imgW="16745585" imgH="5993130" progId="Equation.3">
                  <p:embed/>
                  <p:pic>
                    <p:nvPicPr>
                      <p:cNvPr id="0" name="图片 27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5303837"/>
                        <a:ext cx="3048000" cy="1087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1025"/>
          <p:cNvGraphicFramePr>
            <a:graphicFrameLocks noChangeAspect="1"/>
          </p:cNvGraphicFramePr>
          <p:nvPr/>
        </p:nvGraphicFramePr>
        <p:xfrm>
          <a:off x="5029200" y="5303837"/>
          <a:ext cx="3429000" cy="1096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5" name="公式" r:id="rId4" imgW="18684875" imgH="5993130" progId="Equation.3">
                  <p:embed/>
                </p:oleObj>
              </mc:Choice>
              <mc:Fallback>
                <p:oleObj name="公式" r:id="rId4" imgW="18684875" imgH="5993130" progId="Equation.3">
                  <p:embed/>
                  <p:pic>
                    <p:nvPicPr>
                      <p:cNvPr id="0" name="图片 27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5303837"/>
                        <a:ext cx="3429000" cy="1096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 Box 2"/>
          <p:cNvSpPr txBox="1">
            <a:spLocks noChangeArrowheads="1"/>
          </p:cNvSpPr>
          <p:nvPr/>
        </p:nvSpPr>
        <p:spPr bwMode="auto">
          <a:xfrm>
            <a:off x="395288" y="834067"/>
            <a:ext cx="2462200" cy="52322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算法分析</a:t>
            </a:r>
            <a:endParaRPr kumimoji="1" lang="zh-CN" altLang="en-US" sz="2800" b="1" dirty="0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 autoUpdateAnimBg="0"/>
      <p:bldP spid="17" grpId="0" autoUpdateAnimBg="0"/>
      <p:bldP spid="18" grpId="0" animBg="1" autoUpdateAnimBg="0"/>
      <p:bldP spid="19" grpId="0" autoUpdateAnimBg="0"/>
      <p:bldP spid="20" grpId="0" autoUpdateAnimBg="0"/>
      <p:bldP spid="21" grpId="0" autoUpdateAnimBg="0"/>
      <p:bldP spid="22" grpId="0" autoUpdateAnimBg="0"/>
      <p:bldP spid="23" grpId="0" autoUpdateAnimBg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6.3.1 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气泡排序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870F2-FC79-4C79-834E-5A255FA7DAB7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3"/>
          <p:cNvSpPr>
            <a:spLocks noChangeArrowheads="1"/>
          </p:cNvSpPr>
          <p:nvPr/>
        </p:nvSpPr>
        <p:spPr bwMode="auto">
          <a:xfrm>
            <a:off x="928662" y="1219533"/>
            <a:ext cx="7127875" cy="5638467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 2" panose="05020102010507070707" pitchFamily="18" charset="2"/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 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(1)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稳定性</a:t>
            </a:r>
            <a:endParaRPr lang="en-US" altLang="zh-CN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 2" panose="05020102010507070707" pitchFamily="18" charset="2"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      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起泡排序是</a:t>
            </a:r>
            <a:r>
              <a:rPr kumimoji="1" lang="zh-CN" altLang="en-US" sz="3200" b="1" u="sng" dirty="0">
                <a:solidFill>
                  <a:srgbClr val="FF3300"/>
                </a:solidFill>
                <a:latin typeface="Times New Roman" panose="02020603050405020304" pitchFamily="18" charset="0"/>
              </a:rPr>
              <a:t>稳定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的排序方法。</a:t>
            </a:r>
            <a:endParaRPr lang="zh-CN" altLang="en-US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      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(2)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时间复杂性</a:t>
            </a:r>
            <a:endParaRPr lang="zh-CN" altLang="en-US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      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最好情况：比较</a:t>
            </a:r>
            <a:r>
              <a:rPr kumimoji="1" lang="en-US" altLang="zh-CN" sz="3200" b="1" u="sng" dirty="0">
                <a:solidFill>
                  <a:srgbClr val="FF3300"/>
                </a:solidFill>
                <a:latin typeface="Times New Roman" panose="02020603050405020304" pitchFamily="18" charset="0"/>
              </a:rPr>
              <a:t>O(n),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移动</a:t>
            </a:r>
            <a:r>
              <a:rPr kumimoji="1" lang="en-US" altLang="zh-CN" sz="3200" b="1" u="sng" dirty="0">
                <a:solidFill>
                  <a:srgbClr val="FF3300"/>
                </a:solidFill>
                <a:latin typeface="Times New Roman" panose="02020603050405020304" pitchFamily="18" charset="0"/>
              </a:rPr>
              <a:t>O(1)</a:t>
            </a:r>
            <a:endParaRPr kumimoji="1" lang="en-US" altLang="zh-CN" sz="3200" b="1" u="sng" dirty="0">
              <a:solidFill>
                <a:srgbClr val="FF3300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      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最坏情况：比较</a:t>
            </a:r>
            <a:r>
              <a:rPr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O(n</a:t>
            </a:r>
            <a:r>
              <a:rPr lang="en-US" altLang="zh-CN" sz="2800" b="1" baseline="30000" dirty="0">
                <a:solidFill>
                  <a:srgbClr val="FF33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),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移动</a:t>
            </a:r>
            <a:r>
              <a:rPr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O(n</a:t>
            </a:r>
            <a:r>
              <a:rPr lang="en-US" altLang="zh-CN" sz="2800" b="1" baseline="30000" dirty="0">
                <a:solidFill>
                  <a:srgbClr val="FF33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)</a:t>
            </a:r>
            <a:endParaRPr lang="en-US" altLang="zh-CN" sz="2800" b="1" dirty="0">
              <a:solidFill>
                <a:srgbClr val="FF3300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          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平均情况：</a:t>
            </a:r>
            <a:r>
              <a:rPr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O(n</a:t>
            </a:r>
            <a:r>
              <a:rPr lang="en-US" altLang="zh-CN" sz="2800" b="1" baseline="30000" dirty="0">
                <a:solidFill>
                  <a:srgbClr val="FF33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)</a:t>
            </a:r>
            <a:endParaRPr lang="en-US" altLang="zh-CN" sz="2800" b="1" dirty="0">
              <a:solidFill>
                <a:srgbClr val="FF3300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      (3)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空间复杂性</a:t>
            </a:r>
            <a:endParaRPr lang="zh-CN" altLang="en-US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           </a:t>
            </a:r>
            <a:r>
              <a:rPr kumimoji="1" lang="en-US" altLang="zh-CN" sz="3200" b="1" u="sng" dirty="0">
                <a:solidFill>
                  <a:srgbClr val="FF3300"/>
                </a:solidFill>
                <a:latin typeface="Times New Roman" panose="02020603050405020304" pitchFamily="18" charset="0"/>
              </a:rPr>
              <a:t>O(1)</a:t>
            </a:r>
            <a:endParaRPr kumimoji="1" lang="en-US" altLang="zh-CN" sz="3200" b="1" u="sng" dirty="0">
              <a:solidFill>
                <a:srgbClr val="FF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" name="Text Box 2"/>
          <p:cNvSpPr txBox="1">
            <a:spLocks noChangeArrowheads="1"/>
          </p:cNvSpPr>
          <p:nvPr/>
        </p:nvSpPr>
        <p:spPr bwMode="auto">
          <a:xfrm>
            <a:off x="395288" y="785770"/>
            <a:ext cx="2462200" cy="52322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算法分析</a:t>
            </a:r>
            <a:endParaRPr kumimoji="1" lang="zh-CN" altLang="en-US" sz="2800" b="1" dirty="0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6.3.2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快速排序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C417-4E7F-4DAC-89DB-7DF2CE528D73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71472" y="1428736"/>
            <a:ext cx="8265404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zh-CN" altLang="en-US" sz="40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（希尔）</a:t>
            </a:r>
            <a:r>
              <a:rPr kumimoji="1" lang="en-US" altLang="zh-CN" sz="40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Shell </a:t>
            </a:r>
            <a:r>
              <a:rPr kumimoji="1" lang="zh-CN" altLang="en-US" sz="40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排序改进了插入排序</a:t>
            </a:r>
            <a:endParaRPr kumimoji="1" lang="en-US" altLang="zh-CN" sz="40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zh-CN" altLang="en-US" sz="40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快速排序可以改进起泡排序</a:t>
            </a:r>
            <a:endParaRPr kumimoji="1" lang="zh-CN" altLang="en-US" sz="40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6.3.2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快速排序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A0785-934C-4527-B23D-B33C4C9259BF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Box 2"/>
          <p:cNvSpPr txBox="1">
            <a:spLocks noChangeArrowheads="1"/>
          </p:cNvSpPr>
          <p:nvPr/>
        </p:nvSpPr>
        <p:spPr bwMode="auto">
          <a:xfrm>
            <a:off x="357158" y="914400"/>
            <a:ext cx="3013075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>
                <a:solidFill>
                  <a:srgbClr val="003300"/>
                </a:solidFill>
                <a:latin typeface="Times New Roman" panose="02020603050405020304" pitchFamily="18" charset="0"/>
              </a:rPr>
              <a:t>  </a:t>
            </a: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</a:rPr>
              <a:t>基本思想    </a:t>
            </a:r>
            <a:endParaRPr kumimoji="1" lang="zh-CN" altLang="en-US" sz="2800" b="1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" name="Rectangle 4"/>
          <p:cNvSpPr>
            <a:spLocks noChangeArrowheads="1"/>
          </p:cNvSpPr>
          <p:nvPr/>
        </p:nvSpPr>
        <p:spPr bwMode="auto">
          <a:xfrm>
            <a:off x="357158" y="1508110"/>
            <a:ext cx="8358246" cy="138499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 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任取待排序对象序列中的某个对象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v</a:t>
            </a:r>
            <a:r>
              <a:rPr kumimoji="1" lang="en-US" altLang="zh-CN" sz="2800" b="1" u="sng" dirty="0">
                <a:solidFill>
                  <a:srgbClr val="FF3300"/>
                </a:solidFill>
                <a:latin typeface="Times New Roman" panose="02020603050405020304" pitchFamily="18" charset="0"/>
              </a:rPr>
              <a:t>(</a:t>
            </a:r>
            <a:r>
              <a:rPr kumimoji="1" lang="zh-CN" altLang="en-US" sz="2800" b="1" u="sng" dirty="0">
                <a:solidFill>
                  <a:srgbClr val="FF3300"/>
                </a:solidFill>
                <a:latin typeface="Times New Roman" panose="02020603050405020304" pitchFamily="18" charset="0"/>
              </a:rPr>
              <a:t>枢轴，基准，支点</a:t>
            </a:r>
            <a:r>
              <a:rPr kumimoji="1" lang="en-US" altLang="zh-CN" sz="2800" b="1" u="sng" dirty="0">
                <a:solidFill>
                  <a:srgbClr val="FF3300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，按照该对象的关键字大小，将整个序列划分为左右两个子序列；</a:t>
            </a:r>
            <a:endParaRPr lang="zh-CN" altLang="en-US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42976" y="3008308"/>
            <a:ext cx="6936643" cy="1708160"/>
          </a:xfrm>
          <a:prstGeom prst="rect">
            <a:avLst/>
          </a:prstGeom>
          <a:noFill/>
          <a:ln>
            <a:solidFill>
              <a:srgbClr val="003300"/>
            </a:solidFill>
          </a:ln>
        </p:spPr>
        <p:txBody>
          <a:bodyPr wrap="none" rtlCol="0">
            <a:spAutoFit/>
          </a:bodyPr>
          <a:lstStyle/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zh-CN" altLang="en-US" sz="3000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以轴为分界点</a:t>
            </a:r>
            <a:r>
              <a:rPr kumimoji="1" lang="zh-CN" altLang="en-US" sz="30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，从两侧相对往中间走；</a:t>
            </a:r>
            <a:endParaRPr kumimoji="1" lang="en-US" altLang="zh-CN" sz="30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zh-CN" altLang="en-US" sz="3000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比轴小交换到左侧；</a:t>
            </a:r>
            <a:endParaRPr kumimoji="1" lang="en-US" altLang="zh-CN" sz="3000" b="1" dirty="0">
              <a:solidFill>
                <a:srgbClr val="FF33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zh-CN" altLang="en-US" sz="30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比轴大交换到右侧</a:t>
            </a:r>
            <a:endParaRPr kumimoji="1" lang="zh-CN" altLang="en-US" sz="30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6.3.2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快速排序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95F21-A978-4C8F-939B-DD2D93B37AB5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Box 2"/>
          <p:cNvSpPr txBox="1">
            <a:spLocks noChangeArrowheads="1"/>
          </p:cNvSpPr>
          <p:nvPr/>
        </p:nvSpPr>
        <p:spPr bwMode="auto">
          <a:xfrm>
            <a:off x="357158" y="943436"/>
            <a:ext cx="3013075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>
                <a:solidFill>
                  <a:srgbClr val="003300"/>
                </a:solidFill>
                <a:latin typeface="Times New Roman" panose="02020603050405020304" pitchFamily="18" charset="0"/>
              </a:rPr>
              <a:t>  </a:t>
            </a: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</a:rPr>
              <a:t>基本思想    </a:t>
            </a:r>
            <a:endParaRPr kumimoji="1" lang="zh-CN" altLang="en-US" sz="2800" b="1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" name="Rectangle 4"/>
          <p:cNvSpPr>
            <a:spLocks noChangeArrowheads="1"/>
          </p:cNvSpPr>
          <p:nvPr/>
        </p:nvSpPr>
        <p:spPr bwMode="auto">
          <a:xfrm>
            <a:off x="357158" y="1537146"/>
            <a:ext cx="8358246" cy="138499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 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任取待排序对象序列中的某个对象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v</a:t>
            </a:r>
            <a:r>
              <a:rPr kumimoji="1" lang="en-US" altLang="zh-CN" sz="2800" b="1" u="sng" dirty="0">
                <a:solidFill>
                  <a:srgbClr val="FF3300"/>
                </a:solidFill>
                <a:latin typeface="Times New Roman" panose="02020603050405020304" pitchFamily="18" charset="0"/>
              </a:rPr>
              <a:t>(</a:t>
            </a:r>
            <a:r>
              <a:rPr kumimoji="1" lang="zh-CN" altLang="en-US" sz="2800" b="1" u="sng" dirty="0">
                <a:solidFill>
                  <a:srgbClr val="FF3300"/>
                </a:solidFill>
                <a:latin typeface="Times New Roman" panose="02020603050405020304" pitchFamily="18" charset="0"/>
              </a:rPr>
              <a:t>枢轴，基准，支点</a:t>
            </a:r>
            <a:r>
              <a:rPr kumimoji="1" lang="en-US" altLang="zh-CN" sz="2800" b="1" u="sng" dirty="0">
                <a:solidFill>
                  <a:srgbClr val="FF3300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，按照该对象的关键字大小，将整个序列划分为左右两个子序列；</a:t>
            </a:r>
            <a:endParaRPr lang="zh-CN" altLang="en-US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" name="Rectangle 4"/>
          <p:cNvSpPr>
            <a:spLocks noChangeArrowheads="1"/>
          </p:cNvSpPr>
          <p:nvPr/>
        </p:nvSpPr>
        <p:spPr bwMode="auto">
          <a:xfrm>
            <a:off x="428596" y="3037344"/>
            <a:ext cx="8358246" cy="2677656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    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(1)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左侧子序列中所有对象的关键字都小于或等于对象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v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的关键字；</a:t>
            </a:r>
            <a:endParaRPr lang="zh-CN" altLang="en-US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    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(2)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右侧子序列中所有对象的关键字都大于或等于对象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v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的关键字；</a:t>
            </a:r>
            <a:endParaRPr lang="zh-CN" altLang="en-US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    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(3)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对象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v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则排在这两个子序列中间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(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也是它最终的位置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。</a:t>
            </a:r>
            <a:endParaRPr lang="zh-CN" altLang="en-US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6.3.2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快速排序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336BB-61E3-44AA-A3D5-A76BCAA4553D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Object 3"/>
          <p:cNvGraphicFramePr>
            <a:graphicFrameLocks noChangeAspect="1"/>
          </p:cNvGraphicFramePr>
          <p:nvPr/>
        </p:nvGraphicFramePr>
        <p:xfrm>
          <a:off x="1066800" y="2220920"/>
          <a:ext cx="78486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0" name="文档" r:id="rId2" imgW="6103620" imgH="622300" progId="Word.Document.8">
                  <p:embed/>
                </p:oleObj>
              </mc:Choice>
              <mc:Fallback>
                <p:oleObj name="文档" r:id="rId2" imgW="6103620" imgH="622300" progId="Word.Document.8">
                  <p:embed/>
                  <p:pic>
                    <p:nvPicPr>
                      <p:cNvPr id="0" name="图片 340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2220920"/>
                        <a:ext cx="78486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Line 4"/>
          <p:cNvSpPr>
            <a:spLocks noChangeShapeType="1"/>
          </p:cNvSpPr>
          <p:nvPr/>
        </p:nvSpPr>
        <p:spPr bwMode="auto">
          <a:xfrm>
            <a:off x="1447800" y="1611320"/>
            <a:ext cx="0" cy="609600"/>
          </a:xfrm>
          <a:prstGeom prst="line">
            <a:avLst/>
          </a:prstGeom>
          <a:noFill/>
          <a:ln w="9525">
            <a:solidFill>
              <a:srgbClr val="003366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3000" b="1">
              <a:solidFill>
                <a:srgbClr val="66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6" name="Line 5"/>
          <p:cNvSpPr>
            <a:spLocks noChangeShapeType="1"/>
          </p:cNvSpPr>
          <p:nvPr/>
        </p:nvSpPr>
        <p:spPr bwMode="auto">
          <a:xfrm>
            <a:off x="8153400" y="1611320"/>
            <a:ext cx="0" cy="609600"/>
          </a:xfrm>
          <a:prstGeom prst="line">
            <a:avLst/>
          </a:prstGeom>
          <a:noFill/>
          <a:ln w="9525">
            <a:solidFill>
              <a:srgbClr val="003366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3000" b="1">
              <a:solidFill>
                <a:srgbClr val="66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0" name="Text Box 6"/>
          <p:cNvSpPr txBox="1">
            <a:spLocks noChangeArrowheads="1"/>
          </p:cNvSpPr>
          <p:nvPr/>
        </p:nvSpPr>
        <p:spPr bwMode="auto">
          <a:xfrm>
            <a:off x="1485900" y="1401770"/>
            <a:ext cx="342900" cy="5794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>
                <a:solidFill>
                  <a:srgbClr val="003366"/>
                </a:solidFill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endParaRPr kumimoji="1" lang="en-US" altLang="zh-CN" sz="3200" b="1">
              <a:solidFill>
                <a:srgbClr val="66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1" name="Text Box 7"/>
          <p:cNvSpPr txBox="1">
            <a:spLocks noChangeArrowheads="1"/>
          </p:cNvSpPr>
          <p:nvPr/>
        </p:nvSpPr>
        <p:spPr bwMode="auto">
          <a:xfrm>
            <a:off x="8237538" y="1458920"/>
            <a:ext cx="296862" cy="5794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>
                <a:solidFill>
                  <a:srgbClr val="003366"/>
                </a:solidFill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endParaRPr kumimoji="1" lang="en-US" altLang="zh-CN" sz="3200" b="1">
              <a:solidFill>
                <a:srgbClr val="66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2" name="Line 8"/>
          <p:cNvSpPr>
            <a:spLocks noChangeShapeType="1"/>
          </p:cNvSpPr>
          <p:nvPr/>
        </p:nvSpPr>
        <p:spPr bwMode="auto">
          <a:xfrm flipV="1">
            <a:off x="1524000" y="2906720"/>
            <a:ext cx="0" cy="609600"/>
          </a:xfrm>
          <a:prstGeom prst="line">
            <a:avLst/>
          </a:prstGeom>
          <a:noFill/>
          <a:ln w="19050">
            <a:solidFill>
              <a:srgbClr val="006600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3000" b="1">
              <a:solidFill>
                <a:srgbClr val="66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3" name="Text Box 9"/>
          <p:cNvSpPr txBox="1">
            <a:spLocks noChangeArrowheads="1"/>
          </p:cNvSpPr>
          <p:nvPr/>
        </p:nvSpPr>
        <p:spPr bwMode="auto">
          <a:xfrm>
            <a:off x="1012825" y="3432183"/>
            <a:ext cx="739775" cy="5191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6600"/>
                </a:solidFill>
                <a:latin typeface="Times New Roman" panose="02020603050405020304" pitchFamily="18" charset="0"/>
                <a:ea typeface="楷体_GB2312" pitchFamily="49" charset="-122"/>
              </a:rPr>
              <a:t>low</a:t>
            </a:r>
            <a:endParaRPr kumimoji="1" lang="en-US" altLang="zh-CN" sz="2800" b="1">
              <a:solidFill>
                <a:srgbClr val="66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4" name="Line 10"/>
          <p:cNvSpPr>
            <a:spLocks noChangeShapeType="1"/>
          </p:cNvSpPr>
          <p:nvPr/>
        </p:nvSpPr>
        <p:spPr bwMode="auto">
          <a:xfrm flipV="1">
            <a:off x="8305800" y="2906720"/>
            <a:ext cx="0" cy="609600"/>
          </a:xfrm>
          <a:prstGeom prst="line">
            <a:avLst/>
          </a:prstGeom>
          <a:noFill/>
          <a:ln w="19050">
            <a:solidFill>
              <a:srgbClr val="800000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3000" b="1">
              <a:solidFill>
                <a:srgbClr val="66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5" name="Text Box 11"/>
          <p:cNvSpPr txBox="1">
            <a:spLocks noChangeArrowheads="1"/>
          </p:cNvSpPr>
          <p:nvPr/>
        </p:nvSpPr>
        <p:spPr bwMode="auto">
          <a:xfrm>
            <a:off x="7947025" y="3432183"/>
            <a:ext cx="892175" cy="5191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</a:rPr>
              <a:t>high</a:t>
            </a:r>
            <a:endParaRPr kumimoji="1" lang="en-US" altLang="zh-CN" sz="2800" b="1">
              <a:solidFill>
                <a:srgbClr val="66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6" name="Text Box 12"/>
          <p:cNvSpPr txBox="1">
            <a:spLocks noChangeArrowheads="1"/>
          </p:cNvSpPr>
          <p:nvPr/>
        </p:nvSpPr>
        <p:spPr bwMode="auto">
          <a:xfrm>
            <a:off x="762000" y="3988486"/>
            <a:ext cx="3962400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设 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R[s]=52 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为枢轴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7" name="Text Box 13"/>
          <p:cNvSpPr txBox="1">
            <a:spLocks noChangeArrowheads="1"/>
          </p:cNvSpPr>
          <p:nvPr/>
        </p:nvSpPr>
        <p:spPr bwMode="auto">
          <a:xfrm>
            <a:off x="304800" y="4456814"/>
            <a:ext cx="8839200" cy="6093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要求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R[high].key ≥ 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枢轴的关键字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8" name="Text Box 14"/>
          <p:cNvSpPr txBox="1">
            <a:spLocks noChangeArrowheads="1"/>
          </p:cNvSpPr>
          <p:nvPr/>
        </p:nvSpPr>
        <p:spPr bwMode="auto">
          <a:xfrm>
            <a:off x="304800" y="5060984"/>
            <a:ext cx="8839200" cy="55989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要求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R[low].key ≤ 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枢轴的关键字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9" name="Line 15"/>
          <p:cNvSpPr>
            <a:spLocks noChangeShapeType="1"/>
          </p:cNvSpPr>
          <p:nvPr/>
        </p:nvSpPr>
        <p:spPr bwMode="auto">
          <a:xfrm flipV="1">
            <a:off x="7445375" y="2906720"/>
            <a:ext cx="0" cy="609600"/>
          </a:xfrm>
          <a:prstGeom prst="line">
            <a:avLst/>
          </a:prstGeom>
          <a:noFill/>
          <a:ln w="19050">
            <a:solidFill>
              <a:srgbClr val="800000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3000" b="1">
              <a:solidFill>
                <a:srgbClr val="66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0" name="Text Box 16"/>
          <p:cNvSpPr txBox="1">
            <a:spLocks noChangeArrowheads="1"/>
          </p:cNvSpPr>
          <p:nvPr/>
        </p:nvSpPr>
        <p:spPr bwMode="auto">
          <a:xfrm>
            <a:off x="7086600" y="3432183"/>
            <a:ext cx="892175" cy="5191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</a:rPr>
              <a:t>high</a:t>
            </a:r>
            <a:endParaRPr kumimoji="1" lang="en-US" altLang="zh-CN" sz="2800" b="1">
              <a:solidFill>
                <a:srgbClr val="66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 useBgFill="1">
        <p:nvSpPr>
          <p:cNvPr id="31" name="Rectangle 17"/>
          <p:cNvSpPr>
            <a:spLocks noChangeArrowheads="1"/>
          </p:cNvSpPr>
          <p:nvPr/>
        </p:nvSpPr>
        <p:spPr bwMode="auto">
          <a:xfrm>
            <a:off x="7924800" y="2906720"/>
            <a:ext cx="838200" cy="990600"/>
          </a:xfrm>
          <a:prstGeom prst="rect">
            <a:avLst/>
          </a:prstGeom>
          <a:ln w="9525">
            <a:noFill/>
            <a:miter lim="800000"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3000" b="1">
              <a:solidFill>
                <a:srgbClr val="66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2" name="Line 19"/>
          <p:cNvSpPr>
            <a:spLocks noChangeShapeType="1"/>
          </p:cNvSpPr>
          <p:nvPr/>
        </p:nvSpPr>
        <p:spPr bwMode="auto">
          <a:xfrm flipV="1">
            <a:off x="2971800" y="2906720"/>
            <a:ext cx="0" cy="609600"/>
          </a:xfrm>
          <a:prstGeom prst="line">
            <a:avLst/>
          </a:prstGeom>
          <a:noFill/>
          <a:ln w="19050">
            <a:solidFill>
              <a:srgbClr val="006600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3000" b="1">
              <a:solidFill>
                <a:srgbClr val="66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3" name="Text Box 20"/>
          <p:cNvSpPr txBox="1">
            <a:spLocks noChangeArrowheads="1"/>
          </p:cNvSpPr>
          <p:nvPr/>
        </p:nvSpPr>
        <p:spPr bwMode="auto">
          <a:xfrm>
            <a:off x="2460625" y="3432183"/>
            <a:ext cx="739775" cy="5191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6600"/>
                </a:solidFill>
                <a:latin typeface="Times New Roman" panose="02020603050405020304" pitchFamily="18" charset="0"/>
                <a:ea typeface="楷体_GB2312" pitchFamily="49" charset="-122"/>
              </a:rPr>
              <a:t>low</a:t>
            </a:r>
            <a:endParaRPr kumimoji="1" lang="en-US" altLang="zh-CN" sz="2800" b="1">
              <a:solidFill>
                <a:srgbClr val="66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 useBgFill="1">
        <p:nvSpPr>
          <p:cNvPr id="34" name="Rectangle 21"/>
          <p:cNvSpPr>
            <a:spLocks noChangeArrowheads="1"/>
          </p:cNvSpPr>
          <p:nvPr/>
        </p:nvSpPr>
        <p:spPr bwMode="auto">
          <a:xfrm>
            <a:off x="1066800" y="2906720"/>
            <a:ext cx="609600" cy="914400"/>
          </a:xfrm>
          <a:prstGeom prst="rect">
            <a:avLst/>
          </a:prstGeom>
          <a:ln w="9525">
            <a:noFill/>
            <a:miter lim="800000"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3000" b="1">
              <a:solidFill>
                <a:srgbClr val="66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5" name="Text Box 22"/>
          <p:cNvSpPr txBox="1">
            <a:spLocks noChangeArrowheads="1"/>
          </p:cNvSpPr>
          <p:nvPr/>
        </p:nvSpPr>
        <p:spPr bwMode="auto">
          <a:xfrm>
            <a:off x="7143768" y="2203464"/>
            <a:ext cx="663575" cy="646331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kumimoji="1" lang="en-US" altLang="zh-CN" sz="3600" b="1" dirty="0">
              <a:solidFill>
                <a:srgbClr val="66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6" name="Line 23"/>
          <p:cNvSpPr>
            <a:spLocks noChangeShapeType="1"/>
          </p:cNvSpPr>
          <p:nvPr/>
        </p:nvSpPr>
        <p:spPr bwMode="auto">
          <a:xfrm flipV="1">
            <a:off x="4625975" y="2906720"/>
            <a:ext cx="0" cy="609600"/>
          </a:xfrm>
          <a:prstGeom prst="line">
            <a:avLst/>
          </a:prstGeom>
          <a:noFill/>
          <a:ln w="19050">
            <a:solidFill>
              <a:srgbClr val="800000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3000" b="1">
              <a:solidFill>
                <a:srgbClr val="66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7" name="Text Box 24"/>
          <p:cNvSpPr txBox="1">
            <a:spLocks noChangeArrowheads="1"/>
          </p:cNvSpPr>
          <p:nvPr/>
        </p:nvSpPr>
        <p:spPr bwMode="auto">
          <a:xfrm>
            <a:off x="4518025" y="3432183"/>
            <a:ext cx="892175" cy="5191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</a:rPr>
              <a:t>high</a:t>
            </a:r>
            <a:endParaRPr kumimoji="1" lang="en-US" altLang="zh-CN" sz="2800" b="1">
              <a:solidFill>
                <a:srgbClr val="66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 useBgFill="1">
        <p:nvSpPr>
          <p:cNvPr id="38" name="Rectangle 25"/>
          <p:cNvSpPr>
            <a:spLocks noChangeArrowheads="1"/>
          </p:cNvSpPr>
          <p:nvPr/>
        </p:nvSpPr>
        <p:spPr bwMode="auto">
          <a:xfrm>
            <a:off x="7086600" y="2906720"/>
            <a:ext cx="762000" cy="1219200"/>
          </a:xfrm>
          <a:prstGeom prst="rect">
            <a:avLst/>
          </a:prstGeom>
          <a:ln w="9525">
            <a:noFill/>
            <a:miter lim="800000"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3000" b="1">
              <a:solidFill>
                <a:srgbClr val="66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9" name="Line 27"/>
          <p:cNvSpPr>
            <a:spLocks noChangeShapeType="1"/>
          </p:cNvSpPr>
          <p:nvPr/>
        </p:nvSpPr>
        <p:spPr bwMode="auto">
          <a:xfrm flipV="1">
            <a:off x="4419600" y="2906720"/>
            <a:ext cx="0" cy="609600"/>
          </a:xfrm>
          <a:prstGeom prst="line">
            <a:avLst/>
          </a:prstGeom>
          <a:noFill/>
          <a:ln w="19050">
            <a:solidFill>
              <a:srgbClr val="006600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3000" b="1">
              <a:solidFill>
                <a:srgbClr val="66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0" name="Text Box 28"/>
          <p:cNvSpPr txBox="1">
            <a:spLocks noChangeArrowheads="1"/>
          </p:cNvSpPr>
          <p:nvPr/>
        </p:nvSpPr>
        <p:spPr bwMode="auto">
          <a:xfrm>
            <a:off x="3908425" y="3432183"/>
            <a:ext cx="739775" cy="5191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6600"/>
                </a:solidFill>
                <a:latin typeface="Times New Roman" panose="02020603050405020304" pitchFamily="18" charset="0"/>
                <a:ea typeface="楷体_GB2312" pitchFamily="49" charset="-122"/>
              </a:rPr>
              <a:t>low</a:t>
            </a:r>
            <a:endParaRPr kumimoji="1" lang="en-US" altLang="zh-CN" sz="2800" b="1">
              <a:solidFill>
                <a:srgbClr val="66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 useBgFill="1">
        <p:nvSpPr>
          <p:cNvPr id="41" name="Rectangle 29"/>
          <p:cNvSpPr>
            <a:spLocks noChangeArrowheads="1"/>
          </p:cNvSpPr>
          <p:nvPr/>
        </p:nvSpPr>
        <p:spPr bwMode="auto">
          <a:xfrm>
            <a:off x="2438400" y="2906720"/>
            <a:ext cx="685800" cy="914400"/>
          </a:xfrm>
          <a:prstGeom prst="rect">
            <a:avLst/>
          </a:prstGeom>
          <a:ln w="9525">
            <a:noFill/>
            <a:miter lim="800000"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3000" b="1">
              <a:solidFill>
                <a:srgbClr val="66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2" name="Text Box 32"/>
          <p:cNvSpPr txBox="1">
            <a:spLocks noChangeArrowheads="1"/>
          </p:cNvSpPr>
          <p:nvPr/>
        </p:nvSpPr>
        <p:spPr bwMode="auto">
          <a:xfrm>
            <a:off x="3108325" y="1336683"/>
            <a:ext cx="928688" cy="5794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>
                <a:solidFill>
                  <a:srgbClr val="005042"/>
                </a:solidFill>
                <a:latin typeface="Times New Roman" panose="02020603050405020304" pitchFamily="18" charset="0"/>
                <a:ea typeface="楷体_GB2312" pitchFamily="49" charset="-122"/>
              </a:rPr>
              <a:t>R[0]</a:t>
            </a:r>
            <a:endParaRPr kumimoji="1" lang="en-US" altLang="zh-CN" sz="3200" b="1">
              <a:solidFill>
                <a:srgbClr val="66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3" name="Rectangle 33"/>
          <p:cNvSpPr>
            <a:spLocks noChangeArrowheads="1"/>
          </p:cNvSpPr>
          <p:nvPr/>
        </p:nvSpPr>
        <p:spPr bwMode="auto">
          <a:xfrm>
            <a:off x="4038600" y="1382720"/>
            <a:ext cx="650875" cy="650875"/>
          </a:xfrm>
          <a:prstGeom prst="rect">
            <a:avLst/>
          </a:prstGeom>
          <a:solidFill>
            <a:srgbClr val="99CCFF">
              <a:alpha val="50000"/>
            </a:srgbClr>
          </a:solidFill>
          <a:ln w="9525">
            <a:solidFill>
              <a:srgbClr val="009DD9"/>
            </a:solidFill>
            <a:miter lim="800000"/>
          </a:ln>
          <a:effectLst/>
        </p:spPr>
        <p:txBody>
          <a:bodyPr wrap="none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52</a:t>
            </a:r>
            <a:endParaRPr kumimoji="1" lang="en-US" altLang="zh-CN" sz="36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4" name="Line 34"/>
          <p:cNvSpPr>
            <a:spLocks noChangeShapeType="1"/>
          </p:cNvSpPr>
          <p:nvPr/>
        </p:nvSpPr>
        <p:spPr bwMode="auto">
          <a:xfrm flipV="1">
            <a:off x="2209800" y="2906720"/>
            <a:ext cx="0" cy="609600"/>
          </a:xfrm>
          <a:prstGeom prst="line">
            <a:avLst/>
          </a:prstGeom>
          <a:noFill/>
          <a:ln w="19050">
            <a:solidFill>
              <a:srgbClr val="006600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3000" b="1">
              <a:solidFill>
                <a:srgbClr val="66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5" name="Text Box 35"/>
          <p:cNvSpPr txBox="1">
            <a:spLocks noChangeArrowheads="1"/>
          </p:cNvSpPr>
          <p:nvPr/>
        </p:nvSpPr>
        <p:spPr bwMode="auto">
          <a:xfrm>
            <a:off x="1698625" y="3432183"/>
            <a:ext cx="739775" cy="5191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6600"/>
                </a:solidFill>
                <a:latin typeface="Times New Roman" panose="02020603050405020304" pitchFamily="18" charset="0"/>
                <a:ea typeface="楷体_GB2312" pitchFamily="49" charset="-122"/>
              </a:rPr>
              <a:t>low</a:t>
            </a:r>
            <a:endParaRPr kumimoji="1" lang="en-US" altLang="zh-CN" sz="2800" b="1">
              <a:solidFill>
                <a:srgbClr val="66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6" name="Line 36"/>
          <p:cNvSpPr>
            <a:spLocks noChangeShapeType="1"/>
          </p:cNvSpPr>
          <p:nvPr/>
        </p:nvSpPr>
        <p:spPr bwMode="auto">
          <a:xfrm flipV="1">
            <a:off x="6759575" y="2906720"/>
            <a:ext cx="0" cy="609600"/>
          </a:xfrm>
          <a:prstGeom prst="line">
            <a:avLst/>
          </a:prstGeom>
          <a:noFill/>
          <a:ln w="19050">
            <a:solidFill>
              <a:srgbClr val="800000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3000" b="1">
              <a:solidFill>
                <a:srgbClr val="66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7" name="Text Box 37"/>
          <p:cNvSpPr txBox="1">
            <a:spLocks noChangeArrowheads="1"/>
          </p:cNvSpPr>
          <p:nvPr/>
        </p:nvSpPr>
        <p:spPr bwMode="auto">
          <a:xfrm>
            <a:off x="6651625" y="3432183"/>
            <a:ext cx="892175" cy="5191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</a:rPr>
              <a:t>high</a:t>
            </a:r>
            <a:endParaRPr kumimoji="1" lang="en-US" altLang="zh-CN" sz="2800" b="1">
              <a:solidFill>
                <a:srgbClr val="66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8" name="Line 38"/>
          <p:cNvSpPr>
            <a:spLocks noChangeShapeType="1"/>
          </p:cNvSpPr>
          <p:nvPr/>
        </p:nvSpPr>
        <p:spPr bwMode="auto">
          <a:xfrm flipV="1">
            <a:off x="5997575" y="2906720"/>
            <a:ext cx="0" cy="609600"/>
          </a:xfrm>
          <a:prstGeom prst="line">
            <a:avLst/>
          </a:prstGeom>
          <a:noFill/>
          <a:ln w="19050">
            <a:solidFill>
              <a:srgbClr val="800000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3000" b="1">
              <a:solidFill>
                <a:srgbClr val="66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9" name="Text Box 39"/>
          <p:cNvSpPr txBox="1">
            <a:spLocks noChangeArrowheads="1"/>
          </p:cNvSpPr>
          <p:nvPr/>
        </p:nvSpPr>
        <p:spPr bwMode="auto">
          <a:xfrm>
            <a:off x="5889625" y="3432183"/>
            <a:ext cx="892175" cy="5191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</a:rPr>
              <a:t>high</a:t>
            </a:r>
            <a:endParaRPr kumimoji="1" lang="en-US" altLang="zh-CN" sz="2800" b="1">
              <a:solidFill>
                <a:srgbClr val="66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0" name="Line 40"/>
          <p:cNvSpPr>
            <a:spLocks noChangeShapeType="1"/>
          </p:cNvSpPr>
          <p:nvPr/>
        </p:nvSpPr>
        <p:spPr bwMode="auto">
          <a:xfrm flipV="1">
            <a:off x="5235575" y="2906720"/>
            <a:ext cx="0" cy="609600"/>
          </a:xfrm>
          <a:prstGeom prst="line">
            <a:avLst/>
          </a:prstGeom>
          <a:noFill/>
          <a:ln w="19050">
            <a:solidFill>
              <a:srgbClr val="800000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3000" b="1">
              <a:solidFill>
                <a:srgbClr val="66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1" name="Text Box 41"/>
          <p:cNvSpPr txBox="1">
            <a:spLocks noChangeArrowheads="1"/>
          </p:cNvSpPr>
          <p:nvPr/>
        </p:nvSpPr>
        <p:spPr bwMode="auto">
          <a:xfrm>
            <a:off x="5127625" y="3432183"/>
            <a:ext cx="892175" cy="5191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</a:rPr>
              <a:t>high</a:t>
            </a:r>
            <a:endParaRPr kumimoji="1" lang="en-US" altLang="zh-CN" sz="2800" b="1">
              <a:solidFill>
                <a:srgbClr val="66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2" name="Line 42"/>
          <p:cNvSpPr>
            <a:spLocks noChangeShapeType="1"/>
          </p:cNvSpPr>
          <p:nvPr/>
        </p:nvSpPr>
        <p:spPr bwMode="auto">
          <a:xfrm flipV="1">
            <a:off x="3711575" y="2906720"/>
            <a:ext cx="0" cy="609600"/>
          </a:xfrm>
          <a:prstGeom prst="line">
            <a:avLst/>
          </a:prstGeom>
          <a:noFill/>
          <a:ln w="19050">
            <a:solidFill>
              <a:srgbClr val="006600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3000" b="1">
              <a:solidFill>
                <a:srgbClr val="66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3" name="Text Box 43"/>
          <p:cNvSpPr txBox="1">
            <a:spLocks noChangeArrowheads="1"/>
          </p:cNvSpPr>
          <p:nvPr/>
        </p:nvSpPr>
        <p:spPr bwMode="auto">
          <a:xfrm>
            <a:off x="3200400" y="3432183"/>
            <a:ext cx="739775" cy="5191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6600"/>
                </a:solidFill>
                <a:latin typeface="Times New Roman" panose="02020603050405020304" pitchFamily="18" charset="0"/>
                <a:ea typeface="楷体_GB2312" pitchFamily="49" charset="-122"/>
              </a:rPr>
              <a:t>low</a:t>
            </a:r>
            <a:endParaRPr kumimoji="1" lang="en-US" altLang="zh-CN" sz="2800" b="1">
              <a:solidFill>
                <a:srgbClr val="66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4" name="Text Box 25"/>
          <p:cNvSpPr txBox="1">
            <a:spLocks noChangeArrowheads="1"/>
          </p:cNvSpPr>
          <p:nvPr/>
        </p:nvSpPr>
        <p:spPr bwMode="auto">
          <a:xfrm>
            <a:off x="323850" y="881087"/>
            <a:ext cx="3013075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 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示例演示    </a:t>
            </a:r>
            <a:endParaRPr kumimoji="1" lang="zh-CN" altLang="en-US" sz="2800" b="1" dirty="0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428598" y="5846802"/>
            <a:ext cx="7911140" cy="553998"/>
          </a:xfrm>
          <a:prstGeom prst="rect">
            <a:avLst/>
          </a:prstGeom>
          <a:noFill/>
          <a:ln>
            <a:solidFill>
              <a:srgbClr val="003300"/>
            </a:solidFill>
          </a:ln>
        </p:spPr>
        <p:txBody>
          <a:bodyPr wrap="non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000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两个指针相对走，碰上的位置就是枢轴的位置</a:t>
            </a:r>
            <a:endParaRPr kumimoji="1" lang="zh-CN" altLang="en-US" sz="3000" b="1" dirty="0">
              <a:solidFill>
                <a:srgbClr val="FF33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2428860" y="846142"/>
            <a:ext cx="597952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000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把枢轴的位置空出来用于交换位置</a:t>
            </a:r>
            <a:endParaRPr kumimoji="1" lang="zh-CN" altLang="en-US" sz="3000" b="1" dirty="0">
              <a:solidFill>
                <a:srgbClr val="FF33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7" name="Text Box 22"/>
          <p:cNvSpPr txBox="1">
            <a:spLocks noChangeArrowheads="1"/>
          </p:cNvSpPr>
          <p:nvPr/>
        </p:nvSpPr>
        <p:spPr bwMode="auto">
          <a:xfrm>
            <a:off x="2643174" y="2203464"/>
            <a:ext cx="663575" cy="646331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kumimoji="1" lang="en-US" altLang="zh-CN" sz="3600" b="1" dirty="0">
              <a:solidFill>
                <a:srgbClr val="66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8" name="Text Box 22"/>
          <p:cNvSpPr txBox="1">
            <a:spLocks noChangeArrowheads="1"/>
          </p:cNvSpPr>
          <p:nvPr/>
        </p:nvSpPr>
        <p:spPr bwMode="auto">
          <a:xfrm>
            <a:off x="7123135" y="2203464"/>
            <a:ext cx="663575" cy="579438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3200" b="1" dirty="0">
                <a:solidFill>
                  <a:srgbClr val="009999"/>
                </a:solidFill>
                <a:latin typeface="Times New Roman" panose="02020603050405020304" pitchFamily="18" charset="0"/>
                <a:ea typeface="楷体_GB2312" pitchFamily="49" charset="-122"/>
              </a:rPr>
              <a:t>80</a:t>
            </a:r>
            <a:endParaRPr kumimoji="1" lang="en-US" altLang="zh-CN" sz="3600" b="1" dirty="0">
              <a:solidFill>
                <a:srgbClr val="66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9" name="Text Box 26"/>
          <p:cNvSpPr txBox="1">
            <a:spLocks noChangeArrowheads="1"/>
          </p:cNvSpPr>
          <p:nvPr/>
        </p:nvSpPr>
        <p:spPr bwMode="auto">
          <a:xfrm>
            <a:off x="2643174" y="2261631"/>
            <a:ext cx="663575" cy="584775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3200" b="1" dirty="0">
                <a:solidFill>
                  <a:srgbClr val="009999"/>
                </a:solidFill>
                <a:latin typeface="Times New Roman" panose="02020603050405020304" pitchFamily="18" charset="0"/>
                <a:ea typeface="楷体_GB2312" pitchFamily="49" charset="-122"/>
              </a:rPr>
              <a:t>14</a:t>
            </a:r>
            <a:endParaRPr kumimoji="1" lang="en-US" altLang="zh-CN" sz="3600" b="1" dirty="0">
              <a:solidFill>
                <a:srgbClr val="66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0" name="Text Box 22"/>
          <p:cNvSpPr txBox="1">
            <a:spLocks noChangeArrowheads="1"/>
          </p:cNvSpPr>
          <p:nvPr/>
        </p:nvSpPr>
        <p:spPr bwMode="auto">
          <a:xfrm>
            <a:off x="4143372" y="2203464"/>
            <a:ext cx="663575" cy="646331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kumimoji="1" lang="en-US" altLang="zh-CN" sz="3600" b="1" dirty="0">
              <a:solidFill>
                <a:srgbClr val="66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1" name="Text Box 30"/>
          <p:cNvSpPr txBox="1">
            <a:spLocks noChangeArrowheads="1"/>
          </p:cNvSpPr>
          <p:nvPr/>
        </p:nvSpPr>
        <p:spPr bwMode="auto">
          <a:xfrm>
            <a:off x="4122740" y="2203464"/>
            <a:ext cx="672284" cy="602525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52</a:t>
            </a:r>
            <a:endParaRPr kumimoji="1" lang="en-US" altLang="zh-CN" sz="3600" b="1" dirty="0">
              <a:solidFill>
                <a:srgbClr val="66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2" name="Text Box 18"/>
          <p:cNvSpPr txBox="1">
            <a:spLocks noChangeArrowheads="1"/>
          </p:cNvSpPr>
          <p:nvPr/>
        </p:nvSpPr>
        <p:spPr bwMode="auto">
          <a:xfrm>
            <a:off x="1142976" y="2200075"/>
            <a:ext cx="663575" cy="646331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kumimoji="1" lang="en-US" altLang="zh-CN" sz="3600" b="1" dirty="0">
              <a:solidFill>
                <a:srgbClr val="66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3" name="Text Box 18"/>
          <p:cNvSpPr txBox="1">
            <a:spLocks noChangeArrowheads="1"/>
          </p:cNvSpPr>
          <p:nvPr/>
        </p:nvSpPr>
        <p:spPr bwMode="auto">
          <a:xfrm>
            <a:off x="1089025" y="2266969"/>
            <a:ext cx="663575" cy="579437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3200" b="1">
                <a:solidFill>
                  <a:srgbClr val="009999"/>
                </a:solidFill>
                <a:latin typeface="Times New Roman" panose="02020603050405020304" pitchFamily="18" charset="0"/>
                <a:ea typeface="楷体_GB2312" pitchFamily="49" charset="-122"/>
              </a:rPr>
              <a:t>23</a:t>
            </a:r>
            <a:endParaRPr kumimoji="1" lang="en-US" altLang="zh-CN" sz="3600" b="1">
              <a:solidFill>
                <a:srgbClr val="66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4" name="虚尾箭头 63">
            <a:hlinkClick r:id="rId4" action="ppaction://hlinkfile"/>
          </p:cNvPr>
          <p:cNvSpPr/>
          <p:nvPr/>
        </p:nvSpPr>
        <p:spPr bwMode="auto">
          <a:xfrm>
            <a:off x="7072330" y="4775232"/>
            <a:ext cx="714380" cy="642942"/>
          </a:xfrm>
          <a:prstGeom prst="stripedRightArrow">
            <a:avLst/>
          </a:prstGeom>
          <a:solidFill>
            <a:srgbClr val="04617B">
              <a:lumMod val="20000"/>
              <a:lumOff val="80000"/>
            </a:srgbClr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glow rad="101600">
              <a:srgbClr val="009DD9">
                <a:satMod val="175000"/>
                <a:alpha val="40000"/>
              </a:srgbClr>
            </a:glow>
          </a:effectLst>
        </p:spPr>
        <p:txBody>
          <a:bodyPr vert="horz" wrap="none" lIns="91440" tIns="45720" rIns="91440" bIns="45720" numCol="1" rtlCol="0" anchor="ctr" anchorCtr="0" compatLnSpc="1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图示</a:t>
            </a:r>
            <a:endParaRPr kumimoji="1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00"/>
                            </p:stCondLst>
                            <p:childTnLst>
                              <p:par>
                                <p:cTn id="8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500"/>
                            </p:stCondLst>
                            <p:childTnLst>
                              <p:par>
                                <p:cTn id="10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1000"/>
                            </p:stCondLst>
                            <p:childTnLst>
                              <p:par>
                                <p:cTn id="10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500"/>
                            </p:stCondLst>
                            <p:childTnLst>
                              <p:par>
                                <p:cTn id="1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500"/>
                            </p:stCondLst>
                            <p:childTnLst>
                              <p:par>
                                <p:cTn id="13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1000"/>
                            </p:stCondLst>
                            <p:childTnLst>
                              <p:par>
                                <p:cTn id="14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500"/>
                            </p:stCondLst>
                            <p:childTnLst>
                              <p:par>
                                <p:cTn id="14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500"/>
                            </p:stCondLst>
                            <p:childTnLst>
                              <p:par>
                                <p:cTn id="15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500"/>
                            </p:stCondLst>
                            <p:childTnLst>
                              <p:par>
                                <p:cTn id="16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>
                            <p:stCondLst>
                              <p:cond delay="500"/>
                            </p:stCondLst>
                            <p:childTnLst>
                              <p:par>
                                <p:cTn id="18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89" fill="hold">
                            <p:stCondLst>
                              <p:cond delay="1000"/>
                            </p:stCondLst>
                            <p:childTnLst>
                              <p:par>
                                <p:cTn id="19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8" fill="hold">
                            <p:stCondLst>
                              <p:cond delay="500"/>
                            </p:stCondLst>
                            <p:childTnLst>
                              <p:par>
                                <p:cTn id="19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0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20" grpId="0" autoUpdateAnimBg="0"/>
      <p:bldP spid="21" grpId="0" autoUpdateAnimBg="0"/>
      <p:bldP spid="22" grpId="0" animBg="1"/>
      <p:bldP spid="23" grpId="0" autoUpdateAnimBg="0"/>
      <p:bldP spid="24" grpId="0" animBg="1"/>
      <p:bldP spid="25" grpId="0" autoUpdateAnimBg="0"/>
      <p:bldP spid="26" grpId="0" autoUpdateAnimBg="0"/>
      <p:bldP spid="27" grpId="0" autoUpdateAnimBg="0"/>
      <p:bldP spid="28" grpId="0" autoUpdateAnimBg="0"/>
      <p:bldP spid="29" grpId="0" animBg="1"/>
      <p:bldP spid="30" grpId="0" autoUpdateAnimBg="0"/>
      <p:bldP spid="31" grpId="0" animBg="1"/>
      <p:bldP spid="32" grpId="0" animBg="1"/>
      <p:bldP spid="33" grpId="0" autoUpdateAnimBg="0"/>
      <p:bldP spid="34" grpId="0" animBg="1"/>
      <p:bldP spid="35" grpId="0" animBg="1" autoUpdateAnimBg="0"/>
      <p:bldP spid="36" grpId="0" animBg="1"/>
      <p:bldP spid="37" grpId="0" autoUpdateAnimBg="0"/>
      <p:bldP spid="38" grpId="0" animBg="1"/>
      <p:bldP spid="39" grpId="0" animBg="1"/>
      <p:bldP spid="40" grpId="0" autoUpdateAnimBg="0"/>
      <p:bldP spid="41" grpId="0" animBg="1"/>
      <p:bldP spid="42" grpId="0" autoUpdateAnimBg="0"/>
      <p:bldP spid="43" grpId="0" animBg="1" autoUpdateAnimBg="0"/>
      <p:bldP spid="44" grpId="0" animBg="1"/>
      <p:bldP spid="45" grpId="0" autoUpdateAnimBg="0"/>
      <p:bldP spid="46" grpId="0" animBg="1"/>
      <p:bldP spid="47" grpId="0" autoUpdateAnimBg="0"/>
      <p:bldP spid="48" grpId="0" animBg="1"/>
      <p:bldP spid="49" grpId="0" autoUpdateAnimBg="0"/>
      <p:bldP spid="50" grpId="0" animBg="1"/>
      <p:bldP spid="51" grpId="0" autoUpdateAnimBg="0"/>
      <p:bldP spid="52" grpId="0" animBg="1"/>
      <p:bldP spid="53" grpId="0" autoUpdateAnimBg="0"/>
      <p:bldP spid="56" grpId="0"/>
      <p:bldP spid="57" grpId="0" animBg="1" autoUpdateAnimBg="0"/>
      <p:bldP spid="58" grpId="0" animBg="1" autoUpdateAnimBg="0"/>
      <p:bldP spid="59" grpId="0" animBg="1" autoUpdateAnimBg="0"/>
      <p:bldP spid="60" grpId="0" animBg="1" autoUpdateAnimBg="0"/>
      <p:bldP spid="61" grpId="0" animBg="1" autoUpdateAnimBg="0"/>
      <p:bldP spid="62" grpId="0" animBg="1" autoUpdateAnimBg="0"/>
      <p:bldP spid="63" grpId="0" animBg="1" autoUpdateAnimBg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6.3.2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快速排序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F1330-4898-4261-9D31-4BB9FAC566BA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971550" y="1566863"/>
            <a:ext cx="7993063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初始关键字  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49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  49*   65   97   17    27   50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3205163" y="1911350"/>
            <a:ext cx="287337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" name="Text Box 4"/>
          <p:cNvSpPr txBox="1">
            <a:spLocks noChangeArrowheads="1"/>
          </p:cNvSpPr>
          <p:nvPr/>
        </p:nvSpPr>
        <p:spPr bwMode="auto">
          <a:xfrm>
            <a:off x="7092950" y="1911350"/>
            <a:ext cx="647700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j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" name="Text Box 5"/>
          <p:cNvSpPr txBox="1">
            <a:spLocks noChangeArrowheads="1"/>
          </p:cNvSpPr>
          <p:nvPr/>
        </p:nvSpPr>
        <p:spPr bwMode="auto">
          <a:xfrm>
            <a:off x="914400" y="2416175"/>
            <a:ext cx="7978775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一次交换       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27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  49*   65   97   17    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49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 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 50 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" name="Text Box 6"/>
          <p:cNvSpPr txBox="1">
            <a:spLocks noChangeArrowheads="1"/>
          </p:cNvSpPr>
          <p:nvPr/>
        </p:nvSpPr>
        <p:spPr bwMode="auto">
          <a:xfrm>
            <a:off x="838200" y="3279775"/>
            <a:ext cx="7910513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二次交换       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27   49*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  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49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  97   17    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65   50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900113" y="4216400"/>
            <a:ext cx="7812087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三次交换      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27   49*   17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  97   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49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    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65   50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" name="Text Box 9"/>
          <p:cNvSpPr txBox="1">
            <a:spLocks noChangeArrowheads="1"/>
          </p:cNvSpPr>
          <p:nvPr/>
        </p:nvSpPr>
        <p:spPr bwMode="auto">
          <a:xfrm>
            <a:off x="900113" y="5151438"/>
            <a:ext cx="8064500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四次交换       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27   49*   17   49    97    65   50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" name="Text Box 10"/>
          <p:cNvSpPr txBox="1">
            <a:spLocks noChangeArrowheads="1"/>
          </p:cNvSpPr>
          <p:nvPr/>
        </p:nvSpPr>
        <p:spPr bwMode="auto">
          <a:xfrm>
            <a:off x="900113" y="5867400"/>
            <a:ext cx="2376487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完成一趟排序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" name="Text Box 11"/>
          <p:cNvSpPr txBox="1">
            <a:spLocks noChangeArrowheads="1"/>
          </p:cNvSpPr>
          <p:nvPr/>
        </p:nvSpPr>
        <p:spPr bwMode="auto">
          <a:xfrm>
            <a:off x="6372225" y="2751138"/>
            <a:ext cx="460375" cy="5191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j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" name="Text Box 12"/>
          <p:cNvSpPr txBox="1">
            <a:spLocks noChangeArrowheads="1"/>
          </p:cNvSpPr>
          <p:nvPr/>
        </p:nvSpPr>
        <p:spPr bwMode="auto">
          <a:xfrm>
            <a:off x="3708400" y="2751138"/>
            <a:ext cx="287338" cy="5191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" name="Text Box 13"/>
          <p:cNvSpPr txBox="1">
            <a:spLocks noChangeArrowheads="1"/>
          </p:cNvSpPr>
          <p:nvPr/>
        </p:nvSpPr>
        <p:spPr bwMode="auto">
          <a:xfrm>
            <a:off x="5651500" y="3654425"/>
            <a:ext cx="460375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j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" name="Text Box 14"/>
          <p:cNvSpPr txBox="1">
            <a:spLocks noChangeArrowheads="1"/>
          </p:cNvSpPr>
          <p:nvPr/>
        </p:nvSpPr>
        <p:spPr bwMode="auto">
          <a:xfrm>
            <a:off x="4500563" y="3638550"/>
            <a:ext cx="287337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" name="Text Box 15"/>
          <p:cNvSpPr txBox="1">
            <a:spLocks noChangeArrowheads="1"/>
          </p:cNvSpPr>
          <p:nvPr/>
        </p:nvSpPr>
        <p:spPr bwMode="auto">
          <a:xfrm>
            <a:off x="5119688" y="5559425"/>
            <a:ext cx="460375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j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" name="Text Box 16"/>
          <p:cNvSpPr txBox="1">
            <a:spLocks noChangeArrowheads="1"/>
          </p:cNvSpPr>
          <p:nvPr/>
        </p:nvSpPr>
        <p:spPr bwMode="auto">
          <a:xfrm>
            <a:off x="5003800" y="4648200"/>
            <a:ext cx="288925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" name="Text Box 17"/>
          <p:cNvSpPr txBox="1">
            <a:spLocks noChangeArrowheads="1"/>
          </p:cNvSpPr>
          <p:nvPr/>
        </p:nvSpPr>
        <p:spPr bwMode="auto">
          <a:xfrm>
            <a:off x="5076825" y="5583238"/>
            <a:ext cx="287338" cy="5191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" name="Text Box 18"/>
          <p:cNvSpPr txBox="1">
            <a:spLocks noChangeArrowheads="1"/>
          </p:cNvSpPr>
          <p:nvPr/>
        </p:nvSpPr>
        <p:spPr bwMode="auto">
          <a:xfrm>
            <a:off x="5551488" y="4591050"/>
            <a:ext cx="460375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j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" name="Text Box 19"/>
          <p:cNvSpPr txBox="1">
            <a:spLocks noChangeArrowheads="1"/>
          </p:cNvSpPr>
          <p:nvPr/>
        </p:nvSpPr>
        <p:spPr bwMode="auto">
          <a:xfrm>
            <a:off x="6300788" y="1900238"/>
            <a:ext cx="576262" cy="5191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j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" name="Text Box 20"/>
          <p:cNvSpPr txBox="1">
            <a:spLocks noChangeArrowheads="1"/>
          </p:cNvSpPr>
          <p:nvPr/>
        </p:nvSpPr>
        <p:spPr bwMode="auto">
          <a:xfrm>
            <a:off x="4500563" y="2776538"/>
            <a:ext cx="287337" cy="5191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" name="Text Box 25"/>
          <p:cNvSpPr txBox="1">
            <a:spLocks noChangeArrowheads="1"/>
          </p:cNvSpPr>
          <p:nvPr/>
        </p:nvSpPr>
        <p:spPr bwMode="auto">
          <a:xfrm>
            <a:off x="323850" y="904875"/>
            <a:ext cx="5819786" cy="52322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 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快速排序的一趟排序过程   </a:t>
            </a:r>
            <a:endParaRPr kumimoji="1" lang="zh-CN" altLang="en-US" sz="2800" b="1" dirty="0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5" grpId="1"/>
      <p:bldP spid="16" grpId="0"/>
      <p:bldP spid="17" grpId="0"/>
      <p:bldP spid="18" grpId="0"/>
      <p:bldP spid="19" grpId="0"/>
      <p:bldP spid="20" grpId="0"/>
      <p:bldP spid="21" grpId="0"/>
      <p:bldP spid="22" grpId="0"/>
      <p:bldP spid="22" grpId="1"/>
      <p:bldP spid="23" grpId="0"/>
      <p:bldP spid="23" grpId="1"/>
      <p:bldP spid="24" grpId="0"/>
      <p:bldP spid="25" grpId="0"/>
      <p:bldP spid="26" grpId="0"/>
      <p:bldP spid="27" grpId="0"/>
      <p:bldP spid="28" grpId="0"/>
      <p:bldP spid="29" grpId="0"/>
      <p:bldP spid="30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6.3.2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快速排序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6BE6C-4AAE-43D6-BB05-147D69003F2D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 Box 2"/>
          <p:cNvSpPr txBox="1">
            <a:spLocks noChangeArrowheads="1"/>
          </p:cNvSpPr>
          <p:nvPr/>
        </p:nvSpPr>
        <p:spPr bwMode="auto">
          <a:xfrm>
            <a:off x="611188" y="1346200"/>
            <a:ext cx="7993062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Tahoma" panose="020B0604030504040204" pitchFamily="34" charset="0"/>
                <a:ea typeface="楷体_GB2312" pitchFamily="49" charset="-122"/>
              </a:rPr>
              <a:t>初始关键字   </a:t>
            </a:r>
            <a:r>
              <a:rPr kumimoji="1" lang="en-US" altLang="zh-CN" sz="2800" b="1" dirty="0">
                <a:solidFill>
                  <a:srgbClr val="FF3300"/>
                </a:solidFill>
                <a:latin typeface="Tahoma" panose="020B0604030504040204" pitchFamily="34" charset="0"/>
                <a:ea typeface="楷体_GB2312" pitchFamily="49" charset="-122"/>
              </a:rPr>
              <a:t>49</a:t>
            </a:r>
            <a:r>
              <a:rPr kumimoji="1" lang="en-US" altLang="zh-CN" sz="2800" b="1" dirty="0">
                <a:solidFill>
                  <a:srgbClr val="0000FF"/>
                </a:solidFill>
                <a:latin typeface="Tahoma" panose="020B0604030504040204" pitchFamily="34" charset="0"/>
                <a:ea typeface="楷体_GB2312" pitchFamily="49" charset="-122"/>
              </a:rPr>
              <a:t>   49*   65   97   17    27   50</a:t>
            </a:r>
            <a:endParaRPr kumimoji="1" lang="en-US" altLang="zh-CN" sz="2800" b="1" dirty="0">
              <a:solidFill>
                <a:srgbClr val="0000FF"/>
              </a:solidFill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33" name="Text Box 3"/>
          <p:cNvSpPr txBox="1">
            <a:spLocks noChangeArrowheads="1"/>
          </p:cNvSpPr>
          <p:nvPr/>
        </p:nvSpPr>
        <p:spPr bwMode="auto">
          <a:xfrm>
            <a:off x="2700338" y="1679575"/>
            <a:ext cx="863600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low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" name="Text Box 4"/>
          <p:cNvSpPr txBox="1">
            <a:spLocks noChangeArrowheads="1"/>
          </p:cNvSpPr>
          <p:nvPr/>
        </p:nvSpPr>
        <p:spPr bwMode="auto">
          <a:xfrm>
            <a:off x="7453313" y="1752600"/>
            <a:ext cx="1150937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 high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" name="Text Box 5"/>
          <p:cNvSpPr txBox="1">
            <a:spLocks noChangeArrowheads="1"/>
          </p:cNvSpPr>
          <p:nvPr/>
        </p:nvSpPr>
        <p:spPr bwMode="auto">
          <a:xfrm>
            <a:off x="769938" y="4010025"/>
            <a:ext cx="8050212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Tahoma" panose="020B0604030504040204" pitchFamily="34" charset="0"/>
                <a:ea typeface="楷体_GB2312" pitchFamily="49" charset="-122"/>
              </a:rPr>
              <a:t>一次交换       </a:t>
            </a:r>
            <a:r>
              <a:rPr kumimoji="1" lang="en-US" altLang="zh-CN" sz="2800" b="1" dirty="0">
                <a:solidFill>
                  <a:srgbClr val="FF3300"/>
                </a:solidFill>
                <a:latin typeface="Tahoma" panose="020B0604030504040204" pitchFamily="34" charset="0"/>
                <a:ea typeface="楷体_GB2312" pitchFamily="49" charset="-122"/>
              </a:rPr>
              <a:t>27</a:t>
            </a:r>
            <a:r>
              <a:rPr kumimoji="1" lang="en-US" altLang="zh-CN" sz="2800" b="1" dirty="0">
                <a:solidFill>
                  <a:srgbClr val="0000FF"/>
                </a:solidFill>
                <a:latin typeface="Tahoma" panose="020B0604030504040204" pitchFamily="34" charset="0"/>
                <a:ea typeface="楷体_GB2312" pitchFamily="49" charset="-122"/>
              </a:rPr>
              <a:t>   49*   65   97   17    </a:t>
            </a:r>
            <a:r>
              <a:rPr kumimoji="1" lang="en-US" altLang="zh-CN" sz="2800" b="1" dirty="0">
                <a:solidFill>
                  <a:srgbClr val="FF3300"/>
                </a:solidFill>
                <a:latin typeface="Tahoma" panose="020B0604030504040204" pitchFamily="34" charset="0"/>
                <a:ea typeface="楷体_GB2312" pitchFamily="49" charset="-122"/>
              </a:rPr>
              <a:t>49 </a:t>
            </a:r>
            <a:r>
              <a:rPr kumimoji="1" lang="en-US" altLang="zh-CN" sz="2800" b="1" dirty="0">
                <a:solidFill>
                  <a:srgbClr val="0000FF"/>
                </a:solidFill>
                <a:latin typeface="Tahoma" panose="020B0604030504040204" pitchFamily="34" charset="0"/>
                <a:ea typeface="楷体_GB2312" pitchFamily="49" charset="-122"/>
              </a:rPr>
              <a:t>   50 </a:t>
            </a:r>
            <a:endParaRPr kumimoji="1" lang="en-US" altLang="zh-CN" sz="2800" b="1" dirty="0">
              <a:solidFill>
                <a:srgbClr val="0000FF"/>
              </a:solidFill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36" name="Text Box 7"/>
          <p:cNvSpPr txBox="1">
            <a:spLocks noChangeArrowheads="1"/>
          </p:cNvSpPr>
          <p:nvPr/>
        </p:nvSpPr>
        <p:spPr bwMode="auto">
          <a:xfrm>
            <a:off x="6877050" y="4441825"/>
            <a:ext cx="1008063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 high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" name="Text Box 8"/>
          <p:cNvSpPr txBox="1">
            <a:spLocks noChangeArrowheads="1"/>
          </p:cNvSpPr>
          <p:nvPr/>
        </p:nvSpPr>
        <p:spPr bwMode="auto">
          <a:xfrm>
            <a:off x="2916238" y="4487863"/>
            <a:ext cx="863600" cy="5191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low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" name="Text Box 9"/>
          <p:cNvSpPr txBox="1">
            <a:spLocks noChangeArrowheads="1"/>
          </p:cNvSpPr>
          <p:nvPr/>
        </p:nvSpPr>
        <p:spPr bwMode="auto">
          <a:xfrm>
            <a:off x="6661150" y="1704975"/>
            <a:ext cx="865188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high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" name="Text Box 10"/>
          <p:cNvSpPr txBox="1">
            <a:spLocks noChangeArrowheads="1"/>
          </p:cNvSpPr>
          <p:nvPr/>
        </p:nvSpPr>
        <p:spPr bwMode="auto">
          <a:xfrm>
            <a:off x="4645025" y="4513263"/>
            <a:ext cx="863600" cy="5191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low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" name="Rectangle 11"/>
          <p:cNvSpPr>
            <a:spLocks noChangeArrowheads="1"/>
          </p:cNvSpPr>
          <p:nvPr/>
        </p:nvSpPr>
        <p:spPr bwMode="auto">
          <a:xfrm>
            <a:off x="682625" y="2641600"/>
            <a:ext cx="7921625" cy="1373188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while ((low&lt;high)&amp;&amp; (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L.r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[high].key&gt;=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pivotkey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))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--high;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L.r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[low] ←→ 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L.r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[high];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1" name="Rectangle 12"/>
          <p:cNvSpPr>
            <a:spLocks noChangeArrowheads="1"/>
          </p:cNvSpPr>
          <p:nvPr/>
        </p:nvSpPr>
        <p:spPr bwMode="auto">
          <a:xfrm>
            <a:off x="682625" y="2184400"/>
            <a:ext cx="4752975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pivotkey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=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L.r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[low].key;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2" name="Rectangle 17"/>
          <p:cNvSpPr>
            <a:spLocks noChangeArrowheads="1"/>
          </p:cNvSpPr>
          <p:nvPr/>
        </p:nvSpPr>
        <p:spPr bwMode="auto">
          <a:xfrm>
            <a:off x="682625" y="5027613"/>
            <a:ext cx="7705725" cy="1373187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while ((low&lt;high)&amp;&amp; (L.r[low].key&lt;=pivotkey))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++low;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L.r[low] ←→ L.r[high];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3" name="Text Box 19"/>
          <p:cNvSpPr txBox="1">
            <a:spLocks noChangeArrowheads="1"/>
          </p:cNvSpPr>
          <p:nvPr/>
        </p:nvSpPr>
        <p:spPr bwMode="auto">
          <a:xfrm>
            <a:off x="395288" y="774696"/>
            <a:ext cx="2808287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算法关键语句</a:t>
            </a:r>
            <a:endParaRPr kumimoji="1" lang="zh-CN" altLang="en-US" sz="2800" b="1" dirty="0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4" grpId="0"/>
      <p:bldP spid="34" grpId="1"/>
      <p:bldP spid="35" grpId="0"/>
      <p:bldP spid="36" grpId="0"/>
      <p:bldP spid="37" grpId="0"/>
      <p:bldP spid="37" grpId="1"/>
      <p:bldP spid="38" grpId="0"/>
      <p:bldP spid="39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6.3.2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快速排序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80D5C-29D0-489D-9D15-ED37A1A6F365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903317" y="1551087"/>
            <a:ext cx="7812087" cy="5078313"/>
          </a:xfrm>
          <a:prstGeom prst="rect">
            <a:avLst/>
          </a:prstGeom>
          <a:noFill/>
          <a:ln w="9525" algn="ctr">
            <a:solidFill>
              <a:srgbClr val="003300"/>
            </a:solidFill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600" b="1" dirty="0" err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int</a:t>
            </a:r>
            <a:r>
              <a:rPr kumimoji="1" lang="en-US" altLang="zh-CN" sz="26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 Partition(</a:t>
            </a:r>
            <a:r>
              <a:rPr kumimoji="1" lang="en-US" altLang="zh-CN" sz="2600" b="1" dirty="0" err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SqList</a:t>
            </a:r>
            <a:r>
              <a:rPr kumimoji="1" lang="en-US" altLang="zh-CN" sz="26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 &amp;L, </a:t>
            </a:r>
            <a:r>
              <a:rPr kumimoji="1" lang="en-US" altLang="zh-CN" sz="2600" b="1" dirty="0" err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int</a:t>
            </a:r>
            <a:r>
              <a:rPr kumimoji="1" lang="en-US" altLang="zh-CN" sz="26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 low, </a:t>
            </a:r>
            <a:r>
              <a:rPr kumimoji="1" lang="en-US" altLang="zh-CN" sz="2600" b="1" dirty="0" err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int</a:t>
            </a:r>
            <a:r>
              <a:rPr kumimoji="1" lang="en-US" altLang="zh-CN" sz="26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 high) </a:t>
            </a:r>
            <a:endParaRPr kumimoji="1" lang="en-US" altLang="zh-CN" sz="26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6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{ </a:t>
            </a:r>
            <a:r>
              <a:rPr kumimoji="1" lang="en-US" altLang="zh-CN" sz="2600" b="1" dirty="0" err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KeyType</a:t>
            </a:r>
            <a:r>
              <a:rPr kumimoji="1" lang="en-US" altLang="zh-CN" sz="26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600" b="1" dirty="0" err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pivotkey;pivotkey</a:t>
            </a:r>
            <a:r>
              <a:rPr kumimoji="1" lang="en-US" altLang="zh-CN" sz="26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 = </a:t>
            </a:r>
            <a:r>
              <a:rPr kumimoji="1" lang="en-US" altLang="zh-CN" sz="2600" b="1" dirty="0" err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L.r</a:t>
            </a:r>
            <a:r>
              <a:rPr kumimoji="1" lang="en-US" altLang="zh-CN" sz="26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[low].key;</a:t>
            </a:r>
            <a:endParaRPr kumimoji="1" lang="en-US" altLang="zh-CN" sz="26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6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while (low&lt;high) {</a:t>
            </a:r>
            <a:endParaRPr kumimoji="1" lang="en-US" altLang="zh-CN" sz="26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while ((low&lt;high)&amp;&amp; (</a:t>
            </a:r>
            <a:r>
              <a:rPr kumimoji="1" lang="en-US" altLang="zh-CN" sz="2800" b="1" dirty="0" err="1">
                <a:solidFill>
                  <a:srgbClr val="FF3300"/>
                </a:solidFill>
                <a:latin typeface="Times New Roman" panose="02020603050405020304" pitchFamily="18" charset="0"/>
              </a:rPr>
              <a:t>L.r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[high].key&gt;=</a:t>
            </a:r>
            <a:r>
              <a:rPr kumimoji="1" lang="en-US" altLang="zh-CN" sz="2800" b="1" dirty="0" err="1">
                <a:solidFill>
                  <a:srgbClr val="FF3300"/>
                </a:solidFill>
                <a:latin typeface="Times New Roman" panose="02020603050405020304" pitchFamily="18" charset="0"/>
              </a:rPr>
              <a:t>pivotkey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))</a:t>
            </a:r>
            <a:endParaRPr kumimoji="1" lang="en-US" altLang="zh-CN" sz="2800" b="1" dirty="0">
              <a:solidFill>
                <a:srgbClr val="FF33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    --high;</a:t>
            </a:r>
            <a:endParaRPr kumimoji="1" lang="en-US" altLang="zh-CN" sz="2800" b="1" dirty="0">
              <a:solidFill>
                <a:srgbClr val="FF33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    </a:t>
            </a:r>
            <a:r>
              <a:rPr kumimoji="1" lang="en-US" altLang="zh-CN" sz="2800" b="1" dirty="0" err="1">
                <a:solidFill>
                  <a:srgbClr val="FF3300"/>
                </a:solidFill>
                <a:latin typeface="Times New Roman" panose="02020603050405020304" pitchFamily="18" charset="0"/>
              </a:rPr>
              <a:t>L.r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[low] ←→ </a:t>
            </a:r>
            <a:r>
              <a:rPr kumimoji="1" lang="en-US" altLang="zh-CN" sz="2800" b="1" dirty="0" err="1">
                <a:solidFill>
                  <a:srgbClr val="FF3300"/>
                </a:solidFill>
                <a:latin typeface="Times New Roman" panose="02020603050405020304" pitchFamily="18" charset="0"/>
              </a:rPr>
              <a:t>L.r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[high];</a:t>
            </a:r>
            <a:endParaRPr kumimoji="1" lang="en-US" altLang="zh-CN" sz="2800" b="1" dirty="0">
              <a:solidFill>
                <a:srgbClr val="FF33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while ((low&lt;high)&amp;&amp; (</a:t>
            </a:r>
            <a:r>
              <a:rPr kumimoji="1" lang="en-US" altLang="zh-CN" sz="2800" b="1" dirty="0" err="1">
                <a:solidFill>
                  <a:srgbClr val="FF3300"/>
                </a:solidFill>
                <a:latin typeface="Times New Roman" panose="02020603050405020304" pitchFamily="18" charset="0"/>
              </a:rPr>
              <a:t>L.r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[low].key&lt;=</a:t>
            </a:r>
            <a:r>
              <a:rPr kumimoji="1" lang="en-US" altLang="zh-CN" sz="2800" b="1" dirty="0" err="1">
                <a:solidFill>
                  <a:srgbClr val="FF3300"/>
                </a:solidFill>
                <a:latin typeface="Times New Roman" panose="02020603050405020304" pitchFamily="18" charset="0"/>
              </a:rPr>
              <a:t>pivotkey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))</a:t>
            </a:r>
            <a:endParaRPr kumimoji="1" lang="en-US" altLang="zh-CN" sz="2800" b="1" dirty="0">
              <a:solidFill>
                <a:srgbClr val="FF33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     ++low;</a:t>
            </a:r>
            <a:endParaRPr kumimoji="1" lang="en-US" altLang="zh-CN" sz="2800" b="1" dirty="0">
              <a:solidFill>
                <a:srgbClr val="FF33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     </a:t>
            </a:r>
            <a:r>
              <a:rPr kumimoji="1" lang="en-US" altLang="zh-CN" sz="2800" b="1" dirty="0" err="1">
                <a:solidFill>
                  <a:srgbClr val="FF3300"/>
                </a:solidFill>
                <a:latin typeface="Times New Roman" panose="02020603050405020304" pitchFamily="18" charset="0"/>
              </a:rPr>
              <a:t>L.r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[low] ←→ </a:t>
            </a:r>
            <a:r>
              <a:rPr kumimoji="1" lang="en-US" altLang="zh-CN" sz="2800" b="1" dirty="0" err="1">
                <a:solidFill>
                  <a:srgbClr val="FF3300"/>
                </a:solidFill>
                <a:latin typeface="Times New Roman" panose="02020603050405020304" pitchFamily="18" charset="0"/>
              </a:rPr>
              <a:t>L.r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[high];</a:t>
            </a:r>
            <a:endParaRPr kumimoji="1" lang="en-US" altLang="zh-CN" sz="2800" b="1" dirty="0">
              <a:solidFill>
                <a:srgbClr val="FF33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  </a:t>
            </a:r>
            <a:r>
              <a:rPr kumimoji="1" lang="en-US" altLang="zh-CN" sz="26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}</a:t>
            </a:r>
            <a:endParaRPr kumimoji="1" lang="en-US" altLang="zh-CN" sz="26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6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   return low;</a:t>
            </a:r>
            <a:r>
              <a:rPr kumimoji="1"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                                  // </a:t>
            </a:r>
            <a:r>
              <a:rPr kumimoji="1"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返回枢轴位置</a:t>
            </a:r>
            <a:endParaRPr kumimoji="1" lang="zh-CN" altLang="en-US" sz="2600" b="1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6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}</a:t>
            </a:r>
            <a:r>
              <a:rPr kumimoji="1"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// Partition</a:t>
            </a:r>
            <a:endParaRPr kumimoji="1" lang="en-US" altLang="zh-CN" sz="2600" b="1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4" name="Text Box 7"/>
          <p:cNvSpPr txBox="1">
            <a:spLocks noChangeArrowheads="1"/>
          </p:cNvSpPr>
          <p:nvPr/>
        </p:nvSpPr>
        <p:spPr bwMode="auto">
          <a:xfrm>
            <a:off x="407975" y="895314"/>
            <a:ext cx="2449513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 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算  法    </a:t>
            </a:r>
            <a:endParaRPr kumimoji="1" lang="zh-CN" altLang="en-US" sz="2800" b="1" dirty="0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6.3.2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快速排序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C60A7-F90D-40B1-BDE7-9D505BC83C44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538165" y="1366421"/>
            <a:ext cx="8177239" cy="5262979"/>
          </a:xfrm>
          <a:prstGeom prst="rect">
            <a:avLst/>
          </a:prstGeom>
          <a:noFill/>
          <a:ln w="9525">
            <a:solidFill>
              <a:srgbClr val="003300"/>
            </a:solidFill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void 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QSort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 (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ElemType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 R[],  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int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 low,  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int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  high ) {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 // 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对记录序列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R[low..high]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进行快速排序</a:t>
            </a:r>
            <a:endParaRPr kumimoji="1" lang="zh-CN" alt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if (low &lt;high-1) 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{             // 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长度大于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endParaRPr kumimoji="1"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    </a:t>
            </a:r>
            <a:r>
              <a:rPr kumimoji="1" lang="en-US" altLang="zh-CN" sz="2800" b="1" dirty="0" err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pivotloc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 = Partition(L, low, high);</a:t>
            </a:r>
            <a:endParaRPr kumimoji="1" lang="en-US" altLang="zh-CN" sz="28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                       // 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将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R[low..high] 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进行一次划分</a:t>
            </a:r>
            <a:endParaRPr kumimoji="1" lang="zh-CN" alt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   </a:t>
            </a:r>
            <a:r>
              <a:rPr kumimoji="1" lang="en-US" altLang="zh-CN" sz="2800" b="1" dirty="0" err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Qsort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(R, low, pivotloc-1);</a:t>
            </a:r>
            <a:endParaRPr kumimoji="1" lang="en-US" altLang="zh-CN" sz="28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            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// 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对低子序列递归排序，</a:t>
            </a:r>
            <a:r>
              <a:rPr kumimoji="1" lang="en-US" altLang="zh-CN" sz="2800" b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pivotloc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是枢轴位置</a:t>
            </a:r>
            <a:endParaRPr kumimoji="1" lang="zh-CN" alt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   </a:t>
            </a:r>
            <a:r>
              <a:rPr kumimoji="1" lang="en-US" altLang="zh-CN" sz="2800" b="1" dirty="0" err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Qsort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(R, pivotloc+1,high); 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// 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对高子序列递归排序</a:t>
            </a:r>
            <a:endParaRPr kumimoji="1" lang="zh-CN" alt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  }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} // 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QSort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4" name="Text Box 7"/>
          <p:cNvSpPr txBox="1">
            <a:spLocks noChangeArrowheads="1"/>
          </p:cNvSpPr>
          <p:nvPr/>
        </p:nvSpPr>
        <p:spPr bwMode="auto">
          <a:xfrm>
            <a:off x="407975" y="852488"/>
            <a:ext cx="2449513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 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算  法    </a:t>
            </a:r>
            <a:endParaRPr kumimoji="1" lang="zh-CN" altLang="en-US" sz="2800" b="1" dirty="0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6.3.2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快速排序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3B3E4-8296-475E-9130-E3033279D5D1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1141596" y="2005016"/>
            <a:ext cx="5995552" cy="3698320"/>
          </a:xfrm>
          <a:prstGeom prst="rect">
            <a:avLst/>
          </a:prstGeom>
          <a:noFill/>
          <a:ln w="9525">
            <a:solidFill>
              <a:srgbClr val="003300"/>
            </a:solidFill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void </a:t>
            </a:r>
            <a:r>
              <a:rPr kumimoji="1" lang="en-US" altLang="zh-CN" sz="3200" b="1" dirty="0" err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QuickSort</a:t>
            </a:r>
            <a:r>
              <a:rPr kumimoji="1"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( Elem R[],int n ){</a:t>
            </a:r>
            <a:endParaRPr kumimoji="1" lang="en-US" altLang="zh-CN" sz="32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  // </a:t>
            </a:r>
            <a:r>
              <a:rPr kumimoji="1"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对记录序列进行快速排序</a:t>
            </a:r>
            <a:endParaRPr kumimoji="1" lang="zh-CN" altLang="en-US" sz="3200" b="1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     </a:t>
            </a:r>
            <a:r>
              <a:rPr kumimoji="1" lang="en-US" altLang="zh-CN" sz="3200" b="1" dirty="0" err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Qsort</a:t>
            </a:r>
            <a:r>
              <a:rPr kumimoji="1"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(R, 1, n);</a:t>
            </a:r>
            <a:endParaRPr kumimoji="1" lang="en-US" altLang="zh-CN" sz="32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} </a:t>
            </a:r>
            <a:r>
              <a:rPr kumimoji="1"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// </a:t>
            </a:r>
            <a:r>
              <a:rPr kumimoji="1" lang="en-US" altLang="zh-CN" sz="3200" b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QuickSort</a:t>
            </a:r>
            <a:endParaRPr kumimoji="1" lang="en-US" altLang="zh-CN" sz="3200" b="1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//</a:t>
            </a:r>
            <a:r>
              <a:rPr kumimoji="1"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第一次调用函数 </a:t>
            </a:r>
            <a:r>
              <a:rPr kumimoji="1" lang="en-US" altLang="zh-CN" sz="3200" b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Qsort</a:t>
            </a:r>
            <a:endParaRPr kumimoji="1" lang="en-US" altLang="zh-CN" sz="3200" b="1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5" name="Text Box 7"/>
          <p:cNvSpPr txBox="1">
            <a:spLocks noChangeArrowheads="1"/>
          </p:cNvSpPr>
          <p:nvPr/>
        </p:nvSpPr>
        <p:spPr bwMode="auto">
          <a:xfrm>
            <a:off x="407975" y="914400"/>
            <a:ext cx="2449513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 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算  法    </a:t>
            </a:r>
            <a:endParaRPr kumimoji="1" lang="zh-CN" altLang="en-US" sz="2800" b="1" dirty="0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6.3.2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快速排序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EA3CA-1D86-4BEC-A462-E5E52238EDE2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400050" y="990600"/>
            <a:ext cx="6548438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>
                <a:solidFill>
                  <a:srgbClr val="0033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</a:rPr>
              <a:t>算法分析 </a:t>
            </a:r>
            <a:endParaRPr kumimoji="1" lang="zh-CN" altLang="en-US" sz="2800" b="1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" name="Text Box 8"/>
          <p:cNvSpPr txBox="1">
            <a:spLocks noChangeArrowheads="1"/>
          </p:cNvSpPr>
          <p:nvPr/>
        </p:nvSpPr>
        <p:spPr bwMode="auto">
          <a:xfrm>
            <a:off x="1042988" y="2099339"/>
            <a:ext cx="6548437" cy="2985433"/>
          </a:xfrm>
          <a:prstGeom prst="rect">
            <a:avLst/>
          </a:prstGeom>
          <a:noFill/>
          <a:ln w="9525" algn="ctr">
            <a:solidFill>
              <a:srgbClr val="003300"/>
            </a:solidFill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(1)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稳定性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快速排序是</a:t>
            </a:r>
            <a:r>
              <a:rPr kumimoji="1" lang="zh-CN" altLang="en-US" sz="3200" b="1" u="sng" dirty="0">
                <a:solidFill>
                  <a:srgbClr val="FF3300"/>
                </a:solidFill>
                <a:latin typeface="Times New Roman" panose="02020603050405020304" pitchFamily="18" charset="0"/>
              </a:rPr>
              <a:t>不稳定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的排序方法。</a:t>
            </a:r>
            <a:endParaRPr kumimoji="1" lang="zh-CN" altLang="en-US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(2)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时间复杂度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</a:t>
            </a:r>
            <a:endParaRPr kumimoji="1" lang="en-US" altLang="zh-CN" sz="2800" b="1" u="sng" dirty="0">
              <a:solidFill>
                <a:srgbClr val="FF33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平均时间复杂度也是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O(nlog</a:t>
            </a:r>
            <a:r>
              <a:rPr kumimoji="1" lang="en-US" altLang="zh-CN" sz="2800" b="1" baseline="-25000" dirty="0">
                <a:solidFill>
                  <a:srgbClr val="FF3300"/>
                </a:solidFill>
                <a:latin typeface="Times New Roman" panose="02020603050405020304" pitchFamily="18" charset="0"/>
              </a:rPr>
              <a:t>2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n)</a:t>
            </a:r>
            <a:endParaRPr kumimoji="1" lang="en-US" altLang="zh-CN" sz="2800" b="1" dirty="0">
              <a:solidFill>
                <a:srgbClr val="FF33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6.3.2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快速排序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E51F0-67DF-421B-A0B5-7A0234DBA0E0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Box 7"/>
          <p:cNvSpPr txBox="1">
            <a:spLocks noChangeArrowheads="1"/>
          </p:cNvSpPr>
          <p:nvPr/>
        </p:nvSpPr>
        <p:spPr bwMode="auto">
          <a:xfrm>
            <a:off x="381000" y="839519"/>
            <a:ext cx="6548437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>
                <a:solidFill>
                  <a:srgbClr val="0033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</a:rPr>
              <a:t>算法分析 </a:t>
            </a:r>
            <a:endParaRPr kumimoji="1" lang="zh-CN" altLang="en-US" sz="2800" b="1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" name="Text Box 4"/>
          <p:cNvSpPr txBox="1">
            <a:spLocks noChangeArrowheads="1"/>
          </p:cNvSpPr>
          <p:nvPr/>
        </p:nvSpPr>
        <p:spPr bwMode="auto">
          <a:xfrm>
            <a:off x="433389" y="1433229"/>
            <a:ext cx="8210364" cy="1169551"/>
          </a:xfrm>
          <a:prstGeom prst="rect">
            <a:avLst/>
          </a:prstGeom>
          <a:noFill/>
          <a:ln w="9525">
            <a:solidFill>
              <a:srgbClr val="003300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    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若待排记录的初始状态为按</a:t>
            </a:r>
            <a:r>
              <a:rPr kumimoji="1"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关键字有序时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，快速排序将蜕化为起泡排序，其时间复杂度为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O(n</a:t>
            </a:r>
            <a:r>
              <a:rPr kumimoji="1" lang="en-US" altLang="zh-CN" sz="2800" b="1" baseline="300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。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7" name="Text Box 5"/>
          <p:cNvSpPr txBox="1">
            <a:spLocks noChangeArrowheads="1"/>
          </p:cNvSpPr>
          <p:nvPr/>
        </p:nvSpPr>
        <p:spPr bwMode="auto">
          <a:xfrm>
            <a:off x="433388" y="2917136"/>
            <a:ext cx="8339166" cy="1195520"/>
          </a:xfrm>
          <a:prstGeom prst="rect">
            <a:avLst/>
          </a:prstGeom>
          <a:noFill/>
          <a:ln w="9525">
            <a:solidFill>
              <a:srgbClr val="003300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 fontAlgn="base">
              <a:lnSpc>
                <a:spcPct val="13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    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为避免出现这种情况，需在进行一次划分之前，进行“预处理”，即：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8" name="Rectangle 9"/>
          <p:cNvSpPr>
            <a:spLocks noChangeArrowheads="1"/>
          </p:cNvSpPr>
          <p:nvPr/>
        </p:nvSpPr>
        <p:spPr bwMode="auto">
          <a:xfrm>
            <a:off x="433388" y="4563374"/>
            <a:ext cx="8339166" cy="1837426"/>
          </a:xfrm>
          <a:prstGeom prst="rect">
            <a:avLst/>
          </a:prstGeom>
          <a:noFill/>
          <a:ln w="9525">
            <a:solidFill>
              <a:srgbClr val="003300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 fontAlgn="base">
              <a:lnSpc>
                <a:spcPct val="13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   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先对 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R(s).key,  R(t).key 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和 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R[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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s+t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)/2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]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.key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，进行相互比较，然后取关键字为 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3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  “三者之中”的记录为枢轴记录。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 autoUpdateAnimBg="0"/>
      <p:bldP spid="18" grpId="0" animBg="1" autoUpdateAnimBg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F0000"/>
                </a:solidFill>
              </a:rPr>
              <a:t>第六章 排序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 lnSpcReduction="10000"/>
          </a:bodyPr>
          <a:lstStyle/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6.1 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概述</a:t>
            </a:r>
            <a:endParaRPr kumimoji="1" lang="zh-CN" altLang="en-US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6.2 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插入排序</a:t>
            </a:r>
            <a:endParaRPr kumimoji="1" lang="zh-CN" altLang="en-US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6.3 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快速排序</a:t>
            </a:r>
            <a:endParaRPr kumimoji="1" lang="zh-CN" altLang="en-US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6.4  </a:t>
            </a:r>
            <a:r>
              <a:rPr kumimoji="1" lang="zh-CN" altLang="en-US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选择排序</a:t>
            </a:r>
            <a:endParaRPr kumimoji="1" lang="zh-CN" altLang="en-US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6.5 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归并排序</a:t>
            </a:r>
            <a:endParaRPr kumimoji="1" lang="zh-CN" altLang="en-US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6.6 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基数排序</a:t>
            </a:r>
            <a:endParaRPr kumimoji="1" lang="zh-CN" altLang="en-US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6.7 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内部排序方法的比较</a:t>
            </a:r>
            <a:endParaRPr kumimoji="1" lang="zh-CN" altLang="en-US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E0F93-21A5-4F16-ADBE-268568FC88D5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b="1" dirty="0"/>
              <a:t>6.4 </a:t>
            </a:r>
            <a:r>
              <a:rPr lang="zh-CN" altLang="en-US" b="1" dirty="0"/>
              <a:t>选择排序</a:t>
            </a:r>
            <a:endParaRPr lang="zh-CN" altLang="en-US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6.4.1 </a:t>
            </a:r>
            <a:r>
              <a:rPr kumimoji="1" lang="zh-CN" altLang="en-US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简单选择排序</a:t>
            </a:r>
            <a:endParaRPr kumimoji="1" lang="zh-CN" altLang="en-US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6.4.2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树形选择排序</a:t>
            </a:r>
            <a:endParaRPr kumimoji="1" lang="zh-CN" altLang="en-US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6.4.3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堆排序</a:t>
            </a:r>
            <a:endParaRPr kumimoji="1" lang="zh-CN" altLang="en-US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27AC4-3B80-4FF0-8863-D27535AEB8E7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6.4.1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简单选择排序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C4955-6BE2-4C07-A4DC-D75F1677C74F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 Box 2"/>
          <p:cNvSpPr txBox="1">
            <a:spLocks noChangeArrowheads="1"/>
          </p:cNvSpPr>
          <p:nvPr/>
        </p:nvSpPr>
        <p:spPr bwMode="auto">
          <a:xfrm>
            <a:off x="395288" y="936625"/>
            <a:ext cx="6537325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>
                <a:solidFill>
                  <a:srgbClr val="0033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</a:rPr>
              <a:t>基本思想</a:t>
            </a:r>
            <a:endParaRPr kumimoji="1" lang="zh-CN" altLang="en-US" sz="2800" b="1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" name="Text Box 4"/>
          <p:cNvSpPr txBox="1">
            <a:spLocks noChangeArrowheads="1"/>
          </p:cNvSpPr>
          <p:nvPr/>
        </p:nvSpPr>
        <p:spPr bwMode="auto">
          <a:xfrm>
            <a:off x="900113" y="2449513"/>
            <a:ext cx="6537325" cy="2655887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        (1)</a:t>
            </a:r>
            <a:r>
              <a:rPr kumimoji="1" lang="zh-CN" altLang="en-US" sz="28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第一次从</a:t>
            </a:r>
            <a:r>
              <a:rPr kumimoji="1" lang="en-US" altLang="zh-CN" sz="28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n</a:t>
            </a:r>
            <a:r>
              <a:rPr kumimoji="1" lang="zh-CN" altLang="en-US" sz="28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个关键字中选择一个最小值</a:t>
            </a:r>
            <a:r>
              <a:rPr kumimoji="1" lang="en-US" altLang="zh-CN" sz="28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,</a:t>
            </a:r>
            <a:r>
              <a:rPr kumimoji="1" lang="zh-CN" altLang="en-US" sz="28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确定第一个</a:t>
            </a:r>
            <a:r>
              <a:rPr kumimoji="1" lang="en-US" altLang="zh-CN" sz="28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;</a:t>
            </a:r>
            <a:endParaRPr kumimoji="1" lang="en-US" altLang="zh-CN" sz="2800" b="1" dirty="0">
              <a:solidFill>
                <a:srgbClr val="3333FF"/>
              </a:solidFill>
              <a:latin typeface="Times New Roman" panose="02020603050405020304" pitchFamily="18" charset="0"/>
            </a:endParaRPr>
          </a:p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        (2)</a:t>
            </a:r>
            <a:r>
              <a:rPr kumimoji="1" lang="zh-CN" altLang="en-US" sz="28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第二次再从剩余元素中选择一个最小值</a:t>
            </a:r>
            <a:r>
              <a:rPr kumimoji="1" lang="en-US" altLang="zh-CN" sz="28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,</a:t>
            </a:r>
            <a:r>
              <a:rPr kumimoji="1" lang="zh-CN" altLang="en-US" sz="28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确定第二个</a:t>
            </a:r>
            <a:r>
              <a:rPr kumimoji="1" lang="en-US" altLang="zh-CN" sz="28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;</a:t>
            </a:r>
            <a:endParaRPr kumimoji="1" lang="en-US" altLang="zh-CN" sz="2800" b="1" dirty="0">
              <a:solidFill>
                <a:srgbClr val="3333FF"/>
              </a:solidFill>
              <a:latin typeface="Times New Roman" panose="02020603050405020304" pitchFamily="18" charset="0"/>
            </a:endParaRPr>
          </a:p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        (3)</a:t>
            </a:r>
            <a:r>
              <a:rPr kumimoji="1" lang="zh-CN" altLang="en-US" sz="28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共需</a:t>
            </a:r>
            <a:r>
              <a:rPr kumimoji="1" lang="en-US" altLang="zh-CN" sz="28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n-1</a:t>
            </a:r>
            <a:r>
              <a:rPr kumimoji="1" lang="zh-CN" altLang="en-US" sz="28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次选择。</a:t>
            </a:r>
            <a:endParaRPr kumimoji="1" lang="zh-CN" altLang="en-US" sz="2800" b="1" dirty="0">
              <a:solidFill>
                <a:srgbClr val="3333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6.4.1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简单选择排序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0AAC2-FE65-4E0A-A825-F7D32AB5736A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477838" y="838200"/>
            <a:ext cx="4103687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>
                <a:solidFill>
                  <a:srgbClr val="0033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</a:rPr>
              <a:t>操作过程    </a:t>
            </a:r>
            <a:endParaRPr kumimoji="1" lang="zh-CN" altLang="en-US" sz="2800" b="1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" name="Text Box 6"/>
          <p:cNvSpPr txBox="1">
            <a:spLocks noChangeArrowheads="1"/>
          </p:cNvSpPr>
          <p:nvPr/>
        </p:nvSpPr>
        <p:spPr bwMode="auto">
          <a:xfrm>
            <a:off x="550863" y="1558925"/>
            <a:ext cx="8135937" cy="436562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3333FF"/>
                </a:solidFill>
                <a:latin typeface="Times New Roman" panose="02020603050405020304" pitchFamily="18" charset="0"/>
              </a:rPr>
              <a:t>        </a:t>
            </a:r>
            <a:r>
              <a:rPr kumimoji="1" lang="zh-CN" altLang="en-US" sz="2800" b="1">
                <a:solidFill>
                  <a:srgbClr val="3333FF"/>
                </a:solidFill>
                <a:latin typeface="Times New Roman" panose="02020603050405020304" pitchFamily="18" charset="0"/>
              </a:rPr>
              <a:t>设需要排序的表是</a:t>
            </a:r>
            <a:r>
              <a:rPr kumimoji="1" lang="en-US" altLang="zh-CN" sz="2800" b="1">
                <a:solidFill>
                  <a:srgbClr val="3333FF"/>
                </a:solidFill>
                <a:latin typeface="Times New Roman" panose="02020603050405020304" pitchFamily="18" charset="0"/>
              </a:rPr>
              <a:t>A[n+1]:</a:t>
            </a:r>
            <a:endParaRPr kumimoji="1" lang="en-US" altLang="zh-CN" sz="2800" b="1">
              <a:solidFill>
                <a:srgbClr val="3333FF"/>
              </a:solidFill>
              <a:latin typeface="Times New Roman" panose="02020603050405020304" pitchFamily="18" charset="0"/>
            </a:endParaRPr>
          </a:p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3333FF"/>
                </a:solidFill>
                <a:latin typeface="Times New Roman" panose="02020603050405020304" pitchFamily="18" charset="0"/>
              </a:rPr>
              <a:t>        (1)</a:t>
            </a:r>
            <a:r>
              <a:rPr kumimoji="1" lang="zh-CN" altLang="en-US" sz="2800" b="1">
                <a:solidFill>
                  <a:srgbClr val="3333FF"/>
                </a:solidFill>
                <a:latin typeface="Times New Roman" panose="02020603050405020304" pitchFamily="18" charset="0"/>
              </a:rPr>
              <a:t>第一趟排序是在无序区</a:t>
            </a:r>
            <a:r>
              <a:rPr kumimoji="1" lang="en-US" altLang="zh-CN" sz="2800" b="1">
                <a:solidFill>
                  <a:srgbClr val="3333FF"/>
                </a:solidFill>
                <a:latin typeface="Times New Roman" panose="02020603050405020304" pitchFamily="18" charset="0"/>
              </a:rPr>
              <a:t>A[1]</a:t>
            </a:r>
            <a:r>
              <a:rPr kumimoji="1" lang="zh-CN" altLang="en-US" sz="2800" b="1">
                <a:solidFill>
                  <a:srgbClr val="3333FF"/>
                </a:solidFill>
                <a:latin typeface="Times New Roman" panose="02020603050405020304" pitchFamily="18" charset="0"/>
              </a:rPr>
              <a:t>到</a:t>
            </a:r>
            <a:r>
              <a:rPr kumimoji="1" lang="en-US" altLang="zh-CN" sz="2800" b="1">
                <a:solidFill>
                  <a:srgbClr val="3333FF"/>
                </a:solidFill>
                <a:latin typeface="Times New Roman" panose="02020603050405020304" pitchFamily="18" charset="0"/>
              </a:rPr>
              <a:t>A[n]</a:t>
            </a:r>
            <a:r>
              <a:rPr kumimoji="1" lang="zh-CN" altLang="en-US" sz="2800" b="1">
                <a:solidFill>
                  <a:srgbClr val="3333FF"/>
                </a:solidFill>
                <a:latin typeface="Times New Roman" panose="02020603050405020304" pitchFamily="18" charset="0"/>
              </a:rPr>
              <a:t>中选出最小的记录，将它与</a:t>
            </a:r>
            <a:r>
              <a:rPr kumimoji="1" lang="en-US" altLang="zh-CN" sz="2800" b="1">
                <a:solidFill>
                  <a:srgbClr val="3333FF"/>
                </a:solidFill>
                <a:latin typeface="Times New Roman" panose="02020603050405020304" pitchFamily="18" charset="0"/>
              </a:rPr>
              <a:t>A[1]</a:t>
            </a:r>
            <a:r>
              <a:rPr kumimoji="1" lang="zh-CN" altLang="en-US" sz="2800" b="1">
                <a:solidFill>
                  <a:srgbClr val="3333FF"/>
                </a:solidFill>
                <a:latin typeface="Times New Roman" panose="02020603050405020304" pitchFamily="18" charset="0"/>
              </a:rPr>
              <a:t>交换，确定最小值</a:t>
            </a:r>
            <a:r>
              <a:rPr kumimoji="1" lang="en-US" altLang="zh-CN" sz="2800" b="1">
                <a:solidFill>
                  <a:srgbClr val="3333FF"/>
                </a:solidFill>
                <a:latin typeface="Times New Roman" panose="02020603050405020304" pitchFamily="18" charset="0"/>
              </a:rPr>
              <a:t>;</a:t>
            </a:r>
            <a:endParaRPr kumimoji="1" lang="en-US" altLang="zh-CN" sz="2800" b="1">
              <a:solidFill>
                <a:srgbClr val="3333FF"/>
              </a:solidFill>
              <a:latin typeface="Times New Roman" panose="02020603050405020304" pitchFamily="18" charset="0"/>
            </a:endParaRPr>
          </a:p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3333FF"/>
                </a:solidFill>
                <a:latin typeface="Times New Roman" panose="02020603050405020304" pitchFamily="18" charset="0"/>
              </a:rPr>
              <a:t>        (2)</a:t>
            </a:r>
            <a:r>
              <a:rPr kumimoji="1" lang="zh-CN" altLang="en-US" sz="2800" b="1">
                <a:solidFill>
                  <a:srgbClr val="3333FF"/>
                </a:solidFill>
                <a:latin typeface="Times New Roman" panose="02020603050405020304" pitchFamily="18" charset="0"/>
              </a:rPr>
              <a:t>第二趟排序是在</a:t>
            </a:r>
            <a:r>
              <a:rPr kumimoji="1" lang="en-US" altLang="zh-CN" sz="2800" b="1">
                <a:solidFill>
                  <a:srgbClr val="3333FF"/>
                </a:solidFill>
                <a:latin typeface="Times New Roman" panose="02020603050405020304" pitchFamily="18" charset="0"/>
              </a:rPr>
              <a:t>A[2]</a:t>
            </a:r>
            <a:r>
              <a:rPr kumimoji="1" lang="zh-CN" altLang="en-US" sz="2800" b="1">
                <a:solidFill>
                  <a:srgbClr val="3333FF"/>
                </a:solidFill>
                <a:latin typeface="Times New Roman" panose="02020603050405020304" pitchFamily="18" charset="0"/>
              </a:rPr>
              <a:t>到</a:t>
            </a:r>
            <a:r>
              <a:rPr kumimoji="1" lang="en-US" altLang="zh-CN" sz="2800" b="1">
                <a:solidFill>
                  <a:srgbClr val="3333FF"/>
                </a:solidFill>
                <a:latin typeface="Times New Roman" panose="02020603050405020304" pitchFamily="18" charset="0"/>
              </a:rPr>
              <a:t>A[n]</a:t>
            </a:r>
            <a:r>
              <a:rPr kumimoji="1" lang="zh-CN" altLang="en-US" sz="2800" b="1">
                <a:solidFill>
                  <a:srgbClr val="3333FF"/>
                </a:solidFill>
                <a:latin typeface="Times New Roman" panose="02020603050405020304" pitchFamily="18" charset="0"/>
              </a:rPr>
              <a:t>中选关键字最小的记录，将它与</a:t>
            </a:r>
            <a:r>
              <a:rPr kumimoji="1" lang="en-US" altLang="zh-CN" sz="2800" b="1">
                <a:solidFill>
                  <a:srgbClr val="3333FF"/>
                </a:solidFill>
                <a:latin typeface="Times New Roman" panose="02020603050405020304" pitchFamily="18" charset="0"/>
              </a:rPr>
              <a:t>A[2]</a:t>
            </a:r>
            <a:r>
              <a:rPr kumimoji="1" lang="zh-CN" altLang="en-US" sz="2800" b="1">
                <a:solidFill>
                  <a:srgbClr val="3333FF"/>
                </a:solidFill>
                <a:latin typeface="Times New Roman" panose="02020603050405020304" pitchFamily="18" charset="0"/>
              </a:rPr>
              <a:t>交换，确定次小值；</a:t>
            </a:r>
            <a:endParaRPr kumimoji="1" lang="zh-CN" altLang="en-US" sz="2800" b="1">
              <a:solidFill>
                <a:srgbClr val="3333FF"/>
              </a:solidFill>
              <a:latin typeface="Times New Roman" panose="02020603050405020304" pitchFamily="18" charset="0"/>
            </a:endParaRPr>
          </a:p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3333FF"/>
                </a:solidFill>
                <a:latin typeface="Times New Roman" panose="02020603050405020304" pitchFamily="18" charset="0"/>
              </a:rPr>
              <a:t>        </a:t>
            </a:r>
            <a:r>
              <a:rPr kumimoji="1" lang="en-US" altLang="zh-CN" sz="2800" b="1">
                <a:solidFill>
                  <a:srgbClr val="3333FF"/>
                </a:solidFill>
                <a:latin typeface="Times New Roman" panose="02020603050405020304" pitchFamily="18" charset="0"/>
              </a:rPr>
              <a:t>(3)</a:t>
            </a:r>
            <a:r>
              <a:rPr kumimoji="1" lang="zh-CN" altLang="en-US" sz="2800" b="1">
                <a:solidFill>
                  <a:srgbClr val="3333FF"/>
                </a:solidFill>
                <a:latin typeface="Times New Roman" panose="02020603050405020304" pitchFamily="18" charset="0"/>
              </a:rPr>
              <a:t>第</a:t>
            </a:r>
            <a:r>
              <a:rPr kumimoji="1" lang="en-US" altLang="zh-CN" sz="2800" b="1">
                <a:solidFill>
                  <a:srgbClr val="3333FF"/>
                </a:solidFill>
                <a:latin typeface="Times New Roman" panose="02020603050405020304" pitchFamily="18" charset="0"/>
              </a:rPr>
              <a:t>i</a:t>
            </a:r>
            <a:r>
              <a:rPr kumimoji="1" lang="zh-CN" altLang="en-US" sz="2800" b="1">
                <a:solidFill>
                  <a:srgbClr val="3333FF"/>
                </a:solidFill>
                <a:latin typeface="Times New Roman" panose="02020603050405020304" pitchFamily="18" charset="0"/>
              </a:rPr>
              <a:t>趟排序是在</a:t>
            </a:r>
            <a:r>
              <a:rPr kumimoji="1" lang="en-US" altLang="zh-CN" sz="2800" b="1">
                <a:solidFill>
                  <a:srgbClr val="3333FF"/>
                </a:solidFill>
                <a:latin typeface="Times New Roman" panose="02020603050405020304" pitchFamily="18" charset="0"/>
              </a:rPr>
              <a:t>A[i]</a:t>
            </a:r>
            <a:r>
              <a:rPr kumimoji="1" lang="zh-CN" altLang="en-US" sz="2800" b="1">
                <a:solidFill>
                  <a:srgbClr val="3333FF"/>
                </a:solidFill>
                <a:latin typeface="Times New Roman" panose="02020603050405020304" pitchFamily="18" charset="0"/>
              </a:rPr>
              <a:t>到</a:t>
            </a:r>
            <a:r>
              <a:rPr kumimoji="1" lang="en-US" altLang="zh-CN" sz="2800" b="1">
                <a:solidFill>
                  <a:srgbClr val="3333FF"/>
                </a:solidFill>
                <a:latin typeface="Times New Roman" panose="02020603050405020304" pitchFamily="18" charset="0"/>
              </a:rPr>
              <a:t>A[n]</a:t>
            </a:r>
            <a:r>
              <a:rPr kumimoji="1" lang="zh-CN" altLang="en-US" sz="2800" b="1">
                <a:solidFill>
                  <a:srgbClr val="3333FF"/>
                </a:solidFill>
                <a:latin typeface="Times New Roman" panose="02020603050405020304" pitchFamily="18" charset="0"/>
              </a:rPr>
              <a:t>中选关键字最小的记录，将它与</a:t>
            </a:r>
            <a:r>
              <a:rPr kumimoji="1" lang="en-US" altLang="zh-CN" sz="2800" b="1">
                <a:solidFill>
                  <a:srgbClr val="3333FF"/>
                </a:solidFill>
                <a:latin typeface="Times New Roman" panose="02020603050405020304" pitchFamily="18" charset="0"/>
              </a:rPr>
              <a:t>A[i]</a:t>
            </a:r>
            <a:r>
              <a:rPr kumimoji="1" lang="zh-CN" altLang="en-US" sz="2800" b="1">
                <a:solidFill>
                  <a:srgbClr val="3333FF"/>
                </a:solidFill>
                <a:latin typeface="Times New Roman" panose="02020603050405020304" pitchFamily="18" charset="0"/>
              </a:rPr>
              <a:t>交换；</a:t>
            </a:r>
            <a:endParaRPr kumimoji="1" lang="zh-CN" altLang="en-US" sz="2800" b="1">
              <a:solidFill>
                <a:srgbClr val="3333FF"/>
              </a:solidFill>
              <a:latin typeface="Times New Roman" panose="02020603050405020304" pitchFamily="18" charset="0"/>
            </a:endParaRPr>
          </a:p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3333FF"/>
                </a:solidFill>
                <a:latin typeface="Times New Roman" panose="02020603050405020304" pitchFamily="18" charset="0"/>
              </a:rPr>
              <a:t>        </a:t>
            </a:r>
            <a:r>
              <a:rPr kumimoji="1" lang="en-US" altLang="zh-CN" sz="2800" b="1">
                <a:solidFill>
                  <a:srgbClr val="3333FF"/>
                </a:solidFill>
                <a:latin typeface="Times New Roman" panose="02020603050405020304" pitchFamily="18" charset="0"/>
              </a:rPr>
              <a:t>(4)</a:t>
            </a:r>
            <a:r>
              <a:rPr kumimoji="1" lang="zh-CN" altLang="en-US" sz="2800" b="1">
                <a:solidFill>
                  <a:srgbClr val="3333FF"/>
                </a:solidFill>
                <a:latin typeface="Times New Roman" panose="02020603050405020304" pitchFamily="18" charset="0"/>
              </a:rPr>
              <a:t>共</a:t>
            </a:r>
            <a:r>
              <a:rPr kumimoji="1" lang="en-US" altLang="zh-CN" sz="2800" b="1">
                <a:solidFill>
                  <a:srgbClr val="3333FF"/>
                </a:solidFill>
                <a:latin typeface="Times New Roman" panose="02020603050405020304" pitchFamily="18" charset="0"/>
              </a:rPr>
              <a:t>n-1</a:t>
            </a:r>
            <a:r>
              <a:rPr kumimoji="1" lang="zh-CN" altLang="en-US" sz="2800" b="1">
                <a:solidFill>
                  <a:srgbClr val="3333FF"/>
                </a:solidFill>
                <a:latin typeface="Times New Roman" panose="02020603050405020304" pitchFamily="18" charset="0"/>
              </a:rPr>
              <a:t>趟排序。</a:t>
            </a:r>
            <a:endParaRPr kumimoji="1" lang="zh-CN" altLang="en-US" sz="2800" b="1">
              <a:solidFill>
                <a:srgbClr val="3333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6.4.1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简单选择排序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7F696-4E69-4D94-9298-56294CEED845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477838" y="838200"/>
            <a:ext cx="4103687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>
                <a:solidFill>
                  <a:srgbClr val="0033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</a:rPr>
              <a:t>操作过程    </a:t>
            </a:r>
            <a:endParaRPr kumimoji="1" lang="zh-CN" altLang="en-US" sz="2800" b="1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" name="Text Box 6"/>
          <p:cNvSpPr txBox="1">
            <a:spLocks noChangeArrowheads="1"/>
          </p:cNvSpPr>
          <p:nvPr/>
        </p:nvSpPr>
        <p:spPr bwMode="auto">
          <a:xfrm>
            <a:off x="550863" y="1558925"/>
            <a:ext cx="8135937" cy="203132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简单选择排序</a:t>
            </a:r>
            <a:r>
              <a:rPr kumimoji="1" lang="zh-CN" altLang="en-US" sz="28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与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气泡排序</a:t>
            </a:r>
            <a:r>
              <a:rPr kumimoji="1" lang="zh-CN" altLang="en-US" sz="28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的区别在：</a:t>
            </a:r>
            <a:endParaRPr kumimoji="1" lang="en-US" altLang="zh-CN" sz="2800" b="1" dirty="0">
              <a:solidFill>
                <a:srgbClr val="3333FF"/>
              </a:solidFill>
              <a:latin typeface="Times New Roman" panose="02020603050405020304" pitchFamily="18" charset="0"/>
            </a:endParaRPr>
          </a:p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气泡排序每次比较后 ，如果发现顺序不对立即进行交换，而选择排序不立即进行交换而是找出最小关键字记录后再进行交换。</a:t>
            </a:r>
            <a:endParaRPr kumimoji="1" lang="zh-CN" altLang="en-US" sz="2800" b="1" dirty="0">
              <a:solidFill>
                <a:srgbClr val="3333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6.4.1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简单选择排序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1A626-77F5-46E7-B551-B95B9AA9CB0B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Box 2"/>
          <p:cNvSpPr txBox="1">
            <a:spLocks noChangeArrowheads="1"/>
          </p:cNvSpPr>
          <p:nvPr/>
        </p:nvSpPr>
        <p:spPr bwMode="auto">
          <a:xfrm>
            <a:off x="611188" y="1565275"/>
            <a:ext cx="7993062" cy="521652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void  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SelectSort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SqList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&amp;L)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{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int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i,j,low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;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for(</a:t>
            </a:r>
            <a:r>
              <a:rPr kumimoji="1" lang="en-US" altLang="zh-CN" sz="2800" b="1" dirty="0" err="1">
                <a:solidFill>
                  <a:srgbClr val="FF330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=1;i&lt;</a:t>
            </a:r>
            <a:r>
              <a:rPr kumimoji="1" lang="en-US" altLang="zh-CN" sz="2800" b="1" dirty="0" err="1">
                <a:solidFill>
                  <a:srgbClr val="FF3300"/>
                </a:solidFill>
                <a:latin typeface="Times New Roman" panose="02020603050405020304" pitchFamily="18" charset="0"/>
              </a:rPr>
              <a:t>L.length;i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++)</a:t>
            </a:r>
            <a:endParaRPr kumimoji="1" lang="en-US" altLang="zh-CN" sz="2800" b="1" dirty="0">
              <a:solidFill>
                <a:srgbClr val="FF33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{low=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;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for(j=i+1;j&lt;=</a:t>
            </a:r>
            <a:r>
              <a:rPr kumimoji="1" lang="en-US" altLang="zh-CN" sz="2800" b="1" dirty="0" err="1">
                <a:solidFill>
                  <a:srgbClr val="FF3300"/>
                </a:solidFill>
                <a:latin typeface="Times New Roman" panose="02020603050405020304" pitchFamily="18" charset="0"/>
              </a:rPr>
              <a:t>L.length;j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++)</a:t>
            </a:r>
            <a:endParaRPr kumimoji="1" lang="en-US" altLang="zh-CN" sz="2800" b="1" dirty="0">
              <a:solidFill>
                <a:srgbClr val="FF33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 if(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L.r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[j].key&lt;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L.r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[low].key)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   low=j;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   if(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!=low) 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   {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L.r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[0]=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L.r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[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];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L.r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[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]=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L.r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[low];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L.r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[low]=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L.r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[0];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   }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 }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} 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" name="Text Box 6"/>
          <p:cNvSpPr txBox="1">
            <a:spLocks noChangeArrowheads="1"/>
          </p:cNvSpPr>
          <p:nvPr/>
        </p:nvSpPr>
        <p:spPr bwMode="auto">
          <a:xfrm>
            <a:off x="395288" y="914400"/>
            <a:ext cx="2449512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算  法    </a:t>
            </a:r>
            <a:endParaRPr kumimoji="1" lang="zh-CN" altLang="en-US" sz="2800" b="1" dirty="0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6.4.1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简单选择排序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638AC-2CBF-4D99-90C8-6CE7966366F9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395288" y="954087"/>
            <a:ext cx="6408737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>
                <a:solidFill>
                  <a:srgbClr val="0033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</a:rPr>
              <a:t>算法分析</a:t>
            </a:r>
            <a:endParaRPr kumimoji="1" lang="zh-CN" altLang="en-US" sz="2800" b="1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" name="Text Box 7"/>
          <p:cNvSpPr txBox="1">
            <a:spLocks noChangeArrowheads="1"/>
          </p:cNvSpPr>
          <p:nvPr/>
        </p:nvSpPr>
        <p:spPr bwMode="auto">
          <a:xfrm>
            <a:off x="1619250" y="1847850"/>
            <a:ext cx="6408738" cy="417195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4. 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算法分析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(1)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稳定性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简单选择排序方法是</a:t>
            </a:r>
            <a:r>
              <a:rPr kumimoji="1" lang="zh-CN" altLang="en-US" sz="3200" b="1" u="sng" dirty="0">
                <a:solidFill>
                  <a:srgbClr val="FF3300"/>
                </a:solidFill>
                <a:latin typeface="Times New Roman" panose="02020603050405020304" pitchFamily="18" charset="0"/>
              </a:rPr>
              <a:t>不稳定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的。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(2)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时间复杂度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比较</a:t>
            </a:r>
            <a:r>
              <a:rPr kumimoji="1" lang="en-US" altLang="zh-CN" sz="3200" b="1" u="sng" dirty="0">
                <a:solidFill>
                  <a:srgbClr val="FF3300"/>
                </a:solidFill>
                <a:latin typeface="Times New Roman" panose="02020603050405020304" pitchFamily="18" charset="0"/>
              </a:rPr>
              <a:t>O(n</a:t>
            </a:r>
            <a:r>
              <a:rPr kumimoji="1" lang="en-US" altLang="zh-CN" sz="3200" b="1" u="sng" baseline="30000" dirty="0">
                <a:solidFill>
                  <a:srgbClr val="FF3300"/>
                </a:solidFill>
                <a:latin typeface="Times New Roman" panose="02020603050405020304" pitchFamily="18" charset="0"/>
              </a:rPr>
              <a:t>2</a:t>
            </a:r>
            <a:r>
              <a:rPr kumimoji="1" lang="en-US" altLang="zh-CN" sz="3200" b="1" u="sng" dirty="0">
                <a:solidFill>
                  <a:srgbClr val="FF3300"/>
                </a:solidFill>
                <a:latin typeface="Times New Roman" panose="02020603050405020304" pitchFamily="18" charset="0"/>
              </a:rPr>
              <a:t>),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移动最好</a:t>
            </a:r>
            <a:r>
              <a:rPr kumimoji="1" lang="en-US" altLang="zh-CN" sz="3200" b="1" u="sng" dirty="0">
                <a:solidFill>
                  <a:srgbClr val="FF3300"/>
                </a:solidFill>
                <a:latin typeface="Times New Roman" panose="02020603050405020304" pitchFamily="18" charset="0"/>
              </a:rPr>
              <a:t>O(1),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最差</a:t>
            </a:r>
            <a:r>
              <a:rPr kumimoji="1" lang="en-US" altLang="zh-CN" sz="3200" b="1" u="sng" dirty="0">
                <a:solidFill>
                  <a:srgbClr val="FF3300"/>
                </a:solidFill>
                <a:latin typeface="Times New Roman" panose="02020603050405020304" pitchFamily="18" charset="0"/>
              </a:rPr>
              <a:t>O(n)</a:t>
            </a:r>
            <a:endParaRPr kumimoji="1" lang="en-US" altLang="zh-CN" sz="3200" b="1" u="sng" dirty="0">
              <a:solidFill>
                <a:srgbClr val="FF3300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(3)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空间复杂度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为</a:t>
            </a:r>
            <a:r>
              <a:rPr kumimoji="1" lang="en-US" altLang="zh-CN" sz="3200" b="1" u="sng" dirty="0">
                <a:solidFill>
                  <a:srgbClr val="FF3300"/>
                </a:solidFill>
                <a:latin typeface="Times New Roman" panose="02020603050405020304" pitchFamily="18" charset="0"/>
              </a:rPr>
              <a:t>O(1)</a:t>
            </a:r>
            <a:r>
              <a:rPr kumimoji="1" lang="zh-CN" altLang="en-US" sz="3200" b="1" u="sng" dirty="0">
                <a:solidFill>
                  <a:srgbClr val="FF3300"/>
                </a:solidFill>
                <a:latin typeface="Times New Roman" panose="02020603050405020304" pitchFamily="18" charset="0"/>
              </a:rPr>
              <a:t>。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6.4.2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树形选择排序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E853C-8D0D-4D98-834C-E48880DC4A5E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611188" y="2138363"/>
            <a:ext cx="7772400" cy="163036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        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树形选择排序，又称锦标赛排序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: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按锦标赛的思想进行排序，目的是减少选择排序中的重复比较次数。</a:t>
            </a:r>
            <a:endParaRPr kumimoji="1" lang="zh-CN" altLang="en-US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" name="Text Box 4"/>
          <p:cNvSpPr txBox="1">
            <a:spLocks noChangeArrowheads="1"/>
          </p:cNvSpPr>
          <p:nvPr/>
        </p:nvSpPr>
        <p:spPr bwMode="auto">
          <a:xfrm>
            <a:off x="684213" y="4156075"/>
            <a:ext cx="7345362" cy="11176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   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例如： 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4,3,1,2 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在选择排序中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3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和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4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的比较次数共发生了三次。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" name="Text Box 9"/>
          <p:cNvSpPr txBox="1">
            <a:spLocks noChangeArrowheads="1"/>
          </p:cNvSpPr>
          <p:nvPr/>
        </p:nvSpPr>
        <p:spPr bwMode="auto">
          <a:xfrm>
            <a:off x="468313" y="914400"/>
            <a:ext cx="3600450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>
                <a:solidFill>
                  <a:srgbClr val="0033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</a:rPr>
              <a:t>引入</a:t>
            </a:r>
            <a:endParaRPr kumimoji="1" lang="zh-CN" altLang="en-US" sz="2800" b="1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6.4.2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树形选择排序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E4EA1-9D8F-4283-AF8F-3A75B58F65F8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611188" y="1600200"/>
            <a:ext cx="7772400" cy="4408066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marL="342900" indent="-342900" fontAlgn="base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显然，在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n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个关键字中选出最小值，至少进行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n-1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次比较，然而，继续在剩余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n-1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个关键字中选择次小值就并非一定要进行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n-2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次比较，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若能利用前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n-1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次比较所得信息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，则可减少以后各趟选择排序中所用的比较次数。</a:t>
            </a:r>
            <a:endParaRPr kumimoji="1" lang="en-US" altLang="zh-CN" sz="24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marL="342900" indent="-342900" fontAlgn="base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实际上，体育比赛中的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锦标赛便是一种选择排序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。</a:t>
            </a:r>
            <a:endParaRPr kumimoji="1" lang="zh-CN" altLang="en-US" sz="24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例如，在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8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个运动员决出前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3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名至多需要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11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场比赛，而不是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7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（全比一次）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+6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（去掉第一之后再全比一次）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+5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（去掉两个后再比一次）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=18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场比赛（它的前提是若乙胜丙，甲胜乙，则认为甲必能胜丙）</a:t>
            </a:r>
            <a:endParaRPr kumimoji="1" lang="zh-CN" altLang="en-US" sz="24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" name="Text Box 9"/>
          <p:cNvSpPr txBox="1">
            <a:spLocks noChangeArrowheads="1"/>
          </p:cNvSpPr>
          <p:nvPr/>
        </p:nvSpPr>
        <p:spPr bwMode="auto">
          <a:xfrm>
            <a:off x="468313" y="914400"/>
            <a:ext cx="3600450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>
                <a:solidFill>
                  <a:srgbClr val="0033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</a:rPr>
              <a:t>引入</a:t>
            </a:r>
            <a:endParaRPr kumimoji="1" lang="zh-CN" altLang="en-US" sz="2800" b="1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6.4.2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树形选择排序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EB104-C49D-450D-ADBB-1C2BFBF3B1C0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68"/>
          <p:cNvSpPr>
            <a:spLocks noChangeArrowheads="1"/>
          </p:cNvSpPr>
          <p:nvPr/>
        </p:nvSpPr>
        <p:spPr bwMode="auto">
          <a:xfrm>
            <a:off x="684213" y="5441950"/>
            <a:ext cx="649287" cy="57785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10</a:t>
            </a:r>
            <a:endParaRPr kumimoji="1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14" name="Oval 69"/>
          <p:cNvSpPr>
            <a:spLocks noChangeArrowheads="1"/>
          </p:cNvSpPr>
          <p:nvPr/>
        </p:nvSpPr>
        <p:spPr bwMode="auto">
          <a:xfrm>
            <a:off x="1619250" y="5441950"/>
            <a:ext cx="649288" cy="57785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9</a:t>
            </a:r>
            <a:endParaRPr kumimoji="1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15" name="Oval 70"/>
          <p:cNvSpPr>
            <a:spLocks noChangeArrowheads="1"/>
          </p:cNvSpPr>
          <p:nvPr/>
        </p:nvSpPr>
        <p:spPr bwMode="auto">
          <a:xfrm>
            <a:off x="2627313" y="5441950"/>
            <a:ext cx="649287" cy="57785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20</a:t>
            </a:r>
            <a:endParaRPr kumimoji="1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16" name="Oval 71"/>
          <p:cNvSpPr>
            <a:spLocks noChangeArrowheads="1"/>
          </p:cNvSpPr>
          <p:nvPr/>
        </p:nvSpPr>
        <p:spPr bwMode="auto">
          <a:xfrm>
            <a:off x="3635375" y="5370512"/>
            <a:ext cx="649288" cy="57785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6</a:t>
            </a:r>
            <a:endParaRPr kumimoji="1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17" name="Oval 72"/>
          <p:cNvSpPr>
            <a:spLocks noChangeArrowheads="1"/>
          </p:cNvSpPr>
          <p:nvPr/>
        </p:nvSpPr>
        <p:spPr bwMode="auto">
          <a:xfrm>
            <a:off x="4570413" y="5441950"/>
            <a:ext cx="649287" cy="57785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8</a:t>
            </a:r>
            <a:endParaRPr kumimoji="1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18" name="Oval 73"/>
          <p:cNvSpPr>
            <a:spLocks noChangeArrowheads="1"/>
          </p:cNvSpPr>
          <p:nvPr/>
        </p:nvSpPr>
        <p:spPr bwMode="auto">
          <a:xfrm>
            <a:off x="5580063" y="5440362"/>
            <a:ext cx="649287" cy="57785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9</a:t>
            </a:r>
            <a:endParaRPr kumimoji="1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19" name="Oval 74"/>
          <p:cNvSpPr>
            <a:spLocks noChangeArrowheads="1"/>
          </p:cNvSpPr>
          <p:nvPr/>
        </p:nvSpPr>
        <p:spPr bwMode="auto">
          <a:xfrm>
            <a:off x="6659563" y="5440362"/>
            <a:ext cx="649287" cy="57785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90</a:t>
            </a:r>
            <a:endParaRPr kumimoji="1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20" name="Oval 75"/>
          <p:cNvSpPr>
            <a:spLocks noChangeArrowheads="1"/>
          </p:cNvSpPr>
          <p:nvPr/>
        </p:nvSpPr>
        <p:spPr bwMode="auto">
          <a:xfrm>
            <a:off x="7740650" y="5438775"/>
            <a:ext cx="649288" cy="57785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17</a:t>
            </a:r>
            <a:endParaRPr kumimoji="1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21" name="Line 76"/>
          <p:cNvSpPr>
            <a:spLocks noChangeShapeType="1"/>
          </p:cNvSpPr>
          <p:nvPr/>
        </p:nvSpPr>
        <p:spPr bwMode="auto">
          <a:xfrm flipV="1">
            <a:off x="971550" y="5081587"/>
            <a:ext cx="287338" cy="3603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lIns="90000" tIns="46800" rIns="90000" bIns="46800"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2" name="Oval 77"/>
          <p:cNvSpPr>
            <a:spLocks noChangeArrowheads="1"/>
          </p:cNvSpPr>
          <p:nvPr/>
        </p:nvSpPr>
        <p:spPr bwMode="auto">
          <a:xfrm>
            <a:off x="1187450" y="4505325"/>
            <a:ext cx="649288" cy="57785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9</a:t>
            </a:r>
            <a:endParaRPr kumimoji="1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23" name="Oval 78"/>
          <p:cNvSpPr>
            <a:spLocks noChangeArrowheads="1"/>
          </p:cNvSpPr>
          <p:nvPr/>
        </p:nvSpPr>
        <p:spPr bwMode="auto">
          <a:xfrm>
            <a:off x="3130550" y="4505325"/>
            <a:ext cx="649288" cy="57785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6</a:t>
            </a:r>
            <a:endParaRPr kumimoji="1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24" name="Oval 79"/>
          <p:cNvSpPr>
            <a:spLocks noChangeArrowheads="1"/>
          </p:cNvSpPr>
          <p:nvPr/>
        </p:nvSpPr>
        <p:spPr bwMode="auto">
          <a:xfrm>
            <a:off x="5075238" y="4578350"/>
            <a:ext cx="649287" cy="57785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8</a:t>
            </a:r>
            <a:endParaRPr kumimoji="1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25" name="Oval 80"/>
          <p:cNvSpPr>
            <a:spLocks noChangeArrowheads="1"/>
          </p:cNvSpPr>
          <p:nvPr/>
        </p:nvSpPr>
        <p:spPr bwMode="auto">
          <a:xfrm>
            <a:off x="7164388" y="4503737"/>
            <a:ext cx="649287" cy="57785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17</a:t>
            </a:r>
            <a:endParaRPr kumimoji="1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26" name="Oval 81"/>
          <p:cNvSpPr>
            <a:spLocks noChangeArrowheads="1"/>
          </p:cNvSpPr>
          <p:nvPr/>
        </p:nvSpPr>
        <p:spPr bwMode="auto">
          <a:xfrm>
            <a:off x="2195513" y="3713162"/>
            <a:ext cx="649287" cy="57785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6</a:t>
            </a:r>
            <a:endParaRPr kumimoji="1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27" name="Oval 82"/>
          <p:cNvSpPr>
            <a:spLocks noChangeArrowheads="1"/>
          </p:cNvSpPr>
          <p:nvPr/>
        </p:nvSpPr>
        <p:spPr bwMode="auto">
          <a:xfrm>
            <a:off x="6154738" y="3711575"/>
            <a:ext cx="649287" cy="57785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8</a:t>
            </a:r>
            <a:endParaRPr kumimoji="1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28" name="Oval 83"/>
          <p:cNvSpPr>
            <a:spLocks noChangeArrowheads="1"/>
          </p:cNvSpPr>
          <p:nvPr/>
        </p:nvSpPr>
        <p:spPr bwMode="auto">
          <a:xfrm>
            <a:off x="4138613" y="2776537"/>
            <a:ext cx="649287" cy="57785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6</a:t>
            </a:r>
            <a:endParaRPr kumimoji="1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29" name="Line 84"/>
          <p:cNvSpPr>
            <a:spLocks noChangeShapeType="1"/>
          </p:cNvSpPr>
          <p:nvPr/>
        </p:nvSpPr>
        <p:spPr bwMode="auto">
          <a:xfrm>
            <a:off x="1692275" y="5081587"/>
            <a:ext cx="215900" cy="3603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lIns="90000" tIns="46800" rIns="90000" bIns="46800"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0" name="Line 85"/>
          <p:cNvSpPr>
            <a:spLocks noChangeShapeType="1"/>
          </p:cNvSpPr>
          <p:nvPr/>
        </p:nvSpPr>
        <p:spPr bwMode="auto">
          <a:xfrm flipV="1">
            <a:off x="2916238" y="5010150"/>
            <a:ext cx="287337" cy="431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lIns="90000" tIns="46800" rIns="90000" bIns="46800"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1" name="Line 86"/>
          <p:cNvSpPr>
            <a:spLocks noChangeShapeType="1"/>
          </p:cNvSpPr>
          <p:nvPr/>
        </p:nvSpPr>
        <p:spPr bwMode="auto">
          <a:xfrm flipH="1" flipV="1">
            <a:off x="3635375" y="5010150"/>
            <a:ext cx="215900" cy="3603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lIns="90000" tIns="46800" rIns="90000" bIns="46800"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2" name="Line 87"/>
          <p:cNvSpPr>
            <a:spLocks noChangeShapeType="1"/>
          </p:cNvSpPr>
          <p:nvPr/>
        </p:nvSpPr>
        <p:spPr bwMode="auto">
          <a:xfrm flipV="1">
            <a:off x="1692275" y="4217987"/>
            <a:ext cx="503238" cy="3603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lIns="90000" tIns="46800" rIns="90000" bIns="46800"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3" name="Line 88"/>
          <p:cNvSpPr>
            <a:spLocks noChangeShapeType="1"/>
          </p:cNvSpPr>
          <p:nvPr/>
        </p:nvSpPr>
        <p:spPr bwMode="auto">
          <a:xfrm flipH="1" flipV="1">
            <a:off x="2771775" y="4289425"/>
            <a:ext cx="431800" cy="2889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lIns="90000" tIns="46800" rIns="90000" bIns="46800"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4" name="Line 89"/>
          <p:cNvSpPr>
            <a:spLocks noChangeShapeType="1"/>
          </p:cNvSpPr>
          <p:nvPr/>
        </p:nvSpPr>
        <p:spPr bwMode="auto">
          <a:xfrm flipV="1">
            <a:off x="2627313" y="3138487"/>
            <a:ext cx="1512887" cy="5746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lIns="90000" tIns="46800" rIns="90000" bIns="46800"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5" name="Line 90"/>
          <p:cNvSpPr>
            <a:spLocks noChangeShapeType="1"/>
          </p:cNvSpPr>
          <p:nvPr/>
        </p:nvSpPr>
        <p:spPr bwMode="auto">
          <a:xfrm flipV="1">
            <a:off x="4932363" y="5081587"/>
            <a:ext cx="215900" cy="3603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lIns="90000" tIns="46800" rIns="90000" bIns="46800"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6" name="Line 91"/>
          <p:cNvSpPr>
            <a:spLocks noChangeShapeType="1"/>
          </p:cNvSpPr>
          <p:nvPr/>
        </p:nvSpPr>
        <p:spPr bwMode="auto">
          <a:xfrm flipH="1" flipV="1">
            <a:off x="5651500" y="5081587"/>
            <a:ext cx="215900" cy="3603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lIns="90000" tIns="46800" rIns="90000" bIns="46800"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7" name="Line 92"/>
          <p:cNvSpPr>
            <a:spLocks noChangeShapeType="1"/>
          </p:cNvSpPr>
          <p:nvPr/>
        </p:nvSpPr>
        <p:spPr bwMode="auto">
          <a:xfrm flipV="1">
            <a:off x="7019925" y="5081587"/>
            <a:ext cx="215900" cy="2889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lIns="90000" tIns="46800" rIns="90000" bIns="46800"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8" name="Line 93"/>
          <p:cNvSpPr>
            <a:spLocks noChangeShapeType="1"/>
          </p:cNvSpPr>
          <p:nvPr/>
        </p:nvSpPr>
        <p:spPr bwMode="auto">
          <a:xfrm flipH="1" flipV="1">
            <a:off x="7740650" y="5010150"/>
            <a:ext cx="215900" cy="431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lIns="90000" tIns="46800" rIns="90000" bIns="46800"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9" name="Line 94"/>
          <p:cNvSpPr>
            <a:spLocks noChangeShapeType="1"/>
          </p:cNvSpPr>
          <p:nvPr/>
        </p:nvSpPr>
        <p:spPr bwMode="auto">
          <a:xfrm flipV="1">
            <a:off x="5508625" y="4217987"/>
            <a:ext cx="647700" cy="3603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lIns="90000" tIns="46800" rIns="90000" bIns="46800"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0" name="Line 95"/>
          <p:cNvSpPr>
            <a:spLocks noChangeShapeType="1"/>
          </p:cNvSpPr>
          <p:nvPr/>
        </p:nvSpPr>
        <p:spPr bwMode="auto">
          <a:xfrm flipH="1" flipV="1">
            <a:off x="6732588" y="4217987"/>
            <a:ext cx="576262" cy="2873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lIns="90000" tIns="46800" rIns="90000" bIns="46800"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1" name="Line 96"/>
          <p:cNvSpPr>
            <a:spLocks noChangeShapeType="1"/>
          </p:cNvSpPr>
          <p:nvPr/>
        </p:nvSpPr>
        <p:spPr bwMode="auto">
          <a:xfrm flipH="1" flipV="1">
            <a:off x="4787900" y="3138487"/>
            <a:ext cx="1439863" cy="5746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lIns="90000" tIns="46800" rIns="90000" bIns="46800"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2" name="Text Box 98"/>
          <p:cNvSpPr txBox="1">
            <a:spLocks noChangeArrowheads="1"/>
          </p:cNvSpPr>
          <p:nvPr/>
        </p:nvSpPr>
        <p:spPr bwMode="auto">
          <a:xfrm>
            <a:off x="3810000" y="5943600"/>
            <a:ext cx="1368425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输出</a:t>
            </a:r>
            <a:r>
              <a:rPr kumimoji="1" lang="en-US" altLang="zh-CN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6</a:t>
            </a:r>
            <a:endParaRPr kumimoji="1" lang="en-US" altLang="zh-CN" sz="2800" b="1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3" name="Text Box 100"/>
          <p:cNvSpPr txBox="1">
            <a:spLocks noChangeArrowheads="1"/>
          </p:cNvSpPr>
          <p:nvPr/>
        </p:nvSpPr>
        <p:spPr bwMode="auto">
          <a:xfrm>
            <a:off x="539750" y="836613"/>
            <a:ext cx="3600450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>
                <a:solidFill>
                  <a:srgbClr val="0033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</a:rPr>
              <a:t>示例演示</a:t>
            </a:r>
            <a:endParaRPr kumimoji="1" lang="zh-CN" altLang="en-US" sz="2800" b="1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04875" y="1295400"/>
            <a:ext cx="775369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按照一种锦标赛的思想进行选择排序的方法。首先对</a:t>
            </a:r>
            <a:r>
              <a:rPr lang="en-US" altLang="zh-CN" sz="2400" b="1" dirty="0"/>
              <a:t>n</a:t>
            </a:r>
            <a:r>
              <a:rPr lang="zh-CN" altLang="en-US" sz="2400" b="1" dirty="0"/>
              <a:t>个记录的关键字进行两两比较，然后在其中</a:t>
            </a:r>
            <a:r>
              <a:rPr lang="en-US" altLang="zh-CN" sz="2400" b="1" dirty="0"/>
              <a:t>[n/2](</a:t>
            </a:r>
            <a:r>
              <a:rPr lang="zh-CN" altLang="en-US" sz="2400" b="1" dirty="0"/>
              <a:t>向上取整</a:t>
            </a:r>
            <a:r>
              <a:rPr lang="en-US" altLang="zh-CN" sz="2400" b="1" dirty="0"/>
              <a:t>)</a:t>
            </a:r>
            <a:r>
              <a:rPr lang="zh-CN" altLang="en-US" sz="2400" b="1" dirty="0"/>
              <a:t>个较小者之间再进行两两比较，如此重复，直到选出最小关键字的记录为止。选出最小关键字</a:t>
            </a:r>
            <a:r>
              <a:rPr lang="en-US" altLang="zh-CN" sz="2400" b="1" dirty="0"/>
              <a:t>.</a:t>
            </a:r>
            <a:endParaRPr lang="zh-CN" altLang="en-US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6.4.2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树形选择排序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DE95F-6AD5-4C93-824A-A84192DBDC0A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Oval 2"/>
          <p:cNvSpPr>
            <a:spLocks noChangeArrowheads="1"/>
          </p:cNvSpPr>
          <p:nvPr/>
        </p:nvSpPr>
        <p:spPr bwMode="auto">
          <a:xfrm>
            <a:off x="684213" y="4897438"/>
            <a:ext cx="649287" cy="57785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10</a:t>
            </a:r>
            <a:endParaRPr kumimoji="1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45" name="Oval 3"/>
          <p:cNvSpPr>
            <a:spLocks noChangeArrowheads="1"/>
          </p:cNvSpPr>
          <p:nvPr/>
        </p:nvSpPr>
        <p:spPr bwMode="auto">
          <a:xfrm>
            <a:off x="1619250" y="4897438"/>
            <a:ext cx="649288" cy="57785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9</a:t>
            </a:r>
            <a:endParaRPr kumimoji="1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46" name="Oval 4"/>
          <p:cNvSpPr>
            <a:spLocks noChangeArrowheads="1"/>
          </p:cNvSpPr>
          <p:nvPr/>
        </p:nvSpPr>
        <p:spPr bwMode="auto">
          <a:xfrm>
            <a:off x="2627313" y="4897438"/>
            <a:ext cx="649287" cy="57785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20</a:t>
            </a:r>
            <a:endParaRPr kumimoji="1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47" name="Oval 5"/>
          <p:cNvSpPr>
            <a:spLocks noChangeArrowheads="1"/>
          </p:cNvSpPr>
          <p:nvPr/>
        </p:nvSpPr>
        <p:spPr bwMode="auto">
          <a:xfrm>
            <a:off x="3635375" y="4826000"/>
            <a:ext cx="649288" cy="57785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sym typeface="Symbol" panose="05050102010706020507" pitchFamily="18" charset="2"/>
              </a:rPr>
              <a:t></a:t>
            </a:r>
            <a:endParaRPr kumimoji="1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sym typeface="Symbol" panose="05050102010706020507" pitchFamily="18" charset="2"/>
            </a:endParaRPr>
          </a:p>
        </p:txBody>
      </p:sp>
      <p:sp>
        <p:nvSpPr>
          <p:cNvPr id="48" name="Oval 6"/>
          <p:cNvSpPr>
            <a:spLocks noChangeArrowheads="1"/>
          </p:cNvSpPr>
          <p:nvPr/>
        </p:nvSpPr>
        <p:spPr bwMode="auto">
          <a:xfrm>
            <a:off x="4570413" y="4897438"/>
            <a:ext cx="649287" cy="57785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8</a:t>
            </a:r>
            <a:endParaRPr kumimoji="1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49" name="Oval 7"/>
          <p:cNvSpPr>
            <a:spLocks noChangeArrowheads="1"/>
          </p:cNvSpPr>
          <p:nvPr/>
        </p:nvSpPr>
        <p:spPr bwMode="auto">
          <a:xfrm>
            <a:off x="5580063" y="4895850"/>
            <a:ext cx="649287" cy="57785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9</a:t>
            </a:r>
            <a:endParaRPr kumimoji="1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50" name="Oval 8"/>
          <p:cNvSpPr>
            <a:spLocks noChangeArrowheads="1"/>
          </p:cNvSpPr>
          <p:nvPr/>
        </p:nvSpPr>
        <p:spPr bwMode="auto">
          <a:xfrm>
            <a:off x="6659563" y="4895850"/>
            <a:ext cx="649287" cy="57785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90</a:t>
            </a:r>
            <a:endParaRPr kumimoji="1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51" name="Oval 9"/>
          <p:cNvSpPr>
            <a:spLocks noChangeArrowheads="1"/>
          </p:cNvSpPr>
          <p:nvPr/>
        </p:nvSpPr>
        <p:spPr bwMode="auto">
          <a:xfrm>
            <a:off x="7740650" y="4894263"/>
            <a:ext cx="649288" cy="57785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17</a:t>
            </a:r>
            <a:endParaRPr kumimoji="1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52" name="Line 10"/>
          <p:cNvSpPr>
            <a:spLocks noChangeShapeType="1"/>
          </p:cNvSpPr>
          <p:nvPr/>
        </p:nvSpPr>
        <p:spPr bwMode="auto">
          <a:xfrm flipV="1">
            <a:off x="971550" y="4537075"/>
            <a:ext cx="287338" cy="3603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lIns="90000" tIns="46800" rIns="90000" bIns="46800"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3" name="Oval 11"/>
          <p:cNvSpPr>
            <a:spLocks noChangeArrowheads="1"/>
          </p:cNvSpPr>
          <p:nvPr/>
        </p:nvSpPr>
        <p:spPr bwMode="auto">
          <a:xfrm>
            <a:off x="1187450" y="3960813"/>
            <a:ext cx="649288" cy="57785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9</a:t>
            </a:r>
            <a:endParaRPr kumimoji="1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54" name="Oval 12"/>
          <p:cNvSpPr>
            <a:spLocks noChangeArrowheads="1"/>
          </p:cNvSpPr>
          <p:nvPr/>
        </p:nvSpPr>
        <p:spPr bwMode="auto">
          <a:xfrm>
            <a:off x="3130550" y="3960813"/>
            <a:ext cx="649288" cy="57785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20</a:t>
            </a:r>
            <a:endParaRPr kumimoji="1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55" name="Oval 13"/>
          <p:cNvSpPr>
            <a:spLocks noChangeArrowheads="1"/>
          </p:cNvSpPr>
          <p:nvPr/>
        </p:nvSpPr>
        <p:spPr bwMode="auto">
          <a:xfrm>
            <a:off x="5075238" y="4033838"/>
            <a:ext cx="649287" cy="57785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8</a:t>
            </a:r>
            <a:endParaRPr kumimoji="1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56" name="Oval 14"/>
          <p:cNvSpPr>
            <a:spLocks noChangeArrowheads="1"/>
          </p:cNvSpPr>
          <p:nvPr/>
        </p:nvSpPr>
        <p:spPr bwMode="auto">
          <a:xfrm>
            <a:off x="7164388" y="3959225"/>
            <a:ext cx="649287" cy="57785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17</a:t>
            </a:r>
            <a:endParaRPr kumimoji="1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57" name="Oval 15"/>
          <p:cNvSpPr>
            <a:spLocks noChangeArrowheads="1"/>
          </p:cNvSpPr>
          <p:nvPr/>
        </p:nvSpPr>
        <p:spPr bwMode="auto">
          <a:xfrm>
            <a:off x="2195513" y="3168650"/>
            <a:ext cx="649287" cy="57785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9</a:t>
            </a:r>
            <a:endParaRPr kumimoji="1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58" name="Oval 16"/>
          <p:cNvSpPr>
            <a:spLocks noChangeArrowheads="1"/>
          </p:cNvSpPr>
          <p:nvPr/>
        </p:nvSpPr>
        <p:spPr bwMode="auto">
          <a:xfrm>
            <a:off x="6154738" y="3167063"/>
            <a:ext cx="649287" cy="57785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8</a:t>
            </a:r>
            <a:endParaRPr kumimoji="1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59" name="Oval 17"/>
          <p:cNvSpPr>
            <a:spLocks noChangeArrowheads="1"/>
          </p:cNvSpPr>
          <p:nvPr/>
        </p:nvSpPr>
        <p:spPr bwMode="auto">
          <a:xfrm>
            <a:off x="4138613" y="2232025"/>
            <a:ext cx="649287" cy="57785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8</a:t>
            </a:r>
            <a:endParaRPr kumimoji="1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60" name="Line 18"/>
          <p:cNvSpPr>
            <a:spLocks noChangeShapeType="1"/>
          </p:cNvSpPr>
          <p:nvPr/>
        </p:nvSpPr>
        <p:spPr bwMode="auto">
          <a:xfrm>
            <a:off x="1692275" y="4537075"/>
            <a:ext cx="215900" cy="3603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lIns="90000" tIns="46800" rIns="90000" bIns="46800"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1" name="Line 19"/>
          <p:cNvSpPr>
            <a:spLocks noChangeShapeType="1"/>
          </p:cNvSpPr>
          <p:nvPr/>
        </p:nvSpPr>
        <p:spPr bwMode="auto">
          <a:xfrm flipV="1">
            <a:off x="2916238" y="4465638"/>
            <a:ext cx="287337" cy="431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lIns="90000" tIns="46800" rIns="90000" bIns="46800"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2" name="Line 20"/>
          <p:cNvSpPr>
            <a:spLocks noChangeShapeType="1"/>
          </p:cNvSpPr>
          <p:nvPr/>
        </p:nvSpPr>
        <p:spPr bwMode="auto">
          <a:xfrm flipH="1" flipV="1">
            <a:off x="3635375" y="4465638"/>
            <a:ext cx="215900" cy="3603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lIns="90000" tIns="46800" rIns="90000" bIns="46800"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3" name="Line 21"/>
          <p:cNvSpPr>
            <a:spLocks noChangeShapeType="1"/>
          </p:cNvSpPr>
          <p:nvPr/>
        </p:nvSpPr>
        <p:spPr bwMode="auto">
          <a:xfrm flipV="1">
            <a:off x="1692275" y="3673475"/>
            <a:ext cx="503238" cy="3603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lIns="90000" tIns="46800" rIns="90000" bIns="46800"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4" name="Line 22"/>
          <p:cNvSpPr>
            <a:spLocks noChangeShapeType="1"/>
          </p:cNvSpPr>
          <p:nvPr/>
        </p:nvSpPr>
        <p:spPr bwMode="auto">
          <a:xfrm flipH="1" flipV="1">
            <a:off x="2771775" y="3744913"/>
            <a:ext cx="431800" cy="2889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lIns="90000" tIns="46800" rIns="90000" bIns="46800"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5" name="Line 23"/>
          <p:cNvSpPr>
            <a:spLocks noChangeShapeType="1"/>
          </p:cNvSpPr>
          <p:nvPr/>
        </p:nvSpPr>
        <p:spPr bwMode="auto">
          <a:xfrm flipV="1">
            <a:off x="2627313" y="2593975"/>
            <a:ext cx="1512887" cy="5746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lIns="90000" tIns="46800" rIns="90000" bIns="46800"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6" name="Line 24"/>
          <p:cNvSpPr>
            <a:spLocks noChangeShapeType="1"/>
          </p:cNvSpPr>
          <p:nvPr/>
        </p:nvSpPr>
        <p:spPr bwMode="auto">
          <a:xfrm flipV="1">
            <a:off x="4932363" y="4537075"/>
            <a:ext cx="215900" cy="3603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lIns="90000" tIns="46800" rIns="90000" bIns="46800"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7" name="Line 25"/>
          <p:cNvSpPr>
            <a:spLocks noChangeShapeType="1"/>
          </p:cNvSpPr>
          <p:nvPr/>
        </p:nvSpPr>
        <p:spPr bwMode="auto">
          <a:xfrm flipH="1" flipV="1">
            <a:off x="5651500" y="4537075"/>
            <a:ext cx="215900" cy="3603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lIns="90000" tIns="46800" rIns="90000" bIns="46800"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8" name="Line 26"/>
          <p:cNvSpPr>
            <a:spLocks noChangeShapeType="1"/>
          </p:cNvSpPr>
          <p:nvPr/>
        </p:nvSpPr>
        <p:spPr bwMode="auto">
          <a:xfrm flipV="1">
            <a:off x="7019925" y="4537075"/>
            <a:ext cx="215900" cy="2889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lIns="90000" tIns="46800" rIns="90000" bIns="46800"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9" name="Line 27"/>
          <p:cNvSpPr>
            <a:spLocks noChangeShapeType="1"/>
          </p:cNvSpPr>
          <p:nvPr/>
        </p:nvSpPr>
        <p:spPr bwMode="auto">
          <a:xfrm flipH="1" flipV="1">
            <a:off x="7740650" y="4465638"/>
            <a:ext cx="215900" cy="431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lIns="90000" tIns="46800" rIns="90000" bIns="46800"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70" name="Line 28"/>
          <p:cNvSpPr>
            <a:spLocks noChangeShapeType="1"/>
          </p:cNvSpPr>
          <p:nvPr/>
        </p:nvSpPr>
        <p:spPr bwMode="auto">
          <a:xfrm flipV="1">
            <a:off x="5508625" y="3673475"/>
            <a:ext cx="647700" cy="3603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lIns="90000" tIns="46800" rIns="90000" bIns="46800"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71" name="Line 29"/>
          <p:cNvSpPr>
            <a:spLocks noChangeShapeType="1"/>
          </p:cNvSpPr>
          <p:nvPr/>
        </p:nvSpPr>
        <p:spPr bwMode="auto">
          <a:xfrm flipH="1" flipV="1">
            <a:off x="6732588" y="3673475"/>
            <a:ext cx="576262" cy="2873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lIns="90000" tIns="46800" rIns="90000" bIns="46800"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72" name="Line 30"/>
          <p:cNvSpPr>
            <a:spLocks noChangeShapeType="1"/>
          </p:cNvSpPr>
          <p:nvPr/>
        </p:nvSpPr>
        <p:spPr bwMode="auto">
          <a:xfrm flipH="1" flipV="1">
            <a:off x="4787900" y="2593975"/>
            <a:ext cx="1439863" cy="5746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lIns="90000" tIns="46800" rIns="90000" bIns="46800"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73" name="Text Box 32"/>
          <p:cNvSpPr txBox="1">
            <a:spLocks noChangeArrowheads="1"/>
          </p:cNvSpPr>
          <p:nvPr/>
        </p:nvSpPr>
        <p:spPr bwMode="auto">
          <a:xfrm>
            <a:off x="3962400" y="5791200"/>
            <a:ext cx="1401763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输出</a:t>
            </a:r>
            <a:r>
              <a:rPr kumimoji="1" lang="en-US" altLang="zh-CN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8</a:t>
            </a:r>
            <a:endParaRPr kumimoji="1" lang="en-US" altLang="zh-CN" sz="2800" b="1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74" name="Text Box 34"/>
          <p:cNvSpPr txBox="1">
            <a:spLocks noChangeArrowheads="1"/>
          </p:cNvSpPr>
          <p:nvPr/>
        </p:nvSpPr>
        <p:spPr bwMode="auto">
          <a:xfrm>
            <a:off x="468313" y="865188"/>
            <a:ext cx="3600450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>
                <a:solidFill>
                  <a:srgbClr val="0033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</a:rPr>
              <a:t>示例演示</a:t>
            </a:r>
            <a:endParaRPr kumimoji="1" lang="zh-CN" altLang="en-US" sz="2800" b="1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38200" y="1595735"/>
            <a:ext cx="707469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然后把最小关键字放最大值，然后选出次小关键字</a:t>
            </a:r>
            <a:r>
              <a:rPr lang="en-US" altLang="zh-CN" sz="2400" b="1" dirty="0"/>
              <a:t>.</a:t>
            </a:r>
            <a:endParaRPr lang="zh-CN" altLang="en-US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  <p:bldP spid="57" grpId="0" animBg="1"/>
      <p:bldP spid="59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72" grpId="0" animBg="1"/>
      <p:bldP spid="73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6.4.2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树形选择排序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6EA16-94D8-4057-BA62-FEFACA7E84CE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 Box 2"/>
          <p:cNvSpPr txBox="1">
            <a:spLocks noChangeArrowheads="1"/>
          </p:cNvSpPr>
          <p:nvPr/>
        </p:nvSpPr>
        <p:spPr bwMode="auto">
          <a:xfrm>
            <a:off x="468313" y="838200"/>
            <a:ext cx="5832475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>
                <a:solidFill>
                  <a:srgbClr val="0033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</a:rPr>
              <a:t>算法分析</a:t>
            </a:r>
            <a:endParaRPr kumimoji="1" lang="zh-CN" altLang="en-US" sz="2800" b="1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" name="Text Box 8"/>
          <p:cNvSpPr txBox="1">
            <a:spLocks noChangeArrowheads="1"/>
          </p:cNvSpPr>
          <p:nvPr/>
        </p:nvSpPr>
        <p:spPr bwMode="auto">
          <a:xfrm>
            <a:off x="1547813" y="1630363"/>
            <a:ext cx="5256212" cy="45450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(1)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稳定性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树形选择排序方法是</a:t>
            </a:r>
            <a:r>
              <a:rPr kumimoji="1" lang="zh-CN" altLang="en-US" sz="3200" b="1" u="sng" dirty="0">
                <a:solidFill>
                  <a:srgbClr val="FF3300"/>
                </a:solidFill>
                <a:latin typeface="Times New Roman" panose="02020603050405020304" pitchFamily="18" charset="0"/>
              </a:rPr>
              <a:t>稳定的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。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(2)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时间复杂度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比较</a:t>
            </a:r>
            <a:r>
              <a:rPr kumimoji="1" lang="en-US" altLang="zh-CN" sz="3200" b="1" u="sng" dirty="0">
                <a:solidFill>
                  <a:srgbClr val="FF3300"/>
                </a:solidFill>
                <a:latin typeface="Times New Roman" panose="02020603050405020304" pitchFamily="18" charset="0"/>
              </a:rPr>
              <a:t>O(nlog</a:t>
            </a:r>
            <a:r>
              <a:rPr kumimoji="1" lang="en-US" altLang="zh-CN" sz="3200" b="1" u="sng" baseline="-25000" dirty="0">
                <a:solidFill>
                  <a:srgbClr val="FF3300"/>
                </a:solidFill>
                <a:latin typeface="Times New Roman" panose="02020603050405020304" pitchFamily="18" charset="0"/>
              </a:rPr>
              <a:t>2</a:t>
            </a:r>
            <a:r>
              <a:rPr kumimoji="1" lang="en-US" altLang="zh-CN" sz="3200" b="1" u="sng" dirty="0">
                <a:solidFill>
                  <a:srgbClr val="FF3300"/>
                </a:solidFill>
                <a:latin typeface="Times New Roman" panose="02020603050405020304" pitchFamily="18" charset="0"/>
              </a:rPr>
              <a:t>n)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(3)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空间复杂度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为</a:t>
            </a:r>
            <a:r>
              <a:rPr kumimoji="1" lang="en-US" altLang="zh-CN" sz="3200" b="1" u="sng" dirty="0">
                <a:solidFill>
                  <a:srgbClr val="FF3300"/>
                </a:solidFill>
                <a:latin typeface="Times New Roman" panose="02020603050405020304" pitchFamily="18" charset="0"/>
              </a:rPr>
              <a:t>O(n)</a:t>
            </a:r>
            <a:r>
              <a:rPr kumimoji="1" lang="zh-CN" altLang="en-US" sz="3200" b="1" u="sng" dirty="0">
                <a:solidFill>
                  <a:srgbClr val="FF3300"/>
                </a:solidFill>
                <a:latin typeface="Times New Roman" panose="02020603050405020304" pitchFamily="18" charset="0"/>
              </a:rPr>
              <a:t>。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648200" y="4678740"/>
            <a:ext cx="446365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u="sng" dirty="0">
                <a:solidFill>
                  <a:srgbClr val="FF3300"/>
                </a:solidFill>
                <a:latin typeface="Times New Roman" panose="02020603050405020304" pitchFamily="18" charset="0"/>
              </a:rPr>
              <a:t>浪费存储空间比较大，和最大值进行多余的比较等缺点。</a:t>
            </a:r>
            <a:endParaRPr kumimoji="1" lang="en-US" altLang="zh-CN" sz="2400" b="1" u="sng" dirty="0">
              <a:solidFill>
                <a:srgbClr val="FF3300"/>
              </a:solidFill>
              <a:latin typeface="Times New Roman" panose="02020603050405020304" pitchFamily="18" charset="0"/>
            </a:endParaRPr>
          </a:p>
          <a:p>
            <a:endParaRPr kumimoji="1" lang="en-US" altLang="zh-CN" sz="2400" b="1" u="sng" dirty="0">
              <a:solidFill>
                <a:srgbClr val="FF3300"/>
              </a:solidFill>
              <a:latin typeface="Times New Roman" panose="02020603050405020304" pitchFamily="18" charset="0"/>
            </a:endParaRPr>
          </a:p>
          <a:p>
            <a:r>
              <a:rPr kumimoji="1" lang="en-US" altLang="zh-CN" sz="2400" b="1" u="sng" dirty="0">
                <a:solidFill>
                  <a:srgbClr val="FF3300"/>
                </a:solidFill>
                <a:latin typeface="Times New Roman" panose="02020603050405020304" pitchFamily="18" charset="0"/>
              </a:rPr>
              <a:t>1964</a:t>
            </a:r>
            <a:r>
              <a:rPr kumimoji="1" lang="zh-CN" altLang="en-US" sz="2400" b="1" u="sng" dirty="0">
                <a:solidFill>
                  <a:srgbClr val="FF3300"/>
                </a:solidFill>
                <a:latin typeface="Times New Roman" panose="02020603050405020304" pitchFamily="18" charset="0"/>
              </a:rPr>
              <a:t>年</a:t>
            </a:r>
            <a:r>
              <a:rPr kumimoji="1" lang="en-US" altLang="zh-CN" sz="2400" b="1" u="sng" dirty="0">
                <a:solidFill>
                  <a:srgbClr val="FF3300"/>
                </a:solidFill>
                <a:latin typeface="Times New Roman" panose="02020603050405020304" pitchFamily="18" charset="0"/>
              </a:rPr>
              <a:t>J. </a:t>
            </a:r>
            <a:r>
              <a:rPr kumimoji="1" lang="en-US" altLang="zh-CN" sz="2400" b="1" u="sng" dirty="0" err="1">
                <a:solidFill>
                  <a:srgbClr val="FF3300"/>
                </a:solidFill>
                <a:latin typeface="Times New Roman" panose="02020603050405020304" pitchFamily="18" charset="0"/>
              </a:rPr>
              <a:t>Willioms</a:t>
            </a:r>
            <a:r>
              <a:rPr kumimoji="1" lang="zh-CN" altLang="en-US" sz="2400" b="1" u="sng" dirty="0">
                <a:solidFill>
                  <a:srgbClr val="FF3300"/>
                </a:solidFill>
                <a:latin typeface="Times New Roman" panose="02020603050405020304" pitchFamily="18" charset="0"/>
              </a:rPr>
              <a:t>提出了堆排序。</a:t>
            </a:r>
            <a:endParaRPr kumimoji="1" lang="zh-CN" altLang="en-US" sz="2400" b="1" u="sng" dirty="0">
              <a:solidFill>
                <a:srgbClr val="FF33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6.4.3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堆排序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C4410-A889-4467-B869-023ADE820BAF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609600" y="1676400"/>
            <a:ext cx="8077200" cy="94615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堆排序属于选择排序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: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出发点是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利用前一次比较的结果，减少“比较”的次数。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" name="Text Box 9"/>
          <p:cNvSpPr txBox="1">
            <a:spLocks noChangeArrowheads="1"/>
          </p:cNvSpPr>
          <p:nvPr/>
        </p:nvSpPr>
        <p:spPr bwMode="auto">
          <a:xfrm>
            <a:off x="466725" y="1008062"/>
            <a:ext cx="2376488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>
                <a:solidFill>
                  <a:srgbClr val="0033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</a:rPr>
              <a:t>引   入</a:t>
            </a:r>
            <a:endParaRPr kumimoji="1" lang="zh-CN" altLang="en-US" sz="2800" b="1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" name="Text Box 3"/>
          <p:cNvSpPr txBox="1">
            <a:spLocks noChangeArrowheads="1"/>
          </p:cNvSpPr>
          <p:nvPr/>
        </p:nvSpPr>
        <p:spPr bwMode="auto">
          <a:xfrm>
            <a:off x="609600" y="2590800"/>
            <a:ext cx="8077200" cy="181588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若能利用每趟比较后的结果，也就是在找出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关键字值最小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记录的同时，也找出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关键字值较小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的记录，则可减少后面的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选择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中所用的比较次数，从而提高整个排序过程的效率。</a:t>
            </a:r>
            <a:endParaRPr kumimoji="1" lang="zh-CN" altLang="en-US" sz="2800" b="1" dirty="0">
              <a:latin typeface="Times New Roman" panose="02020603050405020304" pitchFamily="18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8021" y="4406682"/>
            <a:ext cx="5509694" cy="19055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6.4.3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堆排序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5634B-44A6-4A26-8D28-69ADCD76DCC7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Box 10"/>
          <p:cNvSpPr txBox="1">
            <a:spLocks noChangeArrowheads="1"/>
          </p:cNvSpPr>
          <p:nvPr/>
        </p:nvSpPr>
        <p:spPr bwMode="auto">
          <a:xfrm>
            <a:off x="323850" y="1563687"/>
            <a:ext cx="8820150" cy="440120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把具有如下性质的数组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A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表示的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完全二叉树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称为</a:t>
            </a:r>
            <a:r>
              <a:rPr kumimoji="1" lang="zh-CN" altLang="en-US" sz="2800" b="1" u="sng" dirty="0">
                <a:solidFill>
                  <a:srgbClr val="FF3300"/>
                </a:solidFill>
                <a:latin typeface="宋体" panose="02010600030101010101" pitchFamily="2" charset="-122"/>
              </a:rPr>
              <a:t>小根堆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：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(1) 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若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2*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≤ n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，则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A[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].key ≤ A[2*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].key ; 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(2) 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若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2*i+1 ≤ n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，则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A[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].key ≤ A[2*i+1].key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把具有如下性质的数组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A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表示的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完全二叉树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称为</a:t>
            </a:r>
            <a:r>
              <a:rPr kumimoji="1" lang="zh-CN" altLang="en-US" sz="2800" b="1" u="sng" dirty="0">
                <a:solidFill>
                  <a:srgbClr val="FF3300"/>
                </a:solidFill>
                <a:latin typeface="Times New Roman" panose="02020603050405020304" pitchFamily="18" charset="0"/>
              </a:rPr>
              <a:t>大根堆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: 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(1) 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若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2*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≤ n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，则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A[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].key ≥ A[2*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].key ; 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(2) 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若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2*i+1 ≤ n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，则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A[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].key ≥ A[2*i+1].key 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" name="Text Box 2"/>
          <p:cNvSpPr txBox="1">
            <a:spLocks noChangeArrowheads="1"/>
          </p:cNvSpPr>
          <p:nvPr/>
        </p:nvSpPr>
        <p:spPr bwMode="auto">
          <a:xfrm>
            <a:off x="468313" y="928688"/>
            <a:ext cx="2376487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堆的定义</a:t>
            </a:r>
            <a:endParaRPr kumimoji="1" lang="zh-CN" altLang="en-US" sz="2800" b="1" dirty="0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6.4.3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堆排序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C81D9-431B-40C5-A92E-E930D16370C4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Box 10"/>
          <p:cNvSpPr txBox="1">
            <a:spLocks noChangeArrowheads="1"/>
          </p:cNvSpPr>
          <p:nvPr/>
        </p:nvSpPr>
        <p:spPr bwMode="auto">
          <a:xfrm>
            <a:off x="476250" y="1563687"/>
            <a:ext cx="8362950" cy="427854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457200" indent="-457200" algn="just" fontAlgn="base">
              <a:lnSpc>
                <a:spcPts val="3400"/>
              </a:lnSpc>
              <a:spcBef>
                <a:spcPct val="5000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kumimoji="1" lang="zh-CN" altLang="en-US" sz="2400" b="1" dirty="0">
                <a:latin typeface="Times New Roman" panose="02020603050405020304" pitchFamily="18" charset="0"/>
              </a:rPr>
              <a:t>对于任意一个非叶结点的关键字，都不大于其左、右儿子结点的关键字。即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A[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/2].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key≤A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[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].key   1 ≤ 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/2 &lt; </a:t>
            </a:r>
            <a:r>
              <a:rPr kumimoji="1" lang="en-US" altLang="zh-CN" sz="2400" b="1" dirty="0" err="1"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 ≤n</a:t>
            </a:r>
            <a:endParaRPr kumimoji="1" lang="en-US" altLang="zh-CN" sz="2400" b="1" dirty="0">
              <a:latin typeface="Times New Roman" panose="02020603050405020304" pitchFamily="18" charset="0"/>
            </a:endParaRPr>
          </a:p>
          <a:p>
            <a:pPr marL="457200" indent="-457200" algn="just" fontAlgn="base">
              <a:lnSpc>
                <a:spcPts val="3400"/>
              </a:lnSpc>
              <a:spcBef>
                <a:spcPct val="5000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kumimoji="1" lang="zh-CN" altLang="en-US" sz="2400" b="1" dirty="0">
                <a:latin typeface="Times New Roman" panose="02020603050405020304" pitchFamily="18" charset="0"/>
              </a:rPr>
              <a:t>在堆中，以任意结点为根的子树仍然是堆。特别地，每个 叶结点也可视为堆。每个结点都代表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(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是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)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一个堆。</a:t>
            </a:r>
            <a:endParaRPr kumimoji="1" lang="en-US" altLang="zh-CN" sz="2400" b="1" dirty="0">
              <a:latin typeface="Times New Roman" panose="02020603050405020304" pitchFamily="18" charset="0"/>
            </a:endParaRPr>
          </a:p>
          <a:p>
            <a:pPr marL="914400" lvl="1" indent="-457200" algn="just" fontAlgn="base">
              <a:lnSpc>
                <a:spcPts val="3400"/>
              </a:lnSpc>
              <a:spcBef>
                <a:spcPct val="5000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1" lang="zh-CN" altLang="en-US" sz="2400" b="1" dirty="0">
                <a:latin typeface="Times New Roman" panose="02020603050405020304" pitchFamily="18" charset="0"/>
              </a:rPr>
              <a:t>以堆（的数量）不断扩大的方式进行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初始建堆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。  </a:t>
            </a:r>
            <a:endParaRPr kumimoji="1" lang="en-US" altLang="zh-CN" sz="2400" b="1" dirty="0">
              <a:latin typeface="Times New Roman" panose="02020603050405020304" pitchFamily="18" charset="0"/>
            </a:endParaRPr>
          </a:p>
          <a:p>
            <a:pPr marL="457200" indent="-457200" algn="just" fontAlgn="base">
              <a:lnSpc>
                <a:spcPts val="3400"/>
              </a:lnSpc>
              <a:spcBef>
                <a:spcPct val="5000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kumimoji="1" lang="zh-CN" altLang="en-US" sz="2400" b="1" dirty="0">
                <a:latin typeface="Times New Roman" panose="02020603050405020304" pitchFamily="18" charset="0"/>
              </a:rPr>
              <a:t>在堆中（包括各子树对应的堆），其根结点的关键字是最 小的。去掉堆中编号最大的叶结点后，仍然是堆。</a:t>
            </a:r>
            <a:endParaRPr kumimoji="1" lang="en-US" altLang="zh-CN" sz="2400" b="1" dirty="0">
              <a:latin typeface="Times New Roman" panose="02020603050405020304" pitchFamily="18" charset="0"/>
            </a:endParaRPr>
          </a:p>
          <a:p>
            <a:pPr marL="914400" lvl="1" indent="-457200" algn="just" fontAlgn="base">
              <a:lnSpc>
                <a:spcPts val="3400"/>
              </a:lnSpc>
              <a:spcBef>
                <a:spcPct val="5000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1" lang="zh-CN" altLang="en-US" sz="2400" b="1" dirty="0">
                <a:latin typeface="Times New Roman" panose="02020603050405020304" pitchFamily="18" charset="0"/>
              </a:rPr>
              <a:t>以堆的规模逐渐缩小的方式进行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堆排序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。</a:t>
            </a:r>
            <a:endParaRPr kumimoji="1"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6" name="Text Box 2"/>
          <p:cNvSpPr txBox="1">
            <a:spLocks noChangeArrowheads="1"/>
          </p:cNvSpPr>
          <p:nvPr/>
        </p:nvSpPr>
        <p:spPr bwMode="auto">
          <a:xfrm>
            <a:off x="468313" y="928688"/>
            <a:ext cx="4189412" cy="52322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 堆的性质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（小根堆） </a:t>
            </a:r>
            <a:endParaRPr kumimoji="1" lang="zh-CN" altLang="en-US" sz="28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6.4.3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堆排序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37768-3BB5-4474-AC66-90085D7AB3A5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7"/>
          <p:cNvSpPr>
            <a:spLocks noChangeArrowheads="1"/>
          </p:cNvSpPr>
          <p:nvPr/>
        </p:nvSpPr>
        <p:spPr bwMode="auto">
          <a:xfrm>
            <a:off x="3249613" y="3949700"/>
            <a:ext cx="457200" cy="38100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22</a:t>
            </a:r>
            <a:endParaRPr kumimoji="1" lang="en-US" altLang="zh-CN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16" name="Oval 18"/>
          <p:cNvSpPr>
            <a:spLocks noChangeArrowheads="1"/>
          </p:cNvSpPr>
          <p:nvPr/>
        </p:nvSpPr>
        <p:spPr bwMode="auto">
          <a:xfrm>
            <a:off x="3935413" y="3263900"/>
            <a:ext cx="457200" cy="38100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12</a:t>
            </a:r>
            <a:endParaRPr kumimoji="1" lang="en-US" altLang="zh-CN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17" name="Oval 19"/>
          <p:cNvSpPr>
            <a:spLocks noChangeArrowheads="1"/>
          </p:cNvSpPr>
          <p:nvPr/>
        </p:nvSpPr>
        <p:spPr bwMode="auto">
          <a:xfrm>
            <a:off x="2792413" y="4787900"/>
            <a:ext cx="457200" cy="38100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40</a:t>
            </a:r>
            <a:endParaRPr kumimoji="1" lang="en-US" altLang="zh-CN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18" name="Oval 20"/>
          <p:cNvSpPr>
            <a:spLocks noChangeArrowheads="1"/>
          </p:cNvSpPr>
          <p:nvPr/>
        </p:nvSpPr>
        <p:spPr bwMode="auto">
          <a:xfrm>
            <a:off x="3554413" y="4787900"/>
            <a:ext cx="457200" cy="38100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30</a:t>
            </a:r>
            <a:endParaRPr kumimoji="1" lang="en-US" altLang="zh-CN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19" name="Oval 21"/>
          <p:cNvSpPr>
            <a:spLocks noChangeArrowheads="1"/>
          </p:cNvSpPr>
          <p:nvPr/>
        </p:nvSpPr>
        <p:spPr bwMode="auto">
          <a:xfrm>
            <a:off x="4697413" y="3949700"/>
            <a:ext cx="457200" cy="38100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34</a:t>
            </a:r>
            <a:endParaRPr kumimoji="1" lang="en-US" altLang="zh-CN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20" name="Oval 22"/>
          <p:cNvSpPr>
            <a:spLocks noChangeArrowheads="1"/>
          </p:cNvSpPr>
          <p:nvPr/>
        </p:nvSpPr>
        <p:spPr bwMode="auto">
          <a:xfrm>
            <a:off x="4240213" y="4787900"/>
            <a:ext cx="457200" cy="38100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36</a:t>
            </a:r>
            <a:endParaRPr kumimoji="1" lang="en-US" altLang="zh-CN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21" name="Oval 23"/>
          <p:cNvSpPr>
            <a:spLocks noChangeArrowheads="1"/>
          </p:cNvSpPr>
          <p:nvPr/>
        </p:nvSpPr>
        <p:spPr bwMode="auto">
          <a:xfrm>
            <a:off x="5307013" y="4787900"/>
            <a:ext cx="457200" cy="38100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50</a:t>
            </a:r>
            <a:endParaRPr kumimoji="1" lang="en-US" altLang="zh-CN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22" name="Oval 24"/>
          <p:cNvSpPr>
            <a:spLocks noChangeArrowheads="1"/>
          </p:cNvSpPr>
          <p:nvPr/>
        </p:nvSpPr>
        <p:spPr bwMode="auto">
          <a:xfrm>
            <a:off x="2411413" y="5626100"/>
            <a:ext cx="457200" cy="38100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41</a:t>
            </a:r>
            <a:endParaRPr kumimoji="1" lang="en-US" altLang="zh-CN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23" name="Line 25"/>
          <p:cNvSpPr>
            <a:spLocks noChangeShapeType="1"/>
          </p:cNvSpPr>
          <p:nvPr/>
        </p:nvSpPr>
        <p:spPr bwMode="auto">
          <a:xfrm flipH="1">
            <a:off x="3554413" y="3568700"/>
            <a:ext cx="381000" cy="38100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4" name="Line 26"/>
          <p:cNvSpPr>
            <a:spLocks noChangeShapeType="1"/>
          </p:cNvSpPr>
          <p:nvPr/>
        </p:nvSpPr>
        <p:spPr bwMode="auto">
          <a:xfrm>
            <a:off x="4316413" y="3568700"/>
            <a:ext cx="457200" cy="45720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5" name="Line 27"/>
          <p:cNvSpPr>
            <a:spLocks noChangeShapeType="1"/>
          </p:cNvSpPr>
          <p:nvPr/>
        </p:nvSpPr>
        <p:spPr bwMode="auto">
          <a:xfrm flipH="1">
            <a:off x="3021013" y="4330700"/>
            <a:ext cx="304800" cy="45720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6" name="Line 28"/>
          <p:cNvSpPr>
            <a:spLocks noChangeShapeType="1"/>
          </p:cNvSpPr>
          <p:nvPr/>
        </p:nvSpPr>
        <p:spPr bwMode="auto">
          <a:xfrm flipH="1">
            <a:off x="2640013" y="5168900"/>
            <a:ext cx="228600" cy="45720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7" name="Line 29"/>
          <p:cNvSpPr>
            <a:spLocks noChangeShapeType="1"/>
          </p:cNvSpPr>
          <p:nvPr/>
        </p:nvSpPr>
        <p:spPr bwMode="auto">
          <a:xfrm>
            <a:off x="3554413" y="4330700"/>
            <a:ext cx="228600" cy="45720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8" name="Line 30"/>
          <p:cNvSpPr>
            <a:spLocks noChangeShapeType="1"/>
          </p:cNvSpPr>
          <p:nvPr/>
        </p:nvSpPr>
        <p:spPr bwMode="auto">
          <a:xfrm flipH="1">
            <a:off x="4468813" y="4254500"/>
            <a:ext cx="304800" cy="53340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9" name="Line 31"/>
          <p:cNvSpPr>
            <a:spLocks noChangeShapeType="1"/>
          </p:cNvSpPr>
          <p:nvPr/>
        </p:nvSpPr>
        <p:spPr bwMode="auto">
          <a:xfrm>
            <a:off x="5078413" y="4254500"/>
            <a:ext cx="381000" cy="53340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0" name="Text Box 32"/>
          <p:cNvSpPr txBox="1">
            <a:spLocks noChangeArrowheads="1"/>
          </p:cNvSpPr>
          <p:nvPr/>
        </p:nvSpPr>
        <p:spPr bwMode="auto">
          <a:xfrm>
            <a:off x="3316288" y="5805487"/>
            <a:ext cx="2160587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FF"/>
                </a:solidFill>
                <a:latin typeface="宋体" panose="02010600030101010101" pitchFamily="2" charset="-122"/>
              </a:rPr>
              <a:t>小根</a:t>
            </a:r>
            <a:r>
              <a:rPr kumimoji="1" lang="en-US" altLang="zh-CN" sz="2800" b="1">
                <a:solidFill>
                  <a:srgbClr val="0000FF"/>
                </a:solidFill>
                <a:latin typeface="宋体" panose="02010600030101010101" pitchFamily="2" charset="-122"/>
              </a:rPr>
              <a:t>(</a:t>
            </a:r>
            <a:r>
              <a:rPr kumimoji="1" lang="zh-CN" altLang="en-US" sz="2800" b="1">
                <a:solidFill>
                  <a:srgbClr val="0000FF"/>
                </a:solidFill>
                <a:latin typeface="宋体" panose="02010600030101010101" pitchFamily="2" charset="-122"/>
              </a:rPr>
              <a:t>顶</a:t>
            </a:r>
            <a:r>
              <a:rPr kumimoji="1" lang="en-US" altLang="zh-CN" sz="2800" b="1">
                <a:solidFill>
                  <a:srgbClr val="0000FF"/>
                </a:solidFill>
                <a:latin typeface="宋体" panose="02010600030101010101" pitchFamily="2" charset="-122"/>
              </a:rPr>
              <a:t>)</a:t>
            </a:r>
            <a:r>
              <a:rPr kumimoji="1" lang="zh-CN" altLang="en-US" sz="2800" b="1">
                <a:solidFill>
                  <a:srgbClr val="0000FF"/>
                </a:solidFill>
                <a:latin typeface="宋体" panose="02010600030101010101" pitchFamily="2" charset="-122"/>
              </a:rPr>
              <a:t>堆</a:t>
            </a:r>
            <a:endParaRPr kumimoji="1" lang="zh-CN" altLang="en-US" sz="2800" b="1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31" name="Group 84"/>
          <p:cNvGraphicFramePr>
            <a:graphicFrameLocks noGrp="1"/>
          </p:cNvGraphicFramePr>
          <p:nvPr/>
        </p:nvGraphicFramePr>
        <p:xfrm>
          <a:off x="827088" y="2544762"/>
          <a:ext cx="6769100" cy="517525"/>
        </p:xfrm>
        <a:graphic>
          <a:graphicData uri="http://schemas.openxmlformats.org/drawingml/2006/table">
            <a:tbl>
              <a:tblPr/>
              <a:tblGrid>
                <a:gridCol w="750887"/>
                <a:gridCol w="754063"/>
                <a:gridCol w="749300"/>
                <a:gridCol w="755650"/>
                <a:gridCol w="749300"/>
                <a:gridCol w="755650"/>
                <a:gridCol w="749300"/>
                <a:gridCol w="754062"/>
                <a:gridCol w="750888"/>
              </a:tblGrid>
              <a:tr h="51752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tantia" panose="02030602050306030303" pitchFamily="18" charset="0"/>
                          <a:ea typeface="宋体" panose="02010600030101010101" pitchFamily="2" charset="-122"/>
                        </a:rPr>
                        <a:t>  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F6FC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tantia" panose="02030602050306030303" pitchFamily="18" charset="0"/>
                          <a:ea typeface="宋体" panose="02010600030101010101" pitchFamily="2" charset="-122"/>
                        </a:rPr>
                        <a:t>12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tantia" panose="02030602050306030303" pitchFamily="18" charset="0"/>
                          <a:ea typeface="宋体" panose="02010600030101010101" pitchFamily="2" charset="-122"/>
                        </a:rPr>
                        <a:t>22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tantia" panose="02030602050306030303" pitchFamily="18" charset="0"/>
                          <a:ea typeface="宋体" panose="02010600030101010101" pitchFamily="2" charset="-122"/>
                        </a:rPr>
                        <a:t>34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tantia" panose="02030602050306030303" pitchFamily="18" charset="0"/>
                          <a:ea typeface="宋体" panose="02010600030101010101" pitchFamily="2" charset="-122"/>
                        </a:rPr>
                        <a:t>40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tantia" panose="02030602050306030303" pitchFamily="18" charset="0"/>
                          <a:ea typeface="宋体" panose="02010600030101010101" pitchFamily="2" charset="-122"/>
                        </a:rPr>
                        <a:t>30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tantia" panose="02030602050306030303" pitchFamily="18" charset="0"/>
                          <a:ea typeface="宋体" panose="02010600030101010101" pitchFamily="2" charset="-122"/>
                        </a:rPr>
                        <a:t>36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tantia" panose="02030602050306030303" pitchFamily="18" charset="0"/>
                          <a:ea typeface="宋体" panose="02010600030101010101" pitchFamily="2" charset="-122"/>
                        </a:rPr>
                        <a:t>50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tantia" panose="02030602050306030303" pitchFamily="18" charset="0"/>
                          <a:ea typeface="宋体" panose="02010600030101010101" pitchFamily="2" charset="-122"/>
                        </a:rPr>
                        <a:t>41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2" name="Text Box 79"/>
          <p:cNvSpPr txBox="1">
            <a:spLocks noChangeArrowheads="1"/>
          </p:cNvSpPr>
          <p:nvPr/>
        </p:nvSpPr>
        <p:spPr bwMode="auto">
          <a:xfrm>
            <a:off x="971550" y="2039937"/>
            <a:ext cx="6840538" cy="34766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0      1        2       3     4      5       6      7      8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" name="Text Box 87"/>
          <p:cNvSpPr txBox="1">
            <a:spLocks noChangeArrowheads="1"/>
          </p:cNvSpPr>
          <p:nvPr/>
        </p:nvSpPr>
        <p:spPr bwMode="auto">
          <a:xfrm>
            <a:off x="468313" y="944562"/>
            <a:ext cx="2808287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>
                <a:solidFill>
                  <a:srgbClr val="0033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</a:rPr>
              <a:t>小根堆例子</a:t>
            </a:r>
            <a:endParaRPr kumimoji="1" lang="zh-CN" altLang="en-US" sz="2800" b="1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 autoUpdateAnimBg="0"/>
      <p:bldP spid="16" grpId="0" animBg="1" autoUpdateAnimBg="0"/>
      <p:bldP spid="17" grpId="0" animBg="1" autoUpdateAnimBg="0"/>
      <p:bldP spid="18" grpId="0" animBg="1" autoUpdateAnimBg="0"/>
      <p:bldP spid="19" grpId="0" animBg="1" autoUpdateAnimBg="0"/>
      <p:bldP spid="20" grpId="0" animBg="1" autoUpdateAnimBg="0"/>
      <p:bldP spid="21" grpId="0" animBg="1" autoUpdateAnimBg="0"/>
      <p:bldP spid="22" grpId="0" animBg="1" autoUpdateAnimBg="0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utoUpdateAnimBg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6.4.3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堆排序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61216-CCFF-45FE-8DA2-1D756EBC22DE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2"/>
          <p:cNvSpPr>
            <a:spLocks noChangeArrowheads="1"/>
          </p:cNvSpPr>
          <p:nvPr/>
        </p:nvSpPr>
        <p:spPr bwMode="auto">
          <a:xfrm>
            <a:off x="2962275" y="3821112"/>
            <a:ext cx="457200" cy="38100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50</a:t>
            </a:r>
            <a:endParaRPr kumimoji="1" lang="en-US" altLang="zh-CN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14" name="Oval 3"/>
          <p:cNvSpPr>
            <a:spLocks noChangeArrowheads="1"/>
          </p:cNvSpPr>
          <p:nvPr/>
        </p:nvSpPr>
        <p:spPr bwMode="auto">
          <a:xfrm>
            <a:off x="3648075" y="3135312"/>
            <a:ext cx="457200" cy="38100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87</a:t>
            </a:r>
            <a:endParaRPr kumimoji="1" lang="en-US" altLang="zh-CN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15" name="Oval 4"/>
          <p:cNvSpPr>
            <a:spLocks noChangeArrowheads="1"/>
          </p:cNvSpPr>
          <p:nvPr/>
        </p:nvSpPr>
        <p:spPr bwMode="auto">
          <a:xfrm>
            <a:off x="2505075" y="4659312"/>
            <a:ext cx="457200" cy="38100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40</a:t>
            </a:r>
            <a:endParaRPr kumimoji="1" lang="en-US" altLang="zh-CN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16" name="Oval 5"/>
          <p:cNvSpPr>
            <a:spLocks noChangeArrowheads="1"/>
          </p:cNvSpPr>
          <p:nvPr/>
        </p:nvSpPr>
        <p:spPr bwMode="auto">
          <a:xfrm>
            <a:off x="3267075" y="4659312"/>
            <a:ext cx="457200" cy="38100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30</a:t>
            </a:r>
            <a:endParaRPr kumimoji="1" lang="en-US" altLang="zh-CN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17" name="Oval 6"/>
          <p:cNvSpPr>
            <a:spLocks noChangeArrowheads="1"/>
          </p:cNvSpPr>
          <p:nvPr/>
        </p:nvSpPr>
        <p:spPr bwMode="auto">
          <a:xfrm>
            <a:off x="4410075" y="3821112"/>
            <a:ext cx="457200" cy="38100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36</a:t>
            </a:r>
            <a:endParaRPr kumimoji="1" lang="en-US" altLang="zh-CN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18" name="Oval 7"/>
          <p:cNvSpPr>
            <a:spLocks noChangeArrowheads="1"/>
          </p:cNvSpPr>
          <p:nvPr/>
        </p:nvSpPr>
        <p:spPr bwMode="auto">
          <a:xfrm>
            <a:off x="3952875" y="4659312"/>
            <a:ext cx="457200" cy="38100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34</a:t>
            </a:r>
            <a:endParaRPr kumimoji="1" lang="en-US" altLang="zh-CN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19" name="Oval 8"/>
          <p:cNvSpPr>
            <a:spLocks noChangeArrowheads="1"/>
          </p:cNvSpPr>
          <p:nvPr/>
        </p:nvSpPr>
        <p:spPr bwMode="auto">
          <a:xfrm>
            <a:off x="5019675" y="4659312"/>
            <a:ext cx="457200" cy="38100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12</a:t>
            </a:r>
            <a:endParaRPr kumimoji="1" lang="en-US" altLang="zh-CN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20" name="Oval 9"/>
          <p:cNvSpPr>
            <a:spLocks noChangeArrowheads="1"/>
          </p:cNvSpPr>
          <p:nvPr/>
        </p:nvSpPr>
        <p:spPr bwMode="auto">
          <a:xfrm>
            <a:off x="2124075" y="5497512"/>
            <a:ext cx="457200" cy="38100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22</a:t>
            </a:r>
            <a:endParaRPr kumimoji="1" lang="en-US" altLang="zh-CN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21" name="Line 10"/>
          <p:cNvSpPr>
            <a:spLocks noChangeShapeType="1"/>
          </p:cNvSpPr>
          <p:nvPr/>
        </p:nvSpPr>
        <p:spPr bwMode="auto">
          <a:xfrm flipH="1">
            <a:off x="3267075" y="3440112"/>
            <a:ext cx="381000" cy="38100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2" name="Line 11"/>
          <p:cNvSpPr>
            <a:spLocks noChangeShapeType="1"/>
          </p:cNvSpPr>
          <p:nvPr/>
        </p:nvSpPr>
        <p:spPr bwMode="auto">
          <a:xfrm>
            <a:off x="4029075" y="3440112"/>
            <a:ext cx="457200" cy="45720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3" name="Line 12"/>
          <p:cNvSpPr>
            <a:spLocks noChangeShapeType="1"/>
          </p:cNvSpPr>
          <p:nvPr/>
        </p:nvSpPr>
        <p:spPr bwMode="auto">
          <a:xfrm flipH="1">
            <a:off x="2733675" y="4202112"/>
            <a:ext cx="304800" cy="45720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4" name="Line 13"/>
          <p:cNvSpPr>
            <a:spLocks noChangeShapeType="1"/>
          </p:cNvSpPr>
          <p:nvPr/>
        </p:nvSpPr>
        <p:spPr bwMode="auto">
          <a:xfrm flipH="1">
            <a:off x="2352675" y="5040312"/>
            <a:ext cx="228600" cy="45720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5" name="Line 14"/>
          <p:cNvSpPr>
            <a:spLocks noChangeShapeType="1"/>
          </p:cNvSpPr>
          <p:nvPr/>
        </p:nvSpPr>
        <p:spPr bwMode="auto">
          <a:xfrm>
            <a:off x="3267075" y="4202112"/>
            <a:ext cx="228600" cy="45720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6" name="Line 15"/>
          <p:cNvSpPr>
            <a:spLocks noChangeShapeType="1"/>
          </p:cNvSpPr>
          <p:nvPr/>
        </p:nvSpPr>
        <p:spPr bwMode="auto">
          <a:xfrm flipH="1">
            <a:off x="4181475" y="4125912"/>
            <a:ext cx="304800" cy="53340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7" name="Line 16"/>
          <p:cNvSpPr>
            <a:spLocks noChangeShapeType="1"/>
          </p:cNvSpPr>
          <p:nvPr/>
        </p:nvSpPr>
        <p:spPr bwMode="auto">
          <a:xfrm>
            <a:off x="4791075" y="4125912"/>
            <a:ext cx="381000" cy="53340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8" name="Text Box 33"/>
          <p:cNvSpPr txBox="1">
            <a:spLocks noChangeArrowheads="1"/>
          </p:cNvSpPr>
          <p:nvPr/>
        </p:nvSpPr>
        <p:spPr bwMode="auto">
          <a:xfrm>
            <a:off x="3038475" y="5791200"/>
            <a:ext cx="2209800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</a:rPr>
              <a:t>大根</a:t>
            </a:r>
            <a:r>
              <a:rPr kumimoji="1" lang="en-US" altLang="zh-CN" sz="2800" b="1" dirty="0">
                <a:solidFill>
                  <a:srgbClr val="0000FF"/>
                </a:solidFill>
                <a:latin typeface="宋体" panose="02010600030101010101" pitchFamily="2" charset="-122"/>
              </a:rPr>
              <a:t>(</a:t>
            </a:r>
            <a:r>
              <a:rPr kumimoji="1"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</a:rPr>
              <a:t>顶</a:t>
            </a:r>
            <a:r>
              <a:rPr kumimoji="1" lang="en-US" altLang="zh-CN" sz="2800" b="1" dirty="0">
                <a:solidFill>
                  <a:srgbClr val="0000FF"/>
                </a:solidFill>
                <a:latin typeface="宋体" panose="02010600030101010101" pitchFamily="2" charset="-122"/>
              </a:rPr>
              <a:t>)</a:t>
            </a:r>
            <a:r>
              <a:rPr kumimoji="1"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</a:rPr>
              <a:t>堆</a:t>
            </a:r>
            <a:endParaRPr kumimoji="1" lang="zh-CN" altLang="en-US" sz="2800" b="1" dirty="0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29" name="Group 56"/>
          <p:cNvGraphicFramePr>
            <a:graphicFrameLocks noGrp="1"/>
          </p:cNvGraphicFramePr>
          <p:nvPr/>
        </p:nvGraphicFramePr>
        <p:xfrm>
          <a:off x="827088" y="2401887"/>
          <a:ext cx="6697662" cy="517525"/>
        </p:xfrm>
        <a:graphic>
          <a:graphicData uri="http://schemas.openxmlformats.org/drawingml/2006/table">
            <a:tbl>
              <a:tblPr/>
              <a:tblGrid>
                <a:gridCol w="742950"/>
                <a:gridCol w="746125"/>
                <a:gridCol w="741362"/>
                <a:gridCol w="747713"/>
                <a:gridCol w="741362"/>
                <a:gridCol w="747713"/>
                <a:gridCol w="741362"/>
                <a:gridCol w="746125"/>
                <a:gridCol w="742950"/>
              </a:tblGrid>
              <a:tr h="51752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tantia" panose="02030602050306030303" pitchFamily="18" charset="0"/>
                          <a:ea typeface="宋体" panose="02010600030101010101" pitchFamily="2" charset="-122"/>
                        </a:rPr>
                        <a:t>  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F6FC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tantia" panose="02030602050306030303" pitchFamily="18" charset="0"/>
                          <a:ea typeface="宋体" panose="02010600030101010101" pitchFamily="2" charset="-122"/>
                        </a:rPr>
                        <a:t>87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tantia" panose="02030602050306030303" pitchFamily="18" charset="0"/>
                          <a:ea typeface="宋体" panose="02010600030101010101" pitchFamily="2" charset="-122"/>
                        </a:rPr>
                        <a:t>50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tantia" panose="02030602050306030303" pitchFamily="18" charset="0"/>
                          <a:ea typeface="宋体" panose="02010600030101010101" pitchFamily="2" charset="-122"/>
                        </a:rPr>
                        <a:t>36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tantia" panose="02030602050306030303" pitchFamily="18" charset="0"/>
                          <a:ea typeface="宋体" panose="02010600030101010101" pitchFamily="2" charset="-122"/>
                        </a:rPr>
                        <a:t>40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tantia" panose="02030602050306030303" pitchFamily="18" charset="0"/>
                          <a:ea typeface="宋体" panose="02010600030101010101" pitchFamily="2" charset="-122"/>
                        </a:rPr>
                        <a:t>30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tantia" panose="02030602050306030303" pitchFamily="18" charset="0"/>
                          <a:ea typeface="宋体" panose="02010600030101010101" pitchFamily="2" charset="-122"/>
                        </a:rPr>
                        <a:t>34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tantia" panose="02030602050306030303" pitchFamily="18" charset="0"/>
                          <a:ea typeface="宋体" panose="02010600030101010101" pitchFamily="2" charset="-122"/>
                        </a:rPr>
                        <a:t>12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tantia" panose="02030602050306030303" pitchFamily="18" charset="0"/>
                          <a:ea typeface="宋体" panose="02010600030101010101" pitchFamily="2" charset="-122"/>
                        </a:rPr>
                        <a:t>22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0" name="Text Box 78"/>
          <p:cNvSpPr txBox="1">
            <a:spLocks noChangeArrowheads="1"/>
          </p:cNvSpPr>
          <p:nvPr/>
        </p:nvSpPr>
        <p:spPr bwMode="auto">
          <a:xfrm>
            <a:off x="900113" y="1911350"/>
            <a:ext cx="6840537" cy="34766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0      1        2       3     4      5       6      7      8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" name="Text Box 81"/>
          <p:cNvSpPr txBox="1">
            <a:spLocks noChangeArrowheads="1"/>
          </p:cNvSpPr>
          <p:nvPr/>
        </p:nvSpPr>
        <p:spPr bwMode="auto">
          <a:xfrm>
            <a:off x="395288" y="903287"/>
            <a:ext cx="2808287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>
                <a:solidFill>
                  <a:srgbClr val="0033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</a:rPr>
              <a:t>大根堆例子</a:t>
            </a:r>
            <a:endParaRPr kumimoji="1" lang="zh-CN" altLang="en-US" sz="2800" b="1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 autoUpdateAnimBg="0"/>
      <p:bldP spid="14" grpId="0" animBg="1" autoUpdateAnimBg="0"/>
      <p:bldP spid="15" grpId="0" animBg="1" autoUpdateAnimBg="0"/>
      <p:bldP spid="16" grpId="0" animBg="1" autoUpdateAnimBg="0"/>
      <p:bldP spid="17" grpId="0" animBg="1" autoUpdateAnimBg="0"/>
      <p:bldP spid="18" grpId="0" animBg="1" autoUpdateAnimBg="0"/>
      <p:bldP spid="19" grpId="0" animBg="1" autoUpdateAnimBg="0"/>
      <p:bldP spid="20" grpId="0" animBg="1" autoUpdateAnimBg="0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utoUpdateAnimBg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6.4.3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堆排序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057B9-A92B-4D16-BA8C-9CDC49A1E7D2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 Box 77"/>
          <p:cNvSpPr txBox="1">
            <a:spLocks noChangeArrowheads="1"/>
          </p:cNvSpPr>
          <p:nvPr/>
        </p:nvSpPr>
        <p:spPr bwMode="auto">
          <a:xfrm>
            <a:off x="444500" y="1004887"/>
            <a:ext cx="5927725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利用大根堆进行排序的示例演示</a:t>
            </a:r>
            <a:endParaRPr kumimoji="1" lang="zh-CN" altLang="en-US" sz="2800" b="1" dirty="0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38352" y="1752600"/>
            <a:ext cx="8148447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思路：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若将此序列对应的一维数组看成一个完全的二叉树，则堆的含义表明，完全二叉树中所有非终端节点的值均不大于（或不小于）其左右孩子节点的值。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endParaRPr kumimoji="1" lang="zh-CN" altLang="en-US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若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输出堆顶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的最小值后，使得剩余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n-1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个元素的序列重又建成一个堆，则得到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n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个元素的次小值。如此反复执行，便得到一个有序序列，这个过程称为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堆排序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。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6.4.3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堆排序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7D85E-539D-4401-8A88-1D48A0892D33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2"/>
          <p:cNvSpPr>
            <a:spLocks noChangeArrowheads="1"/>
          </p:cNvSpPr>
          <p:nvPr/>
        </p:nvSpPr>
        <p:spPr bwMode="auto">
          <a:xfrm>
            <a:off x="1017588" y="2514600"/>
            <a:ext cx="457200" cy="38100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800" kern="0">
                <a:solidFill>
                  <a:srgbClr val="000000"/>
                </a:solidFill>
                <a:latin typeface="Tahoma" panose="020B0604030504040204" pitchFamily="34" charset="0"/>
                <a:ea typeface="楷体_GB2312" pitchFamily="49" charset="-122"/>
              </a:rPr>
              <a:t>50</a:t>
            </a:r>
            <a:endParaRPr kumimoji="1" lang="en-US" altLang="zh-CN" sz="2800" kern="0">
              <a:solidFill>
                <a:srgbClr val="000000"/>
              </a:solidFill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14" name="Oval 3"/>
          <p:cNvSpPr>
            <a:spLocks noChangeArrowheads="1"/>
          </p:cNvSpPr>
          <p:nvPr/>
        </p:nvSpPr>
        <p:spPr bwMode="auto">
          <a:xfrm>
            <a:off x="1703388" y="1828800"/>
            <a:ext cx="457200" cy="38100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800" kern="0">
                <a:solidFill>
                  <a:srgbClr val="000000"/>
                </a:solidFill>
                <a:latin typeface="Tahoma" panose="020B0604030504040204" pitchFamily="34" charset="0"/>
                <a:ea typeface="楷体_GB2312" pitchFamily="49" charset="-122"/>
              </a:rPr>
              <a:t>87</a:t>
            </a:r>
            <a:endParaRPr kumimoji="1" lang="en-US" altLang="zh-CN" sz="2800" kern="0">
              <a:solidFill>
                <a:srgbClr val="000000"/>
              </a:solidFill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15" name="Oval 4"/>
          <p:cNvSpPr>
            <a:spLocks noChangeArrowheads="1"/>
          </p:cNvSpPr>
          <p:nvPr/>
        </p:nvSpPr>
        <p:spPr bwMode="auto">
          <a:xfrm>
            <a:off x="560388" y="3352800"/>
            <a:ext cx="457200" cy="38100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800" kern="0">
                <a:solidFill>
                  <a:srgbClr val="000000"/>
                </a:solidFill>
                <a:latin typeface="Tahoma" panose="020B0604030504040204" pitchFamily="34" charset="0"/>
                <a:ea typeface="楷体_GB2312" pitchFamily="49" charset="-122"/>
              </a:rPr>
              <a:t>40</a:t>
            </a:r>
            <a:endParaRPr kumimoji="1" lang="en-US" altLang="zh-CN" sz="2800" kern="0">
              <a:solidFill>
                <a:srgbClr val="000000"/>
              </a:solidFill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16" name="Oval 5"/>
          <p:cNvSpPr>
            <a:spLocks noChangeArrowheads="1"/>
          </p:cNvSpPr>
          <p:nvPr/>
        </p:nvSpPr>
        <p:spPr bwMode="auto">
          <a:xfrm>
            <a:off x="1322388" y="3352800"/>
            <a:ext cx="457200" cy="38100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800" kern="0">
                <a:solidFill>
                  <a:srgbClr val="000000"/>
                </a:solidFill>
                <a:latin typeface="Tahoma" panose="020B0604030504040204" pitchFamily="34" charset="0"/>
                <a:ea typeface="楷体_GB2312" pitchFamily="49" charset="-122"/>
              </a:rPr>
              <a:t>30</a:t>
            </a:r>
            <a:endParaRPr kumimoji="1" lang="en-US" altLang="zh-CN" sz="2800" kern="0">
              <a:solidFill>
                <a:srgbClr val="000000"/>
              </a:solidFill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17" name="Oval 6"/>
          <p:cNvSpPr>
            <a:spLocks noChangeArrowheads="1"/>
          </p:cNvSpPr>
          <p:nvPr/>
        </p:nvSpPr>
        <p:spPr bwMode="auto">
          <a:xfrm>
            <a:off x="2465388" y="2514600"/>
            <a:ext cx="457200" cy="38100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800" kern="0">
                <a:solidFill>
                  <a:srgbClr val="000000"/>
                </a:solidFill>
                <a:latin typeface="Tahoma" panose="020B0604030504040204" pitchFamily="34" charset="0"/>
                <a:ea typeface="楷体_GB2312" pitchFamily="49" charset="-122"/>
              </a:rPr>
              <a:t>36</a:t>
            </a:r>
            <a:endParaRPr kumimoji="1" lang="en-US" altLang="zh-CN" sz="2800" kern="0">
              <a:solidFill>
                <a:srgbClr val="000000"/>
              </a:solidFill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18" name="Oval 7"/>
          <p:cNvSpPr>
            <a:spLocks noChangeArrowheads="1"/>
          </p:cNvSpPr>
          <p:nvPr/>
        </p:nvSpPr>
        <p:spPr bwMode="auto">
          <a:xfrm>
            <a:off x="2008188" y="3352800"/>
            <a:ext cx="457200" cy="38100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800" kern="0">
                <a:solidFill>
                  <a:srgbClr val="000000"/>
                </a:solidFill>
                <a:latin typeface="Tahoma" panose="020B0604030504040204" pitchFamily="34" charset="0"/>
                <a:ea typeface="楷体_GB2312" pitchFamily="49" charset="-122"/>
              </a:rPr>
              <a:t>34</a:t>
            </a:r>
            <a:endParaRPr kumimoji="1" lang="en-US" altLang="zh-CN" sz="2800" kern="0">
              <a:solidFill>
                <a:srgbClr val="000000"/>
              </a:solidFill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19" name="Oval 8"/>
          <p:cNvSpPr>
            <a:spLocks noChangeArrowheads="1"/>
          </p:cNvSpPr>
          <p:nvPr/>
        </p:nvSpPr>
        <p:spPr bwMode="auto">
          <a:xfrm>
            <a:off x="3074988" y="3352800"/>
            <a:ext cx="457200" cy="38100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800" kern="0">
                <a:solidFill>
                  <a:srgbClr val="000000"/>
                </a:solidFill>
                <a:latin typeface="Tahoma" panose="020B0604030504040204" pitchFamily="34" charset="0"/>
                <a:ea typeface="楷体_GB2312" pitchFamily="49" charset="-122"/>
              </a:rPr>
              <a:t>12</a:t>
            </a:r>
            <a:endParaRPr kumimoji="1" lang="en-US" altLang="zh-CN" sz="2800" kern="0">
              <a:solidFill>
                <a:srgbClr val="000000"/>
              </a:solidFill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20" name="Oval 9"/>
          <p:cNvSpPr>
            <a:spLocks noChangeArrowheads="1"/>
          </p:cNvSpPr>
          <p:nvPr/>
        </p:nvSpPr>
        <p:spPr bwMode="auto">
          <a:xfrm>
            <a:off x="179388" y="4191000"/>
            <a:ext cx="457200" cy="38100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800" kern="0">
                <a:solidFill>
                  <a:srgbClr val="000000"/>
                </a:solidFill>
                <a:latin typeface="Tahoma" panose="020B0604030504040204" pitchFamily="34" charset="0"/>
                <a:ea typeface="楷体_GB2312" pitchFamily="49" charset="-122"/>
              </a:rPr>
              <a:t>22</a:t>
            </a:r>
            <a:endParaRPr kumimoji="1" lang="en-US" altLang="zh-CN" sz="2800" kern="0">
              <a:solidFill>
                <a:srgbClr val="000000"/>
              </a:solidFill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21" name="Line 10"/>
          <p:cNvSpPr>
            <a:spLocks noChangeShapeType="1"/>
          </p:cNvSpPr>
          <p:nvPr/>
        </p:nvSpPr>
        <p:spPr bwMode="auto">
          <a:xfrm flipH="1">
            <a:off x="1322388" y="2133600"/>
            <a:ext cx="381000" cy="38100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en-US" sz="3000" b="1" kern="0">
              <a:solidFill>
                <a:srgbClr val="66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2" name="Line 11"/>
          <p:cNvSpPr>
            <a:spLocks noChangeShapeType="1"/>
          </p:cNvSpPr>
          <p:nvPr/>
        </p:nvSpPr>
        <p:spPr bwMode="auto">
          <a:xfrm>
            <a:off x="2084388" y="2133600"/>
            <a:ext cx="457200" cy="45720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en-US" sz="3000" b="1" kern="0">
              <a:solidFill>
                <a:srgbClr val="66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3" name="Line 12"/>
          <p:cNvSpPr>
            <a:spLocks noChangeShapeType="1"/>
          </p:cNvSpPr>
          <p:nvPr/>
        </p:nvSpPr>
        <p:spPr bwMode="auto">
          <a:xfrm flipH="1">
            <a:off x="788988" y="2895600"/>
            <a:ext cx="304800" cy="45720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en-US" sz="3000" b="1" kern="0">
              <a:solidFill>
                <a:srgbClr val="66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4" name="Line 13"/>
          <p:cNvSpPr>
            <a:spLocks noChangeShapeType="1"/>
          </p:cNvSpPr>
          <p:nvPr/>
        </p:nvSpPr>
        <p:spPr bwMode="auto">
          <a:xfrm flipH="1">
            <a:off x="407988" y="3733800"/>
            <a:ext cx="228600" cy="45720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en-US" sz="3000" b="1" kern="0">
              <a:solidFill>
                <a:srgbClr val="66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5" name="Line 14"/>
          <p:cNvSpPr>
            <a:spLocks noChangeShapeType="1"/>
          </p:cNvSpPr>
          <p:nvPr/>
        </p:nvSpPr>
        <p:spPr bwMode="auto">
          <a:xfrm>
            <a:off x="1322388" y="2895600"/>
            <a:ext cx="228600" cy="45720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en-US" sz="3000" b="1" kern="0">
              <a:solidFill>
                <a:srgbClr val="66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6" name="Line 15"/>
          <p:cNvSpPr>
            <a:spLocks noChangeShapeType="1"/>
          </p:cNvSpPr>
          <p:nvPr/>
        </p:nvSpPr>
        <p:spPr bwMode="auto">
          <a:xfrm flipH="1">
            <a:off x="2236788" y="2819400"/>
            <a:ext cx="304800" cy="53340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en-US" sz="3000" b="1" kern="0">
              <a:solidFill>
                <a:srgbClr val="66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7" name="Line 16"/>
          <p:cNvSpPr>
            <a:spLocks noChangeShapeType="1"/>
          </p:cNvSpPr>
          <p:nvPr/>
        </p:nvSpPr>
        <p:spPr bwMode="auto">
          <a:xfrm>
            <a:off x="2846388" y="2819400"/>
            <a:ext cx="381000" cy="53340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en-US" sz="3000" b="1" kern="0">
              <a:solidFill>
                <a:srgbClr val="66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8" name="Oval 17"/>
          <p:cNvSpPr>
            <a:spLocks noChangeArrowheads="1"/>
          </p:cNvSpPr>
          <p:nvPr/>
        </p:nvSpPr>
        <p:spPr bwMode="auto">
          <a:xfrm>
            <a:off x="6197600" y="3802063"/>
            <a:ext cx="457200" cy="38100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800" kern="0">
                <a:solidFill>
                  <a:srgbClr val="000000"/>
                </a:solidFill>
                <a:latin typeface="Tahoma" panose="020B0604030504040204" pitchFamily="34" charset="0"/>
                <a:ea typeface="楷体_GB2312" pitchFamily="49" charset="-122"/>
              </a:rPr>
              <a:t>50</a:t>
            </a:r>
            <a:endParaRPr kumimoji="1" lang="en-US" altLang="zh-CN" sz="2800" kern="0">
              <a:solidFill>
                <a:srgbClr val="000000"/>
              </a:solidFill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29" name="Oval 18"/>
          <p:cNvSpPr>
            <a:spLocks noChangeArrowheads="1"/>
          </p:cNvSpPr>
          <p:nvPr/>
        </p:nvSpPr>
        <p:spPr bwMode="auto">
          <a:xfrm>
            <a:off x="6883400" y="3116263"/>
            <a:ext cx="457200" cy="38100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800" kern="0">
                <a:solidFill>
                  <a:srgbClr val="000000"/>
                </a:solidFill>
                <a:latin typeface="Tahoma" panose="020B0604030504040204" pitchFamily="34" charset="0"/>
                <a:ea typeface="楷体_GB2312" pitchFamily="49" charset="-122"/>
              </a:rPr>
              <a:t>22</a:t>
            </a:r>
            <a:endParaRPr kumimoji="1" lang="en-US" altLang="zh-CN" sz="2800" kern="0">
              <a:solidFill>
                <a:srgbClr val="000000"/>
              </a:solidFill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30" name="Oval 19"/>
          <p:cNvSpPr>
            <a:spLocks noChangeArrowheads="1"/>
          </p:cNvSpPr>
          <p:nvPr/>
        </p:nvSpPr>
        <p:spPr bwMode="auto">
          <a:xfrm>
            <a:off x="5740400" y="4640263"/>
            <a:ext cx="457200" cy="38100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800" kern="0">
                <a:solidFill>
                  <a:srgbClr val="000000"/>
                </a:solidFill>
                <a:latin typeface="Tahoma" panose="020B0604030504040204" pitchFamily="34" charset="0"/>
                <a:ea typeface="楷体_GB2312" pitchFamily="49" charset="-122"/>
              </a:rPr>
              <a:t>40</a:t>
            </a:r>
            <a:endParaRPr kumimoji="1" lang="en-US" altLang="zh-CN" sz="2800" kern="0">
              <a:solidFill>
                <a:srgbClr val="000000"/>
              </a:solidFill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31" name="Oval 20"/>
          <p:cNvSpPr>
            <a:spLocks noChangeArrowheads="1"/>
          </p:cNvSpPr>
          <p:nvPr/>
        </p:nvSpPr>
        <p:spPr bwMode="auto">
          <a:xfrm>
            <a:off x="6502400" y="4640263"/>
            <a:ext cx="457200" cy="38100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800" kern="0">
                <a:solidFill>
                  <a:srgbClr val="000000"/>
                </a:solidFill>
                <a:latin typeface="Tahoma" panose="020B0604030504040204" pitchFamily="34" charset="0"/>
                <a:ea typeface="楷体_GB2312" pitchFamily="49" charset="-122"/>
              </a:rPr>
              <a:t>30</a:t>
            </a:r>
            <a:endParaRPr kumimoji="1" lang="en-US" altLang="zh-CN" sz="2800" kern="0">
              <a:solidFill>
                <a:srgbClr val="000000"/>
              </a:solidFill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32" name="Oval 21"/>
          <p:cNvSpPr>
            <a:spLocks noChangeArrowheads="1"/>
          </p:cNvSpPr>
          <p:nvPr/>
        </p:nvSpPr>
        <p:spPr bwMode="auto">
          <a:xfrm>
            <a:off x="7645400" y="3802063"/>
            <a:ext cx="457200" cy="38100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800" kern="0">
                <a:solidFill>
                  <a:srgbClr val="000000"/>
                </a:solidFill>
                <a:latin typeface="Tahoma" panose="020B0604030504040204" pitchFamily="34" charset="0"/>
                <a:ea typeface="楷体_GB2312" pitchFamily="49" charset="-122"/>
              </a:rPr>
              <a:t>36</a:t>
            </a:r>
            <a:endParaRPr kumimoji="1" lang="en-US" altLang="zh-CN" sz="2800" kern="0">
              <a:solidFill>
                <a:srgbClr val="000000"/>
              </a:solidFill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33" name="Oval 22"/>
          <p:cNvSpPr>
            <a:spLocks noChangeArrowheads="1"/>
          </p:cNvSpPr>
          <p:nvPr/>
        </p:nvSpPr>
        <p:spPr bwMode="auto">
          <a:xfrm>
            <a:off x="7188200" y="4640263"/>
            <a:ext cx="457200" cy="38100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800" kern="0">
                <a:solidFill>
                  <a:srgbClr val="000000"/>
                </a:solidFill>
                <a:latin typeface="Tahoma" panose="020B0604030504040204" pitchFamily="34" charset="0"/>
                <a:ea typeface="楷体_GB2312" pitchFamily="49" charset="-122"/>
              </a:rPr>
              <a:t>34</a:t>
            </a:r>
            <a:endParaRPr kumimoji="1" lang="en-US" altLang="zh-CN" sz="2800" kern="0">
              <a:solidFill>
                <a:srgbClr val="000000"/>
              </a:solidFill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34" name="Oval 23"/>
          <p:cNvSpPr>
            <a:spLocks noChangeArrowheads="1"/>
          </p:cNvSpPr>
          <p:nvPr/>
        </p:nvSpPr>
        <p:spPr bwMode="auto">
          <a:xfrm>
            <a:off x="8255000" y="4640263"/>
            <a:ext cx="457200" cy="38100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800" kern="0">
                <a:solidFill>
                  <a:srgbClr val="000000"/>
                </a:solidFill>
                <a:latin typeface="Tahoma" panose="020B0604030504040204" pitchFamily="34" charset="0"/>
                <a:ea typeface="楷体_GB2312" pitchFamily="49" charset="-122"/>
              </a:rPr>
              <a:t>12</a:t>
            </a:r>
            <a:endParaRPr kumimoji="1" lang="en-US" altLang="zh-CN" sz="2800" kern="0">
              <a:solidFill>
                <a:srgbClr val="000000"/>
              </a:solidFill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35" name="Oval 24"/>
          <p:cNvSpPr>
            <a:spLocks noChangeArrowheads="1"/>
          </p:cNvSpPr>
          <p:nvPr/>
        </p:nvSpPr>
        <p:spPr bwMode="auto">
          <a:xfrm>
            <a:off x="5359400" y="5478463"/>
            <a:ext cx="457200" cy="38100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800" kern="0">
                <a:solidFill>
                  <a:srgbClr val="000000"/>
                </a:solidFill>
                <a:latin typeface="Tahoma" panose="020B0604030504040204" pitchFamily="34" charset="0"/>
                <a:ea typeface="楷体_GB2312" pitchFamily="49" charset="-122"/>
              </a:rPr>
              <a:t>87</a:t>
            </a:r>
            <a:endParaRPr kumimoji="1" lang="en-US" altLang="zh-CN" sz="2800" kern="0">
              <a:solidFill>
                <a:srgbClr val="000000"/>
              </a:solidFill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36" name="Line 25"/>
          <p:cNvSpPr>
            <a:spLocks noChangeShapeType="1"/>
          </p:cNvSpPr>
          <p:nvPr/>
        </p:nvSpPr>
        <p:spPr bwMode="auto">
          <a:xfrm flipH="1">
            <a:off x="6502400" y="3421063"/>
            <a:ext cx="381000" cy="38100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en-US" sz="3000" b="1" kern="0">
              <a:solidFill>
                <a:srgbClr val="66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7" name="Line 26"/>
          <p:cNvSpPr>
            <a:spLocks noChangeShapeType="1"/>
          </p:cNvSpPr>
          <p:nvPr/>
        </p:nvSpPr>
        <p:spPr bwMode="auto">
          <a:xfrm>
            <a:off x="7264400" y="3421063"/>
            <a:ext cx="457200" cy="45720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en-US" sz="3000" b="1" kern="0">
              <a:solidFill>
                <a:srgbClr val="66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8" name="Line 27"/>
          <p:cNvSpPr>
            <a:spLocks noChangeShapeType="1"/>
          </p:cNvSpPr>
          <p:nvPr/>
        </p:nvSpPr>
        <p:spPr bwMode="auto">
          <a:xfrm flipH="1">
            <a:off x="5969000" y="4183063"/>
            <a:ext cx="304800" cy="45720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en-US" sz="3000" b="1" kern="0">
              <a:solidFill>
                <a:srgbClr val="66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9" name="Line 28"/>
          <p:cNvSpPr>
            <a:spLocks noChangeShapeType="1"/>
          </p:cNvSpPr>
          <p:nvPr/>
        </p:nvSpPr>
        <p:spPr bwMode="auto">
          <a:xfrm flipH="1">
            <a:off x="5588000" y="5021263"/>
            <a:ext cx="228600" cy="45720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en-US" sz="3000" b="1" kern="0">
              <a:solidFill>
                <a:srgbClr val="66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0" name="Line 29"/>
          <p:cNvSpPr>
            <a:spLocks noChangeShapeType="1"/>
          </p:cNvSpPr>
          <p:nvPr/>
        </p:nvSpPr>
        <p:spPr bwMode="auto">
          <a:xfrm>
            <a:off x="6502400" y="4183063"/>
            <a:ext cx="228600" cy="45720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en-US" sz="3000" b="1" kern="0">
              <a:solidFill>
                <a:srgbClr val="66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1" name="Line 30"/>
          <p:cNvSpPr>
            <a:spLocks noChangeShapeType="1"/>
          </p:cNvSpPr>
          <p:nvPr/>
        </p:nvSpPr>
        <p:spPr bwMode="auto">
          <a:xfrm flipH="1">
            <a:off x="7416800" y="4106863"/>
            <a:ext cx="304800" cy="53340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en-US" sz="3000" b="1" kern="0">
              <a:solidFill>
                <a:srgbClr val="66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2" name="Line 31"/>
          <p:cNvSpPr>
            <a:spLocks noChangeShapeType="1"/>
          </p:cNvSpPr>
          <p:nvPr/>
        </p:nvSpPr>
        <p:spPr bwMode="auto">
          <a:xfrm>
            <a:off x="8026400" y="4106863"/>
            <a:ext cx="381000" cy="53340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en-US" sz="3000" b="1" kern="0">
              <a:solidFill>
                <a:srgbClr val="66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3" name="Oval 32"/>
          <p:cNvSpPr>
            <a:spLocks noChangeArrowheads="1"/>
          </p:cNvSpPr>
          <p:nvPr/>
        </p:nvSpPr>
        <p:spPr bwMode="auto">
          <a:xfrm>
            <a:off x="5327650" y="2971800"/>
            <a:ext cx="3816350" cy="252095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zh-CN" sz="2800" b="1" kern="0">
              <a:solidFill>
                <a:srgbClr val="CCECFF"/>
              </a:solidFill>
              <a:effectDag name="">
                <a:cont type="tree" name="">
                  <a:effect ref="fillLine"/>
                  <a:outerShdw dist="38100" dir="13500000" algn="br">
                    <a:srgbClr val="DDF3FF"/>
                  </a:outerShdw>
                </a:cont>
                <a:cont type="tree" name="">
                  <a:effect ref="fillLine"/>
                  <a:outerShdw dist="38100" dir="2700000" algn="tl">
                    <a:srgbClr val="7A8D99"/>
                  </a:outerShdw>
                </a:cont>
                <a:effect ref="fillLine"/>
              </a:effectDag>
              <a:latin typeface="华文楷体" panose="02010600040101010101" pitchFamily="2" charset="-122"/>
            </a:endParaRPr>
          </a:p>
        </p:txBody>
      </p:sp>
      <p:graphicFrame>
        <p:nvGraphicFramePr>
          <p:cNvPr id="44" name="Group 83"/>
          <p:cNvGraphicFramePr>
            <a:graphicFrameLocks noGrp="1"/>
          </p:cNvGraphicFramePr>
          <p:nvPr/>
        </p:nvGraphicFramePr>
        <p:xfrm>
          <a:off x="3132138" y="1676400"/>
          <a:ext cx="5832475" cy="457200"/>
        </p:xfrm>
        <a:graphic>
          <a:graphicData uri="http://schemas.openxmlformats.org/drawingml/2006/table">
            <a:tbl>
              <a:tblPr/>
              <a:tblGrid>
                <a:gridCol w="646112"/>
                <a:gridCol w="650875"/>
                <a:gridCol w="646113"/>
                <a:gridCol w="649287"/>
                <a:gridCol w="647700"/>
                <a:gridCol w="649288"/>
                <a:gridCol w="646112"/>
                <a:gridCol w="650875"/>
                <a:gridCol w="646113"/>
              </a:tblGrid>
              <a:tr h="4318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tantia" panose="02030602050306030303" pitchFamily="18" charset="0"/>
                          <a:ea typeface="宋体" panose="02010600030101010101" pitchFamily="2" charset="-122"/>
                        </a:rPr>
                        <a:t>  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F6FC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tantia" panose="02030602050306030303" pitchFamily="18" charset="0"/>
                          <a:ea typeface="宋体" panose="02010600030101010101" pitchFamily="2" charset="-122"/>
                        </a:rPr>
                        <a:t>87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tantia" panose="02030602050306030303" pitchFamily="18" charset="0"/>
                          <a:ea typeface="宋体" panose="02010600030101010101" pitchFamily="2" charset="-122"/>
                        </a:rPr>
                        <a:t>50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tantia" panose="02030602050306030303" pitchFamily="18" charset="0"/>
                          <a:ea typeface="宋体" panose="02010600030101010101" pitchFamily="2" charset="-122"/>
                        </a:rPr>
                        <a:t>36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tantia" panose="02030602050306030303" pitchFamily="18" charset="0"/>
                          <a:ea typeface="宋体" panose="02010600030101010101" pitchFamily="2" charset="-122"/>
                        </a:rPr>
                        <a:t>40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tantia" panose="02030602050306030303" pitchFamily="18" charset="0"/>
                          <a:ea typeface="宋体" panose="02010600030101010101" pitchFamily="2" charset="-122"/>
                        </a:rPr>
                        <a:t>30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tantia" panose="02030602050306030303" pitchFamily="18" charset="0"/>
                          <a:ea typeface="宋体" panose="02010600030101010101" pitchFamily="2" charset="-122"/>
                        </a:rPr>
                        <a:t>34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tantia" panose="02030602050306030303" pitchFamily="18" charset="0"/>
                          <a:ea typeface="宋体" panose="02010600030101010101" pitchFamily="2" charset="-122"/>
                        </a:rPr>
                        <a:t>12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tantia" panose="02030602050306030303" pitchFamily="18" charset="0"/>
                          <a:ea typeface="宋体" panose="02010600030101010101" pitchFamily="2" charset="-122"/>
                        </a:rPr>
                        <a:t>22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5" name="Group 84"/>
          <p:cNvGraphicFramePr>
            <a:graphicFrameLocks noGrp="1"/>
          </p:cNvGraphicFramePr>
          <p:nvPr/>
        </p:nvGraphicFramePr>
        <p:xfrm>
          <a:off x="3203575" y="2395538"/>
          <a:ext cx="5761038" cy="457200"/>
        </p:xfrm>
        <a:graphic>
          <a:graphicData uri="http://schemas.openxmlformats.org/drawingml/2006/table">
            <a:tbl>
              <a:tblPr/>
              <a:tblGrid>
                <a:gridCol w="638175"/>
                <a:gridCol w="642938"/>
                <a:gridCol w="638175"/>
                <a:gridCol w="641350"/>
                <a:gridCol w="639762"/>
                <a:gridCol w="641350"/>
                <a:gridCol w="638175"/>
                <a:gridCol w="642938"/>
                <a:gridCol w="638175"/>
              </a:tblGrid>
              <a:tr h="4476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tantia" panose="02030602050306030303" pitchFamily="18" charset="0"/>
                          <a:ea typeface="宋体" panose="02010600030101010101" pitchFamily="2" charset="-122"/>
                        </a:rPr>
                        <a:t>  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F6FC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tantia" panose="02030602050306030303" pitchFamily="18" charset="0"/>
                          <a:ea typeface="宋体" panose="02010600030101010101" pitchFamily="2" charset="-122"/>
                        </a:rPr>
                        <a:t>22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tantia" panose="02030602050306030303" pitchFamily="18" charset="0"/>
                          <a:ea typeface="宋体" panose="02010600030101010101" pitchFamily="2" charset="-122"/>
                        </a:rPr>
                        <a:t>50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tantia" panose="02030602050306030303" pitchFamily="18" charset="0"/>
                          <a:ea typeface="宋体" panose="02010600030101010101" pitchFamily="2" charset="-122"/>
                        </a:rPr>
                        <a:t>36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tantia" panose="02030602050306030303" pitchFamily="18" charset="0"/>
                          <a:ea typeface="宋体" panose="02010600030101010101" pitchFamily="2" charset="-122"/>
                        </a:rPr>
                        <a:t>40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tantia" panose="02030602050306030303" pitchFamily="18" charset="0"/>
                          <a:ea typeface="宋体" panose="02010600030101010101" pitchFamily="2" charset="-122"/>
                        </a:rPr>
                        <a:t>30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tantia" panose="02030602050306030303" pitchFamily="18" charset="0"/>
                          <a:ea typeface="宋体" panose="02010600030101010101" pitchFamily="2" charset="-122"/>
                        </a:rPr>
                        <a:t>34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tantia" panose="02030602050306030303" pitchFamily="18" charset="0"/>
                          <a:ea typeface="宋体" panose="02010600030101010101" pitchFamily="2" charset="-122"/>
                        </a:rPr>
                        <a:t>12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tantia" panose="02030602050306030303" pitchFamily="18" charset="0"/>
                          <a:ea typeface="宋体" panose="02010600030101010101" pitchFamily="2" charset="-122"/>
                        </a:rPr>
                        <a:t>87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6" name="Text Box 77"/>
          <p:cNvSpPr txBox="1">
            <a:spLocks noChangeArrowheads="1"/>
          </p:cNvSpPr>
          <p:nvPr/>
        </p:nvSpPr>
        <p:spPr bwMode="auto">
          <a:xfrm>
            <a:off x="444500" y="1004887"/>
            <a:ext cx="5927725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利用大根堆进行排序的示例演示</a:t>
            </a:r>
            <a:endParaRPr kumimoji="1" lang="zh-CN" altLang="en-US" sz="2800" b="1" dirty="0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6.4.3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堆排序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9EA32-4E11-49F6-AA48-235BE0496080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17"/>
          <p:cNvSpPr>
            <a:spLocks noChangeArrowheads="1"/>
          </p:cNvSpPr>
          <p:nvPr/>
        </p:nvSpPr>
        <p:spPr bwMode="auto">
          <a:xfrm>
            <a:off x="6197600" y="3802063"/>
            <a:ext cx="457200" cy="38100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800" kern="0">
                <a:solidFill>
                  <a:srgbClr val="000000"/>
                </a:solidFill>
                <a:latin typeface="Tahoma" panose="020B0604030504040204" pitchFamily="34" charset="0"/>
                <a:ea typeface="楷体_GB2312" pitchFamily="49" charset="-122"/>
              </a:rPr>
              <a:t>50</a:t>
            </a:r>
            <a:endParaRPr kumimoji="1" lang="en-US" altLang="zh-CN" sz="2800" kern="0">
              <a:solidFill>
                <a:srgbClr val="000000"/>
              </a:solidFill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29" name="Oval 18"/>
          <p:cNvSpPr>
            <a:spLocks noChangeArrowheads="1"/>
          </p:cNvSpPr>
          <p:nvPr/>
        </p:nvSpPr>
        <p:spPr bwMode="auto">
          <a:xfrm>
            <a:off x="6883400" y="3116263"/>
            <a:ext cx="457200" cy="38100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800" kern="0">
                <a:solidFill>
                  <a:srgbClr val="000000"/>
                </a:solidFill>
                <a:latin typeface="Tahoma" panose="020B0604030504040204" pitchFamily="34" charset="0"/>
                <a:ea typeface="楷体_GB2312" pitchFamily="49" charset="-122"/>
              </a:rPr>
              <a:t>22</a:t>
            </a:r>
            <a:endParaRPr kumimoji="1" lang="en-US" altLang="zh-CN" sz="2800" kern="0">
              <a:solidFill>
                <a:srgbClr val="000000"/>
              </a:solidFill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30" name="Oval 19"/>
          <p:cNvSpPr>
            <a:spLocks noChangeArrowheads="1"/>
          </p:cNvSpPr>
          <p:nvPr/>
        </p:nvSpPr>
        <p:spPr bwMode="auto">
          <a:xfrm>
            <a:off x="5740400" y="4640263"/>
            <a:ext cx="457200" cy="38100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800" kern="0">
                <a:solidFill>
                  <a:srgbClr val="000000"/>
                </a:solidFill>
                <a:latin typeface="Tahoma" panose="020B0604030504040204" pitchFamily="34" charset="0"/>
                <a:ea typeface="楷体_GB2312" pitchFamily="49" charset="-122"/>
              </a:rPr>
              <a:t>40</a:t>
            </a:r>
            <a:endParaRPr kumimoji="1" lang="en-US" altLang="zh-CN" sz="2800" kern="0">
              <a:solidFill>
                <a:srgbClr val="000000"/>
              </a:solidFill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31" name="Oval 20"/>
          <p:cNvSpPr>
            <a:spLocks noChangeArrowheads="1"/>
          </p:cNvSpPr>
          <p:nvPr/>
        </p:nvSpPr>
        <p:spPr bwMode="auto">
          <a:xfrm>
            <a:off x="6502400" y="4640263"/>
            <a:ext cx="457200" cy="38100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800" kern="0">
                <a:solidFill>
                  <a:srgbClr val="000000"/>
                </a:solidFill>
                <a:latin typeface="Tahoma" panose="020B0604030504040204" pitchFamily="34" charset="0"/>
                <a:ea typeface="楷体_GB2312" pitchFamily="49" charset="-122"/>
              </a:rPr>
              <a:t>30</a:t>
            </a:r>
            <a:endParaRPr kumimoji="1" lang="en-US" altLang="zh-CN" sz="2800" kern="0">
              <a:solidFill>
                <a:srgbClr val="000000"/>
              </a:solidFill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32" name="Oval 21"/>
          <p:cNvSpPr>
            <a:spLocks noChangeArrowheads="1"/>
          </p:cNvSpPr>
          <p:nvPr/>
        </p:nvSpPr>
        <p:spPr bwMode="auto">
          <a:xfrm>
            <a:off x="7645400" y="3802063"/>
            <a:ext cx="457200" cy="38100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800" kern="0">
                <a:solidFill>
                  <a:srgbClr val="000000"/>
                </a:solidFill>
                <a:latin typeface="Tahoma" panose="020B0604030504040204" pitchFamily="34" charset="0"/>
                <a:ea typeface="楷体_GB2312" pitchFamily="49" charset="-122"/>
              </a:rPr>
              <a:t>36</a:t>
            </a:r>
            <a:endParaRPr kumimoji="1" lang="en-US" altLang="zh-CN" sz="2800" kern="0">
              <a:solidFill>
                <a:srgbClr val="000000"/>
              </a:solidFill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33" name="Oval 22"/>
          <p:cNvSpPr>
            <a:spLocks noChangeArrowheads="1"/>
          </p:cNvSpPr>
          <p:nvPr/>
        </p:nvSpPr>
        <p:spPr bwMode="auto">
          <a:xfrm>
            <a:off x="7188200" y="4640263"/>
            <a:ext cx="457200" cy="38100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800" kern="0">
                <a:solidFill>
                  <a:srgbClr val="000000"/>
                </a:solidFill>
                <a:latin typeface="Tahoma" panose="020B0604030504040204" pitchFamily="34" charset="0"/>
                <a:ea typeface="楷体_GB2312" pitchFamily="49" charset="-122"/>
              </a:rPr>
              <a:t>34</a:t>
            </a:r>
            <a:endParaRPr kumimoji="1" lang="en-US" altLang="zh-CN" sz="2800" kern="0">
              <a:solidFill>
                <a:srgbClr val="000000"/>
              </a:solidFill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34" name="Oval 23"/>
          <p:cNvSpPr>
            <a:spLocks noChangeArrowheads="1"/>
          </p:cNvSpPr>
          <p:nvPr/>
        </p:nvSpPr>
        <p:spPr bwMode="auto">
          <a:xfrm>
            <a:off x="8255000" y="4640263"/>
            <a:ext cx="457200" cy="38100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800" kern="0">
                <a:solidFill>
                  <a:srgbClr val="000000"/>
                </a:solidFill>
                <a:latin typeface="Tahoma" panose="020B0604030504040204" pitchFamily="34" charset="0"/>
                <a:ea typeface="楷体_GB2312" pitchFamily="49" charset="-122"/>
              </a:rPr>
              <a:t>12</a:t>
            </a:r>
            <a:endParaRPr kumimoji="1" lang="en-US" altLang="zh-CN" sz="2800" kern="0">
              <a:solidFill>
                <a:srgbClr val="000000"/>
              </a:solidFill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35" name="Oval 24"/>
          <p:cNvSpPr>
            <a:spLocks noChangeArrowheads="1"/>
          </p:cNvSpPr>
          <p:nvPr/>
        </p:nvSpPr>
        <p:spPr bwMode="auto">
          <a:xfrm>
            <a:off x="5359400" y="5478463"/>
            <a:ext cx="457200" cy="38100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800" kern="0">
                <a:solidFill>
                  <a:srgbClr val="000000"/>
                </a:solidFill>
                <a:latin typeface="Tahoma" panose="020B0604030504040204" pitchFamily="34" charset="0"/>
                <a:ea typeface="楷体_GB2312" pitchFamily="49" charset="-122"/>
              </a:rPr>
              <a:t>87</a:t>
            </a:r>
            <a:endParaRPr kumimoji="1" lang="en-US" altLang="zh-CN" sz="2800" kern="0">
              <a:solidFill>
                <a:srgbClr val="000000"/>
              </a:solidFill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36" name="Line 25"/>
          <p:cNvSpPr>
            <a:spLocks noChangeShapeType="1"/>
          </p:cNvSpPr>
          <p:nvPr/>
        </p:nvSpPr>
        <p:spPr bwMode="auto">
          <a:xfrm flipH="1">
            <a:off x="6502400" y="3421063"/>
            <a:ext cx="381000" cy="38100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en-US" sz="3000" b="1" kern="0">
              <a:solidFill>
                <a:srgbClr val="66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7" name="Line 26"/>
          <p:cNvSpPr>
            <a:spLocks noChangeShapeType="1"/>
          </p:cNvSpPr>
          <p:nvPr/>
        </p:nvSpPr>
        <p:spPr bwMode="auto">
          <a:xfrm>
            <a:off x="7264400" y="3421063"/>
            <a:ext cx="457200" cy="45720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en-US" sz="3000" b="1" kern="0">
              <a:solidFill>
                <a:srgbClr val="66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8" name="Line 27"/>
          <p:cNvSpPr>
            <a:spLocks noChangeShapeType="1"/>
          </p:cNvSpPr>
          <p:nvPr/>
        </p:nvSpPr>
        <p:spPr bwMode="auto">
          <a:xfrm flipH="1">
            <a:off x="5969000" y="4183063"/>
            <a:ext cx="304800" cy="45720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en-US" sz="3000" b="1" kern="0">
              <a:solidFill>
                <a:srgbClr val="66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9" name="Line 28"/>
          <p:cNvSpPr>
            <a:spLocks noChangeShapeType="1"/>
          </p:cNvSpPr>
          <p:nvPr/>
        </p:nvSpPr>
        <p:spPr bwMode="auto">
          <a:xfrm flipH="1">
            <a:off x="5588000" y="5021263"/>
            <a:ext cx="228600" cy="45720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en-US" sz="3000" b="1" kern="0">
              <a:solidFill>
                <a:srgbClr val="66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0" name="Line 29"/>
          <p:cNvSpPr>
            <a:spLocks noChangeShapeType="1"/>
          </p:cNvSpPr>
          <p:nvPr/>
        </p:nvSpPr>
        <p:spPr bwMode="auto">
          <a:xfrm>
            <a:off x="6502400" y="4183063"/>
            <a:ext cx="228600" cy="45720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en-US" sz="3000" b="1" kern="0">
              <a:solidFill>
                <a:srgbClr val="66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1" name="Line 30"/>
          <p:cNvSpPr>
            <a:spLocks noChangeShapeType="1"/>
          </p:cNvSpPr>
          <p:nvPr/>
        </p:nvSpPr>
        <p:spPr bwMode="auto">
          <a:xfrm flipH="1">
            <a:off x="7416800" y="4106863"/>
            <a:ext cx="304800" cy="53340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en-US" sz="3000" b="1" kern="0">
              <a:solidFill>
                <a:srgbClr val="66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2" name="Line 31"/>
          <p:cNvSpPr>
            <a:spLocks noChangeShapeType="1"/>
          </p:cNvSpPr>
          <p:nvPr/>
        </p:nvSpPr>
        <p:spPr bwMode="auto">
          <a:xfrm>
            <a:off x="8026400" y="4106863"/>
            <a:ext cx="381000" cy="53340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en-US" sz="3000" b="1" kern="0">
              <a:solidFill>
                <a:srgbClr val="66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3" name="Oval 32"/>
          <p:cNvSpPr>
            <a:spLocks noChangeArrowheads="1"/>
          </p:cNvSpPr>
          <p:nvPr/>
        </p:nvSpPr>
        <p:spPr bwMode="auto">
          <a:xfrm>
            <a:off x="5327650" y="2971800"/>
            <a:ext cx="3816350" cy="252095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zh-CN" sz="2800" b="1" kern="0">
              <a:solidFill>
                <a:srgbClr val="CCECFF"/>
              </a:solidFill>
              <a:effectDag name="">
                <a:cont type="tree" name="">
                  <a:effect ref="fillLine"/>
                  <a:outerShdw dist="38100" dir="13500000" algn="br">
                    <a:srgbClr val="DDF3FF"/>
                  </a:outerShdw>
                </a:cont>
                <a:cont type="tree" name="">
                  <a:effect ref="fillLine"/>
                  <a:outerShdw dist="38100" dir="2700000" algn="tl">
                    <a:srgbClr val="7A8D99"/>
                  </a:outerShdw>
                </a:cont>
                <a:effect ref="fillLine"/>
              </a:effectDag>
              <a:latin typeface="华文楷体" panose="02010600040101010101" pitchFamily="2" charset="-122"/>
            </a:endParaRPr>
          </a:p>
        </p:txBody>
      </p:sp>
      <p:graphicFrame>
        <p:nvGraphicFramePr>
          <p:cNvPr id="45" name="Group 84"/>
          <p:cNvGraphicFramePr>
            <a:graphicFrameLocks noGrp="1"/>
          </p:cNvGraphicFramePr>
          <p:nvPr/>
        </p:nvGraphicFramePr>
        <p:xfrm>
          <a:off x="3203575" y="1828800"/>
          <a:ext cx="5761038" cy="457200"/>
        </p:xfrm>
        <a:graphic>
          <a:graphicData uri="http://schemas.openxmlformats.org/drawingml/2006/table">
            <a:tbl>
              <a:tblPr/>
              <a:tblGrid>
                <a:gridCol w="638175"/>
                <a:gridCol w="642938"/>
                <a:gridCol w="638175"/>
                <a:gridCol w="641350"/>
                <a:gridCol w="639762"/>
                <a:gridCol w="641350"/>
                <a:gridCol w="638175"/>
                <a:gridCol w="642938"/>
                <a:gridCol w="638175"/>
              </a:tblGrid>
              <a:tr h="4476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tantia" panose="02030602050306030303" pitchFamily="18" charset="0"/>
                          <a:ea typeface="宋体" panose="02010600030101010101" pitchFamily="2" charset="-122"/>
                        </a:rPr>
                        <a:t>  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F6FC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tantia" panose="02030602050306030303" pitchFamily="18" charset="0"/>
                          <a:ea typeface="宋体" panose="02010600030101010101" pitchFamily="2" charset="-122"/>
                        </a:rPr>
                        <a:t>22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tantia" panose="02030602050306030303" pitchFamily="18" charset="0"/>
                          <a:ea typeface="宋体" panose="02010600030101010101" pitchFamily="2" charset="-122"/>
                        </a:rPr>
                        <a:t>50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tantia" panose="02030602050306030303" pitchFamily="18" charset="0"/>
                          <a:ea typeface="宋体" panose="02010600030101010101" pitchFamily="2" charset="-122"/>
                        </a:rPr>
                        <a:t>36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tantia" panose="02030602050306030303" pitchFamily="18" charset="0"/>
                          <a:ea typeface="宋体" panose="02010600030101010101" pitchFamily="2" charset="-122"/>
                        </a:rPr>
                        <a:t>40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tantia" panose="02030602050306030303" pitchFamily="18" charset="0"/>
                          <a:ea typeface="宋体" panose="02010600030101010101" pitchFamily="2" charset="-122"/>
                        </a:rPr>
                        <a:t>30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tantia" panose="02030602050306030303" pitchFamily="18" charset="0"/>
                          <a:ea typeface="宋体" panose="02010600030101010101" pitchFamily="2" charset="-122"/>
                        </a:rPr>
                        <a:t>34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tantia" panose="02030602050306030303" pitchFamily="18" charset="0"/>
                          <a:ea typeface="宋体" panose="02010600030101010101" pitchFamily="2" charset="-122"/>
                        </a:rPr>
                        <a:t>12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tantia" panose="02030602050306030303" pitchFamily="18" charset="0"/>
                          <a:ea typeface="宋体" panose="02010600030101010101" pitchFamily="2" charset="-122"/>
                        </a:rPr>
                        <a:t>87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6" name="Text Box 77"/>
          <p:cNvSpPr txBox="1">
            <a:spLocks noChangeArrowheads="1"/>
          </p:cNvSpPr>
          <p:nvPr/>
        </p:nvSpPr>
        <p:spPr bwMode="auto">
          <a:xfrm>
            <a:off x="444500" y="1004887"/>
            <a:ext cx="5927725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利用大根堆进行排序的示例演示</a:t>
            </a:r>
            <a:endParaRPr kumimoji="1" lang="zh-CN" altLang="en-US" sz="2800" b="1" dirty="0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04800" y="2133600"/>
            <a:ext cx="502285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prstClr val="black"/>
                </a:solidFill>
              </a:rPr>
              <a:t>思路：</a:t>
            </a:r>
            <a:endParaRPr lang="en-US" altLang="zh-CN" sz="2000" b="1" dirty="0">
              <a:solidFill>
                <a:prstClr val="black"/>
              </a:solidFill>
            </a:endParaRPr>
          </a:p>
          <a:p>
            <a:endParaRPr lang="en-US" altLang="zh-CN" sz="2000" b="1" dirty="0">
              <a:solidFill>
                <a:prstClr val="black"/>
              </a:solidFill>
            </a:endParaRPr>
          </a:p>
          <a:p>
            <a:r>
              <a:rPr lang="en-US" altLang="zh-CN" sz="2000" b="1" dirty="0">
                <a:solidFill>
                  <a:prstClr val="black"/>
                </a:solidFill>
              </a:rPr>
              <a:t>87</a:t>
            </a:r>
            <a:r>
              <a:rPr lang="zh-CN" altLang="en-US" sz="2000" b="1" dirty="0">
                <a:solidFill>
                  <a:prstClr val="black"/>
                </a:solidFill>
              </a:rPr>
              <a:t>是最大值，放在数组的尾端，和尾端元素</a:t>
            </a:r>
            <a:r>
              <a:rPr lang="en-US" altLang="zh-CN" sz="2000" b="1" dirty="0">
                <a:solidFill>
                  <a:prstClr val="black"/>
                </a:solidFill>
              </a:rPr>
              <a:t>22</a:t>
            </a:r>
            <a:r>
              <a:rPr lang="zh-CN" altLang="en-US" sz="2000" b="1" dirty="0">
                <a:solidFill>
                  <a:prstClr val="black"/>
                </a:solidFill>
              </a:rPr>
              <a:t>进行交换，形成新的二叉树，如果这时候输出</a:t>
            </a:r>
            <a:r>
              <a:rPr lang="en-US" altLang="zh-CN" sz="2000" b="1" dirty="0">
                <a:solidFill>
                  <a:prstClr val="black"/>
                </a:solidFill>
              </a:rPr>
              <a:t>87</a:t>
            </a:r>
            <a:r>
              <a:rPr lang="zh-CN" altLang="en-US" sz="2000" b="1" dirty="0">
                <a:solidFill>
                  <a:prstClr val="black"/>
                </a:solidFill>
              </a:rPr>
              <a:t>，剩余的序列如何构成一个大根堆呢？</a:t>
            </a:r>
            <a:endParaRPr lang="zh-CN" altLang="en-US" sz="2000" b="1" dirty="0">
              <a:solidFill>
                <a:prstClr val="black"/>
              </a:solidFill>
            </a:endParaRPr>
          </a:p>
          <a:p>
            <a:endParaRPr lang="en-US" altLang="zh-CN" sz="2000" b="1" dirty="0">
              <a:solidFill>
                <a:prstClr val="black"/>
              </a:solidFill>
            </a:endParaRPr>
          </a:p>
          <a:p>
            <a:r>
              <a:rPr lang="zh-CN" altLang="en-US" sz="2000" b="1" dirty="0">
                <a:solidFill>
                  <a:prstClr val="black"/>
                </a:solidFill>
              </a:rPr>
              <a:t>此时根节点的左右子树均为堆，则仅需自上而下进行调整即可。首先以堆顶元素和其左右子树根节点的值比较，由于左子树根节点的值大于右子树根节点的值，且大于根节点</a:t>
            </a:r>
            <a:r>
              <a:rPr lang="en-US" altLang="zh-CN" sz="2000" b="1" dirty="0">
                <a:solidFill>
                  <a:prstClr val="black"/>
                </a:solidFill>
              </a:rPr>
              <a:t>22</a:t>
            </a:r>
            <a:r>
              <a:rPr lang="zh-CN" altLang="en-US" sz="2000" b="1" dirty="0">
                <a:solidFill>
                  <a:prstClr val="black"/>
                </a:solidFill>
              </a:rPr>
              <a:t>，所以</a:t>
            </a:r>
            <a:r>
              <a:rPr lang="en-US" altLang="zh-CN" sz="2000" b="1" dirty="0">
                <a:solidFill>
                  <a:prstClr val="black"/>
                </a:solidFill>
              </a:rPr>
              <a:t>50</a:t>
            </a:r>
            <a:r>
              <a:rPr lang="zh-CN" altLang="en-US" sz="2000" b="1" dirty="0">
                <a:solidFill>
                  <a:prstClr val="black"/>
                </a:solidFill>
              </a:rPr>
              <a:t>和</a:t>
            </a:r>
            <a:r>
              <a:rPr lang="en-US" altLang="zh-CN" sz="2000" b="1" dirty="0">
                <a:solidFill>
                  <a:prstClr val="black"/>
                </a:solidFill>
              </a:rPr>
              <a:t>22</a:t>
            </a:r>
            <a:r>
              <a:rPr lang="zh-CN" altLang="en-US" sz="2000" b="1" dirty="0">
                <a:solidFill>
                  <a:prstClr val="black"/>
                </a:solidFill>
              </a:rPr>
              <a:t>交换；然后再交换</a:t>
            </a:r>
            <a:r>
              <a:rPr lang="en-US" altLang="zh-CN" sz="2000" b="1" dirty="0">
                <a:solidFill>
                  <a:prstClr val="black"/>
                </a:solidFill>
              </a:rPr>
              <a:t>40</a:t>
            </a:r>
            <a:r>
              <a:rPr lang="zh-CN" altLang="en-US" sz="2000" b="1" dirty="0">
                <a:solidFill>
                  <a:prstClr val="black"/>
                </a:solidFill>
              </a:rPr>
              <a:t>和</a:t>
            </a:r>
            <a:r>
              <a:rPr lang="en-US" altLang="zh-CN" sz="2000" b="1" dirty="0">
                <a:solidFill>
                  <a:prstClr val="black"/>
                </a:solidFill>
              </a:rPr>
              <a:t>22</a:t>
            </a:r>
            <a:r>
              <a:rPr lang="zh-CN" altLang="en-US" sz="2000" b="1" dirty="0">
                <a:solidFill>
                  <a:prstClr val="black"/>
                </a:solidFill>
              </a:rPr>
              <a:t>，形成新的大根堆。</a:t>
            </a:r>
            <a:endParaRPr lang="zh-CN" altLang="en-US" sz="2000" b="1" dirty="0">
              <a:solidFill>
                <a:prstClr val="black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6.4.3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堆排序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15F31-6EAA-417D-913B-407A11D9F32E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920750" y="2228850"/>
            <a:ext cx="7467600" cy="257175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     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堆排序需解决两个问题：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     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(1) 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由一个无序序列建成一个堆。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     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(2) 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在输出堆顶元素之后，调整剩余元素成为一个新的堆。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" name="Text Box 6"/>
          <p:cNvSpPr txBox="1">
            <a:spLocks noChangeArrowheads="1"/>
          </p:cNvSpPr>
          <p:nvPr/>
        </p:nvSpPr>
        <p:spPr bwMode="auto">
          <a:xfrm>
            <a:off x="468313" y="989012"/>
            <a:ext cx="5927725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>
                <a:solidFill>
                  <a:srgbClr val="0033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</a:rPr>
              <a:t>堆排序的思想</a:t>
            </a:r>
            <a:endParaRPr kumimoji="1" lang="zh-CN" altLang="en-US" sz="2800" b="1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6.4.3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堆排序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69D0D-DF57-4ECE-9843-404C7C24C7BC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468313" y="933450"/>
            <a:ext cx="6696075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>
                <a:solidFill>
                  <a:srgbClr val="0033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</a:rPr>
              <a:t>堆排序的算法</a:t>
            </a:r>
            <a:r>
              <a:rPr kumimoji="1" lang="en-US" altLang="zh-CN" sz="2800" b="1">
                <a:solidFill>
                  <a:srgbClr val="003300"/>
                </a:solidFill>
                <a:latin typeface="Times New Roman" panose="02020603050405020304" pitchFamily="18" charset="0"/>
              </a:rPr>
              <a:t>(</a:t>
            </a: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</a:rPr>
              <a:t>采用大根堆</a:t>
            </a:r>
            <a:r>
              <a:rPr kumimoji="1" lang="en-US" altLang="zh-CN" sz="2800" b="1">
                <a:solidFill>
                  <a:srgbClr val="003300"/>
                </a:solidFill>
                <a:latin typeface="Times New Roman" panose="02020603050405020304" pitchFamily="18" charset="0"/>
              </a:rPr>
              <a:t>)</a:t>
            </a:r>
            <a:endParaRPr kumimoji="1" lang="en-US" altLang="zh-CN" sz="2800" b="1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" name="Text Box 6"/>
          <p:cNvSpPr txBox="1">
            <a:spLocks noChangeArrowheads="1"/>
          </p:cNvSpPr>
          <p:nvPr/>
        </p:nvSpPr>
        <p:spPr bwMode="auto">
          <a:xfrm>
            <a:off x="1116013" y="1582738"/>
            <a:ext cx="6696075" cy="46656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lnSpc>
                <a:spcPct val="130000"/>
              </a:lnSpc>
              <a:spcBef>
                <a:spcPct val="1000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(1)</a:t>
            </a:r>
            <a:r>
              <a:rPr kumimoji="1" lang="en-US" altLang="zh-CN" sz="2800" b="1" dirty="0">
                <a:solidFill>
                  <a:srgbClr val="FF0066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按关键字建立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A[1],A[2],…A[n]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的大根堆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endParaRPr kumimoji="1" lang="en-US" altLang="zh-CN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just" fontAlgn="base">
              <a:lnSpc>
                <a:spcPct val="130000"/>
              </a:lnSpc>
              <a:spcBef>
                <a:spcPct val="1000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(2)</a:t>
            </a:r>
            <a:r>
              <a:rPr kumimoji="1" lang="en-US" altLang="zh-CN" sz="2800" b="1" dirty="0">
                <a:solidFill>
                  <a:srgbClr val="FF0066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输出堆顶元素，采用堆顶元素</a:t>
            </a:r>
            <a:r>
              <a:rPr kumimoji="1" lang="en-US" altLang="zh-CN" sz="28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A[1]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与最后一个元素</a:t>
            </a:r>
            <a:r>
              <a:rPr kumimoji="1" lang="en-US" altLang="zh-CN" sz="28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A[n]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交换，最大元素得到正确的排序位置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endParaRPr kumimoji="1" lang="en-US" altLang="zh-CN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just" fontAlgn="base">
              <a:lnSpc>
                <a:spcPct val="130000"/>
              </a:lnSpc>
              <a:spcBef>
                <a:spcPct val="1000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(3) 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此时前</a:t>
            </a:r>
            <a:r>
              <a:rPr kumimoji="1" lang="en-US" altLang="zh-CN" sz="2800" b="1" dirty="0">
                <a:solidFill>
                  <a:srgbClr val="3333FF"/>
                </a:solidFill>
                <a:latin typeface="Times New Roman" panose="02020603050405020304" pitchFamily="18" charset="0"/>
              </a:rPr>
              <a:t>n-1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个元素不再满足堆的特性，需重建堆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  <a:endParaRPr kumimoji="1" lang="en-US" altLang="zh-CN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just" fontAlgn="base">
              <a:lnSpc>
                <a:spcPct val="130000"/>
              </a:lnSpc>
              <a:spcBef>
                <a:spcPct val="1000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(4)</a:t>
            </a:r>
            <a:r>
              <a:rPr kumimoji="1" lang="en-US" altLang="zh-CN" sz="2800" b="1" dirty="0">
                <a:solidFill>
                  <a:srgbClr val="FF0066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循环执行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b,c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两步，到排序完成。</a:t>
            </a:r>
            <a:endParaRPr kumimoji="1" lang="zh-CN" altLang="en-US" sz="2800" b="1" dirty="0">
              <a:solidFill>
                <a:srgbClr val="003366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6.4.3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堆排序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4B37B-CDAB-49C7-AE2C-1E1D1F76BD68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769938" y="1787525"/>
            <a:ext cx="7978775" cy="15636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     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对无序序列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{50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，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38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，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48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，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97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，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49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，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13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，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27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，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65}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进行堆排序。</a:t>
            </a:r>
            <a:endParaRPr kumimoji="1" lang="zh-CN" altLang="en-US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just"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3333FF"/>
                </a:solidFill>
                <a:latin typeface="Times New Roman" panose="02020603050405020304" pitchFamily="18" charset="0"/>
              </a:rPr>
              <a:t>        </a:t>
            </a:r>
            <a:r>
              <a:rPr kumimoji="1" lang="en-US" altLang="zh-CN" sz="2800" b="1">
                <a:solidFill>
                  <a:srgbClr val="3333FF"/>
                </a:solidFill>
                <a:latin typeface="Times New Roman" panose="02020603050405020304" pitchFamily="18" charset="0"/>
              </a:rPr>
              <a:t>(1)</a:t>
            </a:r>
            <a:r>
              <a:rPr kumimoji="1" lang="zh-CN" altLang="en-US" sz="2800" b="1">
                <a:solidFill>
                  <a:srgbClr val="3333FF"/>
                </a:solidFill>
                <a:latin typeface="Times New Roman" panose="02020603050405020304" pitchFamily="18" charset="0"/>
              </a:rPr>
              <a:t>先建一个完全二叉树</a:t>
            </a:r>
            <a:r>
              <a:rPr kumimoji="1" lang="zh-CN" altLang="en-US" sz="2800" b="1">
                <a:solidFill>
                  <a:srgbClr val="003366"/>
                </a:solidFill>
                <a:latin typeface="Times New Roman" panose="02020603050405020304" pitchFamily="18" charset="0"/>
              </a:rPr>
              <a:t>： </a:t>
            </a:r>
            <a:endParaRPr kumimoji="1" lang="zh-CN" altLang="en-US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" name="Oval 3"/>
          <p:cNvSpPr>
            <a:spLocks noChangeArrowheads="1"/>
          </p:cNvSpPr>
          <p:nvPr/>
        </p:nvSpPr>
        <p:spPr bwMode="auto">
          <a:xfrm>
            <a:off x="1466850" y="4267200"/>
            <a:ext cx="457200" cy="38100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38</a:t>
            </a:r>
            <a:endParaRPr kumimoji="1" lang="en-US" altLang="zh-CN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15" name="Oval 4"/>
          <p:cNvSpPr>
            <a:spLocks noChangeArrowheads="1"/>
          </p:cNvSpPr>
          <p:nvPr/>
        </p:nvSpPr>
        <p:spPr bwMode="auto">
          <a:xfrm>
            <a:off x="2152650" y="3581400"/>
            <a:ext cx="457200" cy="38100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50</a:t>
            </a:r>
            <a:endParaRPr kumimoji="1" lang="en-US" altLang="zh-CN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16" name="Oval 5"/>
          <p:cNvSpPr>
            <a:spLocks noChangeArrowheads="1"/>
          </p:cNvSpPr>
          <p:nvPr/>
        </p:nvSpPr>
        <p:spPr bwMode="auto">
          <a:xfrm>
            <a:off x="1009650" y="5105400"/>
            <a:ext cx="457200" cy="38100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97</a:t>
            </a:r>
            <a:endParaRPr kumimoji="1" lang="en-US" altLang="zh-CN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17" name="Oval 6"/>
          <p:cNvSpPr>
            <a:spLocks noChangeArrowheads="1"/>
          </p:cNvSpPr>
          <p:nvPr/>
        </p:nvSpPr>
        <p:spPr bwMode="auto">
          <a:xfrm>
            <a:off x="1771650" y="5105400"/>
            <a:ext cx="457200" cy="38100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49</a:t>
            </a:r>
            <a:endParaRPr kumimoji="1" lang="en-US" altLang="zh-CN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18" name="Oval 7"/>
          <p:cNvSpPr>
            <a:spLocks noChangeArrowheads="1"/>
          </p:cNvSpPr>
          <p:nvPr/>
        </p:nvSpPr>
        <p:spPr bwMode="auto">
          <a:xfrm>
            <a:off x="2914650" y="4267200"/>
            <a:ext cx="457200" cy="38100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48</a:t>
            </a:r>
            <a:endParaRPr kumimoji="1" lang="en-US" altLang="zh-CN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19" name="Oval 8"/>
          <p:cNvSpPr>
            <a:spLocks noChangeArrowheads="1"/>
          </p:cNvSpPr>
          <p:nvPr/>
        </p:nvSpPr>
        <p:spPr bwMode="auto">
          <a:xfrm>
            <a:off x="2457450" y="5105400"/>
            <a:ext cx="457200" cy="38100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13</a:t>
            </a:r>
            <a:endParaRPr kumimoji="1" lang="en-US" altLang="zh-CN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20" name="Oval 9"/>
          <p:cNvSpPr>
            <a:spLocks noChangeArrowheads="1"/>
          </p:cNvSpPr>
          <p:nvPr/>
        </p:nvSpPr>
        <p:spPr bwMode="auto">
          <a:xfrm>
            <a:off x="3524250" y="5105400"/>
            <a:ext cx="457200" cy="38100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27</a:t>
            </a:r>
            <a:endParaRPr kumimoji="1" lang="en-US" altLang="zh-CN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21" name="Oval 10"/>
          <p:cNvSpPr>
            <a:spLocks noChangeArrowheads="1"/>
          </p:cNvSpPr>
          <p:nvPr/>
        </p:nvSpPr>
        <p:spPr bwMode="auto">
          <a:xfrm>
            <a:off x="628650" y="5943600"/>
            <a:ext cx="457200" cy="38100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65</a:t>
            </a:r>
            <a:endParaRPr kumimoji="1" lang="en-US" altLang="zh-CN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22" name="Line 11"/>
          <p:cNvSpPr>
            <a:spLocks noChangeShapeType="1"/>
          </p:cNvSpPr>
          <p:nvPr/>
        </p:nvSpPr>
        <p:spPr bwMode="auto">
          <a:xfrm flipH="1">
            <a:off x="1771650" y="3886200"/>
            <a:ext cx="381000" cy="38100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3" name="Line 12"/>
          <p:cNvSpPr>
            <a:spLocks noChangeShapeType="1"/>
          </p:cNvSpPr>
          <p:nvPr/>
        </p:nvSpPr>
        <p:spPr bwMode="auto">
          <a:xfrm>
            <a:off x="2533650" y="3886200"/>
            <a:ext cx="457200" cy="45720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4" name="Line 13"/>
          <p:cNvSpPr>
            <a:spLocks noChangeShapeType="1"/>
          </p:cNvSpPr>
          <p:nvPr/>
        </p:nvSpPr>
        <p:spPr bwMode="auto">
          <a:xfrm flipH="1">
            <a:off x="1238250" y="4648200"/>
            <a:ext cx="304800" cy="45720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5" name="Line 14"/>
          <p:cNvSpPr>
            <a:spLocks noChangeShapeType="1"/>
          </p:cNvSpPr>
          <p:nvPr/>
        </p:nvSpPr>
        <p:spPr bwMode="auto">
          <a:xfrm flipH="1">
            <a:off x="857250" y="5486400"/>
            <a:ext cx="228600" cy="45720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6" name="Line 15"/>
          <p:cNvSpPr>
            <a:spLocks noChangeShapeType="1"/>
          </p:cNvSpPr>
          <p:nvPr/>
        </p:nvSpPr>
        <p:spPr bwMode="auto">
          <a:xfrm>
            <a:off x="1771650" y="4648200"/>
            <a:ext cx="228600" cy="45720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7" name="Line 16"/>
          <p:cNvSpPr>
            <a:spLocks noChangeShapeType="1"/>
          </p:cNvSpPr>
          <p:nvPr/>
        </p:nvSpPr>
        <p:spPr bwMode="auto">
          <a:xfrm flipH="1">
            <a:off x="2686050" y="4572000"/>
            <a:ext cx="304800" cy="53340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8" name="Line 17"/>
          <p:cNvSpPr>
            <a:spLocks noChangeShapeType="1"/>
          </p:cNvSpPr>
          <p:nvPr/>
        </p:nvSpPr>
        <p:spPr bwMode="auto">
          <a:xfrm>
            <a:off x="3295650" y="4572000"/>
            <a:ext cx="381000" cy="53340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9" name="Text Box 18"/>
          <p:cNvSpPr txBox="1">
            <a:spLocks noChangeArrowheads="1"/>
          </p:cNvSpPr>
          <p:nvPr/>
        </p:nvSpPr>
        <p:spPr bwMode="auto">
          <a:xfrm>
            <a:off x="4197350" y="3587750"/>
            <a:ext cx="4427538" cy="1800225"/>
          </a:xfrm>
          <a:prstGeom prst="rect">
            <a:avLst/>
          </a:prstGeom>
          <a:noFill/>
          <a:ln w="9525" cap="rnd" algn="ctr">
            <a:noFill/>
            <a:prstDash val="sysDot"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3333FF"/>
                </a:solidFill>
                <a:latin typeface="华文楷体" panose="02010600040101010101" pitchFamily="2" charset="-122"/>
              </a:rPr>
              <a:t>2)</a:t>
            </a:r>
            <a:r>
              <a:rPr kumimoji="1" lang="zh-CN" altLang="en-US" sz="2800" b="1" dirty="0">
                <a:solidFill>
                  <a:srgbClr val="3333FF"/>
                </a:solidFill>
                <a:latin typeface="华文楷体" panose="02010600040101010101" pitchFamily="2" charset="-122"/>
              </a:rPr>
              <a:t>从最后一个非终端结点开始建堆；</a:t>
            </a:r>
            <a:endParaRPr kumimoji="1" lang="zh-CN" altLang="en-US" sz="2800" b="1" dirty="0">
              <a:solidFill>
                <a:srgbClr val="3333FF"/>
              </a:solidFill>
              <a:latin typeface="华文楷体" panose="0201060004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3333FF"/>
                </a:solidFill>
                <a:latin typeface="华文楷体" panose="02010600040101010101" pitchFamily="2" charset="-122"/>
              </a:rPr>
              <a:t>n</a:t>
            </a:r>
            <a:r>
              <a:rPr kumimoji="1" lang="zh-CN" altLang="en-US" sz="2800" b="1" dirty="0">
                <a:solidFill>
                  <a:srgbClr val="3333FF"/>
                </a:solidFill>
                <a:latin typeface="华文楷体" panose="02010600040101010101" pitchFamily="2" charset="-122"/>
              </a:rPr>
              <a:t>个结点</a:t>
            </a:r>
            <a:r>
              <a:rPr kumimoji="1" lang="en-US" altLang="zh-CN" sz="2800" b="1" dirty="0">
                <a:solidFill>
                  <a:srgbClr val="3333FF"/>
                </a:solidFill>
                <a:latin typeface="华文楷体" panose="02010600040101010101" pitchFamily="2" charset="-122"/>
              </a:rPr>
              <a:t>,</a:t>
            </a:r>
            <a:r>
              <a:rPr kumimoji="1" lang="zh-CN" altLang="en-US" sz="2800" b="1" dirty="0">
                <a:solidFill>
                  <a:srgbClr val="3333FF"/>
                </a:solidFill>
                <a:latin typeface="华文楷体" panose="02010600040101010101" pitchFamily="2" charset="-122"/>
              </a:rPr>
              <a:t>最后一个非终端结点的下标是</a:t>
            </a:r>
            <a:r>
              <a:rPr kumimoji="1" lang="zh-CN" altLang="en-US" sz="2400" b="1" dirty="0">
                <a:solidFill>
                  <a:srgbClr val="3333FF"/>
                </a:solidFill>
                <a:latin typeface="华文楷体" panose="02010600040101010101" pitchFamily="2" charset="-122"/>
                <a:sym typeface="Symbol" panose="05050102010706020507" pitchFamily="18" charset="2"/>
              </a:rPr>
              <a:t></a:t>
            </a:r>
            <a:r>
              <a:rPr kumimoji="1" lang="en-US" altLang="zh-CN" sz="2400" b="1" dirty="0">
                <a:solidFill>
                  <a:srgbClr val="3333FF"/>
                </a:solidFill>
                <a:latin typeface="华文楷体" panose="02010600040101010101" pitchFamily="2" charset="-122"/>
                <a:sym typeface="Symbol" panose="05050102010706020507" pitchFamily="18" charset="2"/>
              </a:rPr>
              <a:t>n/2</a:t>
            </a:r>
            <a:endParaRPr kumimoji="1" lang="en-US" altLang="zh-CN" sz="2400" b="1" dirty="0">
              <a:solidFill>
                <a:srgbClr val="3333FF"/>
              </a:solidFill>
              <a:latin typeface="华文楷体" panose="020106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30" name="Text Box 20"/>
          <p:cNvSpPr txBox="1">
            <a:spLocks noChangeArrowheads="1"/>
          </p:cNvSpPr>
          <p:nvPr/>
        </p:nvSpPr>
        <p:spPr bwMode="auto">
          <a:xfrm>
            <a:off x="539750" y="995363"/>
            <a:ext cx="3744913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>
                <a:solidFill>
                  <a:srgbClr val="0033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</a:rPr>
              <a:t>算法示例演示</a:t>
            </a:r>
            <a:endParaRPr kumimoji="1" lang="zh-CN" altLang="en-US" sz="2800" b="1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" name="Oval 23"/>
          <p:cNvSpPr>
            <a:spLocks noChangeArrowheads="1"/>
          </p:cNvSpPr>
          <p:nvPr/>
        </p:nvSpPr>
        <p:spPr bwMode="auto">
          <a:xfrm>
            <a:off x="152399" y="1787524"/>
            <a:ext cx="1143001" cy="498475"/>
          </a:xfrm>
          <a:prstGeom prst="ellipse">
            <a:avLst/>
          </a:prstGeom>
          <a:gradFill rotWithShape="0">
            <a:gsLst>
              <a:gs pos="0">
                <a:srgbClr val="99FF99">
                  <a:gamma/>
                  <a:shade val="65882"/>
                  <a:invGamma/>
                </a:srgbClr>
              </a:gs>
              <a:gs pos="50000">
                <a:srgbClr val="99FF99"/>
              </a:gs>
              <a:gs pos="100000">
                <a:srgbClr val="99FF99">
                  <a:gamma/>
                  <a:shade val="65882"/>
                  <a:invGamma/>
                </a:srgbClr>
              </a:gs>
            </a:gsLst>
            <a:lin ang="18900000" scaled="1"/>
          </a:gradFill>
          <a:ln w="9525">
            <a:solidFill>
              <a:srgbClr val="CCFFCC"/>
            </a:solidFill>
            <a:rou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例</a:t>
            </a:r>
            <a:endParaRPr kumimoji="1" lang="zh-CN" altLang="en-US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6.4.3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堆排序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F3802-72B4-421B-842C-542272A70EDD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AutoShape 2"/>
          <p:cNvSpPr>
            <a:spLocks noChangeArrowheads="1"/>
          </p:cNvSpPr>
          <p:nvPr/>
        </p:nvSpPr>
        <p:spPr bwMode="auto">
          <a:xfrm>
            <a:off x="4645025" y="2357437"/>
            <a:ext cx="647700" cy="142875"/>
          </a:xfrm>
          <a:prstGeom prst="rightArrow">
            <a:avLst>
              <a:gd name="adj1" fmla="val 50000"/>
              <a:gd name="adj2" fmla="val 113333"/>
            </a:avLst>
          </a:prstGeom>
          <a:solidFill>
            <a:srgbClr val="000000"/>
          </a:solidFill>
          <a:ln w="9525" cap="rnd" algn="ctr">
            <a:solidFill>
              <a:srgbClr val="000000"/>
            </a:solidFill>
            <a:prstDash val="sysDot"/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Dag name="">
                <a:cont type="tree" name="">
                  <a:effect ref="fillLine"/>
                  <a:outerShdw dist="38100" dir="13500000" algn="br">
                    <a:srgbClr val="000000"/>
                  </a:outerShdw>
                </a:cont>
                <a:cont type="tree" name="">
                  <a:effect ref="fillLine"/>
                  <a:outerShdw dist="38100" dir="2700000" algn="tl">
                    <a:srgbClr val="000000"/>
                  </a:outerShdw>
                </a:cont>
                <a:effect ref="fillLine"/>
              </a:effectDag>
              <a:uLnTx/>
              <a:uFillTx/>
              <a:latin typeface="华文楷体" panose="02010600040101010101" pitchFamily="2" charset="-122"/>
            </a:endParaRPr>
          </a:p>
        </p:txBody>
      </p:sp>
      <p:sp>
        <p:nvSpPr>
          <p:cNvPr id="14" name="Oval 3"/>
          <p:cNvSpPr>
            <a:spLocks noChangeArrowheads="1"/>
          </p:cNvSpPr>
          <p:nvPr/>
        </p:nvSpPr>
        <p:spPr bwMode="auto">
          <a:xfrm>
            <a:off x="5795963" y="2838450"/>
            <a:ext cx="457200" cy="433387"/>
          </a:xfrm>
          <a:prstGeom prst="ellipse">
            <a:avLst/>
          </a:prstGeom>
          <a:solidFill>
            <a:srgbClr val="009DD9"/>
          </a:solidFill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38</a:t>
            </a:r>
            <a:endParaRPr kumimoji="1" lang="en-US" altLang="zh-CN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15" name="Oval 4"/>
          <p:cNvSpPr>
            <a:spLocks noChangeArrowheads="1"/>
          </p:cNvSpPr>
          <p:nvPr/>
        </p:nvSpPr>
        <p:spPr bwMode="auto">
          <a:xfrm>
            <a:off x="6991350" y="1327150"/>
            <a:ext cx="457200" cy="38100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50</a:t>
            </a:r>
            <a:endParaRPr kumimoji="1" lang="en-US" altLang="zh-CN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16" name="Oval 5"/>
          <p:cNvSpPr>
            <a:spLocks noChangeArrowheads="1"/>
          </p:cNvSpPr>
          <p:nvPr/>
        </p:nvSpPr>
        <p:spPr bwMode="auto">
          <a:xfrm>
            <a:off x="6275388" y="2046287"/>
            <a:ext cx="457200" cy="38100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97</a:t>
            </a:r>
            <a:endParaRPr kumimoji="1" lang="en-US" altLang="zh-CN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17" name="Oval 6"/>
          <p:cNvSpPr>
            <a:spLocks noChangeArrowheads="1"/>
          </p:cNvSpPr>
          <p:nvPr/>
        </p:nvSpPr>
        <p:spPr bwMode="auto">
          <a:xfrm>
            <a:off x="6610350" y="2851150"/>
            <a:ext cx="457200" cy="38100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49</a:t>
            </a:r>
            <a:endParaRPr kumimoji="1" lang="en-US" altLang="zh-CN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18" name="Oval 7"/>
          <p:cNvSpPr>
            <a:spLocks noChangeArrowheads="1"/>
          </p:cNvSpPr>
          <p:nvPr/>
        </p:nvSpPr>
        <p:spPr bwMode="auto">
          <a:xfrm>
            <a:off x="7753350" y="2012950"/>
            <a:ext cx="457200" cy="38100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48</a:t>
            </a:r>
            <a:endParaRPr kumimoji="1" lang="en-US" altLang="zh-CN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19" name="Oval 8"/>
          <p:cNvSpPr>
            <a:spLocks noChangeArrowheads="1"/>
          </p:cNvSpPr>
          <p:nvPr/>
        </p:nvSpPr>
        <p:spPr bwMode="auto">
          <a:xfrm>
            <a:off x="7296150" y="2851150"/>
            <a:ext cx="457200" cy="38100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13</a:t>
            </a:r>
            <a:endParaRPr kumimoji="1" lang="en-US" altLang="zh-CN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20" name="Oval 9"/>
          <p:cNvSpPr>
            <a:spLocks noChangeArrowheads="1"/>
          </p:cNvSpPr>
          <p:nvPr/>
        </p:nvSpPr>
        <p:spPr bwMode="auto">
          <a:xfrm>
            <a:off x="8362950" y="2851150"/>
            <a:ext cx="457200" cy="38100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27</a:t>
            </a:r>
            <a:endParaRPr kumimoji="1" lang="en-US" altLang="zh-CN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21" name="Oval 10"/>
          <p:cNvSpPr>
            <a:spLocks noChangeArrowheads="1"/>
          </p:cNvSpPr>
          <p:nvPr/>
        </p:nvSpPr>
        <p:spPr bwMode="auto">
          <a:xfrm>
            <a:off x="5364163" y="3703637"/>
            <a:ext cx="457200" cy="38100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65</a:t>
            </a:r>
            <a:endParaRPr kumimoji="1" lang="en-US" altLang="zh-CN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22" name="Line 11"/>
          <p:cNvSpPr>
            <a:spLocks noChangeShapeType="1"/>
          </p:cNvSpPr>
          <p:nvPr/>
        </p:nvSpPr>
        <p:spPr bwMode="auto">
          <a:xfrm flipH="1">
            <a:off x="6610350" y="1631950"/>
            <a:ext cx="381000" cy="38100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3" name="Line 12"/>
          <p:cNvSpPr>
            <a:spLocks noChangeShapeType="1"/>
          </p:cNvSpPr>
          <p:nvPr/>
        </p:nvSpPr>
        <p:spPr bwMode="auto">
          <a:xfrm>
            <a:off x="7372350" y="1631950"/>
            <a:ext cx="457200" cy="45720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4" name="Line 13"/>
          <p:cNvSpPr>
            <a:spLocks noChangeShapeType="1"/>
          </p:cNvSpPr>
          <p:nvPr/>
        </p:nvSpPr>
        <p:spPr bwMode="auto">
          <a:xfrm flipH="1">
            <a:off x="6076950" y="2393950"/>
            <a:ext cx="304800" cy="45720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5" name="Line 14"/>
          <p:cNvSpPr>
            <a:spLocks noChangeShapeType="1"/>
          </p:cNvSpPr>
          <p:nvPr/>
        </p:nvSpPr>
        <p:spPr bwMode="auto">
          <a:xfrm flipH="1">
            <a:off x="5695950" y="3232150"/>
            <a:ext cx="228600" cy="45720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6" name="Line 15"/>
          <p:cNvSpPr>
            <a:spLocks noChangeShapeType="1"/>
          </p:cNvSpPr>
          <p:nvPr/>
        </p:nvSpPr>
        <p:spPr bwMode="auto">
          <a:xfrm>
            <a:off x="6610350" y="2393950"/>
            <a:ext cx="228600" cy="45720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7" name="Line 16"/>
          <p:cNvSpPr>
            <a:spLocks noChangeShapeType="1"/>
          </p:cNvSpPr>
          <p:nvPr/>
        </p:nvSpPr>
        <p:spPr bwMode="auto">
          <a:xfrm flipH="1">
            <a:off x="7524750" y="2317750"/>
            <a:ext cx="304800" cy="53340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8" name="Line 17"/>
          <p:cNvSpPr>
            <a:spLocks noChangeShapeType="1"/>
          </p:cNvSpPr>
          <p:nvPr/>
        </p:nvSpPr>
        <p:spPr bwMode="auto">
          <a:xfrm>
            <a:off x="8134350" y="2317750"/>
            <a:ext cx="381000" cy="53340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9" name="AutoShape 18"/>
          <p:cNvSpPr>
            <a:spLocks noChangeArrowheads="1"/>
          </p:cNvSpPr>
          <p:nvPr/>
        </p:nvSpPr>
        <p:spPr bwMode="auto">
          <a:xfrm>
            <a:off x="755650" y="4949825"/>
            <a:ext cx="647700" cy="142875"/>
          </a:xfrm>
          <a:prstGeom prst="rightArrow">
            <a:avLst>
              <a:gd name="adj1" fmla="val 50000"/>
              <a:gd name="adj2" fmla="val 113333"/>
            </a:avLst>
          </a:prstGeom>
          <a:solidFill>
            <a:srgbClr val="000000"/>
          </a:solidFill>
          <a:ln w="9525" cap="rnd" algn="ctr">
            <a:solidFill>
              <a:srgbClr val="000000"/>
            </a:solidFill>
            <a:prstDash val="sysDot"/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Dag name="">
                <a:cont type="tree" name="">
                  <a:effect ref="fillLine"/>
                  <a:outerShdw dist="38100" dir="13500000" algn="br">
                    <a:srgbClr val="000000"/>
                  </a:outerShdw>
                </a:cont>
                <a:cont type="tree" name="">
                  <a:effect ref="fillLine"/>
                  <a:outerShdw dist="38100" dir="2700000" algn="tl">
                    <a:srgbClr val="000000"/>
                  </a:outerShdw>
                </a:cont>
                <a:effect ref="fillLine"/>
              </a:effectDag>
              <a:uLnTx/>
              <a:uFillTx/>
              <a:latin typeface="华文楷体" panose="02010600040101010101" pitchFamily="2" charset="-122"/>
            </a:endParaRPr>
          </a:p>
        </p:txBody>
      </p:sp>
      <p:sp>
        <p:nvSpPr>
          <p:cNvPr id="30" name="Oval 19"/>
          <p:cNvSpPr>
            <a:spLocks noChangeArrowheads="1"/>
          </p:cNvSpPr>
          <p:nvPr/>
        </p:nvSpPr>
        <p:spPr bwMode="auto">
          <a:xfrm>
            <a:off x="1331913" y="6119812"/>
            <a:ext cx="457200" cy="433388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38</a:t>
            </a:r>
            <a:endParaRPr kumimoji="1" lang="en-US" altLang="zh-CN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31" name="Oval 20"/>
          <p:cNvSpPr>
            <a:spLocks noChangeArrowheads="1"/>
          </p:cNvSpPr>
          <p:nvPr/>
        </p:nvSpPr>
        <p:spPr bwMode="auto">
          <a:xfrm>
            <a:off x="2819400" y="3724275"/>
            <a:ext cx="457200" cy="38100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50</a:t>
            </a:r>
            <a:endParaRPr kumimoji="1" lang="en-US" altLang="zh-CN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32" name="Oval 21"/>
          <p:cNvSpPr>
            <a:spLocks noChangeArrowheads="1"/>
          </p:cNvSpPr>
          <p:nvPr/>
        </p:nvSpPr>
        <p:spPr bwMode="auto">
          <a:xfrm>
            <a:off x="2243138" y="4392612"/>
            <a:ext cx="457200" cy="38100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97</a:t>
            </a:r>
            <a:endParaRPr kumimoji="1" lang="en-US" altLang="zh-CN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33" name="Oval 22"/>
          <p:cNvSpPr>
            <a:spLocks noChangeArrowheads="1"/>
          </p:cNvSpPr>
          <p:nvPr/>
        </p:nvSpPr>
        <p:spPr bwMode="auto">
          <a:xfrm>
            <a:off x="2505075" y="5248275"/>
            <a:ext cx="457200" cy="38100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49</a:t>
            </a:r>
            <a:endParaRPr kumimoji="1" lang="en-US" altLang="zh-CN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34" name="Oval 23"/>
          <p:cNvSpPr>
            <a:spLocks noChangeArrowheads="1"/>
          </p:cNvSpPr>
          <p:nvPr/>
        </p:nvSpPr>
        <p:spPr bwMode="auto">
          <a:xfrm>
            <a:off x="3648075" y="4410075"/>
            <a:ext cx="457200" cy="38100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48</a:t>
            </a:r>
            <a:endParaRPr kumimoji="1" lang="en-US" altLang="zh-CN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35" name="Oval 24"/>
          <p:cNvSpPr>
            <a:spLocks noChangeArrowheads="1"/>
          </p:cNvSpPr>
          <p:nvPr/>
        </p:nvSpPr>
        <p:spPr bwMode="auto">
          <a:xfrm>
            <a:off x="3190875" y="5248275"/>
            <a:ext cx="457200" cy="38100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13</a:t>
            </a:r>
            <a:endParaRPr kumimoji="1" lang="en-US" altLang="zh-CN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36" name="Oval 25"/>
          <p:cNvSpPr>
            <a:spLocks noChangeArrowheads="1"/>
          </p:cNvSpPr>
          <p:nvPr/>
        </p:nvSpPr>
        <p:spPr bwMode="auto">
          <a:xfrm>
            <a:off x="4257675" y="5248275"/>
            <a:ext cx="457200" cy="38100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27</a:t>
            </a:r>
            <a:endParaRPr kumimoji="1" lang="en-US" altLang="zh-CN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37" name="Oval 26"/>
          <p:cNvSpPr>
            <a:spLocks noChangeArrowheads="1"/>
          </p:cNvSpPr>
          <p:nvPr/>
        </p:nvSpPr>
        <p:spPr bwMode="auto">
          <a:xfrm>
            <a:off x="1666875" y="5256212"/>
            <a:ext cx="457200" cy="38100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65</a:t>
            </a:r>
            <a:endParaRPr kumimoji="1" lang="en-US" altLang="zh-CN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38" name="Line 27"/>
          <p:cNvSpPr>
            <a:spLocks noChangeShapeType="1"/>
          </p:cNvSpPr>
          <p:nvPr/>
        </p:nvSpPr>
        <p:spPr bwMode="auto">
          <a:xfrm flipH="1">
            <a:off x="2505075" y="4029075"/>
            <a:ext cx="381000" cy="38100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9" name="Line 28"/>
          <p:cNvSpPr>
            <a:spLocks noChangeShapeType="1"/>
          </p:cNvSpPr>
          <p:nvPr/>
        </p:nvSpPr>
        <p:spPr bwMode="auto">
          <a:xfrm>
            <a:off x="3267075" y="4029075"/>
            <a:ext cx="457200" cy="45720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0" name="Line 29"/>
          <p:cNvSpPr>
            <a:spLocks noChangeShapeType="1"/>
          </p:cNvSpPr>
          <p:nvPr/>
        </p:nvSpPr>
        <p:spPr bwMode="auto">
          <a:xfrm flipH="1">
            <a:off x="1971675" y="4791075"/>
            <a:ext cx="304800" cy="45720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1" name="Line 30"/>
          <p:cNvSpPr>
            <a:spLocks noChangeShapeType="1"/>
          </p:cNvSpPr>
          <p:nvPr/>
        </p:nvSpPr>
        <p:spPr bwMode="auto">
          <a:xfrm flipH="1">
            <a:off x="1590675" y="5629275"/>
            <a:ext cx="228600" cy="45720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2" name="Line 31"/>
          <p:cNvSpPr>
            <a:spLocks noChangeShapeType="1"/>
          </p:cNvSpPr>
          <p:nvPr/>
        </p:nvSpPr>
        <p:spPr bwMode="auto">
          <a:xfrm>
            <a:off x="2505075" y="4791075"/>
            <a:ext cx="228600" cy="45720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3" name="Line 32"/>
          <p:cNvSpPr>
            <a:spLocks noChangeShapeType="1"/>
          </p:cNvSpPr>
          <p:nvPr/>
        </p:nvSpPr>
        <p:spPr bwMode="auto">
          <a:xfrm flipH="1">
            <a:off x="3419475" y="4714875"/>
            <a:ext cx="304800" cy="53340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4" name="Line 33"/>
          <p:cNvSpPr>
            <a:spLocks noChangeShapeType="1"/>
          </p:cNvSpPr>
          <p:nvPr/>
        </p:nvSpPr>
        <p:spPr bwMode="auto">
          <a:xfrm>
            <a:off x="4029075" y="4714875"/>
            <a:ext cx="381000" cy="53340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5" name="Oval 34"/>
          <p:cNvSpPr>
            <a:spLocks noChangeArrowheads="1"/>
          </p:cNvSpPr>
          <p:nvPr/>
        </p:nvSpPr>
        <p:spPr bwMode="auto">
          <a:xfrm>
            <a:off x="1811338" y="1974850"/>
            <a:ext cx="457200" cy="433387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38</a:t>
            </a:r>
            <a:endParaRPr kumimoji="1" lang="en-US" altLang="zh-CN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46" name="Oval 35"/>
          <p:cNvSpPr>
            <a:spLocks noChangeArrowheads="1"/>
          </p:cNvSpPr>
          <p:nvPr/>
        </p:nvSpPr>
        <p:spPr bwMode="auto">
          <a:xfrm>
            <a:off x="2527300" y="1327150"/>
            <a:ext cx="457200" cy="38100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50</a:t>
            </a:r>
            <a:endParaRPr kumimoji="1" lang="en-US" altLang="zh-CN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47" name="Oval 36"/>
          <p:cNvSpPr>
            <a:spLocks noChangeArrowheads="1"/>
          </p:cNvSpPr>
          <p:nvPr/>
        </p:nvSpPr>
        <p:spPr bwMode="auto">
          <a:xfrm>
            <a:off x="1306513" y="2838450"/>
            <a:ext cx="457200" cy="38100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97</a:t>
            </a:r>
            <a:endParaRPr kumimoji="1" lang="en-US" altLang="zh-CN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48" name="Oval 37"/>
          <p:cNvSpPr>
            <a:spLocks noChangeArrowheads="1"/>
          </p:cNvSpPr>
          <p:nvPr/>
        </p:nvSpPr>
        <p:spPr bwMode="auto">
          <a:xfrm>
            <a:off x="2146300" y="2851150"/>
            <a:ext cx="457200" cy="38100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49</a:t>
            </a:r>
            <a:endParaRPr kumimoji="1" lang="en-US" altLang="zh-CN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49" name="Oval 38"/>
          <p:cNvSpPr>
            <a:spLocks noChangeArrowheads="1"/>
          </p:cNvSpPr>
          <p:nvPr/>
        </p:nvSpPr>
        <p:spPr bwMode="auto">
          <a:xfrm>
            <a:off x="3289300" y="2012950"/>
            <a:ext cx="457200" cy="38100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48</a:t>
            </a:r>
            <a:endParaRPr kumimoji="1" lang="en-US" altLang="zh-CN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50" name="Oval 39"/>
          <p:cNvSpPr>
            <a:spLocks noChangeArrowheads="1"/>
          </p:cNvSpPr>
          <p:nvPr/>
        </p:nvSpPr>
        <p:spPr bwMode="auto">
          <a:xfrm>
            <a:off x="2832100" y="2851150"/>
            <a:ext cx="457200" cy="38100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13</a:t>
            </a:r>
            <a:endParaRPr kumimoji="1" lang="en-US" altLang="zh-CN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51" name="Oval 40"/>
          <p:cNvSpPr>
            <a:spLocks noChangeArrowheads="1"/>
          </p:cNvSpPr>
          <p:nvPr/>
        </p:nvSpPr>
        <p:spPr bwMode="auto">
          <a:xfrm>
            <a:off x="3898900" y="2851150"/>
            <a:ext cx="457200" cy="38100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27</a:t>
            </a:r>
            <a:endParaRPr kumimoji="1" lang="en-US" altLang="zh-CN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52" name="Oval 41"/>
          <p:cNvSpPr>
            <a:spLocks noChangeArrowheads="1"/>
          </p:cNvSpPr>
          <p:nvPr/>
        </p:nvSpPr>
        <p:spPr bwMode="auto">
          <a:xfrm>
            <a:off x="900113" y="3703637"/>
            <a:ext cx="457200" cy="38100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65</a:t>
            </a:r>
            <a:endParaRPr kumimoji="1" lang="en-US" altLang="zh-CN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53" name="Line 42"/>
          <p:cNvSpPr>
            <a:spLocks noChangeShapeType="1"/>
          </p:cNvSpPr>
          <p:nvPr/>
        </p:nvSpPr>
        <p:spPr bwMode="auto">
          <a:xfrm flipH="1">
            <a:off x="2146300" y="1631950"/>
            <a:ext cx="381000" cy="38100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4" name="Line 43"/>
          <p:cNvSpPr>
            <a:spLocks noChangeShapeType="1"/>
          </p:cNvSpPr>
          <p:nvPr/>
        </p:nvSpPr>
        <p:spPr bwMode="auto">
          <a:xfrm>
            <a:off x="2908300" y="1631950"/>
            <a:ext cx="457200" cy="45720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5" name="Line 44"/>
          <p:cNvSpPr>
            <a:spLocks noChangeShapeType="1"/>
          </p:cNvSpPr>
          <p:nvPr/>
        </p:nvSpPr>
        <p:spPr bwMode="auto">
          <a:xfrm flipH="1">
            <a:off x="1612900" y="2393950"/>
            <a:ext cx="304800" cy="45720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6" name="Line 45"/>
          <p:cNvSpPr>
            <a:spLocks noChangeShapeType="1"/>
          </p:cNvSpPr>
          <p:nvPr/>
        </p:nvSpPr>
        <p:spPr bwMode="auto">
          <a:xfrm flipH="1">
            <a:off x="1231900" y="3232150"/>
            <a:ext cx="228600" cy="45720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7" name="Line 46"/>
          <p:cNvSpPr>
            <a:spLocks noChangeShapeType="1"/>
          </p:cNvSpPr>
          <p:nvPr/>
        </p:nvSpPr>
        <p:spPr bwMode="auto">
          <a:xfrm>
            <a:off x="2146300" y="2393950"/>
            <a:ext cx="228600" cy="45720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8" name="Line 47"/>
          <p:cNvSpPr>
            <a:spLocks noChangeShapeType="1"/>
          </p:cNvSpPr>
          <p:nvPr/>
        </p:nvSpPr>
        <p:spPr bwMode="auto">
          <a:xfrm flipH="1">
            <a:off x="3060700" y="2317750"/>
            <a:ext cx="304800" cy="53340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9" name="Line 48"/>
          <p:cNvSpPr>
            <a:spLocks noChangeShapeType="1"/>
          </p:cNvSpPr>
          <p:nvPr/>
        </p:nvSpPr>
        <p:spPr bwMode="auto">
          <a:xfrm>
            <a:off x="3670300" y="2317750"/>
            <a:ext cx="381000" cy="53340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0" name="AutoShape 49"/>
          <p:cNvSpPr>
            <a:spLocks noChangeArrowheads="1"/>
          </p:cNvSpPr>
          <p:nvPr/>
        </p:nvSpPr>
        <p:spPr bwMode="auto">
          <a:xfrm>
            <a:off x="4860925" y="5019675"/>
            <a:ext cx="647700" cy="142875"/>
          </a:xfrm>
          <a:prstGeom prst="rightArrow">
            <a:avLst>
              <a:gd name="adj1" fmla="val 50000"/>
              <a:gd name="adj2" fmla="val 113333"/>
            </a:avLst>
          </a:prstGeom>
          <a:solidFill>
            <a:srgbClr val="000000"/>
          </a:solidFill>
          <a:ln w="9525" cap="rnd" algn="ctr">
            <a:solidFill>
              <a:srgbClr val="000000"/>
            </a:solidFill>
            <a:prstDash val="sysDot"/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Dag name="">
                <a:cont type="tree" name="">
                  <a:effect ref="fillLine"/>
                  <a:outerShdw dist="38100" dir="13500000" algn="br">
                    <a:srgbClr val="000000"/>
                  </a:outerShdw>
                </a:cont>
                <a:cont type="tree" name="">
                  <a:effect ref="fillLine"/>
                  <a:outerShdw dist="38100" dir="2700000" algn="tl">
                    <a:srgbClr val="000000"/>
                  </a:outerShdw>
                </a:cont>
                <a:effect ref="fillLine"/>
              </a:effectDag>
              <a:uLnTx/>
              <a:uFillTx/>
              <a:latin typeface="华文楷体" panose="02010600040101010101" pitchFamily="2" charset="-122"/>
            </a:endParaRPr>
          </a:p>
        </p:txBody>
      </p:sp>
      <p:sp>
        <p:nvSpPr>
          <p:cNvPr id="61" name="Oval 50"/>
          <p:cNvSpPr>
            <a:spLocks noChangeArrowheads="1"/>
          </p:cNvSpPr>
          <p:nvPr/>
        </p:nvSpPr>
        <p:spPr bwMode="auto">
          <a:xfrm>
            <a:off x="5365750" y="6119812"/>
            <a:ext cx="457200" cy="433388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38</a:t>
            </a:r>
            <a:endParaRPr kumimoji="1" lang="en-US" altLang="zh-CN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62" name="Oval 51"/>
          <p:cNvSpPr>
            <a:spLocks noChangeArrowheads="1"/>
          </p:cNvSpPr>
          <p:nvPr/>
        </p:nvSpPr>
        <p:spPr bwMode="auto">
          <a:xfrm>
            <a:off x="6588125" y="5287962"/>
            <a:ext cx="457200" cy="38100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49</a:t>
            </a:r>
            <a:endParaRPr kumimoji="1" lang="en-US" altLang="zh-CN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63" name="Oval 52"/>
          <p:cNvSpPr>
            <a:spLocks noChangeArrowheads="1"/>
          </p:cNvSpPr>
          <p:nvPr/>
        </p:nvSpPr>
        <p:spPr bwMode="auto">
          <a:xfrm>
            <a:off x="6877050" y="3703637"/>
            <a:ext cx="457200" cy="38100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97</a:t>
            </a:r>
            <a:endParaRPr kumimoji="1" lang="en-US" altLang="zh-CN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64" name="Oval 53"/>
          <p:cNvSpPr>
            <a:spLocks noChangeArrowheads="1"/>
          </p:cNvSpPr>
          <p:nvPr/>
        </p:nvSpPr>
        <p:spPr bwMode="auto">
          <a:xfrm>
            <a:off x="6227763" y="4371975"/>
            <a:ext cx="457200" cy="38100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65</a:t>
            </a:r>
            <a:endParaRPr kumimoji="1" lang="en-US" altLang="zh-CN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65" name="Oval 54"/>
          <p:cNvSpPr>
            <a:spLocks noChangeArrowheads="1"/>
          </p:cNvSpPr>
          <p:nvPr/>
        </p:nvSpPr>
        <p:spPr bwMode="auto">
          <a:xfrm>
            <a:off x="7681913" y="4410075"/>
            <a:ext cx="457200" cy="38100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48</a:t>
            </a:r>
            <a:endParaRPr kumimoji="1" lang="en-US" altLang="zh-CN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66" name="Oval 55"/>
          <p:cNvSpPr>
            <a:spLocks noChangeArrowheads="1"/>
          </p:cNvSpPr>
          <p:nvPr/>
        </p:nvSpPr>
        <p:spPr bwMode="auto">
          <a:xfrm>
            <a:off x="7224713" y="5248275"/>
            <a:ext cx="457200" cy="38100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13</a:t>
            </a:r>
            <a:endParaRPr kumimoji="1" lang="en-US" altLang="zh-CN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67" name="Oval 56"/>
          <p:cNvSpPr>
            <a:spLocks noChangeArrowheads="1"/>
          </p:cNvSpPr>
          <p:nvPr/>
        </p:nvSpPr>
        <p:spPr bwMode="auto">
          <a:xfrm>
            <a:off x="8291513" y="5248275"/>
            <a:ext cx="457200" cy="38100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27</a:t>
            </a:r>
            <a:endParaRPr kumimoji="1" lang="en-US" altLang="zh-CN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68" name="Oval 57"/>
          <p:cNvSpPr>
            <a:spLocks noChangeArrowheads="1"/>
          </p:cNvSpPr>
          <p:nvPr/>
        </p:nvSpPr>
        <p:spPr bwMode="auto">
          <a:xfrm>
            <a:off x="5700713" y="5256212"/>
            <a:ext cx="457200" cy="38100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50</a:t>
            </a:r>
            <a:endParaRPr kumimoji="1" lang="en-US" altLang="zh-CN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69" name="Line 58"/>
          <p:cNvSpPr>
            <a:spLocks noChangeShapeType="1"/>
          </p:cNvSpPr>
          <p:nvPr/>
        </p:nvSpPr>
        <p:spPr bwMode="auto">
          <a:xfrm flipH="1">
            <a:off x="6538913" y="4029075"/>
            <a:ext cx="381000" cy="38100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70" name="Line 59"/>
          <p:cNvSpPr>
            <a:spLocks noChangeShapeType="1"/>
          </p:cNvSpPr>
          <p:nvPr/>
        </p:nvSpPr>
        <p:spPr bwMode="auto">
          <a:xfrm>
            <a:off x="7300913" y="4029075"/>
            <a:ext cx="457200" cy="45720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71" name="Line 60"/>
          <p:cNvSpPr>
            <a:spLocks noChangeShapeType="1"/>
          </p:cNvSpPr>
          <p:nvPr/>
        </p:nvSpPr>
        <p:spPr bwMode="auto">
          <a:xfrm flipH="1">
            <a:off x="6005513" y="4791075"/>
            <a:ext cx="304800" cy="45720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72" name="Line 61"/>
          <p:cNvSpPr>
            <a:spLocks noChangeShapeType="1"/>
          </p:cNvSpPr>
          <p:nvPr/>
        </p:nvSpPr>
        <p:spPr bwMode="auto">
          <a:xfrm flipH="1">
            <a:off x="5624513" y="5629275"/>
            <a:ext cx="228600" cy="45720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73" name="Line 62"/>
          <p:cNvSpPr>
            <a:spLocks noChangeShapeType="1"/>
          </p:cNvSpPr>
          <p:nvPr/>
        </p:nvSpPr>
        <p:spPr bwMode="auto">
          <a:xfrm>
            <a:off x="6538913" y="4791075"/>
            <a:ext cx="228600" cy="45720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74" name="Line 63"/>
          <p:cNvSpPr>
            <a:spLocks noChangeShapeType="1"/>
          </p:cNvSpPr>
          <p:nvPr/>
        </p:nvSpPr>
        <p:spPr bwMode="auto">
          <a:xfrm flipH="1">
            <a:off x="7453313" y="4714875"/>
            <a:ext cx="304800" cy="53340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75" name="Line 64"/>
          <p:cNvSpPr>
            <a:spLocks noChangeShapeType="1"/>
          </p:cNvSpPr>
          <p:nvPr/>
        </p:nvSpPr>
        <p:spPr bwMode="auto">
          <a:xfrm>
            <a:off x="8062913" y="4714875"/>
            <a:ext cx="381000" cy="53340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76" name="Text Box 69"/>
          <p:cNvSpPr txBox="1">
            <a:spLocks noChangeArrowheads="1"/>
          </p:cNvSpPr>
          <p:nvPr/>
        </p:nvSpPr>
        <p:spPr bwMode="auto">
          <a:xfrm>
            <a:off x="539750" y="823912"/>
            <a:ext cx="3744913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>
                <a:solidFill>
                  <a:srgbClr val="0033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</a:rPr>
              <a:t>算法示例演示</a:t>
            </a:r>
            <a:endParaRPr kumimoji="1" lang="zh-CN" altLang="en-US" sz="2800" b="1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3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9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9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9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9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4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4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4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4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5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5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5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6.4.3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堆排序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712AE-ACCE-4BEC-922F-4B2C68321417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3"/>
          <p:cNvSpPr>
            <a:spLocks noChangeArrowheads="1"/>
          </p:cNvSpPr>
          <p:nvPr/>
        </p:nvSpPr>
        <p:spPr bwMode="auto">
          <a:xfrm>
            <a:off x="3827463" y="2813050"/>
            <a:ext cx="457200" cy="433387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38</a:t>
            </a:r>
            <a:endParaRPr kumimoji="1" lang="en-US" altLang="zh-CN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14" name="Oval 4"/>
          <p:cNvSpPr>
            <a:spLocks noChangeArrowheads="1"/>
          </p:cNvSpPr>
          <p:nvPr/>
        </p:nvSpPr>
        <p:spPr bwMode="auto">
          <a:xfrm>
            <a:off x="4543425" y="2165350"/>
            <a:ext cx="457200" cy="38100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50</a:t>
            </a:r>
            <a:endParaRPr kumimoji="1" lang="en-US" altLang="zh-CN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15" name="Oval 5"/>
          <p:cNvSpPr>
            <a:spLocks noChangeArrowheads="1"/>
          </p:cNvSpPr>
          <p:nvPr/>
        </p:nvSpPr>
        <p:spPr bwMode="auto">
          <a:xfrm>
            <a:off x="2987675" y="3676650"/>
            <a:ext cx="457200" cy="38100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75</a:t>
            </a:r>
            <a:endParaRPr kumimoji="1" lang="en-US" altLang="zh-CN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16" name="Oval 6"/>
          <p:cNvSpPr>
            <a:spLocks noChangeArrowheads="1"/>
          </p:cNvSpPr>
          <p:nvPr/>
        </p:nvSpPr>
        <p:spPr bwMode="auto">
          <a:xfrm>
            <a:off x="4162425" y="3689350"/>
            <a:ext cx="457200" cy="38100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78</a:t>
            </a:r>
            <a:endParaRPr kumimoji="1" lang="en-US" altLang="zh-CN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17" name="Oval 7"/>
          <p:cNvSpPr>
            <a:spLocks noChangeArrowheads="1"/>
          </p:cNvSpPr>
          <p:nvPr/>
        </p:nvSpPr>
        <p:spPr bwMode="auto">
          <a:xfrm>
            <a:off x="5305425" y="2851150"/>
            <a:ext cx="457200" cy="38100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49</a:t>
            </a:r>
            <a:endParaRPr kumimoji="1" lang="en-US" altLang="zh-CN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18" name="Oval 8"/>
          <p:cNvSpPr>
            <a:spLocks noChangeArrowheads="1"/>
          </p:cNvSpPr>
          <p:nvPr/>
        </p:nvSpPr>
        <p:spPr bwMode="auto">
          <a:xfrm>
            <a:off x="2411413" y="4541837"/>
            <a:ext cx="457200" cy="38100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65</a:t>
            </a:r>
            <a:endParaRPr kumimoji="1" lang="en-US" altLang="zh-CN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19" name="Line 9"/>
          <p:cNvSpPr>
            <a:spLocks noChangeShapeType="1"/>
          </p:cNvSpPr>
          <p:nvPr/>
        </p:nvSpPr>
        <p:spPr bwMode="auto">
          <a:xfrm flipH="1">
            <a:off x="4162425" y="2470150"/>
            <a:ext cx="381000" cy="38100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0" name="Line 10"/>
          <p:cNvSpPr>
            <a:spLocks noChangeShapeType="1"/>
          </p:cNvSpPr>
          <p:nvPr/>
        </p:nvSpPr>
        <p:spPr bwMode="auto">
          <a:xfrm>
            <a:off x="4924425" y="2470150"/>
            <a:ext cx="457200" cy="45720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1" name="Line 11"/>
          <p:cNvSpPr>
            <a:spLocks noChangeShapeType="1"/>
          </p:cNvSpPr>
          <p:nvPr/>
        </p:nvSpPr>
        <p:spPr bwMode="auto">
          <a:xfrm flipH="1">
            <a:off x="3348038" y="3173412"/>
            <a:ext cx="503237" cy="503238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2" name="Line 12"/>
          <p:cNvSpPr>
            <a:spLocks noChangeShapeType="1"/>
          </p:cNvSpPr>
          <p:nvPr/>
        </p:nvSpPr>
        <p:spPr bwMode="auto">
          <a:xfrm flipH="1">
            <a:off x="2771775" y="4037012"/>
            <a:ext cx="360363" cy="504825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3" name="Line 13"/>
          <p:cNvSpPr>
            <a:spLocks noChangeShapeType="1"/>
          </p:cNvSpPr>
          <p:nvPr/>
        </p:nvSpPr>
        <p:spPr bwMode="auto">
          <a:xfrm>
            <a:off x="4162425" y="3232150"/>
            <a:ext cx="228600" cy="45720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4" name="Text Box 14"/>
          <p:cNvSpPr txBox="1">
            <a:spLocks noChangeArrowheads="1"/>
          </p:cNvSpPr>
          <p:nvPr/>
        </p:nvSpPr>
        <p:spPr bwMode="auto">
          <a:xfrm>
            <a:off x="3454400" y="2452687"/>
            <a:ext cx="254000" cy="6477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lnSpc>
                <a:spcPct val="130000"/>
              </a:lnSpc>
              <a:spcBef>
                <a:spcPct val="1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s</a:t>
            </a:r>
            <a:endParaRPr kumimoji="1" lang="en-US" altLang="zh-CN" sz="2800" b="1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5" name="Text Box 15"/>
          <p:cNvSpPr txBox="1">
            <a:spLocks noChangeArrowheads="1"/>
          </p:cNvSpPr>
          <p:nvPr/>
        </p:nvSpPr>
        <p:spPr bwMode="auto">
          <a:xfrm>
            <a:off x="4945063" y="4613275"/>
            <a:ext cx="419100" cy="6477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lnSpc>
                <a:spcPct val="130000"/>
              </a:lnSpc>
              <a:spcBef>
                <a:spcPct val="1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m</a:t>
            </a:r>
            <a:endParaRPr kumimoji="1" lang="en-US" altLang="zh-CN" sz="2800" b="1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6" name="Text Box 16"/>
          <p:cNvSpPr txBox="1">
            <a:spLocks noChangeArrowheads="1"/>
          </p:cNvSpPr>
          <p:nvPr/>
        </p:nvSpPr>
        <p:spPr bwMode="auto">
          <a:xfrm>
            <a:off x="2771775" y="3182937"/>
            <a:ext cx="419100" cy="6477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lnSpc>
                <a:spcPct val="130000"/>
              </a:lnSpc>
              <a:spcBef>
                <a:spcPct val="1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j</a:t>
            </a:r>
            <a:endParaRPr kumimoji="1" lang="en-US" altLang="zh-CN" sz="2800" b="1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7" name="Oval 17"/>
          <p:cNvSpPr>
            <a:spLocks noChangeArrowheads="1"/>
          </p:cNvSpPr>
          <p:nvPr/>
        </p:nvSpPr>
        <p:spPr bwMode="auto">
          <a:xfrm>
            <a:off x="3203575" y="4521200"/>
            <a:ext cx="457200" cy="38100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64</a:t>
            </a:r>
            <a:endParaRPr kumimoji="1" lang="en-US" altLang="zh-CN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28" name="Oval 18"/>
          <p:cNvSpPr>
            <a:spLocks noChangeArrowheads="1"/>
          </p:cNvSpPr>
          <p:nvPr/>
        </p:nvSpPr>
        <p:spPr bwMode="auto">
          <a:xfrm>
            <a:off x="3827463" y="4541837"/>
            <a:ext cx="457200" cy="38100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63</a:t>
            </a:r>
            <a:endParaRPr kumimoji="1" lang="en-US" altLang="zh-CN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29" name="Oval 19"/>
          <p:cNvSpPr>
            <a:spLocks noChangeArrowheads="1"/>
          </p:cNvSpPr>
          <p:nvPr/>
        </p:nvSpPr>
        <p:spPr bwMode="auto">
          <a:xfrm>
            <a:off x="4546600" y="4541837"/>
            <a:ext cx="457200" cy="38100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62</a:t>
            </a:r>
            <a:endParaRPr kumimoji="1" lang="en-US" altLang="zh-CN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30" name="Line 20"/>
          <p:cNvSpPr>
            <a:spLocks noChangeShapeType="1"/>
          </p:cNvSpPr>
          <p:nvPr/>
        </p:nvSpPr>
        <p:spPr bwMode="auto">
          <a:xfrm>
            <a:off x="3276600" y="4110037"/>
            <a:ext cx="215900" cy="431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wrap="none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1" name="Line 21"/>
          <p:cNvSpPr>
            <a:spLocks noChangeShapeType="1"/>
          </p:cNvSpPr>
          <p:nvPr/>
        </p:nvSpPr>
        <p:spPr bwMode="auto">
          <a:xfrm flipH="1">
            <a:off x="4067175" y="4110037"/>
            <a:ext cx="287338" cy="431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wrap="none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2" name="Line 22"/>
          <p:cNvSpPr>
            <a:spLocks noChangeShapeType="1"/>
          </p:cNvSpPr>
          <p:nvPr/>
        </p:nvSpPr>
        <p:spPr bwMode="auto">
          <a:xfrm>
            <a:off x="4500563" y="4037012"/>
            <a:ext cx="215900" cy="5048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lIns="90000" tIns="46800" rIns="90000" bIns="46800"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3" name="Text Box 23"/>
          <p:cNvSpPr txBox="1">
            <a:spLocks noChangeArrowheads="1"/>
          </p:cNvSpPr>
          <p:nvPr/>
        </p:nvSpPr>
        <p:spPr bwMode="auto">
          <a:xfrm>
            <a:off x="3865563" y="3398837"/>
            <a:ext cx="419100" cy="6477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lnSpc>
                <a:spcPct val="130000"/>
              </a:lnSpc>
              <a:spcBef>
                <a:spcPct val="1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j</a:t>
            </a:r>
            <a:endParaRPr kumimoji="1" lang="en-US" altLang="zh-CN" sz="2800" b="1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4" name="Oval 24"/>
          <p:cNvSpPr>
            <a:spLocks noChangeArrowheads="1"/>
          </p:cNvSpPr>
          <p:nvPr/>
        </p:nvSpPr>
        <p:spPr bwMode="auto">
          <a:xfrm>
            <a:off x="3827463" y="2863850"/>
            <a:ext cx="457200" cy="38100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78</a:t>
            </a:r>
            <a:endParaRPr kumimoji="1" lang="en-US" altLang="zh-CN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35" name="Oval 25"/>
          <p:cNvSpPr>
            <a:spLocks noChangeArrowheads="1"/>
          </p:cNvSpPr>
          <p:nvPr/>
        </p:nvSpPr>
        <p:spPr bwMode="auto">
          <a:xfrm>
            <a:off x="4140200" y="3676650"/>
            <a:ext cx="457200" cy="38100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36" name="Text Box 26"/>
          <p:cNvSpPr txBox="1">
            <a:spLocks noChangeArrowheads="1"/>
          </p:cNvSpPr>
          <p:nvPr/>
        </p:nvSpPr>
        <p:spPr bwMode="auto">
          <a:xfrm>
            <a:off x="3924300" y="3325812"/>
            <a:ext cx="254000" cy="6477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lnSpc>
                <a:spcPct val="130000"/>
              </a:lnSpc>
              <a:spcBef>
                <a:spcPct val="1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s</a:t>
            </a:r>
            <a:endParaRPr kumimoji="1" lang="en-US" altLang="zh-CN" sz="2800" b="1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7" name="Text Box 27"/>
          <p:cNvSpPr txBox="1">
            <a:spLocks noChangeArrowheads="1"/>
          </p:cNvSpPr>
          <p:nvPr/>
        </p:nvSpPr>
        <p:spPr bwMode="auto">
          <a:xfrm>
            <a:off x="3708400" y="4838700"/>
            <a:ext cx="419100" cy="6477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lnSpc>
                <a:spcPct val="130000"/>
              </a:lnSpc>
              <a:spcBef>
                <a:spcPct val="1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j</a:t>
            </a:r>
            <a:endParaRPr kumimoji="1" lang="en-US" altLang="zh-CN" sz="2800" b="1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8" name="Text Box 31"/>
          <p:cNvSpPr txBox="1">
            <a:spLocks noChangeArrowheads="1"/>
          </p:cNvSpPr>
          <p:nvPr/>
        </p:nvSpPr>
        <p:spPr bwMode="auto">
          <a:xfrm>
            <a:off x="468313" y="941387"/>
            <a:ext cx="3744912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>
                <a:solidFill>
                  <a:srgbClr val="0033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</a:rPr>
              <a:t>算法示例演示</a:t>
            </a:r>
            <a:endParaRPr kumimoji="1" lang="zh-CN" altLang="en-US" sz="2800" b="1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xit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xit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xit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xit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4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6" grpId="0" animBg="1"/>
      <p:bldP spid="24" grpId="0"/>
      <p:bldP spid="26" grpId="0"/>
      <p:bldP spid="33" grpId="0"/>
      <p:bldP spid="33" grpId="1"/>
      <p:bldP spid="34" grpId="0" animBg="1"/>
      <p:bldP spid="35" grpId="0" animBg="1"/>
      <p:bldP spid="36" grpId="0"/>
      <p:bldP spid="37" grpId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6.4.3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堆排序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B72AE-340C-42CD-BD59-11D32A9C74DA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468313" y="817562"/>
            <a:ext cx="7488237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>
                <a:solidFill>
                  <a:srgbClr val="0033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</a:rPr>
              <a:t>筛选算法</a:t>
            </a:r>
            <a:endParaRPr kumimoji="1" lang="zh-CN" altLang="en-US" sz="2800" b="1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" name="Text Box 31"/>
          <p:cNvSpPr txBox="1">
            <a:spLocks noChangeArrowheads="1"/>
          </p:cNvSpPr>
          <p:nvPr/>
        </p:nvSpPr>
        <p:spPr bwMode="auto">
          <a:xfrm>
            <a:off x="1187450" y="1336675"/>
            <a:ext cx="7488238" cy="526297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void 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HeapAdjust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HeapType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&amp;H,  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int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s, 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int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m)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{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int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j;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RedType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rc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;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rc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= 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H.r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[s];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for (j=2*s; j&lt;=m; j*=2) </a:t>
            </a:r>
            <a:r>
              <a:rPr kumimoji="1" lang="en-US" altLang="zh-CN" b="1" dirty="0">
                <a:latin typeface="Times New Roman" panose="02020603050405020304" pitchFamily="18" charset="0"/>
              </a:rPr>
              <a:t>//</a:t>
            </a:r>
            <a:r>
              <a:rPr kumimoji="1" lang="zh-CN" altLang="en-US" b="1" dirty="0">
                <a:latin typeface="Times New Roman" panose="02020603050405020304" pitchFamily="18" charset="0"/>
              </a:rPr>
              <a:t>沿</a:t>
            </a:r>
            <a:r>
              <a:rPr kumimoji="1" lang="en-US" altLang="zh-CN" b="1" dirty="0">
                <a:latin typeface="Times New Roman" panose="02020603050405020304" pitchFamily="18" charset="0"/>
              </a:rPr>
              <a:t>key</a:t>
            </a:r>
            <a:r>
              <a:rPr kumimoji="1" lang="zh-CN" altLang="en-US" b="1" dirty="0">
                <a:latin typeface="Times New Roman" panose="02020603050405020304" pitchFamily="18" charset="0"/>
              </a:rPr>
              <a:t>较大的孩子结点向下筛选</a:t>
            </a:r>
            <a:endParaRPr kumimoji="1" lang="en-US" altLang="zh-CN" b="1" dirty="0"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    {if (j&lt;m &amp;&amp; </a:t>
            </a:r>
            <a:r>
              <a:rPr kumimoji="1" lang="en-US" altLang="zh-CN" sz="2800" b="1" dirty="0" err="1">
                <a:solidFill>
                  <a:srgbClr val="FF3300"/>
                </a:solidFill>
                <a:latin typeface="Times New Roman" panose="02020603050405020304" pitchFamily="18" charset="0"/>
              </a:rPr>
              <a:t>H.r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[j].key&lt;</a:t>
            </a:r>
            <a:r>
              <a:rPr kumimoji="1" lang="en-US" altLang="zh-CN" sz="2800" b="1" dirty="0" err="1">
                <a:solidFill>
                  <a:srgbClr val="FF3300"/>
                </a:solidFill>
                <a:latin typeface="Times New Roman" panose="02020603050405020304" pitchFamily="18" charset="0"/>
              </a:rPr>
              <a:t>H.r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[j+1].key)</a:t>
            </a:r>
            <a:endParaRPr kumimoji="1" lang="en-US" altLang="zh-CN" sz="2800" b="1" dirty="0">
              <a:solidFill>
                <a:srgbClr val="FF33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       ++j;  </a:t>
            </a:r>
            <a:r>
              <a:rPr kumimoji="1" lang="en-US" altLang="zh-CN" sz="2000" b="1" dirty="0">
                <a:latin typeface="Times New Roman" panose="02020603050405020304" pitchFamily="18" charset="0"/>
              </a:rPr>
              <a:t>//j</a:t>
            </a:r>
            <a:r>
              <a:rPr kumimoji="1" lang="zh-CN" altLang="en-US" sz="2000" b="1" dirty="0">
                <a:latin typeface="Times New Roman" panose="02020603050405020304" pitchFamily="18" charset="0"/>
              </a:rPr>
              <a:t>为</a:t>
            </a:r>
            <a:r>
              <a:rPr kumimoji="1" lang="en-US" altLang="zh-CN" sz="2000" b="1" dirty="0">
                <a:latin typeface="Times New Roman" panose="02020603050405020304" pitchFamily="18" charset="0"/>
              </a:rPr>
              <a:t>key</a:t>
            </a:r>
            <a:r>
              <a:rPr kumimoji="1" lang="zh-CN" altLang="en-US" sz="2000" b="1" dirty="0">
                <a:latin typeface="Times New Roman" panose="02020603050405020304" pitchFamily="18" charset="0"/>
              </a:rPr>
              <a:t>较大的记录的下标</a:t>
            </a:r>
            <a:endParaRPr kumimoji="1" lang="en-US" altLang="zh-CN" sz="2000" b="1" dirty="0"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     if (</a:t>
            </a:r>
            <a:r>
              <a:rPr kumimoji="1" lang="en-US" altLang="zh-CN" sz="2800" b="1" dirty="0" err="1">
                <a:solidFill>
                  <a:srgbClr val="FF3300"/>
                </a:solidFill>
                <a:latin typeface="Times New Roman" panose="02020603050405020304" pitchFamily="18" charset="0"/>
              </a:rPr>
              <a:t>rc.key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 &gt;= </a:t>
            </a:r>
            <a:r>
              <a:rPr kumimoji="1" lang="en-US" altLang="zh-CN" sz="2800" b="1" dirty="0" err="1">
                <a:solidFill>
                  <a:srgbClr val="FF3300"/>
                </a:solidFill>
                <a:latin typeface="Times New Roman" panose="02020603050405020304" pitchFamily="18" charset="0"/>
              </a:rPr>
              <a:t>H.r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[j].key)   break; </a:t>
            </a:r>
            <a:endParaRPr kumimoji="1" lang="en-US" altLang="zh-CN" sz="2800" b="1" dirty="0">
              <a:solidFill>
                <a:srgbClr val="FF33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    </a:t>
            </a:r>
            <a:r>
              <a:rPr kumimoji="1" lang="en-US" altLang="zh-CN" sz="2800" b="1" dirty="0" err="1">
                <a:solidFill>
                  <a:srgbClr val="FF3300"/>
                </a:solidFill>
                <a:latin typeface="Times New Roman" panose="02020603050405020304" pitchFamily="18" charset="0"/>
              </a:rPr>
              <a:t>H.r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[s] = </a:t>
            </a:r>
            <a:r>
              <a:rPr kumimoji="1" lang="en-US" altLang="zh-CN" sz="2800" b="1" dirty="0" err="1">
                <a:solidFill>
                  <a:srgbClr val="FF3300"/>
                </a:solidFill>
                <a:latin typeface="Times New Roman" panose="02020603050405020304" pitchFamily="18" charset="0"/>
              </a:rPr>
              <a:t>H.r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[j];  s = j; </a:t>
            </a:r>
            <a:r>
              <a:rPr kumimoji="1" lang="en-US" altLang="zh-CN" sz="2000" b="1" dirty="0">
                <a:latin typeface="Times New Roman" panose="02020603050405020304" pitchFamily="18" charset="0"/>
              </a:rPr>
              <a:t>//</a:t>
            </a:r>
            <a:r>
              <a:rPr kumimoji="1" lang="en-US" altLang="zh-CN" sz="2000" b="1" dirty="0" err="1">
                <a:latin typeface="Times New Roman" panose="02020603050405020304" pitchFamily="18" charset="0"/>
              </a:rPr>
              <a:t>rc</a:t>
            </a:r>
            <a:r>
              <a:rPr kumimoji="1" lang="zh-CN" altLang="en-US" sz="2000" b="1" dirty="0">
                <a:latin typeface="Times New Roman" panose="02020603050405020304" pitchFamily="18" charset="0"/>
              </a:rPr>
              <a:t>应插入在位置</a:t>
            </a:r>
            <a:r>
              <a:rPr kumimoji="1" lang="en-US" altLang="zh-CN" sz="2000" b="1" dirty="0">
                <a:latin typeface="Times New Roman" panose="02020603050405020304" pitchFamily="18" charset="0"/>
              </a:rPr>
              <a:t>s</a:t>
            </a:r>
            <a:r>
              <a:rPr kumimoji="1" lang="zh-CN" altLang="en-US" sz="2000" b="1" dirty="0">
                <a:latin typeface="Times New Roman" panose="02020603050405020304" pitchFamily="18" charset="0"/>
              </a:rPr>
              <a:t>上</a:t>
            </a:r>
            <a:endParaRPr kumimoji="1" lang="en-US" altLang="zh-CN" sz="2000" b="1" dirty="0"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}</a:t>
            </a:r>
            <a:endParaRPr kumimoji="1" lang="en-US" altLang="zh-CN" sz="28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H.r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[s] = 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rc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;  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// 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插入</a:t>
            </a:r>
            <a:endParaRPr kumimoji="1" lang="zh-CN" altLang="en-US" sz="2400" b="1" dirty="0"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} // 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HeapAdjust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561663" y="1883664"/>
            <a:ext cx="511402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2000" b="1" dirty="0">
                <a:solidFill>
                  <a:prstClr val="black"/>
                </a:solidFill>
              </a:rPr>
              <a:t>//</a:t>
            </a:r>
            <a:r>
              <a:rPr lang="zh-CN" altLang="en-US" sz="2000" b="1" dirty="0">
                <a:solidFill>
                  <a:prstClr val="black"/>
                </a:solidFill>
              </a:rPr>
              <a:t>已知</a:t>
            </a:r>
            <a:r>
              <a:rPr lang="en-US" altLang="zh-CN" sz="2000" b="1" dirty="0" err="1">
                <a:solidFill>
                  <a:prstClr val="black"/>
                </a:solidFill>
              </a:rPr>
              <a:t>H.r</a:t>
            </a:r>
            <a:r>
              <a:rPr lang="en-US" altLang="zh-CN" sz="2000" b="1" dirty="0">
                <a:solidFill>
                  <a:prstClr val="black"/>
                </a:solidFill>
              </a:rPr>
              <a:t>[s…m]</a:t>
            </a:r>
            <a:r>
              <a:rPr lang="zh-CN" altLang="en-US" sz="2000" b="1" dirty="0">
                <a:solidFill>
                  <a:prstClr val="black"/>
                </a:solidFill>
              </a:rPr>
              <a:t>中的记录关键字除</a:t>
            </a:r>
            <a:r>
              <a:rPr lang="en-US" altLang="zh-CN" sz="2000" b="1" dirty="0" err="1">
                <a:solidFill>
                  <a:prstClr val="black"/>
                </a:solidFill>
              </a:rPr>
              <a:t>H.r</a:t>
            </a:r>
            <a:r>
              <a:rPr lang="en-US" altLang="zh-CN" sz="2000" b="1" dirty="0">
                <a:solidFill>
                  <a:prstClr val="black"/>
                </a:solidFill>
              </a:rPr>
              <a:t>[s].key</a:t>
            </a:r>
            <a:r>
              <a:rPr lang="zh-CN" altLang="en-US" sz="2000" b="1" dirty="0">
                <a:solidFill>
                  <a:prstClr val="black"/>
                </a:solidFill>
              </a:rPr>
              <a:t>之外均满足堆的定义，本函数调整</a:t>
            </a:r>
            <a:r>
              <a:rPr lang="en-US" altLang="zh-CN" sz="2000" b="1" dirty="0" err="1">
                <a:solidFill>
                  <a:prstClr val="black"/>
                </a:solidFill>
              </a:rPr>
              <a:t>H.r</a:t>
            </a:r>
            <a:r>
              <a:rPr lang="en-US" altLang="zh-CN" sz="2000" b="1" dirty="0">
                <a:solidFill>
                  <a:prstClr val="black"/>
                </a:solidFill>
              </a:rPr>
              <a:t>[s]</a:t>
            </a:r>
            <a:r>
              <a:rPr lang="zh-CN" altLang="en-US" sz="2000" b="1" dirty="0">
                <a:solidFill>
                  <a:prstClr val="black"/>
                </a:solidFill>
              </a:rPr>
              <a:t>的关键字，使得</a:t>
            </a:r>
            <a:r>
              <a:rPr lang="en-US" altLang="zh-CN" sz="2000" b="1" dirty="0" err="1">
                <a:solidFill>
                  <a:prstClr val="black"/>
                </a:solidFill>
              </a:rPr>
              <a:t>H.r</a:t>
            </a:r>
            <a:r>
              <a:rPr lang="en-US" altLang="zh-CN" sz="2000" b="1" dirty="0">
                <a:solidFill>
                  <a:prstClr val="black"/>
                </a:solidFill>
              </a:rPr>
              <a:t>[s…m]</a:t>
            </a:r>
            <a:r>
              <a:rPr lang="zh-CN" altLang="en-US" sz="2000" b="1" dirty="0">
                <a:solidFill>
                  <a:prstClr val="black"/>
                </a:solidFill>
              </a:rPr>
              <a:t>成为大根堆；</a:t>
            </a:r>
            <a:endParaRPr lang="zh-CN" altLang="en-US" sz="2000" b="1" dirty="0">
              <a:solidFill>
                <a:prstClr val="black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6.4.3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堆排序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77CB7-28E3-4E0F-9255-E3CB32CC70DA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539750" y="931862"/>
            <a:ext cx="5616575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>
                <a:solidFill>
                  <a:srgbClr val="0033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</a:rPr>
              <a:t>建堆算法代码</a:t>
            </a:r>
            <a:endParaRPr kumimoji="1" lang="zh-CN" altLang="en-US" sz="2800" b="1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" name="Text Box 6"/>
          <p:cNvSpPr txBox="1">
            <a:spLocks noChangeArrowheads="1"/>
          </p:cNvSpPr>
          <p:nvPr/>
        </p:nvSpPr>
        <p:spPr bwMode="auto">
          <a:xfrm>
            <a:off x="685801" y="3092450"/>
            <a:ext cx="8458200" cy="113877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for (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=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H.length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/2; 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&gt;0; --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)//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对每个非终端结点进行调整</a:t>
            </a:r>
            <a:r>
              <a:rPr kumimoji="1" lang="en-US" altLang="zh-CN" sz="4000" b="1" dirty="0">
                <a:latin typeface="Times New Roman" panose="02020603050405020304" pitchFamily="18" charset="0"/>
              </a:rPr>
              <a:t> 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HeapAdjust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( H, 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, 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H.length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);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6.4.3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堆排序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80A59-9B62-420C-9103-ECA51118F80D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468313" y="838200"/>
            <a:ext cx="5976937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>
                <a:solidFill>
                  <a:srgbClr val="0033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</a:rPr>
              <a:t>堆排序算法代码</a:t>
            </a:r>
            <a:endParaRPr kumimoji="1" lang="zh-CN" altLang="en-US" sz="2800" b="1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" name="Text Box 7"/>
          <p:cNvSpPr txBox="1">
            <a:spLocks noChangeArrowheads="1"/>
          </p:cNvSpPr>
          <p:nvPr/>
        </p:nvSpPr>
        <p:spPr bwMode="auto">
          <a:xfrm>
            <a:off x="1187450" y="1603375"/>
            <a:ext cx="7346950" cy="483209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void 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HeapSort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HeapType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&amp;H) {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int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;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RcdType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temp;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for (</a:t>
            </a:r>
            <a:r>
              <a:rPr kumimoji="1" lang="en-US" altLang="zh-CN" sz="2800" b="1" dirty="0" err="1">
                <a:solidFill>
                  <a:srgbClr val="FF330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=</a:t>
            </a:r>
            <a:r>
              <a:rPr kumimoji="1" lang="en-US" altLang="zh-CN" sz="2800" b="1" dirty="0" err="1">
                <a:solidFill>
                  <a:srgbClr val="FF3300"/>
                </a:solidFill>
                <a:latin typeface="Times New Roman" panose="02020603050405020304" pitchFamily="18" charset="0"/>
              </a:rPr>
              <a:t>H.length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/2; </a:t>
            </a:r>
            <a:r>
              <a:rPr kumimoji="1" lang="en-US" altLang="zh-CN" sz="2800" b="1" dirty="0" err="1">
                <a:solidFill>
                  <a:srgbClr val="FF330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&gt;0; --</a:t>
            </a:r>
            <a:r>
              <a:rPr kumimoji="1" lang="en-US" altLang="zh-CN" sz="2800" b="1" dirty="0" err="1">
                <a:solidFill>
                  <a:srgbClr val="FF330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) </a:t>
            </a:r>
            <a:endParaRPr kumimoji="1" lang="en-US" altLang="zh-CN" sz="2800" b="1" dirty="0">
              <a:solidFill>
                <a:srgbClr val="FF33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     </a:t>
            </a:r>
            <a:r>
              <a:rPr kumimoji="1" lang="en-US" altLang="zh-CN" sz="2800" b="1" dirty="0" err="1">
                <a:solidFill>
                  <a:srgbClr val="FF3300"/>
                </a:solidFill>
                <a:latin typeface="Times New Roman" panose="02020603050405020304" pitchFamily="18" charset="0"/>
              </a:rPr>
              <a:t>HeapAdjust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 ( H, </a:t>
            </a:r>
            <a:r>
              <a:rPr kumimoji="1" lang="en-US" altLang="zh-CN" sz="2800" b="1" dirty="0" err="1">
                <a:solidFill>
                  <a:srgbClr val="FF330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, </a:t>
            </a:r>
            <a:r>
              <a:rPr kumimoji="1" lang="en-US" altLang="zh-CN" sz="2800" b="1" dirty="0" err="1">
                <a:solidFill>
                  <a:srgbClr val="FF3300"/>
                </a:solidFill>
                <a:latin typeface="Times New Roman" panose="02020603050405020304" pitchFamily="18" charset="0"/>
              </a:rPr>
              <a:t>H.length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 ); 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//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建堆</a:t>
            </a:r>
            <a:endParaRPr kumimoji="1" lang="en-US" altLang="zh-CN" sz="2400" b="1" dirty="0"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      for (</a:t>
            </a:r>
            <a:r>
              <a:rPr kumimoji="1" lang="en-US" altLang="zh-CN" sz="2800" b="1" dirty="0" err="1">
                <a:solidFill>
                  <a:srgbClr val="FF330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=</a:t>
            </a:r>
            <a:r>
              <a:rPr kumimoji="1" lang="en-US" altLang="zh-CN" sz="2800" b="1" dirty="0" err="1">
                <a:solidFill>
                  <a:srgbClr val="FF3300"/>
                </a:solidFill>
                <a:latin typeface="Times New Roman" panose="02020603050405020304" pitchFamily="18" charset="0"/>
              </a:rPr>
              <a:t>H.length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; </a:t>
            </a:r>
            <a:r>
              <a:rPr kumimoji="1" lang="en-US" altLang="zh-CN" sz="2800" b="1" dirty="0" err="1">
                <a:solidFill>
                  <a:srgbClr val="FF330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&gt;1; --</a:t>
            </a:r>
            <a:r>
              <a:rPr kumimoji="1" lang="en-US" altLang="zh-CN" sz="2800" b="1" dirty="0" err="1">
                <a:solidFill>
                  <a:srgbClr val="FF330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) {</a:t>
            </a:r>
            <a:endParaRPr kumimoji="1" lang="en-US" altLang="zh-CN" sz="2800" b="1" dirty="0">
              <a:solidFill>
                <a:srgbClr val="FF33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         temp=</a:t>
            </a:r>
            <a:r>
              <a:rPr kumimoji="1" lang="en-US" altLang="zh-CN" sz="2800" b="1" dirty="0" err="1">
                <a:solidFill>
                  <a:srgbClr val="FF3300"/>
                </a:solidFill>
                <a:latin typeface="Times New Roman" panose="02020603050405020304" pitchFamily="18" charset="0"/>
              </a:rPr>
              <a:t>H.r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[</a:t>
            </a:r>
            <a:r>
              <a:rPr kumimoji="1" lang="en-US" altLang="zh-CN" sz="2800" b="1" dirty="0" err="1">
                <a:solidFill>
                  <a:srgbClr val="FF330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];</a:t>
            </a:r>
            <a:r>
              <a:rPr kumimoji="1" lang="en-US" altLang="zh-CN" sz="2800" b="1" dirty="0" err="1">
                <a:solidFill>
                  <a:srgbClr val="FF3300"/>
                </a:solidFill>
                <a:latin typeface="Times New Roman" panose="02020603050405020304" pitchFamily="18" charset="0"/>
              </a:rPr>
              <a:t>H.r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[</a:t>
            </a:r>
            <a:r>
              <a:rPr kumimoji="1" lang="en-US" altLang="zh-CN" sz="2800" b="1" dirty="0" err="1">
                <a:solidFill>
                  <a:srgbClr val="FF330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]=</a:t>
            </a:r>
            <a:r>
              <a:rPr kumimoji="1" lang="en-US" altLang="zh-CN" sz="2800" b="1" dirty="0" err="1">
                <a:solidFill>
                  <a:srgbClr val="FF3300"/>
                </a:solidFill>
                <a:latin typeface="Times New Roman" panose="02020603050405020304" pitchFamily="18" charset="0"/>
              </a:rPr>
              <a:t>H.r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[1];</a:t>
            </a:r>
            <a:endParaRPr kumimoji="1" lang="en-US" altLang="zh-CN" sz="2800" b="1" dirty="0">
              <a:solidFill>
                <a:srgbClr val="FF33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     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H.r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[1]=temp; </a:t>
            </a:r>
            <a:r>
              <a:rPr kumimoji="1" lang="en-US" altLang="zh-CN" b="1" dirty="0">
                <a:latin typeface="Times New Roman" panose="02020603050405020304" pitchFamily="18" charset="0"/>
              </a:rPr>
              <a:t>//</a:t>
            </a:r>
            <a:r>
              <a:rPr kumimoji="1" lang="zh-CN" altLang="en-US" b="1" dirty="0">
                <a:latin typeface="Times New Roman" panose="02020603050405020304" pitchFamily="18" charset="0"/>
              </a:rPr>
              <a:t>将堆顶记录和子序列最后一个记录交换</a:t>
            </a:r>
            <a:r>
              <a:rPr kumimoji="1" lang="en-US" altLang="zh-CN" b="1" dirty="0">
                <a:latin typeface="Times New Roman" panose="02020603050405020304" pitchFamily="18" charset="0"/>
              </a:rPr>
              <a:t> </a:t>
            </a:r>
            <a:endParaRPr kumimoji="1" lang="en-US" altLang="zh-CN" b="1" dirty="0"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     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HeapAdjust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(H, 1, i-1); </a:t>
            </a:r>
            <a:r>
              <a:rPr kumimoji="1" lang="en-US" altLang="zh-CN" sz="2000" b="1" dirty="0">
                <a:latin typeface="Times New Roman" panose="02020603050405020304" pitchFamily="18" charset="0"/>
              </a:rPr>
              <a:t>//</a:t>
            </a:r>
            <a:r>
              <a:rPr kumimoji="1" lang="zh-CN" altLang="en-US" sz="2000" b="1" dirty="0">
                <a:latin typeface="Times New Roman" panose="02020603050405020304" pitchFamily="18" charset="0"/>
              </a:rPr>
              <a:t>重新调整为大根堆</a:t>
            </a:r>
            <a:endParaRPr kumimoji="1" lang="en-US" altLang="zh-CN" sz="2000" b="1" dirty="0"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 }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} // 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HeapSort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6.4.3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堆排序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3D71B-1CE9-4A23-9C92-7D4FA0583A31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468313" y="838200"/>
            <a:ext cx="7850187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>
                <a:solidFill>
                  <a:srgbClr val="0033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</a:rPr>
              <a:t>算法分析</a:t>
            </a:r>
            <a:endParaRPr kumimoji="1" lang="zh-CN" altLang="en-US" sz="2800" b="1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1563688" y="4151312"/>
            <a:ext cx="2792412" cy="5826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{2</a:t>
            </a:r>
            <a:r>
              <a:rPr kumimoji="1"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，</a:t>
            </a:r>
            <a:r>
              <a:rPr kumimoji="1"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38</a:t>
            </a:r>
            <a:r>
              <a:rPr kumimoji="1" lang="zh-CN" altLang="en-US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，</a:t>
            </a:r>
            <a:r>
              <a:rPr kumimoji="1" lang="en-US" altLang="zh-CN" sz="2800" b="1" u="sng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38</a:t>
            </a:r>
            <a:r>
              <a:rPr kumimoji="1" lang="en-US" altLang="zh-CN" sz="28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} </a:t>
            </a:r>
            <a:endParaRPr kumimoji="1" lang="en-US" altLang="zh-CN" sz="2800" b="1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5" name="Oval 4"/>
          <p:cNvSpPr>
            <a:spLocks noChangeArrowheads="1"/>
          </p:cNvSpPr>
          <p:nvPr/>
        </p:nvSpPr>
        <p:spPr bwMode="auto">
          <a:xfrm>
            <a:off x="1187450" y="5576887"/>
            <a:ext cx="457200" cy="38100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38</a:t>
            </a:r>
            <a:endParaRPr kumimoji="1" lang="en-US" altLang="zh-CN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16" name="Oval 5"/>
          <p:cNvSpPr>
            <a:spLocks noChangeArrowheads="1"/>
          </p:cNvSpPr>
          <p:nvPr/>
        </p:nvSpPr>
        <p:spPr bwMode="auto">
          <a:xfrm>
            <a:off x="1873250" y="4891087"/>
            <a:ext cx="457200" cy="38100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2</a:t>
            </a:r>
            <a:endParaRPr kumimoji="1" lang="en-US" altLang="zh-CN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17" name="Oval 6"/>
          <p:cNvSpPr>
            <a:spLocks noChangeArrowheads="1"/>
          </p:cNvSpPr>
          <p:nvPr/>
        </p:nvSpPr>
        <p:spPr bwMode="auto">
          <a:xfrm>
            <a:off x="2635250" y="5576887"/>
            <a:ext cx="457200" cy="38100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sng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38</a:t>
            </a:r>
            <a:endParaRPr kumimoji="1" lang="en-US" altLang="zh-CN" sz="2800" b="0" i="0" u="sng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18" name="Line 7"/>
          <p:cNvSpPr>
            <a:spLocks noChangeShapeType="1"/>
          </p:cNvSpPr>
          <p:nvPr/>
        </p:nvSpPr>
        <p:spPr bwMode="auto">
          <a:xfrm flipH="1">
            <a:off x="1492250" y="5195887"/>
            <a:ext cx="381000" cy="38100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9" name="Line 8"/>
          <p:cNvSpPr>
            <a:spLocks noChangeShapeType="1"/>
          </p:cNvSpPr>
          <p:nvPr/>
        </p:nvSpPr>
        <p:spPr bwMode="auto">
          <a:xfrm>
            <a:off x="2254250" y="5195887"/>
            <a:ext cx="457200" cy="45720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0" name="Oval 9"/>
          <p:cNvSpPr>
            <a:spLocks noChangeArrowheads="1"/>
          </p:cNvSpPr>
          <p:nvPr/>
        </p:nvSpPr>
        <p:spPr bwMode="auto">
          <a:xfrm>
            <a:off x="3746500" y="5576887"/>
            <a:ext cx="457200" cy="38100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2</a:t>
            </a:r>
            <a:endParaRPr kumimoji="1" lang="en-US" altLang="zh-CN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21" name="Oval 10"/>
          <p:cNvSpPr>
            <a:spLocks noChangeArrowheads="1"/>
          </p:cNvSpPr>
          <p:nvPr/>
        </p:nvSpPr>
        <p:spPr bwMode="auto">
          <a:xfrm>
            <a:off x="4432300" y="4891087"/>
            <a:ext cx="457200" cy="38100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38</a:t>
            </a:r>
            <a:endParaRPr kumimoji="1" lang="en-US" altLang="zh-CN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22" name="Oval 11"/>
          <p:cNvSpPr>
            <a:spLocks noChangeArrowheads="1"/>
          </p:cNvSpPr>
          <p:nvPr/>
        </p:nvSpPr>
        <p:spPr bwMode="auto">
          <a:xfrm>
            <a:off x="5194300" y="5576887"/>
            <a:ext cx="457200" cy="38100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sng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38</a:t>
            </a:r>
            <a:endParaRPr kumimoji="1" lang="en-US" altLang="zh-CN" sz="2800" b="0" i="0" u="sng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23" name="Line 12"/>
          <p:cNvSpPr>
            <a:spLocks noChangeShapeType="1"/>
          </p:cNvSpPr>
          <p:nvPr/>
        </p:nvSpPr>
        <p:spPr bwMode="auto">
          <a:xfrm flipH="1">
            <a:off x="4051300" y="5195887"/>
            <a:ext cx="381000" cy="38100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4" name="Line 13"/>
          <p:cNvSpPr>
            <a:spLocks noChangeShapeType="1"/>
          </p:cNvSpPr>
          <p:nvPr/>
        </p:nvSpPr>
        <p:spPr bwMode="auto">
          <a:xfrm>
            <a:off x="4813300" y="5195887"/>
            <a:ext cx="457200" cy="45720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5" name="Oval 14"/>
          <p:cNvSpPr>
            <a:spLocks noChangeArrowheads="1"/>
          </p:cNvSpPr>
          <p:nvPr/>
        </p:nvSpPr>
        <p:spPr bwMode="auto">
          <a:xfrm>
            <a:off x="6122988" y="5505450"/>
            <a:ext cx="457200" cy="38100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2</a:t>
            </a:r>
            <a:endParaRPr kumimoji="1" lang="en-US" altLang="zh-CN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26" name="Oval 15"/>
          <p:cNvSpPr>
            <a:spLocks noChangeArrowheads="1"/>
          </p:cNvSpPr>
          <p:nvPr/>
        </p:nvSpPr>
        <p:spPr bwMode="auto">
          <a:xfrm>
            <a:off x="6808788" y="4819650"/>
            <a:ext cx="457200" cy="38100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sng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38</a:t>
            </a:r>
            <a:endParaRPr kumimoji="1" lang="en-US" altLang="zh-CN" sz="2800" b="0" i="0" u="sng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27" name="Oval 16"/>
          <p:cNvSpPr>
            <a:spLocks noChangeArrowheads="1"/>
          </p:cNvSpPr>
          <p:nvPr/>
        </p:nvSpPr>
        <p:spPr bwMode="auto">
          <a:xfrm>
            <a:off x="7570788" y="5505450"/>
            <a:ext cx="457200" cy="381000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38</a:t>
            </a:r>
            <a:endParaRPr kumimoji="1" lang="en-US" altLang="zh-CN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28" name="Line 17"/>
          <p:cNvSpPr>
            <a:spLocks noChangeShapeType="1"/>
          </p:cNvSpPr>
          <p:nvPr/>
        </p:nvSpPr>
        <p:spPr bwMode="auto">
          <a:xfrm flipH="1">
            <a:off x="6427788" y="5124450"/>
            <a:ext cx="381000" cy="38100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9" name="Line 18"/>
          <p:cNvSpPr>
            <a:spLocks noChangeShapeType="1"/>
          </p:cNvSpPr>
          <p:nvPr/>
        </p:nvSpPr>
        <p:spPr bwMode="auto">
          <a:xfrm>
            <a:off x="7189788" y="5124450"/>
            <a:ext cx="457200" cy="45720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 wrap="none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0" name="Text Box 22"/>
          <p:cNvSpPr txBox="1">
            <a:spLocks noChangeArrowheads="1"/>
          </p:cNvSpPr>
          <p:nvPr/>
        </p:nvSpPr>
        <p:spPr bwMode="auto">
          <a:xfrm>
            <a:off x="971550" y="1485900"/>
            <a:ext cx="7272338" cy="2456057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(1)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堆排序是</a:t>
            </a:r>
            <a:r>
              <a:rPr kumimoji="1" lang="zh-CN" altLang="en-US" sz="3200" b="1" u="sng" dirty="0">
                <a:solidFill>
                  <a:srgbClr val="FF3300"/>
                </a:solidFill>
                <a:latin typeface="Times New Roman" panose="02020603050405020304" pitchFamily="18" charset="0"/>
              </a:rPr>
              <a:t>不稳定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的排序。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(2)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时间复杂度为</a:t>
            </a:r>
            <a:r>
              <a:rPr kumimoji="1" lang="en-US" altLang="zh-CN" sz="3200" b="1" u="sng" dirty="0">
                <a:solidFill>
                  <a:srgbClr val="FF3300"/>
                </a:solidFill>
                <a:latin typeface="Times New Roman" panose="02020603050405020304" pitchFamily="18" charset="0"/>
              </a:rPr>
              <a:t>O(nlog</a:t>
            </a:r>
            <a:r>
              <a:rPr kumimoji="1" lang="en-US" altLang="zh-CN" sz="3200" b="1" u="sng" baseline="-25000" dirty="0">
                <a:solidFill>
                  <a:srgbClr val="FF3300"/>
                </a:solidFill>
                <a:latin typeface="Times New Roman" panose="02020603050405020304" pitchFamily="18" charset="0"/>
              </a:rPr>
              <a:t>2</a:t>
            </a:r>
            <a:r>
              <a:rPr kumimoji="1" lang="en-US" altLang="zh-CN" sz="3200" b="1" u="sng" dirty="0">
                <a:solidFill>
                  <a:srgbClr val="FF3300"/>
                </a:solidFill>
                <a:latin typeface="Times New Roman" panose="02020603050405020304" pitchFamily="18" charset="0"/>
              </a:rPr>
              <a:t>n)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。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最坏情况下时间复杂度为</a:t>
            </a:r>
            <a:r>
              <a:rPr kumimoji="1" lang="en-US" altLang="zh-CN" sz="3200" b="1" u="sng" dirty="0">
                <a:solidFill>
                  <a:srgbClr val="FF3300"/>
                </a:solidFill>
                <a:latin typeface="Times New Roman" panose="02020603050405020304" pitchFamily="18" charset="0"/>
              </a:rPr>
              <a:t>O(nlog</a:t>
            </a:r>
            <a:r>
              <a:rPr kumimoji="1" lang="en-US" altLang="zh-CN" sz="3200" b="1" u="sng" baseline="-25000" dirty="0">
                <a:solidFill>
                  <a:srgbClr val="FF3300"/>
                </a:solidFill>
                <a:latin typeface="Times New Roman" panose="02020603050405020304" pitchFamily="18" charset="0"/>
              </a:rPr>
              <a:t>2</a:t>
            </a:r>
            <a:r>
              <a:rPr kumimoji="1" lang="en-US" altLang="zh-CN" sz="3200" b="1" u="sng" dirty="0">
                <a:solidFill>
                  <a:srgbClr val="FF3300"/>
                </a:solidFill>
                <a:latin typeface="Times New Roman" panose="02020603050405020304" pitchFamily="18" charset="0"/>
              </a:rPr>
              <a:t>n)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的算法。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(3)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空间复杂度为</a:t>
            </a:r>
            <a:r>
              <a:rPr kumimoji="1" lang="en-US" altLang="zh-CN" sz="3200" b="1" u="sng" dirty="0">
                <a:solidFill>
                  <a:srgbClr val="FF3300"/>
                </a:solidFill>
                <a:latin typeface="Times New Roman" panose="02020603050405020304" pitchFamily="18" charset="0"/>
              </a:rPr>
              <a:t>O(1)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。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F0000"/>
                </a:solidFill>
              </a:rPr>
              <a:t>第六章 排序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 lnSpcReduction="10000"/>
          </a:bodyPr>
          <a:lstStyle/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6.1 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概述</a:t>
            </a:r>
            <a:endParaRPr kumimoji="1" lang="zh-CN" altLang="en-US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6.2 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插入排序</a:t>
            </a:r>
            <a:endParaRPr kumimoji="1" lang="zh-CN" altLang="en-US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6.3 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快速排序</a:t>
            </a:r>
            <a:endParaRPr kumimoji="1" lang="zh-CN" altLang="en-US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6.4 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选择排序</a:t>
            </a:r>
            <a:endParaRPr kumimoji="1" lang="zh-CN" altLang="en-US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6.5  </a:t>
            </a:r>
            <a:r>
              <a:rPr kumimoji="1" lang="zh-CN" altLang="en-US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归并排序</a:t>
            </a:r>
            <a:endParaRPr kumimoji="1" lang="zh-CN" altLang="en-US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6.6 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基数排序</a:t>
            </a:r>
            <a:endParaRPr kumimoji="1" lang="zh-CN" altLang="en-US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6.7 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内部排序方法的比较</a:t>
            </a:r>
            <a:endParaRPr kumimoji="1" lang="zh-CN" altLang="en-US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91496-F7E1-4C84-B00B-D94939BA9479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6.5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归并排序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D8C49-06CD-4C10-B56F-1A925B725378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406400" y="949325"/>
            <a:ext cx="6686550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>
                <a:solidFill>
                  <a:srgbClr val="0033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</a:rPr>
              <a:t>归并的定义    </a:t>
            </a:r>
            <a:endParaRPr kumimoji="1" lang="zh-CN" altLang="en-US" sz="2800" b="1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" name="Text Box 4"/>
          <p:cNvSpPr txBox="1">
            <a:spLocks noChangeArrowheads="1"/>
          </p:cNvSpPr>
          <p:nvPr/>
        </p:nvSpPr>
        <p:spPr bwMode="auto">
          <a:xfrm>
            <a:off x="611188" y="2749550"/>
            <a:ext cx="7777162" cy="984250"/>
          </a:xfrm>
          <a:prstGeom prst="rect">
            <a:avLst/>
          </a:prstGeom>
          <a:noFill/>
          <a:ln w="38100" cmpd="dbl" algn="ctr">
            <a:solidFill>
              <a:srgbClr val="808000"/>
            </a:solidFill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5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707F9"/>
                </a:solidFill>
                <a:latin typeface="Times New Roman" panose="02020603050405020304" pitchFamily="18" charset="0"/>
              </a:rPr>
              <a:t>        </a:t>
            </a:r>
            <a:r>
              <a:rPr kumimoji="1" lang="zh-CN" altLang="en-US" sz="2800" b="1">
                <a:solidFill>
                  <a:srgbClr val="0707F9"/>
                </a:solidFill>
                <a:latin typeface="Times New Roman" panose="02020603050405020304" pitchFamily="18" charset="0"/>
              </a:rPr>
              <a:t>又叫合并，两个或两个以上的有序序列合并成一个有序序列。   </a:t>
            </a:r>
            <a:endParaRPr kumimoji="1" lang="zh-CN" altLang="en-US" sz="2800" b="1">
              <a:solidFill>
                <a:srgbClr val="0707F9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6.5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归并排序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A9F6D-2579-4736-82DA-810FBB9E47DD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Group 3"/>
          <p:cNvGraphicFramePr>
            <a:graphicFrameLocks noGrp="1"/>
          </p:cNvGraphicFramePr>
          <p:nvPr/>
        </p:nvGraphicFramePr>
        <p:xfrm>
          <a:off x="898525" y="2076450"/>
          <a:ext cx="7777163" cy="519113"/>
        </p:xfrm>
        <a:graphic>
          <a:graphicData uri="http://schemas.openxmlformats.org/drawingml/2006/table">
            <a:tbl>
              <a:tblPr/>
              <a:tblGrid>
                <a:gridCol w="706438"/>
                <a:gridCol w="706437"/>
                <a:gridCol w="708025"/>
                <a:gridCol w="706438"/>
                <a:gridCol w="706437"/>
                <a:gridCol w="709613"/>
                <a:gridCol w="706437"/>
                <a:gridCol w="706438"/>
                <a:gridCol w="708025"/>
                <a:gridCol w="706437"/>
                <a:gridCol w="706438"/>
              </a:tblGrid>
              <a:tr h="5191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08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25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25</a:t>
                      </a:r>
                      <a:endParaRPr kumimoji="0" lang="en-US" altLang="zh-CN" sz="2400" b="0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49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62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72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93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16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22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23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6" name="Text Box 29"/>
          <p:cNvSpPr txBox="1">
            <a:spLocks noChangeArrowheads="1"/>
          </p:cNvSpPr>
          <p:nvPr/>
        </p:nvSpPr>
        <p:spPr bwMode="auto">
          <a:xfrm>
            <a:off x="827088" y="1562100"/>
            <a:ext cx="790575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i 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7" name="Text Box 30"/>
          <p:cNvSpPr txBox="1">
            <a:spLocks noChangeArrowheads="1"/>
          </p:cNvSpPr>
          <p:nvPr/>
        </p:nvSpPr>
        <p:spPr bwMode="auto">
          <a:xfrm>
            <a:off x="6013450" y="1587500"/>
            <a:ext cx="790575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8" name="Text Box 31"/>
          <p:cNvSpPr txBox="1">
            <a:spLocks noChangeArrowheads="1"/>
          </p:cNvSpPr>
          <p:nvPr/>
        </p:nvSpPr>
        <p:spPr bwMode="auto">
          <a:xfrm>
            <a:off x="8029575" y="1587500"/>
            <a:ext cx="574675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9" name="Group 90"/>
          <p:cNvGraphicFramePr>
            <a:graphicFrameLocks noGrp="1"/>
          </p:cNvGraphicFramePr>
          <p:nvPr/>
        </p:nvGraphicFramePr>
        <p:xfrm>
          <a:off x="971550" y="5173662"/>
          <a:ext cx="7777163" cy="459360"/>
        </p:xfrm>
        <a:graphic>
          <a:graphicData uri="http://schemas.openxmlformats.org/drawingml/2006/table">
            <a:tbl>
              <a:tblPr/>
              <a:tblGrid>
                <a:gridCol w="706438"/>
                <a:gridCol w="706437"/>
                <a:gridCol w="708025"/>
                <a:gridCol w="706438"/>
                <a:gridCol w="706437"/>
                <a:gridCol w="709613"/>
                <a:gridCol w="706437"/>
                <a:gridCol w="706438"/>
                <a:gridCol w="708025"/>
                <a:gridCol w="706437"/>
                <a:gridCol w="706438"/>
              </a:tblGrid>
              <a:tr h="3762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400" b="0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0" name="Text Box 58"/>
          <p:cNvSpPr txBox="1">
            <a:spLocks noChangeArrowheads="1"/>
          </p:cNvSpPr>
          <p:nvPr/>
        </p:nvSpPr>
        <p:spPr bwMode="auto">
          <a:xfrm>
            <a:off x="900113" y="4586287"/>
            <a:ext cx="790575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i 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1" name="Text Box 59"/>
          <p:cNvSpPr txBox="1">
            <a:spLocks noChangeArrowheads="1"/>
          </p:cNvSpPr>
          <p:nvPr/>
        </p:nvSpPr>
        <p:spPr bwMode="auto">
          <a:xfrm>
            <a:off x="8029575" y="4586287"/>
            <a:ext cx="430213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2" name="Text Box 60"/>
          <p:cNvSpPr txBox="1">
            <a:spLocks noChangeArrowheads="1"/>
          </p:cNvSpPr>
          <p:nvPr/>
        </p:nvSpPr>
        <p:spPr bwMode="auto">
          <a:xfrm>
            <a:off x="25400" y="1993900"/>
            <a:ext cx="874713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SR[]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3" name="Text Box 61"/>
          <p:cNvSpPr txBox="1">
            <a:spLocks noChangeArrowheads="1"/>
          </p:cNvSpPr>
          <p:nvPr/>
        </p:nvSpPr>
        <p:spPr bwMode="auto">
          <a:xfrm>
            <a:off x="34925" y="5162550"/>
            <a:ext cx="865188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lIns="90000" tIns="46800" rIns="90000" bIns="46800"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TR[]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4" name="Text Box 62"/>
          <p:cNvSpPr txBox="1">
            <a:spLocks noChangeArrowheads="1"/>
          </p:cNvSpPr>
          <p:nvPr/>
        </p:nvSpPr>
        <p:spPr bwMode="auto">
          <a:xfrm>
            <a:off x="1031875" y="2714625"/>
            <a:ext cx="369888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lIns="90000" tIns="46800" rIns="90000" bIns="46800"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5" name="Text Box 63"/>
          <p:cNvSpPr txBox="1">
            <a:spLocks noChangeArrowheads="1"/>
          </p:cNvSpPr>
          <p:nvPr/>
        </p:nvSpPr>
        <p:spPr bwMode="auto">
          <a:xfrm>
            <a:off x="6650038" y="2668587"/>
            <a:ext cx="369887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j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6" name="Text Box 64"/>
          <p:cNvSpPr txBox="1">
            <a:spLocks noChangeArrowheads="1"/>
          </p:cNvSpPr>
          <p:nvPr/>
        </p:nvSpPr>
        <p:spPr bwMode="auto">
          <a:xfrm>
            <a:off x="971550" y="5162550"/>
            <a:ext cx="576263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lIns="90000" tIns="46800" rIns="90000" bIns="46800"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08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7" name="Text Box 65"/>
          <p:cNvSpPr txBox="1">
            <a:spLocks noChangeArrowheads="1"/>
          </p:cNvSpPr>
          <p:nvPr/>
        </p:nvSpPr>
        <p:spPr bwMode="auto">
          <a:xfrm>
            <a:off x="1681163" y="2714625"/>
            <a:ext cx="369887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lIns="90000" tIns="46800" rIns="90000" bIns="46800"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8" name="Text Box 66"/>
          <p:cNvSpPr txBox="1">
            <a:spLocks noChangeArrowheads="1"/>
          </p:cNvSpPr>
          <p:nvPr/>
        </p:nvSpPr>
        <p:spPr bwMode="auto">
          <a:xfrm>
            <a:off x="7297738" y="2668587"/>
            <a:ext cx="369887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j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9" name="Text Box 67"/>
          <p:cNvSpPr txBox="1">
            <a:spLocks noChangeArrowheads="1"/>
          </p:cNvSpPr>
          <p:nvPr/>
        </p:nvSpPr>
        <p:spPr bwMode="auto">
          <a:xfrm>
            <a:off x="1692275" y="5164137"/>
            <a:ext cx="576263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lIns="90000" tIns="46800" rIns="90000" bIns="46800"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16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0" name="Text Box 68"/>
          <p:cNvSpPr txBox="1">
            <a:spLocks noChangeArrowheads="1"/>
          </p:cNvSpPr>
          <p:nvPr/>
        </p:nvSpPr>
        <p:spPr bwMode="auto">
          <a:xfrm>
            <a:off x="2482850" y="5162550"/>
            <a:ext cx="576263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lIns="90000" tIns="46800" rIns="90000" bIns="46800"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21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1" name="Text Box 69"/>
          <p:cNvSpPr txBox="1">
            <a:spLocks noChangeArrowheads="1"/>
          </p:cNvSpPr>
          <p:nvPr/>
        </p:nvSpPr>
        <p:spPr bwMode="auto">
          <a:xfrm>
            <a:off x="3203575" y="5162550"/>
            <a:ext cx="576263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lIns="90000" tIns="46800" rIns="90000" bIns="46800"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22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2" name="Text Box 70"/>
          <p:cNvSpPr txBox="1">
            <a:spLocks noChangeArrowheads="1"/>
          </p:cNvSpPr>
          <p:nvPr/>
        </p:nvSpPr>
        <p:spPr bwMode="auto">
          <a:xfrm>
            <a:off x="3851275" y="5162550"/>
            <a:ext cx="576263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lIns="90000" tIns="46800" rIns="90000" bIns="46800"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23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3" name="Text Box 71"/>
          <p:cNvSpPr txBox="1">
            <a:spLocks noChangeArrowheads="1"/>
          </p:cNvSpPr>
          <p:nvPr/>
        </p:nvSpPr>
        <p:spPr bwMode="auto">
          <a:xfrm>
            <a:off x="4572000" y="5162550"/>
            <a:ext cx="576263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lIns="90000" tIns="46800" rIns="90000" bIns="46800"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25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4" name="Text Box 72"/>
          <p:cNvSpPr txBox="1">
            <a:spLocks noChangeArrowheads="1"/>
          </p:cNvSpPr>
          <p:nvPr/>
        </p:nvSpPr>
        <p:spPr bwMode="auto">
          <a:xfrm>
            <a:off x="5291138" y="5162550"/>
            <a:ext cx="576262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lIns="90000" tIns="46800" rIns="90000" bIns="46800"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 u="sng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25</a:t>
            </a:r>
            <a:endParaRPr kumimoji="1" lang="en-US" altLang="zh-CN" sz="2800" b="1" u="sng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5" name="Text Box 73"/>
          <p:cNvSpPr txBox="1">
            <a:spLocks noChangeArrowheads="1"/>
          </p:cNvSpPr>
          <p:nvPr/>
        </p:nvSpPr>
        <p:spPr bwMode="auto">
          <a:xfrm>
            <a:off x="6011863" y="5162550"/>
            <a:ext cx="576262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lIns="90000" tIns="46800" rIns="90000" bIns="46800"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49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6" name="Text Box 74"/>
          <p:cNvSpPr txBox="1">
            <a:spLocks noChangeArrowheads="1"/>
          </p:cNvSpPr>
          <p:nvPr/>
        </p:nvSpPr>
        <p:spPr bwMode="auto">
          <a:xfrm>
            <a:off x="6659563" y="5162550"/>
            <a:ext cx="576262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lIns="90000" tIns="46800" rIns="90000" bIns="46800"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62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7" name="Text Box 75"/>
          <p:cNvSpPr txBox="1">
            <a:spLocks noChangeArrowheads="1"/>
          </p:cNvSpPr>
          <p:nvPr/>
        </p:nvSpPr>
        <p:spPr bwMode="auto">
          <a:xfrm>
            <a:off x="7451725" y="5162550"/>
            <a:ext cx="576263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lIns="90000" tIns="46800" rIns="90000" bIns="46800"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72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8" name="Text Box 76"/>
          <p:cNvSpPr txBox="1">
            <a:spLocks noChangeArrowheads="1"/>
          </p:cNvSpPr>
          <p:nvPr/>
        </p:nvSpPr>
        <p:spPr bwMode="auto">
          <a:xfrm>
            <a:off x="8099425" y="5162550"/>
            <a:ext cx="576263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lIns="90000" tIns="46800" rIns="90000" bIns="46800"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93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9" name="Text Box 77"/>
          <p:cNvSpPr txBox="1">
            <a:spLocks noChangeArrowheads="1"/>
          </p:cNvSpPr>
          <p:nvPr/>
        </p:nvSpPr>
        <p:spPr bwMode="auto">
          <a:xfrm>
            <a:off x="8089900" y="2668587"/>
            <a:ext cx="369888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j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0" name="Text Box 78"/>
          <p:cNvSpPr txBox="1">
            <a:spLocks noChangeArrowheads="1"/>
          </p:cNvSpPr>
          <p:nvPr/>
        </p:nvSpPr>
        <p:spPr bwMode="auto">
          <a:xfrm>
            <a:off x="1116013" y="5811837"/>
            <a:ext cx="369887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lIns="90000" tIns="46800" rIns="90000" bIns="46800"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1" name="Text Box 79"/>
          <p:cNvSpPr txBox="1">
            <a:spLocks noChangeArrowheads="1"/>
          </p:cNvSpPr>
          <p:nvPr/>
        </p:nvSpPr>
        <p:spPr bwMode="auto">
          <a:xfrm>
            <a:off x="1825625" y="5835650"/>
            <a:ext cx="369888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lIns="90000" tIns="46800" rIns="90000" bIns="46800"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2" name="Text Box 80"/>
          <p:cNvSpPr txBox="1">
            <a:spLocks noChangeArrowheads="1"/>
          </p:cNvSpPr>
          <p:nvPr/>
        </p:nvSpPr>
        <p:spPr bwMode="auto">
          <a:xfrm>
            <a:off x="2546350" y="5835650"/>
            <a:ext cx="369888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lIns="90000" tIns="46800" rIns="90000" bIns="46800"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3" name="Text Box 81"/>
          <p:cNvSpPr txBox="1">
            <a:spLocks noChangeArrowheads="1"/>
          </p:cNvSpPr>
          <p:nvPr/>
        </p:nvSpPr>
        <p:spPr bwMode="auto">
          <a:xfrm>
            <a:off x="2401888" y="2740025"/>
            <a:ext cx="369887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lIns="90000" tIns="46800" rIns="90000" bIns="46800"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4" name="Text Box 82"/>
          <p:cNvSpPr txBox="1">
            <a:spLocks noChangeArrowheads="1"/>
          </p:cNvSpPr>
          <p:nvPr/>
        </p:nvSpPr>
        <p:spPr bwMode="auto">
          <a:xfrm>
            <a:off x="3265488" y="5835650"/>
            <a:ext cx="369887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lIns="90000" tIns="46800" rIns="90000" bIns="46800"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5" name="Text Box 83"/>
          <p:cNvSpPr txBox="1">
            <a:spLocks noChangeArrowheads="1"/>
          </p:cNvSpPr>
          <p:nvPr/>
        </p:nvSpPr>
        <p:spPr bwMode="auto">
          <a:xfrm>
            <a:off x="3914775" y="5835650"/>
            <a:ext cx="369888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lIns="90000" tIns="46800" rIns="90000" bIns="46800"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6" name="Text Box 84"/>
          <p:cNvSpPr txBox="1">
            <a:spLocks noChangeArrowheads="1"/>
          </p:cNvSpPr>
          <p:nvPr/>
        </p:nvSpPr>
        <p:spPr bwMode="auto">
          <a:xfrm>
            <a:off x="684213" y="3290887"/>
            <a:ext cx="8280400" cy="12446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for (j=m+1, k=i;  i&lt;=m &amp;&amp; j&lt;=n;  ++k) {   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     if LQ(SR[i].key,SR[j].key)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     TR[k] = SR[i++]; else TR[k] = SR[j++]; }   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7" name="Text Box 85"/>
          <p:cNvSpPr txBox="1">
            <a:spLocks noChangeArrowheads="1"/>
          </p:cNvSpPr>
          <p:nvPr/>
        </p:nvSpPr>
        <p:spPr bwMode="auto">
          <a:xfrm>
            <a:off x="8739188" y="2643187"/>
            <a:ext cx="369887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j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8" name="Text Box 89"/>
          <p:cNvSpPr txBox="1">
            <a:spLocks noChangeArrowheads="1"/>
          </p:cNvSpPr>
          <p:nvPr/>
        </p:nvSpPr>
        <p:spPr bwMode="auto">
          <a:xfrm>
            <a:off x="395288" y="914400"/>
            <a:ext cx="3097212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>
                <a:solidFill>
                  <a:srgbClr val="0033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</a:rPr>
              <a:t>归并示例演示    </a:t>
            </a:r>
            <a:endParaRPr kumimoji="1" lang="zh-CN" altLang="en-US" sz="2800" b="1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4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5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6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7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8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9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0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2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3" grpId="0"/>
      <p:bldP spid="24" grpId="0"/>
      <p:bldP spid="24" grpId="1"/>
      <p:bldP spid="25" grpId="0"/>
      <p:bldP spid="25" grpId="1"/>
      <p:bldP spid="26" grpId="0"/>
      <p:bldP spid="27" grpId="0"/>
      <p:bldP spid="27" grpId="1"/>
      <p:bldP spid="28" grpId="0"/>
      <p:bldP spid="28" grpId="1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39" grpId="1"/>
      <p:bldP spid="40" grpId="0"/>
      <p:bldP spid="40" grpId="1"/>
      <p:bldP spid="41" grpId="0"/>
      <p:bldP spid="41" grpId="1"/>
      <p:bldP spid="42" grpId="0"/>
      <p:bldP spid="42" grpId="1"/>
      <p:bldP spid="43" grpId="0"/>
      <p:bldP spid="44" grpId="0"/>
      <p:bldP spid="44" grpId="1"/>
      <p:bldP spid="45" grpId="0"/>
      <p:bldP spid="47" grpId="0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6.5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归并排序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0562F-3520-48B9-9104-A2E0115CA919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Group 2"/>
          <p:cNvGraphicFramePr>
            <a:graphicFrameLocks noGrp="1"/>
          </p:cNvGraphicFramePr>
          <p:nvPr/>
        </p:nvGraphicFramePr>
        <p:xfrm>
          <a:off x="898525" y="2046288"/>
          <a:ext cx="7777163" cy="519113"/>
        </p:xfrm>
        <a:graphic>
          <a:graphicData uri="http://schemas.openxmlformats.org/drawingml/2006/table">
            <a:tbl>
              <a:tblPr/>
              <a:tblGrid>
                <a:gridCol w="706438"/>
                <a:gridCol w="706437"/>
                <a:gridCol w="708025"/>
                <a:gridCol w="706438"/>
                <a:gridCol w="706437"/>
                <a:gridCol w="709613"/>
                <a:gridCol w="706437"/>
                <a:gridCol w="706438"/>
                <a:gridCol w="708025"/>
                <a:gridCol w="706437"/>
                <a:gridCol w="706438"/>
              </a:tblGrid>
              <a:tr h="5191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08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25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25</a:t>
                      </a:r>
                      <a:endParaRPr kumimoji="0" lang="en-US" altLang="zh-CN" sz="2400" b="0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49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62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72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93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16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22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23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4" name="Text Box 28"/>
          <p:cNvSpPr txBox="1">
            <a:spLocks noChangeArrowheads="1"/>
          </p:cNvSpPr>
          <p:nvPr/>
        </p:nvSpPr>
        <p:spPr bwMode="auto">
          <a:xfrm>
            <a:off x="827088" y="1531938"/>
            <a:ext cx="790575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i 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5" name="Text Box 29"/>
          <p:cNvSpPr txBox="1">
            <a:spLocks noChangeArrowheads="1"/>
          </p:cNvSpPr>
          <p:nvPr/>
        </p:nvSpPr>
        <p:spPr bwMode="auto">
          <a:xfrm>
            <a:off x="6013450" y="1557338"/>
            <a:ext cx="790575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6" name="Text Box 30"/>
          <p:cNvSpPr txBox="1">
            <a:spLocks noChangeArrowheads="1"/>
          </p:cNvSpPr>
          <p:nvPr/>
        </p:nvSpPr>
        <p:spPr bwMode="auto">
          <a:xfrm>
            <a:off x="8029575" y="1557338"/>
            <a:ext cx="574675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7" name="Group 31"/>
          <p:cNvGraphicFramePr>
            <a:graphicFrameLocks noGrp="1"/>
          </p:cNvGraphicFramePr>
          <p:nvPr/>
        </p:nvGraphicFramePr>
        <p:xfrm>
          <a:off x="971550" y="5143500"/>
          <a:ext cx="7777163" cy="459360"/>
        </p:xfrm>
        <a:graphic>
          <a:graphicData uri="http://schemas.openxmlformats.org/drawingml/2006/table">
            <a:tbl>
              <a:tblPr/>
              <a:tblGrid>
                <a:gridCol w="706438"/>
                <a:gridCol w="706437"/>
                <a:gridCol w="708025"/>
                <a:gridCol w="706438"/>
                <a:gridCol w="706437"/>
                <a:gridCol w="709613"/>
                <a:gridCol w="706437"/>
                <a:gridCol w="706438"/>
                <a:gridCol w="708025"/>
                <a:gridCol w="706437"/>
                <a:gridCol w="706438"/>
              </a:tblGrid>
              <a:tr h="3762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400" b="0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8" name="Text Box 57"/>
          <p:cNvSpPr txBox="1">
            <a:spLocks noChangeArrowheads="1"/>
          </p:cNvSpPr>
          <p:nvPr/>
        </p:nvSpPr>
        <p:spPr bwMode="auto">
          <a:xfrm>
            <a:off x="900113" y="4556125"/>
            <a:ext cx="790575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i 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9" name="Text Box 58"/>
          <p:cNvSpPr txBox="1">
            <a:spLocks noChangeArrowheads="1"/>
          </p:cNvSpPr>
          <p:nvPr/>
        </p:nvSpPr>
        <p:spPr bwMode="auto">
          <a:xfrm>
            <a:off x="8029575" y="4556125"/>
            <a:ext cx="430213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0" name="Text Box 59"/>
          <p:cNvSpPr txBox="1">
            <a:spLocks noChangeArrowheads="1"/>
          </p:cNvSpPr>
          <p:nvPr/>
        </p:nvSpPr>
        <p:spPr bwMode="auto">
          <a:xfrm>
            <a:off x="25400" y="1963738"/>
            <a:ext cx="874713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SR[]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1" name="Text Box 60"/>
          <p:cNvSpPr txBox="1">
            <a:spLocks noChangeArrowheads="1"/>
          </p:cNvSpPr>
          <p:nvPr/>
        </p:nvSpPr>
        <p:spPr bwMode="auto">
          <a:xfrm>
            <a:off x="34925" y="5132388"/>
            <a:ext cx="865188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lIns="90000" tIns="46800" rIns="90000" bIns="46800"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TR[]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2" name="Text Box 61"/>
          <p:cNvSpPr txBox="1">
            <a:spLocks noChangeArrowheads="1"/>
          </p:cNvSpPr>
          <p:nvPr/>
        </p:nvSpPr>
        <p:spPr bwMode="auto">
          <a:xfrm>
            <a:off x="1031875" y="2684463"/>
            <a:ext cx="369888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lIns="90000" tIns="46800" rIns="90000" bIns="46800"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3" name="Text Box 62"/>
          <p:cNvSpPr txBox="1">
            <a:spLocks noChangeArrowheads="1"/>
          </p:cNvSpPr>
          <p:nvPr/>
        </p:nvSpPr>
        <p:spPr bwMode="auto">
          <a:xfrm>
            <a:off x="6650038" y="2638425"/>
            <a:ext cx="369887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j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4" name="Text Box 63"/>
          <p:cNvSpPr txBox="1">
            <a:spLocks noChangeArrowheads="1"/>
          </p:cNvSpPr>
          <p:nvPr/>
        </p:nvSpPr>
        <p:spPr bwMode="auto">
          <a:xfrm>
            <a:off x="971550" y="5132388"/>
            <a:ext cx="576263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lIns="90000" tIns="46800" rIns="90000" bIns="46800"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08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5" name="Text Box 64"/>
          <p:cNvSpPr txBox="1">
            <a:spLocks noChangeArrowheads="1"/>
          </p:cNvSpPr>
          <p:nvPr/>
        </p:nvSpPr>
        <p:spPr bwMode="auto">
          <a:xfrm>
            <a:off x="1681163" y="2684463"/>
            <a:ext cx="369887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lIns="90000" tIns="46800" rIns="90000" bIns="46800"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6" name="Text Box 65"/>
          <p:cNvSpPr txBox="1">
            <a:spLocks noChangeArrowheads="1"/>
          </p:cNvSpPr>
          <p:nvPr/>
        </p:nvSpPr>
        <p:spPr bwMode="auto">
          <a:xfrm>
            <a:off x="7297738" y="2638425"/>
            <a:ext cx="369887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j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7" name="Text Box 66"/>
          <p:cNvSpPr txBox="1">
            <a:spLocks noChangeArrowheads="1"/>
          </p:cNvSpPr>
          <p:nvPr/>
        </p:nvSpPr>
        <p:spPr bwMode="auto">
          <a:xfrm>
            <a:off x="1692275" y="5133975"/>
            <a:ext cx="576263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lIns="90000" tIns="46800" rIns="90000" bIns="46800"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16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8" name="Text Box 67"/>
          <p:cNvSpPr txBox="1">
            <a:spLocks noChangeArrowheads="1"/>
          </p:cNvSpPr>
          <p:nvPr/>
        </p:nvSpPr>
        <p:spPr bwMode="auto">
          <a:xfrm>
            <a:off x="2482850" y="5132388"/>
            <a:ext cx="576263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lIns="90000" tIns="46800" rIns="90000" bIns="46800"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21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9" name="Text Box 68"/>
          <p:cNvSpPr txBox="1">
            <a:spLocks noChangeArrowheads="1"/>
          </p:cNvSpPr>
          <p:nvPr/>
        </p:nvSpPr>
        <p:spPr bwMode="auto">
          <a:xfrm>
            <a:off x="3203575" y="5132388"/>
            <a:ext cx="576263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lIns="90000" tIns="46800" rIns="90000" bIns="46800"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22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0" name="Text Box 69"/>
          <p:cNvSpPr txBox="1">
            <a:spLocks noChangeArrowheads="1"/>
          </p:cNvSpPr>
          <p:nvPr/>
        </p:nvSpPr>
        <p:spPr bwMode="auto">
          <a:xfrm>
            <a:off x="3851275" y="5132388"/>
            <a:ext cx="576263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lIns="90000" tIns="46800" rIns="90000" bIns="46800"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23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1" name="Text Box 70"/>
          <p:cNvSpPr txBox="1">
            <a:spLocks noChangeArrowheads="1"/>
          </p:cNvSpPr>
          <p:nvPr/>
        </p:nvSpPr>
        <p:spPr bwMode="auto">
          <a:xfrm>
            <a:off x="4572000" y="5132388"/>
            <a:ext cx="576263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lIns="90000" tIns="46800" rIns="90000" bIns="46800"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25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2" name="Text Box 71"/>
          <p:cNvSpPr txBox="1">
            <a:spLocks noChangeArrowheads="1"/>
          </p:cNvSpPr>
          <p:nvPr/>
        </p:nvSpPr>
        <p:spPr bwMode="auto">
          <a:xfrm>
            <a:off x="5291138" y="5132388"/>
            <a:ext cx="576262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lIns="90000" tIns="46800" rIns="90000" bIns="46800"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 u="sng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25</a:t>
            </a:r>
            <a:endParaRPr kumimoji="1" lang="en-US" altLang="zh-CN" sz="2800" b="1" u="sng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3" name="Text Box 72"/>
          <p:cNvSpPr txBox="1">
            <a:spLocks noChangeArrowheads="1"/>
          </p:cNvSpPr>
          <p:nvPr/>
        </p:nvSpPr>
        <p:spPr bwMode="auto">
          <a:xfrm>
            <a:off x="6011863" y="5132388"/>
            <a:ext cx="576262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lIns="90000" tIns="46800" rIns="90000" bIns="46800"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49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4" name="Text Box 73"/>
          <p:cNvSpPr txBox="1">
            <a:spLocks noChangeArrowheads="1"/>
          </p:cNvSpPr>
          <p:nvPr/>
        </p:nvSpPr>
        <p:spPr bwMode="auto">
          <a:xfrm>
            <a:off x="6659563" y="5132388"/>
            <a:ext cx="576262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lIns="90000" tIns="46800" rIns="90000" bIns="46800"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62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5" name="Text Box 74"/>
          <p:cNvSpPr txBox="1">
            <a:spLocks noChangeArrowheads="1"/>
          </p:cNvSpPr>
          <p:nvPr/>
        </p:nvSpPr>
        <p:spPr bwMode="auto">
          <a:xfrm>
            <a:off x="7451725" y="5132388"/>
            <a:ext cx="576263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lIns="90000" tIns="46800" rIns="90000" bIns="46800"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72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6" name="Text Box 75"/>
          <p:cNvSpPr txBox="1">
            <a:spLocks noChangeArrowheads="1"/>
          </p:cNvSpPr>
          <p:nvPr/>
        </p:nvSpPr>
        <p:spPr bwMode="auto">
          <a:xfrm>
            <a:off x="8099425" y="5132388"/>
            <a:ext cx="576263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lIns="90000" tIns="46800" rIns="90000" bIns="46800"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93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7" name="Text Box 76"/>
          <p:cNvSpPr txBox="1">
            <a:spLocks noChangeArrowheads="1"/>
          </p:cNvSpPr>
          <p:nvPr/>
        </p:nvSpPr>
        <p:spPr bwMode="auto">
          <a:xfrm>
            <a:off x="8089900" y="2638425"/>
            <a:ext cx="369888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j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8" name="Text Box 77"/>
          <p:cNvSpPr txBox="1">
            <a:spLocks noChangeArrowheads="1"/>
          </p:cNvSpPr>
          <p:nvPr/>
        </p:nvSpPr>
        <p:spPr bwMode="auto">
          <a:xfrm>
            <a:off x="1116013" y="5781675"/>
            <a:ext cx="369887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lIns="90000" tIns="46800" rIns="90000" bIns="46800"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9" name="Text Box 78"/>
          <p:cNvSpPr txBox="1">
            <a:spLocks noChangeArrowheads="1"/>
          </p:cNvSpPr>
          <p:nvPr/>
        </p:nvSpPr>
        <p:spPr bwMode="auto">
          <a:xfrm>
            <a:off x="1825625" y="5805488"/>
            <a:ext cx="369888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lIns="90000" tIns="46800" rIns="90000" bIns="46800"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0" name="Text Box 79"/>
          <p:cNvSpPr txBox="1">
            <a:spLocks noChangeArrowheads="1"/>
          </p:cNvSpPr>
          <p:nvPr/>
        </p:nvSpPr>
        <p:spPr bwMode="auto">
          <a:xfrm>
            <a:off x="2546350" y="5805488"/>
            <a:ext cx="369888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lIns="90000" tIns="46800" rIns="90000" bIns="46800"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1" name="Text Box 80"/>
          <p:cNvSpPr txBox="1">
            <a:spLocks noChangeArrowheads="1"/>
          </p:cNvSpPr>
          <p:nvPr/>
        </p:nvSpPr>
        <p:spPr bwMode="auto">
          <a:xfrm>
            <a:off x="2401888" y="2709863"/>
            <a:ext cx="369887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lIns="90000" tIns="46800" rIns="90000" bIns="46800"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2" name="Text Box 81"/>
          <p:cNvSpPr txBox="1">
            <a:spLocks noChangeArrowheads="1"/>
          </p:cNvSpPr>
          <p:nvPr/>
        </p:nvSpPr>
        <p:spPr bwMode="auto">
          <a:xfrm>
            <a:off x="3265488" y="5805488"/>
            <a:ext cx="369887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lIns="90000" tIns="46800" rIns="90000" bIns="46800"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3" name="Text Box 82"/>
          <p:cNvSpPr txBox="1">
            <a:spLocks noChangeArrowheads="1"/>
          </p:cNvSpPr>
          <p:nvPr/>
        </p:nvSpPr>
        <p:spPr bwMode="auto">
          <a:xfrm>
            <a:off x="3914775" y="5805488"/>
            <a:ext cx="369888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lIns="90000" tIns="46800" rIns="90000" bIns="46800"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4" name="Text Box 84"/>
          <p:cNvSpPr txBox="1">
            <a:spLocks noChangeArrowheads="1"/>
          </p:cNvSpPr>
          <p:nvPr/>
        </p:nvSpPr>
        <p:spPr bwMode="auto">
          <a:xfrm>
            <a:off x="8739188" y="2613025"/>
            <a:ext cx="369887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j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5" name="Text Box 86"/>
          <p:cNvSpPr txBox="1">
            <a:spLocks noChangeArrowheads="1"/>
          </p:cNvSpPr>
          <p:nvPr/>
        </p:nvSpPr>
        <p:spPr bwMode="auto">
          <a:xfrm>
            <a:off x="395288" y="884238"/>
            <a:ext cx="3097212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>
                <a:solidFill>
                  <a:srgbClr val="0033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</a:rPr>
              <a:t>归并示例演示    </a:t>
            </a:r>
            <a:endParaRPr kumimoji="1" lang="zh-CN" altLang="en-US" sz="2800" b="1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6" name="Text Box 87"/>
          <p:cNvSpPr txBox="1">
            <a:spLocks noChangeArrowheads="1"/>
          </p:cNvSpPr>
          <p:nvPr/>
        </p:nvSpPr>
        <p:spPr bwMode="auto">
          <a:xfrm>
            <a:off x="863600" y="3116263"/>
            <a:ext cx="7453313" cy="16287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if (i&lt;=m)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     while (k&lt;=n &amp;&amp; i&lt;=m) TR[k++]=SR[i++];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if (j&lt;=n) 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     while (k&lt;=n &amp;&amp;j &lt;=n) TR[k++]=SR[j++];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6.5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归并排序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ADF21-2528-4B84-8F32-87C4133A352C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395288" y="2144713"/>
            <a:ext cx="8353425" cy="2655887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void Merge (RcdType SR[], RcdType TR[], 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                                                            int i, int m, int n)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 { int j,k;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   ………………………..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 } // Merge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4" name="Text Box 4"/>
          <p:cNvSpPr txBox="1">
            <a:spLocks noChangeArrowheads="1"/>
          </p:cNvSpPr>
          <p:nvPr/>
        </p:nvSpPr>
        <p:spPr bwMode="auto">
          <a:xfrm>
            <a:off x="395288" y="920750"/>
            <a:ext cx="2665412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>
                <a:solidFill>
                  <a:srgbClr val="0033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</a:rPr>
              <a:t>归并算法    </a:t>
            </a:r>
            <a:endParaRPr kumimoji="1" lang="zh-CN" altLang="en-US" sz="2800" b="1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6.5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归并排序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6CA27-05F5-4D83-8495-ABF5D3DE8E64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684213" y="1851025"/>
            <a:ext cx="7632700" cy="41941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   for (j=m+1, k=i;  i&lt;=m &amp;&amp; j&lt;=n;  ++k) {   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      if LQ(SR[i].key,SR[j].key) TR[k] = SR[i++];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      else TR[k] = SR[j++];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   }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   if (i&lt;=m)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      while (k&lt;=n &amp;&amp; i&lt;=m) TR[k++]=SR[i++];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   if (j&lt;=n) 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      while (k&lt;=n &amp;&amp;j &lt;=n) TR[k++]=SR[j++];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4" name="Text Box 8"/>
          <p:cNvSpPr txBox="1">
            <a:spLocks noChangeArrowheads="1"/>
          </p:cNvSpPr>
          <p:nvPr/>
        </p:nvSpPr>
        <p:spPr bwMode="auto">
          <a:xfrm>
            <a:off x="395288" y="914400"/>
            <a:ext cx="2665412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>
                <a:solidFill>
                  <a:srgbClr val="0033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</a:rPr>
              <a:t>归并算法    </a:t>
            </a:r>
            <a:endParaRPr kumimoji="1" lang="zh-CN" altLang="en-US" sz="2800" b="1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6.5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归并排序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FB38C-D346-4441-9CAC-73266910302B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608013" y="1504950"/>
            <a:ext cx="7924800" cy="9461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      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给定排序码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25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，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57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，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48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，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37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，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12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，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92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，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86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，写出二路归并排序过程。</a:t>
            </a:r>
            <a:endParaRPr kumimoji="1" lang="zh-CN" altLang="en-US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" name="Text Box 4"/>
          <p:cNvSpPr txBox="1">
            <a:spLocks noChangeArrowheads="1"/>
          </p:cNvSpPr>
          <p:nvPr/>
        </p:nvSpPr>
        <p:spPr bwMode="auto">
          <a:xfrm>
            <a:off x="468313" y="928687"/>
            <a:ext cx="4441825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 2-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路归并排序方法示例</a:t>
            </a:r>
            <a:endParaRPr kumimoji="1" lang="zh-CN" altLang="en-US" sz="2800" b="1" dirty="0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5" name="Group 5"/>
          <p:cNvGraphicFramePr>
            <a:graphicFrameLocks noGrp="1"/>
          </p:cNvGraphicFramePr>
          <p:nvPr/>
        </p:nvGraphicFramePr>
        <p:xfrm>
          <a:off x="2141538" y="2800350"/>
          <a:ext cx="4949825" cy="519113"/>
        </p:xfrm>
        <a:graphic>
          <a:graphicData uri="http://schemas.openxmlformats.org/drawingml/2006/table">
            <a:tbl>
              <a:tblPr/>
              <a:tblGrid>
                <a:gridCol w="706437"/>
                <a:gridCol w="706438"/>
                <a:gridCol w="708025"/>
                <a:gridCol w="706437"/>
                <a:gridCol w="706438"/>
                <a:gridCol w="709612"/>
                <a:gridCol w="706438"/>
              </a:tblGrid>
              <a:tr h="5191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25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57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48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37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993366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12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993366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993366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92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993366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86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6" name="Text Box 23"/>
          <p:cNvSpPr txBox="1">
            <a:spLocks noChangeArrowheads="1"/>
          </p:cNvSpPr>
          <p:nvPr/>
        </p:nvSpPr>
        <p:spPr bwMode="auto">
          <a:xfrm>
            <a:off x="962025" y="2770187"/>
            <a:ext cx="676275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A[]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7" name="Group 24"/>
          <p:cNvGraphicFramePr>
            <a:graphicFrameLocks noGrp="1"/>
          </p:cNvGraphicFramePr>
          <p:nvPr/>
        </p:nvGraphicFramePr>
        <p:xfrm>
          <a:off x="2122488" y="3794125"/>
          <a:ext cx="4949825" cy="519113"/>
        </p:xfrm>
        <a:graphic>
          <a:graphicData uri="http://schemas.openxmlformats.org/drawingml/2006/table">
            <a:tbl>
              <a:tblPr/>
              <a:tblGrid>
                <a:gridCol w="706437"/>
                <a:gridCol w="706438"/>
                <a:gridCol w="708025"/>
                <a:gridCol w="706437"/>
                <a:gridCol w="706438"/>
                <a:gridCol w="709612"/>
                <a:gridCol w="706438"/>
              </a:tblGrid>
              <a:tr h="5191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25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57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37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48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12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92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86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8" name="Text Box 42"/>
          <p:cNvSpPr txBox="1">
            <a:spLocks noChangeArrowheads="1"/>
          </p:cNvSpPr>
          <p:nvPr/>
        </p:nvSpPr>
        <p:spPr bwMode="auto">
          <a:xfrm>
            <a:off x="900113" y="3763962"/>
            <a:ext cx="655637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B[]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" name="AutoShape 43"/>
          <p:cNvSpPr/>
          <p:nvPr/>
        </p:nvSpPr>
        <p:spPr bwMode="auto">
          <a:xfrm rot="5400000">
            <a:off x="2394744" y="2383631"/>
            <a:ext cx="195262" cy="596900"/>
          </a:xfrm>
          <a:prstGeom prst="leftBrace">
            <a:avLst>
              <a:gd name="adj1" fmla="val 25474"/>
              <a:gd name="adj2" fmla="val 50000"/>
            </a:avLst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lIns="90000" tIns="46800" rIns="90000" bIns="46800" anchor="ctr"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0" name="AutoShape 44"/>
          <p:cNvSpPr/>
          <p:nvPr/>
        </p:nvSpPr>
        <p:spPr bwMode="auto">
          <a:xfrm rot="5400000">
            <a:off x="3021807" y="2383631"/>
            <a:ext cx="195262" cy="596900"/>
          </a:xfrm>
          <a:prstGeom prst="leftBrace">
            <a:avLst>
              <a:gd name="adj1" fmla="val 25474"/>
              <a:gd name="adj2" fmla="val 50000"/>
            </a:avLst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lIns="90000" tIns="46800" rIns="90000" bIns="46800" anchor="ctr"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1" name="AutoShape 45"/>
          <p:cNvSpPr/>
          <p:nvPr/>
        </p:nvSpPr>
        <p:spPr bwMode="auto">
          <a:xfrm rot="5400000">
            <a:off x="3742532" y="2383631"/>
            <a:ext cx="195262" cy="596900"/>
          </a:xfrm>
          <a:prstGeom prst="leftBrace">
            <a:avLst>
              <a:gd name="adj1" fmla="val 25474"/>
              <a:gd name="adj2" fmla="val 50000"/>
            </a:avLst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lIns="90000" tIns="46800" rIns="90000" bIns="46800" anchor="ctr"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2" name="AutoShape 46"/>
          <p:cNvSpPr/>
          <p:nvPr/>
        </p:nvSpPr>
        <p:spPr bwMode="auto">
          <a:xfrm rot="5400000">
            <a:off x="4463257" y="2383631"/>
            <a:ext cx="195262" cy="596900"/>
          </a:xfrm>
          <a:prstGeom prst="leftBrace">
            <a:avLst>
              <a:gd name="adj1" fmla="val 25474"/>
              <a:gd name="adj2" fmla="val 50000"/>
            </a:avLst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lIns="90000" tIns="46800" rIns="90000" bIns="46800" anchor="ctr"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3" name="AutoShape 47"/>
          <p:cNvSpPr/>
          <p:nvPr/>
        </p:nvSpPr>
        <p:spPr bwMode="auto">
          <a:xfrm rot="5400000">
            <a:off x="5203032" y="2383631"/>
            <a:ext cx="195262" cy="596900"/>
          </a:xfrm>
          <a:prstGeom prst="leftBrace">
            <a:avLst>
              <a:gd name="adj1" fmla="val 25474"/>
              <a:gd name="adj2" fmla="val 50000"/>
            </a:avLst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lIns="90000" tIns="46800" rIns="90000" bIns="46800" anchor="ctr"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4" name="AutoShape 48"/>
          <p:cNvSpPr/>
          <p:nvPr/>
        </p:nvSpPr>
        <p:spPr bwMode="auto">
          <a:xfrm rot="5400000">
            <a:off x="5903119" y="2383631"/>
            <a:ext cx="195262" cy="596900"/>
          </a:xfrm>
          <a:prstGeom prst="leftBrace">
            <a:avLst>
              <a:gd name="adj1" fmla="val 25474"/>
              <a:gd name="adj2" fmla="val 50000"/>
            </a:avLst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lIns="90000" tIns="46800" rIns="90000" bIns="46800" anchor="ctr"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5" name="AutoShape 49"/>
          <p:cNvSpPr/>
          <p:nvPr/>
        </p:nvSpPr>
        <p:spPr bwMode="auto">
          <a:xfrm rot="5400000">
            <a:off x="6622257" y="2383631"/>
            <a:ext cx="195262" cy="596900"/>
          </a:xfrm>
          <a:prstGeom prst="leftBrace">
            <a:avLst>
              <a:gd name="adj1" fmla="val 25474"/>
              <a:gd name="adj2" fmla="val 50000"/>
            </a:avLst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lIns="90000" tIns="46800" rIns="90000" bIns="46800" anchor="ctr"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6" name="AutoShape 50"/>
          <p:cNvSpPr/>
          <p:nvPr/>
        </p:nvSpPr>
        <p:spPr bwMode="auto">
          <a:xfrm rot="5400000">
            <a:off x="2698751" y="2944812"/>
            <a:ext cx="215900" cy="1368425"/>
          </a:xfrm>
          <a:prstGeom prst="leftBrace">
            <a:avLst>
              <a:gd name="adj1" fmla="val 52819"/>
              <a:gd name="adj2" fmla="val 50000"/>
            </a:avLst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lIns="90000" tIns="46800" rIns="90000" bIns="46800" anchor="ctr"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7" name="AutoShape 51"/>
          <p:cNvSpPr/>
          <p:nvPr/>
        </p:nvSpPr>
        <p:spPr bwMode="auto">
          <a:xfrm rot="5400000">
            <a:off x="4138613" y="2944812"/>
            <a:ext cx="215900" cy="1368425"/>
          </a:xfrm>
          <a:prstGeom prst="leftBrace">
            <a:avLst>
              <a:gd name="adj1" fmla="val 52819"/>
              <a:gd name="adj2" fmla="val 50000"/>
            </a:avLst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lIns="90000" tIns="46800" rIns="90000" bIns="46800" anchor="ctr"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8" name="AutoShape 52"/>
          <p:cNvSpPr/>
          <p:nvPr/>
        </p:nvSpPr>
        <p:spPr bwMode="auto">
          <a:xfrm rot="5400000">
            <a:off x="5507038" y="2944812"/>
            <a:ext cx="215900" cy="1368425"/>
          </a:xfrm>
          <a:prstGeom prst="leftBrace">
            <a:avLst>
              <a:gd name="adj1" fmla="val 52819"/>
              <a:gd name="adj2" fmla="val 50000"/>
            </a:avLst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lIns="90000" tIns="46800" rIns="90000" bIns="46800" anchor="ctr"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9" name="AutoShape 53"/>
          <p:cNvSpPr/>
          <p:nvPr/>
        </p:nvSpPr>
        <p:spPr bwMode="auto">
          <a:xfrm rot="5400000">
            <a:off x="6571456" y="3340894"/>
            <a:ext cx="195263" cy="596900"/>
          </a:xfrm>
          <a:prstGeom prst="leftBrace">
            <a:avLst>
              <a:gd name="adj1" fmla="val 25474"/>
              <a:gd name="adj2" fmla="val 50000"/>
            </a:avLst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lIns="90000" tIns="46800" rIns="90000" bIns="46800" anchor="ctr"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30" name="Group 54"/>
          <p:cNvGraphicFramePr>
            <a:graphicFrameLocks noGrp="1"/>
          </p:cNvGraphicFramePr>
          <p:nvPr/>
        </p:nvGraphicFramePr>
        <p:xfrm>
          <a:off x="2141538" y="4873625"/>
          <a:ext cx="4949825" cy="519113"/>
        </p:xfrm>
        <a:graphic>
          <a:graphicData uri="http://schemas.openxmlformats.org/drawingml/2006/table">
            <a:tbl>
              <a:tblPr/>
              <a:tblGrid>
                <a:gridCol w="706437"/>
                <a:gridCol w="706438"/>
                <a:gridCol w="708025"/>
                <a:gridCol w="706437"/>
                <a:gridCol w="706438"/>
                <a:gridCol w="709612"/>
                <a:gridCol w="706438"/>
              </a:tblGrid>
              <a:tr h="5191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25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37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48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57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12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86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92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1" name="Text Box 72"/>
          <p:cNvSpPr txBox="1">
            <a:spLocks noChangeArrowheads="1"/>
          </p:cNvSpPr>
          <p:nvPr/>
        </p:nvSpPr>
        <p:spPr bwMode="auto">
          <a:xfrm>
            <a:off x="962025" y="4843462"/>
            <a:ext cx="676275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A[]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" name="Text Box 73"/>
          <p:cNvSpPr txBox="1">
            <a:spLocks noChangeArrowheads="1"/>
          </p:cNvSpPr>
          <p:nvPr/>
        </p:nvSpPr>
        <p:spPr bwMode="auto">
          <a:xfrm>
            <a:off x="7308850" y="3783012"/>
            <a:ext cx="1150938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lIns="90000" tIns="46800" rIns="90000" bIns="468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一趟</a:t>
            </a:r>
            <a:endParaRPr kumimoji="1" lang="zh-CN" altLang="en-US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" name="Text Box 74"/>
          <p:cNvSpPr txBox="1">
            <a:spLocks noChangeArrowheads="1"/>
          </p:cNvSpPr>
          <p:nvPr/>
        </p:nvSpPr>
        <p:spPr bwMode="auto">
          <a:xfrm>
            <a:off x="7307263" y="4864100"/>
            <a:ext cx="1079500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lIns="90000" tIns="46800" rIns="90000" bIns="468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二趟</a:t>
            </a:r>
            <a:endParaRPr kumimoji="1" lang="zh-CN" altLang="en-US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" name="AutoShape 75"/>
          <p:cNvSpPr/>
          <p:nvPr/>
        </p:nvSpPr>
        <p:spPr bwMode="auto">
          <a:xfrm rot="5400000">
            <a:off x="3418682" y="3304380"/>
            <a:ext cx="215900" cy="2665413"/>
          </a:xfrm>
          <a:prstGeom prst="leftBrace">
            <a:avLst>
              <a:gd name="adj1" fmla="val 102880"/>
              <a:gd name="adj2" fmla="val 50000"/>
            </a:avLst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lIns="90000" tIns="46800" rIns="90000" bIns="46800" anchor="ctr"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5" name="AutoShape 76"/>
          <p:cNvSpPr/>
          <p:nvPr/>
        </p:nvSpPr>
        <p:spPr bwMode="auto">
          <a:xfrm rot="5400000">
            <a:off x="5903119" y="3556793"/>
            <a:ext cx="215900" cy="2160588"/>
          </a:xfrm>
          <a:prstGeom prst="leftBrace">
            <a:avLst>
              <a:gd name="adj1" fmla="val 83395"/>
              <a:gd name="adj2" fmla="val 50000"/>
            </a:avLst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lIns="90000" tIns="46800" rIns="90000" bIns="46800" anchor="ctr"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36" name="Group 77"/>
          <p:cNvGraphicFramePr>
            <a:graphicFrameLocks noGrp="1"/>
          </p:cNvGraphicFramePr>
          <p:nvPr/>
        </p:nvGraphicFramePr>
        <p:xfrm>
          <a:off x="2198688" y="5881687"/>
          <a:ext cx="4949825" cy="519113"/>
        </p:xfrm>
        <a:graphic>
          <a:graphicData uri="http://schemas.openxmlformats.org/drawingml/2006/table">
            <a:tbl>
              <a:tblPr/>
              <a:tblGrid>
                <a:gridCol w="706437"/>
                <a:gridCol w="706438"/>
                <a:gridCol w="708025"/>
                <a:gridCol w="706437"/>
                <a:gridCol w="706438"/>
                <a:gridCol w="709612"/>
                <a:gridCol w="706438"/>
              </a:tblGrid>
              <a:tr h="5191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12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25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37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48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57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86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92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7" name="Text Box 95"/>
          <p:cNvSpPr txBox="1">
            <a:spLocks noChangeArrowheads="1"/>
          </p:cNvSpPr>
          <p:nvPr/>
        </p:nvSpPr>
        <p:spPr bwMode="auto">
          <a:xfrm>
            <a:off x="971550" y="5851525"/>
            <a:ext cx="655638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B[]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" name="Text Box 96"/>
          <p:cNvSpPr txBox="1">
            <a:spLocks noChangeArrowheads="1"/>
          </p:cNvSpPr>
          <p:nvPr/>
        </p:nvSpPr>
        <p:spPr bwMode="auto">
          <a:xfrm>
            <a:off x="7308850" y="5870575"/>
            <a:ext cx="1077913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lIns="90000" tIns="46800" rIns="90000" bIns="468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三趟</a:t>
            </a:r>
            <a:endParaRPr kumimoji="1" lang="zh-CN" altLang="en-US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" name="AutoShape 97"/>
          <p:cNvSpPr/>
          <p:nvPr/>
        </p:nvSpPr>
        <p:spPr bwMode="auto">
          <a:xfrm rot="5400000">
            <a:off x="4498975" y="3232150"/>
            <a:ext cx="287337" cy="4897438"/>
          </a:xfrm>
          <a:prstGeom prst="leftBrace">
            <a:avLst>
              <a:gd name="adj1" fmla="val 142035"/>
              <a:gd name="adj2" fmla="val 50000"/>
            </a:avLst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lIns="90000" tIns="46800" rIns="90000" bIns="46800" anchor="ctr"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0" name="Oval 99"/>
          <p:cNvSpPr>
            <a:spLocks noChangeArrowheads="1"/>
          </p:cNvSpPr>
          <p:nvPr/>
        </p:nvSpPr>
        <p:spPr bwMode="auto">
          <a:xfrm>
            <a:off x="-1" y="1447800"/>
            <a:ext cx="1143001" cy="519112"/>
          </a:xfrm>
          <a:prstGeom prst="ellipse">
            <a:avLst/>
          </a:prstGeom>
          <a:gradFill rotWithShape="0">
            <a:gsLst>
              <a:gs pos="0">
                <a:srgbClr val="99FF99">
                  <a:gamma/>
                  <a:shade val="65882"/>
                  <a:invGamma/>
                </a:srgbClr>
              </a:gs>
              <a:gs pos="50000">
                <a:srgbClr val="99FF99"/>
              </a:gs>
              <a:gs pos="100000">
                <a:srgbClr val="99FF99">
                  <a:gamma/>
                  <a:shade val="65882"/>
                  <a:invGamma/>
                </a:srgbClr>
              </a:gs>
            </a:gsLst>
            <a:lin ang="18900000" scaled="1"/>
          </a:gradFill>
          <a:ln w="9525">
            <a:solidFill>
              <a:srgbClr val="CCFFCC"/>
            </a:solidFill>
            <a:rou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例</a:t>
            </a:r>
            <a:endParaRPr kumimoji="1" lang="zh-CN" altLang="en-US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52400" y="3810000"/>
            <a:ext cx="6556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辅助数组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1" grpId="0"/>
      <p:bldP spid="32" grpId="0"/>
      <p:bldP spid="33" grpId="0"/>
      <p:bldP spid="34" grpId="0" animBg="1"/>
      <p:bldP spid="35" grpId="0" animBg="1"/>
      <p:bldP spid="37" grpId="0"/>
      <p:bldP spid="38" grpId="0"/>
      <p:bldP spid="39" grpId="0" animBg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6.5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归并排序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FD40C-CD42-4836-988F-F17EC1613E77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755650" y="2033588"/>
            <a:ext cx="7632700" cy="36814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        (1) 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将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n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个记录看成是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n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个长度为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的有序子表；</a:t>
            </a:r>
            <a:endParaRPr kumimoji="1" lang="zh-CN" altLang="en-US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        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(2) 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将两两相邻的有序子表进行归并，若子表数为奇数，则留下的一个子表直接进入下一次归并；</a:t>
            </a:r>
            <a:endParaRPr kumimoji="1" lang="zh-CN" altLang="en-US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        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(3) 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重复步骤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(2)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，直到归并成一个长度为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n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的有序表。 </a:t>
            </a:r>
            <a:endParaRPr kumimoji="1" lang="zh-CN" altLang="en-US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" name="Text Box 6"/>
          <p:cNvSpPr txBox="1">
            <a:spLocks noChangeArrowheads="1"/>
          </p:cNvSpPr>
          <p:nvPr/>
        </p:nvSpPr>
        <p:spPr bwMode="auto">
          <a:xfrm>
            <a:off x="468313" y="952500"/>
            <a:ext cx="4441825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>
                <a:solidFill>
                  <a:srgbClr val="003300"/>
                </a:solidFill>
                <a:latin typeface="Times New Roman" panose="02020603050405020304" pitchFamily="18" charset="0"/>
              </a:rPr>
              <a:t> 2-</a:t>
            </a: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</a:rPr>
              <a:t>路归并排序方法思想</a:t>
            </a:r>
            <a:endParaRPr kumimoji="1" lang="zh-CN" altLang="en-US" sz="2800" b="1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6.5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归并排序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52A04-4737-4BDF-9CE2-44D7CB0FFEAE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Group 2"/>
          <p:cNvGraphicFramePr>
            <a:graphicFrameLocks noGrp="1"/>
          </p:cNvGraphicFramePr>
          <p:nvPr/>
        </p:nvGraphicFramePr>
        <p:xfrm>
          <a:off x="1203325" y="5207000"/>
          <a:ext cx="7778750" cy="504825"/>
        </p:xfrm>
        <a:graphic>
          <a:graphicData uri="http://schemas.openxmlformats.org/drawingml/2006/table">
            <a:tbl>
              <a:tblPr/>
              <a:tblGrid>
                <a:gridCol w="709613"/>
                <a:gridCol w="706437"/>
                <a:gridCol w="708025"/>
                <a:gridCol w="706438"/>
                <a:gridCol w="706437"/>
                <a:gridCol w="709613"/>
                <a:gridCol w="706437"/>
                <a:gridCol w="706438"/>
                <a:gridCol w="706437"/>
                <a:gridCol w="706438"/>
                <a:gridCol w="706437"/>
              </a:tblGrid>
              <a:tr h="50482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tantia" panose="02030602050306030303" pitchFamily="18" charset="0"/>
                          <a:ea typeface="宋体" panose="02010600030101010101" pitchFamily="2" charset="-122"/>
                        </a:rPr>
                        <a:t>…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tantia" panose="02030602050306030303" pitchFamily="18" charset="0"/>
                          <a:ea typeface="宋体" panose="02010600030101010101" pitchFamily="2" charset="-122"/>
                        </a:rPr>
                        <a:t>…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tantia" panose="02030602050306030303" pitchFamily="18" charset="0"/>
                          <a:ea typeface="宋体" panose="02010600030101010101" pitchFamily="2" charset="-122"/>
                        </a:rPr>
                        <a:t>…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tantia" panose="02030602050306030303" pitchFamily="18" charset="0"/>
                          <a:ea typeface="宋体" panose="02010600030101010101" pitchFamily="2" charset="-122"/>
                        </a:rPr>
                        <a:t>…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tantia" panose="02030602050306030303" pitchFamily="18" charset="0"/>
                          <a:ea typeface="宋体" panose="02010600030101010101" pitchFamily="2" charset="-122"/>
                        </a:rPr>
                        <a:t>…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tantia" panose="02030602050306030303" pitchFamily="18" charset="0"/>
                          <a:ea typeface="宋体" panose="02010600030101010101" pitchFamily="2" charset="-122"/>
                        </a:rPr>
                        <a:t>…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tantia" panose="02030602050306030303" pitchFamily="18" charset="0"/>
                          <a:ea typeface="宋体" panose="02010600030101010101" pitchFamily="2" charset="-122"/>
                        </a:rPr>
                        <a:t>…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tantia" panose="02030602050306030303" pitchFamily="18" charset="0"/>
                          <a:ea typeface="宋体" panose="02010600030101010101" pitchFamily="2" charset="-122"/>
                        </a:rPr>
                        <a:t>…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tantia" panose="02030602050306030303" pitchFamily="18" charset="0"/>
                          <a:ea typeface="宋体" panose="02010600030101010101" pitchFamily="2" charset="-122"/>
                        </a:rPr>
                        <a:t>…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tantia" panose="02030602050306030303" pitchFamily="18" charset="0"/>
                          <a:ea typeface="宋体" panose="02010600030101010101" pitchFamily="2" charset="-122"/>
                        </a:rPr>
                        <a:t>…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tantia" panose="02030602050306030303" pitchFamily="18" charset="0"/>
                          <a:ea typeface="宋体" panose="02010600030101010101" pitchFamily="2" charset="-122"/>
                        </a:rPr>
                        <a:t>…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4" name="Text Box 28"/>
          <p:cNvSpPr txBox="1">
            <a:spLocks noChangeArrowheads="1"/>
          </p:cNvSpPr>
          <p:nvPr/>
        </p:nvSpPr>
        <p:spPr bwMode="auto">
          <a:xfrm>
            <a:off x="107950" y="5176837"/>
            <a:ext cx="676275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R[]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5" name="AutoShape 29"/>
          <p:cNvSpPr/>
          <p:nvPr/>
        </p:nvSpPr>
        <p:spPr bwMode="auto">
          <a:xfrm rot="5400000">
            <a:off x="1782763" y="4357687"/>
            <a:ext cx="215900" cy="1368425"/>
          </a:xfrm>
          <a:prstGeom prst="leftBrace">
            <a:avLst>
              <a:gd name="adj1" fmla="val 52819"/>
              <a:gd name="adj2" fmla="val 50000"/>
            </a:avLst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rot="10800000" vert="eaVert" lIns="90000" tIns="46800" rIns="90000" bIns="46800" anchor="ctr"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1" i="0" u="none" strike="noStrike" kern="0" cap="none" spc="0" normalizeH="0" baseline="0" noProof="0">
              <a:ln>
                <a:noFill/>
              </a:ln>
              <a:solidFill>
                <a:srgbClr val="CCECFF"/>
              </a:solidFill>
              <a:effectDag name="">
                <a:cont type="tree" name="">
                  <a:effect ref="fillLine"/>
                  <a:outerShdw dist="38100" dir="13500000" algn="br">
                    <a:srgbClr val="DDF3FF"/>
                  </a:outerShdw>
                </a:cont>
                <a:cont type="tree" name="">
                  <a:effect ref="fillLine"/>
                  <a:outerShdw dist="38100" dir="2700000" algn="tl">
                    <a:srgbClr val="7A8D99"/>
                  </a:outerShdw>
                </a:cont>
                <a:effect ref="fillLine"/>
              </a:effectDag>
              <a:uLnTx/>
              <a:uFillTx/>
              <a:latin typeface="华文楷体" panose="02010600040101010101" pitchFamily="2" charset="-122"/>
            </a:endParaRPr>
          </a:p>
        </p:txBody>
      </p:sp>
      <p:sp>
        <p:nvSpPr>
          <p:cNvPr id="16" name="AutoShape 30"/>
          <p:cNvSpPr/>
          <p:nvPr/>
        </p:nvSpPr>
        <p:spPr bwMode="auto">
          <a:xfrm rot="5400000">
            <a:off x="3222626" y="4357687"/>
            <a:ext cx="215900" cy="1368425"/>
          </a:xfrm>
          <a:prstGeom prst="leftBrace">
            <a:avLst>
              <a:gd name="adj1" fmla="val 52819"/>
              <a:gd name="adj2" fmla="val 50000"/>
            </a:avLst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rot="10800000" vert="eaVert" lIns="90000" tIns="46800" rIns="90000" bIns="46800" anchor="ctr"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1" i="0" u="none" strike="noStrike" kern="0" cap="none" spc="0" normalizeH="0" baseline="0" noProof="0">
              <a:ln>
                <a:noFill/>
              </a:ln>
              <a:solidFill>
                <a:srgbClr val="CCECFF"/>
              </a:solidFill>
              <a:effectDag name="">
                <a:cont type="tree" name="">
                  <a:effect ref="fillLine"/>
                  <a:outerShdw dist="38100" dir="13500000" algn="br">
                    <a:srgbClr val="DDF3FF"/>
                  </a:outerShdw>
                </a:cont>
                <a:cont type="tree" name="">
                  <a:effect ref="fillLine"/>
                  <a:outerShdw dist="38100" dir="2700000" algn="tl">
                    <a:srgbClr val="7A8D99"/>
                  </a:outerShdw>
                </a:cont>
                <a:effect ref="fillLine"/>
              </a:effectDag>
              <a:uLnTx/>
              <a:uFillTx/>
              <a:latin typeface="华文楷体" panose="02010600040101010101" pitchFamily="2" charset="-122"/>
            </a:endParaRPr>
          </a:p>
        </p:txBody>
      </p:sp>
      <p:sp>
        <p:nvSpPr>
          <p:cNvPr id="17" name="AutoShape 31"/>
          <p:cNvSpPr/>
          <p:nvPr/>
        </p:nvSpPr>
        <p:spPr bwMode="auto">
          <a:xfrm rot="5400000">
            <a:off x="4591051" y="4357687"/>
            <a:ext cx="215900" cy="1368425"/>
          </a:xfrm>
          <a:prstGeom prst="leftBrace">
            <a:avLst>
              <a:gd name="adj1" fmla="val 52819"/>
              <a:gd name="adj2" fmla="val 50000"/>
            </a:avLst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rot="10800000" vert="eaVert" lIns="90000" tIns="46800" rIns="90000" bIns="46800" anchor="ctr"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1" i="0" u="none" strike="noStrike" kern="0" cap="none" spc="0" normalizeH="0" baseline="0" noProof="0">
              <a:ln>
                <a:noFill/>
              </a:ln>
              <a:solidFill>
                <a:srgbClr val="CCECFF"/>
              </a:solidFill>
              <a:effectDag name="">
                <a:cont type="tree" name="">
                  <a:effect ref="fillLine"/>
                  <a:outerShdw dist="38100" dir="13500000" algn="br">
                    <a:srgbClr val="DDF3FF"/>
                  </a:outerShdw>
                </a:cont>
                <a:cont type="tree" name="">
                  <a:effect ref="fillLine"/>
                  <a:outerShdw dist="38100" dir="2700000" algn="tl">
                    <a:srgbClr val="7A8D99"/>
                  </a:outerShdw>
                </a:cont>
                <a:effect ref="fillLine"/>
              </a:effectDag>
              <a:uLnTx/>
              <a:uFillTx/>
              <a:latin typeface="华文楷体" panose="02010600040101010101" pitchFamily="2" charset="-122"/>
            </a:endParaRPr>
          </a:p>
        </p:txBody>
      </p:sp>
      <p:sp>
        <p:nvSpPr>
          <p:cNvPr id="18" name="Text Box 32"/>
          <p:cNvSpPr txBox="1">
            <a:spLocks noChangeArrowheads="1"/>
          </p:cNvSpPr>
          <p:nvPr/>
        </p:nvSpPr>
        <p:spPr bwMode="auto">
          <a:xfrm>
            <a:off x="827088" y="1520825"/>
            <a:ext cx="7777162" cy="35083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void 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Msort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RcdType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 A[],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RcdType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 B[],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int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 n, 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int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 l)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{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int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=1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；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int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 t;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while (i+2*l-1&lt;=n);</a:t>
            </a:r>
            <a:endParaRPr kumimoji="1" lang="en-US" altLang="zh-CN" sz="2800" b="1" dirty="0">
              <a:solidFill>
                <a:srgbClr val="FF33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  {Merge (A,B,i,i+l-1,i+2*l-1)</a:t>
            </a:r>
            <a:endParaRPr kumimoji="1" lang="en-US" altLang="zh-CN" sz="2800" b="1" dirty="0">
              <a:solidFill>
                <a:srgbClr val="FF33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    </a:t>
            </a:r>
            <a:r>
              <a:rPr kumimoji="1" lang="en-US" altLang="zh-CN" sz="2800" b="1" dirty="0" err="1">
                <a:solidFill>
                  <a:srgbClr val="FF330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=i+2*l;</a:t>
            </a:r>
            <a:endParaRPr kumimoji="1" lang="en-US" altLang="zh-CN" sz="2800" b="1" dirty="0">
              <a:solidFill>
                <a:srgbClr val="FF33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  }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  ……………………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}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9" name="Line 33"/>
          <p:cNvSpPr>
            <a:spLocks noChangeShapeType="1"/>
          </p:cNvSpPr>
          <p:nvPr/>
        </p:nvSpPr>
        <p:spPr bwMode="auto">
          <a:xfrm flipH="1">
            <a:off x="1274763" y="5654675"/>
            <a:ext cx="0" cy="2873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ffectLst/>
        </p:spPr>
        <p:txBody>
          <a:bodyPr lIns="90000" tIns="46800" rIns="90000" bIns="46800"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0" name="Text Box 34"/>
          <p:cNvSpPr txBox="1">
            <a:spLocks noChangeArrowheads="1"/>
          </p:cNvSpPr>
          <p:nvPr/>
        </p:nvSpPr>
        <p:spPr bwMode="auto">
          <a:xfrm>
            <a:off x="914400" y="5870575"/>
            <a:ext cx="849313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i=1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1" name="Line 35"/>
          <p:cNvSpPr>
            <a:spLocks noChangeShapeType="1"/>
          </p:cNvSpPr>
          <p:nvPr/>
        </p:nvSpPr>
        <p:spPr bwMode="auto">
          <a:xfrm>
            <a:off x="2498725" y="5581650"/>
            <a:ext cx="0" cy="3603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ffectLst/>
        </p:spPr>
        <p:txBody>
          <a:bodyPr lIns="90000" tIns="46800" rIns="90000" bIns="46800"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2" name="Text Box 36"/>
          <p:cNvSpPr txBox="1">
            <a:spLocks noChangeArrowheads="1"/>
          </p:cNvSpPr>
          <p:nvPr/>
        </p:nvSpPr>
        <p:spPr bwMode="auto">
          <a:xfrm>
            <a:off x="2266950" y="5905500"/>
            <a:ext cx="720725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3" name="Line 37"/>
          <p:cNvSpPr>
            <a:spLocks noChangeShapeType="1"/>
          </p:cNvSpPr>
          <p:nvPr/>
        </p:nvSpPr>
        <p:spPr bwMode="auto">
          <a:xfrm>
            <a:off x="3579813" y="5581650"/>
            <a:ext cx="0" cy="3603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ffectLst/>
        </p:spPr>
        <p:txBody>
          <a:bodyPr lIns="90000" tIns="46800" rIns="90000" bIns="46800"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4" name="Text Box 38"/>
          <p:cNvSpPr txBox="1">
            <a:spLocks noChangeArrowheads="1"/>
          </p:cNvSpPr>
          <p:nvPr/>
        </p:nvSpPr>
        <p:spPr bwMode="auto">
          <a:xfrm>
            <a:off x="3219450" y="5870575"/>
            <a:ext cx="1008063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2*l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5" name="Line 39"/>
          <p:cNvSpPr>
            <a:spLocks noChangeShapeType="1"/>
          </p:cNvSpPr>
          <p:nvPr/>
        </p:nvSpPr>
        <p:spPr bwMode="auto">
          <a:xfrm>
            <a:off x="4052888" y="5799137"/>
            <a:ext cx="14287" cy="549275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tailEnd type="triangle" w="med" len="med"/>
          </a:ln>
          <a:effectLst/>
        </p:spPr>
        <p:txBody>
          <a:bodyPr lIns="90000" tIns="46800" rIns="90000" bIns="468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3000" b="1">
              <a:solidFill>
                <a:srgbClr val="66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6" name="Text Box 40"/>
          <p:cNvSpPr txBox="1">
            <a:spLocks noChangeArrowheads="1"/>
          </p:cNvSpPr>
          <p:nvPr/>
        </p:nvSpPr>
        <p:spPr bwMode="auto">
          <a:xfrm>
            <a:off x="4211638" y="5881687"/>
            <a:ext cx="431800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endParaRPr kumimoji="1"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7" name="AutoShape 41"/>
          <p:cNvSpPr/>
          <p:nvPr/>
        </p:nvSpPr>
        <p:spPr bwMode="auto">
          <a:xfrm rot="5400000">
            <a:off x="6011863" y="4357687"/>
            <a:ext cx="215900" cy="1368425"/>
          </a:xfrm>
          <a:prstGeom prst="leftBrace">
            <a:avLst>
              <a:gd name="adj1" fmla="val 52819"/>
              <a:gd name="adj2" fmla="val 50000"/>
            </a:avLst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rot="10800000" vert="eaVert" lIns="90000" tIns="46800" rIns="90000" bIns="46800" anchor="ctr"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1" i="0" u="none" strike="noStrike" kern="0" cap="none" spc="0" normalizeH="0" baseline="0" noProof="0">
              <a:ln>
                <a:noFill/>
              </a:ln>
              <a:solidFill>
                <a:srgbClr val="CCECFF"/>
              </a:solidFill>
              <a:effectDag name="">
                <a:cont type="tree" name="">
                  <a:effect ref="fillLine"/>
                  <a:outerShdw dist="38100" dir="13500000" algn="br">
                    <a:srgbClr val="DDF3FF"/>
                  </a:outerShdw>
                </a:cont>
                <a:cont type="tree" name="">
                  <a:effect ref="fillLine"/>
                  <a:outerShdw dist="38100" dir="2700000" algn="tl">
                    <a:srgbClr val="7A8D99"/>
                  </a:outerShdw>
                </a:cont>
                <a:effect ref="fillLine"/>
              </a:effectDag>
              <a:uLnTx/>
              <a:uFillTx/>
              <a:latin typeface="华文楷体" panose="02010600040101010101" pitchFamily="2" charset="-122"/>
            </a:endParaRPr>
          </a:p>
        </p:txBody>
      </p:sp>
      <p:sp>
        <p:nvSpPr>
          <p:cNvPr id="28" name="AutoShape 42"/>
          <p:cNvSpPr/>
          <p:nvPr/>
        </p:nvSpPr>
        <p:spPr bwMode="auto">
          <a:xfrm rot="5400000">
            <a:off x="7451726" y="4357687"/>
            <a:ext cx="215900" cy="1368425"/>
          </a:xfrm>
          <a:prstGeom prst="leftBrace">
            <a:avLst>
              <a:gd name="adj1" fmla="val 52819"/>
              <a:gd name="adj2" fmla="val 50000"/>
            </a:avLst>
          </a:prstGeom>
          <a:noFill/>
          <a:ln w="9525">
            <a:solidFill>
              <a:srgbClr val="000000"/>
            </a:solidFill>
            <a:round/>
          </a:ln>
          <a:effectLst/>
        </p:spPr>
        <p:txBody>
          <a:bodyPr rot="10800000" vert="eaVert" lIns="90000" tIns="46800" rIns="90000" bIns="46800" anchor="ctr"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1" i="0" u="none" strike="noStrike" kern="0" cap="none" spc="0" normalizeH="0" baseline="0" noProof="0">
              <a:ln>
                <a:noFill/>
              </a:ln>
              <a:solidFill>
                <a:srgbClr val="CCECFF"/>
              </a:solidFill>
              <a:effectDag name="">
                <a:cont type="tree" name="">
                  <a:effect ref="fillLine"/>
                  <a:outerShdw dist="38100" dir="13500000" algn="br">
                    <a:srgbClr val="DDF3FF"/>
                  </a:outerShdw>
                </a:cont>
                <a:cont type="tree" name="">
                  <a:effect ref="fillLine"/>
                  <a:outerShdw dist="38100" dir="2700000" algn="tl">
                    <a:srgbClr val="7A8D99"/>
                  </a:outerShdw>
                </a:cont>
                <a:effect ref="fillLine"/>
              </a:effectDag>
              <a:uLnTx/>
              <a:uFillTx/>
              <a:latin typeface="华文楷体" panose="02010600040101010101" pitchFamily="2" charset="-122"/>
            </a:endParaRPr>
          </a:p>
        </p:txBody>
      </p:sp>
      <p:sp>
        <p:nvSpPr>
          <p:cNvPr id="29" name="Line 43"/>
          <p:cNvSpPr>
            <a:spLocks noChangeShapeType="1"/>
          </p:cNvSpPr>
          <p:nvPr/>
        </p:nvSpPr>
        <p:spPr bwMode="auto">
          <a:xfrm flipH="1">
            <a:off x="5364163" y="5799137"/>
            <a:ext cx="0" cy="62230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tailEnd type="triangle" w="med" len="med"/>
          </a:ln>
          <a:effectLst/>
        </p:spPr>
        <p:txBody>
          <a:bodyPr lIns="90000" tIns="46800" rIns="90000" bIns="468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3000" b="1">
              <a:solidFill>
                <a:srgbClr val="66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0" name="Text Box 44"/>
          <p:cNvSpPr txBox="1">
            <a:spLocks noChangeArrowheads="1"/>
          </p:cNvSpPr>
          <p:nvPr/>
        </p:nvSpPr>
        <p:spPr bwMode="auto">
          <a:xfrm>
            <a:off x="5508625" y="5942012"/>
            <a:ext cx="1223963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i+l-1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1" name="Text Box 45"/>
          <p:cNvSpPr txBox="1">
            <a:spLocks noChangeArrowheads="1"/>
          </p:cNvSpPr>
          <p:nvPr/>
        </p:nvSpPr>
        <p:spPr bwMode="auto">
          <a:xfrm>
            <a:off x="7092950" y="5870575"/>
            <a:ext cx="1439863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i+2l-1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2" name="Line 46"/>
          <p:cNvSpPr>
            <a:spLocks noChangeShapeType="1"/>
          </p:cNvSpPr>
          <p:nvPr/>
        </p:nvSpPr>
        <p:spPr bwMode="auto">
          <a:xfrm flipH="1">
            <a:off x="6804025" y="5799137"/>
            <a:ext cx="0" cy="574675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tailEnd type="triangle" w="med" len="med"/>
          </a:ln>
          <a:effectLst/>
        </p:spPr>
        <p:txBody>
          <a:bodyPr lIns="90000" tIns="46800" rIns="90000" bIns="468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3000" b="1">
              <a:solidFill>
                <a:srgbClr val="66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3" name="Text Box 64"/>
          <p:cNvSpPr txBox="1">
            <a:spLocks noChangeArrowheads="1"/>
          </p:cNvSpPr>
          <p:nvPr/>
        </p:nvSpPr>
        <p:spPr bwMode="auto">
          <a:xfrm>
            <a:off x="466725" y="928688"/>
            <a:ext cx="5400675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 2-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路归并排序核心算法</a:t>
            </a:r>
            <a:endParaRPr kumimoji="1" lang="zh-CN" altLang="en-US" sz="2800" b="1" dirty="0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876800" y="3323272"/>
            <a:ext cx="4184650" cy="147732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1B06BA"/>
                </a:solidFill>
              </a:rPr>
              <a:t>// </a:t>
            </a:r>
            <a:r>
              <a:rPr lang="en-US" altLang="zh-CN" b="1" dirty="0">
                <a:solidFill>
                  <a:srgbClr val="FF0000"/>
                </a:solidFill>
              </a:rPr>
              <a:t>l</a:t>
            </a:r>
            <a:r>
              <a:rPr lang="zh-CN" altLang="en-US" b="1" dirty="0">
                <a:solidFill>
                  <a:srgbClr val="1B06BA"/>
                </a:solidFill>
              </a:rPr>
              <a:t>代表最长有序的子序列；</a:t>
            </a:r>
            <a:endParaRPr lang="zh-CN" altLang="en-US" b="1" dirty="0">
              <a:solidFill>
                <a:srgbClr val="1B06BA"/>
              </a:solidFill>
            </a:endParaRPr>
          </a:p>
          <a:p>
            <a:r>
              <a:rPr lang="en-US" altLang="zh-CN" b="1" dirty="0">
                <a:solidFill>
                  <a:srgbClr val="FF0000"/>
                </a:solidFill>
              </a:rPr>
              <a:t>i+l-1</a:t>
            </a:r>
            <a:r>
              <a:rPr lang="zh-CN" altLang="en-US" b="1" dirty="0">
                <a:solidFill>
                  <a:srgbClr val="1B06BA"/>
                </a:solidFill>
              </a:rPr>
              <a:t>代表序列</a:t>
            </a:r>
            <a:r>
              <a:rPr lang="en-US" altLang="zh-CN" b="1" dirty="0">
                <a:solidFill>
                  <a:srgbClr val="1B06BA"/>
                </a:solidFill>
              </a:rPr>
              <a:t>A</a:t>
            </a:r>
            <a:r>
              <a:rPr lang="zh-CN" altLang="en-US" b="1" dirty="0">
                <a:solidFill>
                  <a:srgbClr val="1B06BA"/>
                </a:solidFill>
              </a:rPr>
              <a:t>的终止位置；</a:t>
            </a:r>
            <a:endParaRPr lang="en-US" altLang="zh-CN" b="1" dirty="0">
              <a:solidFill>
                <a:srgbClr val="1B06BA"/>
              </a:solidFill>
            </a:endParaRPr>
          </a:p>
          <a:p>
            <a:r>
              <a:rPr lang="en-US" altLang="zh-CN" b="1" dirty="0">
                <a:solidFill>
                  <a:srgbClr val="FF0000"/>
                </a:solidFill>
              </a:rPr>
              <a:t>i+2*l-1</a:t>
            </a:r>
            <a:r>
              <a:rPr lang="zh-CN" altLang="en-US" b="1" dirty="0">
                <a:solidFill>
                  <a:srgbClr val="1B06BA"/>
                </a:solidFill>
              </a:rPr>
              <a:t>代表序列</a:t>
            </a:r>
            <a:r>
              <a:rPr lang="en-US" altLang="zh-CN" b="1" dirty="0">
                <a:solidFill>
                  <a:srgbClr val="1B06BA"/>
                </a:solidFill>
              </a:rPr>
              <a:t>B</a:t>
            </a:r>
            <a:r>
              <a:rPr lang="zh-CN" altLang="en-US" b="1" dirty="0">
                <a:solidFill>
                  <a:srgbClr val="1B06BA"/>
                </a:solidFill>
              </a:rPr>
              <a:t>的终止位置；</a:t>
            </a:r>
            <a:endParaRPr lang="en-US" altLang="zh-CN" b="1" dirty="0">
              <a:solidFill>
                <a:srgbClr val="1B06BA"/>
              </a:solidFill>
            </a:endParaRPr>
          </a:p>
          <a:p>
            <a:r>
              <a:rPr lang="en-US" altLang="zh-CN" b="1" dirty="0">
                <a:solidFill>
                  <a:srgbClr val="FF0000"/>
                </a:solidFill>
              </a:rPr>
              <a:t>i</a:t>
            </a:r>
            <a:r>
              <a:rPr lang="zh-CN" altLang="en-US" b="1" dirty="0">
                <a:solidFill>
                  <a:srgbClr val="1B06BA"/>
                </a:solidFill>
              </a:rPr>
              <a:t>表示</a:t>
            </a:r>
            <a:r>
              <a:rPr lang="en-US" altLang="zh-CN" b="1" dirty="0">
                <a:solidFill>
                  <a:srgbClr val="1B06BA"/>
                </a:solidFill>
              </a:rPr>
              <a:t>A</a:t>
            </a:r>
            <a:r>
              <a:rPr lang="zh-CN" altLang="en-US" b="1" dirty="0">
                <a:solidFill>
                  <a:srgbClr val="1B06BA"/>
                </a:solidFill>
              </a:rPr>
              <a:t>的起始位置；</a:t>
            </a:r>
            <a:endParaRPr lang="zh-CN" altLang="en-US" b="1" dirty="0">
              <a:solidFill>
                <a:srgbClr val="1B06BA"/>
              </a:solidFill>
            </a:endParaRPr>
          </a:p>
          <a:p>
            <a:r>
              <a:rPr lang="en-US" altLang="zh-CN" b="1" dirty="0">
                <a:solidFill>
                  <a:srgbClr val="FF0000"/>
                </a:solidFill>
              </a:rPr>
              <a:t>i=i+2*l</a:t>
            </a:r>
            <a:r>
              <a:rPr lang="zh-CN" altLang="en-US" b="1" dirty="0">
                <a:solidFill>
                  <a:srgbClr val="1B06BA"/>
                </a:solidFill>
              </a:rPr>
              <a:t>表示下个要合并序列的起始位置；</a:t>
            </a:r>
            <a:endParaRPr lang="zh-CN" altLang="en-US" b="1" dirty="0">
              <a:solidFill>
                <a:srgbClr val="1B06B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/>
      <p:bldP spid="21" grpId="0" animBg="1"/>
      <p:bldP spid="22" grpId="0"/>
      <p:bldP spid="23" grpId="0" animBg="1"/>
      <p:bldP spid="24" grpId="0"/>
      <p:bldP spid="25" grpId="0" animBg="1"/>
      <p:bldP spid="26" grpId="0"/>
      <p:bldP spid="29" grpId="0" animBg="1"/>
      <p:bldP spid="30" grpId="0"/>
      <p:bldP spid="31" grpId="0"/>
      <p:bldP spid="32" grpId="0" animBg="1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6.5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归并排序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9058C-E192-4EB6-A4E3-1A57BE92A78F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32"/>
          <p:cNvSpPr txBox="1">
            <a:spLocks noChangeArrowheads="1"/>
          </p:cNvSpPr>
          <p:nvPr/>
        </p:nvSpPr>
        <p:spPr bwMode="auto">
          <a:xfrm>
            <a:off x="684213" y="1719263"/>
            <a:ext cx="7921625" cy="30813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void 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Msort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RcdType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 A[],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RcdType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 B[],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int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 n, 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int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 l)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{………….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  if (i+l-1&lt;n)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Merge(A,B,i,i+l-1,n);</a:t>
            </a:r>
            <a:endParaRPr kumimoji="1" lang="en-US" altLang="zh-CN" sz="2800" b="1" dirty="0">
              <a:solidFill>
                <a:srgbClr val="FF33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  else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for (t=</a:t>
            </a:r>
            <a:r>
              <a:rPr kumimoji="1" lang="en-US" altLang="zh-CN" sz="2800" b="1" dirty="0" err="1">
                <a:solidFill>
                  <a:srgbClr val="FF3300"/>
                </a:solidFill>
                <a:latin typeface="Times New Roman" panose="02020603050405020304" pitchFamily="18" charset="0"/>
              </a:rPr>
              <a:t>i;t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&lt;=</a:t>
            </a:r>
            <a:r>
              <a:rPr kumimoji="1" lang="en-US" altLang="zh-CN" sz="2800" b="1" dirty="0" err="1">
                <a:solidFill>
                  <a:srgbClr val="FF3300"/>
                </a:solidFill>
                <a:latin typeface="Times New Roman" panose="02020603050405020304" pitchFamily="18" charset="0"/>
              </a:rPr>
              <a:t>n;t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++)   B[t]=A[t];</a:t>
            </a:r>
            <a:endParaRPr kumimoji="1" lang="en-US" altLang="zh-CN" sz="2800" b="1" dirty="0">
              <a:solidFill>
                <a:srgbClr val="FF33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}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4" name="Group 47"/>
          <p:cNvGraphicFramePr>
            <a:graphicFrameLocks noGrp="1"/>
          </p:cNvGraphicFramePr>
          <p:nvPr/>
        </p:nvGraphicFramePr>
        <p:xfrm>
          <a:off x="2951163" y="5159375"/>
          <a:ext cx="2124075" cy="519113"/>
        </p:xfrm>
        <a:graphic>
          <a:graphicData uri="http://schemas.openxmlformats.org/drawingml/2006/table">
            <a:tbl>
              <a:tblPr/>
              <a:tblGrid>
                <a:gridCol w="709612"/>
                <a:gridCol w="706438"/>
                <a:gridCol w="708025"/>
              </a:tblGrid>
              <a:tr h="5191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tantia" panose="02030602050306030303" pitchFamily="18" charset="0"/>
                          <a:ea typeface="宋体" panose="02010600030101010101" pitchFamily="2" charset="-122"/>
                        </a:rPr>
                        <a:t>…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tantia" panose="02030602050306030303" pitchFamily="18" charset="0"/>
                          <a:ea typeface="宋体" panose="02010600030101010101" pitchFamily="2" charset="-122"/>
                        </a:rPr>
                        <a:t>…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tantia" panose="02030602050306030303" pitchFamily="18" charset="0"/>
                          <a:ea typeface="宋体" panose="02010600030101010101" pitchFamily="2" charset="-122"/>
                        </a:rPr>
                        <a:t>…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5" name="Line 57"/>
          <p:cNvSpPr>
            <a:spLocks noChangeShapeType="1"/>
          </p:cNvSpPr>
          <p:nvPr/>
        </p:nvSpPr>
        <p:spPr bwMode="auto">
          <a:xfrm flipH="1">
            <a:off x="2965450" y="5710237"/>
            <a:ext cx="0" cy="2873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ffectLst/>
        </p:spPr>
        <p:txBody>
          <a:bodyPr lIns="90000" tIns="46800" rIns="90000" bIns="46800"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6" name="Text Box 58"/>
          <p:cNvSpPr txBox="1">
            <a:spLocks noChangeArrowheads="1"/>
          </p:cNvSpPr>
          <p:nvPr/>
        </p:nvSpPr>
        <p:spPr bwMode="auto">
          <a:xfrm>
            <a:off x="2808288" y="6059487"/>
            <a:ext cx="360362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7" name="Line 59"/>
          <p:cNvSpPr>
            <a:spLocks noChangeShapeType="1"/>
          </p:cNvSpPr>
          <p:nvPr/>
        </p:nvSpPr>
        <p:spPr bwMode="auto">
          <a:xfrm flipH="1">
            <a:off x="4248150" y="5711825"/>
            <a:ext cx="0" cy="2873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ffectLst/>
        </p:spPr>
        <p:txBody>
          <a:bodyPr lIns="90000" tIns="46800" rIns="90000" bIns="46800"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8" name="Text Box 60"/>
          <p:cNvSpPr txBox="1">
            <a:spLocks noChangeArrowheads="1"/>
          </p:cNvSpPr>
          <p:nvPr/>
        </p:nvSpPr>
        <p:spPr bwMode="auto">
          <a:xfrm>
            <a:off x="3816350" y="5927725"/>
            <a:ext cx="1079500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i+l-1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9" name="Text Box 61"/>
          <p:cNvSpPr txBox="1">
            <a:spLocks noChangeArrowheads="1"/>
          </p:cNvSpPr>
          <p:nvPr/>
        </p:nvSpPr>
        <p:spPr bwMode="auto">
          <a:xfrm>
            <a:off x="4895850" y="5927725"/>
            <a:ext cx="1331913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i+2l-1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0" name="Line 62"/>
          <p:cNvSpPr>
            <a:spLocks noChangeShapeType="1"/>
          </p:cNvSpPr>
          <p:nvPr/>
        </p:nvSpPr>
        <p:spPr bwMode="auto">
          <a:xfrm flipH="1">
            <a:off x="5472113" y="5664200"/>
            <a:ext cx="0" cy="2873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ffectLst/>
        </p:spPr>
        <p:txBody>
          <a:bodyPr lIns="90000" tIns="46800" rIns="90000" bIns="46800"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1" name="Text Box 63"/>
          <p:cNvSpPr txBox="1">
            <a:spLocks noChangeArrowheads="1"/>
          </p:cNvSpPr>
          <p:nvPr/>
        </p:nvSpPr>
        <p:spPr bwMode="auto">
          <a:xfrm>
            <a:off x="4641850" y="4471987"/>
            <a:ext cx="614363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00"/>
                </a:solidFill>
                <a:latin typeface="Tahoma" panose="020B0604030504040204" pitchFamily="34" charset="0"/>
                <a:ea typeface="楷体_GB2312" pitchFamily="49" charset="-122"/>
              </a:rPr>
              <a:t>n</a:t>
            </a:r>
            <a:endParaRPr kumimoji="1" lang="en-US" altLang="zh-CN" sz="2800" b="1">
              <a:solidFill>
                <a:srgbClr val="000000"/>
              </a:solidFill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22" name="Text Box 64"/>
          <p:cNvSpPr txBox="1">
            <a:spLocks noChangeArrowheads="1"/>
          </p:cNvSpPr>
          <p:nvPr/>
        </p:nvSpPr>
        <p:spPr bwMode="auto">
          <a:xfrm>
            <a:off x="400948" y="1004888"/>
            <a:ext cx="4441825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 2-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路归并排序核心算法</a:t>
            </a:r>
            <a:endParaRPr kumimoji="1" lang="zh-CN" altLang="en-US" sz="2800" b="1" dirty="0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648073" y="2590800"/>
            <a:ext cx="4346575" cy="120032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1B06BA"/>
                </a:solidFill>
              </a:rPr>
              <a:t>//</a:t>
            </a:r>
            <a:r>
              <a:rPr lang="zh-CN" altLang="en-US" b="1" dirty="0">
                <a:solidFill>
                  <a:srgbClr val="1B06BA"/>
                </a:solidFill>
              </a:rPr>
              <a:t>两种情况：</a:t>
            </a:r>
            <a:r>
              <a:rPr lang="en-US" altLang="zh-CN" b="1" dirty="0">
                <a:solidFill>
                  <a:srgbClr val="FF0000"/>
                </a:solidFill>
              </a:rPr>
              <a:t>A</a:t>
            </a:r>
            <a:r>
              <a:rPr lang="zh-CN" altLang="en-US" b="1" dirty="0">
                <a:solidFill>
                  <a:srgbClr val="FF0000"/>
                </a:solidFill>
              </a:rPr>
              <a:t>的长度大于</a:t>
            </a:r>
            <a:r>
              <a:rPr lang="en-US" altLang="zh-CN" b="1" dirty="0">
                <a:solidFill>
                  <a:srgbClr val="FF0000"/>
                </a:solidFill>
              </a:rPr>
              <a:t>B</a:t>
            </a:r>
            <a:r>
              <a:rPr lang="zh-CN" altLang="en-US" b="1" dirty="0">
                <a:solidFill>
                  <a:srgbClr val="1B06BA"/>
                </a:solidFill>
              </a:rPr>
              <a:t>的时候，可以</a:t>
            </a:r>
            <a:r>
              <a:rPr lang="en-US" altLang="zh-CN" b="1" dirty="0">
                <a:solidFill>
                  <a:srgbClr val="1B06BA"/>
                </a:solidFill>
              </a:rPr>
              <a:t>merge</a:t>
            </a:r>
            <a:r>
              <a:rPr lang="zh-CN" altLang="en-US" b="1" dirty="0">
                <a:solidFill>
                  <a:srgbClr val="1B06BA"/>
                </a:solidFill>
              </a:rPr>
              <a:t>，调用；</a:t>
            </a:r>
            <a:endParaRPr lang="zh-CN" altLang="en-US" b="1" dirty="0">
              <a:solidFill>
                <a:srgbClr val="1B06BA"/>
              </a:solidFill>
            </a:endParaRPr>
          </a:p>
          <a:p>
            <a:r>
              <a:rPr lang="zh-CN" altLang="en-US" b="1" dirty="0">
                <a:solidFill>
                  <a:srgbClr val="1B06BA"/>
                </a:solidFill>
              </a:rPr>
              <a:t>另外，</a:t>
            </a:r>
            <a:r>
              <a:rPr lang="en-US" altLang="zh-CN" b="1" dirty="0">
                <a:solidFill>
                  <a:srgbClr val="FF0000"/>
                </a:solidFill>
              </a:rPr>
              <a:t>A</a:t>
            </a:r>
            <a:r>
              <a:rPr lang="zh-CN" altLang="en-US" b="1" dirty="0">
                <a:solidFill>
                  <a:srgbClr val="FF0000"/>
                </a:solidFill>
              </a:rPr>
              <a:t>长度比</a:t>
            </a:r>
            <a:r>
              <a:rPr lang="en-US" altLang="zh-CN" b="1" dirty="0">
                <a:solidFill>
                  <a:srgbClr val="FF0000"/>
                </a:solidFill>
              </a:rPr>
              <a:t>l</a:t>
            </a:r>
            <a:r>
              <a:rPr lang="zh-CN" altLang="en-US" b="1" dirty="0">
                <a:solidFill>
                  <a:srgbClr val="FF0000"/>
                </a:solidFill>
              </a:rPr>
              <a:t>小</a:t>
            </a:r>
            <a:r>
              <a:rPr lang="zh-CN" altLang="en-US" b="1" dirty="0">
                <a:solidFill>
                  <a:srgbClr val="1B06BA"/>
                </a:solidFill>
              </a:rPr>
              <a:t>，</a:t>
            </a:r>
            <a:r>
              <a:rPr lang="en-US" altLang="zh-CN" b="1" dirty="0">
                <a:solidFill>
                  <a:srgbClr val="1B06BA"/>
                </a:solidFill>
              </a:rPr>
              <a:t>B</a:t>
            </a:r>
            <a:r>
              <a:rPr lang="zh-CN" altLang="en-US" b="1" dirty="0">
                <a:solidFill>
                  <a:srgbClr val="1B06BA"/>
                </a:solidFill>
              </a:rPr>
              <a:t>为空，然后直接</a:t>
            </a:r>
            <a:r>
              <a:rPr lang="en-US" altLang="zh-CN" b="1" dirty="0">
                <a:solidFill>
                  <a:srgbClr val="1B06BA"/>
                </a:solidFill>
              </a:rPr>
              <a:t>copy A</a:t>
            </a:r>
            <a:r>
              <a:rPr lang="zh-CN" altLang="en-US" b="1" dirty="0">
                <a:solidFill>
                  <a:srgbClr val="1B06BA"/>
                </a:solidFill>
              </a:rPr>
              <a:t>到下一趟合并的序列；</a:t>
            </a:r>
            <a:endParaRPr lang="zh-CN" altLang="en-US" b="1" dirty="0">
              <a:solidFill>
                <a:srgbClr val="1B06B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6.5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归并排序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EF320-3106-40B8-8B97-798DBE4A2E87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1476375" y="1809750"/>
            <a:ext cx="6213475" cy="436245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ahoma" panose="020B0604030504040204" pitchFamily="34" charset="0"/>
                <a:ea typeface="楷体_GB2312" pitchFamily="49" charset="-122"/>
              </a:rPr>
              <a:t>void 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ahoma" panose="020B0604030504040204" pitchFamily="34" charset="0"/>
                <a:ea typeface="楷体_GB2312" pitchFamily="49" charset="-122"/>
              </a:rPr>
              <a:t>MergeSort</a:t>
            </a:r>
            <a:r>
              <a:rPr kumimoji="1" lang="en-US" altLang="zh-CN" sz="2800" b="1" dirty="0">
                <a:solidFill>
                  <a:srgbClr val="0000FF"/>
                </a:solidFill>
                <a:latin typeface="Tahoma" panose="020B0604030504040204" pitchFamily="34" charset="0"/>
                <a:ea typeface="楷体_GB2312" pitchFamily="49" charset="-122"/>
              </a:rPr>
              <a:t>(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ahoma" panose="020B0604030504040204" pitchFamily="34" charset="0"/>
                <a:ea typeface="楷体_GB2312" pitchFamily="49" charset="-122"/>
              </a:rPr>
              <a:t>RcdType</a:t>
            </a:r>
            <a:r>
              <a:rPr kumimoji="1" lang="en-US" altLang="zh-CN" sz="2800" b="1" dirty="0">
                <a:solidFill>
                  <a:srgbClr val="0000FF"/>
                </a:solidFill>
                <a:latin typeface="Tahoma" panose="020B0604030504040204" pitchFamily="34" charset="0"/>
                <a:ea typeface="楷体_GB2312" pitchFamily="49" charset="-122"/>
              </a:rPr>
              <a:t> A[],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ahoma" panose="020B0604030504040204" pitchFamily="34" charset="0"/>
                <a:ea typeface="楷体_GB2312" pitchFamily="49" charset="-122"/>
              </a:rPr>
              <a:t>int</a:t>
            </a:r>
            <a:r>
              <a:rPr kumimoji="1" lang="en-US" altLang="zh-CN" sz="2800" b="1" dirty="0">
                <a:solidFill>
                  <a:srgbClr val="0000FF"/>
                </a:solidFill>
                <a:latin typeface="Tahoma" panose="020B0604030504040204" pitchFamily="34" charset="0"/>
                <a:ea typeface="楷体_GB2312" pitchFamily="49" charset="-122"/>
              </a:rPr>
              <a:t> n)</a:t>
            </a:r>
            <a:endParaRPr kumimoji="1" lang="en-US" altLang="zh-CN" sz="2800" b="1" dirty="0">
              <a:solidFill>
                <a:srgbClr val="0000FF"/>
              </a:solidFill>
              <a:latin typeface="Tahoma" panose="020B0604030504040204" pitchFamily="34" charset="0"/>
              <a:ea typeface="楷体_GB2312" pitchFamily="49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ahoma" panose="020B0604030504040204" pitchFamily="34" charset="0"/>
                <a:ea typeface="楷体_GB2312" pitchFamily="49" charset="-122"/>
              </a:rPr>
              <a:t>{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ahoma" panose="020B0604030504040204" pitchFamily="34" charset="0"/>
                <a:ea typeface="楷体_GB2312" pitchFamily="49" charset="-122"/>
              </a:rPr>
              <a:t>int</a:t>
            </a:r>
            <a:r>
              <a:rPr kumimoji="1" lang="en-US" altLang="zh-CN" sz="2800" b="1" dirty="0">
                <a:solidFill>
                  <a:srgbClr val="0000FF"/>
                </a:solidFill>
                <a:latin typeface="Tahoma" panose="020B0604030504040204" pitchFamily="34" charset="0"/>
                <a:ea typeface="楷体_GB2312" pitchFamily="49" charset="-122"/>
              </a:rPr>
              <a:t> l=1;</a:t>
            </a:r>
            <a:endParaRPr kumimoji="1" lang="en-US" altLang="zh-CN" sz="2800" b="1" dirty="0">
              <a:solidFill>
                <a:srgbClr val="0000FF"/>
              </a:solidFill>
              <a:latin typeface="Tahoma" panose="020B0604030504040204" pitchFamily="34" charset="0"/>
              <a:ea typeface="楷体_GB2312" pitchFamily="49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ahoma" panose="020B0604030504040204" pitchFamily="34" charset="0"/>
                <a:ea typeface="楷体_GB2312" pitchFamily="49" charset="-122"/>
              </a:rPr>
              <a:t>  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ahoma" panose="020B0604030504040204" pitchFamily="34" charset="0"/>
                <a:ea typeface="楷体_GB2312" pitchFamily="49" charset="-122"/>
              </a:rPr>
              <a:t>Rcdtype</a:t>
            </a:r>
            <a:r>
              <a:rPr kumimoji="1" lang="en-US" altLang="zh-CN" sz="2800" b="1" dirty="0">
                <a:solidFill>
                  <a:srgbClr val="0000FF"/>
                </a:solidFill>
                <a:latin typeface="Tahoma" panose="020B0604030504040204" pitchFamily="34" charset="0"/>
                <a:ea typeface="楷体_GB2312" pitchFamily="49" charset="-122"/>
              </a:rPr>
              <a:t> B[];</a:t>
            </a:r>
            <a:endParaRPr kumimoji="1" lang="en-US" altLang="zh-CN" sz="2800" b="1" dirty="0">
              <a:solidFill>
                <a:srgbClr val="0000FF"/>
              </a:solidFill>
              <a:latin typeface="Tahoma" panose="020B0604030504040204" pitchFamily="34" charset="0"/>
              <a:ea typeface="楷体_GB2312" pitchFamily="49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ahoma" panose="020B0604030504040204" pitchFamily="34" charset="0"/>
                <a:ea typeface="楷体_GB2312" pitchFamily="49" charset="-122"/>
              </a:rPr>
              <a:t>  while (l&lt;n)</a:t>
            </a:r>
            <a:endParaRPr kumimoji="1" lang="en-US" altLang="zh-CN" sz="2800" b="1" dirty="0">
              <a:solidFill>
                <a:srgbClr val="0000FF"/>
              </a:solidFill>
              <a:latin typeface="Tahoma" panose="020B0604030504040204" pitchFamily="34" charset="0"/>
              <a:ea typeface="楷体_GB2312" pitchFamily="49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ahoma" panose="020B0604030504040204" pitchFamily="34" charset="0"/>
                <a:ea typeface="楷体_GB2312" pitchFamily="49" charset="-122"/>
              </a:rPr>
              <a:t>  {</a:t>
            </a:r>
            <a:r>
              <a:rPr kumimoji="1" lang="en-US" altLang="zh-CN" sz="2800" b="1" dirty="0" err="1">
                <a:solidFill>
                  <a:srgbClr val="FF3300"/>
                </a:solidFill>
                <a:latin typeface="Times New Roman" panose="02020603050405020304" pitchFamily="18" charset="0"/>
              </a:rPr>
              <a:t>mpass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sz="2800" b="1" dirty="0" err="1">
                <a:solidFill>
                  <a:srgbClr val="FF3300"/>
                </a:solidFill>
                <a:latin typeface="Times New Roman" panose="02020603050405020304" pitchFamily="18" charset="0"/>
              </a:rPr>
              <a:t>A,B,n,l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)</a:t>
            </a:r>
            <a:endParaRPr kumimoji="1" lang="en-US" altLang="zh-CN" sz="2800" b="1" dirty="0">
              <a:solidFill>
                <a:srgbClr val="FF33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    l=2*l;</a:t>
            </a:r>
            <a:endParaRPr kumimoji="1" lang="en-US" altLang="zh-CN" sz="2800" b="1" dirty="0">
              <a:solidFill>
                <a:srgbClr val="FF33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    </a:t>
            </a:r>
            <a:r>
              <a:rPr kumimoji="1" lang="en-US" altLang="zh-CN" sz="2800" b="1" dirty="0" err="1">
                <a:solidFill>
                  <a:srgbClr val="FF3300"/>
                </a:solidFill>
                <a:latin typeface="Times New Roman" panose="02020603050405020304" pitchFamily="18" charset="0"/>
              </a:rPr>
              <a:t>mpass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sz="2800" b="1" dirty="0" err="1">
                <a:solidFill>
                  <a:srgbClr val="FF3300"/>
                </a:solidFill>
                <a:latin typeface="Times New Roman" panose="02020603050405020304" pitchFamily="18" charset="0"/>
              </a:rPr>
              <a:t>B,A,n,l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);</a:t>
            </a:r>
            <a:endParaRPr kumimoji="1" lang="en-US" altLang="zh-CN" sz="2800" b="1" dirty="0">
              <a:solidFill>
                <a:srgbClr val="FF33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    l=2*l;</a:t>
            </a:r>
            <a:endParaRPr kumimoji="1" lang="en-US" altLang="zh-CN" sz="2800" b="1" dirty="0">
              <a:solidFill>
                <a:srgbClr val="FF33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ahoma" panose="020B0604030504040204" pitchFamily="34" charset="0"/>
                <a:ea typeface="楷体_GB2312" pitchFamily="49" charset="-122"/>
              </a:rPr>
              <a:t>  }</a:t>
            </a:r>
            <a:endParaRPr kumimoji="1" lang="en-US" altLang="zh-CN" sz="2800" b="1" dirty="0">
              <a:solidFill>
                <a:srgbClr val="0000FF"/>
              </a:solidFill>
              <a:latin typeface="Tahoma" panose="020B0604030504040204" pitchFamily="34" charset="0"/>
              <a:ea typeface="楷体_GB2312" pitchFamily="49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ahoma" panose="020B0604030504040204" pitchFamily="34" charset="0"/>
                <a:ea typeface="楷体_GB2312" pitchFamily="49" charset="-122"/>
              </a:rPr>
              <a:t>}</a:t>
            </a:r>
            <a:endParaRPr kumimoji="1" lang="en-US" altLang="zh-CN" sz="2800" b="1" dirty="0">
              <a:solidFill>
                <a:srgbClr val="0000FF"/>
              </a:solidFill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14" name="Text Box 4"/>
          <p:cNvSpPr txBox="1">
            <a:spLocks noChangeArrowheads="1"/>
          </p:cNvSpPr>
          <p:nvPr/>
        </p:nvSpPr>
        <p:spPr bwMode="auto">
          <a:xfrm>
            <a:off x="395288" y="946150"/>
            <a:ext cx="4441825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>
                <a:solidFill>
                  <a:srgbClr val="003300"/>
                </a:solidFill>
                <a:latin typeface="Times New Roman" panose="02020603050405020304" pitchFamily="18" charset="0"/>
              </a:rPr>
              <a:t> 2-</a:t>
            </a: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</a:rPr>
              <a:t>路归并排序算法</a:t>
            </a:r>
            <a:endParaRPr kumimoji="1" lang="zh-CN" altLang="en-US" sz="2800" b="1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837113" y="3060192"/>
            <a:ext cx="423068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1B06BA"/>
                </a:solidFill>
              </a:rPr>
              <a:t>//A</a:t>
            </a:r>
            <a:r>
              <a:rPr lang="zh-CN" altLang="en-US" b="1" dirty="0">
                <a:solidFill>
                  <a:srgbClr val="1B06BA"/>
                </a:solidFill>
              </a:rPr>
              <a:t>为原始序列，</a:t>
            </a:r>
            <a:r>
              <a:rPr lang="en-US" altLang="zh-CN" b="1" dirty="0">
                <a:solidFill>
                  <a:srgbClr val="1B06BA"/>
                </a:solidFill>
              </a:rPr>
              <a:t>l=1</a:t>
            </a:r>
            <a:r>
              <a:rPr lang="zh-CN" altLang="en-US" b="1" dirty="0">
                <a:solidFill>
                  <a:srgbClr val="1B06BA"/>
                </a:solidFill>
              </a:rPr>
              <a:t>；</a:t>
            </a:r>
            <a:r>
              <a:rPr lang="en-US" altLang="zh-CN" b="1" dirty="0">
                <a:solidFill>
                  <a:srgbClr val="1B06BA"/>
                </a:solidFill>
              </a:rPr>
              <a:t>B</a:t>
            </a:r>
            <a:r>
              <a:rPr lang="zh-CN" altLang="en-US" b="1" dirty="0">
                <a:solidFill>
                  <a:srgbClr val="1B06BA"/>
                </a:solidFill>
              </a:rPr>
              <a:t>是一趟排序后的序列，</a:t>
            </a:r>
            <a:r>
              <a:rPr lang="en-US" altLang="zh-CN" b="1" dirty="0" err="1">
                <a:solidFill>
                  <a:srgbClr val="1B06BA"/>
                </a:solidFill>
              </a:rPr>
              <a:t>mpass</a:t>
            </a:r>
            <a:r>
              <a:rPr lang="zh-CN" altLang="en-US" b="1" dirty="0">
                <a:solidFill>
                  <a:srgbClr val="1B06BA"/>
                </a:solidFill>
              </a:rPr>
              <a:t>（就是</a:t>
            </a:r>
            <a:r>
              <a:rPr lang="en-US" altLang="zh-CN" b="1" dirty="0" err="1">
                <a:solidFill>
                  <a:srgbClr val="1B06BA"/>
                </a:solidFill>
              </a:rPr>
              <a:t>Msort</a:t>
            </a:r>
            <a:r>
              <a:rPr lang="zh-CN" altLang="en-US" b="1" dirty="0">
                <a:solidFill>
                  <a:srgbClr val="1B06BA"/>
                </a:solidFill>
              </a:rPr>
              <a:t>）返回的一趟排序后的</a:t>
            </a:r>
            <a:r>
              <a:rPr lang="en-US" altLang="zh-CN" b="1" dirty="0">
                <a:solidFill>
                  <a:srgbClr val="1B06BA"/>
                </a:solidFill>
              </a:rPr>
              <a:t>B</a:t>
            </a:r>
            <a:r>
              <a:rPr lang="zh-CN" altLang="en-US" b="1" dirty="0">
                <a:solidFill>
                  <a:srgbClr val="1B06BA"/>
                </a:solidFill>
              </a:rPr>
              <a:t>；</a:t>
            </a:r>
            <a:endParaRPr lang="en-US" altLang="zh-CN" b="1" dirty="0">
              <a:solidFill>
                <a:srgbClr val="1B06BA"/>
              </a:solidFill>
            </a:endParaRPr>
          </a:p>
          <a:p>
            <a:r>
              <a:rPr lang="zh-CN" altLang="en-US" b="1" dirty="0">
                <a:solidFill>
                  <a:srgbClr val="1B06BA"/>
                </a:solidFill>
              </a:rPr>
              <a:t>然后把</a:t>
            </a:r>
            <a:r>
              <a:rPr lang="en-US" altLang="zh-CN" b="1" dirty="0">
                <a:solidFill>
                  <a:srgbClr val="1B06BA"/>
                </a:solidFill>
              </a:rPr>
              <a:t>B</a:t>
            </a:r>
            <a:r>
              <a:rPr lang="zh-CN" altLang="en-US" b="1" dirty="0">
                <a:solidFill>
                  <a:srgbClr val="1B06BA"/>
                </a:solidFill>
              </a:rPr>
              <a:t>作为原始输入，</a:t>
            </a:r>
            <a:r>
              <a:rPr lang="en-US" altLang="zh-CN" b="1" dirty="0">
                <a:solidFill>
                  <a:srgbClr val="1B06BA"/>
                </a:solidFill>
              </a:rPr>
              <a:t>A</a:t>
            </a:r>
            <a:r>
              <a:rPr lang="zh-CN" altLang="en-US" b="1" dirty="0">
                <a:solidFill>
                  <a:srgbClr val="1B06BA"/>
                </a:solidFill>
              </a:rPr>
              <a:t>作为辅助数组，存放归并后的结果。</a:t>
            </a:r>
            <a:endParaRPr lang="zh-CN" altLang="en-US" b="1" dirty="0">
              <a:solidFill>
                <a:srgbClr val="1B06B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6.5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归并排序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D3EC1-8727-44C5-9061-EE888617D4DD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250825" y="1971675"/>
            <a:ext cx="7777163" cy="3895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         (1) 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稳定性</a:t>
            </a:r>
            <a:endParaRPr lang="zh-CN" altLang="en-US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algn="just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               归并排序是稳定的排序方法。</a:t>
            </a:r>
            <a:endParaRPr lang="zh-CN" altLang="en-US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algn="just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          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(2) 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时间复杂度</a:t>
            </a:r>
            <a:endParaRPr lang="zh-CN" altLang="en-US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algn="just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               每趟归并所花时间比较移动都是</a:t>
            </a:r>
            <a:r>
              <a:rPr lang="en-US" altLang="zh-CN" sz="3200" b="1" u="sng">
                <a:solidFill>
                  <a:srgbClr val="FF3300"/>
                </a:solidFill>
                <a:latin typeface="Times New Roman" panose="02020603050405020304" pitchFamily="18" charset="0"/>
              </a:rPr>
              <a:t>O(n)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；</a:t>
            </a:r>
            <a:endParaRPr lang="zh-CN" altLang="en-US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algn="just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               归并趟数为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log</a:t>
            </a:r>
            <a:r>
              <a:rPr lang="en-US" altLang="zh-CN" sz="2800" b="1" baseline="-25000">
                <a:solidFill>
                  <a:srgbClr val="0000FF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n;</a:t>
            </a:r>
            <a:endParaRPr lang="en-US" altLang="zh-CN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algn="just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               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时间复杂度为</a:t>
            </a:r>
            <a:r>
              <a:rPr lang="en-US" altLang="zh-CN" sz="3200" b="1" u="sng">
                <a:solidFill>
                  <a:srgbClr val="FF3300"/>
                </a:solidFill>
                <a:latin typeface="Times New Roman" panose="02020603050405020304" pitchFamily="18" charset="0"/>
              </a:rPr>
              <a:t>O(nlog</a:t>
            </a:r>
            <a:r>
              <a:rPr lang="en-US" altLang="zh-CN" sz="3200" b="1" u="sng" baseline="-25000">
                <a:solidFill>
                  <a:srgbClr val="FF33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3200" b="1" u="sng">
                <a:solidFill>
                  <a:srgbClr val="FF3300"/>
                </a:solidFill>
                <a:latin typeface="Times New Roman" panose="02020603050405020304" pitchFamily="18" charset="0"/>
              </a:rPr>
              <a:t>n)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。</a:t>
            </a:r>
            <a:endParaRPr lang="zh-CN" altLang="en-US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algn="just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          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(3) 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空间复杂度是</a:t>
            </a:r>
            <a:r>
              <a:rPr lang="en-US" altLang="zh-CN" sz="3200" b="1" u="sng">
                <a:solidFill>
                  <a:srgbClr val="FF3300"/>
                </a:solidFill>
                <a:latin typeface="Times New Roman" panose="02020603050405020304" pitchFamily="18" charset="0"/>
              </a:rPr>
              <a:t>O(n)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。</a:t>
            </a:r>
            <a:endParaRPr lang="zh-CN" altLang="en-US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" name="Text Box 6"/>
          <p:cNvSpPr txBox="1">
            <a:spLocks noChangeArrowheads="1"/>
          </p:cNvSpPr>
          <p:nvPr/>
        </p:nvSpPr>
        <p:spPr bwMode="auto">
          <a:xfrm>
            <a:off x="468313" y="1035050"/>
            <a:ext cx="5256212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>
                <a:solidFill>
                  <a:srgbClr val="003300"/>
                </a:solidFill>
                <a:latin typeface="Times New Roman" panose="02020603050405020304" pitchFamily="18" charset="0"/>
              </a:rPr>
              <a:t> 2-</a:t>
            </a: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</a:rPr>
              <a:t>路归并排序算法分析</a:t>
            </a:r>
            <a:endParaRPr kumimoji="1" lang="zh-CN" altLang="en-US" sz="2800" b="1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F0000"/>
                </a:solidFill>
              </a:rPr>
              <a:t>第六章 排序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 lnSpcReduction="10000"/>
          </a:bodyPr>
          <a:lstStyle/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6.1 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概述</a:t>
            </a:r>
            <a:endParaRPr kumimoji="1" lang="zh-CN" altLang="en-US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6.2 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插入排序</a:t>
            </a:r>
            <a:endParaRPr kumimoji="1" lang="zh-CN" altLang="en-US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6.3 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快速排序</a:t>
            </a:r>
            <a:endParaRPr kumimoji="1" lang="zh-CN" altLang="en-US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6.4 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选择排序</a:t>
            </a:r>
            <a:endParaRPr kumimoji="1" lang="zh-CN" altLang="en-US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6.5 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归并排序</a:t>
            </a:r>
            <a:endParaRPr kumimoji="1" lang="zh-CN" altLang="en-US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6.6  </a:t>
            </a:r>
            <a:r>
              <a:rPr kumimoji="1" lang="zh-CN" altLang="en-US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基数排序</a:t>
            </a:r>
            <a:endParaRPr kumimoji="1" lang="zh-CN" altLang="en-US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6.7 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内部排序方法的比较</a:t>
            </a:r>
            <a:endParaRPr kumimoji="1" lang="zh-CN" altLang="en-US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CCFB3-08FB-4739-AF59-289CCFB2C5D7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6.5.1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顺序基数排序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F49A6-36A0-4162-8FDC-84CFBA291F27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478790" y="1564006"/>
            <a:ext cx="8064500" cy="82259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b="1" dirty="0">
                <a:latin typeface="Times New Roman" panose="02020603050405020304" pitchFamily="18" charset="0"/>
              </a:rPr>
              <a:t> (1)</a:t>
            </a:r>
            <a:r>
              <a:rPr kumimoji="1" lang="zh-CN" altLang="en-US" sz="2000" b="1" dirty="0">
                <a:latin typeface="Times New Roman" panose="02020603050405020304" pitchFamily="18" charset="0"/>
              </a:rPr>
              <a:t>理论上可以证明，对于基于关键字之间比较的排序，无论用什么方法都至少需要进行</a:t>
            </a:r>
            <a:r>
              <a:rPr kumimoji="1" lang="en-US" altLang="zh-CN" sz="2000" b="1" dirty="0">
                <a:latin typeface="Times New Roman" panose="02020603050405020304" pitchFamily="18" charset="0"/>
              </a:rPr>
              <a:t>log</a:t>
            </a:r>
            <a:r>
              <a:rPr kumimoji="1" lang="en-US" altLang="zh-CN" sz="2000" b="1" baseline="-25000" dirty="0">
                <a:latin typeface="Times New Roman" panose="02020603050405020304" pitchFamily="18" charset="0"/>
              </a:rPr>
              <a:t>2</a:t>
            </a:r>
            <a:r>
              <a:rPr kumimoji="1" lang="en-US" altLang="zh-CN" sz="2000" b="1" dirty="0">
                <a:latin typeface="Times New Roman" panose="02020603050405020304" pitchFamily="18" charset="0"/>
              </a:rPr>
              <a:t>n!</a:t>
            </a:r>
            <a:r>
              <a:rPr kumimoji="1" lang="zh-CN" altLang="en-US" sz="2000" b="1" dirty="0">
                <a:latin typeface="Times New Roman" panose="02020603050405020304" pitchFamily="18" charset="0"/>
              </a:rPr>
              <a:t>次比较。 </a:t>
            </a:r>
            <a:endParaRPr kumimoji="1"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14" name="Text Box 32"/>
          <p:cNvSpPr txBox="1">
            <a:spLocks noChangeArrowheads="1"/>
          </p:cNvSpPr>
          <p:nvPr/>
        </p:nvSpPr>
        <p:spPr bwMode="auto">
          <a:xfrm>
            <a:off x="550228" y="2362200"/>
            <a:ext cx="7993062" cy="124649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b="1" dirty="0">
                <a:latin typeface="Times New Roman" panose="02020603050405020304" pitchFamily="18" charset="0"/>
              </a:rPr>
              <a:t>(2)</a:t>
            </a:r>
            <a:r>
              <a:rPr kumimoji="1" lang="zh-CN" altLang="en-US" sz="2000" b="1" dirty="0">
                <a:latin typeface="Times New Roman" panose="02020603050405020304" pitchFamily="18" charset="0"/>
              </a:rPr>
              <a:t>由</a:t>
            </a:r>
            <a:r>
              <a:rPr kumimoji="1" lang="en-US" altLang="zh-CN" sz="2000" b="1" dirty="0" err="1">
                <a:latin typeface="Times New Roman" panose="02020603050405020304" pitchFamily="18" charset="0"/>
              </a:rPr>
              <a:t>Stirling</a:t>
            </a:r>
            <a:r>
              <a:rPr kumimoji="1" lang="zh-CN" altLang="en-US" sz="2000" b="1" dirty="0">
                <a:latin typeface="Times New Roman" panose="02020603050405020304" pitchFamily="18" charset="0"/>
              </a:rPr>
              <a:t>公式可知，</a:t>
            </a:r>
            <a:r>
              <a:rPr kumimoji="1" lang="en-US" altLang="zh-CN" sz="2000" b="1" dirty="0">
                <a:latin typeface="Times New Roman" panose="02020603050405020304" pitchFamily="18" charset="0"/>
              </a:rPr>
              <a:t>log</a:t>
            </a:r>
            <a:r>
              <a:rPr kumimoji="1" lang="en-US" altLang="zh-CN" sz="2000" b="1" baseline="-25000" dirty="0">
                <a:latin typeface="Times New Roman" panose="02020603050405020304" pitchFamily="18" charset="0"/>
              </a:rPr>
              <a:t>2</a:t>
            </a:r>
            <a:r>
              <a:rPr kumimoji="1" lang="en-US" altLang="zh-CN" sz="2000" b="1" dirty="0">
                <a:latin typeface="Times New Roman" panose="02020603050405020304" pitchFamily="18" charset="0"/>
              </a:rPr>
              <a:t>n!≈nlog</a:t>
            </a:r>
            <a:r>
              <a:rPr kumimoji="1" lang="en-US" altLang="zh-CN" sz="2000" b="1" baseline="-25000" dirty="0">
                <a:latin typeface="Times New Roman" panose="02020603050405020304" pitchFamily="18" charset="0"/>
              </a:rPr>
              <a:t>2</a:t>
            </a:r>
            <a:r>
              <a:rPr kumimoji="1" lang="en-US" altLang="zh-CN" sz="2000" b="1" dirty="0">
                <a:latin typeface="Times New Roman" panose="02020603050405020304" pitchFamily="18" charset="0"/>
              </a:rPr>
              <a:t>n-1.44n+O(log</a:t>
            </a:r>
            <a:r>
              <a:rPr kumimoji="1" lang="en-US" altLang="zh-CN" sz="2000" b="1" baseline="-25000" dirty="0">
                <a:latin typeface="Times New Roman" panose="02020603050405020304" pitchFamily="18" charset="0"/>
              </a:rPr>
              <a:t>2</a:t>
            </a:r>
            <a:r>
              <a:rPr kumimoji="1" lang="en-US" altLang="zh-CN" sz="2000" b="1" dirty="0">
                <a:latin typeface="Times New Roman" panose="02020603050405020304" pitchFamily="18" charset="0"/>
              </a:rPr>
              <a:t>n)</a:t>
            </a:r>
            <a:r>
              <a:rPr kumimoji="1" lang="zh-CN" altLang="en-US" sz="2000" b="1" dirty="0">
                <a:latin typeface="Times New Roman" panose="02020603050405020304" pitchFamily="18" charset="0"/>
              </a:rPr>
              <a:t>。所以基于关键字比较的排序时间的下界是</a:t>
            </a:r>
            <a:r>
              <a:rPr kumimoji="1" lang="en-US" altLang="zh-CN" sz="2000" b="1" dirty="0">
                <a:latin typeface="Times New Roman" panose="02020603050405020304" pitchFamily="18" charset="0"/>
              </a:rPr>
              <a:t>O(nlog</a:t>
            </a:r>
            <a:r>
              <a:rPr kumimoji="1" lang="en-US" altLang="zh-CN" sz="2000" b="1" baseline="-25000" dirty="0">
                <a:latin typeface="Times New Roman" panose="02020603050405020304" pitchFamily="18" charset="0"/>
              </a:rPr>
              <a:t>2</a:t>
            </a:r>
            <a:r>
              <a:rPr kumimoji="1" lang="en-US" altLang="zh-CN" sz="2000" b="1" dirty="0">
                <a:latin typeface="Times New Roman" panose="02020603050405020304" pitchFamily="18" charset="0"/>
              </a:rPr>
              <a:t>n)</a:t>
            </a:r>
            <a:r>
              <a:rPr kumimoji="1" lang="zh-CN" altLang="en-US" sz="2000" b="1" dirty="0">
                <a:latin typeface="Times New Roman" panose="02020603050405020304" pitchFamily="18" charset="0"/>
              </a:rPr>
              <a:t>。因此不存在时间复杂性低于此下界的基于关键字比较的排序</a:t>
            </a:r>
            <a:r>
              <a:rPr kumimoji="1" lang="en-US" altLang="zh-CN" sz="2000" b="1" dirty="0">
                <a:latin typeface="Times New Roman" panose="02020603050405020304" pitchFamily="18" charset="0"/>
              </a:rPr>
              <a:t>! </a:t>
            </a:r>
            <a:endParaRPr kumimoji="1" lang="zh-CN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15" name="Text Box 35"/>
          <p:cNvSpPr txBox="1">
            <a:spLocks noChangeArrowheads="1"/>
          </p:cNvSpPr>
          <p:nvPr/>
        </p:nvSpPr>
        <p:spPr bwMode="auto">
          <a:xfrm>
            <a:off x="504825" y="990600"/>
            <a:ext cx="3492500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>
                <a:solidFill>
                  <a:srgbClr val="0033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</a:rPr>
              <a:t>基数排序的起源</a:t>
            </a:r>
            <a:endParaRPr kumimoji="1" lang="zh-CN" altLang="en-US" sz="2800" b="1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" name="Text Box 32"/>
          <p:cNvSpPr txBox="1">
            <a:spLocks noChangeArrowheads="1"/>
          </p:cNvSpPr>
          <p:nvPr/>
        </p:nvSpPr>
        <p:spPr bwMode="auto">
          <a:xfrm>
            <a:off x="533400" y="3581400"/>
            <a:ext cx="8450262" cy="43787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b="1" dirty="0">
                <a:latin typeface="Times New Roman" panose="02020603050405020304" pitchFamily="18" charset="0"/>
              </a:rPr>
              <a:t> (3)</a:t>
            </a:r>
            <a:r>
              <a:rPr kumimoji="1" lang="zh-CN" altLang="en-US" sz="2000" b="1" dirty="0">
                <a:latin typeface="Times New Roman" panose="02020603050405020304" pitchFamily="18" charset="0"/>
              </a:rPr>
              <a:t>只有不通过关键字比较的排序方法</a:t>
            </a:r>
            <a:r>
              <a:rPr kumimoji="1" lang="en-US" altLang="zh-CN" sz="2000" b="1" dirty="0">
                <a:latin typeface="Times New Roman" panose="02020603050405020304" pitchFamily="18" charset="0"/>
              </a:rPr>
              <a:t>,</a:t>
            </a:r>
            <a:r>
              <a:rPr kumimoji="1" lang="zh-CN" altLang="en-US" sz="2000" b="1" dirty="0">
                <a:latin typeface="Times New Roman" panose="02020603050405020304" pitchFamily="18" charset="0"/>
              </a:rPr>
              <a:t>才有可能突破此下界</a:t>
            </a:r>
            <a:r>
              <a:rPr kumimoji="1" lang="en-US" altLang="zh-CN" sz="2000" b="1" dirty="0">
                <a:latin typeface="Times New Roman" panose="02020603050405020304" pitchFamily="18" charset="0"/>
              </a:rPr>
              <a:t>.</a:t>
            </a:r>
            <a:endParaRPr kumimoji="1" lang="zh-CN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17" name="Text Box 32"/>
          <p:cNvSpPr txBox="1">
            <a:spLocks noChangeArrowheads="1"/>
          </p:cNvSpPr>
          <p:nvPr/>
        </p:nvSpPr>
        <p:spPr bwMode="auto">
          <a:xfrm>
            <a:off x="541338" y="4038600"/>
            <a:ext cx="8450262" cy="1515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b="1" dirty="0">
                <a:latin typeface="Times New Roman" panose="02020603050405020304" pitchFamily="18" charset="0"/>
              </a:rPr>
              <a:t> (4)</a:t>
            </a:r>
            <a:r>
              <a:rPr kumimoji="1" lang="zh-CN" altLang="en-US" sz="2000" b="1" dirty="0">
                <a:latin typeface="Times New Roman" panose="02020603050405020304" pitchFamily="18" charset="0"/>
              </a:rPr>
              <a:t> </a:t>
            </a:r>
            <a:r>
              <a:rPr kumimoji="1"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基数排序</a:t>
            </a:r>
            <a:r>
              <a:rPr kumimoji="1" lang="zh-CN" altLang="en-US" sz="2000" b="1" dirty="0">
                <a:latin typeface="Times New Roman" panose="02020603050405020304" pitchFamily="18" charset="0"/>
              </a:rPr>
              <a:t>（时间复杂性可达到线性级</a:t>
            </a:r>
            <a:r>
              <a:rPr kumimoji="1" lang="en-US" altLang="zh-CN" sz="2000" b="1" dirty="0">
                <a:latin typeface="Times New Roman" panose="02020603050405020304" pitchFamily="18" charset="0"/>
              </a:rPr>
              <a:t>O(n))</a:t>
            </a:r>
            <a:endParaRPr kumimoji="1" lang="en-US" altLang="zh-CN" sz="2000" b="1" dirty="0">
              <a:latin typeface="Times New Roman" panose="02020603050405020304" pitchFamily="18" charset="0"/>
            </a:endParaRPr>
          </a:p>
          <a:p>
            <a:pPr marL="800100" lvl="1" indent="-3429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zh-CN" altLang="en-US" b="1" dirty="0">
                <a:latin typeface="Times New Roman" panose="02020603050405020304" pitchFamily="18" charset="0"/>
              </a:rPr>
              <a:t>不比较关键字的大小，而根据</a:t>
            </a:r>
            <a:r>
              <a:rPr kumimoji="1"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构成关键字的每个分量的值 </a:t>
            </a:r>
            <a:r>
              <a:rPr kumimoji="1" lang="zh-CN" altLang="en-US" b="1" dirty="0">
                <a:latin typeface="Times New Roman" panose="02020603050405020304" pitchFamily="18" charset="0"/>
              </a:rPr>
              <a:t>，排列记录顺序的方法，称为</a:t>
            </a:r>
            <a:r>
              <a:rPr kumimoji="1"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分配法排序（基数排序）</a:t>
            </a:r>
            <a:r>
              <a:rPr kumimoji="1" lang="zh-CN" altLang="en-US" b="1" dirty="0">
                <a:latin typeface="Times New Roman" panose="02020603050405020304" pitchFamily="18" charset="0"/>
              </a:rPr>
              <a:t>。 </a:t>
            </a:r>
            <a:endParaRPr kumimoji="1" lang="en-US" altLang="zh-CN" b="1" dirty="0">
              <a:latin typeface="Times New Roman" panose="02020603050405020304" pitchFamily="18" charset="0"/>
            </a:endParaRPr>
          </a:p>
          <a:p>
            <a:pPr marL="800100" lvl="1" indent="-3429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zh-CN" altLang="en-US" b="1" dirty="0">
                <a:latin typeface="Times New Roman" panose="02020603050405020304" pitchFamily="18" charset="0"/>
              </a:rPr>
              <a:t>而把关键字各个分量所有可能的取值范围的最大值称为</a:t>
            </a:r>
            <a:r>
              <a:rPr kumimoji="1"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基 数</a:t>
            </a:r>
            <a:r>
              <a:rPr kumimoji="1" lang="zh-CN" altLang="en-US" b="1" dirty="0">
                <a:latin typeface="Times New Roman" panose="02020603050405020304" pitchFamily="18" charset="0"/>
              </a:rPr>
              <a:t>或</a:t>
            </a:r>
            <a:r>
              <a:rPr kumimoji="1"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桶</a:t>
            </a:r>
            <a:r>
              <a:rPr kumimoji="1" lang="zh-CN" altLang="en-US" b="1" dirty="0">
                <a:latin typeface="Times New Roman" panose="02020603050405020304" pitchFamily="18" charset="0"/>
              </a:rPr>
              <a:t>或</a:t>
            </a:r>
            <a:r>
              <a:rPr kumimoji="1"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箱</a:t>
            </a:r>
            <a:endParaRPr kumimoji="1" lang="zh-CN" altLang="en-US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" name="Text Box 32"/>
          <p:cNvSpPr txBox="1">
            <a:spLocks noChangeArrowheads="1"/>
          </p:cNvSpPr>
          <p:nvPr/>
        </p:nvSpPr>
        <p:spPr bwMode="auto">
          <a:xfrm>
            <a:off x="533400" y="5494600"/>
            <a:ext cx="8450262" cy="78803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b="1" dirty="0">
                <a:latin typeface="Times New Roman" panose="02020603050405020304" pitchFamily="18" charset="0"/>
              </a:rPr>
              <a:t> (5) </a:t>
            </a:r>
            <a:r>
              <a:rPr kumimoji="1"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基数排序的适用范围</a:t>
            </a:r>
            <a:endParaRPr kumimoji="1" lang="en-US" altLang="zh-CN" sz="20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marL="800100" lvl="1" indent="-3429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zh-CN" altLang="en-US" b="1" dirty="0">
                <a:latin typeface="Times New Roman" panose="02020603050405020304" pitchFamily="18" charset="0"/>
              </a:rPr>
              <a:t>显然，要求关键字分量的取值范围必须是有限的，否则可能要无限的箱。</a:t>
            </a:r>
            <a:endParaRPr kumimoji="1" lang="en-US" altLang="zh-CN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6" grpId="0"/>
      <p:bldP spid="17" grpId="0"/>
      <p:bldP spid="18" grpId="0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6.5.1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顺序基数排序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ECC62-6CC5-4C82-97D0-156288324F67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478790" y="1564006"/>
            <a:ext cx="8064500" cy="19767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342900" indent="-3429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kumimoji="1" lang="zh-CN" altLang="en-US" sz="20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设待排序的序列的关键字都是位相同的</a:t>
            </a:r>
            <a:r>
              <a:rPr kumimoji="1"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整数</a:t>
            </a:r>
            <a:r>
              <a:rPr kumimoji="1" lang="zh-CN" altLang="en-US" sz="20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（不相同时</a:t>
            </a:r>
            <a:r>
              <a:rPr kumimoji="1"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,</a:t>
            </a:r>
            <a:r>
              <a:rPr kumimoji="1" lang="zh-CN" altLang="en-US" sz="20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取位数的最大值），其位数为</a:t>
            </a:r>
            <a:r>
              <a:rPr kumimoji="1"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figure</a:t>
            </a:r>
            <a:r>
              <a:rPr kumimoji="1" lang="zh-CN" altLang="en-US" sz="20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，每个关键字可以各自含有</a:t>
            </a:r>
            <a:r>
              <a:rPr kumimoji="1"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figure</a:t>
            </a:r>
            <a:r>
              <a:rPr kumimoji="1" lang="zh-CN" altLang="en-US" sz="20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个</a:t>
            </a:r>
            <a:r>
              <a:rPr kumimoji="1"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分量</a:t>
            </a:r>
            <a:r>
              <a:rPr kumimoji="1" lang="zh-CN" altLang="en-US" sz="20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，每个分量的值取值范围为</a:t>
            </a:r>
            <a:r>
              <a:rPr kumimoji="1"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0,1,…,9</a:t>
            </a:r>
            <a:r>
              <a:rPr kumimoji="1" lang="zh-CN" altLang="en-US" sz="20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即</a:t>
            </a:r>
            <a:r>
              <a:rPr kumimoji="1"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基数</a:t>
            </a:r>
            <a:r>
              <a:rPr kumimoji="1" lang="zh-CN" altLang="en-US" sz="20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为</a:t>
            </a:r>
            <a:r>
              <a:rPr kumimoji="1"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10</a:t>
            </a:r>
            <a:r>
              <a:rPr kumimoji="1" lang="zh-CN" altLang="en-US" sz="20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。依次从低位考查，每个分量。 </a:t>
            </a:r>
            <a:endParaRPr kumimoji="1" lang="en-US" altLang="zh-CN" sz="2000" b="1" dirty="0">
              <a:solidFill>
                <a:prstClr val="black"/>
              </a:solidFill>
              <a:latin typeface="Times New Roman" panose="02020603050405020304" pitchFamily="18" charset="0"/>
            </a:endParaRPr>
          </a:p>
          <a:p>
            <a:pPr marL="342900" indent="-3429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kumimoji="1" lang="zh-CN" altLang="en-US" sz="20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首先把全部数据装入一个队列</a:t>
            </a:r>
            <a:r>
              <a:rPr kumimoji="1"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A</a:t>
            </a:r>
            <a:r>
              <a:rPr kumimoji="1" lang="zh-CN" altLang="en-US" sz="20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，然后按下列步骤进行</a:t>
            </a:r>
            <a:r>
              <a:rPr kumimoji="1"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: </a:t>
            </a:r>
            <a:endParaRPr kumimoji="1" lang="zh-CN" altLang="en-US" sz="2000" b="1" dirty="0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" name="Text Box 35"/>
          <p:cNvSpPr txBox="1">
            <a:spLocks noChangeArrowheads="1"/>
          </p:cNvSpPr>
          <p:nvPr/>
        </p:nvSpPr>
        <p:spPr bwMode="auto">
          <a:xfrm>
            <a:off x="504825" y="990600"/>
            <a:ext cx="3492500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 算法的基本思想 </a:t>
            </a:r>
            <a:endParaRPr kumimoji="1" lang="zh-CN" altLang="en-US" sz="2800" b="1" dirty="0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5121" name="Picture 1" descr="C:\Users\Haijun\AppData\Roaming\Tencent\Users\2968516474\QQ\WinTemp\RichOle\50}$1S@9(CZDOMVKR@HPHP5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543" y="3579943"/>
            <a:ext cx="8654657" cy="3125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6.6.1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顺序基数排序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00148-1EEB-4C3F-BBC5-AC9056A182FA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Box 3"/>
          <p:cNvSpPr txBox="1">
            <a:spLocks noChangeArrowheads="1"/>
          </p:cNvSpPr>
          <p:nvPr/>
        </p:nvSpPr>
        <p:spPr bwMode="auto">
          <a:xfrm>
            <a:off x="1042988" y="1373187"/>
            <a:ext cx="938212" cy="6254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Q[0]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7" name="Text Box 4"/>
          <p:cNvSpPr txBox="1">
            <a:spLocks noChangeArrowheads="1"/>
          </p:cNvSpPr>
          <p:nvPr/>
        </p:nvSpPr>
        <p:spPr bwMode="auto">
          <a:xfrm>
            <a:off x="1042988" y="1900237"/>
            <a:ext cx="938212" cy="6254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Q[1]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8" name="Text Box 5"/>
          <p:cNvSpPr txBox="1">
            <a:spLocks noChangeArrowheads="1"/>
          </p:cNvSpPr>
          <p:nvPr/>
        </p:nvSpPr>
        <p:spPr bwMode="auto">
          <a:xfrm>
            <a:off x="1042988" y="2427287"/>
            <a:ext cx="938212" cy="6254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Q[2]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9" name="Text Box 6"/>
          <p:cNvSpPr txBox="1">
            <a:spLocks noChangeArrowheads="1"/>
          </p:cNvSpPr>
          <p:nvPr/>
        </p:nvSpPr>
        <p:spPr bwMode="auto">
          <a:xfrm>
            <a:off x="1042988" y="2932112"/>
            <a:ext cx="938212" cy="6254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Q[3]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0" name="Text Box 7"/>
          <p:cNvSpPr txBox="1">
            <a:spLocks noChangeArrowheads="1"/>
          </p:cNvSpPr>
          <p:nvPr/>
        </p:nvSpPr>
        <p:spPr bwMode="auto">
          <a:xfrm>
            <a:off x="1042988" y="3435350"/>
            <a:ext cx="938212" cy="6254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Q[4]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1" name="Text Box 8"/>
          <p:cNvSpPr txBox="1">
            <a:spLocks noChangeArrowheads="1"/>
          </p:cNvSpPr>
          <p:nvPr/>
        </p:nvSpPr>
        <p:spPr bwMode="auto">
          <a:xfrm>
            <a:off x="1042988" y="3867150"/>
            <a:ext cx="938212" cy="6254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Q[5]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2" name="Text Box 9"/>
          <p:cNvSpPr txBox="1">
            <a:spLocks noChangeArrowheads="1"/>
          </p:cNvSpPr>
          <p:nvPr/>
        </p:nvSpPr>
        <p:spPr bwMode="auto">
          <a:xfrm>
            <a:off x="1042988" y="4421187"/>
            <a:ext cx="938212" cy="6254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Q[6]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3" name="Text Box 10"/>
          <p:cNvSpPr txBox="1">
            <a:spLocks noChangeArrowheads="1"/>
          </p:cNvSpPr>
          <p:nvPr/>
        </p:nvSpPr>
        <p:spPr bwMode="auto">
          <a:xfrm>
            <a:off x="1042988" y="4924425"/>
            <a:ext cx="938212" cy="6254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Q[7]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4" name="Text Box 11"/>
          <p:cNvSpPr txBox="1">
            <a:spLocks noChangeArrowheads="1"/>
          </p:cNvSpPr>
          <p:nvPr/>
        </p:nvSpPr>
        <p:spPr bwMode="auto">
          <a:xfrm>
            <a:off x="1042988" y="5427662"/>
            <a:ext cx="938212" cy="6254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Q[8]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5" name="Text Box 12"/>
          <p:cNvSpPr txBox="1">
            <a:spLocks noChangeArrowheads="1"/>
          </p:cNvSpPr>
          <p:nvPr/>
        </p:nvSpPr>
        <p:spPr bwMode="auto">
          <a:xfrm>
            <a:off x="1042988" y="5932487"/>
            <a:ext cx="938212" cy="6254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Q[9]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6" name="Text Box 13"/>
          <p:cNvSpPr txBox="1">
            <a:spLocks noChangeArrowheads="1"/>
          </p:cNvSpPr>
          <p:nvPr/>
        </p:nvSpPr>
        <p:spPr bwMode="auto">
          <a:xfrm>
            <a:off x="2143125" y="1395412"/>
            <a:ext cx="1781175" cy="6254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890 210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7" name="Text Box 14"/>
          <p:cNvSpPr txBox="1">
            <a:spLocks noChangeArrowheads="1"/>
          </p:cNvSpPr>
          <p:nvPr/>
        </p:nvSpPr>
        <p:spPr bwMode="auto">
          <a:xfrm>
            <a:off x="2143125" y="1971675"/>
            <a:ext cx="1781175" cy="6254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321 901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8" name="Text Box 15"/>
          <p:cNvSpPr txBox="1">
            <a:spLocks noChangeArrowheads="1"/>
          </p:cNvSpPr>
          <p:nvPr/>
        </p:nvSpPr>
        <p:spPr bwMode="auto">
          <a:xfrm>
            <a:off x="2195513" y="2525712"/>
            <a:ext cx="1781175" cy="6254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432 012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9" name="Text Box 16"/>
          <p:cNvSpPr txBox="1">
            <a:spLocks noChangeArrowheads="1"/>
          </p:cNvSpPr>
          <p:nvPr/>
        </p:nvSpPr>
        <p:spPr bwMode="auto">
          <a:xfrm>
            <a:off x="2214563" y="2957512"/>
            <a:ext cx="1781175" cy="6254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123 543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0" name="Text Box 17"/>
          <p:cNvSpPr txBox="1">
            <a:spLocks noChangeArrowheads="1"/>
          </p:cNvSpPr>
          <p:nvPr/>
        </p:nvSpPr>
        <p:spPr bwMode="auto">
          <a:xfrm>
            <a:off x="2195513" y="3821112"/>
            <a:ext cx="1781175" cy="6254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765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1" name="Text Box 18"/>
          <p:cNvSpPr txBox="1">
            <a:spLocks noChangeArrowheads="1"/>
          </p:cNvSpPr>
          <p:nvPr/>
        </p:nvSpPr>
        <p:spPr bwMode="auto">
          <a:xfrm>
            <a:off x="2195513" y="4492625"/>
            <a:ext cx="1781175" cy="6254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986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2" name="Text Box 19"/>
          <p:cNvSpPr txBox="1">
            <a:spLocks noChangeArrowheads="1"/>
          </p:cNvSpPr>
          <p:nvPr/>
        </p:nvSpPr>
        <p:spPr bwMode="auto">
          <a:xfrm>
            <a:off x="2195513" y="4973637"/>
            <a:ext cx="1781175" cy="6254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987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3" name="Text Box 20"/>
          <p:cNvSpPr txBox="1">
            <a:spLocks noChangeArrowheads="1"/>
          </p:cNvSpPr>
          <p:nvPr/>
        </p:nvSpPr>
        <p:spPr bwMode="auto">
          <a:xfrm>
            <a:off x="2195513" y="5478462"/>
            <a:ext cx="2447925" cy="6254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018 678 098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4" name="Text Box 21"/>
          <p:cNvSpPr txBox="1">
            <a:spLocks noChangeArrowheads="1"/>
          </p:cNvSpPr>
          <p:nvPr/>
        </p:nvSpPr>
        <p:spPr bwMode="auto">
          <a:xfrm>
            <a:off x="2195513" y="6003925"/>
            <a:ext cx="1511300" cy="6254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789 109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5" name="Text Box 22"/>
          <p:cNvSpPr txBox="1">
            <a:spLocks noChangeArrowheads="1"/>
          </p:cNvSpPr>
          <p:nvPr/>
        </p:nvSpPr>
        <p:spPr bwMode="auto">
          <a:xfrm>
            <a:off x="4500563" y="2668587"/>
            <a:ext cx="4319587" cy="22256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待排序关键字：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321 986 123 432 543 018 765 678 987 789 098 890 109 901 210 012</a:t>
            </a:r>
            <a:endParaRPr kumimoji="1" lang="en-US" altLang="zh-CN" sz="280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6" name="Text Box 24"/>
          <p:cNvSpPr txBox="1">
            <a:spLocks noChangeArrowheads="1"/>
          </p:cNvSpPr>
          <p:nvPr/>
        </p:nvSpPr>
        <p:spPr bwMode="auto">
          <a:xfrm>
            <a:off x="395288" y="796925"/>
            <a:ext cx="2232025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>
                <a:solidFill>
                  <a:srgbClr val="0033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</a:rPr>
              <a:t>事例演示</a:t>
            </a:r>
            <a:endParaRPr kumimoji="1" lang="zh-CN" altLang="en-US" sz="2800" b="1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6.6.1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顺序基数排序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A4E0D-16C1-4B46-A305-F70F7B4BEB42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1403350" y="1409700"/>
            <a:ext cx="938213" cy="6254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Q[0]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4" name="Text Box 4"/>
          <p:cNvSpPr txBox="1">
            <a:spLocks noChangeArrowheads="1"/>
          </p:cNvSpPr>
          <p:nvPr/>
        </p:nvSpPr>
        <p:spPr bwMode="auto">
          <a:xfrm>
            <a:off x="1403350" y="1936750"/>
            <a:ext cx="938213" cy="6254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Q[1]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5" name="Text Box 5"/>
          <p:cNvSpPr txBox="1">
            <a:spLocks noChangeArrowheads="1"/>
          </p:cNvSpPr>
          <p:nvPr/>
        </p:nvSpPr>
        <p:spPr bwMode="auto">
          <a:xfrm>
            <a:off x="1403350" y="2463800"/>
            <a:ext cx="938213" cy="6254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Q[2]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6" name="Text Box 6"/>
          <p:cNvSpPr txBox="1">
            <a:spLocks noChangeArrowheads="1"/>
          </p:cNvSpPr>
          <p:nvPr/>
        </p:nvSpPr>
        <p:spPr bwMode="auto">
          <a:xfrm>
            <a:off x="1403350" y="2968625"/>
            <a:ext cx="938213" cy="6254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Q[3]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7" name="Text Box 7"/>
          <p:cNvSpPr txBox="1">
            <a:spLocks noChangeArrowheads="1"/>
          </p:cNvSpPr>
          <p:nvPr/>
        </p:nvSpPr>
        <p:spPr bwMode="auto">
          <a:xfrm>
            <a:off x="1403350" y="3471862"/>
            <a:ext cx="938213" cy="6254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Q[4]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8" name="Text Box 8"/>
          <p:cNvSpPr txBox="1">
            <a:spLocks noChangeArrowheads="1"/>
          </p:cNvSpPr>
          <p:nvPr/>
        </p:nvSpPr>
        <p:spPr bwMode="auto">
          <a:xfrm>
            <a:off x="1403350" y="3903662"/>
            <a:ext cx="938213" cy="6254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Q[5]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9" name="Text Box 9"/>
          <p:cNvSpPr txBox="1">
            <a:spLocks noChangeArrowheads="1"/>
          </p:cNvSpPr>
          <p:nvPr/>
        </p:nvSpPr>
        <p:spPr bwMode="auto">
          <a:xfrm>
            <a:off x="1403350" y="4457700"/>
            <a:ext cx="938213" cy="6254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Q[6]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0" name="Text Box 10"/>
          <p:cNvSpPr txBox="1">
            <a:spLocks noChangeArrowheads="1"/>
          </p:cNvSpPr>
          <p:nvPr/>
        </p:nvSpPr>
        <p:spPr bwMode="auto">
          <a:xfrm>
            <a:off x="1403350" y="4960937"/>
            <a:ext cx="938213" cy="6254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Q[7]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1" name="Text Box 11"/>
          <p:cNvSpPr txBox="1">
            <a:spLocks noChangeArrowheads="1"/>
          </p:cNvSpPr>
          <p:nvPr/>
        </p:nvSpPr>
        <p:spPr bwMode="auto">
          <a:xfrm>
            <a:off x="1403350" y="5464175"/>
            <a:ext cx="938213" cy="6254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Q[8]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2" name="Text Box 12"/>
          <p:cNvSpPr txBox="1">
            <a:spLocks noChangeArrowheads="1"/>
          </p:cNvSpPr>
          <p:nvPr/>
        </p:nvSpPr>
        <p:spPr bwMode="auto">
          <a:xfrm>
            <a:off x="1403350" y="5969000"/>
            <a:ext cx="938213" cy="6254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Q[9]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3" name="Text Box 13"/>
          <p:cNvSpPr txBox="1">
            <a:spLocks noChangeArrowheads="1"/>
          </p:cNvSpPr>
          <p:nvPr/>
        </p:nvSpPr>
        <p:spPr bwMode="auto">
          <a:xfrm>
            <a:off x="2503488" y="1431925"/>
            <a:ext cx="1781175" cy="6254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901 109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4" name="Text Box 14"/>
          <p:cNvSpPr txBox="1">
            <a:spLocks noChangeArrowheads="1"/>
          </p:cNvSpPr>
          <p:nvPr/>
        </p:nvSpPr>
        <p:spPr bwMode="auto">
          <a:xfrm>
            <a:off x="2503488" y="2008187"/>
            <a:ext cx="2212975" cy="6254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210 012 018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5" name="Text Box 15"/>
          <p:cNvSpPr txBox="1">
            <a:spLocks noChangeArrowheads="1"/>
          </p:cNvSpPr>
          <p:nvPr/>
        </p:nvSpPr>
        <p:spPr bwMode="auto">
          <a:xfrm>
            <a:off x="2555875" y="2562225"/>
            <a:ext cx="1781175" cy="6254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321 123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6" name="Text Box 16"/>
          <p:cNvSpPr txBox="1">
            <a:spLocks noChangeArrowheads="1"/>
          </p:cNvSpPr>
          <p:nvPr/>
        </p:nvSpPr>
        <p:spPr bwMode="auto">
          <a:xfrm>
            <a:off x="2574925" y="2994025"/>
            <a:ext cx="844550" cy="6254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432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7" name="Text Box 17"/>
          <p:cNvSpPr txBox="1">
            <a:spLocks noChangeArrowheads="1"/>
          </p:cNvSpPr>
          <p:nvPr/>
        </p:nvSpPr>
        <p:spPr bwMode="auto">
          <a:xfrm>
            <a:off x="2627313" y="3498850"/>
            <a:ext cx="792162" cy="6254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543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8" name="Text Box 18"/>
          <p:cNvSpPr txBox="1">
            <a:spLocks noChangeArrowheads="1"/>
          </p:cNvSpPr>
          <p:nvPr/>
        </p:nvSpPr>
        <p:spPr bwMode="auto">
          <a:xfrm>
            <a:off x="2555875" y="4529137"/>
            <a:ext cx="1781175" cy="6254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765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9" name="Text Box 19"/>
          <p:cNvSpPr txBox="1">
            <a:spLocks noChangeArrowheads="1"/>
          </p:cNvSpPr>
          <p:nvPr/>
        </p:nvSpPr>
        <p:spPr bwMode="auto">
          <a:xfrm>
            <a:off x="2555875" y="5010150"/>
            <a:ext cx="1781175" cy="6254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678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0" name="Text Box 20"/>
          <p:cNvSpPr txBox="1">
            <a:spLocks noChangeArrowheads="1"/>
          </p:cNvSpPr>
          <p:nvPr/>
        </p:nvSpPr>
        <p:spPr bwMode="auto">
          <a:xfrm>
            <a:off x="2555875" y="5514975"/>
            <a:ext cx="2447925" cy="6254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986 987 789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1" name="Text Box 21"/>
          <p:cNvSpPr txBox="1">
            <a:spLocks noChangeArrowheads="1"/>
          </p:cNvSpPr>
          <p:nvPr/>
        </p:nvSpPr>
        <p:spPr bwMode="auto">
          <a:xfrm>
            <a:off x="2555875" y="6040437"/>
            <a:ext cx="1511300" cy="6254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890 098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2" name="Text Box 22"/>
          <p:cNvSpPr txBox="1">
            <a:spLocks noChangeArrowheads="1"/>
          </p:cNvSpPr>
          <p:nvPr/>
        </p:nvSpPr>
        <p:spPr bwMode="auto">
          <a:xfrm>
            <a:off x="4284663" y="2814637"/>
            <a:ext cx="4608512" cy="16922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890 210 321 901 432 012 123 543 765 986 987 018 678 098 789 109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3" name="Text Box 25"/>
          <p:cNvSpPr txBox="1">
            <a:spLocks noChangeArrowheads="1"/>
          </p:cNvSpPr>
          <p:nvPr/>
        </p:nvSpPr>
        <p:spPr bwMode="auto">
          <a:xfrm>
            <a:off x="395288" y="762000"/>
            <a:ext cx="2232025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>
                <a:solidFill>
                  <a:srgbClr val="0033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</a:rPr>
              <a:t>事例演示</a:t>
            </a:r>
            <a:endParaRPr kumimoji="1" lang="zh-CN" altLang="en-US" sz="2800" b="1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6.6.1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顺序基数排序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9A37F-272F-4F06-B2B7-B6308A420FEE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 Box 3"/>
          <p:cNvSpPr txBox="1">
            <a:spLocks noChangeArrowheads="1"/>
          </p:cNvSpPr>
          <p:nvPr/>
        </p:nvSpPr>
        <p:spPr bwMode="auto">
          <a:xfrm>
            <a:off x="1258888" y="1296987"/>
            <a:ext cx="938212" cy="6254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Q[0]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5" name="Text Box 4"/>
          <p:cNvSpPr txBox="1">
            <a:spLocks noChangeArrowheads="1"/>
          </p:cNvSpPr>
          <p:nvPr/>
        </p:nvSpPr>
        <p:spPr bwMode="auto">
          <a:xfrm>
            <a:off x="1258888" y="1824037"/>
            <a:ext cx="938212" cy="6254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Q[1]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6" name="Text Box 5"/>
          <p:cNvSpPr txBox="1">
            <a:spLocks noChangeArrowheads="1"/>
          </p:cNvSpPr>
          <p:nvPr/>
        </p:nvSpPr>
        <p:spPr bwMode="auto">
          <a:xfrm>
            <a:off x="1258888" y="2351087"/>
            <a:ext cx="938212" cy="6254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Q[2]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7" name="Text Box 6"/>
          <p:cNvSpPr txBox="1">
            <a:spLocks noChangeArrowheads="1"/>
          </p:cNvSpPr>
          <p:nvPr/>
        </p:nvSpPr>
        <p:spPr bwMode="auto">
          <a:xfrm>
            <a:off x="1258888" y="2855912"/>
            <a:ext cx="938212" cy="6254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Q[3]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8" name="Text Box 7"/>
          <p:cNvSpPr txBox="1">
            <a:spLocks noChangeArrowheads="1"/>
          </p:cNvSpPr>
          <p:nvPr/>
        </p:nvSpPr>
        <p:spPr bwMode="auto">
          <a:xfrm>
            <a:off x="1258888" y="3359150"/>
            <a:ext cx="938212" cy="6254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Q[4]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9" name="Text Box 8"/>
          <p:cNvSpPr txBox="1">
            <a:spLocks noChangeArrowheads="1"/>
          </p:cNvSpPr>
          <p:nvPr/>
        </p:nvSpPr>
        <p:spPr bwMode="auto">
          <a:xfrm>
            <a:off x="1258888" y="3790950"/>
            <a:ext cx="938212" cy="6254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Q[5]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0" name="Text Box 9"/>
          <p:cNvSpPr txBox="1">
            <a:spLocks noChangeArrowheads="1"/>
          </p:cNvSpPr>
          <p:nvPr/>
        </p:nvSpPr>
        <p:spPr bwMode="auto">
          <a:xfrm>
            <a:off x="1258888" y="4344987"/>
            <a:ext cx="938212" cy="6254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Q[6]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1" name="Text Box 10"/>
          <p:cNvSpPr txBox="1">
            <a:spLocks noChangeArrowheads="1"/>
          </p:cNvSpPr>
          <p:nvPr/>
        </p:nvSpPr>
        <p:spPr bwMode="auto">
          <a:xfrm>
            <a:off x="1258888" y="4848225"/>
            <a:ext cx="938212" cy="6254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Q[7]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2" name="Text Box 11"/>
          <p:cNvSpPr txBox="1">
            <a:spLocks noChangeArrowheads="1"/>
          </p:cNvSpPr>
          <p:nvPr/>
        </p:nvSpPr>
        <p:spPr bwMode="auto">
          <a:xfrm>
            <a:off x="1258888" y="5351462"/>
            <a:ext cx="938212" cy="6254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Q[8]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3" name="Text Box 12"/>
          <p:cNvSpPr txBox="1">
            <a:spLocks noChangeArrowheads="1"/>
          </p:cNvSpPr>
          <p:nvPr/>
        </p:nvSpPr>
        <p:spPr bwMode="auto">
          <a:xfrm>
            <a:off x="1258888" y="5856287"/>
            <a:ext cx="938212" cy="6254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Q[9]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4" name="Text Box 13"/>
          <p:cNvSpPr txBox="1">
            <a:spLocks noChangeArrowheads="1"/>
          </p:cNvSpPr>
          <p:nvPr/>
        </p:nvSpPr>
        <p:spPr bwMode="auto">
          <a:xfrm>
            <a:off x="2359025" y="1319212"/>
            <a:ext cx="844550" cy="6254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012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5" name="Text Box 14"/>
          <p:cNvSpPr txBox="1">
            <a:spLocks noChangeArrowheads="1"/>
          </p:cNvSpPr>
          <p:nvPr/>
        </p:nvSpPr>
        <p:spPr bwMode="auto">
          <a:xfrm>
            <a:off x="2359025" y="1895475"/>
            <a:ext cx="2212975" cy="6254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109 123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6" name="Text Box 15"/>
          <p:cNvSpPr txBox="1">
            <a:spLocks noChangeArrowheads="1"/>
          </p:cNvSpPr>
          <p:nvPr/>
        </p:nvSpPr>
        <p:spPr bwMode="auto">
          <a:xfrm>
            <a:off x="2411413" y="2449512"/>
            <a:ext cx="1781175" cy="6254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210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7" name="Text Box 16"/>
          <p:cNvSpPr txBox="1">
            <a:spLocks noChangeArrowheads="1"/>
          </p:cNvSpPr>
          <p:nvPr/>
        </p:nvSpPr>
        <p:spPr bwMode="auto">
          <a:xfrm>
            <a:off x="2430463" y="2881312"/>
            <a:ext cx="1781175" cy="6254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321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8" name="Text Box 17"/>
          <p:cNvSpPr txBox="1">
            <a:spLocks noChangeArrowheads="1"/>
          </p:cNvSpPr>
          <p:nvPr/>
        </p:nvSpPr>
        <p:spPr bwMode="auto">
          <a:xfrm>
            <a:off x="2430463" y="3313112"/>
            <a:ext cx="846137" cy="6254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432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9" name="Text Box 18"/>
          <p:cNvSpPr txBox="1">
            <a:spLocks noChangeArrowheads="1"/>
          </p:cNvSpPr>
          <p:nvPr/>
        </p:nvSpPr>
        <p:spPr bwMode="auto">
          <a:xfrm>
            <a:off x="2411413" y="4416425"/>
            <a:ext cx="1781175" cy="6254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678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0" name="Text Box 19"/>
          <p:cNvSpPr txBox="1">
            <a:spLocks noChangeArrowheads="1"/>
          </p:cNvSpPr>
          <p:nvPr/>
        </p:nvSpPr>
        <p:spPr bwMode="auto">
          <a:xfrm>
            <a:off x="2411413" y="4897437"/>
            <a:ext cx="1781175" cy="6254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765 789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1" name="Text Box 20"/>
          <p:cNvSpPr txBox="1">
            <a:spLocks noChangeArrowheads="1"/>
          </p:cNvSpPr>
          <p:nvPr/>
        </p:nvSpPr>
        <p:spPr bwMode="auto">
          <a:xfrm>
            <a:off x="2411413" y="5402262"/>
            <a:ext cx="2447925" cy="6254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890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2" name="Text Box 21"/>
          <p:cNvSpPr txBox="1">
            <a:spLocks noChangeArrowheads="1"/>
          </p:cNvSpPr>
          <p:nvPr/>
        </p:nvSpPr>
        <p:spPr bwMode="auto">
          <a:xfrm>
            <a:off x="2411413" y="5927725"/>
            <a:ext cx="2160587" cy="6254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901 986 987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3" name="Text Box 22"/>
          <p:cNvSpPr txBox="1">
            <a:spLocks noChangeArrowheads="1"/>
          </p:cNvSpPr>
          <p:nvPr/>
        </p:nvSpPr>
        <p:spPr bwMode="auto">
          <a:xfrm>
            <a:off x="3203575" y="1296987"/>
            <a:ext cx="846138" cy="6254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018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4" name="Text Box 23"/>
          <p:cNvSpPr txBox="1">
            <a:spLocks noChangeArrowheads="1"/>
          </p:cNvSpPr>
          <p:nvPr/>
        </p:nvSpPr>
        <p:spPr bwMode="auto">
          <a:xfrm>
            <a:off x="3924300" y="1296987"/>
            <a:ext cx="773113" cy="6254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098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5" name="Text Box 24"/>
          <p:cNvSpPr txBox="1">
            <a:spLocks noChangeArrowheads="1"/>
          </p:cNvSpPr>
          <p:nvPr/>
        </p:nvSpPr>
        <p:spPr bwMode="auto">
          <a:xfrm>
            <a:off x="2430463" y="3840162"/>
            <a:ext cx="846137" cy="6254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543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6" name="Text Box 25"/>
          <p:cNvSpPr txBox="1">
            <a:spLocks noChangeArrowheads="1"/>
          </p:cNvSpPr>
          <p:nvPr/>
        </p:nvSpPr>
        <p:spPr bwMode="auto">
          <a:xfrm>
            <a:off x="4211638" y="3168650"/>
            <a:ext cx="4752975" cy="16922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marL="457200" indent="-45720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901  109  210  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012  018  123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marL="457200" indent="-45720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Tx/>
              <a:buAutoNum type="arabicPlain" startAt="432"/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  543  765  678  986  987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marL="457200" indent="-457200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Tx/>
              <a:buAutoNum type="arabicPlain" startAt="432"/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  789   809  098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7" name="Text Box 28"/>
          <p:cNvSpPr txBox="1">
            <a:spLocks noChangeArrowheads="1"/>
          </p:cNvSpPr>
          <p:nvPr/>
        </p:nvSpPr>
        <p:spPr bwMode="auto">
          <a:xfrm>
            <a:off x="395288" y="922337"/>
            <a:ext cx="2232025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>
                <a:solidFill>
                  <a:srgbClr val="0033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</a:rPr>
              <a:t>事例演示</a:t>
            </a:r>
            <a:endParaRPr kumimoji="1" lang="zh-CN" altLang="en-US" sz="2800" b="1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/>
      <p:bldP spid="55" grpId="0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6.6.1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顺序基数排序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29EAD-6BF8-47D2-A60C-681FB9905EBE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827088" y="1995487"/>
            <a:ext cx="7921625" cy="6254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    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设待排记录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A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的关键字是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figure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位的正整数。</a:t>
            </a:r>
            <a:endParaRPr kumimoji="1" lang="zh-CN" altLang="en-US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395288" y="2692400"/>
            <a:ext cx="8064500" cy="1158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    (1) 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从最低位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(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个位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)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开始，扫描关键字的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pass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位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,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把等于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的插入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Q[0],…,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等于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9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的插入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Q[9]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。</a:t>
            </a:r>
            <a:endParaRPr kumimoji="1" lang="zh-CN" altLang="en-US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" name="Text Box 6"/>
          <p:cNvSpPr txBox="1">
            <a:spLocks noChangeArrowheads="1"/>
          </p:cNvSpPr>
          <p:nvPr/>
        </p:nvSpPr>
        <p:spPr bwMode="auto">
          <a:xfrm>
            <a:off x="754063" y="4708525"/>
            <a:ext cx="6913562" cy="6254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(3) pass+1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直到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figure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，重复执行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，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2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两步</a:t>
            </a:r>
            <a:endParaRPr kumimoji="1" lang="zh-CN" altLang="en-US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" name="Text Box 7"/>
          <p:cNvSpPr txBox="1">
            <a:spLocks noChangeArrowheads="1"/>
          </p:cNvSpPr>
          <p:nvPr/>
        </p:nvSpPr>
        <p:spPr bwMode="auto">
          <a:xfrm>
            <a:off x="395288" y="3916362"/>
            <a:ext cx="7921625" cy="6254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    (2) 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将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Q[0],…,Q[9]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中的数据依次收集到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A[]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中。</a:t>
            </a:r>
            <a:endParaRPr kumimoji="1" lang="zh-CN" altLang="en-US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" name="Text Box 10"/>
          <p:cNvSpPr txBox="1">
            <a:spLocks noChangeArrowheads="1"/>
          </p:cNvSpPr>
          <p:nvPr/>
        </p:nvSpPr>
        <p:spPr bwMode="auto">
          <a:xfrm>
            <a:off x="395288" y="963612"/>
            <a:ext cx="3816350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>
                <a:solidFill>
                  <a:srgbClr val="0033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</a:rPr>
              <a:t>排序过程</a:t>
            </a:r>
            <a:endParaRPr kumimoji="1" lang="zh-CN" altLang="en-US" sz="2800" b="1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6.6.1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顺序基数排序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9F7F6-4B26-4BAD-98B4-5F17CD06C944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827088" y="2606675"/>
            <a:ext cx="5976937" cy="204152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>
                <a:solidFill>
                  <a:srgbClr val="0000FF"/>
                </a:solidFill>
                <a:latin typeface="Times New Roman" panose="02020603050405020304" pitchFamily="18" charset="0"/>
              </a:rPr>
              <a:t>int RADIX(int k,int p)</a:t>
            </a:r>
            <a:endParaRPr kumimoji="1" lang="en-US" altLang="zh-CN" sz="3200" b="1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>
                <a:solidFill>
                  <a:srgbClr val="0000FF"/>
                </a:solidFill>
                <a:latin typeface="Times New Roman" panose="02020603050405020304" pitchFamily="18" charset="0"/>
              </a:rPr>
              <a:t>  {</a:t>
            </a:r>
            <a:endParaRPr kumimoji="1" lang="en-US" altLang="zh-CN" sz="3200" b="1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>
                <a:solidFill>
                  <a:srgbClr val="0000FF"/>
                </a:solidFill>
                <a:latin typeface="Times New Roman" panose="02020603050405020304" pitchFamily="18" charset="0"/>
              </a:rPr>
              <a:t>    return((k/pow10(p-1))%10);</a:t>
            </a:r>
            <a:endParaRPr kumimoji="1" lang="en-US" altLang="zh-CN" sz="3200" b="1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>
                <a:solidFill>
                  <a:srgbClr val="0000FF"/>
                </a:solidFill>
                <a:latin typeface="Times New Roman" panose="02020603050405020304" pitchFamily="18" charset="0"/>
              </a:rPr>
              <a:t>  }</a:t>
            </a:r>
            <a:endParaRPr kumimoji="1" lang="en-US" altLang="zh-CN" sz="32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" name="Text Box 4"/>
          <p:cNvSpPr txBox="1">
            <a:spLocks noChangeArrowheads="1"/>
          </p:cNvSpPr>
          <p:nvPr/>
        </p:nvSpPr>
        <p:spPr bwMode="auto">
          <a:xfrm>
            <a:off x="395288" y="974725"/>
            <a:ext cx="4679950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>
                <a:solidFill>
                  <a:srgbClr val="0033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</a:rPr>
              <a:t>求关键字</a:t>
            </a:r>
            <a:r>
              <a:rPr kumimoji="1" lang="en-US" altLang="zh-CN" sz="2800" b="1">
                <a:solidFill>
                  <a:srgbClr val="003300"/>
                </a:solidFill>
                <a:latin typeface="Times New Roman" panose="02020603050405020304" pitchFamily="18" charset="0"/>
              </a:rPr>
              <a:t>k</a:t>
            </a: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</a:rPr>
              <a:t>的第</a:t>
            </a:r>
            <a:r>
              <a:rPr kumimoji="1" lang="en-US" altLang="zh-CN" sz="2800" b="1">
                <a:solidFill>
                  <a:srgbClr val="003300"/>
                </a:solidFill>
                <a:latin typeface="Times New Roman" panose="02020603050405020304" pitchFamily="18" charset="0"/>
              </a:rPr>
              <a:t>p</a:t>
            </a: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</a:rPr>
              <a:t>位算法</a:t>
            </a:r>
            <a:endParaRPr kumimoji="1" lang="zh-CN" altLang="en-US" sz="2800" b="1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6.6.1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顺序基数排序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C9833-18EF-46B6-9B8D-3FD53C276D38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719138" y="1320800"/>
            <a:ext cx="7740650" cy="436245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void 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radixsort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int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figure, QUEUE &amp;A){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QUEUE Q[10];records data;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int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pass,r,i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; 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//pass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用于位数循环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,r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取位数</a:t>
            </a:r>
            <a:endParaRPr kumimoji="1" lang="zh-CN" altLang="en-US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for(pass=1;pass&lt;=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figure;pass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++){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    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把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10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个队列置空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while(!EMPTY(A)) {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    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取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A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中元素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dada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，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    计算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data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的关键字的第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pass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位的值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r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，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    放入队列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Q[r]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中；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}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" name="Text Box 4"/>
          <p:cNvSpPr txBox="1">
            <a:spLocks noChangeArrowheads="1"/>
          </p:cNvSpPr>
          <p:nvPr/>
        </p:nvSpPr>
        <p:spPr bwMode="auto">
          <a:xfrm>
            <a:off x="827088" y="5683250"/>
            <a:ext cx="5689600" cy="94615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把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10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个队列中的值依次收集到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A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中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}}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" name="Text Box 7"/>
          <p:cNvSpPr txBox="1">
            <a:spLocks noChangeArrowheads="1"/>
          </p:cNvSpPr>
          <p:nvPr/>
        </p:nvSpPr>
        <p:spPr bwMode="auto">
          <a:xfrm>
            <a:off x="396875" y="889000"/>
            <a:ext cx="4679950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>
                <a:solidFill>
                  <a:srgbClr val="0033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</a:rPr>
              <a:t>基数排序算法</a:t>
            </a:r>
            <a:endParaRPr kumimoji="1" lang="zh-CN" altLang="en-US" sz="2800" b="1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6.6.1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顺序基数排序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3E6F8-4098-4629-A55D-EE2050F9EFD2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971550" y="1284288"/>
            <a:ext cx="7740650" cy="521652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void 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radixsort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int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figure,QUEUE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&amp;A){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QUEUE Q[10];records data;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int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pass,r,i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;      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//pass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用于位数循环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,r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取位数</a:t>
            </a:r>
            <a:endParaRPr kumimoji="1" lang="zh-CN" altLang="en-US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for(pass=1;pass&lt;=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firure;pass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++){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   for(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=0;i&lt;=9;i++)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        MAKENULL(Q[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])//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置空队列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   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while(!EMPTY(A)) {</a:t>
            </a:r>
            <a:endParaRPr kumimoji="1" lang="en-US" altLang="zh-CN" sz="2800" b="1" dirty="0">
              <a:solidFill>
                <a:srgbClr val="FF3300"/>
              </a:solidFill>
              <a:latin typeface="Times New Roman" panose="02020603050405020304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            data=FRONT(A);//</a:t>
            </a:r>
            <a:r>
              <a:rPr kumimoji="1"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取队头元素</a:t>
            </a:r>
            <a:endParaRPr kumimoji="1" lang="en-US" altLang="zh-CN" sz="2800" b="1" dirty="0">
              <a:solidFill>
                <a:srgbClr val="FF3300"/>
              </a:solidFill>
              <a:latin typeface="Times New Roman" panose="02020603050405020304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            DEQUEUE(A);//</a:t>
            </a:r>
            <a:r>
              <a:rPr kumimoji="1"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删除队头元素</a:t>
            </a:r>
            <a:endParaRPr kumimoji="1" lang="en-US" altLang="zh-CN" sz="2800" b="1" dirty="0">
              <a:solidFill>
                <a:srgbClr val="FF3300"/>
              </a:solidFill>
              <a:latin typeface="Times New Roman" panose="02020603050405020304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            r=RADIX(</a:t>
            </a:r>
            <a:r>
              <a:rPr kumimoji="1" lang="en-US" altLang="zh-CN" sz="2800" b="1" dirty="0" err="1">
                <a:solidFill>
                  <a:srgbClr val="FF3300"/>
                </a:solidFill>
                <a:latin typeface="Times New Roman" panose="02020603050405020304" pitchFamily="18" charset="0"/>
              </a:rPr>
              <a:t>data.key,pass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);//</a:t>
            </a:r>
            <a:r>
              <a:rPr kumimoji="1"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取位数值</a:t>
            </a:r>
            <a:endParaRPr kumimoji="1" lang="en-US" altLang="zh-CN" sz="2800" b="1" dirty="0">
              <a:solidFill>
                <a:srgbClr val="FF3300"/>
              </a:solidFill>
              <a:latin typeface="Times New Roman" panose="02020603050405020304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            ENQUEUE(</a:t>
            </a:r>
            <a:r>
              <a:rPr kumimoji="1" lang="en-US" altLang="zh-CN" sz="2800" b="1" dirty="0" err="1">
                <a:solidFill>
                  <a:srgbClr val="FF3300"/>
                </a:solidFill>
                <a:latin typeface="Times New Roman" panose="02020603050405020304" pitchFamily="18" charset="0"/>
              </a:rPr>
              <a:t>data,Q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[r]); //</a:t>
            </a:r>
            <a:r>
              <a:rPr kumimoji="1"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入队</a:t>
            </a:r>
            <a:endParaRPr kumimoji="1" lang="en-US" altLang="zh-CN" sz="2800" b="1" dirty="0">
              <a:solidFill>
                <a:srgbClr val="FF3300"/>
              </a:solidFill>
              <a:latin typeface="Times New Roman" panose="02020603050405020304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   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}</a:t>
            </a:r>
            <a:endParaRPr kumimoji="1" lang="en-US" altLang="zh-CN" sz="28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" name="Text Box 6"/>
          <p:cNvSpPr txBox="1">
            <a:spLocks noChangeArrowheads="1"/>
          </p:cNvSpPr>
          <p:nvPr/>
        </p:nvSpPr>
        <p:spPr bwMode="auto">
          <a:xfrm>
            <a:off x="395288" y="838200"/>
            <a:ext cx="4679950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>
                <a:solidFill>
                  <a:srgbClr val="0033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</a:rPr>
              <a:t>基数排序算法</a:t>
            </a:r>
            <a:endParaRPr kumimoji="1" lang="zh-CN" altLang="en-US" sz="2800" b="1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6.6.1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顺序基数排序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CD7A4-632A-4F71-A8B5-8AA11D23581F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1835150" y="1825625"/>
            <a:ext cx="7004050" cy="353943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For(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=0;i&lt;=9;i++)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While(!EMPTY(Q[</a:t>
            </a:r>
            <a:r>
              <a:rPr kumimoji="1" lang="en-US" altLang="zh-CN" sz="2800" b="1" dirty="0" err="1">
                <a:solidFill>
                  <a:srgbClr val="FF330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])) //</a:t>
            </a:r>
            <a:r>
              <a:rPr kumimoji="1" lang="zh-CN" altLang="en-US" sz="1600" b="1" dirty="0">
                <a:latin typeface="Times New Roman" panose="02020603050405020304" pitchFamily="18" charset="0"/>
              </a:rPr>
              <a:t>对队列</a:t>
            </a:r>
            <a:r>
              <a:rPr kumimoji="1" lang="en-US" altLang="zh-CN" sz="1600" b="1" dirty="0">
                <a:latin typeface="Times New Roman" panose="02020603050405020304" pitchFamily="18" charset="0"/>
              </a:rPr>
              <a:t>Qi</a:t>
            </a:r>
            <a:r>
              <a:rPr kumimoji="1" lang="zh-CN" altLang="en-US" sz="1600" b="1" dirty="0">
                <a:latin typeface="Times New Roman" panose="02020603050405020304" pitchFamily="18" charset="0"/>
              </a:rPr>
              <a:t>中的每个元素收集到</a:t>
            </a:r>
            <a:r>
              <a:rPr kumimoji="1" lang="en-US" altLang="zh-CN" sz="1600" b="1" dirty="0">
                <a:latin typeface="Times New Roman" panose="02020603050405020304" pitchFamily="18" charset="0"/>
              </a:rPr>
              <a:t>A</a:t>
            </a:r>
            <a:r>
              <a:rPr kumimoji="1" lang="zh-CN" altLang="en-US" sz="1600" b="1" dirty="0">
                <a:latin typeface="Times New Roman" panose="02020603050405020304" pitchFamily="18" charset="0"/>
              </a:rPr>
              <a:t>中</a:t>
            </a:r>
            <a:endParaRPr kumimoji="1" lang="en-US" altLang="zh-CN" sz="2800" b="1" dirty="0">
              <a:latin typeface="Times New Roman" panose="02020603050405020304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{data=FRONT(Q[</a:t>
            </a:r>
            <a:r>
              <a:rPr kumimoji="1" lang="en-US" altLang="zh-CN" sz="2800" b="1" dirty="0" err="1">
                <a:solidFill>
                  <a:srgbClr val="FF330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]); </a:t>
            </a:r>
            <a:endParaRPr kumimoji="1" lang="en-US" altLang="zh-CN" sz="2800" b="1" dirty="0">
              <a:solidFill>
                <a:srgbClr val="FF3300"/>
              </a:solidFill>
              <a:latin typeface="Times New Roman" panose="02020603050405020304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  DEQUEUE(Q[</a:t>
            </a:r>
            <a:r>
              <a:rPr kumimoji="1" lang="en-US" altLang="zh-CN" sz="2800" b="1" dirty="0" err="1">
                <a:solidFill>
                  <a:srgbClr val="FF330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]); //</a:t>
            </a:r>
            <a:endParaRPr kumimoji="1" lang="en-US" altLang="zh-CN" sz="2800" b="1" dirty="0">
              <a:solidFill>
                <a:srgbClr val="FF3300"/>
              </a:solidFill>
              <a:latin typeface="Times New Roman" panose="02020603050405020304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  ENQUEUE(</a:t>
            </a:r>
            <a:r>
              <a:rPr kumimoji="1" lang="en-US" altLang="zh-CN" sz="2800" b="1" dirty="0" err="1">
                <a:solidFill>
                  <a:srgbClr val="FF3300"/>
                </a:solidFill>
                <a:latin typeface="Times New Roman" panose="02020603050405020304" pitchFamily="18" charset="0"/>
              </a:rPr>
              <a:t>data,A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);</a:t>
            </a:r>
            <a:endParaRPr kumimoji="1" lang="en-US" altLang="zh-CN" sz="2800" b="1" dirty="0">
              <a:solidFill>
                <a:srgbClr val="FF3300"/>
              </a:solidFill>
              <a:latin typeface="Times New Roman" panose="02020603050405020304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}</a:t>
            </a:r>
            <a:endParaRPr kumimoji="1" lang="en-US" altLang="zh-CN" sz="28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 }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}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4" name="Text Box 6"/>
          <p:cNvSpPr txBox="1">
            <a:spLocks noChangeArrowheads="1"/>
          </p:cNvSpPr>
          <p:nvPr/>
        </p:nvSpPr>
        <p:spPr bwMode="auto">
          <a:xfrm>
            <a:off x="395288" y="889000"/>
            <a:ext cx="4679950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>
                <a:solidFill>
                  <a:srgbClr val="0033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</a:rPr>
              <a:t>基数排序算法</a:t>
            </a:r>
            <a:endParaRPr kumimoji="1" lang="zh-CN" altLang="en-US" sz="2800" b="1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6.6.1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顺序基数排序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176BB-BA1B-4D65-9A97-4042D2ECD4E3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250825" y="3502025"/>
            <a:ext cx="7777163" cy="1373187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      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如果采用数组表示队列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,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队列的长度很难确定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,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太大造成浪费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,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小了会产生溢出。</a:t>
            </a:r>
            <a:endParaRPr kumimoji="1" lang="zh-CN" altLang="en-US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    一般采用链队列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.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" name="Text Box 4"/>
          <p:cNvSpPr txBox="1">
            <a:spLocks noChangeArrowheads="1"/>
          </p:cNvSpPr>
          <p:nvPr/>
        </p:nvSpPr>
        <p:spPr bwMode="auto">
          <a:xfrm>
            <a:off x="898525" y="2278062"/>
            <a:ext cx="5975350" cy="1158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11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 92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 23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 03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 09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 32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0 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10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 40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endParaRPr kumimoji="1" lang="en-US" altLang="zh-CN" sz="2800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503 765 678 986 987 789 890 098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" name="Text Box 5"/>
          <p:cNvSpPr txBox="1">
            <a:spLocks noChangeArrowheads="1"/>
          </p:cNvSpPr>
          <p:nvPr/>
        </p:nvSpPr>
        <p:spPr bwMode="auto">
          <a:xfrm>
            <a:off x="395288" y="1581150"/>
            <a:ext cx="7488237" cy="625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    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如果采用顺序队列，队列的长度怎么确定？</a:t>
            </a:r>
            <a:endParaRPr kumimoji="1" lang="zh-CN" altLang="en-US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" name="Text Box 7"/>
          <p:cNvSpPr txBox="1">
            <a:spLocks noChangeArrowheads="1"/>
          </p:cNvSpPr>
          <p:nvPr/>
        </p:nvSpPr>
        <p:spPr bwMode="auto">
          <a:xfrm>
            <a:off x="396875" y="838200"/>
            <a:ext cx="4679950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>
                <a:solidFill>
                  <a:srgbClr val="0033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</a:rPr>
              <a:t>问题分析</a:t>
            </a:r>
            <a:endParaRPr kumimoji="1" lang="zh-CN" altLang="en-US" sz="2800" b="1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6.6.2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链式基数排序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34D4D-1FDF-453F-AE0F-C3C21AD5D440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1908175" y="3870325"/>
            <a:ext cx="4176713" cy="22256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    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struct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 QUEUE{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         </a:t>
            </a:r>
            <a:r>
              <a:rPr kumimoji="1" lang="en-US" altLang="zh-CN" sz="2800" b="1" dirty="0" err="1">
                <a:solidFill>
                  <a:srgbClr val="FF3300"/>
                </a:solidFill>
                <a:latin typeface="Times New Roman" panose="02020603050405020304" pitchFamily="18" charset="0"/>
              </a:rPr>
              <a:t>celltype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 *front;</a:t>
            </a:r>
            <a:endParaRPr kumimoji="1" lang="en-US" altLang="zh-CN" sz="2800" b="1" dirty="0">
              <a:solidFill>
                <a:srgbClr val="FF3300"/>
              </a:solidFill>
              <a:latin typeface="Times New Roman" panose="02020603050405020304" pitchFamily="18" charset="0"/>
            </a:endParaRPr>
          </a:p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         </a:t>
            </a:r>
            <a:r>
              <a:rPr kumimoji="1" lang="en-US" altLang="zh-CN" sz="2800" b="1" dirty="0" err="1">
                <a:solidFill>
                  <a:srgbClr val="FF3300"/>
                </a:solidFill>
                <a:latin typeface="Times New Roman" panose="02020603050405020304" pitchFamily="18" charset="0"/>
              </a:rPr>
              <a:t>celltype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 *rear;</a:t>
            </a:r>
            <a:endParaRPr kumimoji="1" lang="en-US" altLang="zh-CN" sz="2800" b="1" dirty="0">
              <a:solidFill>
                <a:srgbClr val="FF3300"/>
              </a:solidFill>
              <a:latin typeface="Times New Roman" panose="02020603050405020304" pitchFamily="18" charset="0"/>
            </a:endParaRPr>
          </a:p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    }//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队列定义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4" name="Text Box 4"/>
          <p:cNvSpPr txBox="1">
            <a:spLocks noChangeArrowheads="1"/>
          </p:cNvSpPr>
          <p:nvPr/>
        </p:nvSpPr>
        <p:spPr bwMode="auto">
          <a:xfrm>
            <a:off x="2195513" y="1703388"/>
            <a:ext cx="3816350" cy="22256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struct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celltype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{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     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records element;</a:t>
            </a:r>
            <a:endParaRPr kumimoji="1" lang="en-US" altLang="zh-CN" sz="2800" b="1" dirty="0">
              <a:solidFill>
                <a:srgbClr val="FF3300"/>
              </a:solidFill>
              <a:latin typeface="Times New Roman" panose="02020603050405020304" pitchFamily="18" charset="0"/>
            </a:endParaRPr>
          </a:p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     </a:t>
            </a:r>
            <a:r>
              <a:rPr kumimoji="1" lang="en-US" altLang="zh-CN" sz="2800" b="1" dirty="0" err="1">
                <a:solidFill>
                  <a:srgbClr val="FF3300"/>
                </a:solidFill>
                <a:latin typeface="Times New Roman" panose="02020603050405020304" pitchFamily="18" charset="0"/>
              </a:rPr>
              <a:t>celltype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 *next</a:t>
            </a:r>
            <a:endParaRPr kumimoji="1" lang="en-US" altLang="zh-CN" sz="2800" b="1" dirty="0">
              <a:solidFill>
                <a:srgbClr val="FF3300"/>
              </a:solidFill>
              <a:latin typeface="Times New Roman" panose="02020603050405020304" pitchFamily="18" charset="0"/>
            </a:endParaRPr>
          </a:p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}//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结点类型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5" name="Text Box 7"/>
          <p:cNvSpPr txBox="1">
            <a:spLocks noChangeArrowheads="1"/>
          </p:cNvSpPr>
          <p:nvPr/>
        </p:nvSpPr>
        <p:spPr bwMode="auto">
          <a:xfrm>
            <a:off x="395288" y="911225"/>
            <a:ext cx="4176712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>
                <a:solidFill>
                  <a:srgbClr val="0033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</a:rPr>
              <a:t>存储结构</a:t>
            </a:r>
            <a:endParaRPr kumimoji="1" lang="zh-CN" altLang="en-US" sz="2800" b="1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6.6.2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链式基数排序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45BDC-08E3-4BA0-8BF8-05835CBDE7F4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495300" y="1960562"/>
            <a:ext cx="504825" cy="58896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6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Q</a:t>
            </a:r>
            <a:r>
              <a:rPr kumimoji="1" lang="en-US" altLang="zh-CN" sz="2600" b="1" baseline="-2500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0</a:t>
            </a:r>
            <a:endParaRPr kumimoji="1" lang="en-US" altLang="zh-CN" sz="2600" b="1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4" name="Group 138"/>
          <p:cNvGraphicFramePr>
            <a:graphicFrameLocks noGrp="1"/>
          </p:cNvGraphicFramePr>
          <p:nvPr/>
        </p:nvGraphicFramePr>
        <p:xfrm>
          <a:off x="1071563" y="1744662"/>
          <a:ext cx="527050" cy="863600"/>
        </p:xfrm>
        <a:graphic>
          <a:graphicData uri="http://schemas.openxmlformats.org/drawingml/2006/table">
            <a:tbl>
              <a:tblPr/>
              <a:tblGrid>
                <a:gridCol w="527050"/>
              </a:tblGrid>
              <a:tr h="4318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18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5" name="Group 137"/>
          <p:cNvGraphicFramePr>
            <a:graphicFrameLocks noGrp="1"/>
          </p:cNvGraphicFramePr>
          <p:nvPr/>
        </p:nvGraphicFramePr>
        <p:xfrm>
          <a:off x="1790700" y="2033587"/>
          <a:ext cx="1390650" cy="428880"/>
        </p:xfrm>
        <a:graphic>
          <a:graphicData uri="http://schemas.openxmlformats.org/drawingml/2006/table">
            <a:tbl>
              <a:tblPr/>
              <a:tblGrid>
                <a:gridCol w="695325"/>
                <a:gridCol w="695325"/>
              </a:tblGrid>
              <a:tr h="3032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F6FC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6" name="Group 136"/>
          <p:cNvGraphicFramePr>
            <a:graphicFrameLocks noGrp="1"/>
          </p:cNvGraphicFramePr>
          <p:nvPr/>
        </p:nvGraphicFramePr>
        <p:xfrm>
          <a:off x="3449638" y="2033587"/>
          <a:ext cx="1654175" cy="428880"/>
        </p:xfrm>
        <a:graphic>
          <a:graphicData uri="http://schemas.openxmlformats.org/drawingml/2006/table">
            <a:tbl>
              <a:tblPr/>
              <a:tblGrid>
                <a:gridCol w="827087"/>
                <a:gridCol w="827088"/>
              </a:tblGrid>
              <a:tr h="3032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tantia" panose="02030602050306030303" pitchFamily="18" charset="0"/>
                          <a:ea typeface="宋体" panose="02010600030101010101" pitchFamily="2" charset="-122"/>
                        </a:rPr>
                        <a:t>012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7" name="Group 140"/>
          <p:cNvGraphicFramePr>
            <a:graphicFrameLocks noGrp="1"/>
          </p:cNvGraphicFramePr>
          <p:nvPr/>
        </p:nvGraphicFramePr>
        <p:xfrm>
          <a:off x="5392738" y="2033587"/>
          <a:ext cx="1655762" cy="428880"/>
        </p:xfrm>
        <a:graphic>
          <a:graphicData uri="http://schemas.openxmlformats.org/drawingml/2006/table">
            <a:tbl>
              <a:tblPr/>
              <a:tblGrid>
                <a:gridCol w="828675"/>
                <a:gridCol w="827087"/>
              </a:tblGrid>
              <a:tr h="3032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tantia" panose="02030602050306030303" pitchFamily="18" charset="0"/>
                          <a:ea typeface="宋体" panose="02010600030101010101" pitchFamily="2" charset="-122"/>
                        </a:rPr>
                        <a:t>018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8" name="Group 134"/>
          <p:cNvGraphicFramePr>
            <a:graphicFrameLocks noGrp="1"/>
          </p:cNvGraphicFramePr>
          <p:nvPr/>
        </p:nvGraphicFramePr>
        <p:xfrm>
          <a:off x="7315200" y="2033587"/>
          <a:ext cx="1676400" cy="514350"/>
        </p:xfrm>
        <a:graphic>
          <a:graphicData uri="http://schemas.openxmlformats.org/drawingml/2006/table">
            <a:tbl>
              <a:tblPr/>
              <a:tblGrid>
                <a:gridCol w="838200"/>
                <a:gridCol w="838200"/>
              </a:tblGrid>
              <a:tr h="51435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tantia" panose="02030602050306030303" pitchFamily="18" charset="0"/>
                          <a:ea typeface="宋体" panose="02010600030101010101" pitchFamily="2" charset="-122"/>
                        </a:rPr>
                        <a:t>098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9" name="Text Box 44"/>
          <p:cNvSpPr txBox="1">
            <a:spLocks noChangeArrowheads="1"/>
          </p:cNvSpPr>
          <p:nvPr/>
        </p:nvSpPr>
        <p:spPr bwMode="auto">
          <a:xfrm>
            <a:off x="495300" y="3381375"/>
            <a:ext cx="504825" cy="58896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6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Q</a:t>
            </a:r>
            <a:r>
              <a:rPr kumimoji="1" lang="en-US" altLang="zh-CN" sz="2600" b="1" baseline="-2500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endParaRPr kumimoji="1" lang="en-US" altLang="zh-CN" sz="2600" b="1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20" name="Group 133"/>
          <p:cNvGraphicFramePr>
            <a:graphicFrameLocks noGrp="1"/>
          </p:cNvGraphicFramePr>
          <p:nvPr/>
        </p:nvGraphicFramePr>
        <p:xfrm>
          <a:off x="1071563" y="3165475"/>
          <a:ext cx="527050" cy="863600"/>
        </p:xfrm>
        <a:graphic>
          <a:graphicData uri="http://schemas.openxmlformats.org/drawingml/2006/table">
            <a:tbl>
              <a:tblPr/>
              <a:tblGrid>
                <a:gridCol w="527050"/>
              </a:tblGrid>
              <a:tr h="4318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18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1" name="Group 132"/>
          <p:cNvGraphicFramePr>
            <a:graphicFrameLocks noGrp="1"/>
          </p:cNvGraphicFramePr>
          <p:nvPr/>
        </p:nvGraphicFramePr>
        <p:xfrm>
          <a:off x="1790700" y="3454400"/>
          <a:ext cx="1390650" cy="428880"/>
        </p:xfrm>
        <a:graphic>
          <a:graphicData uri="http://schemas.openxmlformats.org/drawingml/2006/table">
            <a:tbl>
              <a:tblPr/>
              <a:tblGrid>
                <a:gridCol w="695325"/>
                <a:gridCol w="695325"/>
              </a:tblGrid>
              <a:tr h="3032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F6FC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2" name="Group 131"/>
          <p:cNvGraphicFramePr>
            <a:graphicFrameLocks noGrp="1"/>
          </p:cNvGraphicFramePr>
          <p:nvPr/>
        </p:nvGraphicFramePr>
        <p:xfrm>
          <a:off x="3449638" y="3454400"/>
          <a:ext cx="1654175" cy="428880"/>
        </p:xfrm>
        <a:graphic>
          <a:graphicData uri="http://schemas.openxmlformats.org/drawingml/2006/table">
            <a:tbl>
              <a:tblPr/>
              <a:tblGrid>
                <a:gridCol w="827087"/>
                <a:gridCol w="827088"/>
              </a:tblGrid>
              <a:tr h="3032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tantia" panose="02030602050306030303" pitchFamily="18" charset="0"/>
                          <a:ea typeface="宋体" panose="02010600030101010101" pitchFamily="2" charset="-122"/>
                        </a:rPr>
                        <a:t>109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3" name="Group 139"/>
          <p:cNvGraphicFramePr>
            <a:graphicFrameLocks noGrp="1"/>
          </p:cNvGraphicFramePr>
          <p:nvPr/>
        </p:nvGraphicFramePr>
        <p:xfrm>
          <a:off x="5392738" y="3454400"/>
          <a:ext cx="1655762" cy="428880"/>
        </p:xfrm>
        <a:graphic>
          <a:graphicData uri="http://schemas.openxmlformats.org/drawingml/2006/table">
            <a:tbl>
              <a:tblPr/>
              <a:tblGrid>
                <a:gridCol w="828675"/>
                <a:gridCol w="827087"/>
              </a:tblGrid>
              <a:tr h="3032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tantia" panose="02030602050306030303" pitchFamily="18" charset="0"/>
                          <a:ea typeface="宋体" panose="02010600030101010101" pitchFamily="2" charset="-122"/>
                        </a:rPr>
                        <a:t>123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4" name="Text Box 77"/>
          <p:cNvSpPr txBox="1">
            <a:spLocks noChangeArrowheads="1"/>
          </p:cNvSpPr>
          <p:nvPr/>
        </p:nvSpPr>
        <p:spPr bwMode="auto">
          <a:xfrm>
            <a:off x="495300" y="4678362"/>
            <a:ext cx="504825" cy="58896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6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Q</a:t>
            </a:r>
            <a:r>
              <a:rPr kumimoji="1" lang="en-US" altLang="zh-CN" sz="2600" b="1" baseline="-2500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endParaRPr kumimoji="1" lang="en-US" altLang="zh-CN" sz="2600" b="1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25" name="Group 129"/>
          <p:cNvGraphicFramePr>
            <a:graphicFrameLocks noGrp="1"/>
          </p:cNvGraphicFramePr>
          <p:nvPr/>
        </p:nvGraphicFramePr>
        <p:xfrm>
          <a:off x="1071563" y="4462462"/>
          <a:ext cx="527050" cy="863600"/>
        </p:xfrm>
        <a:graphic>
          <a:graphicData uri="http://schemas.openxmlformats.org/drawingml/2006/table">
            <a:tbl>
              <a:tblPr/>
              <a:tblGrid>
                <a:gridCol w="527050"/>
              </a:tblGrid>
              <a:tr h="4318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18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6" name="Group 128"/>
          <p:cNvGraphicFramePr>
            <a:graphicFrameLocks noGrp="1"/>
          </p:cNvGraphicFramePr>
          <p:nvPr/>
        </p:nvGraphicFramePr>
        <p:xfrm>
          <a:off x="1790700" y="4751387"/>
          <a:ext cx="1390650" cy="428880"/>
        </p:xfrm>
        <a:graphic>
          <a:graphicData uri="http://schemas.openxmlformats.org/drawingml/2006/table">
            <a:tbl>
              <a:tblPr/>
              <a:tblGrid>
                <a:gridCol w="695325"/>
                <a:gridCol w="695325"/>
              </a:tblGrid>
              <a:tr h="3032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F6FC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7" name="Group 127"/>
          <p:cNvGraphicFramePr>
            <a:graphicFrameLocks noGrp="1"/>
          </p:cNvGraphicFramePr>
          <p:nvPr/>
        </p:nvGraphicFramePr>
        <p:xfrm>
          <a:off x="3449638" y="4751387"/>
          <a:ext cx="1654175" cy="428880"/>
        </p:xfrm>
        <a:graphic>
          <a:graphicData uri="http://schemas.openxmlformats.org/drawingml/2006/table">
            <a:tbl>
              <a:tblPr/>
              <a:tblGrid>
                <a:gridCol w="827087"/>
                <a:gridCol w="827088"/>
              </a:tblGrid>
              <a:tr h="30321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tantia" panose="02030602050306030303" pitchFamily="18" charset="0"/>
                          <a:ea typeface="宋体" panose="02010600030101010101" pitchFamily="2" charset="-122"/>
                        </a:rPr>
                        <a:t>210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buNone/>
                      </a:pPr>
                      <a:endParaRPr kumimoji="0" lang="zh-CN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tantia" panose="02030602050306030303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8" name="Line 102"/>
          <p:cNvSpPr>
            <a:spLocks noChangeShapeType="1"/>
          </p:cNvSpPr>
          <p:nvPr/>
        </p:nvSpPr>
        <p:spPr bwMode="auto">
          <a:xfrm>
            <a:off x="1358900" y="1900237"/>
            <a:ext cx="431800" cy="2159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ffectLst/>
        </p:spPr>
        <p:txBody>
          <a:bodyPr lIns="90000" tIns="46800" rIns="90000" bIns="46800"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9" name="Line 103"/>
          <p:cNvSpPr>
            <a:spLocks noChangeShapeType="1"/>
          </p:cNvSpPr>
          <p:nvPr/>
        </p:nvSpPr>
        <p:spPr bwMode="auto">
          <a:xfrm>
            <a:off x="3086100" y="2332037"/>
            <a:ext cx="3619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ffectLst/>
        </p:spPr>
        <p:txBody>
          <a:bodyPr lIns="90000" tIns="46800" rIns="90000" bIns="46800"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0" name="Line 104"/>
          <p:cNvSpPr>
            <a:spLocks noChangeShapeType="1"/>
          </p:cNvSpPr>
          <p:nvPr/>
        </p:nvSpPr>
        <p:spPr bwMode="auto">
          <a:xfrm>
            <a:off x="4957763" y="2332037"/>
            <a:ext cx="3619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ffectLst/>
        </p:spPr>
        <p:txBody>
          <a:bodyPr lIns="90000" tIns="46800" rIns="90000" bIns="46800"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1" name="Line 105"/>
          <p:cNvSpPr>
            <a:spLocks noChangeShapeType="1"/>
          </p:cNvSpPr>
          <p:nvPr/>
        </p:nvSpPr>
        <p:spPr bwMode="auto">
          <a:xfrm>
            <a:off x="6902450" y="2332037"/>
            <a:ext cx="3619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ffectLst/>
        </p:spPr>
        <p:txBody>
          <a:bodyPr lIns="90000" tIns="46800" rIns="90000" bIns="46800"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2" name="Line 106"/>
          <p:cNvSpPr>
            <a:spLocks noChangeShapeType="1"/>
          </p:cNvSpPr>
          <p:nvPr/>
        </p:nvSpPr>
        <p:spPr bwMode="auto">
          <a:xfrm>
            <a:off x="1358900" y="4708525"/>
            <a:ext cx="431800" cy="2159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ffectLst/>
        </p:spPr>
        <p:txBody>
          <a:bodyPr lIns="90000" tIns="46800" rIns="90000" bIns="46800"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3" name="Line 107"/>
          <p:cNvSpPr>
            <a:spLocks noChangeShapeType="1"/>
          </p:cNvSpPr>
          <p:nvPr/>
        </p:nvSpPr>
        <p:spPr bwMode="auto">
          <a:xfrm>
            <a:off x="3087688" y="4995862"/>
            <a:ext cx="3619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ffectLst/>
        </p:spPr>
        <p:txBody>
          <a:bodyPr lIns="90000" tIns="46800" rIns="90000" bIns="46800"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4" name="Line 108"/>
          <p:cNvSpPr>
            <a:spLocks noChangeShapeType="1"/>
          </p:cNvSpPr>
          <p:nvPr/>
        </p:nvSpPr>
        <p:spPr bwMode="auto">
          <a:xfrm>
            <a:off x="4959350" y="3771900"/>
            <a:ext cx="3619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ffectLst/>
        </p:spPr>
        <p:txBody>
          <a:bodyPr lIns="90000" tIns="46800" rIns="90000" bIns="46800"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5" name="Line 109"/>
          <p:cNvSpPr>
            <a:spLocks noChangeShapeType="1"/>
          </p:cNvSpPr>
          <p:nvPr/>
        </p:nvSpPr>
        <p:spPr bwMode="auto">
          <a:xfrm>
            <a:off x="1430338" y="3340100"/>
            <a:ext cx="431800" cy="2159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ffectLst/>
        </p:spPr>
        <p:txBody>
          <a:bodyPr lIns="90000" tIns="46800" rIns="90000" bIns="46800"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6" name="Line 110"/>
          <p:cNvSpPr>
            <a:spLocks noChangeShapeType="1"/>
          </p:cNvSpPr>
          <p:nvPr/>
        </p:nvSpPr>
        <p:spPr bwMode="auto">
          <a:xfrm>
            <a:off x="3157538" y="3771900"/>
            <a:ext cx="3619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ffectLst/>
        </p:spPr>
        <p:txBody>
          <a:bodyPr lIns="90000" tIns="46800" rIns="90000" bIns="46800"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cxnSp>
        <p:nvCxnSpPr>
          <p:cNvPr id="37" name="AutoShape 111"/>
          <p:cNvCxnSpPr>
            <a:cxnSpLocks noChangeShapeType="1"/>
          </p:cNvCxnSpPr>
          <p:nvPr/>
        </p:nvCxnSpPr>
        <p:spPr bwMode="auto">
          <a:xfrm rot="5400000" flipH="1" flipV="1">
            <a:off x="2409826" y="4414837"/>
            <a:ext cx="228600" cy="1851025"/>
          </a:xfrm>
          <a:prstGeom prst="curvedConnector5">
            <a:avLst>
              <a:gd name="adj1" fmla="val -93750"/>
              <a:gd name="adj2" fmla="val 50000"/>
              <a:gd name="adj3" fmla="val 193750"/>
            </a:avLst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ffectLst/>
        </p:spPr>
      </p:cxnSp>
      <p:sp>
        <p:nvSpPr>
          <p:cNvPr id="38" name="Text Box 112"/>
          <p:cNvSpPr txBox="1">
            <a:spLocks noChangeArrowheads="1"/>
          </p:cNvSpPr>
          <p:nvPr/>
        </p:nvSpPr>
        <p:spPr bwMode="auto">
          <a:xfrm>
            <a:off x="8370888" y="2090737"/>
            <a:ext cx="333375" cy="48895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6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^</a:t>
            </a:r>
            <a:endParaRPr kumimoji="1" lang="en-US" altLang="zh-CN" sz="2600" b="1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9" name="Freeform 113"/>
          <p:cNvSpPr/>
          <p:nvPr/>
        </p:nvSpPr>
        <p:spPr bwMode="auto">
          <a:xfrm>
            <a:off x="1287463" y="2490787"/>
            <a:ext cx="5976937" cy="382588"/>
          </a:xfrm>
          <a:custGeom>
            <a:avLst/>
            <a:gdLst/>
            <a:ahLst/>
            <a:cxnLst>
              <a:cxn ang="0">
                <a:pos x="0" y="90"/>
              </a:cxn>
              <a:cxn ang="0">
                <a:pos x="2449" y="226"/>
              </a:cxn>
              <a:cxn ang="0">
                <a:pos x="3765" y="0"/>
              </a:cxn>
            </a:cxnLst>
            <a:rect l="0" t="0" r="r" b="b"/>
            <a:pathLst>
              <a:path w="3765" h="241">
                <a:moveTo>
                  <a:pt x="0" y="90"/>
                </a:moveTo>
                <a:cubicBezTo>
                  <a:pt x="911" y="165"/>
                  <a:pt x="1822" y="241"/>
                  <a:pt x="2449" y="226"/>
                </a:cubicBezTo>
                <a:cubicBezTo>
                  <a:pt x="3076" y="211"/>
                  <a:pt x="3538" y="45"/>
                  <a:pt x="3765" y="0"/>
                </a:cubicBez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lIns="90000" tIns="46800" rIns="90000" bIns="46800"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0" name="Freeform 114"/>
          <p:cNvSpPr/>
          <p:nvPr/>
        </p:nvSpPr>
        <p:spPr bwMode="auto">
          <a:xfrm>
            <a:off x="2416175" y="2417762"/>
            <a:ext cx="6359525" cy="1081088"/>
          </a:xfrm>
          <a:custGeom>
            <a:avLst/>
            <a:gdLst/>
            <a:ahLst/>
            <a:cxnLst>
              <a:cxn ang="0">
                <a:pos x="4006" y="0"/>
              </a:cxn>
              <a:cxn ang="0">
                <a:pos x="3416" y="272"/>
              </a:cxn>
              <a:cxn ang="0">
                <a:pos x="468" y="454"/>
              </a:cxn>
              <a:cxn ang="0">
                <a:pos x="604" y="681"/>
              </a:cxn>
            </a:cxnLst>
            <a:rect l="0" t="0" r="r" b="b"/>
            <a:pathLst>
              <a:path w="4006" h="681">
                <a:moveTo>
                  <a:pt x="4006" y="0"/>
                </a:moveTo>
                <a:cubicBezTo>
                  <a:pt x="4006" y="98"/>
                  <a:pt x="4006" y="196"/>
                  <a:pt x="3416" y="272"/>
                </a:cubicBezTo>
                <a:cubicBezTo>
                  <a:pt x="2826" y="348"/>
                  <a:pt x="936" y="386"/>
                  <a:pt x="468" y="454"/>
                </a:cubicBezTo>
                <a:cubicBezTo>
                  <a:pt x="0" y="522"/>
                  <a:pt x="302" y="601"/>
                  <a:pt x="604" y="681"/>
                </a:cubicBez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lIns="90000" tIns="46800" rIns="90000" bIns="46800"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1" name="Freeform 115"/>
          <p:cNvSpPr/>
          <p:nvPr/>
        </p:nvSpPr>
        <p:spPr bwMode="auto">
          <a:xfrm>
            <a:off x="1358900" y="2417762"/>
            <a:ext cx="4105275" cy="93662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586" y="590"/>
              </a:cxn>
            </a:cxnLst>
            <a:rect l="0" t="0" r="r" b="b"/>
            <a:pathLst>
              <a:path w="2586" h="590">
                <a:moveTo>
                  <a:pt x="0" y="0"/>
                </a:moveTo>
                <a:cubicBezTo>
                  <a:pt x="1028" y="249"/>
                  <a:pt x="2057" y="499"/>
                  <a:pt x="2586" y="590"/>
                </a:cubicBez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lIns="90000" tIns="46800" rIns="90000" bIns="46800"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2" name="Freeform 116"/>
          <p:cNvSpPr/>
          <p:nvPr/>
        </p:nvSpPr>
        <p:spPr bwMode="auto">
          <a:xfrm>
            <a:off x="1358900" y="3930650"/>
            <a:ext cx="4187825" cy="47942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408" y="227"/>
              </a:cxn>
              <a:cxn ang="0">
                <a:pos x="2268" y="272"/>
              </a:cxn>
              <a:cxn ang="0">
                <a:pos x="2631" y="45"/>
              </a:cxn>
            </a:cxnLst>
            <a:rect l="0" t="0" r="r" b="b"/>
            <a:pathLst>
              <a:path w="2638" h="302">
                <a:moveTo>
                  <a:pt x="0" y="0"/>
                </a:moveTo>
                <a:cubicBezTo>
                  <a:pt x="15" y="91"/>
                  <a:pt x="30" y="182"/>
                  <a:pt x="408" y="227"/>
                </a:cubicBezTo>
                <a:cubicBezTo>
                  <a:pt x="786" y="272"/>
                  <a:pt x="1898" y="302"/>
                  <a:pt x="2268" y="272"/>
                </a:cubicBezTo>
                <a:cubicBezTo>
                  <a:pt x="2638" y="242"/>
                  <a:pt x="2634" y="143"/>
                  <a:pt x="2631" y="45"/>
                </a:cubicBez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lIns="90000" tIns="46800" rIns="90000" bIns="46800"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3" name="Text Box 117"/>
          <p:cNvSpPr txBox="1">
            <a:spLocks noChangeArrowheads="1"/>
          </p:cNvSpPr>
          <p:nvPr/>
        </p:nvSpPr>
        <p:spPr bwMode="auto">
          <a:xfrm>
            <a:off x="6399213" y="3498850"/>
            <a:ext cx="333375" cy="48895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6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^</a:t>
            </a:r>
            <a:endParaRPr kumimoji="1" lang="en-US" altLang="zh-CN" sz="2600" b="1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4" name="Freeform 118"/>
          <p:cNvSpPr/>
          <p:nvPr/>
        </p:nvSpPr>
        <p:spPr bwMode="auto">
          <a:xfrm>
            <a:off x="2908300" y="3786187"/>
            <a:ext cx="3922713" cy="1008063"/>
          </a:xfrm>
          <a:custGeom>
            <a:avLst/>
            <a:gdLst/>
            <a:ahLst/>
            <a:cxnLst>
              <a:cxn ang="0">
                <a:pos x="2471" y="0"/>
              </a:cxn>
              <a:cxn ang="0">
                <a:pos x="1836" y="363"/>
              </a:cxn>
              <a:cxn ang="0">
                <a:pos x="249" y="454"/>
              </a:cxn>
              <a:cxn ang="0">
                <a:pos x="340" y="635"/>
              </a:cxn>
            </a:cxnLst>
            <a:rect l="0" t="0" r="r" b="b"/>
            <a:pathLst>
              <a:path w="2471" h="635">
                <a:moveTo>
                  <a:pt x="2471" y="0"/>
                </a:moveTo>
                <a:cubicBezTo>
                  <a:pt x="2338" y="143"/>
                  <a:pt x="2206" y="287"/>
                  <a:pt x="1836" y="363"/>
                </a:cubicBezTo>
                <a:cubicBezTo>
                  <a:pt x="1466" y="439"/>
                  <a:pt x="498" y="409"/>
                  <a:pt x="249" y="454"/>
                </a:cubicBezTo>
                <a:cubicBezTo>
                  <a:pt x="0" y="499"/>
                  <a:pt x="170" y="567"/>
                  <a:pt x="340" y="635"/>
                </a:cubicBez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lIns="90000" tIns="46800" rIns="90000" bIns="46800"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5" name="Freeform 119"/>
          <p:cNvSpPr/>
          <p:nvPr/>
        </p:nvSpPr>
        <p:spPr bwMode="auto">
          <a:xfrm>
            <a:off x="63500" y="2417762"/>
            <a:ext cx="3816350" cy="4105275"/>
          </a:xfrm>
          <a:custGeom>
            <a:avLst/>
            <a:gdLst/>
            <a:ahLst/>
            <a:cxnLst>
              <a:cxn ang="0">
                <a:pos x="771" y="0"/>
              </a:cxn>
              <a:cxn ang="0">
                <a:pos x="226" y="499"/>
              </a:cxn>
              <a:cxn ang="0">
                <a:pos x="363" y="2359"/>
              </a:cxn>
              <a:cxn ang="0">
                <a:pos x="2404" y="1860"/>
              </a:cxn>
            </a:cxnLst>
            <a:rect l="0" t="0" r="r" b="b"/>
            <a:pathLst>
              <a:path w="2404" h="2586">
                <a:moveTo>
                  <a:pt x="771" y="0"/>
                </a:moveTo>
                <a:cubicBezTo>
                  <a:pt x="532" y="53"/>
                  <a:pt x="294" y="106"/>
                  <a:pt x="226" y="499"/>
                </a:cubicBezTo>
                <a:cubicBezTo>
                  <a:pt x="158" y="892"/>
                  <a:pt x="0" y="2132"/>
                  <a:pt x="363" y="2359"/>
                </a:cubicBezTo>
                <a:cubicBezTo>
                  <a:pt x="726" y="2586"/>
                  <a:pt x="1565" y="2223"/>
                  <a:pt x="2404" y="1860"/>
                </a:cubicBez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lIns="90000" tIns="46800" rIns="90000" bIns="46800"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6" name="Text Box 120"/>
          <p:cNvSpPr txBox="1">
            <a:spLocks noChangeArrowheads="1"/>
          </p:cNvSpPr>
          <p:nvPr/>
        </p:nvSpPr>
        <p:spPr bwMode="auto">
          <a:xfrm>
            <a:off x="566738" y="914400"/>
            <a:ext cx="2232025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solidFill>
                  <a:srgbClr val="003300"/>
                </a:solidFill>
                <a:latin typeface="Times New Roman" panose="02020603050405020304" pitchFamily="18" charset="0"/>
              </a:rPr>
              <a:t>事例演示</a:t>
            </a:r>
            <a:endParaRPr kumimoji="1" lang="zh-CN" altLang="en-US" sz="2800" b="1" dirty="0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172200" y="4133671"/>
            <a:ext cx="302826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已经分配好；一个队列有两个指针：头指针和尾指针；</a:t>
            </a:r>
            <a:endParaRPr lang="en-US" altLang="zh-CN" dirty="0"/>
          </a:p>
          <a:p>
            <a:r>
              <a:rPr lang="zh-CN" altLang="en-US" dirty="0"/>
              <a:t>让头指针指向链表的头节点，尾指针指向最后一个节点。</a:t>
            </a:r>
            <a:endParaRPr lang="en-US" altLang="zh-CN" dirty="0"/>
          </a:p>
        </p:txBody>
      </p:sp>
      <p:sp>
        <p:nvSpPr>
          <p:cNvPr id="7" name="矩形 6"/>
          <p:cNvSpPr/>
          <p:nvPr/>
        </p:nvSpPr>
        <p:spPr>
          <a:xfrm>
            <a:off x="6172200" y="5308689"/>
            <a:ext cx="29718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/>
              <a:t>收集过程：</a:t>
            </a:r>
            <a:endParaRPr lang="en-US" altLang="zh-CN" b="1" dirty="0"/>
          </a:p>
          <a:p>
            <a:r>
              <a:rPr lang="zh-CN" altLang="en-US" dirty="0"/>
              <a:t>每个队列的最后一个结点指向下一个队列的第一个结点；</a:t>
            </a:r>
            <a:endParaRPr lang="en-US" altLang="zh-CN" dirty="0"/>
          </a:p>
          <a:p>
            <a:r>
              <a:rPr lang="zh-CN" altLang="en-US" dirty="0"/>
              <a:t>所有都收集到</a:t>
            </a:r>
            <a:r>
              <a:rPr lang="en-US" altLang="zh-CN" dirty="0"/>
              <a:t>Q0</a:t>
            </a:r>
            <a:r>
              <a:rPr lang="zh-CN" altLang="en-US" dirty="0"/>
              <a:t>中。</a:t>
            </a: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39" grpId="0" animBg="1"/>
      <p:bldP spid="40" grpId="0" animBg="1"/>
      <p:bldP spid="41" grpId="0" animBg="1"/>
      <p:bldP spid="41" grpId="1" animBg="1"/>
      <p:bldP spid="43" grpId="0"/>
      <p:bldP spid="44" grpId="0" animBg="1"/>
      <p:bldP spid="45" grpId="0" animBg="1"/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6.6.2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链式基数排序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D8E2F-7965-481E-8F18-BE468FCBC0BE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1116013" y="2252663"/>
            <a:ext cx="6408737" cy="310854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void CONCATENATE(QUEUE &amp;Q[0],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                                       QUEUE &amp;Q[1]){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     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if(!EMPTY(Q[1])){</a:t>
            </a:r>
            <a:endParaRPr kumimoji="1" lang="en-US" altLang="zh-CN" sz="2800" b="1" dirty="0">
              <a:solidFill>
                <a:srgbClr val="FF3300"/>
              </a:solidFill>
              <a:latin typeface="Times New Roman" panose="02020603050405020304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        Q[0].rear-&gt;next=Q[1].front-&gt;next;</a:t>
            </a:r>
            <a:endParaRPr kumimoji="1" lang="en-US" altLang="zh-CN" sz="2800" b="1" dirty="0">
              <a:solidFill>
                <a:srgbClr val="FF3300"/>
              </a:solidFill>
              <a:latin typeface="Times New Roman" panose="02020603050405020304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        Q[0].rear=Q[1].rear;</a:t>
            </a:r>
            <a:endParaRPr kumimoji="1" lang="en-US" altLang="zh-CN" sz="2800" b="1" dirty="0">
              <a:solidFill>
                <a:srgbClr val="FF3300"/>
              </a:solidFill>
              <a:latin typeface="Times New Roman" panose="02020603050405020304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     }//</a:t>
            </a:r>
            <a:r>
              <a:rPr lang="zh-CN" altLang="en-US" sz="1600" b="1" dirty="0"/>
              <a:t>把</a:t>
            </a:r>
            <a:r>
              <a:rPr lang="en-US" altLang="zh-CN" sz="1600" b="1" dirty="0"/>
              <a:t>Q0</a:t>
            </a:r>
            <a:r>
              <a:rPr lang="zh-CN" altLang="en-US" sz="1600" b="1" dirty="0"/>
              <a:t>的最后一个节点指向</a:t>
            </a:r>
            <a:r>
              <a:rPr lang="en-US" altLang="zh-CN" sz="1600" b="1" dirty="0"/>
              <a:t>Q1</a:t>
            </a:r>
            <a:r>
              <a:rPr lang="zh-CN" altLang="en-US" sz="1600" b="1" dirty="0"/>
              <a:t>的第一个结点；修改</a:t>
            </a:r>
            <a:r>
              <a:rPr lang="en-US" altLang="zh-CN" sz="1600" b="1" dirty="0"/>
              <a:t>Q0</a:t>
            </a:r>
            <a:r>
              <a:rPr lang="zh-CN" altLang="en-US" sz="1600" b="1" dirty="0"/>
              <a:t>尾指针</a:t>
            </a:r>
            <a:endParaRPr lang="zh-CN" altLang="en-US" sz="1600" b="1" dirty="0"/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}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4" name="Text Box 6"/>
          <p:cNvSpPr txBox="1">
            <a:spLocks noChangeArrowheads="1"/>
          </p:cNvSpPr>
          <p:nvPr/>
        </p:nvSpPr>
        <p:spPr bwMode="auto">
          <a:xfrm>
            <a:off x="395288" y="1028700"/>
            <a:ext cx="3743325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>
                <a:solidFill>
                  <a:srgbClr val="0033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</a:rPr>
              <a:t>收集算法关键语句</a:t>
            </a:r>
            <a:endParaRPr kumimoji="1" lang="zh-CN" altLang="en-US" sz="2800" b="1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6.6.2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链式基数排序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B7AE4-5EA7-4A6B-8BE1-BD4CA71CD461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684213" y="2622550"/>
            <a:ext cx="2736850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FF"/>
                </a:solidFill>
                <a:latin typeface="宋体" panose="02010600030101010101" pitchFamily="2" charset="-122"/>
              </a:rPr>
              <a:t>顺序收集算法</a:t>
            </a:r>
            <a:endParaRPr kumimoji="1" lang="zh-CN" altLang="en-US" sz="2800" b="1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  <p:sp>
        <p:nvSpPr>
          <p:cNvPr id="14" name="Text Box 4"/>
          <p:cNvSpPr txBox="1">
            <a:spLocks noChangeArrowheads="1"/>
          </p:cNvSpPr>
          <p:nvPr/>
        </p:nvSpPr>
        <p:spPr bwMode="auto">
          <a:xfrm>
            <a:off x="3563938" y="4494212"/>
            <a:ext cx="4824412" cy="2000548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for(</a:t>
            </a:r>
            <a:r>
              <a:rPr kumimoji="1" lang="en-US" altLang="zh-CN" sz="2800" b="1" dirty="0" err="1">
                <a:solidFill>
                  <a:srgbClr val="FF330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=1;i&lt;=9;i++)</a:t>
            </a:r>
            <a:endParaRPr kumimoji="1" lang="en-US" altLang="zh-CN" sz="2800" b="1" dirty="0">
              <a:solidFill>
                <a:srgbClr val="FF3300"/>
              </a:solidFill>
              <a:latin typeface="Times New Roman" panose="02020603050405020304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CONCATENATE(Q[0],Q[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]);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A=Q[0];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b="1" dirty="0">
                <a:latin typeface="Times New Roman" panose="02020603050405020304" pitchFamily="18" charset="0"/>
              </a:rPr>
              <a:t>//</a:t>
            </a:r>
            <a:r>
              <a:rPr kumimoji="1" lang="zh-CN" altLang="en-US" sz="2000" b="1" dirty="0">
                <a:latin typeface="Times New Roman" panose="02020603050405020304" pitchFamily="18" charset="0"/>
              </a:rPr>
              <a:t>但是链式只需要修改指针就可以了；（把所有的关键字都收集到</a:t>
            </a:r>
            <a:r>
              <a:rPr kumimoji="1" lang="en-US" altLang="zh-CN" sz="2000" b="1" dirty="0">
                <a:latin typeface="Times New Roman" panose="02020603050405020304" pitchFamily="18" charset="0"/>
              </a:rPr>
              <a:t>Q[0]</a:t>
            </a:r>
            <a:r>
              <a:rPr kumimoji="1" lang="zh-CN" altLang="en-US" sz="2000" b="1" dirty="0">
                <a:latin typeface="Times New Roman" panose="02020603050405020304" pitchFamily="18" charset="0"/>
              </a:rPr>
              <a:t>中）</a:t>
            </a:r>
            <a:endParaRPr kumimoji="1"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15" name="Text Box 5"/>
          <p:cNvSpPr txBox="1">
            <a:spLocks noChangeArrowheads="1"/>
          </p:cNvSpPr>
          <p:nvPr/>
        </p:nvSpPr>
        <p:spPr bwMode="auto">
          <a:xfrm>
            <a:off x="3492500" y="1614487"/>
            <a:ext cx="5194300" cy="310854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For(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=0;i&lt;=9;i++)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While(!EMPTY(Q[</a:t>
            </a:r>
            <a:r>
              <a:rPr kumimoji="1" lang="en-US" altLang="zh-CN" sz="2800" b="1" dirty="0" err="1">
                <a:solidFill>
                  <a:srgbClr val="FF330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]))</a:t>
            </a:r>
            <a:endParaRPr kumimoji="1" lang="en-US" altLang="zh-CN" sz="2800" b="1" dirty="0">
              <a:solidFill>
                <a:srgbClr val="FF3300"/>
              </a:solidFill>
              <a:latin typeface="Times New Roman" panose="02020603050405020304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{data=FRONT(Q[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]);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DEQUEUE(Q[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]);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ENQUEUE(</a:t>
            </a:r>
            <a:r>
              <a:rPr kumimoji="1" lang="en-US" altLang="zh-CN" sz="2800" b="1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data,A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);</a:t>
            </a: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} </a:t>
            </a:r>
            <a:r>
              <a:rPr kumimoji="1" lang="en-US" altLang="zh-CN" sz="2400" b="1" dirty="0">
                <a:latin typeface="Times New Roman" panose="02020603050405020304" pitchFamily="18" charset="0"/>
              </a:rPr>
              <a:t>//</a:t>
            </a:r>
            <a:r>
              <a:rPr kumimoji="1" lang="zh-CN" altLang="en-US" sz="2400" b="1" dirty="0">
                <a:latin typeface="Times New Roman" panose="02020603050405020304" pitchFamily="18" charset="0"/>
              </a:rPr>
              <a:t>顺序需要入队和出队操作；</a:t>
            </a:r>
            <a:endParaRPr kumimoji="1" lang="zh-CN" altLang="en-US" sz="2400" b="1" dirty="0">
              <a:latin typeface="Times New Roman" panose="02020603050405020304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" name="Text Box 6"/>
          <p:cNvSpPr txBox="1">
            <a:spLocks noChangeArrowheads="1"/>
          </p:cNvSpPr>
          <p:nvPr/>
        </p:nvSpPr>
        <p:spPr bwMode="auto">
          <a:xfrm>
            <a:off x="684213" y="4635500"/>
            <a:ext cx="2374900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FF"/>
                </a:solidFill>
                <a:latin typeface="宋体" panose="02010600030101010101" pitchFamily="2" charset="-122"/>
              </a:rPr>
              <a:t>链式收集算法</a:t>
            </a:r>
            <a:endParaRPr kumimoji="1" lang="zh-CN" altLang="en-US" sz="2800" b="1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  <p:sp>
        <p:nvSpPr>
          <p:cNvPr id="17" name="Text Box 10"/>
          <p:cNvSpPr txBox="1">
            <a:spLocks noChangeArrowheads="1"/>
          </p:cNvSpPr>
          <p:nvPr/>
        </p:nvSpPr>
        <p:spPr bwMode="auto">
          <a:xfrm>
            <a:off x="395288" y="893762"/>
            <a:ext cx="4608512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>
                <a:solidFill>
                  <a:srgbClr val="0033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</a:rPr>
              <a:t>两种收集算法的比较</a:t>
            </a:r>
            <a:endParaRPr kumimoji="1" lang="zh-CN" altLang="en-US" sz="2800" b="1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6.6.2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链式基数排序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D5C13-043E-478C-B6E7-14F069F94A67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395288" y="939800"/>
            <a:ext cx="3646487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</a:pPr>
            <a:r>
              <a:rPr kumimoji="1" lang="en-US" altLang="zh-CN" sz="2800" b="1">
                <a:solidFill>
                  <a:srgbClr val="0033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solidFill>
                  <a:srgbClr val="003300"/>
                </a:solidFill>
                <a:latin typeface="Times New Roman" panose="02020603050405020304" pitchFamily="18" charset="0"/>
              </a:rPr>
              <a:t>算法分析</a:t>
            </a:r>
            <a:endParaRPr kumimoji="1" lang="zh-CN" altLang="en-US" sz="2800" b="1">
              <a:solidFill>
                <a:srgbClr val="00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1908175" y="2035175"/>
            <a:ext cx="5543550" cy="94615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基数排序是稳定的</a:t>
            </a:r>
            <a:endParaRPr kumimoji="1" lang="zh-CN" altLang="en-US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时间复杂性与空间复杂性分析：</a:t>
            </a:r>
            <a:endParaRPr kumimoji="1" lang="zh-CN" altLang="en-US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" name="Text Box 4"/>
          <p:cNvSpPr txBox="1">
            <a:spLocks noChangeArrowheads="1"/>
          </p:cNvSpPr>
          <p:nvPr/>
        </p:nvSpPr>
        <p:spPr bwMode="auto">
          <a:xfrm>
            <a:off x="1908175" y="3259137"/>
            <a:ext cx="4824413" cy="222726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设关键字位数为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d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则时间复杂性为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O(dn)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考虑到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d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是一个常数</a:t>
            </a:r>
            <a:endParaRPr kumimoji="1" lang="zh-CN" altLang="en-US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时间复杂性为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O(n)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空间复杂性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O(n)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F0000"/>
                </a:solidFill>
              </a:rPr>
              <a:t>第六章 排序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 lnSpcReduction="10000"/>
          </a:bodyPr>
          <a:lstStyle/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6.1 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概述</a:t>
            </a:r>
            <a:endParaRPr kumimoji="1" lang="zh-CN" altLang="en-US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6.2 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插入排序</a:t>
            </a:r>
            <a:endParaRPr kumimoji="1" lang="zh-CN" altLang="en-US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6.3 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快速排序</a:t>
            </a:r>
            <a:endParaRPr kumimoji="1" lang="zh-CN" altLang="en-US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6.4 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选择排序</a:t>
            </a:r>
            <a:endParaRPr kumimoji="1" lang="zh-CN" altLang="en-US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6.5 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归并排序</a:t>
            </a:r>
            <a:endParaRPr kumimoji="1" lang="zh-CN" altLang="en-US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6.6  </a:t>
            </a:r>
            <a:r>
              <a:rPr kumimoji="1" lang="zh-CN" altLang="en-US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基数排序</a:t>
            </a:r>
            <a:endParaRPr kumimoji="1" lang="zh-CN" altLang="en-US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6.7  </a:t>
            </a:r>
            <a:r>
              <a:rPr kumimoji="1" lang="zh-CN" altLang="en-US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内部排序方法的比较</a:t>
            </a:r>
            <a:endParaRPr kumimoji="1" lang="zh-CN" altLang="en-US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26328-722C-4FF1-88C6-8FE1E1D558C0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6.7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内部排序方法的比较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C8D43-B1C5-432C-B0D9-3E9BC48F5FE8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Group 132"/>
          <p:cNvGraphicFramePr>
            <a:graphicFrameLocks noGrp="1"/>
          </p:cNvGraphicFramePr>
          <p:nvPr/>
        </p:nvGraphicFramePr>
        <p:xfrm>
          <a:off x="273050" y="1039813"/>
          <a:ext cx="8642350" cy="4967289"/>
        </p:xfrm>
        <a:graphic>
          <a:graphicData uri="http://schemas.openxmlformats.org/drawingml/2006/table">
            <a:tbl>
              <a:tblPr/>
              <a:tblGrid>
                <a:gridCol w="2084388"/>
                <a:gridCol w="1084262"/>
                <a:gridCol w="803275"/>
                <a:gridCol w="1093788"/>
                <a:gridCol w="884237"/>
                <a:gridCol w="912813"/>
                <a:gridCol w="927100"/>
                <a:gridCol w="239712"/>
                <a:gridCol w="612775"/>
              </a:tblGrid>
              <a:tr h="552450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排序方法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比较次数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移动次数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稳定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性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附加存储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</a:tr>
              <a:tr h="550863">
                <a:tc vMerge="1"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最好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最差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最好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最差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最好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最差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</a:tr>
              <a:tr h="55245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直接插入排序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</a:tr>
              <a:tr h="55245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冒泡排序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</a:tr>
              <a:tr h="55086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快速排序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5245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简单选择排序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</a:tr>
              <a:tr h="55086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堆排序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</a:tr>
              <a:tr h="55245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归并排序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</a:tr>
              <a:tr h="55245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基数排序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onstantia" panose="02030602050306030303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14" name="Text Box 83"/>
          <p:cNvSpPr txBox="1">
            <a:spLocks noChangeArrowheads="1"/>
          </p:cNvSpPr>
          <p:nvPr/>
        </p:nvSpPr>
        <p:spPr bwMode="auto">
          <a:xfrm>
            <a:off x="2638425" y="2160588"/>
            <a:ext cx="379413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n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" name="Text Box 84"/>
          <p:cNvSpPr txBox="1">
            <a:spLocks noChangeArrowheads="1"/>
          </p:cNvSpPr>
          <p:nvPr/>
        </p:nvSpPr>
        <p:spPr bwMode="auto">
          <a:xfrm>
            <a:off x="3532188" y="2174875"/>
            <a:ext cx="500062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sz="2800" b="1" baseline="30000">
                <a:solidFill>
                  <a:srgbClr val="0000FF"/>
                </a:solidFill>
                <a:latin typeface="Times New Roman" panose="02020603050405020304" pitchFamily="18" charset="0"/>
              </a:rPr>
              <a:t>2</a:t>
            </a:r>
            <a:endParaRPr kumimoji="1" lang="en-US" altLang="zh-CN" sz="2800" b="1" baseline="3000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" name="Text Box 85"/>
          <p:cNvSpPr txBox="1">
            <a:spLocks noChangeArrowheads="1"/>
          </p:cNvSpPr>
          <p:nvPr/>
        </p:nvSpPr>
        <p:spPr bwMode="auto">
          <a:xfrm>
            <a:off x="4537075" y="2160588"/>
            <a:ext cx="358775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  <a:endParaRPr kumimoji="1" lang="en-US" altLang="zh-CN" sz="2800" b="1" baseline="3000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" name="Text Box 86"/>
          <p:cNvSpPr txBox="1">
            <a:spLocks noChangeArrowheads="1"/>
          </p:cNvSpPr>
          <p:nvPr/>
        </p:nvSpPr>
        <p:spPr bwMode="auto">
          <a:xfrm>
            <a:off x="5476875" y="2160588"/>
            <a:ext cx="500063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sz="2800" b="1" baseline="30000">
                <a:solidFill>
                  <a:srgbClr val="0000FF"/>
                </a:solidFill>
                <a:latin typeface="Times New Roman" panose="02020603050405020304" pitchFamily="18" charset="0"/>
              </a:rPr>
              <a:t>2</a:t>
            </a:r>
            <a:endParaRPr kumimoji="1" lang="en-US" altLang="zh-CN" sz="2800" b="1" baseline="3000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" name="Text Box 87"/>
          <p:cNvSpPr txBox="1">
            <a:spLocks noChangeArrowheads="1"/>
          </p:cNvSpPr>
          <p:nvPr/>
        </p:nvSpPr>
        <p:spPr bwMode="auto">
          <a:xfrm>
            <a:off x="6411913" y="2190750"/>
            <a:ext cx="487362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√</a:t>
            </a:r>
            <a:endParaRPr kumimoji="1" lang="en-US" altLang="zh-CN" sz="24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" name="Text Box 88"/>
          <p:cNvSpPr txBox="1">
            <a:spLocks noChangeArrowheads="1"/>
          </p:cNvSpPr>
          <p:nvPr/>
        </p:nvSpPr>
        <p:spPr bwMode="auto">
          <a:xfrm>
            <a:off x="7839075" y="2251075"/>
            <a:ext cx="333375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  <a:endParaRPr kumimoji="1" lang="en-US" altLang="zh-CN" sz="24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" name="Text Box 95"/>
          <p:cNvSpPr txBox="1">
            <a:spLocks noChangeArrowheads="1"/>
          </p:cNvSpPr>
          <p:nvPr/>
        </p:nvSpPr>
        <p:spPr bwMode="auto">
          <a:xfrm>
            <a:off x="2640013" y="2679700"/>
            <a:ext cx="379412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n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" name="Text Box 96"/>
          <p:cNvSpPr txBox="1">
            <a:spLocks noChangeArrowheads="1"/>
          </p:cNvSpPr>
          <p:nvPr/>
        </p:nvSpPr>
        <p:spPr bwMode="auto">
          <a:xfrm>
            <a:off x="3533775" y="2693988"/>
            <a:ext cx="500063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sz="2800" b="1" baseline="30000">
                <a:solidFill>
                  <a:srgbClr val="0000FF"/>
                </a:solidFill>
                <a:latin typeface="Times New Roman" panose="02020603050405020304" pitchFamily="18" charset="0"/>
              </a:rPr>
              <a:t>2</a:t>
            </a:r>
            <a:endParaRPr kumimoji="1" lang="en-US" altLang="zh-CN" sz="2800" b="1" baseline="3000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" name="Text Box 97"/>
          <p:cNvSpPr txBox="1">
            <a:spLocks noChangeArrowheads="1"/>
          </p:cNvSpPr>
          <p:nvPr/>
        </p:nvSpPr>
        <p:spPr bwMode="auto">
          <a:xfrm>
            <a:off x="4538663" y="2679700"/>
            <a:ext cx="358775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  <a:endParaRPr kumimoji="1" lang="en-US" altLang="zh-CN" sz="2800" b="1" baseline="3000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" name="Text Box 98"/>
          <p:cNvSpPr txBox="1">
            <a:spLocks noChangeArrowheads="1"/>
          </p:cNvSpPr>
          <p:nvPr/>
        </p:nvSpPr>
        <p:spPr bwMode="auto">
          <a:xfrm>
            <a:off x="5478463" y="2679700"/>
            <a:ext cx="500062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sz="2800" b="1" baseline="30000">
                <a:solidFill>
                  <a:srgbClr val="0000FF"/>
                </a:solidFill>
                <a:latin typeface="Times New Roman" panose="02020603050405020304" pitchFamily="18" charset="0"/>
              </a:rPr>
              <a:t>2</a:t>
            </a:r>
            <a:endParaRPr kumimoji="1" lang="en-US" altLang="zh-CN" sz="2800" b="1" baseline="3000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" name="Text Box 99"/>
          <p:cNvSpPr txBox="1">
            <a:spLocks noChangeArrowheads="1"/>
          </p:cNvSpPr>
          <p:nvPr/>
        </p:nvSpPr>
        <p:spPr bwMode="auto">
          <a:xfrm>
            <a:off x="6413500" y="2709863"/>
            <a:ext cx="487363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√</a:t>
            </a:r>
            <a:endParaRPr kumimoji="1" lang="en-US" altLang="zh-CN" sz="24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" name="Text Box 100"/>
          <p:cNvSpPr txBox="1">
            <a:spLocks noChangeArrowheads="1"/>
          </p:cNvSpPr>
          <p:nvPr/>
        </p:nvSpPr>
        <p:spPr bwMode="auto">
          <a:xfrm>
            <a:off x="7840663" y="2722563"/>
            <a:ext cx="333375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  <a:endParaRPr kumimoji="1" lang="en-US" altLang="zh-CN" sz="24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" name="Text Box 101"/>
          <p:cNvSpPr txBox="1">
            <a:spLocks noChangeArrowheads="1"/>
          </p:cNvSpPr>
          <p:nvPr/>
        </p:nvSpPr>
        <p:spPr bwMode="auto">
          <a:xfrm>
            <a:off x="2365375" y="3289300"/>
            <a:ext cx="1011238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nlog</a:t>
            </a:r>
            <a:r>
              <a:rPr kumimoji="1" lang="en-US" altLang="zh-CN" sz="2400" b="1" baseline="-25000">
                <a:solidFill>
                  <a:srgbClr val="0000FF"/>
                </a:solidFill>
                <a:latin typeface="Times New Roman" panose="02020603050405020304" pitchFamily="18" charset="0"/>
              </a:rPr>
              <a:t>2</a:t>
            </a: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n</a:t>
            </a:r>
            <a:endParaRPr kumimoji="1" lang="en-US" altLang="zh-CN" sz="24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" name="Text Box 102"/>
          <p:cNvSpPr txBox="1">
            <a:spLocks noChangeArrowheads="1"/>
          </p:cNvSpPr>
          <p:nvPr/>
        </p:nvSpPr>
        <p:spPr bwMode="auto">
          <a:xfrm>
            <a:off x="3503613" y="3270250"/>
            <a:ext cx="500062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sz="2800" b="1" baseline="30000">
                <a:solidFill>
                  <a:srgbClr val="0000FF"/>
                </a:solidFill>
                <a:latin typeface="Times New Roman" panose="02020603050405020304" pitchFamily="18" charset="0"/>
              </a:rPr>
              <a:t>2</a:t>
            </a:r>
            <a:endParaRPr kumimoji="1" lang="en-US" altLang="zh-CN" sz="2800" b="1" baseline="3000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" name="Text Box 103"/>
          <p:cNvSpPr txBox="1">
            <a:spLocks noChangeArrowheads="1"/>
          </p:cNvSpPr>
          <p:nvPr/>
        </p:nvSpPr>
        <p:spPr bwMode="auto">
          <a:xfrm>
            <a:off x="4529138" y="3213100"/>
            <a:ext cx="358775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" name="Text Box 104"/>
          <p:cNvSpPr txBox="1">
            <a:spLocks noChangeArrowheads="1"/>
          </p:cNvSpPr>
          <p:nvPr/>
        </p:nvSpPr>
        <p:spPr bwMode="auto">
          <a:xfrm>
            <a:off x="5519738" y="3270250"/>
            <a:ext cx="500062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sz="2800" b="1" baseline="30000">
                <a:solidFill>
                  <a:srgbClr val="0000FF"/>
                </a:solidFill>
                <a:latin typeface="Times New Roman" panose="02020603050405020304" pitchFamily="18" charset="0"/>
              </a:rPr>
              <a:t>2</a:t>
            </a:r>
            <a:endParaRPr kumimoji="1" lang="en-US" altLang="zh-CN" sz="2800" b="1" baseline="3000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" name="Text Box 105"/>
          <p:cNvSpPr txBox="1">
            <a:spLocks noChangeArrowheads="1"/>
          </p:cNvSpPr>
          <p:nvPr/>
        </p:nvSpPr>
        <p:spPr bwMode="auto">
          <a:xfrm>
            <a:off x="6394450" y="3348038"/>
            <a:ext cx="487363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×</a:t>
            </a:r>
            <a:endParaRPr kumimoji="1" lang="en-US" altLang="zh-CN" sz="24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" name="Text Box 106"/>
          <p:cNvSpPr txBox="1">
            <a:spLocks noChangeArrowheads="1"/>
          </p:cNvSpPr>
          <p:nvPr/>
        </p:nvSpPr>
        <p:spPr bwMode="auto">
          <a:xfrm>
            <a:off x="7227888" y="3289300"/>
            <a:ext cx="841375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log</a:t>
            </a:r>
            <a:r>
              <a:rPr kumimoji="1" lang="en-US" altLang="zh-CN" sz="2400" b="1" baseline="-25000">
                <a:solidFill>
                  <a:srgbClr val="0000FF"/>
                </a:solidFill>
                <a:latin typeface="Times New Roman" panose="02020603050405020304" pitchFamily="18" charset="0"/>
              </a:rPr>
              <a:t>2</a:t>
            </a: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n</a:t>
            </a:r>
            <a:endParaRPr kumimoji="1" lang="en-US" altLang="zh-CN" sz="24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" name="Text Box 107"/>
          <p:cNvSpPr txBox="1">
            <a:spLocks noChangeArrowheads="1"/>
          </p:cNvSpPr>
          <p:nvPr/>
        </p:nvSpPr>
        <p:spPr bwMode="auto">
          <a:xfrm>
            <a:off x="8326438" y="3270250"/>
            <a:ext cx="379412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n</a:t>
            </a:r>
            <a:endParaRPr kumimoji="1" lang="en-US" altLang="zh-CN" sz="28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" name="Text Box 108"/>
          <p:cNvSpPr txBox="1">
            <a:spLocks noChangeArrowheads="1"/>
          </p:cNvSpPr>
          <p:nvPr/>
        </p:nvSpPr>
        <p:spPr bwMode="auto">
          <a:xfrm>
            <a:off x="2998788" y="3846513"/>
            <a:ext cx="500062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sz="2800" b="1" baseline="30000">
                <a:solidFill>
                  <a:srgbClr val="0000FF"/>
                </a:solidFill>
                <a:latin typeface="Times New Roman" panose="02020603050405020304" pitchFamily="18" charset="0"/>
              </a:rPr>
              <a:t>2</a:t>
            </a:r>
            <a:endParaRPr kumimoji="1" lang="en-US" altLang="zh-CN" sz="2800" b="1" baseline="3000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" name="Text Box 109"/>
          <p:cNvSpPr txBox="1">
            <a:spLocks noChangeArrowheads="1"/>
          </p:cNvSpPr>
          <p:nvPr/>
        </p:nvSpPr>
        <p:spPr bwMode="auto">
          <a:xfrm>
            <a:off x="4537075" y="3789363"/>
            <a:ext cx="358775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  <a:endParaRPr kumimoji="1" lang="en-US" altLang="zh-CN" sz="2800" b="1" baseline="3000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" name="Text Box 110"/>
          <p:cNvSpPr txBox="1">
            <a:spLocks noChangeArrowheads="1"/>
          </p:cNvSpPr>
          <p:nvPr/>
        </p:nvSpPr>
        <p:spPr bwMode="auto">
          <a:xfrm>
            <a:off x="5534025" y="3789363"/>
            <a:ext cx="379413" cy="5191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n</a:t>
            </a:r>
            <a:endParaRPr kumimoji="1" lang="en-US" altLang="zh-CN" sz="2800" b="1" baseline="3000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" name="Text Box 112"/>
          <p:cNvSpPr txBox="1">
            <a:spLocks noChangeArrowheads="1"/>
          </p:cNvSpPr>
          <p:nvPr/>
        </p:nvSpPr>
        <p:spPr bwMode="auto">
          <a:xfrm>
            <a:off x="7794625" y="3840163"/>
            <a:ext cx="333375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  <a:endParaRPr kumimoji="1" lang="en-US" altLang="zh-CN" sz="24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" name="Text Box 113"/>
          <p:cNvSpPr txBox="1">
            <a:spLocks noChangeArrowheads="1"/>
          </p:cNvSpPr>
          <p:nvPr/>
        </p:nvSpPr>
        <p:spPr bwMode="auto">
          <a:xfrm>
            <a:off x="2581275" y="4368800"/>
            <a:ext cx="1011238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nlog</a:t>
            </a:r>
            <a:r>
              <a:rPr kumimoji="1" lang="en-US" altLang="zh-CN" sz="2400" b="1" baseline="-25000">
                <a:solidFill>
                  <a:srgbClr val="0000FF"/>
                </a:solidFill>
                <a:latin typeface="Times New Roman" panose="02020603050405020304" pitchFamily="18" charset="0"/>
              </a:rPr>
              <a:t>2</a:t>
            </a: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n</a:t>
            </a:r>
            <a:endParaRPr kumimoji="1" lang="en-US" altLang="zh-CN" sz="24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" name="Text Box 114"/>
          <p:cNvSpPr txBox="1">
            <a:spLocks noChangeArrowheads="1"/>
          </p:cNvSpPr>
          <p:nvPr/>
        </p:nvSpPr>
        <p:spPr bwMode="auto">
          <a:xfrm>
            <a:off x="4692650" y="4416425"/>
            <a:ext cx="1011238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nlog</a:t>
            </a:r>
            <a:r>
              <a:rPr kumimoji="1" lang="en-US" altLang="zh-CN" sz="2400" b="1" baseline="-25000">
                <a:solidFill>
                  <a:srgbClr val="0000FF"/>
                </a:solidFill>
                <a:latin typeface="Times New Roman" panose="02020603050405020304" pitchFamily="18" charset="0"/>
              </a:rPr>
              <a:t>2</a:t>
            </a: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n</a:t>
            </a:r>
            <a:endParaRPr kumimoji="1" lang="en-US" altLang="zh-CN" sz="24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" name="Text Box 115"/>
          <p:cNvSpPr txBox="1">
            <a:spLocks noChangeArrowheads="1"/>
          </p:cNvSpPr>
          <p:nvPr/>
        </p:nvSpPr>
        <p:spPr bwMode="auto">
          <a:xfrm>
            <a:off x="6394450" y="4429125"/>
            <a:ext cx="487363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×</a:t>
            </a:r>
            <a:endParaRPr kumimoji="1" lang="en-US" altLang="zh-CN" sz="24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" name="Text Box 116"/>
          <p:cNvSpPr txBox="1">
            <a:spLocks noChangeArrowheads="1"/>
          </p:cNvSpPr>
          <p:nvPr/>
        </p:nvSpPr>
        <p:spPr bwMode="auto">
          <a:xfrm>
            <a:off x="7758113" y="4368800"/>
            <a:ext cx="333375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  <a:endParaRPr kumimoji="1" lang="en-US" altLang="zh-CN" sz="24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2" name="Text Box 117"/>
          <p:cNvSpPr txBox="1">
            <a:spLocks noChangeArrowheads="1"/>
          </p:cNvSpPr>
          <p:nvPr/>
        </p:nvSpPr>
        <p:spPr bwMode="auto">
          <a:xfrm>
            <a:off x="2617788" y="4943475"/>
            <a:ext cx="1011237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nlog</a:t>
            </a:r>
            <a:r>
              <a:rPr kumimoji="1" lang="en-US" altLang="zh-CN" sz="2400" b="1" baseline="-25000">
                <a:solidFill>
                  <a:srgbClr val="0000FF"/>
                </a:solidFill>
                <a:latin typeface="Times New Roman" panose="02020603050405020304" pitchFamily="18" charset="0"/>
              </a:rPr>
              <a:t>2</a:t>
            </a: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n</a:t>
            </a:r>
            <a:endParaRPr kumimoji="1" lang="en-US" altLang="zh-CN" sz="24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" name="Text Box 118"/>
          <p:cNvSpPr txBox="1">
            <a:spLocks noChangeArrowheads="1"/>
          </p:cNvSpPr>
          <p:nvPr/>
        </p:nvSpPr>
        <p:spPr bwMode="auto">
          <a:xfrm>
            <a:off x="4729163" y="4991100"/>
            <a:ext cx="1011237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nlog</a:t>
            </a:r>
            <a:r>
              <a:rPr kumimoji="1" lang="en-US" altLang="zh-CN" sz="2400" b="1" baseline="-25000">
                <a:solidFill>
                  <a:srgbClr val="0000FF"/>
                </a:solidFill>
                <a:latin typeface="Times New Roman" panose="02020603050405020304" pitchFamily="18" charset="0"/>
              </a:rPr>
              <a:t>2</a:t>
            </a: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n</a:t>
            </a:r>
            <a:endParaRPr kumimoji="1" lang="en-US" altLang="zh-CN" sz="24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" name="Text Box 119"/>
          <p:cNvSpPr txBox="1">
            <a:spLocks noChangeArrowheads="1"/>
          </p:cNvSpPr>
          <p:nvPr/>
        </p:nvSpPr>
        <p:spPr bwMode="auto">
          <a:xfrm>
            <a:off x="6411913" y="5003800"/>
            <a:ext cx="487362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√</a:t>
            </a:r>
            <a:endParaRPr kumimoji="1" lang="en-US" altLang="zh-CN" sz="24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5" name="Text Box 120"/>
          <p:cNvSpPr txBox="1">
            <a:spLocks noChangeArrowheads="1"/>
          </p:cNvSpPr>
          <p:nvPr/>
        </p:nvSpPr>
        <p:spPr bwMode="auto">
          <a:xfrm>
            <a:off x="7778750" y="4991100"/>
            <a:ext cx="350838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n</a:t>
            </a:r>
            <a:endParaRPr kumimoji="1" lang="en-US" altLang="zh-CN" sz="24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6" name="Text Box 134"/>
          <p:cNvSpPr txBox="1">
            <a:spLocks noChangeArrowheads="1"/>
          </p:cNvSpPr>
          <p:nvPr/>
        </p:nvSpPr>
        <p:spPr bwMode="auto">
          <a:xfrm>
            <a:off x="2801938" y="5562600"/>
            <a:ext cx="790575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……</a:t>
            </a:r>
            <a:endParaRPr kumimoji="1" lang="en-US" altLang="zh-CN" sz="24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7" name="Text Box 135"/>
          <p:cNvSpPr txBox="1">
            <a:spLocks noChangeArrowheads="1"/>
          </p:cNvSpPr>
          <p:nvPr/>
        </p:nvSpPr>
        <p:spPr bwMode="auto">
          <a:xfrm>
            <a:off x="4946650" y="5491163"/>
            <a:ext cx="520700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dn</a:t>
            </a:r>
            <a:endParaRPr kumimoji="1" lang="en-US" altLang="zh-CN" sz="24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" name="Text Box 136"/>
          <p:cNvSpPr txBox="1">
            <a:spLocks noChangeArrowheads="1"/>
          </p:cNvSpPr>
          <p:nvPr/>
        </p:nvSpPr>
        <p:spPr bwMode="auto">
          <a:xfrm>
            <a:off x="6394450" y="5549900"/>
            <a:ext cx="487363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√</a:t>
            </a:r>
            <a:endParaRPr kumimoji="1" lang="en-US" altLang="zh-CN" sz="24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" name="Text Box 137"/>
          <p:cNvSpPr txBox="1">
            <a:spLocks noChangeArrowheads="1"/>
          </p:cNvSpPr>
          <p:nvPr/>
        </p:nvSpPr>
        <p:spPr bwMode="auto">
          <a:xfrm>
            <a:off x="7778750" y="5537200"/>
            <a:ext cx="350838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n</a:t>
            </a:r>
            <a:endParaRPr kumimoji="1" lang="en-US" altLang="zh-CN" sz="2400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0" name="Text Box 105"/>
          <p:cNvSpPr txBox="1">
            <a:spLocks noChangeArrowheads="1"/>
          </p:cNvSpPr>
          <p:nvPr/>
        </p:nvSpPr>
        <p:spPr bwMode="auto">
          <a:xfrm>
            <a:off x="6400800" y="3886200"/>
            <a:ext cx="487363" cy="4572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×</a:t>
            </a:r>
            <a:endParaRPr kumimoji="1" lang="en-US" altLang="zh-CN" sz="24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</p:bld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zh-CN" altLang="en-US" sz="40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Courier New" panose="02070309020205020404" pitchFamily="49" charset="0"/>
              </a:rPr>
              <a:t>本章小结</a:t>
            </a:r>
            <a:endParaRPr kumimoji="1" lang="zh-CN" altLang="en-US" sz="4000" b="1" dirty="0">
              <a:solidFill>
                <a:srgbClr val="0000FF"/>
              </a:solidFill>
              <a:latin typeface="Times New Roman" panose="02020603050405020304" pitchFamily="18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 marL="457200" lvl="1" indent="0">
              <a:lnSpc>
                <a:spcPts val="3000"/>
              </a:lnSpc>
              <a:buNone/>
            </a:pPr>
            <a:endParaRPr lang="en-US" altLang="zh-CN" sz="2400" b="1" dirty="0"/>
          </a:p>
          <a:p>
            <a:pPr lvl="1">
              <a:lnSpc>
                <a:spcPts val="3000"/>
              </a:lnSpc>
            </a:pPr>
            <a:endParaRPr lang="en-US" altLang="zh-CN" sz="2400" b="1" dirty="0"/>
          </a:p>
          <a:p>
            <a:pPr lvl="1">
              <a:lnSpc>
                <a:spcPts val="3000"/>
              </a:lnSpc>
            </a:pPr>
            <a:endParaRPr lang="en-US" altLang="zh-CN" sz="2400" b="1" dirty="0"/>
          </a:p>
          <a:p>
            <a:pPr lvl="1">
              <a:lnSpc>
                <a:spcPts val="3000"/>
              </a:lnSpc>
            </a:pPr>
            <a:endParaRPr lang="en-US" altLang="zh-CN" sz="2400" b="1" dirty="0"/>
          </a:p>
          <a:p>
            <a:pPr lvl="1">
              <a:lnSpc>
                <a:spcPts val="3000"/>
              </a:lnSpc>
            </a:pPr>
            <a:endParaRPr lang="en-US" altLang="zh-CN" sz="2400" b="1" dirty="0"/>
          </a:p>
          <a:p>
            <a:pPr lvl="1">
              <a:lnSpc>
                <a:spcPts val="3000"/>
              </a:lnSpc>
            </a:pPr>
            <a:endParaRPr lang="en-US" altLang="zh-CN" sz="2400" b="1" dirty="0"/>
          </a:p>
          <a:p>
            <a:pPr lvl="1">
              <a:lnSpc>
                <a:spcPts val="3000"/>
              </a:lnSpc>
            </a:pPr>
            <a:endParaRPr lang="en-US" altLang="zh-CN" sz="2400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E6B10-76A0-472F-B35E-8BE1E59BFCD2}" type="datetime1">
              <a:rPr lang="zh-CN" altLang="en-US" b="1" smtClean="0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3"/>
          <p:cNvSpPr txBox="1">
            <a:spLocks noChangeArrowheads="1"/>
          </p:cNvSpPr>
          <p:nvPr/>
        </p:nvSpPr>
        <p:spPr bwMode="auto">
          <a:xfrm>
            <a:off x="539750" y="1300163"/>
            <a:ext cx="8175625" cy="4795837"/>
          </a:xfrm>
          <a:prstGeom prst="rect">
            <a:avLst/>
          </a:prstGeom>
          <a:noFill/>
          <a:ln w="38100" cmpd="dbl">
            <a:solidFill>
              <a:srgbClr val="0000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27305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 2" panose="05020102010507070707" pitchFamily="18" charset="2"/>
              <a:buNone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3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None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914400" indent="-2463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 2" panose="05020102010507070707" pitchFamily="18" charset="2"/>
              <a:buNone/>
              <a:defRPr sz="2800">
                <a:solidFill>
                  <a:schemeClr val="tx1"/>
                </a:solidFill>
                <a:latin typeface="+mn-lt"/>
                <a:ea typeface="+mn-ea"/>
              </a:defRPr>
            </a:lvl3pPr>
            <a:lvl4pPr marL="1187450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+mn-lt"/>
                <a:ea typeface="+mn-ea"/>
              </a:defRPr>
            </a:lvl4pPr>
            <a:lvl5pPr marL="1462405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+mn-lt"/>
                <a:ea typeface="+mn-ea"/>
              </a:defRPr>
            </a:lvl5pPr>
            <a:lvl6pPr marL="1919605" indent="-209550" algn="l" rtl="0" fontAlgn="base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+mn-lt"/>
                <a:ea typeface="+mn-ea"/>
              </a:defRPr>
            </a:lvl6pPr>
            <a:lvl7pPr marL="2376805" indent="-209550" algn="l" rtl="0" fontAlgn="base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+mn-lt"/>
                <a:ea typeface="+mn-ea"/>
              </a:defRPr>
            </a:lvl7pPr>
            <a:lvl8pPr marL="2834005" indent="-209550" algn="l" rtl="0" fontAlgn="base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+mn-lt"/>
                <a:ea typeface="+mn-ea"/>
              </a:defRPr>
            </a:lvl8pPr>
            <a:lvl9pPr marL="3291205" indent="-209550" algn="l" rtl="0" fontAlgn="base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57200" indent="-457200" eaLnBrk="1" hangingPunct="1"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kern="0" dirty="0">
                <a:ea typeface="隶书" panose="02010509060101010101" pitchFamily="49" charset="-122"/>
              </a:rPr>
              <a:t> 熟练掌握：</a:t>
            </a:r>
            <a:endParaRPr lang="zh-CN" altLang="en-US" kern="0" dirty="0">
              <a:ea typeface="隶书" panose="02010509060101010101" pitchFamily="49" charset="-122"/>
            </a:endParaRPr>
          </a:p>
          <a:p>
            <a:pPr marL="824230" lvl="1" indent="-457200" eaLnBrk="1" hangingPunct="1">
              <a:buClr>
                <a:srgbClr val="0000FF"/>
              </a:buClr>
              <a:buFont typeface="Wingdings" panose="05000000000000000000" pitchFamily="2" charset="2"/>
              <a:buChar char="p"/>
            </a:pPr>
            <a:r>
              <a:rPr lang="zh-CN" altLang="en-US" kern="0" dirty="0">
                <a:ea typeface="隶书" panose="02010509060101010101" pitchFamily="49" charset="-122"/>
              </a:rPr>
              <a:t>直接插入排序、希尔排序、冒泡排序、快速排序、简单选择排序、堆排序、归并排序、基数排序的思想和算法。充分了解各种排序算法的应用背景和优缺点。</a:t>
            </a:r>
            <a:endParaRPr lang="zh-CN" altLang="en-US" kern="0" dirty="0">
              <a:ea typeface="隶书" panose="02010509060101010101" pitchFamily="49" charset="-122"/>
            </a:endParaRPr>
          </a:p>
          <a:p>
            <a:pPr marL="457200" indent="-457200" eaLnBrk="1" hangingPunct="1"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kern="0" dirty="0">
                <a:ea typeface="隶书" panose="02010509060101010101" pitchFamily="49" charset="-122"/>
              </a:rPr>
              <a:t> 重点学习：</a:t>
            </a:r>
            <a:endParaRPr lang="zh-CN" altLang="en-US" kern="0" dirty="0">
              <a:ea typeface="隶书" panose="02010509060101010101" pitchFamily="49" charset="-122"/>
            </a:endParaRPr>
          </a:p>
          <a:p>
            <a:pPr marL="824230" lvl="1" indent="-457200" eaLnBrk="1" hangingPunct="1">
              <a:buClr>
                <a:srgbClr val="0000FF"/>
              </a:buClr>
              <a:buFont typeface="Wingdings" panose="05000000000000000000" pitchFamily="2" charset="2"/>
              <a:buChar char="p"/>
            </a:pPr>
            <a:r>
              <a:rPr lang="zh-CN" altLang="en-US" kern="0" dirty="0">
                <a:ea typeface="隶书" panose="02010509060101010101" pitchFamily="49" charset="-122"/>
              </a:rPr>
              <a:t>加强各种排序算法在实际应用中的训练，提高实际应用水平。</a:t>
            </a:r>
            <a:endParaRPr lang="zh-CN" altLang="en-US" kern="0" dirty="0">
              <a:ea typeface="隶书" panose="02010509060101010101" pitchFamily="49" charset="-122"/>
            </a:endParaRPr>
          </a:p>
          <a:p>
            <a:pPr marL="457200" indent="-457200" eaLnBrk="1" hangingPunct="1">
              <a:lnSpc>
                <a:spcPct val="80000"/>
              </a:lnSpc>
              <a:buClr>
                <a:srgbClr val="0000FF"/>
              </a:buClr>
              <a:buFont typeface="Wingdings" panose="05000000000000000000" pitchFamily="2" charset="2"/>
              <a:buChar char="ü"/>
            </a:pPr>
            <a:endParaRPr lang="zh-CN" altLang="en-US" kern="0" dirty="0">
              <a:ea typeface="隶书" panose="02010509060101010101" pitchFamily="49" charset="-122"/>
            </a:endParaRPr>
          </a:p>
        </p:txBody>
      </p:sp>
      <p:sp>
        <p:nvSpPr>
          <p:cNvPr id="14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6</a:t>
            </a:r>
            <a:r>
              <a:rPr lang="zh-CN" altLang="en-US" b="1" dirty="0">
                <a:solidFill>
                  <a:srgbClr val="00B0F0"/>
                </a:solidFill>
              </a:rPr>
              <a:t>章 分治与排序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26071</Words>
  <Application>WPS 演示</Application>
  <PresentationFormat>全屏显示(4:3)</PresentationFormat>
  <Paragraphs>4802</Paragraphs>
  <Slides>134</Slides>
  <Notes>134</Notes>
  <HiddenSlides>0</HiddenSlides>
  <MMClips>0</MMClips>
  <ScaleCrop>false</ScaleCrop>
  <HeadingPairs>
    <vt:vector size="8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6</vt:i4>
      </vt:variant>
      <vt:variant>
        <vt:lpstr>幻灯片标题</vt:lpstr>
      </vt:variant>
      <vt:variant>
        <vt:i4>134</vt:i4>
      </vt:variant>
    </vt:vector>
  </HeadingPairs>
  <TitlesOfParts>
    <vt:vector size="158" baseType="lpstr">
      <vt:lpstr>Arial</vt:lpstr>
      <vt:lpstr>宋体</vt:lpstr>
      <vt:lpstr>Wingdings</vt:lpstr>
      <vt:lpstr>楷体_GB2312</vt:lpstr>
      <vt:lpstr>新宋体</vt:lpstr>
      <vt:lpstr>Times New Roman</vt:lpstr>
      <vt:lpstr>隶书</vt:lpstr>
      <vt:lpstr>Calibri</vt:lpstr>
      <vt:lpstr>微软雅黑</vt:lpstr>
      <vt:lpstr>Arial Unicode MS</vt:lpstr>
      <vt:lpstr>Symbol</vt:lpstr>
      <vt:lpstr>Constantia</vt:lpstr>
      <vt:lpstr>Wingdings 2</vt:lpstr>
      <vt:lpstr>Tahoma</vt:lpstr>
      <vt:lpstr>Constantia</vt:lpstr>
      <vt:lpstr>华文楷体</vt:lpstr>
      <vt:lpstr>Courier New</vt:lpstr>
      <vt:lpstr>Office 主题​​</vt:lpstr>
      <vt:lpstr>Equation.3</vt:lpstr>
      <vt:lpstr>Equation.3</vt:lpstr>
      <vt:lpstr>Equation.3</vt:lpstr>
      <vt:lpstr>Equation.3</vt:lpstr>
      <vt:lpstr>Equation.3</vt:lpstr>
      <vt:lpstr>Word.Document.8</vt:lpstr>
      <vt:lpstr>第6章 分治与排序(1)                  ——排序算法总览</vt:lpstr>
      <vt:lpstr>本章重点与难点</vt:lpstr>
      <vt:lpstr>第六章 排序</vt:lpstr>
      <vt:lpstr>第六章 排序</vt:lpstr>
      <vt:lpstr>6.1  概述</vt:lpstr>
      <vt:lpstr>6.1  概述</vt:lpstr>
      <vt:lpstr>6.1  概述</vt:lpstr>
      <vt:lpstr>6.1  概述</vt:lpstr>
      <vt:lpstr>6.1  概述</vt:lpstr>
      <vt:lpstr>6.1  概述</vt:lpstr>
      <vt:lpstr>6.1  概述</vt:lpstr>
      <vt:lpstr>6.1  概述</vt:lpstr>
      <vt:lpstr>6.1  概述</vt:lpstr>
      <vt:lpstr>6.1  概述</vt:lpstr>
      <vt:lpstr>6.1  概述</vt:lpstr>
      <vt:lpstr>第六章 排序</vt:lpstr>
      <vt:lpstr>6.2 插入排序</vt:lpstr>
      <vt:lpstr>6.2.1 直接插入排序</vt:lpstr>
      <vt:lpstr>6.2.1 直接插入排序</vt:lpstr>
      <vt:lpstr>6.2.1 直接插入排序</vt:lpstr>
      <vt:lpstr>6.2.1 直接插入排序</vt:lpstr>
      <vt:lpstr>6.2.1 直接插入排序</vt:lpstr>
      <vt:lpstr>6.2.1 直接插入排序</vt:lpstr>
      <vt:lpstr>6.2.1 直接插入排序</vt:lpstr>
      <vt:lpstr>6.2.1 直接插入排序</vt:lpstr>
      <vt:lpstr>6.2.1 直接插入排序</vt:lpstr>
      <vt:lpstr>6.2.1 直接插入排序</vt:lpstr>
      <vt:lpstr>6.2.1 直接插入排序</vt:lpstr>
      <vt:lpstr>6.2.1 直接插入排序</vt:lpstr>
      <vt:lpstr>6.2.2 折半插入排序</vt:lpstr>
      <vt:lpstr>6.2.2 折半插入排序</vt:lpstr>
      <vt:lpstr>6.2.2 折半插入排序</vt:lpstr>
      <vt:lpstr>6.2.2 折半插入排序</vt:lpstr>
      <vt:lpstr>6.2.2 折半插入排序</vt:lpstr>
      <vt:lpstr>6.2.3 表插入排序</vt:lpstr>
      <vt:lpstr>6.2.3 表插入排序</vt:lpstr>
      <vt:lpstr>6.2.3 表插入排序</vt:lpstr>
      <vt:lpstr>6.2.3 表插入排序</vt:lpstr>
      <vt:lpstr>6.2.3 表插入排序</vt:lpstr>
      <vt:lpstr>6.2.3 表插入排序</vt:lpstr>
      <vt:lpstr>6.2.3 表插入排序</vt:lpstr>
      <vt:lpstr>6.2.3 表插入排序</vt:lpstr>
      <vt:lpstr>6.2.3 表插入排序</vt:lpstr>
      <vt:lpstr>6.2.3 表插入排序</vt:lpstr>
      <vt:lpstr>6.2.3 表插入排序</vt:lpstr>
      <vt:lpstr>6.2.3 表插入排序</vt:lpstr>
      <vt:lpstr>6.2.3 表插入排序</vt:lpstr>
      <vt:lpstr>6.2.3 表插入排序</vt:lpstr>
      <vt:lpstr>6.2.3 表插入排序</vt:lpstr>
      <vt:lpstr>6.2.4 希尔排序</vt:lpstr>
      <vt:lpstr>6.2.4 希尔排序</vt:lpstr>
      <vt:lpstr>6.2.4 希尔排序</vt:lpstr>
      <vt:lpstr>6.2.4 希尔排序</vt:lpstr>
      <vt:lpstr>6.2.4 希尔排序</vt:lpstr>
      <vt:lpstr>6.2.4 希尔排序</vt:lpstr>
      <vt:lpstr>第六章 排序</vt:lpstr>
      <vt:lpstr>6.3  快速排序</vt:lpstr>
      <vt:lpstr>6.3.1   气泡排序</vt:lpstr>
      <vt:lpstr>6.3.1   气泡排序</vt:lpstr>
      <vt:lpstr>6.3.1   气泡排序</vt:lpstr>
      <vt:lpstr>6.3.1   气泡排序</vt:lpstr>
      <vt:lpstr>6.3.1   气泡排序</vt:lpstr>
      <vt:lpstr>6.3.2  快速排序</vt:lpstr>
      <vt:lpstr>6.3.2  快速排序</vt:lpstr>
      <vt:lpstr>6.3.2  快速排序</vt:lpstr>
      <vt:lpstr>6.3.2  快速排序</vt:lpstr>
      <vt:lpstr>6.3.2  快速排序</vt:lpstr>
      <vt:lpstr>6.3.2  快速排序</vt:lpstr>
      <vt:lpstr>6.3.2  快速排序</vt:lpstr>
      <vt:lpstr>6.3.2  快速排序</vt:lpstr>
      <vt:lpstr>6.3.2  快速排序</vt:lpstr>
      <vt:lpstr>6.3.2  快速排序</vt:lpstr>
      <vt:lpstr>6.3.2  快速排序</vt:lpstr>
      <vt:lpstr>第六章 排序</vt:lpstr>
      <vt:lpstr>6.4 选择排序</vt:lpstr>
      <vt:lpstr>6.4.1 简单选择排序</vt:lpstr>
      <vt:lpstr>6.4.1 简单选择排序</vt:lpstr>
      <vt:lpstr>6.4.1 简单选择排序</vt:lpstr>
      <vt:lpstr>6.4.1 简单选择排序</vt:lpstr>
      <vt:lpstr>6.4.1 简单选择排序</vt:lpstr>
      <vt:lpstr>6.4.2 树形选择排序</vt:lpstr>
      <vt:lpstr>6.4.2 树形选择排序</vt:lpstr>
      <vt:lpstr>6.4.2 树形选择排序</vt:lpstr>
      <vt:lpstr>6.4.2 树形选择排序</vt:lpstr>
      <vt:lpstr>6.4.2 树形选择排序</vt:lpstr>
      <vt:lpstr>6.4.3 堆排序</vt:lpstr>
      <vt:lpstr>6.4.3 堆排序</vt:lpstr>
      <vt:lpstr>6.4.3 堆排序</vt:lpstr>
      <vt:lpstr>6.4.3 堆排序</vt:lpstr>
      <vt:lpstr>6.4.3 堆排序</vt:lpstr>
      <vt:lpstr>6.4.3 堆排序</vt:lpstr>
      <vt:lpstr>6.4.3 堆排序</vt:lpstr>
      <vt:lpstr>6.4.3 堆排序</vt:lpstr>
      <vt:lpstr>6.4.3 堆排序</vt:lpstr>
      <vt:lpstr>6.4.3 堆排序</vt:lpstr>
      <vt:lpstr>6.4.3 堆排序</vt:lpstr>
      <vt:lpstr>6.4.3 堆排序</vt:lpstr>
      <vt:lpstr>6.4.3 堆排序</vt:lpstr>
      <vt:lpstr>6.4.3 堆排序</vt:lpstr>
      <vt:lpstr>6.4.3 堆排序</vt:lpstr>
      <vt:lpstr>6.4.3 堆排序</vt:lpstr>
      <vt:lpstr>6.4.3 堆排序</vt:lpstr>
      <vt:lpstr>第六章 排序</vt:lpstr>
      <vt:lpstr>6.5  归并排序</vt:lpstr>
      <vt:lpstr>6.5  归并排序</vt:lpstr>
      <vt:lpstr>6.5  归并排序</vt:lpstr>
      <vt:lpstr>6.5  归并排序</vt:lpstr>
      <vt:lpstr>6.5  归并排序</vt:lpstr>
      <vt:lpstr>6.5  归并排序</vt:lpstr>
      <vt:lpstr>6.5  归并排序</vt:lpstr>
      <vt:lpstr>6.5  归并排序</vt:lpstr>
      <vt:lpstr>6.5  归并排序</vt:lpstr>
      <vt:lpstr>6.5  归并排序</vt:lpstr>
      <vt:lpstr>6.5  归并排序</vt:lpstr>
      <vt:lpstr>第六章 排序</vt:lpstr>
      <vt:lpstr>6.5.1  顺序基数排序</vt:lpstr>
      <vt:lpstr>6.5.1  顺序基数排序</vt:lpstr>
      <vt:lpstr>6.6.1  顺序基数排序</vt:lpstr>
      <vt:lpstr>6.6.1  顺序基数排序</vt:lpstr>
      <vt:lpstr>6.6.1  顺序基数排序</vt:lpstr>
      <vt:lpstr>6.6.1  顺序基数排序</vt:lpstr>
      <vt:lpstr>6.6.1  顺序基数排序</vt:lpstr>
      <vt:lpstr>6.6.1  顺序基数排序</vt:lpstr>
      <vt:lpstr>6.6.1  顺序基数排序</vt:lpstr>
      <vt:lpstr>6.6.1  顺序基数排序</vt:lpstr>
      <vt:lpstr>6.6.1  顺序基数排序</vt:lpstr>
      <vt:lpstr>6.6.2  链式基数排序</vt:lpstr>
      <vt:lpstr>6.6.2  链式基数排序</vt:lpstr>
      <vt:lpstr>6.6.2  链式基数排序</vt:lpstr>
      <vt:lpstr>6.6.2  链式基数排序</vt:lpstr>
      <vt:lpstr>6.6.2  链式基数排序</vt:lpstr>
      <vt:lpstr>第六章 排序</vt:lpstr>
      <vt:lpstr>6.7 内部排序方法的比较</vt:lpstr>
      <vt:lpstr>本章小结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数据结构 Data Structures</dc:title>
  <dc:creator>Haijun ZHANG</dc:creator>
  <cp:lastModifiedBy>大宇哥</cp:lastModifiedBy>
  <cp:revision>601</cp:revision>
  <cp:lastPrinted>2022-05-23T03:05:00Z</cp:lastPrinted>
  <dcterms:created xsi:type="dcterms:W3CDTF">2017-08-09T05:01:00Z</dcterms:created>
  <dcterms:modified xsi:type="dcterms:W3CDTF">2025-03-27T06:52:36Z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C7E10D8232FD4FB6B92DB206491C85E0_12</vt:lpwstr>
  </property>
  <property fmtid="{D5CDD505-2E9C-101B-9397-08002B2CF9AE}" pid="3" name="KSOProductBuildVer">
    <vt:lpwstr>2052-12.1.0.20305</vt:lpwstr>
  </property>
</Properties>
</file>