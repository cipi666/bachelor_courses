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88"/>
  </p:handoutMasterIdLst>
  <p:sldIdLst>
    <p:sldId id="266" r:id="rId4"/>
    <p:sldId id="268" r:id="rId6"/>
    <p:sldId id="267" r:id="rId7"/>
    <p:sldId id="494" r:id="rId8"/>
    <p:sldId id="429" r:id="rId9"/>
    <p:sldId id="270" r:id="rId10"/>
    <p:sldId id="676" r:id="rId11"/>
    <p:sldId id="677" r:id="rId12"/>
    <p:sldId id="678" r:id="rId13"/>
    <p:sldId id="679" r:id="rId14"/>
    <p:sldId id="680" r:id="rId15"/>
    <p:sldId id="681" r:id="rId16"/>
    <p:sldId id="682" r:id="rId17"/>
    <p:sldId id="683" r:id="rId18"/>
    <p:sldId id="495" r:id="rId19"/>
    <p:sldId id="497" r:id="rId20"/>
    <p:sldId id="496" r:id="rId21"/>
    <p:sldId id="498" r:id="rId22"/>
    <p:sldId id="499" r:id="rId23"/>
    <p:sldId id="500" r:id="rId24"/>
    <p:sldId id="501" r:id="rId25"/>
    <p:sldId id="502" r:id="rId26"/>
    <p:sldId id="503" r:id="rId27"/>
    <p:sldId id="504" r:id="rId28"/>
    <p:sldId id="505" r:id="rId29"/>
    <p:sldId id="507" r:id="rId30"/>
    <p:sldId id="509" r:id="rId31"/>
    <p:sldId id="508" r:id="rId32"/>
    <p:sldId id="506" r:id="rId33"/>
    <p:sldId id="510" r:id="rId34"/>
    <p:sldId id="511" r:id="rId35"/>
    <p:sldId id="514" r:id="rId36"/>
    <p:sldId id="515" r:id="rId37"/>
    <p:sldId id="516" r:id="rId38"/>
    <p:sldId id="517" r:id="rId39"/>
    <p:sldId id="518" r:id="rId40"/>
    <p:sldId id="519" r:id="rId41"/>
    <p:sldId id="520" r:id="rId42"/>
    <p:sldId id="521" r:id="rId43"/>
    <p:sldId id="522" r:id="rId44"/>
    <p:sldId id="523" r:id="rId45"/>
    <p:sldId id="524" r:id="rId46"/>
    <p:sldId id="526" r:id="rId47"/>
    <p:sldId id="527" r:id="rId48"/>
    <p:sldId id="525" r:id="rId49"/>
    <p:sldId id="529" r:id="rId50"/>
    <p:sldId id="528" r:id="rId51"/>
    <p:sldId id="530" r:id="rId52"/>
    <p:sldId id="532" r:id="rId53"/>
    <p:sldId id="531" r:id="rId54"/>
    <p:sldId id="533" r:id="rId55"/>
    <p:sldId id="534" r:id="rId56"/>
    <p:sldId id="537" r:id="rId57"/>
    <p:sldId id="538" r:id="rId58"/>
    <p:sldId id="539" r:id="rId59"/>
    <p:sldId id="512" r:id="rId60"/>
    <p:sldId id="540" r:id="rId61"/>
    <p:sldId id="542" r:id="rId62"/>
    <p:sldId id="543" r:id="rId63"/>
    <p:sldId id="544" r:id="rId64"/>
    <p:sldId id="545" r:id="rId65"/>
    <p:sldId id="546" r:id="rId66"/>
    <p:sldId id="549" r:id="rId67"/>
    <p:sldId id="696" r:id="rId68"/>
    <p:sldId id="541" r:id="rId69"/>
    <p:sldId id="551" r:id="rId70"/>
    <p:sldId id="554" r:id="rId71"/>
    <p:sldId id="685" r:id="rId72"/>
    <p:sldId id="687" r:id="rId73"/>
    <p:sldId id="688" r:id="rId74"/>
    <p:sldId id="686" r:id="rId75"/>
    <p:sldId id="556" r:id="rId76"/>
    <p:sldId id="557" r:id="rId77"/>
    <p:sldId id="560" r:id="rId78"/>
    <p:sldId id="561" r:id="rId79"/>
    <p:sldId id="563" r:id="rId80"/>
    <p:sldId id="562" r:id="rId81"/>
    <p:sldId id="564" r:id="rId82"/>
    <p:sldId id="565" r:id="rId83"/>
    <p:sldId id="566" r:id="rId84"/>
    <p:sldId id="568" r:id="rId85"/>
    <p:sldId id="569" r:id="rId86"/>
    <p:sldId id="570" r:id="rId87"/>
    <p:sldId id="571" r:id="rId88"/>
    <p:sldId id="567" r:id="rId89"/>
    <p:sldId id="572" r:id="rId90"/>
    <p:sldId id="573" r:id="rId91"/>
    <p:sldId id="574" r:id="rId92"/>
    <p:sldId id="575" r:id="rId93"/>
    <p:sldId id="576" r:id="rId94"/>
    <p:sldId id="578" r:id="rId95"/>
    <p:sldId id="577" r:id="rId96"/>
    <p:sldId id="579" r:id="rId97"/>
    <p:sldId id="580" r:id="rId98"/>
    <p:sldId id="581" r:id="rId99"/>
    <p:sldId id="582" r:id="rId100"/>
    <p:sldId id="583" r:id="rId101"/>
    <p:sldId id="584" r:id="rId102"/>
    <p:sldId id="585" r:id="rId103"/>
    <p:sldId id="586" r:id="rId104"/>
    <p:sldId id="587" r:id="rId105"/>
    <p:sldId id="588" r:id="rId106"/>
    <p:sldId id="589" r:id="rId107"/>
    <p:sldId id="590" r:id="rId108"/>
    <p:sldId id="591" r:id="rId109"/>
    <p:sldId id="592" r:id="rId110"/>
    <p:sldId id="595" r:id="rId111"/>
    <p:sldId id="596" r:id="rId112"/>
    <p:sldId id="597" r:id="rId113"/>
    <p:sldId id="593" r:id="rId114"/>
    <p:sldId id="598" r:id="rId115"/>
    <p:sldId id="599" r:id="rId116"/>
    <p:sldId id="601" r:id="rId117"/>
    <p:sldId id="602" r:id="rId118"/>
    <p:sldId id="603" r:id="rId119"/>
    <p:sldId id="604" r:id="rId120"/>
    <p:sldId id="605" r:id="rId121"/>
    <p:sldId id="606" r:id="rId122"/>
    <p:sldId id="607" r:id="rId123"/>
    <p:sldId id="608" r:id="rId124"/>
    <p:sldId id="609" r:id="rId125"/>
    <p:sldId id="610" r:id="rId126"/>
    <p:sldId id="611" r:id="rId127"/>
    <p:sldId id="612" r:id="rId128"/>
    <p:sldId id="613" r:id="rId129"/>
    <p:sldId id="614" r:id="rId130"/>
    <p:sldId id="615" r:id="rId131"/>
    <p:sldId id="616" r:id="rId132"/>
    <p:sldId id="617" r:id="rId133"/>
    <p:sldId id="618" r:id="rId134"/>
    <p:sldId id="620" r:id="rId135"/>
    <p:sldId id="621" r:id="rId136"/>
    <p:sldId id="622" r:id="rId137"/>
    <p:sldId id="623" r:id="rId138"/>
    <p:sldId id="624" r:id="rId139"/>
    <p:sldId id="625" r:id="rId140"/>
    <p:sldId id="626" r:id="rId141"/>
    <p:sldId id="627" r:id="rId142"/>
    <p:sldId id="628" r:id="rId143"/>
    <p:sldId id="629" r:id="rId144"/>
    <p:sldId id="630" r:id="rId145"/>
    <p:sldId id="631" r:id="rId146"/>
    <p:sldId id="632" r:id="rId147"/>
    <p:sldId id="633" r:id="rId148"/>
    <p:sldId id="634" r:id="rId149"/>
    <p:sldId id="635" r:id="rId150"/>
    <p:sldId id="636" r:id="rId151"/>
    <p:sldId id="637" r:id="rId152"/>
    <p:sldId id="638" r:id="rId153"/>
    <p:sldId id="639" r:id="rId154"/>
    <p:sldId id="640" r:id="rId155"/>
    <p:sldId id="641" r:id="rId156"/>
    <p:sldId id="642" r:id="rId157"/>
    <p:sldId id="643" r:id="rId158"/>
    <p:sldId id="644" r:id="rId159"/>
    <p:sldId id="645" r:id="rId160"/>
    <p:sldId id="646" r:id="rId161"/>
    <p:sldId id="647" r:id="rId162"/>
    <p:sldId id="648" r:id="rId163"/>
    <p:sldId id="651" r:id="rId164"/>
    <p:sldId id="649" r:id="rId165"/>
    <p:sldId id="654" r:id="rId166"/>
    <p:sldId id="655" r:id="rId167"/>
    <p:sldId id="652" r:id="rId168"/>
    <p:sldId id="657" r:id="rId169"/>
    <p:sldId id="659" r:id="rId170"/>
    <p:sldId id="660" r:id="rId171"/>
    <p:sldId id="661" r:id="rId172"/>
    <p:sldId id="662" r:id="rId173"/>
    <p:sldId id="663" r:id="rId174"/>
    <p:sldId id="664" r:id="rId175"/>
    <p:sldId id="667" r:id="rId176"/>
    <p:sldId id="665" r:id="rId177"/>
    <p:sldId id="668" r:id="rId178"/>
    <p:sldId id="690" r:id="rId179"/>
    <p:sldId id="691" r:id="rId180"/>
    <p:sldId id="692" r:id="rId181"/>
    <p:sldId id="689" r:id="rId182"/>
    <p:sldId id="694" r:id="rId183"/>
    <p:sldId id="666" r:id="rId184"/>
    <p:sldId id="669" r:id="rId185"/>
    <p:sldId id="670" r:id="rId186"/>
    <p:sldId id="326" r:id="rId18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1BF"/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2210" autoAdjust="0"/>
  </p:normalViewPr>
  <p:slideViewPr>
    <p:cSldViewPr showGuides="1">
      <p:cViewPr varScale="1">
        <p:scale>
          <a:sx n="72" d="100"/>
          <a:sy n="72" d="100"/>
        </p:scale>
        <p:origin x="1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1" Type="http://schemas.openxmlformats.org/officeDocument/2006/relationships/tableStyles" Target="tableStyles.xml"/><Relationship Id="rId190" Type="http://schemas.openxmlformats.org/officeDocument/2006/relationships/viewProps" Target="viewProps.xml"/><Relationship Id="rId19" Type="http://schemas.openxmlformats.org/officeDocument/2006/relationships/slide" Target="slides/slide15.xml"/><Relationship Id="rId189" Type="http://schemas.openxmlformats.org/officeDocument/2006/relationships/presProps" Target="presProps.xml"/><Relationship Id="rId188" Type="http://schemas.openxmlformats.org/officeDocument/2006/relationships/handoutMaster" Target="handoutMasters/handoutMaster1.xml"/><Relationship Id="rId187" Type="http://schemas.openxmlformats.org/officeDocument/2006/relationships/slide" Target="slides/slide183.xml"/><Relationship Id="rId186" Type="http://schemas.openxmlformats.org/officeDocument/2006/relationships/slide" Target="slides/slide182.xml"/><Relationship Id="rId185" Type="http://schemas.openxmlformats.org/officeDocument/2006/relationships/slide" Target="slides/slide181.xml"/><Relationship Id="rId184" Type="http://schemas.openxmlformats.org/officeDocument/2006/relationships/slide" Target="slides/slide180.xml"/><Relationship Id="rId183" Type="http://schemas.openxmlformats.org/officeDocument/2006/relationships/slide" Target="slides/slide179.xml"/><Relationship Id="rId182" Type="http://schemas.openxmlformats.org/officeDocument/2006/relationships/slide" Target="slides/slide178.xml"/><Relationship Id="rId181" Type="http://schemas.openxmlformats.org/officeDocument/2006/relationships/slide" Target="slides/slide177.xml"/><Relationship Id="rId180" Type="http://schemas.openxmlformats.org/officeDocument/2006/relationships/slide" Target="slides/slide176.xml"/><Relationship Id="rId18" Type="http://schemas.openxmlformats.org/officeDocument/2006/relationships/slide" Target="slides/slide14.xml"/><Relationship Id="rId179" Type="http://schemas.openxmlformats.org/officeDocument/2006/relationships/slide" Target="slides/slide175.xml"/><Relationship Id="rId178" Type="http://schemas.openxmlformats.org/officeDocument/2006/relationships/slide" Target="slides/slide174.xml"/><Relationship Id="rId177" Type="http://schemas.openxmlformats.org/officeDocument/2006/relationships/slide" Target="slides/slide173.xml"/><Relationship Id="rId176" Type="http://schemas.openxmlformats.org/officeDocument/2006/relationships/slide" Target="slides/slide172.xml"/><Relationship Id="rId175" Type="http://schemas.openxmlformats.org/officeDocument/2006/relationships/slide" Target="slides/slide171.xml"/><Relationship Id="rId174" Type="http://schemas.openxmlformats.org/officeDocument/2006/relationships/slide" Target="slides/slide170.xml"/><Relationship Id="rId173" Type="http://schemas.openxmlformats.org/officeDocument/2006/relationships/slide" Target="slides/slide169.xml"/><Relationship Id="rId172" Type="http://schemas.openxmlformats.org/officeDocument/2006/relationships/slide" Target="slides/slide168.xml"/><Relationship Id="rId171" Type="http://schemas.openxmlformats.org/officeDocument/2006/relationships/slide" Target="slides/slide167.xml"/><Relationship Id="rId170" Type="http://schemas.openxmlformats.org/officeDocument/2006/relationships/slide" Target="slides/slide166.xml"/><Relationship Id="rId17" Type="http://schemas.openxmlformats.org/officeDocument/2006/relationships/slide" Target="slides/slide13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167" Type="http://schemas.openxmlformats.org/officeDocument/2006/relationships/slide" Target="slides/slide163.xml"/><Relationship Id="rId166" Type="http://schemas.openxmlformats.org/officeDocument/2006/relationships/slide" Target="slides/slide162.xml"/><Relationship Id="rId165" Type="http://schemas.openxmlformats.org/officeDocument/2006/relationships/slide" Target="slides/slide161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161" Type="http://schemas.openxmlformats.org/officeDocument/2006/relationships/slide" Target="slides/slide157.xml"/><Relationship Id="rId160" Type="http://schemas.openxmlformats.org/officeDocument/2006/relationships/slide" Target="slides/slide156.xml"/><Relationship Id="rId16" Type="http://schemas.openxmlformats.org/officeDocument/2006/relationships/slide" Target="slides/slide12.xml"/><Relationship Id="rId159" Type="http://schemas.openxmlformats.org/officeDocument/2006/relationships/slide" Target="slides/slide155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3334-8B19-41FD-BA5B-2CDDAB13B5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231CD-A0B8-4499-BF13-ACF9615008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26617-0DE9-4FCC-BA51-2984BBE673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ADF5C-0B53-4BD5-BF19-A16D1C70E8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7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8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7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8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9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0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2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实际中，还有建立一个存储路径的矩阵。。。</a:t>
            </a:r>
            <a:r>
              <a:rPr lang="en-US" altLang="zh-CN" dirty="0"/>
              <a:t>Path</a:t>
            </a:r>
            <a:r>
              <a:rPr lang="zh-CN" altLang="en-US" dirty="0"/>
              <a:t>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负权的情况怎么样。。。</a:t>
            </a:r>
            <a:endParaRPr lang="en-US" altLang="zh-CN" dirty="0"/>
          </a:p>
          <a:p>
            <a:r>
              <a:rPr lang="zh-CN" altLang="en-US" dirty="0"/>
              <a:t>无向图情况一样。。。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079D-CFFA-4F08-8E22-62FFA90E3B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354-D639-4261-ABCB-1D25F4DABC0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B0D7-8552-4C25-9BF6-4DBFBD0BDC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28DA-F9AB-4C16-A1F1-C93190DB805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B10A-17A2-44E4-826D-87BA82EAA77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F6DA-C656-47AD-B230-84921230BCD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345C-5DEA-4608-B915-9345BAB4A48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EFDC-584B-498F-9F7C-AD08A1AC475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74BE-8951-44F8-A305-70500E7B6E0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8A9EC-509A-483E-A1BC-350B9716955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2AE7-1590-4A2D-8D51-CB1BDF68A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85C0B-ABC1-4025-A0E6-D5DD19A46A60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7BC3-9737-46EE-B3AD-6631BE4122B8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456D8-C064-4489-B507-91AC848BD459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87338" y="1628775"/>
            <a:ext cx="4351337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1075" y="1628775"/>
            <a:ext cx="4352925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CFA3A-2541-482E-A3DE-5B9E1243163E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3FE15-7DE4-4C62-9833-54603FDAFD8C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39E3C-1183-4F5A-9A26-BF964FD76038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0D3D7-CEB0-4637-994D-0034139A67B4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D7BCA-1DAD-49CA-9DF6-7541FC0A45AC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C5824-7A47-42F7-B2FC-9BACFC988A53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E435E-3E5B-495D-97CF-70899317125B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31025" y="692150"/>
            <a:ext cx="2212975" cy="55451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692150"/>
            <a:ext cx="6491287" cy="55451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C135D-E832-4C2A-AC9A-76A3FE4DCFC7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87338" y="692150"/>
            <a:ext cx="8856662" cy="5545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635375" y="630872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082D1-96EA-4F02-8DA1-6F00F632F249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A481B-BE8D-40CB-A248-C0F09C0D12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79588" name="标题占位符 8"/>
          <p:cNvSpPr>
            <a:spLocks noGrp="1"/>
          </p:cNvSpPr>
          <p:nvPr>
            <p:ph type="title"/>
          </p:nvPr>
        </p:nvSpPr>
        <p:spPr bwMode="auto">
          <a:xfrm>
            <a:off x="468313" y="692150"/>
            <a:ext cx="82296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579589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287338" y="1628775"/>
            <a:ext cx="8856662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3635375" y="6308725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91DCB3-83DD-4360-986F-99A82B6A4B5A}" type="datetime1">
              <a:rPr lang="zh-CN" altLang="en-US" smtClean="0">
                <a:solidFill>
                  <a:srgbClr val="04617B">
                    <a:shade val="90000"/>
                  </a:srgbClr>
                </a:solidFill>
              </a:rPr>
            </a:fld>
            <a:endParaRPr lang="zh-CN" altLang="en-US">
              <a:solidFill>
                <a:srgbClr val="04617B">
                  <a:shade val="90000"/>
                </a:srgbClr>
              </a:solidFill>
            </a:endParaRPr>
          </a:p>
        </p:txBody>
      </p:sp>
      <p:pic>
        <p:nvPicPr>
          <p:cNvPr id="579591" name="Picture 7" descr="F)`73Y7(9L}CDDI(MMI]OGR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CFFFF"/>
              </a:clrFrom>
              <a:clrTo>
                <a:srgbClr val="FC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05550"/>
            <a:ext cx="2390775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9592" name="Text Box 8"/>
          <p:cNvSpPr txBox="1">
            <a:spLocks noChangeArrowheads="1"/>
          </p:cNvSpPr>
          <p:nvPr/>
        </p:nvSpPr>
        <p:spPr bwMode="auto">
          <a:xfrm>
            <a:off x="5940425" y="0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9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章 图</a:t>
            </a:r>
            <a:endParaRPr kumimoji="1" lang="zh-CN" altLang="en-US" sz="2800" b="1" dirty="0">
              <a:solidFill>
                <a:srgbClr val="66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79593" name="Text Box 9"/>
          <p:cNvSpPr txBox="1">
            <a:spLocks noChangeArrowheads="1"/>
          </p:cNvSpPr>
          <p:nvPr userDrawn="1"/>
        </p:nvSpPr>
        <p:spPr bwMode="auto">
          <a:xfrm>
            <a:off x="8496300" y="6491288"/>
            <a:ext cx="647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fld id="{ABED8FDE-ACCC-4040-933C-A484FD3F0EFC}" type="slidenum">
              <a:rPr kumimoji="1" lang="en-US" altLang="zh-CN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</a:fld>
            <a:endParaRPr kumimoji="1"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FF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38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914400" indent="-24638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4pPr>
      <a:lvl5pPr marL="1462405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5pPr>
      <a:lvl6pPr marL="1919605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6pPr>
      <a:lvl7pPr marL="2376805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7pPr>
      <a:lvl8pPr marL="2834005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8pPr>
      <a:lvl9pPr marL="3291205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hyperlink" Target="7-2-1.swf" TargetMode="External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hyperlink" Target="DFS.swf" TargetMode="External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hyperlink" Target="DFSL.swf" TargetMode="External"/><Relationship Id="rId1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2.xml"/><Relationship Id="rId3" Type="http://schemas.openxmlformats.org/officeDocument/2006/relationships/hyperlink" Target="&#38750;&#36830;&#36890;&#22270;&#30340;&#36941;&#21382;.swf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2.xml"/><Relationship Id="rId3" Type="http://schemas.openxmlformats.org/officeDocument/2006/relationships/hyperlink" Target="7-3-4.swf" TargetMode="External"/><Relationship Id="rId2" Type="http://schemas.openxmlformats.org/officeDocument/2006/relationships/hyperlink" Target="BFS.swf" TargetMode="Externa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2.xml"/><Relationship Id="rId2" Type="http://schemas.openxmlformats.org/officeDocument/2006/relationships/hyperlink" Target="BFSL.swf" TargetMode="External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4.xml"/><Relationship Id="rId3" Type="http://schemas.openxmlformats.org/officeDocument/2006/relationships/slideLayout" Target="../slideLayouts/slideLayout2.xml"/><Relationship Id="rId2" Type="http://schemas.openxmlformats.org/officeDocument/2006/relationships/slide" Target="slide73.xml"/><Relationship Id="rId1" Type="http://schemas.openxmlformats.org/officeDocument/2006/relationships/image" Target="../media/image4.pn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2.xml"/><Relationship Id="rId2" Type="http://schemas.openxmlformats.org/officeDocument/2006/relationships/hyperlink" Target="prim.swf" TargetMode="External"/><Relationship Id="rId1" Type="http://schemas.openxmlformats.org/officeDocument/2006/relationships/image" Target="../media/image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oleObject" Target="../embeddings/oleObject8.bin"/><Relationship Id="rId7" Type="http://schemas.openxmlformats.org/officeDocument/2006/relationships/oleObject" Target="../embeddings/oleObject7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Relationship Id="rId3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3" Type="http://schemas.openxmlformats.org/officeDocument/2006/relationships/notesSlide" Target="../notesSlides/notesSlide98.xml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.xml"/><Relationship Id="rId10" Type="http://schemas.openxmlformats.org/officeDocument/2006/relationships/oleObject" Target="../embeddings/oleObject9.bin"/><Relationship Id="rId1" Type="http://schemas.openxmlformats.org/officeDocument/2006/relationships/image" Target="../media/image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0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1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3.xml"/><Relationship Id="rId3" Type="http://schemas.openxmlformats.org/officeDocument/2006/relationships/slideLayout" Target="../slideLayouts/slideLayout2.xml"/><Relationship Id="rId2" Type="http://schemas.openxmlformats.org/officeDocument/2006/relationships/hyperlink" Target="Kruskal.swf" TargetMode="External"/><Relationship Id="rId1" Type="http://schemas.openxmlformats.org/officeDocument/2006/relationships/image" Target="../media/image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8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25299;&#25169;.swf" TargetMode="External"/><Relationship Id="rId1" Type="http://schemas.openxmlformats.org/officeDocument/2006/relationships/image" Target="../media/image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6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image" Target="../media/image4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1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5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4.png"/></Relationships>
</file>

<file path=ppt/slides/_rels/slide1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4.png"/></Relationships>
</file>

<file path=ppt/slides/_rels/slide1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7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4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9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4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e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27.e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4" Type="http://schemas.openxmlformats.org/officeDocument/2006/relationships/notesSlide" Target="../notesSlides/notesSlide141.xml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9.emf"/><Relationship Id="rId10" Type="http://schemas.openxmlformats.org/officeDocument/2006/relationships/oleObject" Target="../embeddings/oleObject18.bin"/><Relationship Id="rId1" Type="http://schemas.openxmlformats.org/officeDocument/2006/relationships/image" Target="../media/image4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8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30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2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1" Type="http://schemas.openxmlformats.org/officeDocument/2006/relationships/image" Target="../media/image4.png"/></Relationships>
</file>

<file path=ppt/slides/_rels/slide1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4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6.wmf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34.wmf"/><Relationship Id="rId2" Type="http://schemas.openxmlformats.org/officeDocument/2006/relationships/oleObject" Target="../embeddings/oleObject21.bin"/><Relationship Id="rId10" Type="http://schemas.openxmlformats.org/officeDocument/2006/relationships/notesSlide" Target="../notesSlides/notesSlide165.xml"/><Relationship Id="rId1" Type="http://schemas.openxmlformats.org/officeDocument/2006/relationships/image" Target="../media/image4.png"/></Relationships>
</file>

<file path=ppt/slides/_rels/slide16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9.wmf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37.wmf"/><Relationship Id="rId2" Type="http://schemas.openxmlformats.org/officeDocument/2006/relationships/oleObject" Target="../embeddings/oleObject24.bin"/><Relationship Id="rId10" Type="http://schemas.openxmlformats.org/officeDocument/2006/relationships/notesSlide" Target="../notesSlides/notesSlide166.xml"/><Relationship Id="rId1" Type="http://schemas.openxmlformats.org/officeDocument/2006/relationships/image" Target="../media/image4.png"/></Relationships>
</file>

<file path=ppt/slides/_rels/slide1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7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26368;&#30701;&#36335;&#32463;.swf" TargetMode="External"/><Relationship Id="rId1" Type="http://schemas.openxmlformats.org/officeDocument/2006/relationships/image" Target="../media/image4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image" Target="../media/image40.png"/></Relationships>
</file>

<file path=ppt/slides/_rels/slide17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.png"/></Relationships>
</file>

<file path=ppt/slides/_rels/slide1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oleObject" Target="../embeddings/oleObject30.bin"/><Relationship Id="rId7" Type="http://schemas.openxmlformats.org/officeDocument/2006/relationships/image" Target="../media/image49.wmf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8.bin"/><Relationship Id="rId3" Type="http://schemas.openxmlformats.org/officeDocument/2006/relationships/image" Target="../media/image47.wmf"/><Relationship Id="rId2" Type="http://schemas.openxmlformats.org/officeDocument/2006/relationships/oleObject" Target="../embeddings/oleObject27.bin"/><Relationship Id="rId12" Type="http://schemas.openxmlformats.org/officeDocument/2006/relationships/notesSlide" Target="../notesSlides/notesSlide180.xml"/><Relationship Id="rId11" Type="http://schemas.openxmlformats.org/officeDocument/2006/relationships/vmlDrawing" Target="../drawings/vmlDrawing11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ttp://www.hitsz.edu.cn/UserFiles/banner/large/149818999395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2009"/>
            <a:ext cx="9144000" cy="34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968" y="1905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600" b="1" dirty="0">
                <a:solidFill>
                  <a:srgbClr val="FF0000"/>
                </a:solidFill>
              </a:rPr>
              <a:t>第</a:t>
            </a:r>
            <a:r>
              <a:rPr lang="en-US" altLang="zh-CN" sz="6600" b="1" dirty="0">
                <a:solidFill>
                  <a:srgbClr val="FF0000"/>
                </a:solidFill>
              </a:rPr>
              <a:t>9</a:t>
            </a:r>
            <a:r>
              <a:rPr lang="zh-CN" altLang="en-US" sz="6600" b="1" dirty="0">
                <a:solidFill>
                  <a:srgbClr val="FF0000"/>
                </a:solidFill>
              </a:rPr>
              <a:t>章 图（</a:t>
            </a:r>
            <a:r>
              <a:rPr lang="en-US" altLang="zh-CN" sz="6600" b="1" dirty="0">
                <a:solidFill>
                  <a:srgbClr val="FF0000"/>
                </a:solidFill>
              </a:rPr>
              <a:t>1</a:t>
            </a:r>
            <a:r>
              <a:rPr lang="zh-CN" altLang="en-US" sz="6600" b="1" dirty="0">
                <a:solidFill>
                  <a:srgbClr val="FF0000"/>
                </a:solidFill>
              </a:rPr>
              <a:t>）</a:t>
            </a:r>
            <a:br>
              <a:rPr lang="en-US" altLang="zh-CN" sz="6600" b="1" dirty="0">
                <a:solidFill>
                  <a:srgbClr val="FF0000"/>
                </a:solidFill>
              </a:rPr>
            </a:br>
            <a:r>
              <a:rPr lang="en-US" altLang="zh-CN" sz="6600" b="1" dirty="0">
                <a:solidFill>
                  <a:srgbClr val="FF0000"/>
                </a:solidFill>
              </a:rPr>
              <a:t>          </a:t>
            </a:r>
            <a:r>
              <a:rPr lang="en-US" altLang="zh-CN" sz="4900" b="1" dirty="0">
                <a:solidFill>
                  <a:srgbClr val="FF0000"/>
                </a:solidFill>
              </a:rPr>
              <a:t>——</a:t>
            </a:r>
            <a:r>
              <a:rPr lang="zh-CN" altLang="en-US" sz="4900" b="1" dirty="0">
                <a:solidFill>
                  <a:srgbClr val="FF0000"/>
                </a:solidFill>
              </a:rPr>
              <a:t>图的基本问题和算法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75FD-4998-4868-A54E-7FFACC1A1B0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9.1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（集合与图论）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（集合与图论讲部分）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（集合与图论讲部分）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ECAB-0D5B-413E-A9A5-A9235AB348F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本章知识点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图的类型定义</a:t>
            </a:r>
            <a:r>
              <a:rPr lang="zh-CN" altLang="en-US" sz="2800" kern="0" dirty="0">
                <a:solidFill>
                  <a:srgbClr val="FF0000"/>
                </a:solidFill>
                <a:latin typeface="Arial" panose="020B0604020202020204" pitchFamily="34" charset="0"/>
              </a:rPr>
              <a:t>（集合与图论）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图的存储表示</a:t>
            </a:r>
            <a:r>
              <a:rPr lang="zh-CN" altLang="en-US" sz="2800" kern="0" dirty="0">
                <a:solidFill>
                  <a:srgbClr val="FF0000"/>
                </a:solidFill>
                <a:latin typeface="Arial" panose="020B0604020202020204" pitchFamily="34" charset="0"/>
              </a:rPr>
              <a:t>（集合与图论讲过矩阵的存储）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图的深度优先搜索遍历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图的广度优先搜索遍历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无向网的最小生成树</a:t>
            </a:r>
            <a:r>
              <a:rPr lang="zh-CN" altLang="en-US" sz="2800" kern="0" dirty="0">
                <a:solidFill>
                  <a:srgbClr val="FF0000"/>
                </a:solidFill>
                <a:latin typeface="Arial" panose="020B0604020202020204" pitchFamily="34" charset="0"/>
              </a:rPr>
              <a:t>（集合与图论）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最短路径</a:t>
            </a:r>
            <a:r>
              <a:rPr lang="zh-CN" altLang="en-US" sz="2800" kern="0" dirty="0">
                <a:solidFill>
                  <a:srgbClr val="FF0000"/>
                </a:solidFill>
                <a:latin typeface="Arial" panose="020B0604020202020204" pitchFamily="34" charset="0"/>
              </a:rPr>
              <a:t>（集合与图论讲过</a:t>
            </a:r>
            <a:r>
              <a:rPr lang="en-US" altLang="zh-CN" sz="2800" kern="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kern="0" dirty="0">
                <a:solidFill>
                  <a:srgbClr val="0000FF"/>
                </a:solidFill>
                <a:latin typeface="Arial" panose="020B0604020202020204" pitchFamily="34" charset="0"/>
              </a:rPr>
              <a:t>单源最短路径</a:t>
            </a:r>
            <a:r>
              <a:rPr lang="zh-CN" altLang="en-US" sz="2800" kern="0" dirty="0">
                <a:solidFill>
                  <a:srgbClr val="FF0000"/>
                </a:solidFill>
                <a:latin typeface="Arial" panose="020B0604020202020204" pitchFamily="34" charset="0"/>
              </a:rPr>
              <a:t>）</a:t>
            </a:r>
            <a:endParaRPr lang="en-US" altLang="zh-CN" sz="2800" kern="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拓扑排序</a:t>
            </a:r>
            <a:endParaRPr lang="zh-CN" altLang="en-US" sz="2800" b="1" kern="0" dirty="0">
              <a:solidFill>
                <a:srgbClr val="0707F9"/>
              </a:solidFill>
              <a:latin typeface="Constantia" panose="02030602050306030303"/>
            </a:endParaRPr>
          </a:p>
          <a:p>
            <a:pPr lvl="0" fontAlgn="base">
              <a:lnSpc>
                <a:spcPct val="115000"/>
              </a:lnSpc>
              <a:spcAft>
                <a:spcPct val="0"/>
              </a:spcAft>
              <a:buClr>
                <a:srgbClr val="3333FF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800" b="1" kern="0" dirty="0">
                <a:solidFill>
                  <a:srgbClr val="0707F9"/>
                </a:solidFill>
                <a:latin typeface="Constantia" panose="02030602050306030303"/>
              </a:rPr>
              <a:t>关键路径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255A-36DB-4CDF-BC92-47933830D9C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本章难点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最小生成树的算法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（集合与图论）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拓扑排序的算法；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关键路径算法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求最短路径的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Dijkstra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算法和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Floyed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算法。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（集合与图论）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54356-0BB7-446F-8CF3-8814C333422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6EB7-FA4B-4537-81FB-CED74D6582E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图的抽象数据类型定义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CAD1-4C8E-4DEC-837F-7EBF923F313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781050" y="1901825"/>
            <a:ext cx="7561263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ADT Graph {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数据对象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数据关系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基本操作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 ADT Graph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81000" y="2441575"/>
            <a:ext cx="7961313" cy="1127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是具有相同特征的数据元素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的集合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顶点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集。  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086100" y="3917950"/>
            <a:ext cx="5040313" cy="2160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R={VR}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VR={&lt;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&gt;︱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v,w∈V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&lt;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表示从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弧头、弧尾、弧、有向图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72A9-2CFC-4083-94F4-B207F279C27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911626"/>
            <a:ext cx="7543800" cy="21605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&gt;∈ {VR}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表示从顶点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到顶点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的一条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弧尾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，称顶点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弧头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由顶点集和弧集构成的图称作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有向图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213571"/>
            <a:ext cx="26670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边、无向图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FBFE-C708-41F7-9E70-9D5957D2FAE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911626"/>
            <a:ext cx="7543800" cy="16435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&gt;∈ {VR}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，必有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w,v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&gt;∈ {VR}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之间存在一条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边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由顶点集和边集构成的图称作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无向图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02034"/>
            <a:ext cx="27622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网、子图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2ED20-B075-4741-9509-11D11675010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685800" y="1911626"/>
                <a:ext cx="7543800" cy="26776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弧或边带权的图分别称作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有向网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或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无向网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。</a:t>
                </a:r>
                <a:endPara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设图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G=(V,{VR})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和图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G’=(V’,{VR’}),</a:t>
                </a:r>
                <a:endPara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且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V’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0707F9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m:t></m:t>
                    </m:r>
                  </m:oMath>
                </a14:m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V, VR’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0707F9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m:t></m:t>
                    </m:r>
                  </m:oMath>
                </a14:m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VR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，</a:t>
                </a:r>
                <a:endPara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则称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G’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为</a:t>
                </a:r>
                <a:r>
                  <a:rPr kumimoji="1"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G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的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子图</a:t>
                </a:r>
                <a:r>
                  <a:rPr kumimoji="1"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。</a:t>
                </a:r>
                <a:endPara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16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911626"/>
                <a:ext cx="75438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t="-10" b="-1560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完全图、稀疏图、稠密图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8DC0-B252-44B3-A970-AC978A8D915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911626"/>
            <a:ext cx="7543800" cy="422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假设图中有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个顶点，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条边，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含有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e=n(n-1)/2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条边的无向图称作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完全图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含有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e=n(n-1)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条弧的有向图称作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有向完全图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若边或弧的个数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e&lt;nlog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稀疏图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否则称作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稠密图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邻接点、度、入度、出度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2515-12A0-4B36-A873-6DC345AF203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752600"/>
            <a:ext cx="7543800" cy="474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假若顶点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之间存在一条边，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互为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邻接点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v,w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关联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关联的边的数目定义为边的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度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对有向图来说，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以顶点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为弧尾的弧的数目定义为顶点的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出度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；以顶点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为弧头的弧的数目定义为顶点的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入度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度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(TD) =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出度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(OD) +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入度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(ID)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路径、路径长度、简单路径、简单回路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A441-A4DD-4887-915E-1E1BE470B17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752600"/>
            <a:ext cx="7543800" cy="37117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设图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G=(V,{VR})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中的一个顶点序列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{u=v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i,0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i,1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ea typeface="楷体_GB2312" pitchFamily="49" charset="-122"/>
              </a:rPr>
              <a:t>i,m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=w}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i,j-1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i,j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 ∈VR, 1&lt;=j&lt;=m,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则称从顶点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到顶点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之间存在一条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路径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路径上边的数目称作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路径长度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若序列中的顶点不重复出现，则称作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简单路径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u=w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，则称这条路径为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回路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简单回路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连通图、连通分量、强连通图、强连通分量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F5402-32C5-4643-AF9D-E5ED2897BF2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752600"/>
            <a:ext cx="7543800" cy="4038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若图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中任意两个顶点之间都有路径相通，则称作此图为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连通图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若无向图为非连通图，则图中各个极大连通子图称作此图的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连通分量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对有向图，若任意两个顶点之间都存在一条有向路径，则称此有向图为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强连通图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。否则，其各个强连通子图称作它的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强连通分量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生成树、生成森林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FDA8C-66E8-49AF-80AA-E9B1539A7F7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85800" y="1752600"/>
            <a:ext cx="7543800" cy="27515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假设一个连通图有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个顶点和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条边，其中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条边和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个顶点构成一个极小连通子图，称该极小连通子图为此连通图的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生成树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对非连通图，则称由各个连通分量的生成树的集合为此非连通图的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生成森林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图的定义和术语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1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基本操作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B524E-4190-4B90-8821-F20F329C29F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004888" y="1601827"/>
            <a:ext cx="6951662" cy="506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CreatGraph(&amp;G)    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建立图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004888" y="2222539"/>
            <a:ext cx="6303962" cy="506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DestroyGraph(&amp;G)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销毁图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042988" y="2754352"/>
            <a:ext cx="6408737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InsertVEx(&amp;G, v)  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插入顶点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019175" y="3376652"/>
            <a:ext cx="621665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DeleteVEx(&amp;G, v)  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删除顶点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019175" y="3986252"/>
            <a:ext cx="6865938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InsertArc(&amp;G, v, w)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插入弧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042988" y="4626014"/>
            <a:ext cx="6842125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DeleteArc(&amp;G, v, w)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删除弧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1042988" y="5273714"/>
            <a:ext cx="7129462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DFSTraVErse(G, v, Visit())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深度优先搜索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971550" y="5923002"/>
            <a:ext cx="741680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BFSTraVErse(G, v, Visit())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广度优先搜索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1AD4-2B94-48FE-A713-22F25FF2859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图的存储结构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9.2.1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（集合与图论）</a:t>
            </a:r>
            <a:endParaRPr kumimoji="1"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9.2.2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邻接表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------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链式存储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9.2.3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有向图的十字链表存储表示 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（了解）</a:t>
            </a:r>
            <a:endParaRPr kumimoji="1"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9.2.4 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无向图的邻接多重表存储表示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（了解）</a:t>
            </a:r>
            <a:endParaRPr kumimoji="1"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CA974-E1D6-4DCB-BA6B-115E04D4981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图的存储结构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9.2.1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（集合与图论）</a:t>
            </a:r>
            <a:endParaRPr kumimoji="1"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9.2.2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邻接表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链式存储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9.2.3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有向图的十字链表存储表示 （了解）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9.2.4 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无向图的邻接多重表存储表示（了解）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038A-E4BE-45DE-98EB-C87C8A43AB8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E981-B782-462D-9106-C443BE66311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76200" y="3286125"/>
            <a:ext cx="8932863" cy="1292225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图的存储结构</a:t>
            </a:r>
            <a:r>
              <a:rPr kumimoji="1" lang="zh-CN" altLang="en-US" sz="2600" b="1">
                <a:solidFill>
                  <a:srgbClr val="000000"/>
                </a:solidFill>
                <a:latin typeface="宋体" panose="02010600030101010101" pitchFamily="2" charset="-122"/>
              </a:rPr>
              <a:t>至少要保存两类信息：	</a:t>
            </a:r>
            <a:endParaRPr kumimoji="1" lang="zh-CN" altLang="en-US" sz="26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00"/>
                </a:solidFill>
                <a:latin typeface="宋体" panose="02010600030101010101" pitchFamily="2" charset="-122"/>
              </a:rPr>
              <a:t>           </a:t>
            </a:r>
            <a:r>
              <a:rPr kumimoji="1" lang="en-US" altLang="zh-CN" sz="2600" b="1">
                <a:solidFill>
                  <a:srgbClr val="000000"/>
                </a:solidFill>
                <a:latin typeface="宋体" panose="02010600030101010101" pitchFamily="2" charset="-122"/>
              </a:rPr>
              <a:t>1)</a:t>
            </a:r>
            <a:r>
              <a:rPr kumimoji="1" lang="zh-CN" altLang="en-US" sz="2600" b="1">
                <a:solidFill>
                  <a:srgbClr val="000000"/>
                </a:solidFill>
                <a:latin typeface="宋体" panose="02010600030101010101" pitchFamily="2" charset="-122"/>
              </a:rPr>
              <a:t>顶点的数据</a:t>
            </a:r>
            <a:endParaRPr kumimoji="1" lang="zh-CN" altLang="en-US" sz="26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00"/>
                </a:solidFill>
                <a:latin typeface="宋体" panose="02010600030101010101" pitchFamily="2" charset="-122"/>
              </a:rPr>
              <a:t>           </a:t>
            </a:r>
            <a:r>
              <a:rPr kumimoji="1" lang="en-US" altLang="zh-CN" sz="2600" b="1">
                <a:solidFill>
                  <a:srgbClr val="000000"/>
                </a:solidFill>
                <a:latin typeface="宋体" panose="02010600030101010101" pitchFamily="2" charset="-122"/>
              </a:rPr>
              <a:t>2)</a:t>
            </a:r>
            <a:r>
              <a:rPr kumimoji="1" lang="zh-CN" altLang="en-US" sz="2600" b="1">
                <a:solidFill>
                  <a:srgbClr val="000000"/>
                </a:solidFill>
                <a:latin typeface="宋体" panose="02010600030101010101" pitchFamily="2" charset="-122"/>
              </a:rPr>
              <a:t>顶点间的关系</a:t>
            </a:r>
            <a:endParaRPr kumimoji="1" lang="zh-CN" altLang="en-US" sz="26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28663" y="5462588"/>
            <a:ext cx="6767512" cy="862012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约定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: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G=&lt;V, E&gt;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是图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V={v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,v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,v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v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n-1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},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设顶点的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角标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为它的编号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Group 5"/>
          <p:cNvGrpSpPr/>
          <p:nvPr/>
        </p:nvGrpSpPr>
        <p:grpSpPr bwMode="auto">
          <a:xfrm>
            <a:off x="5022850" y="3392488"/>
            <a:ext cx="4010025" cy="1689100"/>
            <a:chOff x="3212" y="1891"/>
            <a:chExt cx="2526" cy="1064"/>
          </a:xfrm>
        </p:grpSpPr>
        <p:sp>
          <p:nvSpPr>
            <p:cNvPr id="16" name="AutoShape 6"/>
            <p:cNvSpPr>
              <a:spLocks noChangeArrowheads="1"/>
            </p:cNvSpPr>
            <p:nvPr/>
          </p:nvSpPr>
          <p:spPr bwMode="auto">
            <a:xfrm>
              <a:off x="3212" y="1891"/>
              <a:ext cx="2526" cy="768"/>
            </a:xfrm>
            <a:prstGeom prst="cloudCallout">
              <a:avLst>
                <a:gd name="adj1" fmla="val -36106"/>
                <a:gd name="adj2" fmla="val 82551"/>
              </a:avLst>
            </a:prstGeom>
            <a:solidFill>
              <a:srgbClr val="CCFFCC"/>
            </a:solidFill>
            <a:ln w="12700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DBF5F9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DBF5F9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 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如何表示顶点间的关系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DBF5F9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？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DBF5F9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DBF5F9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17" name="WordArt 7"/>
            <p:cNvSpPr>
              <a:spLocks noChangeArrowheads="1" noChangeShapeType="1"/>
            </p:cNvSpPr>
            <p:nvPr/>
          </p:nvSpPr>
          <p:spPr bwMode="auto">
            <a:xfrm>
              <a:off x="4084" y="2523"/>
              <a:ext cx="384" cy="4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30690"/>
                </a:avLst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600" b="1" i="0" u="none" strike="noStrike" kern="10" cap="none" spc="0" normalizeH="0" baseline="0" noProof="0">
                  <a:ln w="12700">
                    <a:solidFill>
                      <a:srgbClr val="008000"/>
                    </a:solidFill>
                    <a:round/>
                  </a:ln>
                  <a:solidFill>
                    <a:srgbClr val="66FF66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uLnTx/>
                  <a:uFillTx/>
                  <a:latin typeface="宋体" panose="02010600030101010101" pitchFamily="2" charset="-122"/>
                </a:rPr>
                <a:t>？</a:t>
              </a:r>
              <a:endParaRPr kumimoji="1" lang="zh-CN" altLang="en-US" sz="3600" b="1" i="0" u="none" strike="noStrike" kern="10" cap="none" spc="0" normalizeH="0" baseline="0" noProof="0">
                <a:ln w="12700">
                  <a:solidFill>
                    <a:srgbClr val="008000"/>
                  </a:solidFill>
                  <a:round/>
                </a:ln>
                <a:solidFill>
                  <a:srgbClr val="66FF66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8" name="Group 8"/>
          <p:cNvGrpSpPr/>
          <p:nvPr/>
        </p:nvGrpSpPr>
        <p:grpSpPr bwMode="auto">
          <a:xfrm>
            <a:off x="1066800" y="1509712"/>
            <a:ext cx="1790700" cy="1614488"/>
            <a:chOff x="672" y="1920"/>
            <a:chExt cx="1128" cy="1017"/>
          </a:xfrm>
        </p:grpSpPr>
        <p:grpSp>
          <p:nvGrpSpPr>
            <p:cNvPr id="19" name="Group 9"/>
            <p:cNvGrpSpPr/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35" name="Line 10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Line 11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Line 12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16"/>
            <p:cNvGrpSpPr/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33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" name="Group 19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31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Text Box 2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V4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29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Text Box 2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3" name="Group 25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27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4" name="Group 28"/>
            <p:cNvGrpSpPr/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25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30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41" name="Group 31"/>
          <p:cNvGrpSpPr/>
          <p:nvPr/>
        </p:nvGrpSpPr>
        <p:grpSpPr bwMode="auto">
          <a:xfrm>
            <a:off x="4038600" y="1357312"/>
            <a:ext cx="1866900" cy="1690688"/>
            <a:chOff x="432" y="1680"/>
            <a:chExt cx="1176" cy="1065"/>
          </a:xfrm>
        </p:grpSpPr>
        <p:sp>
          <p:nvSpPr>
            <p:cNvPr id="42" name="Line 32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3" name="Line 33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4" name="Line 34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5" name="Line 35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46" name="Group 36"/>
            <p:cNvGrpSpPr/>
            <p:nvPr/>
          </p:nvGrpSpPr>
          <p:grpSpPr bwMode="auto">
            <a:xfrm>
              <a:off x="432" y="1680"/>
              <a:ext cx="408" cy="297"/>
              <a:chOff x="432" y="1680"/>
              <a:chExt cx="408" cy="297"/>
            </a:xfrm>
          </p:grpSpPr>
          <p:sp>
            <p:nvSpPr>
              <p:cNvPr id="56" name="Oval 3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Text Box 3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47" name="Group 39"/>
            <p:cNvGrpSpPr/>
            <p:nvPr/>
          </p:nvGrpSpPr>
          <p:grpSpPr bwMode="auto">
            <a:xfrm>
              <a:off x="1200" y="1682"/>
              <a:ext cx="408" cy="297"/>
              <a:chOff x="432" y="1680"/>
              <a:chExt cx="408" cy="297"/>
            </a:xfrm>
          </p:grpSpPr>
          <p:sp>
            <p:nvSpPr>
              <p:cNvPr id="54" name="Oval 4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Text Box 4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48" name="Group 42"/>
            <p:cNvGrpSpPr/>
            <p:nvPr/>
          </p:nvGrpSpPr>
          <p:grpSpPr bwMode="auto">
            <a:xfrm>
              <a:off x="432" y="2448"/>
              <a:ext cx="408" cy="297"/>
              <a:chOff x="432" y="1680"/>
              <a:chExt cx="408" cy="297"/>
            </a:xfrm>
          </p:grpSpPr>
          <p:sp>
            <p:nvSpPr>
              <p:cNvPr id="52" name="Oval 4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Text Box 4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49" name="Group 45"/>
            <p:cNvGrpSpPr/>
            <p:nvPr/>
          </p:nvGrpSpPr>
          <p:grpSpPr bwMode="auto">
            <a:xfrm>
              <a:off x="1200" y="2448"/>
              <a:ext cx="408" cy="297"/>
              <a:chOff x="432" y="1680"/>
              <a:chExt cx="408" cy="297"/>
            </a:xfrm>
          </p:grpSpPr>
          <p:sp>
            <p:nvSpPr>
              <p:cNvPr id="50" name="Oval 46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Text Box 47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1F-4175-4234-9CD2-19B549FD51A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Box 2"/>
          <p:cNvSpPr txBox="1">
            <a:spLocks noChangeArrowheads="1"/>
          </p:cNvSpPr>
          <p:nvPr/>
        </p:nvSpPr>
        <p:spPr bwMode="auto">
          <a:xfrm>
            <a:off x="623888" y="1406525"/>
            <a:ext cx="7805737" cy="4918075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ArcCell { // </a:t>
            </a:r>
            <a:r>
              <a:rPr kumimoji="1" lang="zh-CN" altLang="en-US" sz="2800" b="1">
                <a:solidFill>
                  <a:srgbClr val="7800EE"/>
                </a:solidFill>
                <a:latin typeface="Times New Roman" panose="02020603050405020304" pitchFamily="18" charset="0"/>
                <a:ea typeface="楷体_GB2312" pitchFamily="49" charset="-122"/>
              </a:rPr>
              <a:t>弧的定义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VRType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adj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    // VRType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是顶点关系类型。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无权图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，用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表示相邻否；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带权图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，则为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权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值类型。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InfoType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*info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  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该弧相关信息的指针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} ArcCell, 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AdjMatrix[MAX_VERTEX_NUM]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[MAX_VERTEX_NUM];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1BAA-77FC-4F57-B5DF-3A88C48B3A0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85800" y="1476375"/>
            <a:ext cx="7772400" cy="4314825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{ //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图的定义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VertexType       //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顶点信息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vexs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[MAX_VERTEX_NUM]; 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AdjMatrix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arcs;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//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弧的信息                     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int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vexnum, arcnum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;   //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顶点数，弧数      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GraphKind   kind;     //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图的种类标志             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} MGraph;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7053E-EB4F-44AC-A5D6-47E41D8DD95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38200" y="1262063"/>
            <a:ext cx="7315200" cy="52149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 2" panose="05020102010507070707" pitchFamily="18" charset="2"/>
              <a:buNone/>
              <a:defRPr/>
            </a:pPr>
            <a:r>
              <a:rPr lang="zh-CN" altLang="en-US" b="1" kern="0">
                <a:solidFill>
                  <a:srgbClr val="FF0000"/>
                </a:solidFill>
                <a:latin typeface="+mn-ea"/>
              </a:rPr>
              <a:t>邻接矩阵</a:t>
            </a:r>
            <a:r>
              <a:rPr lang="zh-CN" altLang="en-US" b="1" kern="0">
                <a:solidFill>
                  <a:srgbClr val="3333FF"/>
                </a:solidFill>
                <a:latin typeface="+mn-ea"/>
              </a:rPr>
              <a:t>表示法中图的描述</a:t>
            </a:r>
            <a:endParaRPr lang="zh-CN" altLang="en-US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#define  n  6       /*</a:t>
            </a:r>
            <a:r>
              <a:rPr lang="zh-CN" altLang="en-US" b="1" kern="0">
                <a:solidFill>
                  <a:srgbClr val="3333FF"/>
                </a:solidFill>
                <a:latin typeface="+mn-ea"/>
              </a:rPr>
              <a:t>图的顶点数*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/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#define  e  8       /*</a:t>
            </a:r>
            <a:r>
              <a:rPr lang="zh-CN" altLang="en-US" b="1" kern="0">
                <a:solidFill>
                  <a:srgbClr val="3333FF"/>
                </a:solidFill>
                <a:latin typeface="+mn-ea"/>
              </a:rPr>
              <a:t>图的边数*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/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typedef char vextype;  /*</a:t>
            </a:r>
            <a:r>
              <a:rPr lang="zh-CN" altLang="en-US" b="1" kern="0">
                <a:solidFill>
                  <a:srgbClr val="3333FF"/>
                </a:solidFill>
                <a:latin typeface="+mn-ea"/>
              </a:rPr>
              <a:t>顶点的数据类型*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/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typedef float adjtype; /*</a:t>
            </a:r>
            <a:r>
              <a:rPr lang="zh-CN" altLang="en-US" b="1" kern="0">
                <a:solidFill>
                  <a:srgbClr val="3333FF"/>
                </a:solidFill>
                <a:latin typeface="+mn-ea"/>
              </a:rPr>
              <a:t>权值类型*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/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typedef struct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{ vextype </a:t>
            </a:r>
            <a:r>
              <a:rPr lang="en-US" altLang="zh-CN" b="1" kern="0">
                <a:solidFill>
                  <a:srgbClr val="FF0000"/>
                </a:solidFill>
                <a:latin typeface="+mn-ea"/>
              </a:rPr>
              <a:t>vexs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[n];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  adjtype </a:t>
            </a:r>
            <a:r>
              <a:rPr lang="en-US" altLang="zh-CN" b="1" kern="0">
                <a:solidFill>
                  <a:srgbClr val="FF0000"/>
                </a:solidFill>
                <a:latin typeface="+mn-ea"/>
              </a:rPr>
              <a:t>arcs</a:t>
            </a:r>
            <a:r>
              <a:rPr lang="en-US" altLang="zh-CN" b="1" kern="0">
                <a:solidFill>
                  <a:srgbClr val="3333FF"/>
                </a:solidFill>
                <a:latin typeface="+mn-ea"/>
              </a:rPr>
              <a:t>[n][n];</a:t>
            </a:r>
            <a:endParaRPr lang="en-US" altLang="zh-CN" kern="0">
              <a:solidFill>
                <a:srgbClr val="3333FF"/>
              </a:solidFill>
              <a:latin typeface="+mn-ea"/>
            </a:endParaRPr>
          </a:p>
          <a:p>
            <a:pPr>
              <a:buFont typeface="Wingdings 2" panose="05020102010507070707" pitchFamily="18" charset="2"/>
              <a:buNone/>
              <a:defRPr/>
            </a:pPr>
            <a:r>
              <a:rPr lang="en-US" altLang="zh-CN" b="1" kern="0">
                <a:solidFill>
                  <a:srgbClr val="3333FF"/>
                </a:solidFill>
                <a:latin typeface="+mn-ea"/>
              </a:rPr>
              <a:t>} graph;</a:t>
            </a:r>
            <a:endParaRPr lang="en-US" altLang="zh-CN" b="1" kern="0" dirty="0">
              <a:solidFill>
                <a:srgbClr val="3333FF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E69CF-82DE-44D3-9CC0-97EA01DF386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96850" y="3987800"/>
            <a:ext cx="6484938" cy="64135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zh-CN" sz="3600">
              <a:solidFill>
                <a:srgbClr val="DBF5F9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96850" y="3987800"/>
            <a:ext cx="7470775" cy="64135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zh-CN" sz="3600">
              <a:solidFill>
                <a:srgbClr val="DBF5F9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0" y="1304925"/>
            <a:ext cx="9144000" cy="45720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CC"/>
                </a:solidFill>
                <a:latin typeface="宋体" panose="02010600030101010101" pitchFamily="2" charset="-122"/>
              </a:rPr>
              <a:t>邻接矩阵</a:t>
            </a:r>
            <a:r>
              <a:rPr kumimoji="1" lang="zh-CN" altLang="en-US" sz="2400">
                <a:solidFill>
                  <a:srgbClr val="0033CC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G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的邻接矩阵是满足如下条件的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阶矩阵：          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AutoShape 5"/>
          <p:cNvSpPr/>
          <p:nvPr/>
        </p:nvSpPr>
        <p:spPr bwMode="auto">
          <a:xfrm>
            <a:off x="1406525" y="4343400"/>
            <a:ext cx="141288" cy="914400"/>
          </a:xfrm>
          <a:prstGeom prst="leftBrace">
            <a:avLst>
              <a:gd name="adj1" fmla="val 53932"/>
              <a:gd name="adj2" fmla="val 50000"/>
            </a:avLst>
          </a:prstGeom>
          <a:noFill/>
          <a:ln w="12700" cap="rnd">
            <a:noFill/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" name="Group 6"/>
          <p:cNvGrpSpPr/>
          <p:nvPr/>
        </p:nvGrpSpPr>
        <p:grpSpPr bwMode="auto">
          <a:xfrm>
            <a:off x="-4763" y="1762124"/>
            <a:ext cx="9148763" cy="1015999"/>
            <a:chOff x="-3" y="1392"/>
            <a:chExt cx="5763" cy="640"/>
          </a:xfrm>
        </p:grpSpPr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-3" y="1536"/>
              <a:ext cx="1731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A[i][j]=</a:t>
              </a:r>
              <a:endPara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1056" y="1392"/>
              <a:ext cx="4704" cy="64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  </a:t>
              </a:r>
              <a:r>
                <a:rPr kumimoji="1" lang="zh-CN" altLang="en-US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若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1" lang="en-US" altLang="zh-CN" sz="2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i</a:t>
              </a:r>
              <a:r>
                <a:rPr kumimoji="1" lang="en-US" altLang="zh-CN" sz="2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,v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j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 </a:t>
              </a:r>
              <a:r>
                <a:rPr kumimoji="1" lang="zh-CN" altLang="en-US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或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&lt;</a:t>
              </a:r>
              <a:r>
                <a:rPr kumimoji="1" lang="en-US" altLang="zh-CN" sz="2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i</a:t>
              </a:r>
              <a:r>
                <a:rPr kumimoji="1" lang="en-US" altLang="zh-CN" sz="2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,v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j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&gt;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</a:t>
              </a:r>
              <a:endParaRPr kumimoji="1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  </a:t>
              </a:r>
              <a:r>
                <a:rPr kumimoji="1" lang="zh-CN" altLang="en-US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否则</a:t>
              </a:r>
              <a:endParaRPr kumimoji="1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AutoShape 9"/>
            <p:cNvSpPr/>
            <p:nvPr/>
          </p:nvSpPr>
          <p:spPr bwMode="auto">
            <a:xfrm>
              <a:off x="1008" y="1440"/>
              <a:ext cx="44" cy="480"/>
            </a:xfrm>
            <a:prstGeom prst="leftBrace">
              <a:avLst>
                <a:gd name="adj1" fmla="val 90909"/>
                <a:gd name="adj2" fmla="val 50000"/>
              </a:avLst>
            </a:prstGeom>
            <a:noFill/>
            <a:ln w="38100" cap="rnd">
              <a:solidFill>
                <a:srgbClr val="FF66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10"/>
          <p:cNvGrpSpPr/>
          <p:nvPr/>
        </p:nvGrpSpPr>
        <p:grpSpPr bwMode="auto">
          <a:xfrm>
            <a:off x="2819400" y="2895600"/>
            <a:ext cx="3165475" cy="2209800"/>
            <a:chOff x="1418" y="2496"/>
            <a:chExt cx="1994" cy="1392"/>
          </a:xfrm>
        </p:grpSpPr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1508" y="2496"/>
              <a:ext cx="1904" cy="1392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457200" marR="0" lvl="0" indent="-45720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0  1  0  1  0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457200" marR="0" lvl="0" indent="-45720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AutoNum type="arabicPlain"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0  1  0  1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457200" marR="0" lvl="0" indent="-45720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0  1  0  1  1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457200" marR="0" lvl="0" indent="-45720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AutoNum type="arabicPlain"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0  1  0  0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  <a:p>
              <a:pPr marL="457200" marR="0" lvl="0" indent="-45720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0  1  1  0  0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3" name="AutoShape 12"/>
            <p:cNvSpPr/>
            <p:nvPr/>
          </p:nvSpPr>
          <p:spPr bwMode="auto">
            <a:xfrm>
              <a:off x="1418" y="2592"/>
              <a:ext cx="89" cy="1260"/>
            </a:xfrm>
            <a:prstGeom prst="leftBracket">
              <a:avLst>
                <a:gd name="adj" fmla="val 117978"/>
              </a:avLst>
            </a:prstGeom>
            <a:noFill/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24" name="AutoShape 13"/>
            <p:cNvSpPr/>
            <p:nvPr/>
          </p:nvSpPr>
          <p:spPr bwMode="auto">
            <a:xfrm>
              <a:off x="2880" y="2544"/>
              <a:ext cx="46" cy="1296"/>
            </a:xfrm>
            <a:prstGeom prst="rightBracket">
              <a:avLst>
                <a:gd name="adj" fmla="val 234783"/>
              </a:avLst>
            </a:prstGeom>
            <a:noFill/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19"/>
          <p:cNvGrpSpPr/>
          <p:nvPr/>
        </p:nvGrpSpPr>
        <p:grpSpPr bwMode="auto">
          <a:xfrm>
            <a:off x="609600" y="3200400"/>
            <a:ext cx="1790700" cy="1614487"/>
            <a:chOff x="672" y="1920"/>
            <a:chExt cx="1128" cy="1017"/>
          </a:xfrm>
        </p:grpSpPr>
        <p:grpSp>
          <p:nvGrpSpPr>
            <p:cNvPr id="26" name="Group 20"/>
            <p:cNvGrpSpPr/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42" name="Line 21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Line 22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23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Line 24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Line 25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40" name="Oval 2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Text Box 2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8" name="Group 30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38" name="Oval 3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Text Box 3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V4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9" name="Group 33"/>
            <p:cNvGrpSpPr/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36" name="Oval 3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Text Box 3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30" name="Group 36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34" name="Oval 37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Text Box 38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31" name="Group 39"/>
            <p:cNvGrpSpPr/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32" name="Oval 40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Text Box 41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48" name="Group 42"/>
          <p:cNvGrpSpPr/>
          <p:nvPr/>
        </p:nvGrpSpPr>
        <p:grpSpPr bwMode="auto">
          <a:xfrm>
            <a:off x="6629400" y="1838325"/>
            <a:ext cx="1866900" cy="1690687"/>
            <a:chOff x="432" y="1680"/>
            <a:chExt cx="1176" cy="1065"/>
          </a:xfrm>
        </p:grpSpPr>
        <p:sp>
          <p:nvSpPr>
            <p:cNvPr id="49" name="Line 43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53" name="Group 47"/>
            <p:cNvGrpSpPr/>
            <p:nvPr/>
          </p:nvGrpSpPr>
          <p:grpSpPr bwMode="auto">
            <a:xfrm>
              <a:off x="432" y="1680"/>
              <a:ext cx="408" cy="297"/>
              <a:chOff x="432" y="1680"/>
              <a:chExt cx="408" cy="297"/>
            </a:xfrm>
          </p:grpSpPr>
          <p:sp>
            <p:nvSpPr>
              <p:cNvPr id="63" name="Oval 4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Text Box 4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4" name="Group 50"/>
            <p:cNvGrpSpPr/>
            <p:nvPr/>
          </p:nvGrpSpPr>
          <p:grpSpPr bwMode="auto">
            <a:xfrm>
              <a:off x="1200" y="1682"/>
              <a:ext cx="408" cy="297"/>
              <a:chOff x="432" y="1680"/>
              <a:chExt cx="408" cy="297"/>
            </a:xfrm>
          </p:grpSpPr>
          <p:sp>
            <p:nvSpPr>
              <p:cNvPr id="61" name="Oval 5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Text Box 5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5" name="Group 53"/>
            <p:cNvGrpSpPr/>
            <p:nvPr/>
          </p:nvGrpSpPr>
          <p:grpSpPr bwMode="auto">
            <a:xfrm>
              <a:off x="432" y="2448"/>
              <a:ext cx="408" cy="297"/>
              <a:chOff x="432" y="1680"/>
              <a:chExt cx="408" cy="297"/>
            </a:xfrm>
          </p:grpSpPr>
          <p:sp>
            <p:nvSpPr>
              <p:cNvPr id="59" name="Oval 5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Text Box 5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 bwMode="auto">
            <a:xfrm>
              <a:off x="1200" y="2448"/>
              <a:ext cx="408" cy="297"/>
              <a:chOff x="432" y="1680"/>
              <a:chExt cx="408" cy="297"/>
            </a:xfrm>
          </p:grpSpPr>
          <p:sp>
            <p:nvSpPr>
              <p:cNvPr id="57" name="Oval 5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Text Box 5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65" name="Rectangle 60"/>
          <p:cNvSpPr>
            <a:spLocks noChangeArrowheads="1"/>
          </p:cNvSpPr>
          <p:nvPr/>
        </p:nvSpPr>
        <p:spPr bwMode="auto">
          <a:xfrm>
            <a:off x="936625" y="5410200"/>
            <a:ext cx="6707188" cy="104028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无向图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的邻接矩阵是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对称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的，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有向图的邻接矩阵可能是不对称的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0E9F-5B4D-4603-B5FC-FE7119E7EB2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52438" y="1320800"/>
            <a:ext cx="8234362" cy="4376583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邻接矩阵</a:t>
            </a:r>
            <a:r>
              <a:rPr kumimoji="1" lang="zh-CN" altLang="en-US" sz="2800" b="1" dirty="0">
                <a:latin typeface="宋体" panose="02010600030101010101" pitchFamily="2" charset="-122"/>
                <a:ea typeface="隶书" panose="02010509060101010101" pitchFamily="49" charset="-122"/>
              </a:rPr>
              <a:t>表示法特点</a:t>
            </a:r>
            <a:r>
              <a:rPr kumimoji="1" lang="zh-CN" altLang="en-US" sz="2400" b="1" dirty="0">
                <a:solidFill>
                  <a:srgbClr val="006600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：</a:t>
            </a:r>
            <a:endParaRPr kumimoji="1" lang="zh-CN" altLang="en-US" sz="2400" b="1" dirty="0">
              <a:solidFill>
                <a:srgbClr val="006600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  <a:p>
            <a:pPr marL="342900" indent="-342900" eaLnBrk="0" fontAlgn="base" hangingPunct="0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  <a:buClr>
                <a:srgbClr val="3333FF"/>
              </a:buClr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判断两顶点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v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是否为邻接点：只需判二维数组对应分量是否为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  <a:buClr>
                <a:srgbClr val="3333FF"/>
              </a:buClr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顶点不变，在图中增加、删除边：只需对二维数组对应分量赋值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或清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  <a:buClr>
                <a:srgbClr val="3333FF"/>
              </a:buClr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在有向图中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统计第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行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的个数可得顶点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的出度，统计第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列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的个数可得顶点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的入度。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40000"/>
              </a:lnSpc>
              <a:spcBef>
                <a:spcPct val="10000"/>
              </a:spcBef>
              <a:spcAft>
                <a:spcPct val="0"/>
              </a:spcAft>
              <a:buClr>
                <a:srgbClr val="3333FF"/>
              </a:buClr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在无向图中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统计第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行 (列) 1 的个数可得顶点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的度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网络的邻接矩阵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FDCE-5B1F-4E9A-8D2C-5ECA923BE82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3"/>
          <p:cNvGrpSpPr/>
          <p:nvPr/>
        </p:nvGrpSpPr>
        <p:grpSpPr bwMode="auto">
          <a:xfrm>
            <a:off x="285750" y="2036763"/>
            <a:ext cx="9148763" cy="1087437"/>
            <a:chOff x="-3" y="1392"/>
            <a:chExt cx="5763" cy="399"/>
          </a:xfrm>
        </p:grpSpPr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-3" y="1536"/>
              <a:ext cx="1731" cy="167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A[i][j]=</a:t>
              </a:r>
              <a:endPara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1056" y="1392"/>
              <a:ext cx="4704" cy="391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kumimoji="1" lang="en-US" altLang="zh-CN" sz="26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ij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kumimoji="1"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若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1" lang="en-US" altLang="zh-CN" sz="2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6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i</a:t>
              </a:r>
              <a:r>
                <a:rPr kumimoji="1" lang="en-US" altLang="zh-CN" sz="2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,v</a:t>
              </a:r>
              <a:r>
                <a:rPr kumimoji="1" lang="en-US" altLang="zh-CN" sz="26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j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 </a:t>
              </a:r>
              <a:r>
                <a:rPr kumimoji="1"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或 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&lt;</a:t>
              </a:r>
              <a:r>
                <a:rPr kumimoji="1" lang="en-US" altLang="zh-CN" sz="2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6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i</a:t>
              </a:r>
              <a:r>
                <a:rPr kumimoji="1" lang="en-US" altLang="zh-CN" sz="2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,v</a:t>
              </a:r>
              <a:r>
                <a:rPr kumimoji="1" lang="en-US" altLang="zh-CN" sz="2600" b="1" baseline="-25000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j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&gt;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</a:t>
              </a:r>
              <a:endParaRPr kumimoji="1"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或      否则  </a:t>
              </a:r>
              <a:endParaRPr kumimoji="1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AutoShape 6"/>
            <p:cNvSpPr/>
            <p:nvPr/>
          </p:nvSpPr>
          <p:spPr bwMode="auto">
            <a:xfrm>
              <a:off x="1008" y="1440"/>
              <a:ext cx="44" cy="351"/>
            </a:xfrm>
            <a:prstGeom prst="leftBrace">
              <a:avLst>
                <a:gd name="adj1" fmla="val 90926"/>
                <a:gd name="adj2" fmla="val 50000"/>
              </a:avLst>
            </a:prstGeom>
            <a:noFill/>
            <a:ln w="38100" cap="rnd">
              <a:solidFill>
                <a:srgbClr val="FF66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6205538" y="2911475"/>
          <a:ext cx="1533525" cy="284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9" name="公式" r:id="rId2" imgW="114300" imgH="215900" progId="Equation.3">
                  <p:embed/>
                </p:oleObj>
              </mc:Choice>
              <mc:Fallback>
                <p:oleObj name="公式" r:id="rId2" imgW="114300" imgH="215900" progId="Equation.3">
                  <p:embed/>
                  <p:pic>
                    <p:nvPicPr>
                      <p:cNvPr id="0" name="图片 15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38" y="2911475"/>
                        <a:ext cx="1533525" cy="284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0" y="376396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2857500" y="2624138"/>
          <a:ext cx="5048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0" name="公式" r:id="rId4" imgW="152400" imgH="127000" progId="Equation.3">
                  <p:embed/>
                </p:oleObj>
              </mc:Choice>
              <mc:Fallback>
                <p:oleObj name="公式" r:id="rId4" imgW="152400" imgH="127000" progId="Equation.3">
                  <p:embed/>
                  <p:pic>
                    <p:nvPicPr>
                      <p:cNvPr id="0" name="图片 15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624138"/>
                        <a:ext cx="504825" cy="430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Oval 2"/>
          <p:cNvSpPr>
            <a:spLocks noChangeArrowheads="1"/>
          </p:cNvSpPr>
          <p:nvPr/>
        </p:nvSpPr>
        <p:spPr bwMode="auto">
          <a:xfrm>
            <a:off x="1135063" y="37195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Oval 3"/>
          <p:cNvSpPr>
            <a:spLocks noChangeArrowheads="1"/>
          </p:cNvSpPr>
          <p:nvPr/>
        </p:nvSpPr>
        <p:spPr bwMode="auto">
          <a:xfrm>
            <a:off x="296863" y="46339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Oval 4"/>
          <p:cNvSpPr>
            <a:spLocks noChangeArrowheads="1"/>
          </p:cNvSpPr>
          <p:nvPr/>
        </p:nvSpPr>
        <p:spPr bwMode="auto">
          <a:xfrm>
            <a:off x="2735263" y="40243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1058863" y="57007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Oval 6"/>
          <p:cNvSpPr>
            <a:spLocks noChangeArrowheads="1"/>
          </p:cNvSpPr>
          <p:nvPr/>
        </p:nvSpPr>
        <p:spPr bwMode="auto">
          <a:xfrm>
            <a:off x="1744663" y="46339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 flipV="1">
            <a:off x="754063" y="4176713"/>
            <a:ext cx="45720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8"/>
          <p:cNvSpPr>
            <a:spLocks noChangeShapeType="1"/>
          </p:cNvSpPr>
          <p:nvPr/>
        </p:nvSpPr>
        <p:spPr bwMode="auto">
          <a:xfrm>
            <a:off x="601663" y="5167313"/>
            <a:ext cx="5334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3937000" y="3419475"/>
          <a:ext cx="4992688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1" name="公式" r:id="rId6" imgW="2184400" imgH="1371600" progId="Equation.3">
                  <p:embed/>
                </p:oleObj>
              </mc:Choice>
              <mc:Fallback>
                <p:oleObj name="公式" r:id="rId6" imgW="2184400" imgH="1371600" progId="Equation.3">
                  <p:embed/>
                  <p:pic>
                    <p:nvPicPr>
                      <p:cNvPr id="0" name="图片 155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3419475"/>
                        <a:ext cx="4992688" cy="298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val 11"/>
          <p:cNvSpPr>
            <a:spLocks noChangeArrowheads="1"/>
          </p:cNvSpPr>
          <p:nvPr/>
        </p:nvSpPr>
        <p:spPr bwMode="auto">
          <a:xfrm>
            <a:off x="2659063" y="5548313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1592263" y="4176713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 flipV="1">
            <a:off x="1516063" y="5167313"/>
            <a:ext cx="3810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 flipV="1">
            <a:off x="2201863" y="4329113"/>
            <a:ext cx="5334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Line 15"/>
          <p:cNvSpPr>
            <a:spLocks noChangeShapeType="1"/>
          </p:cNvSpPr>
          <p:nvPr/>
        </p:nvSpPr>
        <p:spPr bwMode="auto">
          <a:xfrm>
            <a:off x="2201863" y="5091113"/>
            <a:ext cx="53340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501650" y="417671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17"/>
          <p:cNvSpPr txBox="1">
            <a:spLocks noChangeArrowheads="1"/>
          </p:cNvSpPr>
          <p:nvPr/>
        </p:nvSpPr>
        <p:spPr bwMode="auto">
          <a:xfrm>
            <a:off x="420688" y="531971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30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1258888" y="524351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1716088" y="417671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40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2249488" y="452596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70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21"/>
          <p:cNvSpPr txBox="1">
            <a:spLocks noChangeArrowheads="1"/>
          </p:cNvSpPr>
          <p:nvPr/>
        </p:nvSpPr>
        <p:spPr bwMode="auto">
          <a:xfrm>
            <a:off x="2097088" y="5287963"/>
            <a:ext cx="6096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80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邻接矩阵（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Matrix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树的存储：</a:t>
            </a:r>
            <a:endParaRPr lang="en-US" altLang="zh-CN" sz="2800" dirty="0"/>
          </a:p>
          <a:p>
            <a:pPr lvl="1"/>
            <a:r>
              <a:rPr lang="zh-CN" altLang="en-US" sz="2400" dirty="0"/>
              <a:t>双亲表示法；</a:t>
            </a:r>
            <a:endParaRPr lang="en-US" altLang="zh-CN" sz="2400" dirty="0"/>
          </a:p>
          <a:p>
            <a:pPr lvl="1"/>
            <a:r>
              <a:rPr lang="zh-CN" altLang="en-US" sz="2400" dirty="0"/>
              <a:t>孩子链表表示法；</a:t>
            </a:r>
            <a:endParaRPr lang="en-US" altLang="zh-CN" sz="2400" dirty="0"/>
          </a:p>
          <a:p>
            <a:pPr lvl="1"/>
            <a:r>
              <a:rPr lang="zh-CN" altLang="en-US" sz="2400" dirty="0"/>
              <a:t>双亲孩子表示法；</a:t>
            </a:r>
            <a:endParaRPr lang="en-US" altLang="zh-CN" sz="2400" dirty="0"/>
          </a:p>
          <a:p>
            <a:pPr lvl="1"/>
            <a:r>
              <a:rPr lang="zh-CN" altLang="en-US" sz="2400" dirty="0"/>
              <a:t>孩子兄弟表示法</a:t>
            </a:r>
            <a:r>
              <a:rPr lang="en-US" altLang="zh-CN" sz="2400" dirty="0"/>
              <a:t>—</a:t>
            </a:r>
            <a:r>
              <a:rPr lang="zh-CN" altLang="en-US" sz="2400" dirty="0"/>
              <a:t>树的二叉链表</a:t>
            </a:r>
            <a:endParaRPr lang="zh-CN" altLang="en-US" sz="2400" dirty="0"/>
          </a:p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47CE-A38F-40AC-B392-6BD9174FCD2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资料带 12"/>
          <p:cNvSpPr/>
          <p:nvPr/>
        </p:nvSpPr>
        <p:spPr bwMode="auto">
          <a:xfrm>
            <a:off x="2320724" y="3962400"/>
            <a:ext cx="5357812" cy="1857375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树的存储给图的存储的启示？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图的存储结构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9.2.1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顺序存储（集合与图论）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9.2.2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邻接表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------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链式存储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9.2.3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有向图的十字链表存储表示 （了解）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9.2.4 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无向图的邻接多重表存储表示（了解）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828-AB23-4FFB-A357-4DA4F9C72CA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2E14-ABA5-448E-8517-24D38D9DC2D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149"/>
          <p:cNvGraphicFramePr>
            <a:graphicFrameLocks noGrp="1"/>
          </p:cNvGraphicFramePr>
          <p:nvPr/>
        </p:nvGraphicFramePr>
        <p:xfrm>
          <a:off x="2640013" y="4048125"/>
          <a:ext cx="863600" cy="33178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148"/>
          <p:cNvGraphicFramePr>
            <a:graphicFrameLocks noGrp="1"/>
          </p:cNvGraphicFramePr>
          <p:nvPr/>
        </p:nvGraphicFramePr>
        <p:xfrm>
          <a:off x="2640013" y="4648200"/>
          <a:ext cx="863600" cy="360363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28"/>
          <p:cNvSpPr>
            <a:spLocks noChangeShapeType="1"/>
          </p:cNvSpPr>
          <p:nvPr/>
        </p:nvSpPr>
        <p:spPr bwMode="auto">
          <a:xfrm>
            <a:off x="3359150" y="4868863"/>
            <a:ext cx="576263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6" name="Group 147"/>
          <p:cNvGraphicFramePr>
            <a:graphicFrameLocks noGrp="1"/>
          </p:cNvGraphicFramePr>
          <p:nvPr/>
        </p:nvGraphicFramePr>
        <p:xfrm>
          <a:off x="3910013" y="4652963"/>
          <a:ext cx="863600" cy="33178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146"/>
          <p:cNvGraphicFramePr>
            <a:graphicFrameLocks noGrp="1"/>
          </p:cNvGraphicFramePr>
          <p:nvPr/>
        </p:nvGraphicFramePr>
        <p:xfrm>
          <a:off x="2640013" y="5364163"/>
          <a:ext cx="863600" cy="360362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Line 45"/>
          <p:cNvSpPr>
            <a:spLocks noChangeShapeType="1"/>
          </p:cNvSpPr>
          <p:nvPr/>
        </p:nvSpPr>
        <p:spPr bwMode="auto">
          <a:xfrm>
            <a:off x="3359150" y="5584825"/>
            <a:ext cx="576263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145"/>
          <p:cNvGraphicFramePr>
            <a:graphicFrameLocks noGrp="1"/>
          </p:cNvGraphicFramePr>
          <p:nvPr/>
        </p:nvGraphicFramePr>
        <p:xfrm>
          <a:off x="3910013" y="5368925"/>
          <a:ext cx="863600" cy="336550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44"/>
          <p:cNvGraphicFramePr>
            <a:graphicFrameLocks noGrp="1"/>
          </p:cNvGraphicFramePr>
          <p:nvPr/>
        </p:nvGraphicFramePr>
        <p:xfrm>
          <a:off x="2640013" y="6011863"/>
          <a:ext cx="863600" cy="360363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62"/>
          <p:cNvGraphicFramePr>
            <a:graphicFrameLocks noGrp="1"/>
          </p:cNvGraphicFramePr>
          <p:nvPr/>
        </p:nvGraphicFramePr>
        <p:xfrm>
          <a:off x="1174750" y="3328988"/>
          <a:ext cx="960437" cy="3024185"/>
        </p:xfrm>
        <a:graphic>
          <a:graphicData uri="http://schemas.openxmlformats.org/drawingml/2006/table">
            <a:tbl>
              <a:tblPr/>
              <a:tblGrid>
                <a:gridCol w="481012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Line 82"/>
          <p:cNvSpPr>
            <a:spLocks noChangeShapeType="1"/>
          </p:cNvSpPr>
          <p:nvPr/>
        </p:nvSpPr>
        <p:spPr bwMode="auto">
          <a:xfrm>
            <a:off x="1893888" y="426402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83"/>
          <p:cNvSpPr>
            <a:spLocks noChangeShapeType="1"/>
          </p:cNvSpPr>
          <p:nvPr/>
        </p:nvSpPr>
        <p:spPr bwMode="auto">
          <a:xfrm>
            <a:off x="1992313" y="48688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84"/>
          <p:cNvSpPr>
            <a:spLocks noChangeShapeType="1"/>
          </p:cNvSpPr>
          <p:nvPr/>
        </p:nvSpPr>
        <p:spPr bwMode="auto">
          <a:xfrm>
            <a:off x="1992313" y="5516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85"/>
          <p:cNvSpPr>
            <a:spLocks noChangeShapeType="1"/>
          </p:cNvSpPr>
          <p:nvPr/>
        </p:nvSpPr>
        <p:spPr bwMode="auto">
          <a:xfrm>
            <a:off x="1919288" y="6165850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6" name="Group 86"/>
          <p:cNvGraphicFramePr>
            <a:graphicFrameLocks noGrp="1"/>
          </p:cNvGraphicFramePr>
          <p:nvPr/>
        </p:nvGraphicFramePr>
        <p:xfrm>
          <a:off x="3911600" y="4048125"/>
          <a:ext cx="863600" cy="403225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Group 94"/>
          <p:cNvGraphicFramePr>
            <a:graphicFrameLocks noGrp="1"/>
          </p:cNvGraphicFramePr>
          <p:nvPr/>
        </p:nvGraphicFramePr>
        <p:xfrm>
          <a:off x="5278438" y="4005263"/>
          <a:ext cx="863600" cy="403225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Line 102"/>
          <p:cNvSpPr>
            <a:spLocks noChangeShapeType="1"/>
          </p:cNvSpPr>
          <p:nvPr/>
        </p:nvSpPr>
        <p:spPr bwMode="auto">
          <a:xfrm>
            <a:off x="3262313" y="430847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103"/>
          <p:cNvSpPr>
            <a:spLocks noChangeShapeType="1"/>
          </p:cNvSpPr>
          <p:nvPr/>
        </p:nvSpPr>
        <p:spPr bwMode="auto">
          <a:xfrm>
            <a:off x="4630738" y="426561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0" name="Group 143"/>
          <p:cNvGraphicFramePr>
            <a:graphicFrameLocks noGrp="1"/>
          </p:cNvGraphicFramePr>
          <p:nvPr/>
        </p:nvGraphicFramePr>
        <p:xfrm>
          <a:off x="3935413" y="6021388"/>
          <a:ext cx="863600" cy="33178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Line 112"/>
          <p:cNvSpPr>
            <a:spLocks noChangeShapeType="1"/>
          </p:cNvSpPr>
          <p:nvPr/>
        </p:nvSpPr>
        <p:spPr bwMode="auto">
          <a:xfrm>
            <a:off x="3359150" y="6237288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2" name="Group 113"/>
          <p:cNvGraphicFramePr>
            <a:graphicFrameLocks noGrp="1"/>
          </p:cNvGraphicFramePr>
          <p:nvPr/>
        </p:nvGraphicFramePr>
        <p:xfrm>
          <a:off x="5207000" y="6021388"/>
          <a:ext cx="863600" cy="403225"/>
        </p:xfrm>
        <a:graphic>
          <a:graphicData uri="http://schemas.openxmlformats.org/drawingml/2006/table">
            <a:tbl>
              <a:tblPr/>
              <a:tblGrid>
                <a:gridCol w="287337"/>
                <a:gridCol w="576263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" name="Line 121"/>
          <p:cNvSpPr>
            <a:spLocks noChangeShapeType="1"/>
          </p:cNvSpPr>
          <p:nvPr/>
        </p:nvSpPr>
        <p:spPr bwMode="auto">
          <a:xfrm>
            <a:off x="4557713" y="6281738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Text Box 122"/>
          <p:cNvSpPr txBox="1">
            <a:spLocks noChangeArrowheads="1"/>
          </p:cNvSpPr>
          <p:nvPr/>
        </p:nvSpPr>
        <p:spPr bwMode="auto">
          <a:xfrm>
            <a:off x="454025" y="3328988"/>
            <a:ext cx="431800" cy="2992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124"/>
          <p:cNvSpPr txBox="1">
            <a:spLocks noChangeArrowheads="1"/>
          </p:cNvSpPr>
          <p:nvPr/>
        </p:nvSpPr>
        <p:spPr bwMode="auto">
          <a:xfrm>
            <a:off x="2760433" y="3502223"/>
            <a:ext cx="516167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边表</a:t>
            </a:r>
            <a:endParaRPr kumimoji="1" lang="zh-CN" altLang="en-US" sz="20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6" name="Text Box 125"/>
          <p:cNvSpPr txBox="1">
            <a:spLocks noChangeArrowheads="1"/>
          </p:cNvSpPr>
          <p:nvPr/>
        </p:nvSpPr>
        <p:spPr bwMode="auto">
          <a:xfrm>
            <a:off x="1283149" y="3045023"/>
            <a:ext cx="774251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顶点表</a:t>
            </a:r>
            <a:endParaRPr kumimoji="1" lang="zh-CN" altLang="en-US" sz="20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762000" y="1680061"/>
            <a:ext cx="7399337" cy="1348061"/>
          </a:xfrm>
          <a:prstGeom prst="rect">
            <a:avLst/>
          </a:prstGeom>
          <a:noFill/>
          <a:ln w="12700" cap="rnd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有向图的邻接表（出度）</a:t>
            </a:r>
            <a:endParaRPr kumimoji="1"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914400" lvl="1" indent="-4572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顶点：用一维数组存储（按编号顺序）</a:t>
            </a:r>
            <a:endParaRPr kumimoji="1"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914400" lvl="1" indent="-4572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以同一顶点为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起点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的弧：用线性链表存储</a:t>
            </a:r>
            <a:endParaRPr kumimoji="1"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Line 130"/>
          <p:cNvSpPr>
            <a:spLocks noChangeShapeType="1"/>
          </p:cNvSpPr>
          <p:nvPr/>
        </p:nvSpPr>
        <p:spPr bwMode="auto">
          <a:xfrm>
            <a:off x="7094538" y="5141913"/>
            <a:ext cx="1008062" cy="93662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9" name="Line 131"/>
          <p:cNvSpPr>
            <a:spLocks noChangeShapeType="1"/>
          </p:cNvSpPr>
          <p:nvPr/>
        </p:nvSpPr>
        <p:spPr bwMode="auto">
          <a:xfrm flipH="1">
            <a:off x="7021513" y="5172075"/>
            <a:ext cx="1587" cy="7620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0" name="Line 132"/>
          <p:cNvSpPr>
            <a:spLocks noChangeShapeType="1"/>
          </p:cNvSpPr>
          <p:nvPr/>
        </p:nvSpPr>
        <p:spPr bwMode="auto">
          <a:xfrm>
            <a:off x="7254875" y="5010150"/>
            <a:ext cx="7556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1" name="Line 133"/>
          <p:cNvSpPr>
            <a:spLocks noChangeShapeType="1"/>
          </p:cNvSpPr>
          <p:nvPr/>
        </p:nvSpPr>
        <p:spPr bwMode="auto">
          <a:xfrm flipH="1">
            <a:off x="8245475" y="5214938"/>
            <a:ext cx="0" cy="71913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2" name="Oval 134"/>
          <p:cNvSpPr>
            <a:spLocks noChangeArrowheads="1"/>
          </p:cNvSpPr>
          <p:nvPr/>
        </p:nvSpPr>
        <p:spPr bwMode="auto">
          <a:xfrm>
            <a:off x="6805613" y="4786313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35"/>
          <p:cNvSpPr txBox="1">
            <a:spLocks noChangeArrowheads="1"/>
          </p:cNvSpPr>
          <p:nvPr/>
        </p:nvSpPr>
        <p:spPr bwMode="auto">
          <a:xfrm>
            <a:off x="6734175" y="4816475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V1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4" name="Oval 136"/>
          <p:cNvSpPr>
            <a:spLocks noChangeArrowheads="1"/>
          </p:cNvSpPr>
          <p:nvPr/>
        </p:nvSpPr>
        <p:spPr bwMode="auto">
          <a:xfrm>
            <a:off x="7945438" y="5922963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Oval 137"/>
          <p:cNvSpPr>
            <a:spLocks noChangeArrowheads="1"/>
          </p:cNvSpPr>
          <p:nvPr/>
        </p:nvSpPr>
        <p:spPr bwMode="auto">
          <a:xfrm>
            <a:off x="6802438" y="5922963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138"/>
          <p:cNvSpPr txBox="1">
            <a:spLocks noChangeArrowheads="1"/>
          </p:cNvSpPr>
          <p:nvPr/>
        </p:nvSpPr>
        <p:spPr bwMode="auto">
          <a:xfrm>
            <a:off x="6735763" y="5962650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V3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7" name="Oval 139"/>
          <p:cNvSpPr>
            <a:spLocks noChangeArrowheads="1"/>
          </p:cNvSpPr>
          <p:nvPr/>
        </p:nvSpPr>
        <p:spPr bwMode="auto">
          <a:xfrm>
            <a:off x="7939088" y="4781550"/>
            <a:ext cx="468312" cy="466725"/>
          </a:xfrm>
          <a:prstGeom prst="ellipse">
            <a:avLst/>
          </a:prstGeom>
          <a:solidFill>
            <a:srgbClr val="DBF5F9"/>
          </a:solidFill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 Box 140"/>
          <p:cNvSpPr txBox="1">
            <a:spLocks noChangeArrowheads="1"/>
          </p:cNvSpPr>
          <p:nvPr/>
        </p:nvSpPr>
        <p:spPr bwMode="auto">
          <a:xfrm>
            <a:off x="7885113" y="4818063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V2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9" name="Line 141"/>
          <p:cNvSpPr>
            <a:spLocks noChangeShapeType="1"/>
          </p:cNvSpPr>
          <p:nvPr/>
        </p:nvSpPr>
        <p:spPr bwMode="auto">
          <a:xfrm>
            <a:off x="7239000" y="6215063"/>
            <a:ext cx="719138" cy="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Text Box 142"/>
          <p:cNvSpPr txBox="1">
            <a:spLocks noChangeArrowheads="1"/>
          </p:cNvSpPr>
          <p:nvPr/>
        </p:nvSpPr>
        <p:spPr bwMode="auto">
          <a:xfrm>
            <a:off x="7886700" y="5962650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V4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1" grpId="0" animBg="1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BD1A6-45CE-4A4B-AD5D-E7BAC16B1BE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149"/>
          <p:cNvGraphicFramePr>
            <a:graphicFrameLocks noGrp="1"/>
          </p:cNvGraphicFramePr>
          <p:nvPr/>
        </p:nvGraphicFramePr>
        <p:xfrm>
          <a:off x="2535238" y="3262312"/>
          <a:ext cx="863600" cy="33178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148"/>
          <p:cNvGraphicFramePr>
            <a:graphicFrameLocks noGrp="1"/>
          </p:cNvGraphicFramePr>
          <p:nvPr/>
        </p:nvGraphicFramePr>
        <p:xfrm>
          <a:off x="2535238" y="3862387"/>
          <a:ext cx="863600" cy="360363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28"/>
          <p:cNvSpPr>
            <a:spLocks noChangeShapeType="1"/>
          </p:cNvSpPr>
          <p:nvPr/>
        </p:nvSpPr>
        <p:spPr bwMode="auto">
          <a:xfrm>
            <a:off x="3254375" y="4083050"/>
            <a:ext cx="576263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6" name="Group 147"/>
          <p:cNvGraphicFramePr>
            <a:graphicFrameLocks noGrp="1"/>
          </p:cNvGraphicFramePr>
          <p:nvPr/>
        </p:nvGraphicFramePr>
        <p:xfrm>
          <a:off x="3805238" y="3867150"/>
          <a:ext cx="863600" cy="33178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146"/>
          <p:cNvGraphicFramePr>
            <a:graphicFrameLocks noGrp="1"/>
          </p:cNvGraphicFramePr>
          <p:nvPr/>
        </p:nvGraphicFramePr>
        <p:xfrm>
          <a:off x="2535238" y="4578350"/>
          <a:ext cx="863600" cy="360362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Line 45"/>
          <p:cNvSpPr>
            <a:spLocks noChangeShapeType="1"/>
          </p:cNvSpPr>
          <p:nvPr/>
        </p:nvSpPr>
        <p:spPr bwMode="auto">
          <a:xfrm>
            <a:off x="3254375" y="4799012"/>
            <a:ext cx="576263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145"/>
          <p:cNvGraphicFramePr>
            <a:graphicFrameLocks noGrp="1"/>
          </p:cNvGraphicFramePr>
          <p:nvPr/>
        </p:nvGraphicFramePr>
        <p:xfrm>
          <a:off x="3805238" y="4583112"/>
          <a:ext cx="863600" cy="336550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144"/>
          <p:cNvGraphicFramePr>
            <a:graphicFrameLocks noGrp="1"/>
          </p:cNvGraphicFramePr>
          <p:nvPr/>
        </p:nvGraphicFramePr>
        <p:xfrm>
          <a:off x="2535238" y="5226050"/>
          <a:ext cx="863600" cy="360362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603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62"/>
          <p:cNvGraphicFramePr>
            <a:graphicFrameLocks noGrp="1"/>
          </p:cNvGraphicFramePr>
          <p:nvPr/>
        </p:nvGraphicFramePr>
        <p:xfrm>
          <a:off x="1069975" y="2543175"/>
          <a:ext cx="960437" cy="3024185"/>
        </p:xfrm>
        <a:graphic>
          <a:graphicData uri="http://schemas.openxmlformats.org/drawingml/2006/table">
            <a:tbl>
              <a:tblPr/>
              <a:tblGrid>
                <a:gridCol w="481012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Line 82"/>
          <p:cNvSpPr>
            <a:spLocks noChangeShapeType="1"/>
          </p:cNvSpPr>
          <p:nvPr/>
        </p:nvSpPr>
        <p:spPr bwMode="auto">
          <a:xfrm>
            <a:off x="1789113" y="3478212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83"/>
          <p:cNvSpPr>
            <a:spLocks noChangeShapeType="1"/>
          </p:cNvSpPr>
          <p:nvPr/>
        </p:nvSpPr>
        <p:spPr bwMode="auto">
          <a:xfrm>
            <a:off x="1887538" y="408305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84"/>
          <p:cNvSpPr>
            <a:spLocks noChangeShapeType="1"/>
          </p:cNvSpPr>
          <p:nvPr/>
        </p:nvSpPr>
        <p:spPr bwMode="auto">
          <a:xfrm>
            <a:off x="1887538" y="473075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85"/>
          <p:cNvSpPr>
            <a:spLocks noChangeShapeType="1"/>
          </p:cNvSpPr>
          <p:nvPr/>
        </p:nvSpPr>
        <p:spPr bwMode="auto">
          <a:xfrm>
            <a:off x="1814513" y="5380037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6" name="Group 86"/>
          <p:cNvGraphicFramePr>
            <a:graphicFrameLocks noGrp="1"/>
          </p:cNvGraphicFramePr>
          <p:nvPr/>
        </p:nvGraphicFramePr>
        <p:xfrm>
          <a:off x="3806825" y="3262312"/>
          <a:ext cx="863600" cy="403225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Group 94"/>
          <p:cNvGraphicFramePr>
            <a:graphicFrameLocks noGrp="1"/>
          </p:cNvGraphicFramePr>
          <p:nvPr/>
        </p:nvGraphicFramePr>
        <p:xfrm>
          <a:off x="5173663" y="3219450"/>
          <a:ext cx="863600" cy="403225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Line 102"/>
          <p:cNvSpPr>
            <a:spLocks noChangeShapeType="1"/>
          </p:cNvSpPr>
          <p:nvPr/>
        </p:nvSpPr>
        <p:spPr bwMode="auto">
          <a:xfrm>
            <a:off x="3157538" y="3522662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103"/>
          <p:cNvSpPr>
            <a:spLocks noChangeShapeType="1"/>
          </p:cNvSpPr>
          <p:nvPr/>
        </p:nvSpPr>
        <p:spPr bwMode="auto">
          <a:xfrm>
            <a:off x="4525963" y="347980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0" name="Group 143"/>
          <p:cNvGraphicFramePr>
            <a:graphicFrameLocks noGrp="1"/>
          </p:cNvGraphicFramePr>
          <p:nvPr/>
        </p:nvGraphicFramePr>
        <p:xfrm>
          <a:off x="3830638" y="5235575"/>
          <a:ext cx="863600" cy="33178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331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Line 112"/>
          <p:cNvSpPr>
            <a:spLocks noChangeShapeType="1"/>
          </p:cNvSpPr>
          <p:nvPr/>
        </p:nvSpPr>
        <p:spPr bwMode="auto">
          <a:xfrm>
            <a:off x="3254375" y="545147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2" name="Group 113"/>
          <p:cNvGraphicFramePr>
            <a:graphicFrameLocks noGrp="1"/>
          </p:cNvGraphicFramePr>
          <p:nvPr/>
        </p:nvGraphicFramePr>
        <p:xfrm>
          <a:off x="5102225" y="5235575"/>
          <a:ext cx="863600" cy="403225"/>
        </p:xfrm>
        <a:graphic>
          <a:graphicData uri="http://schemas.openxmlformats.org/drawingml/2006/table">
            <a:tbl>
              <a:tblPr/>
              <a:tblGrid>
                <a:gridCol w="287337"/>
                <a:gridCol w="576263"/>
              </a:tblGrid>
              <a:tr h="4032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" name="Line 121"/>
          <p:cNvSpPr>
            <a:spLocks noChangeShapeType="1"/>
          </p:cNvSpPr>
          <p:nvPr/>
        </p:nvSpPr>
        <p:spPr bwMode="auto">
          <a:xfrm>
            <a:off x="4452938" y="549592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Text Box 122"/>
          <p:cNvSpPr txBox="1">
            <a:spLocks noChangeArrowheads="1"/>
          </p:cNvSpPr>
          <p:nvPr/>
        </p:nvSpPr>
        <p:spPr bwMode="auto">
          <a:xfrm>
            <a:off x="349250" y="2543175"/>
            <a:ext cx="431800" cy="2992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123"/>
          <p:cNvSpPr txBox="1">
            <a:spLocks noChangeArrowheads="1"/>
          </p:cNvSpPr>
          <p:nvPr/>
        </p:nvSpPr>
        <p:spPr bwMode="auto">
          <a:xfrm>
            <a:off x="514350" y="1226403"/>
            <a:ext cx="7715250" cy="83099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讨论：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如何求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无向图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邻接表中第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个顶点的度？图的总度数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边数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?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124"/>
          <p:cNvSpPr txBox="1">
            <a:spLocks noChangeArrowheads="1"/>
          </p:cNvSpPr>
          <p:nvPr/>
        </p:nvSpPr>
        <p:spPr bwMode="auto">
          <a:xfrm>
            <a:off x="2582863" y="2554287"/>
            <a:ext cx="619125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</a:rPr>
              <a:t>边表</a:t>
            </a:r>
            <a:endParaRPr kumimoji="1" lang="zh-CN" altLang="en-US" sz="24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7" name="Text Box 125"/>
          <p:cNvSpPr txBox="1">
            <a:spLocks noChangeArrowheads="1"/>
          </p:cNvSpPr>
          <p:nvPr/>
        </p:nvSpPr>
        <p:spPr bwMode="auto">
          <a:xfrm>
            <a:off x="1069975" y="2125662"/>
            <a:ext cx="92868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</a:rPr>
              <a:t>顶点表</a:t>
            </a:r>
            <a:endParaRPr kumimoji="1" lang="zh-CN" altLang="en-US" sz="24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8" name="Line 130"/>
          <p:cNvSpPr>
            <a:spLocks noChangeShapeType="1"/>
          </p:cNvSpPr>
          <p:nvPr/>
        </p:nvSpPr>
        <p:spPr bwMode="auto">
          <a:xfrm>
            <a:off x="6989763" y="4141787"/>
            <a:ext cx="1008062" cy="93662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9" name="Line 131"/>
          <p:cNvSpPr>
            <a:spLocks noChangeShapeType="1"/>
          </p:cNvSpPr>
          <p:nvPr/>
        </p:nvSpPr>
        <p:spPr bwMode="auto">
          <a:xfrm flipH="1">
            <a:off x="6916738" y="4171950"/>
            <a:ext cx="1587" cy="7620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0" name="Line 132"/>
          <p:cNvSpPr>
            <a:spLocks noChangeShapeType="1"/>
          </p:cNvSpPr>
          <p:nvPr/>
        </p:nvSpPr>
        <p:spPr bwMode="auto">
          <a:xfrm>
            <a:off x="7150100" y="4010025"/>
            <a:ext cx="7556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1" name="Line 133"/>
          <p:cNvSpPr>
            <a:spLocks noChangeShapeType="1"/>
          </p:cNvSpPr>
          <p:nvPr/>
        </p:nvSpPr>
        <p:spPr bwMode="auto">
          <a:xfrm flipH="1">
            <a:off x="8140700" y="4214812"/>
            <a:ext cx="0" cy="71913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2" name="Oval 134"/>
          <p:cNvSpPr>
            <a:spLocks noChangeArrowheads="1"/>
          </p:cNvSpPr>
          <p:nvPr/>
        </p:nvSpPr>
        <p:spPr bwMode="auto">
          <a:xfrm>
            <a:off x="6700838" y="3786187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35"/>
          <p:cNvSpPr txBox="1">
            <a:spLocks noChangeArrowheads="1"/>
          </p:cNvSpPr>
          <p:nvPr/>
        </p:nvSpPr>
        <p:spPr bwMode="auto">
          <a:xfrm>
            <a:off x="6629400" y="3816350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V1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4" name="Oval 136"/>
          <p:cNvSpPr>
            <a:spLocks noChangeArrowheads="1"/>
          </p:cNvSpPr>
          <p:nvPr/>
        </p:nvSpPr>
        <p:spPr bwMode="auto">
          <a:xfrm>
            <a:off x="7840663" y="4922837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Oval 137"/>
          <p:cNvSpPr>
            <a:spLocks noChangeArrowheads="1"/>
          </p:cNvSpPr>
          <p:nvPr/>
        </p:nvSpPr>
        <p:spPr bwMode="auto">
          <a:xfrm>
            <a:off x="6697663" y="4922837"/>
            <a:ext cx="458787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138"/>
          <p:cNvSpPr txBox="1">
            <a:spLocks noChangeArrowheads="1"/>
          </p:cNvSpPr>
          <p:nvPr/>
        </p:nvSpPr>
        <p:spPr bwMode="auto">
          <a:xfrm>
            <a:off x="6630988" y="4962525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V3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7" name="Oval 139"/>
          <p:cNvSpPr>
            <a:spLocks noChangeArrowheads="1"/>
          </p:cNvSpPr>
          <p:nvPr/>
        </p:nvSpPr>
        <p:spPr bwMode="auto">
          <a:xfrm>
            <a:off x="7834313" y="3781425"/>
            <a:ext cx="468312" cy="466725"/>
          </a:xfrm>
          <a:prstGeom prst="ellipse">
            <a:avLst/>
          </a:prstGeom>
          <a:solidFill>
            <a:srgbClr val="DBF5F9"/>
          </a:solidFill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 Box 140"/>
          <p:cNvSpPr txBox="1">
            <a:spLocks noChangeArrowheads="1"/>
          </p:cNvSpPr>
          <p:nvPr/>
        </p:nvSpPr>
        <p:spPr bwMode="auto">
          <a:xfrm>
            <a:off x="7780338" y="3817937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V2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9" name="Line 141"/>
          <p:cNvSpPr>
            <a:spLocks noChangeShapeType="1"/>
          </p:cNvSpPr>
          <p:nvPr/>
        </p:nvSpPr>
        <p:spPr bwMode="auto">
          <a:xfrm>
            <a:off x="7134225" y="5214937"/>
            <a:ext cx="719138" cy="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Text Box 142"/>
          <p:cNvSpPr txBox="1">
            <a:spLocks noChangeArrowheads="1"/>
          </p:cNvSpPr>
          <p:nvPr/>
        </p:nvSpPr>
        <p:spPr bwMode="auto">
          <a:xfrm>
            <a:off x="7781925" y="4962525"/>
            <a:ext cx="6477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V4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1" name="Text Box 106"/>
          <p:cNvSpPr txBox="1">
            <a:spLocks noChangeArrowheads="1"/>
          </p:cNvSpPr>
          <p:nvPr/>
        </p:nvSpPr>
        <p:spPr bwMode="auto">
          <a:xfrm>
            <a:off x="474662" y="5638800"/>
            <a:ext cx="8135938" cy="1138773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顶点的度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：第</a:t>
            </a:r>
            <a:r>
              <a:rPr kumimoji="1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个顶点的边链表结点个数之和； 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图的总度数：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所有边链表结点个数之和；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图的边数：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所有边链表结点个数之和的一半。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7B5E0-E241-48F3-BC86-32215A0BB1D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6410325" y="4044950"/>
            <a:ext cx="1223963" cy="9366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6481763" y="5126037"/>
            <a:ext cx="936625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7778750" y="4765675"/>
            <a:ext cx="503238" cy="2873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 flipH="1" flipV="1">
            <a:off x="7850188" y="4044950"/>
            <a:ext cx="576262" cy="5048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 flipV="1">
            <a:off x="6338888" y="4260850"/>
            <a:ext cx="1223962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cxnSp>
        <p:nvCxnSpPr>
          <p:cNvPr id="18" name="AutoShape 13"/>
          <p:cNvCxnSpPr>
            <a:cxnSpLocks noChangeShapeType="1"/>
            <a:stCxn id="23" idx="0"/>
            <a:endCxn id="20" idx="0"/>
          </p:cNvCxnSpPr>
          <p:nvPr/>
        </p:nvCxnSpPr>
        <p:spPr bwMode="auto">
          <a:xfrm rot="-5400000" flipH="1" flipV="1">
            <a:off x="6890544" y="3010694"/>
            <a:ext cx="120650" cy="1439862"/>
          </a:xfrm>
          <a:prstGeom prst="curvedConnector3">
            <a:avLst>
              <a:gd name="adj1" fmla="val -177630"/>
            </a:avLst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</p:cxnSp>
      <p:cxnSp>
        <p:nvCxnSpPr>
          <p:cNvPr id="19" name="AutoShape 14"/>
          <p:cNvCxnSpPr>
            <a:cxnSpLocks noChangeShapeType="1"/>
            <a:stCxn id="20" idx="5"/>
            <a:endCxn id="23" idx="3"/>
          </p:cNvCxnSpPr>
          <p:nvPr/>
        </p:nvCxnSpPr>
        <p:spPr bwMode="auto">
          <a:xfrm rot="5400000" flipH="1" flipV="1">
            <a:off x="6881019" y="3596481"/>
            <a:ext cx="139700" cy="1084262"/>
          </a:xfrm>
          <a:prstGeom prst="curvedConnector3">
            <a:avLst>
              <a:gd name="adj1" fmla="val -46593"/>
            </a:avLst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</p:cxnSp>
      <p:sp>
        <p:nvSpPr>
          <p:cNvPr id="20" name="Oval 3"/>
          <p:cNvSpPr>
            <a:spLocks noChangeArrowheads="1"/>
          </p:cNvSpPr>
          <p:nvPr/>
        </p:nvSpPr>
        <p:spPr bwMode="auto">
          <a:xfrm>
            <a:off x="5978525" y="3805237"/>
            <a:ext cx="503238" cy="45561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4"/>
          <p:cNvSpPr>
            <a:spLocks noChangeArrowheads="1"/>
          </p:cNvSpPr>
          <p:nvPr/>
        </p:nvSpPr>
        <p:spPr bwMode="auto">
          <a:xfrm>
            <a:off x="6121400" y="4981575"/>
            <a:ext cx="506413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7418388" y="4981575"/>
            <a:ext cx="433387" cy="503237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v4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7418388" y="3684587"/>
            <a:ext cx="504825" cy="433388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8210550" y="4478337"/>
            <a:ext cx="504825" cy="43021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25" name="Group 15"/>
          <p:cNvGraphicFramePr>
            <a:graphicFrameLocks noGrp="1"/>
          </p:cNvGraphicFramePr>
          <p:nvPr/>
        </p:nvGraphicFramePr>
        <p:xfrm>
          <a:off x="2844800" y="2857500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Group 23"/>
          <p:cNvGraphicFramePr>
            <a:graphicFrameLocks noGrp="1"/>
          </p:cNvGraphicFramePr>
          <p:nvPr/>
        </p:nvGraphicFramePr>
        <p:xfrm>
          <a:off x="2844800" y="3500437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Line 31"/>
          <p:cNvSpPr>
            <a:spLocks noChangeShapeType="1"/>
          </p:cNvSpPr>
          <p:nvPr/>
        </p:nvSpPr>
        <p:spPr bwMode="auto">
          <a:xfrm>
            <a:off x="3563938" y="3721100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8" name="Group 32"/>
          <p:cNvGraphicFramePr>
            <a:graphicFrameLocks noGrp="1"/>
          </p:cNvGraphicFramePr>
          <p:nvPr/>
        </p:nvGraphicFramePr>
        <p:xfrm>
          <a:off x="4284663" y="3505200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40"/>
          <p:cNvGraphicFramePr>
            <a:graphicFrameLocks noGrp="1"/>
          </p:cNvGraphicFramePr>
          <p:nvPr/>
        </p:nvGraphicFramePr>
        <p:xfrm>
          <a:off x="2844800" y="4216400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Line 48"/>
          <p:cNvSpPr>
            <a:spLocks noChangeShapeType="1"/>
          </p:cNvSpPr>
          <p:nvPr/>
        </p:nvSpPr>
        <p:spPr bwMode="auto">
          <a:xfrm>
            <a:off x="3563938" y="4437062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1" name="Group 49"/>
          <p:cNvGraphicFramePr>
            <a:graphicFrameLocks noGrp="1"/>
          </p:cNvGraphicFramePr>
          <p:nvPr/>
        </p:nvGraphicFramePr>
        <p:xfrm>
          <a:off x="4284663" y="4221162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Group 57"/>
          <p:cNvGraphicFramePr>
            <a:graphicFrameLocks noGrp="1"/>
          </p:cNvGraphicFramePr>
          <p:nvPr/>
        </p:nvGraphicFramePr>
        <p:xfrm>
          <a:off x="2844800" y="4864100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Group 65"/>
          <p:cNvGraphicFramePr>
            <a:graphicFrameLocks noGrp="1"/>
          </p:cNvGraphicFramePr>
          <p:nvPr/>
        </p:nvGraphicFramePr>
        <p:xfrm>
          <a:off x="2844800" y="5516562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Group 73"/>
          <p:cNvGraphicFramePr>
            <a:graphicFrameLocks noGrp="1"/>
          </p:cNvGraphicFramePr>
          <p:nvPr/>
        </p:nvGraphicFramePr>
        <p:xfrm>
          <a:off x="1379538" y="2281237"/>
          <a:ext cx="960437" cy="3629028"/>
        </p:xfrm>
        <a:graphic>
          <a:graphicData uri="http://schemas.openxmlformats.org/drawingml/2006/table">
            <a:tbl>
              <a:tblPr/>
              <a:tblGrid>
                <a:gridCol w="481012"/>
                <a:gridCol w="479425"/>
              </a:tblGrid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Line 96"/>
          <p:cNvSpPr>
            <a:spLocks noChangeShapeType="1"/>
          </p:cNvSpPr>
          <p:nvPr/>
        </p:nvSpPr>
        <p:spPr bwMode="auto">
          <a:xfrm>
            <a:off x="2268538" y="307340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6" name="Line 97"/>
          <p:cNvSpPr>
            <a:spLocks noChangeShapeType="1"/>
          </p:cNvSpPr>
          <p:nvPr/>
        </p:nvSpPr>
        <p:spPr bwMode="auto">
          <a:xfrm>
            <a:off x="2197100" y="372110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7" name="Line 98"/>
          <p:cNvSpPr>
            <a:spLocks noChangeShapeType="1"/>
          </p:cNvSpPr>
          <p:nvPr/>
        </p:nvSpPr>
        <p:spPr bwMode="auto">
          <a:xfrm>
            <a:off x="2197100" y="436880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8" name="Line 99"/>
          <p:cNvSpPr>
            <a:spLocks noChangeShapeType="1"/>
          </p:cNvSpPr>
          <p:nvPr/>
        </p:nvSpPr>
        <p:spPr bwMode="auto">
          <a:xfrm>
            <a:off x="2124075" y="5018087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9" name="Line 100"/>
          <p:cNvSpPr>
            <a:spLocks noChangeShapeType="1"/>
          </p:cNvSpPr>
          <p:nvPr/>
        </p:nvSpPr>
        <p:spPr bwMode="auto">
          <a:xfrm>
            <a:off x="2197100" y="559435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0" name="Text Box 101"/>
          <p:cNvSpPr txBox="1">
            <a:spLocks noChangeArrowheads="1"/>
          </p:cNvSpPr>
          <p:nvPr/>
        </p:nvSpPr>
        <p:spPr bwMode="auto">
          <a:xfrm>
            <a:off x="2844800" y="2185987"/>
            <a:ext cx="92868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出边表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102"/>
          <p:cNvSpPr txBox="1">
            <a:spLocks noChangeArrowheads="1"/>
          </p:cNvSpPr>
          <p:nvPr/>
        </p:nvSpPr>
        <p:spPr bwMode="auto">
          <a:xfrm>
            <a:off x="1331913" y="1900237"/>
            <a:ext cx="928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顶点表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 Box 103"/>
          <p:cNvSpPr txBox="1">
            <a:spLocks noChangeArrowheads="1"/>
          </p:cNvSpPr>
          <p:nvPr/>
        </p:nvSpPr>
        <p:spPr bwMode="auto">
          <a:xfrm>
            <a:off x="457200" y="1304925"/>
            <a:ext cx="8067675" cy="46166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讨论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：求有向图邻接表中第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个顶点的出度？图的边数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?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Text Box 106"/>
          <p:cNvSpPr txBox="1">
            <a:spLocks noChangeArrowheads="1"/>
          </p:cNvSpPr>
          <p:nvPr/>
        </p:nvSpPr>
        <p:spPr bwMode="auto">
          <a:xfrm>
            <a:off x="650875" y="5953137"/>
            <a:ext cx="6992938" cy="904863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出度：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个顶点的边链表结点个数之和。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图的边数：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所有边链表结点个数之和。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AutoShape 71"/>
          <p:cNvSpPr>
            <a:spLocks noChangeArrowheads="1"/>
          </p:cNvSpPr>
          <p:nvPr/>
        </p:nvSpPr>
        <p:spPr bwMode="auto">
          <a:xfrm>
            <a:off x="4787900" y="1828800"/>
            <a:ext cx="3927475" cy="1371600"/>
          </a:xfrm>
          <a:prstGeom prst="cloudCallout">
            <a:avLst>
              <a:gd name="adj1" fmla="val -45741"/>
              <a:gd name="adj2" fmla="val 67852"/>
            </a:avLst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邻接表的存储类似于树的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孩子链表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DA31-9184-4684-A95D-1B4BD7F4E94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042987" y="2347912"/>
            <a:ext cx="38862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邻接表的定义分两部分：</a:t>
            </a:r>
            <a:endParaRPr kumimoji="1" lang="zh-CN" altLang="en-US" sz="28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AutoShape 14"/>
          <p:cNvSpPr/>
          <p:nvPr/>
        </p:nvSpPr>
        <p:spPr bwMode="auto">
          <a:xfrm>
            <a:off x="4995862" y="2166937"/>
            <a:ext cx="76200" cy="914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22225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216525" y="2046287"/>
            <a:ext cx="1557337" cy="160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顶点表</a:t>
            </a:r>
            <a:endParaRPr kumimoji="1" lang="en-US" altLang="zh-CN" sz="28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边链表</a:t>
            </a:r>
            <a:endParaRPr kumimoji="1" lang="zh-CN" altLang="en-US" sz="28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2500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2654300" y="3617912"/>
          <a:ext cx="2951162" cy="576263"/>
        </p:xfrm>
        <a:graphic>
          <a:graphicData uri="http://schemas.openxmlformats.org/drawingml/2006/table">
            <a:tbl>
              <a:tblPr/>
              <a:tblGrid>
                <a:gridCol w="1295400"/>
                <a:gridCol w="1655762"/>
              </a:tblGrid>
              <a:tr h="5762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data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firstarc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矩形 9"/>
          <p:cNvSpPr>
            <a:spLocks noChangeArrowheads="1"/>
          </p:cNvSpPr>
          <p:nvPr/>
        </p:nvSpPr>
        <p:spPr bwMode="auto">
          <a:xfrm>
            <a:off x="3709987" y="3046412"/>
            <a:ext cx="1112838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顶点表</a:t>
            </a:r>
            <a:endParaRPr kumimoji="1"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533400" y="4595812"/>
            <a:ext cx="7993062" cy="2185988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顶点表的存储类型：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typedef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vnode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{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vertextype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data;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顶点信息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Arcnode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*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firstarc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指向第一条依附该顶点的弧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adjlist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[MAX_VERTEX_NUM]; 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DB1B-8EE2-4F07-828C-2AD079A6C92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571500" y="3811587"/>
            <a:ext cx="8102600" cy="3046413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#define MAX_VERTEX_NUM 20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边表的存储类型：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typedef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ArcNode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{ 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adjvex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该弧所指向的顶点的位置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ArcNode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*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nextarc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指向下一条弧的指针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infoType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*info;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可以存储图中边的权值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Group 3"/>
          <p:cNvGraphicFramePr>
            <a:graphicFrameLocks noGrp="1"/>
          </p:cNvGraphicFramePr>
          <p:nvPr/>
        </p:nvGraphicFramePr>
        <p:xfrm>
          <a:off x="1239838" y="2654300"/>
          <a:ext cx="5259387" cy="550863"/>
        </p:xfrm>
        <a:graphic>
          <a:graphicData uri="http://schemas.openxmlformats.org/drawingml/2006/table">
            <a:tbl>
              <a:tblPr/>
              <a:tblGrid>
                <a:gridCol w="1752600"/>
                <a:gridCol w="1992312"/>
                <a:gridCol w="1514475"/>
              </a:tblGrid>
              <a:tr h="5508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adjvex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nextarc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info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3187700" y="2071687"/>
            <a:ext cx="12954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边链表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9E384-D7C1-4348-A4CF-C656DAE80FD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52425" y="1797050"/>
            <a:ext cx="7315200" cy="3232150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邻接表的形式说明和建立算法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typedef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/*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顶点表结点定义*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{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vextype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vertex;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edgenode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*link;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}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vexnode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vexnode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ga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[n];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Group 4"/>
          <p:cNvGrpSpPr/>
          <p:nvPr/>
        </p:nvGrpSpPr>
        <p:grpSpPr bwMode="auto">
          <a:xfrm>
            <a:off x="3771900" y="2619375"/>
            <a:ext cx="5295900" cy="4162425"/>
            <a:chOff x="2222" y="827"/>
            <a:chExt cx="3336" cy="2622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2"/>
            <a:srcRect r="54007"/>
            <a:stretch>
              <a:fillRect/>
            </a:stretch>
          </p:blipFill>
          <p:spPr bwMode="auto">
            <a:xfrm>
              <a:off x="2222" y="890"/>
              <a:ext cx="3291" cy="2559"/>
            </a:xfrm>
            <a:prstGeom prst="rect">
              <a:avLst/>
            </a:prstGeom>
            <a:gradFill rotWithShape="1">
              <a:gsLst>
                <a:gs pos="0">
                  <a:srgbClr val="008EC4">
                    <a:tint val="50000"/>
                    <a:satMod val="300000"/>
                  </a:srgbClr>
                </a:gs>
                <a:gs pos="35000">
                  <a:srgbClr val="008EC4">
                    <a:tint val="37000"/>
                    <a:satMod val="300000"/>
                  </a:srgbClr>
                </a:gs>
                <a:gs pos="100000">
                  <a:srgbClr val="008EC4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8EC4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pic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3443" y="827"/>
              <a:ext cx="2115" cy="377"/>
            </a:xfrm>
            <a:prstGeom prst="rect">
              <a:avLst/>
            </a:prstGeom>
            <a:gradFill rotWithShape="1">
              <a:gsLst>
                <a:gs pos="0">
                  <a:srgbClr val="008EC4">
                    <a:tint val="50000"/>
                    <a:satMod val="300000"/>
                  </a:srgbClr>
                </a:gs>
                <a:gs pos="35000">
                  <a:srgbClr val="008EC4">
                    <a:tint val="37000"/>
                    <a:satMod val="300000"/>
                  </a:srgbClr>
                </a:gs>
                <a:gs pos="100000">
                  <a:srgbClr val="008EC4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8EC4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vertex  link     </a:t>
              </a:r>
              <a:r>
                <a:rPr kumimoji="1" lang="en-US" altLang="zh-CN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adjvex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 next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951-AAC2-4959-A4A8-13DCA48F3CD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14313" y="1676400"/>
            <a:ext cx="7315200" cy="2678112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邻接表的形式说明和建立算法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typedef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node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/*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边表结点定义*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/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{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adjvex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struct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node *next;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}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edgenode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Group 4"/>
          <p:cNvGrpSpPr/>
          <p:nvPr/>
        </p:nvGrpSpPr>
        <p:grpSpPr bwMode="auto">
          <a:xfrm>
            <a:off x="3919538" y="2595562"/>
            <a:ext cx="5224462" cy="4214813"/>
            <a:chOff x="2402" y="979"/>
            <a:chExt cx="3291" cy="2655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2"/>
            <a:srcRect r="54007"/>
            <a:stretch>
              <a:fillRect/>
            </a:stretch>
          </p:blipFill>
          <p:spPr bwMode="auto">
            <a:xfrm>
              <a:off x="2402" y="1075"/>
              <a:ext cx="3291" cy="255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009DD9"/>
              </a:solidFill>
              <a:prstDash val="solid"/>
            </a:ln>
            <a:effectLst/>
          </p:spPr>
        </p:pic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3623" y="979"/>
              <a:ext cx="2025" cy="37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009DD9"/>
              </a:solidFill>
              <a:prstDash val="soli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vertex  link     </a:t>
              </a:r>
              <a:r>
                <a:rPr kumimoji="1" lang="en-US" altLang="zh-CN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adjvex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 next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邻接表的建立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421E-EFA0-4FC1-BDB5-16ED4A78907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1447800" y="5562600"/>
            <a:ext cx="7705725" cy="1143000"/>
          </a:xfrm>
          <a:prstGeom prst="cloudCallout">
            <a:avLst>
              <a:gd name="adj1" fmla="val -47259"/>
              <a:gd name="adj2" fmla="val 69639"/>
            </a:avLst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建立邻接表的主要操作是在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链表中插入一个结点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Group 15"/>
          <p:cNvGraphicFramePr>
            <a:graphicFrameLocks noGrp="1"/>
          </p:cNvGraphicFramePr>
          <p:nvPr/>
        </p:nvGraphicFramePr>
        <p:xfrm>
          <a:off x="2844800" y="2633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23"/>
          <p:cNvGraphicFramePr>
            <a:graphicFrameLocks noGrp="1"/>
          </p:cNvGraphicFramePr>
          <p:nvPr/>
        </p:nvGraphicFramePr>
        <p:xfrm>
          <a:off x="2844800" y="3276600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31"/>
          <p:cNvSpPr>
            <a:spLocks noChangeShapeType="1"/>
          </p:cNvSpPr>
          <p:nvPr/>
        </p:nvSpPr>
        <p:spPr bwMode="auto">
          <a:xfrm>
            <a:off x="3563938" y="3497263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6" name="Group 32"/>
          <p:cNvGraphicFramePr>
            <a:graphicFrameLocks noGrp="1"/>
          </p:cNvGraphicFramePr>
          <p:nvPr/>
        </p:nvGraphicFramePr>
        <p:xfrm>
          <a:off x="4284663" y="32813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40"/>
          <p:cNvGraphicFramePr>
            <a:graphicFrameLocks noGrp="1"/>
          </p:cNvGraphicFramePr>
          <p:nvPr/>
        </p:nvGraphicFramePr>
        <p:xfrm>
          <a:off x="2844800" y="39925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Line 48"/>
          <p:cNvSpPr>
            <a:spLocks noChangeShapeType="1"/>
          </p:cNvSpPr>
          <p:nvPr/>
        </p:nvSpPr>
        <p:spPr bwMode="auto">
          <a:xfrm>
            <a:off x="3563938" y="4213225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49"/>
          <p:cNvGraphicFramePr>
            <a:graphicFrameLocks noGrp="1"/>
          </p:cNvGraphicFramePr>
          <p:nvPr/>
        </p:nvGraphicFramePr>
        <p:xfrm>
          <a:off x="4284663" y="3997325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Group 57"/>
          <p:cNvGraphicFramePr>
            <a:graphicFrameLocks noGrp="1"/>
          </p:cNvGraphicFramePr>
          <p:nvPr/>
        </p:nvGraphicFramePr>
        <p:xfrm>
          <a:off x="2844800" y="46402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65"/>
          <p:cNvGraphicFramePr>
            <a:graphicFrameLocks noGrp="1"/>
          </p:cNvGraphicFramePr>
          <p:nvPr/>
        </p:nvGraphicFramePr>
        <p:xfrm>
          <a:off x="2844800" y="5292725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Group 73"/>
          <p:cNvGraphicFramePr>
            <a:graphicFrameLocks noGrp="1"/>
          </p:cNvGraphicFramePr>
          <p:nvPr/>
        </p:nvGraphicFramePr>
        <p:xfrm>
          <a:off x="1379538" y="2057400"/>
          <a:ext cx="960437" cy="3629028"/>
        </p:xfrm>
        <a:graphic>
          <a:graphicData uri="http://schemas.openxmlformats.org/drawingml/2006/table">
            <a:tbl>
              <a:tblPr/>
              <a:tblGrid>
                <a:gridCol w="481012"/>
                <a:gridCol w="479425"/>
              </a:tblGrid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Line 96"/>
          <p:cNvSpPr>
            <a:spLocks noChangeShapeType="1"/>
          </p:cNvSpPr>
          <p:nvPr/>
        </p:nvSpPr>
        <p:spPr bwMode="auto">
          <a:xfrm>
            <a:off x="2268538" y="2849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97"/>
          <p:cNvSpPr>
            <a:spLocks noChangeShapeType="1"/>
          </p:cNvSpPr>
          <p:nvPr/>
        </p:nvSpPr>
        <p:spPr bwMode="auto">
          <a:xfrm>
            <a:off x="2197100" y="34972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98"/>
          <p:cNvSpPr>
            <a:spLocks noChangeShapeType="1"/>
          </p:cNvSpPr>
          <p:nvPr/>
        </p:nvSpPr>
        <p:spPr bwMode="auto">
          <a:xfrm>
            <a:off x="2197100" y="41449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99"/>
          <p:cNvSpPr>
            <a:spLocks noChangeShapeType="1"/>
          </p:cNvSpPr>
          <p:nvPr/>
        </p:nvSpPr>
        <p:spPr bwMode="auto">
          <a:xfrm>
            <a:off x="2124075" y="4794250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" name="Line 100"/>
          <p:cNvSpPr>
            <a:spLocks noChangeShapeType="1"/>
          </p:cNvSpPr>
          <p:nvPr/>
        </p:nvSpPr>
        <p:spPr bwMode="auto">
          <a:xfrm>
            <a:off x="2197100" y="537051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Text Box 101"/>
          <p:cNvSpPr txBox="1">
            <a:spLocks noChangeArrowheads="1"/>
          </p:cNvSpPr>
          <p:nvPr/>
        </p:nvSpPr>
        <p:spPr bwMode="auto">
          <a:xfrm>
            <a:off x="2844800" y="1962150"/>
            <a:ext cx="92868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出边表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102"/>
          <p:cNvSpPr txBox="1">
            <a:spLocks noChangeArrowheads="1"/>
          </p:cNvSpPr>
          <p:nvPr/>
        </p:nvSpPr>
        <p:spPr bwMode="auto">
          <a:xfrm>
            <a:off x="1331913" y="1676400"/>
            <a:ext cx="928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顶点表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邻接表的建立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无向图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F11EB-629E-4F2C-B254-F22BBE1E1CE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373063" y="1765300"/>
            <a:ext cx="7704137" cy="31115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endParaRPr kumimoji="1" lang="en-US" altLang="zh-CN" sz="24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CREATADJLIST(vexnode ga[])</a:t>
            </a:r>
            <a:endParaRPr kumimoji="1" lang="en-US" altLang="zh-CN" sz="24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{ int i,j,k;  edgenode *s;</a:t>
            </a:r>
            <a:endParaRPr kumimoji="1" lang="en-US" altLang="zh-CN" sz="24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  for (i=0;i&lt;n;i++)   /*</a:t>
            </a:r>
            <a:r>
              <a:rPr kumimoji="1" lang="zh-CN" altLang="en-US" sz="2400" b="1">
                <a:solidFill>
                  <a:srgbClr val="3333FF"/>
                </a:solidFill>
                <a:latin typeface="Times New Roman" panose="02020603050405020304" pitchFamily="18" charset="0"/>
              </a:rPr>
              <a:t>读入顶点信息并初始化*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/</a:t>
            </a:r>
            <a:endParaRPr kumimoji="1" lang="en-US" altLang="zh-CN" sz="24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   {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ga[i].vertex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getchar();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 ga[i].link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NULL;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   }</a:t>
            </a:r>
            <a:endParaRPr kumimoji="1" lang="en-US" altLang="zh-CN" sz="24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5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2" name="组合 27"/>
          <p:cNvGrpSpPr/>
          <p:nvPr/>
        </p:nvGrpSpPr>
        <p:grpSpPr bwMode="auto">
          <a:xfrm>
            <a:off x="4429125" y="3357563"/>
            <a:ext cx="4643438" cy="3429000"/>
            <a:chOff x="4429124" y="3071810"/>
            <a:chExt cx="4643470" cy="3429024"/>
          </a:xfrm>
        </p:grpSpPr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5786446" y="3071810"/>
              <a:ext cx="3214709" cy="42862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vertex  link  </a:t>
              </a:r>
              <a:r>
                <a:rPr kumimoji="1" lang="en-US" altLang="zh-CN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adjvex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anose="02030602050306030303"/>
                  <a:ea typeface="宋体" panose="02010600030101010101" pitchFamily="2" charset="-122"/>
                  <a:cs typeface="+mn-cs"/>
                </a:rPr>
                <a:t>  next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4" name="图片 26"/>
            <p:cNvPicPr>
              <a:picLocks noChangeAspect="1" noChangeArrowheads="1"/>
            </p:cNvPicPr>
            <p:nvPr/>
          </p:nvPicPr>
          <p:blipFill>
            <a:blip r:embed="rId2"/>
            <a:srcRect t="10994" r="43924" b="3236"/>
            <a:stretch>
              <a:fillRect/>
            </a:stretch>
          </p:blipFill>
          <p:spPr bwMode="auto">
            <a:xfrm>
              <a:off x="4429124" y="3471884"/>
              <a:ext cx="4643470" cy="3028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邻接表的建立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无向图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3F1F-8CD0-46E4-884A-CFA6F034565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1590675"/>
            <a:ext cx="7848600" cy="53863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for (k=0;k&lt;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e;k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++)   /*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建立边表*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/</a:t>
            </a:r>
            <a:endParaRPr kumimoji="1" lang="en-US" altLang="zh-CN" sz="2800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{ 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scanf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(“%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d%d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”,&amp;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i,&amp;j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800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s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malloc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sizeof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edgenode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));</a:t>
            </a:r>
            <a:endParaRPr kumimoji="1" lang="en-US" altLang="zh-CN" sz="2800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s-&gt;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adjvex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j;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s-&gt;next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[i].link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[i].link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s;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s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malloc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sizeof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anose="02020603050405020304" pitchFamily="18" charset="0"/>
              </a:rPr>
              <a:t>edgenode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));</a:t>
            </a:r>
            <a:endParaRPr kumimoji="1" lang="en-US" altLang="zh-CN" sz="2800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s-&gt;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adjvex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i;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s-&gt;next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[j].link;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ga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[j].link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s;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}/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*对于无向图要插入两次，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后和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后*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/</a:t>
            </a:r>
            <a:endParaRPr kumimoji="1" lang="en-US" altLang="zh-CN" sz="2800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" name="Group 4"/>
          <p:cNvGrpSpPr/>
          <p:nvPr/>
        </p:nvGrpSpPr>
        <p:grpSpPr bwMode="auto">
          <a:xfrm>
            <a:off x="5076825" y="2408238"/>
            <a:ext cx="4067175" cy="2649537"/>
            <a:chOff x="3198" y="1465"/>
            <a:chExt cx="2562" cy="1669"/>
          </a:xfrm>
        </p:grpSpPr>
        <p:pic>
          <p:nvPicPr>
            <p:cNvPr id="18" name="Picture 5"/>
            <p:cNvPicPr>
              <a:picLocks noChangeAspect="1" noChangeArrowheads="1"/>
            </p:cNvPicPr>
            <p:nvPr/>
          </p:nvPicPr>
          <p:blipFill>
            <a:blip r:embed="rId2"/>
            <a:srcRect r="41489"/>
            <a:stretch>
              <a:fillRect/>
            </a:stretch>
          </p:blipFill>
          <p:spPr bwMode="auto">
            <a:xfrm>
              <a:off x="3204" y="1577"/>
              <a:ext cx="2556" cy="1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>
              <a:off x="3198" y="1465"/>
              <a:ext cx="2562" cy="2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53035" tIns="26518" rIns="53035" bIns="26518" anchor="ctr"/>
            <a:lstStyle/>
            <a:p>
              <a:pPr algn="just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   vertex  link  adjvex  next</a:t>
              </a:r>
              <a:endParaRPr kumimoji="1"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143750" y="1905000"/>
            <a:ext cx="303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7308850" y="2317750"/>
            <a:ext cx="0" cy="647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6227763" y="2120900"/>
            <a:ext cx="77628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ga[i]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570288" y="4862513"/>
            <a:ext cx="3502025" cy="700087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将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S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插入顶点的边表头部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H="1" flipV="1">
            <a:off x="3635375" y="3400425"/>
            <a:ext cx="508000" cy="1504950"/>
          </a:xfrm>
          <a:prstGeom prst="line">
            <a:avLst/>
          </a:prstGeom>
          <a:noFill/>
          <a:ln w="38100" cmpd="dbl">
            <a:solidFill>
              <a:srgbClr val="FF3300"/>
            </a:solidFill>
            <a:rou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邻接表的特点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364E-59FC-45A9-A1CC-8B5ED3EA81F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827088" y="1916113"/>
            <a:ext cx="6408737" cy="177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对于顶点多边少的图采用邻接表存储节省空间；空间复杂度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O(n+e)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容易找到任一顶点的第一个邻接点。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网络 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带权图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6B77-7F3D-44D4-8A37-8AFA71F0AD9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3"/>
          <p:cNvGrpSpPr/>
          <p:nvPr/>
        </p:nvGrpSpPr>
        <p:grpSpPr bwMode="auto">
          <a:xfrm>
            <a:off x="0" y="2471738"/>
            <a:ext cx="9147175" cy="3243262"/>
            <a:chOff x="-32" y="1828800"/>
            <a:chExt cx="9147696" cy="3243274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32" y="1828800"/>
              <a:ext cx="9147696" cy="3243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2124164" y="1857375"/>
              <a:ext cx="5143793" cy="45561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  <a:effectLst/>
          </p:spPr>
          <p:txBody>
            <a:bodyPr lIns="53035" tIns="26518" rIns="53035" bIns="26518" anchor="ctr"/>
            <a:lstStyle/>
            <a:p>
              <a:pPr algn="just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  vertex  link  </a:t>
              </a:r>
              <a:r>
                <a:rPr kumimoji="1" lang="en-US" altLang="zh-CN" sz="2000" b="1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adjvex</a:t>
              </a:r>
              <a:r>
                <a:rPr kumimoji="1"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  next</a:t>
              </a:r>
              <a:endParaRPr kumimoji="1"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63413" y="1066800"/>
            <a:ext cx="3670987" cy="2939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网络 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带权图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的邻接表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6DCAA-4AD4-4279-BD59-6C98281968B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109662" y="2016125"/>
            <a:ext cx="2820988" cy="1108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00"/>
                </a:solidFill>
                <a:latin typeface="楷体_GB2312" pitchFamily="49" charset="-122"/>
              </a:rPr>
              <a:t>给出网络的邻接表</a:t>
            </a:r>
            <a:endParaRPr kumimoji="1" lang="zh-CN" altLang="en-US" sz="2400" b="1">
              <a:solidFill>
                <a:srgbClr val="003300"/>
              </a:solidFill>
              <a:latin typeface="楷体_GB2312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2400">
              <a:solidFill>
                <a:srgbClr val="000000"/>
              </a:solidFill>
              <a:latin typeface="楷体_GB2312" pitchFamily="49" charset="-122"/>
            </a:endParaRPr>
          </a:p>
        </p:txBody>
      </p:sp>
      <p:grpSp>
        <p:nvGrpSpPr>
          <p:cNvPr id="17" name="Group 4"/>
          <p:cNvGrpSpPr/>
          <p:nvPr/>
        </p:nvGrpSpPr>
        <p:grpSpPr bwMode="auto">
          <a:xfrm>
            <a:off x="398462" y="3905250"/>
            <a:ext cx="8135938" cy="2924175"/>
            <a:chOff x="114" y="2341"/>
            <a:chExt cx="5125" cy="1842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114" y="2478"/>
              <a:ext cx="407" cy="14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fontAlgn="base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19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5" y="2341"/>
              <a:ext cx="4824" cy="1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" name="Oval 44"/>
          <p:cNvSpPr>
            <a:spLocks noChangeArrowheads="1"/>
          </p:cNvSpPr>
          <p:nvPr/>
        </p:nvSpPr>
        <p:spPr bwMode="auto">
          <a:xfrm>
            <a:off x="66675" y="2135187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逆邻接表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9C0E3-C4D3-451A-9C2A-7679095B69E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195388" y="2136775"/>
            <a:ext cx="7948612" cy="64135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zh-CN" sz="360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776288" y="1689100"/>
            <a:ext cx="7572375" cy="1452563"/>
          </a:xfrm>
          <a:prstGeom prst="rect">
            <a:avLst/>
          </a:prstGeom>
          <a:noFill/>
          <a:ln w="12700" cap="rnd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有向图的逆邻接表（入度）</a:t>
            </a:r>
            <a:endParaRPr kumimoji="1" lang="zh-CN" altLang="en-US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914400" lvl="1" indent="-4572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顶点：用一维数组存储（按编号顺序）</a:t>
            </a:r>
            <a:endParaRPr kumimoji="1" lang="zh-CN" altLang="en-US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914400" lvl="1" indent="-4572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以同一顶点为</a:t>
            </a:r>
            <a:r>
              <a:rPr kumimoji="1" lang="zh-CN" altLang="en-US" sz="2600" b="1">
                <a:solidFill>
                  <a:srgbClr val="FF0000"/>
                </a:solidFill>
                <a:latin typeface="宋体" panose="02010600030101010101" pitchFamily="2" charset="-122"/>
              </a:rPr>
              <a:t>终点</a:t>
            </a:r>
            <a:r>
              <a:rPr kumimoji="1" lang="zh-CN" altLang="en-US" sz="2600" b="1">
                <a:solidFill>
                  <a:srgbClr val="0000FF"/>
                </a:solidFill>
                <a:latin typeface="宋体" panose="02010600030101010101" pitchFamily="2" charset="-122"/>
              </a:rPr>
              <a:t>的弧：用线性链表存储</a:t>
            </a:r>
            <a:endParaRPr kumimoji="1" lang="zh-CN" altLang="en-US" sz="26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14" name="Group 4"/>
          <p:cNvGrpSpPr/>
          <p:nvPr/>
        </p:nvGrpSpPr>
        <p:grpSpPr bwMode="auto">
          <a:xfrm>
            <a:off x="2538413" y="3509963"/>
            <a:ext cx="2881312" cy="3652837"/>
            <a:chOff x="1197" y="1392"/>
            <a:chExt cx="1815" cy="2301"/>
          </a:xfrm>
        </p:grpSpPr>
        <p:grpSp>
          <p:nvGrpSpPr>
            <p:cNvPr id="15" name="Group 5"/>
            <p:cNvGrpSpPr/>
            <p:nvPr/>
          </p:nvGrpSpPr>
          <p:grpSpPr bwMode="auto">
            <a:xfrm>
              <a:off x="1197" y="1412"/>
              <a:ext cx="1127" cy="2281"/>
              <a:chOff x="1197" y="1412"/>
              <a:chExt cx="1127" cy="2281"/>
            </a:xfrm>
          </p:grpSpPr>
          <p:grpSp>
            <p:nvGrpSpPr>
              <p:cNvPr id="53" name="Group 6"/>
              <p:cNvGrpSpPr/>
              <p:nvPr/>
            </p:nvGrpSpPr>
            <p:grpSpPr bwMode="auto">
              <a:xfrm>
                <a:off x="1495" y="1412"/>
                <a:ext cx="829" cy="2281"/>
                <a:chOff x="1495" y="1412"/>
                <a:chExt cx="829" cy="2281"/>
              </a:xfrm>
            </p:grpSpPr>
            <p:grpSp>
              <p:nvGrpSpPr>
                <p:cNvPr id="55" name="Group 7"/>
                <p:cNvGrpSpPr/>
                <p:nvPr/>
              </p:nvGrpSpPr>
              <p:grpSpPr bwMode="auto">
                <a:xfrm>
                  <a:off x="1495" y="1412"/>
                  <a:ext cx="829" cy="1913"/>
                  <a:chOff x="1495" y="1412"/>
                  <a:chExt cx="829" cy="1913"/>
                </a:xfrm>
              </p:grpSpPr>
              <p:sp>
                <p:nvSpPr>
                  <p:cNvPr id="57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502" y="1412"/>
                    <a:ext cx="814" cy="1900"/>
                  </a:xfrm>
                  <a:prstGeom prst="rect">
                    <a:avLst/>
                  </a:prstGeom>
                  <a:solidFill>
                    <a:srgbClr val="99CCFF"/>
                  </a:solidFill>
                  <a:ln w="12700" cap="rnd">
                    <a:noFill/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495" y="1890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496" y="2151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496" y="2673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496" y="3064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496" y="3320"/>
                    <a:ext cx="814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921" y="1412"/>
                    <a:ext cx="0" cy="1913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1496" y="2412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1510" y="1651"/>
                    <a:ext cx="814" cy="1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6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611" y="1417"/>
                  <a:ext cx="455" cy="22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V0</a:t>
                  </a: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V1</a:t>
                  </a: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V2</a:t>
                  </a: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V3</a:t>
                  </a: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4" name="Text Box 18"/>
              <p:cNvSpPr txBox="1">
                <a:spLocks noChangeArrowheads="1"/>
              </p:cNvSpPr>
              <p:nvPr/>
            </p:nvSpPr>
            <p:spPr bwMode="auto">
              <a:xfrm>
                <a:off x="1197" y="1442"/>
                <a:ext cx="480" cy="16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  0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  1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  2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  3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8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m-1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9"/>
            <p:cNvGrpSpPr/>
            <p:nvPr/>
          </p:nvGrpSpPr>
          <p:grpSpPr bwMode="auto">
            <a:xfrm>
              <a:off x="2112" y="1392"/>
              <a:ext cx="900" cy="1078"/>
              <a:chOff x="4080" y="1488"/>
              <a:chExt cx="1200" cy="1078"/>
            </a:xfrm>
          </p:grpSpPr>
          <p:sp>
            <p:nvSpPr>
              <p:cNvPr id="17" name="Line 20"/>
              <p:cNvSpPr>
                <a:spLocks noChangeShapeType="1"/>
              </p:cNvSpPr>
              <p:nvPr/>
            </p:nvSpPr>
            <p:spPr bwMode="auto">
              <a:xfrm>
                <a:off x="4080" y="164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Line 21"/>
              <p:cNvSpPr>
                <a:spLocks noChangeShapeType="1"/>
              </p:cNvSpPr>
              <p:nvPr/>
            </p:nvSpPr>
            <p:spPr bwMode="auto">
              <a:xfrm>
                <a:off x="4080" y="2415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Line 22"/>
              <p:cNvSpPr>
                <a:spLocks noChangeShapeType="1"/>
              </p:cNvSpPr>
              <p:nvPr/>
            </p:nvSpPr>
            <p:spPr bwMode="auto">
              <a:xfrm>
                <a:off x="4080" y="212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" name="Group 23"/>
              <p:cNvGrpSpPr/>
              <p:nvPr/>
            </p:nvGrpSpPr>
            <p:grpSpPr bwMode="auto">
              <a:xfrm>
                <a:off x="4560" y="1728"/>
                <a:ext cx="720" cy="310"/>
                <a:chOff x="4560" y="1728"/>
                <a:chExt cx="720" cy="310"/>
              </a:xfrm>
            </p:grpSpPr>
            <p:grpSp>
              <p:nvGrpSpPr>
                <p:cNvPr id="46" name="Group 24"/>
                <p:cNvGrpSpPr/>
                <p:nvPr/>
              </p:nvGrpSpPr>
              <p:grpSpPr bwMode="auto">
                <a:xfrm>
                  <a:off x="4560" y="1776"/>
                  <a:ext cx="720" cy="224"/>
                  <a:chOff x="3696" y="1968"/>
                  <a:chExt cx="1488" cy="480"/>
                </a:xfrm>
              </p:grpSpPr>
              <p:sp>
                <p:nvSpPr>
                  <p:cNvPr id="5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1968"/>
                    <a:ext cx="1488" cy="480"/>
                  </a:xfrm>
                  <a:prstGeom prst="rect">
                    <a:avLst/>
                  </a:prstGeom>
                  <a:solidFill>
                    <a:srgbClr val="99CCFF"/>
                  </a:solidFill>
                  <a:ln w="19050" cap="rnd">
                    <a:solidFill>
                      <a:srgbClr val="DBF5F9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4464" y="1968"/>
                    <a:ext cx="0" cy="48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656" y="1728"/>
                  <a:ext cx="520" cy="310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0</a:t>
                  </a:r>
                  <a:endParaRPr kumimoji="1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48" name="Group 28"/>
                <p:cNvGrpSpPr/>
                <p:nvPr/>
              </p:nvGrpSpPr>
              <p:grpSpPr bwMode="auto">
                <a:xfrm>
                  <a:off x="5040" y="1840"/>
                  <a:ext cx="144" cy="96"/>
                  <a:chOff x="3456" y="720"/>
                  <a:chExt cx="192" cy="144"/>
                </a:xfrm>
              </p:grpSpPr>
              <p:sp>
                <p:nvSpPr>
                  <p:cNvPr id="49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56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3552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1" name="Group 31"/>
              <p:cNvGrpSpPr/>
              <p:nvPr/>
            </p:nvGrpSpPr>
            <p:grpSpPr bwMode="auto">
              <a:xfrm>
                <a:off x="4560" y="1990"/>
                <a:ext cx="720" cy="310"/>
                <a:chOff x="4560" y="1990"/>
                <a:chExt cx="720" cy="310"/>
              </a:xfrm>
            </p:grpSpPr>
            <p:sp>
              <p:nvSpPr>
                <p:cNvPr id="40" name="Rectangle 32"/>
                <p:cNvSpPr>
                  <a:spLocks noChangeArrowheads="1"/>
                </p:cNvSpPr>
                <p:nvPr/>
              </p:nvSpPr>
              <p:spPr bwMode="auto">
                <a:xfrm>
                  <a:off x="4560" y="2032"/>
                  <a:ext cx="720" cy="224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" name="Line 33"/>
                <p:cNvSpPr>
                  <a:spLocks noChangeShapeType="1"/>
                </p:cNvSpPr>
                <p:nvPr/>
              </p:nvSpPr>
              <p:spPr bwMode="auto">
                <a:xfrm>
                  <a:off x="4932" y="2032"/>
                  <a:ext cx="0" cy="224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656" y="1990"/>
                  <a:ext cx="520" cy="310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0</a:t>
                  </a:r>
                  <a:endParaRPr kumimoji="1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43" name="Group 35"/>
                <p:cNvGrpSpPr/>
                <p:nvPr/>
              </p:nvGrpSpPr>
              <p:grpSpPr bwMode="auto">
                <a:xfrm>
                  <a:off x="5040" y="2096"/>
                  <a:ext cx="144" cy="96"/>
                  <a:chOff x="4176" y="2832"/>
                  <a:chExt cx="144" cy="144"/>
                </a:xfrm>
              </p:grpSpPr>
              <p:sp>
                <p:nvSpPr>
                  <p:cNvPr id="44" name="Line 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76" y="2832"/>
                    <a:ext cx="72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248" y="2832"/>
                    <a:ext cx="72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2" name="Group 38"/>
              <p:cNvGrpSpPr/>
              <p:nvPr/>
            </p:nvGrpSpPr>
            <p:grpSpPr bwMode="auto">
              <a:xfrm>
                <a:off x="4560" y="2256"/>
                <a:ext cx="720" cy="310"/>
                <a:chOff x="4560" y="2256"/>
                <a:chExt cx="720" cy="310"/>
              </a:xfrm>
            </p:grpSpPr>
            <p:grpSp>
              <p:nvGrpSpPr>
                <p:cNvPr id="33" name="Group 39"/>
                <p:cNvGrpSpPr/>
                <p:nvPr/>
              </p:nvGrpSpPr>
              <p:grpSpPr bwMode="auto">
                <a:xfrm>
                  <a:off x="4560" y="2304"/>
                  <a:ext cx="720" cy="223"/>
                  <a:chOff x="3696" y="1968"/>
                  <a:chExt cx="1488" cy="480"/>
                </a:xfrm>
              </p:grpSpPr>
              <p:sp>
                <p:nvSpPr>
                  <p:cNvPr id="3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1968"/>
                    <a:ext cx="1488" cy="480"/>
                  </a:xfrm>
                  <a:prstGeom prst="rect">
                    <a:avLst/>
                  </a:prstGeom>
                  <a:solidFill>
                    <a:srgbClr val="99CCFF"/>
                  </a:solidFill>
                  <a:ln w="19050" cap="rnd">
                    <a:solidFill>
                      <a:srgbClr val="DBF5F9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4464" y="1968"/>
                    <a:ext cx="0" cy="48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656" y="2256"/>
                  <a:ext cx="520" cy="310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2</a:t>
                  </a:r>
                  <a:endParaRPr kumimoji="1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35" name="Group 43"/>
                <p:cNvGrpSpPr/>
                <p:nvPr/>
              </p:nvGrpSpPr>
              <p:grpSpPr bwMode="auto">
                <a:xfrm>
                  <a:off x="5040" y="2368"/>
                  <a:ext cx="144" cy="96"/>
                  <a:chOff x="3456" y="720"/>
                  <a:chExt cx="192" cy="144"/>
                </a:xfrm>
              </p:grpSpPr>
              <p:sp>
                <p:nvSpPr>
                  <p:cNvPr id="36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56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3552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" name="Group 46"/>
              <p:cNvGrpSpPr/>
              <p:nvPr/>
            </p:nvGrpSpPr>
            <p:grpSpPr bwMode="auto">
              <a:xfrm>
                <a:off x="4560" y="1488"/>
                <a:ext cx="720" cy="310"/>
                <a:chOff x="4560" y="1488"/>
                <a:chExt cx="720" cy="310"/>
              </a:xfrm>
            </p:grpSpPr>
            <p:grpSp>
              <p:nvGrpSpPr>
                <p:cNvPr id="25" name="Group 47"/>
                <p:cNvGrpSpPr/>
                <p:nvPr/>
              </p:nvGrpSpPr>
              <p:grpSpPr bwMode="auto">
                <a:xfrm>
                  <a:off x="4560" y="1520"/>
                  <a:ext cx="720" cy="224"/>
                  <a:chOff x="3696" y="1968"/>
                  <a:chExt cx="1488" cy="480"/>
                </a:xfrm>
              </p:grpSpPr>
              <p:sp>
                <p:nvSpPr>
                  <p:cNvPr id="31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1968"/>
                    <a:ext cx="1488" cy="480"/>
                  </a:xfrm>
                  <a:prstGeom prst="rect">
                    <a:avLst/>
                  </a:prstGeom>
                  <a:solidFill>
                    <a:srgbClr val="99CCFF"/>
                  </a:solidFill>
                  <a:ln w="19050" cap="rnd">
                    <a:solidFill>
                      <a:srgbClr val="DBF5F9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464" y="1968"/>
                    <a:ext cx="0" cy="48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656" y="1488"/>
                  <a:ext cx="520" cy="310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3</a:t>
                  </a:r>
                  <a:endParaRPr kumimoji="1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7" name="Group 51"/>
                <p:cNvGrpSpPr/>
                <p:nvPr/>
              </p:nvGrpSpPr>
              <p:grpSpPr bwMode="auto">
                <a:xfrm>
                  <a:off x="5040" y="1584"/>
                  <a:ext cx="144" cy="96"/>
                  <a:chOff x="3456" y="720"/>
                  <a:chExt cx="192" cy="144"/>
                </a:xfrm>
              </p:grpSpPr>
              <p:sp>
                <p:nvSpPr>
                  <p:cNvPr id="28" name="Line 5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56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552" y="720"/>
                    <a:ext cx="96" cy="144"/>
                  </a:xfrm>
                  <a:prstGeom prst="line">
                    <a:avLst/>
                  </a:prstGeom>
                  <a:noFill/>
                  <a:ln w="28575">
                    <a:solidFill>
                      <a:srgbClr val="DBF5F9"/>
                    </a:solidFill>
                    <a:round/>
                  </a:ln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4" name="Line 54"/>
              <p:cNvSpPr>
                <a:spLocks noChangeShapeType="1"/>
              </p:cNvSpPr>
              <p:nvPr/>
            </p:nvSpPr>
            <p:spPr bwMode="auto">
              <a:xfrm>
                <a:off x="4080" y="1904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6" name="Group 58"/>
          <p:cNvGrpSpPr/>
          <p:nvPr/>
        </p:nvGrpSpPr>
        <p:grpSpPr bwMode="auto">
          <a:xfrm>
            <a:off x="6338888" y="4376738"/>
            <a:ext cx="1866900" cy="1711325"/>
            <a:chOff x="432" y="1680"/>
            <a:chExt cx="1176" cy="1078"/>
          </a:xfrm>
        </p:grpSpPr>
        <p:sp>
          <p:nvSpPr>
            <p:cNvPr id="67" name="Line 59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9" name="Line 61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0" name="Line 62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71" name="Group 63"/>
            <p:cNvGrpSpPr/>
            <p:nvPr/>
          </p:nvGrpSpPr>
          <p:grpSpPr bwMode="auto">
            <a:xfrm>
              <a:off x="432" y="1680"/>
              <a:ext cx="408" cy="310"/>
              <a:chOff x="432" y="1680"/>
              <a:chExt cx="408" cy="310"/>
            </a:xfrm>
          </p:grpSpPr>
          <p:sp>
            <p:nvSpPr>
              <p:cNvPr id="81" name="Oval 6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Text Box 6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310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2" name="Group 66"/>
            <p:cNvGrpSpPr/>
            <p:nvPr/>
          </p:nvGrpSpPr>
          <p:grpSpPr bwMode="auto">
            <a:xfrm>
              <a:off x="1200" y="1682"/>
              <a:ext cx="408" cy="310"/>
              <a:chOff x="432" y="1680"/>
              <a:chExt cx="408" cy="310"/>
            </a:xfrm>
          </p:grpSpPr>
          <p:sp>
            <p:nvSpPr>
              <p:cNvPr id="79" name="Oval 6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Text Box 6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310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3" name="Group 69"/>
            <p:cNvGrpSpPr/>
            <p:nvPr/>
          </p:nvGrpSpPr>
          <p:grpSpPr bwMode="auto">
            <a:xfrm>
              <a:off x="432" y="2448"/>
              <a:ext cx="408" cy="310"/>
              <a:chOff x="432" y="1680"/>
              <a:chExt cx="408" cy="310"/>
            </a:xfrm>
          </p:grpSpPr>
          <p:sp>
            <p:nvSpPr>
              <p:cNvPr id="77" name="Oval 7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Text Box 71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310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4" name="Group 72"/>
            <p:cNvGrpSpPr/>
            <p:nvPr/>
          </p:nvGrpSpPr>
          <p:grpSpPr bwMode="auto">
            <a:xfrm>
              <a:off x="1200" y="2448"/>
              <a:ext cx="408" cy="310"/>
              <a:chOff x="432" y="1680"/>
              <a:chExt cx="408" cy="310"/>
            </a:xfrm>
          </p:grpSpPr>
          <p:sp>
            <p:nvSpPr>
              <p:cNvPr id="75" name="Oval 7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Text Box 74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310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逆邻接表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CE2F-889F-4018-91B7-27D68B3E7CD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5410200" y="2514600"/>
            <a:ext cx="1123950" cy="3746500"/>
          </a:xfrm>
          <a:prstGeom prst="rect">
            <a:avLst/>
          </a:prstGeom>
          <a:solidFill>
            <a:srgbClr val="99CCFF">
              <a:alpha val="50195"/>
            </a:srgbClr>
          </a:solidFill>
          <a:ln w="3175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A    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B    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C    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D    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E    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5410200" y="32004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5410200" y="39624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5410200" y="47244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5410200" y="54864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6096000" y="2514600"/>
            <a:ext cx="0" cy="37338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6918325" y="32654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H="1">
            <a:off x="7467600" y="32766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Line 23"/>
          <p:cNvSpPr>
            <a:spLocks noChangeShapeType="1"/>
          </p:cNvSpPr>
          <p:nvPr/>
        </p:nvSpPr>
        <p:spPr bwMode="auto">
          <a:xfrm>
            <a:off x="6324600" y="35814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8213725" y="32766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25"/>
          <p:cNvSpPr>
            <a:spLocks noChangeShapeType="1"/>
          </p:cNvSpPr>
          <p:nvPr/>
        </p:nvSpPr>
        <p:spPr bwMode="auto">
          <a:xfrm flipH="1">
            <a:off x="8763000" y="32877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7620000" y="3592513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6918325" y="25146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 flipH="1">
            <a:off x="7467600" y="25257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6918325" y="40274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Line 31"/>
          <p:cNvSpPr>
            <a:spLocks noChangeShapeType="1"/>
          </p:cNvSpPr>
          <p:nvPr/>
        </p:nvSpPr>
        <p:spPr bwMode="auto">
          <a:xfrm flipH="1">
            <a:off x="7467600" y="40386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Line 32"/>
          <p:cNvSpPr>
            <a:spLocks noChangeShapeType="1"/>
          </p:cNvSpPr>
          <p:nvPr/>
        </p:nvSpPr>
        <p:spPr bwMode="auto">
          <a:xfrm>
            <a:off x="6324600" y="43434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6918325" y="47894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 flipH="1">
            <a:off x="7467600" y="48006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6324600" y="51054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6918325" y="55626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Line 37"/>
          <p:cNvSpPr>
            <a:spLocks noChangeShapeType="1"/>
          </p:cNvSpPr>
          <p:nvPr/>
        </p:nvSpPr>
        <p:spPr bwMode="auto">
          <a:xfrm flipH="1">
            <a:off x="7467600" y="55737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Line 38"/>
          <p:cNvSpPr>
            <a:spLocks noChangeShapeType="1"/>
          </p:cNvSpPr>
          <p:nvPr/>
        </p:nvSpPr>
        <p:spPr bwMode="auto">
          <a:xfrm>
            <a:off x="6324600" y="5878513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7391400" y="2514600"/>
            <a:ext cx="39846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" name="Rectangle 40"/>
          <p:cNvSpPr>
            <a:spLocks noChangeArrowheads="1"/>
          </p:cNvSpPr>
          <p:nvPr/>
        </p:nvSpPr>
        <p:spPr bwMode="auto">
          <a:xfrm>
            <a:off x="8745538" y="3276600"/>
            <a:ext cx="39846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" name="Rectangle 41"/>
          <p:cNvSpPr>
            <a:spLocks noChangeArrowheads="1"/>
          </p:cNvSpPr>
          <p:nvPr/>
        </p:nvSpPr>
        <p:spPr bwMode="auto">
          <a:xfrm>
            <a:off x="7391400" y="4038600"/>
            <a:ext cx="39846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7391400" y="4800600"/>
            <a:ext cx="39846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" name="Rectangle 43"/>
          <p:cNvSpPr>
            <a:spLocks noChangeArrowheads="1"/>
          </p:cNvSpPr>
          <p:nvPr/>
        </p:nvSpPr>
        <p:spPr bwMode="auto">
          <a:xfrm>
            <a:off x="7391400" y="5562600"/>
            <a:ext cx="39846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" name="Text Box 44"/>
          <p:cNvSpPr txBox="1">
            <a:spLocks noChangeArrowheads="1"/>
          </p:cNvSpPr>
          <p:nvPr/>
        </p:nvSpPr>
        <p:spPr bwMode="auto">
          <a:xfrm>
            <a:off x="5013325" y="2533650"/>
            <a:ext cx="387350" cy="3638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1855788" y="1828800"/>
            <a:ext cx="3821112" cy="4905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给出网络的逆邻接表</a:t>
            </a:r>
            <a:endParaRPr kumimoji="1" lang="zh-CN" altLang="en-US" sz="2400" b="1" dirty="0">
              <a:solidFill>
                <a:srgbClr val="003300"/>
              </a:solidFill>
              <a:latin typeface="楷体_GB2312" pitchFamily="49" charset="-122"/>
            </a:endParaRPr>
          </a:p>
        </p:txBody>
      </p:sp>
      <p:sp>
        <p:nvSpPr>
          <p:cNvPr id="43" name="Oval 44"/>
          <p:cNvSpPr>
            <a:spLocks noChangeArrowheads="1"/>
          </p:cNvSpPr>
          <p:nvPr/>
        </p:nvSpPr>
        <p:spPr bwMode="auto">
          <a:xfrm>
            <a:off x="598488" y="1900238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Line 2"/>
          <p:cNvSpPr>
            <a:spLocks noChangeShapeType="1"/>
          </p:cNvSpPr>
          <p:nvPr/>
        </p:nvSpPr>
        <p:spPr bwMode="auto">
          <a:xfrm flipH="1">
            <a:off x="1333500" y="32766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Line 3"/>
          <p:cNvSpPr>
            <a:spLocks noChangeShapeType="1"/>
          </p:cNvSpPr>
          <p:nvPr/>
        </p:nvSpPr>
        <p:spPr bwMode="auto">
          <a:xfrm>
            <a:off x="1485900" y="4419600"/>
            <a:ext cx="457200" cy="587375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Line 4"/>
          <p:cNvSpPr>
            <a:spLocks noChangeShapeType="1"/>
          </p:cNvSpPr>
          <p:nvPr/>
        </p:nvSpPr>
        <p:spPr bwMode="auto">
          <a:xfrm>
            <a:off x="2400300" y="5105400"/>
            <a:ext cx="914400" cy="1588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Line 5"/>
          <p:cNvSpPr>
            <a:spLocks noChangeShapeType="1"/>
          </p:cNvSpPr>
          <p:nvPr/>
        </p:nvSpPr>
        <p:spPr bwMode="auto">
          <a:xfrm flipH="1" flipV="1">
            <a:off x="2857500" y="3429000"/>
            <a:ext cx="685800" cy="1524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>
            <a:off x="3086100" y="32766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H="1" flipV="1">
            <a:off x="1562100" y="4191000"/>
            <a:ext cx="18288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 flipH="1">
            <a:off x="2171700" y="41910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Oval 9"/>
          <p:cNvSpPr>
            <a:spLocks noChangeArrowheads="1"/>
          </p:cNvSpPr>
          <p:nvPr/>
        </p:nvSpPr>
        <p:spPr bwMode="auto">
          <a:xfrm>
            <a:off x="2628900" y="30480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Oval 10"/>
          <p:cNvSpPr>
            <a:spLocks noChangeArrowheads="1"/>
          </p:cNvSpPr>
          <p:nvPr/>
        </p:nvSpPr>
        <p:spPr bwMode="auto">
          <a:xfrm>
            <a:off x="1104900" y="39624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66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Oval 11"/>
          <p:cNvSpPr>
            <a:spLocks noChangeArrowheads="1"/>
          </p:cNvSpPr>
          <p:nvPr/>
        </p:nvSpPr>
        <p:spPr bwMode="auto">
          <a:xfrm>
            <a:off x="4152900" y="39624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66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Oval 12"/>
          <p:cNvSpPr>
            <a:spLocks noChangeArrowheads="1"/>
          </p:cNvSpPr>
          <p:nvPr/>
        </p:nvSpPr>
        <p:spPr bwMode="auto">
          <a:xfrm>
            <a:off x="1943100" y="48768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Oval 13"/>
          <p:cNvSpPr>
            <a:spLocks noChangeArrowheads="1"/>
          </p:cNvSpPr>
          <p:nvPr/>
        </p:nvSpPr>
        <p:spPr bwMode="auto">
          <a:xfrm>
            <a:off x="3314700" y="48768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66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4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6391275" y="285115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5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邻接表（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Adjacency List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B93F-677D-4058-B6BF-31877D21C21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 Box 2"/>
          <p:cNvSpPr txBox="1">
            <a:spLocks noChangeArrowheads="1"/>
          </p:cNvSpPr>
          <p:nvPr/>
        </p:nvSpPr>
        <p:spPr bwMode="auto">
          <a:xfrm>
            <a:off x="250825" y="1246187"/>
            <a:ext cx="8664575" cy="5078413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algn="just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200" b="1" dirty="0">
                <a:solidFill>
                  <a:srgbClr val="006600"/>
                </a:solidFill>
                <a:latin typeface="楷体_GB2312" pitchFamily="49" charset="-122"/>
              </a:rPr>
              <a:t>邻接表的性质</a:t>
            </a:r>
            <a:endParaRPr kumimoji="1" lang="zh-CN" altLang="en-US" sz="3200" b="1" dirty="0">
              <a:solidFill>
                <a:srgbClr val="006600"/>
              </a:solidFill>
              <a:latin typeface="楷体_GB2312" pitchFamily="49" charset="-122"/>
            </a:endParaRPr>
          </a:p>
          <a:p>
            <a:pPr marL="914400" lvl="1" indent="-457200" algn="just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3300"/>
              </a:buClr>
              <a:buFont typeface="Wingdings" panose="05000000000000000000" pitchFamily="2" charset="2"/>
              <a:buChar char="ü"/>
            </a:pP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图的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邻接表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表示不唯一的，它与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边结点的次序有关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；</a:t>
            </a:r>
            <a:endParaRPr kumimoji="1" lang="zh-CN" altLang="en-US" sz="2600" b="1" dirty="0">
              <a:solidFill>
                <a:srgbClr val="003366"/>
              </a:solidFill>
              <a:latin typeface="楷体_GB2312" pitchFamily="49" charset="-122"/>
            </a:endParaRPr>
          </a:p>
          <a:p>
            <a:pPr marL="914400" lvl="1" indent="-457200" algn="just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3300"/>
              </a:buClr>
              <a:buFont typeface="Wingdings" panose="05000000000000000000" pitchFamily="2" charset="2"/>
              <a:buChar char="ü"/>
            </a:pP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无向图的邻接表中第</a:t>
            </a:r>
            <a:r>
              <a:rPr kumimoji="1" lang="en-US" altLang="zh-CN" sz="2600" b="1" dirty="0" err="1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个顶点的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度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为第</a:t>
            </a:r>
            <a:r>
              <a:rPr kumimoji="1" lang="en-US" altLang="zh-CN" sz="2600" b="1" dirty="0" err="1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个链表中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结点的个数；</a:t>
            </a:r>
            <a:endParaRPr kumimoji="1" lang="zh-CN" altLang="en-US" sz="2600" b="1" dirty="0">
              <a:solidFill>
                <a:srgbClr val="0000FF"/>
              </a:solidFill>
              <a:latin typeface="楷体_GB2312" pitchFamily="49" charset="-122"/>
            </a:endParaRPr>
          </a:p>
          <a:p>
            <a:pPr marL="914400" lvl="1" indent="-457200" algn="just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3300"/>
              </a:buClr>
              <a:buFont typeface="Wingdings" panose="05000000000000000000" pitchFamily="2" charset="2"/>
              <a:buChar char="ü"/>
            </a:pP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有向图的邻接表中第</a:t>
            </a:r>
            <a:r>
              <a:rPr kumimoji="1" lang="en-US" altLang="zh-CN" sz="2600" b="1" dirty="0" err="1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个链表的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结点的个数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是第</a:t>
            </a:r>
            <a:r>
              <a:rPr kumimoji="1" lang="en-US" altLang="zh-CN" sz="2600" b="1" dirty="0" err="1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个顶点的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出度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；而第</a:t>
            </a:r>
            <a:r>
              <a:rPr kumimoji="1" lang="en-US" altLang="zh-CN" sz="2600" b="1" dirty="0" err="1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个顶点的入度需遍历整个链表，采用逆邻接表</a:t>
            </a:r>
            <a:r>
              <a:rPr kumimoji="1" lang="en-US" altLang="zh-CN" sz="2600" b="1" dirty="0">
                <a:solidFill>
                  <a:srgbClr val="003366"/>
                </a:solidFill>
                <a:latin typeface="楷体_GB2312" pitchFamily="49" charset="-122"/>
              </a:rPr>
              <a:t>,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建立一个以</a:t>
            </a:r>
            <a:r>
              <a:rPr kumimoji="1" lang="en-US" altLang="zh-CN" sz="2600" b="1" dirty="0">
                <a:solidFill>
                  <a:srgbClr val="003366"/>
                </a:solidFill>
                <a:latin typeface="楷体_GB2312" pitchFamily="49" charset="-122"/>
              </a:rPr>
              <a:t>v</a:t>
            </a:r>
            <a:r>
              <a:rPr kumimoji="1" lang="en-US" altLang="zh-CN" sz="2600" b="1" baseline="-25000" dirty="0">
                <a:solidFill>
                  <a:srgbClr val="003366"/>
                </a:solidFill>
                <a:latin typeface="楷体_GB2312" pitchFamily="49" charset="-122"/>
              </a:rPr>
              <a:t>i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顶点为头的弧的表。</a:t>
            </a:r>
            <a:endParaRPr kumimoji="1" lang="zh-CN" altLang="en-US" sz="2600" b="1" dirty="0">
              <a:solidFill>
                <a:srgbClr val="003366"/>
              </a:solidFill>
              <a:latin typeface="楷体_GB2312" pitchFamily="49" charset="-122"/>
            </a:endParaRPr>
          </a:p>
          <a:p>
            <a:pPr marL="914400" lvl="1" indent="-457200" algn="just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003300"/>
              </a:buClr>
              <a:buFont typeface="Wingdings" panose="05000000000000000000" pitchFamily="2" charset="2"/>
              <a:buChar char="ü"/>
            </a:pP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无向图的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边数等于邻接表中边结点数的一半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，有向图的弧数</a:t>
            </a:r>
            <a:r>
              <a:rPr kumimoji="1" lang="zh-CN" altLang="en-US" sz="2600" b="1" dirty="0">
                <a:solidFill>
                  <a:srgbClr val="0000FF"/>
                </a:solidFill>
                <a:latin typeface="楷体_GB2312" pitchFamily="49" charset="-122"/>
              </a:rPr>
              <a:t>等于邻接表中边结点数</a:t>
            </a:r>
            <a:r>
              <a:rPr kumimoji="1" lang="zh-CN" altLang="en-US" sz="2600" b="1" dirty="0">
                <a:solidFill>
                  <a:srgbClr val="003366"/>
                </a:solidFill>
                <a:latin typeface="楷体_GB2312" pitchFamily="49" charset="-122"/>
              </a:rPr>
              <a:t>。</a:t>
            </a:r>
            <a:endParaRPr kumimoji="1" lang="en-US" altLang="zh-CN" sz="2600" b="1" dirty="0">
              <a:solidFill>
                <a:srgbClr val="0000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图的存储结构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9.2.1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顺序存储（集合与图论）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9.2.2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邻接表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链式存储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9.2.3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有向图的十字链表存储表示 （了解）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9.2.4 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无向图的邻接多重表存储表示（了解）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952B-C3C1-4EA8-8281-0F393D3B7B1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十字链表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(Orthogonal List)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十字链表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EA44-6667-40DE-8339-1322A302279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mment 4"/>
          <p:cNvSpPr>
            <a:spLocks noChangeArrowheads="1"/>
          </p:cNvSpPr>
          <p:nvPr/>
        </p:nvSpPr>
        <p:spPr bwMode="auto">
          <a:xfrm>
            <a:off x="423863" y="2743200"/>
            <a:ext cx="4548187" cy="646113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弧的结点结构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链表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76200" y="4005263"/>
            <a:ext cx="8991600" cy="584200"/>
          </a:xfrm>
          <a:prstGeom prst="rect">
            <a:avLst/>
          </a:prstGeom>
          <a:solidFill>
            <a:srgbClr val="CCFFFF"/>
          </a:solidFill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弧尾顶点位置 弧头顶点位置             弧的相关信息</a:t>
            </a:r>
            <a:endParaRPr kumimoji="1"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2667000" y="4024313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5334000" y="4024313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6400800" y="4024313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5867400" y="4024313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6096000" y="4329113"/>
            <a:ext cx="0" cy="685800"/>
          </a:xfrm>
          <a:prstGeom prst="line">
            <a:avLst/>
          </a:prstGeom>
          <a:noFill/>
          <a:ln w="31750" cap="sq">
            <a:solidFill>
              <a:srgbClr val="04617B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5562600" y="4297363"/>
            <a:ext cx="0" cy="685800"/>
          </a:xfrm>
          <a:prstGeom prst="line">
            <a:avLst/>
          </a:prstGeom>
          <a:noFill/>
          <a:ln w="31750" cap="sq">
            <a:solidFill>
              <a:srgbClr val="04617B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Comment 14"/>
          <p:cNvSpPr>
            <a:spLocks noChangeArrowheads="1"/>
          </p:cNvSpPr>
          <p:nvPr/>
        </p:nvSpPr>
        <p:spPr bwMode="auto">
          <a:xfrm>
            <a:off x="5943600" y="5014913"/>
            <a:ext cx="1981200" cy="1385887"/>
          </a:xfrm>
          <a:prstGeom prst="rect">
            <a:avLst/>
          </a:prstGeom>
          <a:solidFill>
            <a:srgbClr val="FCFDC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指向下一个有相同弧尾的弧结点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Comment 15"/>
          <p:cNvSpPr>
            <a:spLocks noChangeArrowheads="1"/>
          </p:cNvSpPr>
          <p:nvPr/>
        </p:nvSpPr>
        <p:spPr bwMode="auto">
          <a:xfrm>
            <a:off x="3581400" y="5014913"/>
            <a:ext cx="2133600" cy="1385887"/>
          </a:xfrm>
          <a:prstGeom prst="rect">
            <a:avLst/>
          </a:prstGeom>
          <a:solidFill>
            <a:srgbClr val="FCFDC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指向下一个有相同弧头的弧结点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0988" y="1814513"/>
            <a:ext cx="8559800" cy="49212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特点：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将有向图的邻接表和逆邻接表结合得到的一种链表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  <p:bldP spid="13" grpId="0" animBg="1" autoUpdateAnimBg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 autoUpdateAnimBg="0"/>
      <p:bldP spid="21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十字链表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(Orthogonal List)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十字链表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EC3B-5411-4049-BAB4-1488963C910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80988" y="1814513"/>
            <a:ext cx="8559800" cy="49212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600" b="1" kern="0" dirty="0">
                <a:solidFill>
                  <a:srgbClr val="FF0000"/>
                </a:solidFill>
                <a:latin typeface="Constantia" panose="02030602050306030303"/>
              </a:rPr>
              <a:t>特点：</a:t>
            </a:r>
            <a:r>
              <a:rPr kumimoji="1" lang="zh-CN" altLang="en-US" sz="2600" b="1" kern="0" dirty="0">
                <a:solidFill>
                  <a:srgbClr val="0000FF"/>
                </a:solidFill>
                <a:latin typeface="Constantia" panose="02030602050306030303"/>
              </a:rPr>
              <a:t>将有向图的邻接表和逆邻接表结合得到的一种链表</a:t>
            </a:r>
            <a:endParaRPr kumimoji="1" lang="zh-CN" altLang="en-US" sz="2600" b="1" kern="0" dirty="0">
              <a:solidFill>
                <a:srgbClr val="0000FF"/>
              </a:solidFill>
              <a:latin typeface="Constantia" panose="02030602050306030303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571500" y="2733675"/>
          <a:ext cx="7325132" cy="518160"/>
        </p:xfrm>
        <a:graphic>
          <a:graphicData uri="http://schemas.openxmlformats.org/drawingml/2006/table">
            <a:tbl>
              <a:tblPr firstRow="1" bandRow="1"/>
              <a:tblGrid>
                <a:gridCol w="1403785"/>
                <a:gridCol w="1709992"/>
                <a:gridCol w="1403785"/>
                <a:gridCol w="1403785"/>
                <a:gridCol w="1403785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tailvex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headvex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hlink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tlink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info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809625" y="3773487"/>
            <a:ext cx="6762750" cy="2246313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ArcBox { 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的结构表示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int tailvex, headvex;   InfoType  *info;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struct ArcBox  *hlink, *tlink;  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} VexNode;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十字链表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(Orthogonal List)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十字链表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C443-A817-4819-85E2-E1916EB1BDC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omment 2"/>
          <p:cNvSpPr>
            <a:spLocks noChangeArrowheads="1"/>
          </p:cNvSpPr>
          <p:nvPr/>
        </p:nvSpPr>
        <p:spPr bwMode="auto">
          <a:xfrm>
            <a:off x="561975" y="1730375"/>
            <a:ext cx="3429000" cy="522287"/>
          </a:xfrm>
          <a:prstGeom prst="rect">
            <a:avLst/>
          </a:prstGeom>
          <a:solidFill>
            <a:srgbClr val="FCFDC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顶点的结点结构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1019175" y="2438400"/>
            <a:ext cx="6019800" cy="522287"/>
          </a:xfrm>
          <a:prstGeom prst="rect">
            <a:avLst/>
          </a:prstGeom>
          <a:solidFill>
            <a:srgbClr val="CCFFFF"/>
          </a:solidFill>
          <a:ln w="12700" cap="sq">
            <a:solidFill>
              <a:srgbClr val="04617B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顶点信息数据            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>
            <a:off x="3679825" y="2457450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5362575" y="2457450"/>
            <a:ext cx="0" cy="609600"/>
          </a:xfrm>
          <a:prstGeom prst="line">
            <a:avLst/>
          </a:prstGeom>
          <a:noFill/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4524375" y="2743200"/>
            <a:ext cx="0" cy="685800"/>
          </a:xfrm>
          <a:prstGeom prst="line">
            <a:avLst/>
          </a:prstGeom>
          <a:noFill/>
          <a:ln w="31750" cap="sq">
            <a:solidFill>
              <a:srgbClr val="0000CC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7"/>
          <p:cNvSpPr>
            <a:spLocks noChangeShapeType="1"/>
          </p:cNvSpPr>
          <p:nvPr/>
        </p:nvSpPr>
        <p:spPr bwMode="auto">
          <a:xfrm>
            <a:off x="6200775" y="2762250"/>
            <a:ext cx="0" cy="685800"/>
          </a:xfrm>
          <a:prstGeom prst="line">
            <a:avLst/>
          </a:prstGeom>
          <a:noFill/>
          <a:ln w="31750" cap="sq">
            <a:solidFill>
              <a:srgbClr val="0000CC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Comment 8"/>
          <p:cNvSpPr>
            <a:spLocks noChangeArrowheads="1"/>
          </p:cNvSpPr>
          <p:nvPr/>
        </p:nvSpPr>
        <p:spPr bwMode="auto">
          <a:xfrm>
            <a:off x="2781300" y="3425825"/>
            <a:ext cx="2362200" cy="958850"/>
          </a:xfrm>
          <a:prstGeom prst="rect">
            <a:avLst/>
          </a:prstGeom>
          <a:solidFill>
            <a:srgbClr val="FCFDC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指向该顶点的第一条入弧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34" name="Comment 9"/>
          <p:cNvSpPr>
            <a:spLocks noChangeArrowheads="1"/>
          </p:cNvSpPr>
          <p:nvPr/>
        </p:nvSpPr>
        <p:spPr bwMode="auto">
          <a:xfrm>
            <a:off x="5715000" y="3384550"/>
            <a:ext cx="2362200" cy="958850"/>
          </a:xfrm>
          <a:prstGeom prst="rect">
            <a:avLst/>
          </a:prstGeom>
          <a:solidFill>
            <a:srgbClr val="FCFDC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DBF5F9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指向该顶点的第一条出弧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1181100" y="4495800"/>
            <a:ext cx="6891338" cy="2195513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VexNode { 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顶点的结构表示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VertexType  data;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ArcBox  *firstin, *firstout;  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} VexNode;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nimBg="1" autoUpdateAnimBg="0"/>
      <p:bldP spid="28" grpId="0" animBg="1"/>
      <p:bldP spid="29" grpId="0" animBg="1"/>
      <p:bldP spid="31" grpId="0" animBg="1"/>
      <p:bldP spid="32" grpId="0" animBg="1"/>
      <p:bldP spid="33" grpId="0" animBg="1" autoUpdateAnimBg="0"/>
      <p:bldP spid="34" grpId="0" animBg="1" autoUpdateAnimBg="0"/>
      <p:bldP spid="35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十字链表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(Orthogonal List)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十字链表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有向图的链式存储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64DC-3FE3-4DE2-8D1A-97FC5B5C56F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947738" y="1857375"/>
            <a:ext cx="7281862" cy="3324225"/>
          </a:xfrm>
          <a:prstGeom prst="rect">
            <a:avLst/>
          </a:prstGeom>
          <a:noFill/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{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VexNode  xlist[MAX_VERTEX_NUM];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顶点结点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表头向量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int   vexnum, arcnum;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//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有向图的当前顶点数和弧数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} OLGraph;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3" name="Group 19"/>
          <p:cNvGrpSpPr/>
          <p:nvPr/>
        </p:nvGrpSpPr>
        <p:grpSpPr bwMode="auto">
          <a:xfrm>
            <a:off x="7358063" y="4598987"/>
            <a:ext cx="1743075" cy="1658938"/>
            <a:chOff x="702" y="1892"/>
            <a:chExt cx="1098" cy="1045"/>
          </a:xfrm>
        </p:grpSpPr>
        <p:grpSp>
          <p:nvGrpSpPr>
            <p:cNvPr id="14" name="Group 27"/>
            <p:cNvGrpSpPr/>
            <p:nvPr/>
          </p:nvGrpSpPr>
          <p:grpSpPr bwMode="auto">
            <a:xfrm>
              <a:off x="704" y="1892"/>
              <a:ext cx="439" cy="325"/>
              <a:chOff x="462" y="1652"/>
              <a:chExt cx="439" cy="325"/>
            </a:xfrm>
          </p:grpSpPr>
          <p:sp>
            <p:nvSpPr>
              <p:cNvPr id="27" name="Oval 2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Text Box 29"/>
              <p:cNvSpPr txBox="1">
                <a:spLocks noChangeArrowheads="1"/>
              </p:cNvSpPr>
              <p:nvPr/>
            </p:nvSpPr>
            <p:spPr bwMode="auto">
              <a:xfrm>
                <a:off x="493" y="165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A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5" name="Group 30"/>
            <p:cNvGrpSpPr/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25" name="Oval 3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3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91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C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6" name="Group 33"/>
            <p:cNvGrpSpPr/>
            <p:nvPr/>
          </p:nvGrpSpPr>
          <p:grpSpPr bwMode="auto">
            <a:xfrm>
              <a:off x="702" y="2612"/>
              <a:ext cx="441" cy="325"/>
              <a:chOff x="462" y="1652"/>
              <a:chExt cx="441" cy="325"/>
            </a:xfrm>
          </p:grpSpPr>
          <p:sp>
            <p:nvSpPr>
              <p:cNvPr id="23" name="Oval 3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Text Box 35"/>
              <p:cNvSpPr txBox="1">
                <a:spLocks noChangeArrowheads="1"/>
              </p:cNvSpPr>
              <p:nvPr/>
            </p:nvSpPr>
            <p:spPr bwMode="auto">
              <a:xfrm>
                <a:off x="495" y="165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B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7" name="Group 36"/>
            <p:cNvGrpSpPr/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21" name="Oval 37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Text Box 38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91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E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8" name="Group 39"/>
            <p:cNvGrpSpPr/>
            <p:nvPr/>
          </p:nvGrpSpPr>
          <p:grpSpPr bwMode="auto">
            <a:xfrm>
              <a:off x="1008" y="2297"/>
              <a:ext cx="408" cy="301"/>
              <a:chOff x="1008" y="2297"/>
              <a:chExt cx="408" cy="301"/>
            </a:xfrm>
          </p:grpSpPr>
          <p:sp>
            <p:nvSpPr>
              <p:cNvPr id="19" name="Oval 40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Text Box 41"/>
              <p:cNvSpPr txBox="1">
                <a:spLocks noChangeArrowheads="1"/>
              </p:cNvSpPr>
              <p:nvPr/>
            </p:nvSpPr>
            <p:spPr bwMode="auto">
              <a:xfrm>
                <a:off x="1008" y="2297"/>
                <a:ext cx="408" cy="291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D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cxnSp>
        <p:nvCxnSpPr>
          <p:cNvPr id="29" name="直接箭头连接符 47"/>
          <p:cNvCxnSpPr>
            <a:cxnSpLocks noChangeShapeType="1"/>
          </p:cNvCxnSpPr>
          <p:nvPr/>
        </p:nvCxnSpPr>
        <p:spPr bwMode="auto">
          <a:xfrm rot="5400000">
            <a:off x="7204075" y="5459413"/>
            <a:ext cx="695325" cy="12700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1" name="直接箭头连接符 48"/>
          <p:cNvCxnSpPr>
            <a:cxnSpLocks noChangeShapeType="1"/>
          </p:cNvCxnSpPr>
          <p:nvPr/>
        </p:nvCxnSpPr>
        <p:spPr bwMode="auto">
          <a:xfrm flipV="1">
            <a:off x="7820025" y="4876800"/>
            <a:ext cx="674688" cy="4762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2" name="直接箭头连接符 49"/>
          <p:cNvCxnSpPr>
            <a:cxnSpLocks noChangeShapeType="1"/>
          </p:cNvCxnSpPr>
          <p:nvPr/>
        </p:nvCxnSpPr>
        <p:spPr bwMode="auto">
          <a:xfrm rot="16200000" flipH="1">
            <a:off x="8419307" y="5428456"/>
            <a:ext cx="681037" cy="34925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3" name="直接箭头连接符 50"/>
          <p:cNvCxnSpPr>
            <a:cxnSpLocks noChangeShapeType="1"/>
          </p:cNvCxnSpPr>
          <p:nvPr/>
        </p:nvCxnSpPr>
        <p:spPr bwMode="auto">
          <a:xfrm flipV="1">
            <a:off x="7816850" y="6016625"/>
            <a:ext cx="636588" cy="7937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4" name="直接箭头连接符 51"/>
          <p:cNvCxnSpPr>
            <a:cxnSpLocks noChangeShapeType="1"/>
          </p:cNvCxnSpPr>
          <p:nvPr/>
        </p:nvCxnSpPr>
        <p:spPr bwMode="auto">
          <a:xfrm rot="10800000">
            <a:off x="7700963" y="5027612"/>
            <a:ext cx="285750" cy="285750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5" name="直接箭头连接符 52"/>
          <p:cNvCxnSpPr>
            <a:cxnSpLocks noChangeShapeType="1"/>
          </p:cNvCxnSpPr>
          <p:nvPr/>
        </p:nvCxnSpPr>
        <p:spPr bwMode="auto">
          <a:xfrm rot="5400000">
            <a:off x="7700963" y="5599112"/>
            <a:ext cx="285750" cy="285750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36" name="直接箭头连接符 53"/>
          <p:cNvCxnSpPr>
            <a:cxnSpLocks noChangeShapeType="1"/>
          </p:cNvCxnSpPr>
          <p:nvPr/>
        </p:nvCxnSpPr>
        <p:spPr bwMode="auto">
          <a:xfrm rot="16200000" flipV="1">
            <a:off x="8339932" y="5631656"/>
            <a:ext cx="207962" cy="247650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sp>
        <p:nvSpPr>
          <p:cNvPr id="37" name="虚尾箭头 36">
            <a:hlinkClick r:id="rId2" action="ppaction://hlinkfile"/>
          </p:cNvPr>
          <p:cNvSpPr/>
          <p:nvPr/>
        </p:nvSpPr>
        <p:spPr bwMode="auto">
          <a:xfrm>
            <a:off x="3929058" y="5329252"/>
            <a:ext cx="1571636" cy="928694"/>
          </a:xfrm>
          <a:prstGeom prst="stripedRightArrow">
            <a:avLst/>
          </a:prstGeom>
          <a:solidFill>
            <a:srgbClr val="DBF5F9">
              <a:lumMod val="9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图示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图的存储结构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9.2.1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邻接矩阵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顺序存储（集合与图论）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9.2.2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邻接表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------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链式存储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9.2.3 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有向图的十字链表存储表示 （了解）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9.2.4  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无向图的邻接多重表存储表示（了解）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29E4-2641-4EDA-8141-26C2F12EEDA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9.2.4  </a:t>
            </a:r>
            <a:r>
              <a:rPr kumimoji="1"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邻接多重表 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(Adjacency </a:t>
            </a:r>
            <a:r>
              <a:rPr kumimoji="1"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multilistOrthogonal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List)</a:t>
            </a:r>
            <a:endParaRPr kumimoji="1"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邻接多重表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无向图的链式存储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5ED4-5B31-44B7-A48B-53AA985C288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85788" y="2995613"/>
            <a:ext cx="8201025" cy="3862387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typedef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struct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Ebox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{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VisitIf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mark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;      //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访问标记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int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ivex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,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jvex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;      //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该边依附的两个顶点的位置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struct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EBox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*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ilink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, *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jlink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;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                  //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分别指向依附这两个顶点的下一条边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infoType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*info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;          //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该边信息指针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}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EBox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741362" y="1734502"/>
            <a:ext cx="2633663" cy="523875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边的结构表示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455737" y="2377440"/>
          <a:ext cx="6240463" cy="518160"/>
        </p:xfrm>
        <a:graphic>
          <a:graphicData uri="http://schemas.openxmlformats.org/drawingml/2006/table">
            <a:tbl>
              <a:tblPr firstRow="1" bandRow="1"/>
              <a:tblGrid>
                <a:gridCol w="1160463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mark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ivex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ilink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jvex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jlink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info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9.2.4  </a:t>
            </a:r>
            <a:r>
              <a:rPr kumimoji="1"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邻接多重表 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(Adjacency </a:t>
            </a:r>
            <a:r>
              <a:rPr kumimoji="1"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multilistOrthogonal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List)</a:t>
            </a:r>
            <a:endParaRPr kumimoji="1"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邻接多重表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无向图的链式存储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47B2-4A4D-4BFA-ADE3-E4B2D00E2A2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838200" y="1743075"/>
            <a:ext cx="2994025" cy="523875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顶点的结构表示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41450" y="2589213"/>
          <a:ext cx="2928958" cy="518160"/>
        </p:xfrm>
        <a:graphic>
          <a:graphicData uri="http://schemas.openxmlformats.org/drawingml/2006/table">
            <a:tbl>
              <a:tblPr firstRow="1" bandRow="1"/>
              <a:tblGrid>
                <a:gridCol w="1143008"/>
                <a:gridCol w="1785950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data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 err="1"/>
                        <a:t>firstedge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981075" y="3494088"/>
            <a:ext cx="5929312" cy="2678112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VexBox {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VertexType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data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EBox  *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firstedge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指向第一条依附该顶点的边</a:t>
            </a:r>
            <a:endParaRPr kumimoji="1" lang="zh-CN" altLang="en-US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} VexBox;</a:t>
            </a:r>
            <a:endParaRPr kumimoji="1"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9.2.4  </a:t>
            </a:r>
            <a:r>
              <a:rPr kumimoji="1"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邻接多重表 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(Adjacency </a:t>
            </a:r>
            <a:r>
              <a:rPr kumimoji="1"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multilistOrthogonal</a:t>
            </a:r>
            <a:r>
              <a:rPr kumimoji="1"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List)</a:t>
            </a:r>
            <a:endParaRPr kumimoji="1" lang="en-US" altLang="zh-CN" sz="24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邻接多重表</a:t>
            </a: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无向图的链式存储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0330-1C8C-4075-9FE5-E0EF9B509FC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838200" y="1809750"/>
            <a:ext cx="3355975" cy="523875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无向图的结构表示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90612" y="2903538"/>
            <a:ext cx="6745288" cy="2049462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typedef struct {  // </a:t>
            </a:r>
            <a:r>
              <a:rPr kumimoji="1"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邻接</a:t>
            </a:r>
            <a:r>
              <a:rPr kumimoji="1" lang="zh-CN" altLang="en-US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多重表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VexBox  adjmulist[MAX_VERTEX_NUM];</a:t>
            </a:r>
            <a:endParaRPr kumimoji="1" lang="en-US" altLang="zh-CN" sz="26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int   vexnum, edgenum;    </a:t>
            </a:r>
            <a:endParaRPr kumimoji="1" lang="en-US" altLang="zh-CN" sz="26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} AMLGraph;</a:t>
            </a:r>
            <a:endParaRPr kumimoji="1" lang="en-US" altLang="zh-CN" sz="26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0895-B676-447C-9446-AFA610B7A02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图的遍历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深度优先搜索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9.3.2 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广度优先搜索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ACC5-017A-46AE-A4FD-ADDF0FAE8A6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图的遍历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深度优先搜索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DFS ( Depth First Search )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9.3.2  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广度优先搜索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BFS ( Breadth First Search )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2848-07BB-4979-97AB-97ADA6BB8B9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3EB8B-89BE-4CAE-8E33-10D9313623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"/>
          <p:cNvGrpSpPr/>
          <p:nvPr/>
        </p:nvGrpSpPr>
        <p:grpSpPr bwMode="auto">
          <a:xfrm>
            <a:off x="6529388" y="2671763"/>
            <a:ext cx="647700" cy="466725"/>
            <a:chOff x="2928" y="3312"/>
            <a:chExt cx="408" cy="294"/>
          </a:xfrm>
        </p:grpSpPr>
        <p:sp>
          <p:nvSpPr>
            <p:cNvPr id="14" name="Oval 3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4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V0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16" name="Line 5"/>
          <p:cNvSpPr>
            <a:spLocks noChangeShapeType="1"/>
          </p:cNvSpPr>
          <p:nvPr/>
        </p:nvSpPr>
        <p:spPr bwMode="auto">
          <a:xfrm flipV="1">
            <a:off x="5057775" y="3511550"/>
            <a:ext cx="482600" cy="3460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 flipV="1">
            <a:off x="5889625" y="2917825"/>
            <a:ext cx="711200" cy="3730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926138" y="3511550"/>
            <a:ext cx="481012" cy="3460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7083425" y="2917825"/>
            <a:ext cx="819150" cy="3952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8242300" y="3560763"/>
            <a:ext cx="336550" cy="24606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V="1">
            <a:off x="7662863" y="3560763"/>
            <a:ext cx="288925" cy="29686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7759700" y="4005263"/>
            <a:ext cx="652463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V="1">
            <a:off x="5926138" y="4154488"/>
            <a:ext cx="530225" cy="3952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5233988" y="4195763"/>
            <a:ext cx="304800" cy="228600"/>
          </a:xfrm>
          <a:prstGeom prst="line">
            <a:avLst/>
          </a:prstGeom>
          <a:noFill/>
          <a:ln w="38100" cap="rnd">
            <a:solidFill>
              <a:srgbClr val="FF66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" name="Group 14"/>
          <p:cNvGrpSpPr/>
          <p:nvPr/>
        </p:nvGrpSpPr>
        <p:grpSpPr bwMode="auto">
          <a:xfrm>
            <a:off x="5462588" y="4348163"/>
            <a:ext cx="647700" cy="466725"/>
            <a:chOff x="2928" y="3312"/>
            <a:chExt cx="408" cy="294"/>
          </a:xfrm>
        </p:grpSpPr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V7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28" name="Group 17"/>
          <p:cNvGrpSpPr/>
          <p:nvPr/>
        </p:nvGrpSpPr>
        <p:grpSpPr bwMode="auto">
          <a:xfrm>
            <a:off x="8358188" y="3814763"/>
            <a:ext cx="647700" cy="466725"/>
            <a:chOff x="2928" y="3312"/>
            <a:chExt cx="408" cy="294"/>
          </a:xfrm>
        </p:grpSpPr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19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V6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1" name="Group 20"/>
          <p:cNvGrpSpPr/>
          <p:nvPr/>
        </p:nvGrpSpPr>
        <p:grpSpPr bwMode="auto">
          <a:xfrm>
            <a:off x="7291388" y="3814763"/>
            <a:ext cx="647700" cy="466725"/>
            <a:chOff x="2928" y="3312"/>
            <a:chExt cx="408" cy="294"/>
          </a:xfrm>
        </p:grpSpPr>
        <p:sp>
          <p:nvSpPr>
            <p:cNvPr id="32" name="Oval 21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V5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4" name="Group 23"/>
          <p:cNvGrpSpPr/>
          <p:nvPr/>
        </p:nvGrpSpPr>
        <p:grpSpPr bwMode="auto">
          <a:xfrm>
            <a:off x="6224588" y="3814763"/>
            <a:ext cx="647700" cy="466725"/>
            <a:chOff x="2928" y="3312"/>
            <a:chExt cx="408" cy="294"/>
          </a:xfrm>
        </p:grpSpPr>
        <p:sp>
          <p:nvSpPr>
            <p:cNvPr id="35" name="Oval 24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V4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7" name="Group 26"/>
          <p:cNvGrpSpPr/>
          <p:nvPr/>
        </p:nvGrpSpPr>
        <p:grpSpPr bwMode="auto">
          <a:xfrm>
            <a:off x="4700588" y="3814763"/>
            <a:ext cx="647700" cy="466725"/>
            <a:chOff x="2928" y="3312"/>
            <a:chExt cx="408" cy="294"/>
          </a:xfrm>
        </p:grpSpPr>
        <p:sp>
          <p:nvSpPr>
            <p:cNvPr id="38" name="Oval 27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8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V3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0" name="Group 29"/>
          <p:cNvGrpSpPr/>
          <p:nvPr/>
        </p:nvGrpSpPr>
        <p:grpSpPr bwMode="auto">
          <a:xfrm>
            <a:off x="7748588" y="3205163"/>
            <a:ext cx="647700" cy="466725"/>
            <a:chOff x="2928" y="3312"/>
            <a:chExt cx="408" cy="294"/>
          </a:xfrm>
        </p:grpSpPr>
        <p:sp>
          <p:nvSpPr>
            <p:cNvPr id="41" name="Oval 30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31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V2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3" name="Group 32"/>
          <p:cNvGrpSpPr/>
          <p:nvPr/>
        </p:nvGrpSpPr>
        <p:grpSpPr bwMode="auto">
          <a:xfrm>
            <a:off x="5462588" y="3128963"/>
            <a:ext cx="647700" cy="466725"/>
            <a:chOff x="2928" y="3312"/>
            <a:chExt cx="408" cy="294"/>
          </a:xfrm>
        </p:grpSpPr>
        <p:sp>
          <p:nvSpPr>
            <p:cNvPr id="44" name="Oval 33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V1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46" name="Text Box 36"/>
          <p:cNvSpPr txBox="1">
            <a:spLocks noChangeArrowheads="1"/>
          </p:cNvSpPr>
          <p:nvPr/>
        </p:nvSpPr>
        <p:spPr bwMode="auto">
          <a:xfrm>
            <a:off x="-228600" y="1771650"/>
            <a:ext cx="9144000" cy="45720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宋体" panose="02010600030101010101" pitchFamily="2" charset="-122"/>
              </a:rPr>
              <a:t>             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V0,V1,V3,V7,V4,V2,V5,V6,     </a:t>
            </a:r>
            <a:endParaRPr kumimoji="1"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AutoShape 37"/>
          <p:cNvSpPr>
            <a:spLocks noChangeArrowheads="1"/>
          </p:cNvSpPr>
          <p:nvPr/>
        </p:nvSpPr>
        <p:spPr bwMode="auto">
          <a:xfrm>
            <a:off x="280988" y="4495800"/>
            <a:ext cx="5010150" cy="1905000"/>
          </a:xfrm>
          <a:prstGeom prst="star32">
            <a:avLst>
              <a:gd name="adj" fmla="val 41667"/>
            </a:avLst>
          </a:prstGeom>
          <a:solidFill>
            <a:srgbClr val="DBF5F9">
              <a:lumMod val="90000"/>
            </a:srgbClr>
          </a:solidFill>
          <a:ln w="12700" cap="rnd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DBF5F9"/>
              </a:solidFill>
              <a:effectLst/>
              <a:uLnTx/>
              <a:uFillTx/>
              <a:latin typeface="隶书" panose="02010509060101010101" pitchFamily="49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</a:rPr>
              <a:t>由于没有规定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</a:rPr>
              <a:t>访问邻接点的顺序，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</a:rPr>
              <a:t>深度优先序列不是唯一的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8" name="Line 38"/>
          <p:cNvSpPr>
            <a:spLocks noChangeShapeType="1"/>
          </p:cNvSpPr>
          <p:nvPr/>
        </p:nvSpPr>
        <p:spPr bwMode="auto">
          <a:xfrm flipH="1">
            <a:off x="5843588" y="2824163"/>
            <a:ext cx="633412" cy="30480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9" name="Line 39"/>
          <p:cNvSpPr>
            <a:spLocks noChangeShapeType="1"/>
          </p:cNvSpPr>
          <p:nvPr/>
        </p:nvSpPr>
        <p:spPr bwMode="auto">
          <a:xfrm flipH="1">
            <a:off x="4929188" y="3433763"/>
            <a:ext cx="492125" cy="30480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 flipH="1">
            <a:off x="7596188" y="3509963"/>
            <a:ext cx="280987" cy="30480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1" name="Line 41"/>
          <p:cNvSpPr>
            <a:spLocks noChangeShapeType="1"/>
          </p:cNvSpPr>
          <p:nvPr/>
        </p:nvSpPr>
        <p:spPr bwMode="auto">
          <a:xfrm>
            <a:off x="7251700" y="2824163"/>
            <a:ext cx="703263" cy="38100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2" name="Line 42"/>
          <p:cNvSpPr>
            <a:spLocks noChangeShapeType="1"/>
          </p:cNvSpPr>
          <p:nvPr/>
        </p:nvSpPr>
        <p:spPr bwMode="auto">
          <a:xfrm>
            <a:off x="5081588" y="4271963"/>
            <a:ext cx="457200" cy="38100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7824788" y="4119563"/>
            <a:ext cx="563562" cy="0"/>
          </a:xfrm>
          <a:prstGeom prst="line">
            <a:avLst/>
          </a:prstGeom>
          <a:noFill/>
          <a:ln w="28575" cap="rnd">
            <a:solidFill>
              <a:srgbClr val="0F6FC6"/>
            </a:solidFill>
            <a:round/>
            <a:tailEnd type="triangle" w="med" len="lg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Oval 45"/>
          <p:cNvSpPr>
            <a:spLocks noChangeArrowheads="1"/>
          </p:cNvSpPr>
          <p:nvPr/>
        </p:nvSpPr>
        <p:spPr bwMode="auto">
          <a:xfrm>
            <a:off x="219075" y="1295400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Text Box 46"/>
          <p:cNvSpPr txBox="1">
            <a:spLocks noChangeArrowheads="1"/>
          </p:cNvSpPr>
          <p:nvPr/>
        </p:nvSpPr>
        <p:spPr bwMode="auto">
          <a:xfrm>
            <a:off x="1295400" y="1314450"/>
            <a:ext cx="5368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求图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G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以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V0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起点的的深度优先序列</a:t>
            </a:r>
            <a:r>
              <a:rPr kumimoji="1" lang="zh-CN" altLang="en-US" sz="2000" b="1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" name="Group 47"/>
          <p:cNvGrpSpPr/>
          <p:nvPr/>
        </p:nvGrpSpPr>
        <p:grpSpPr bwMode="auto">
          <a:xfrm>
            <a:off x="6529388" y="2671763"/>
            <a:ext cx="530225" cy="406400"/>
            <a:chOff x="1344" y="2304"/>
            <a:chExt cx="334" cy="256"/>
          </a:xfrm>
        </p:grpSpPr>
        <p:sp>
          <p:nvSpPr>
            <p:cNvPr id="57" name="Oval 48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49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5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V0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9" name="Group 50"/>
          <p:cNvGrpSpPr/>
          <p:nvPr/>
        </p:nvGrpSpPr>
        <p:grpSpPr bwMode="auto">
          <a:xfrm>
            <a:off x="5462588" y="3128963"/>
            <a:ext cx="530225" cy="406400"/>
            <a:chOff x="1344" y="2304"/>
            <a:chExt cx="334" cy="256"/>
          </a:xfrm>
        </p:grpSpPr>
        <p:sp>
          <p:nvSpPr>
            <p:cNvPr id="60" name="Oval 51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Text Box 52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5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V1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2" name="Group 53"/>
          <p:cNvGrpSpPr/>
          <p:nvPr/>
        </p:nvGrpSpPr>
        <p:grpSpPr bwMode="auto">
          <a:xfrm>
            <a:off x="4776788" y="3814763"/>
            <a:ext cx="530225" cy="406400"/>
            <a:chOff x="1344" y="2304"/>
            <a:chExt cx="334" cy="256"/>
          </a:xfrm>
        </p:grpSpPr>
        <p:sp>
          <p:nvSpPr>
            <p:cNvPr id="63" name="Oval 54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55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5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V3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5" name="Group 56"/>
          <p:cNvGrpSpPr/>
          <p:nvPr/>
        </p:nvGrpSpPr>
        <p:grpSpPr bwMode="auto">
          <a:xfrm>
            <a:off x="7824788" y="3205163"/>
            <a:ext cx="530225" cy="406400"/>
            <a:chOff x="1344" y="2304"/>
            <a:chExt cx="334" cy="256"/>
          </a:xfrm>
        </p:grpSpPr>
        <p:sp>
          <p:nvSpPr>
            <p:cNvPr id="66" name="Oval 57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58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5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V2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8" name="Group 59"/>
          <p:cNvGrpSpPr/>
          <p:nvPr/>
        </p:nvGrpSpPr>
        <p:grpSpPr bwMode="auto">
          <a:xfrm>
            <a:off x="5462588" y="4348163"/>
            <a:ext cx="533400" cy="457200"/>
            <a:chOff x="2016" y="2400"/>
            <a:chExt cx="334" cy="256"/>
          </a:xfrm>
        </p:grpSpPr>
        <p:sp>
          <p:nvSpPr>
            <p:cNvPr id="69" name="Oval 60"/>
            <p:cNvSpPr>
              <a:spLocks noChangeArrowheads="1"/>
            </p:cNvSpPr>
            <p:nvPr/>
          </p:nvSpPr>
          <p:spPr bwMode="auto">
            <a:xfrm>
              <a:off x="2064" y="2400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Text Box 61"/>
            <p:cNvSpPr txBox="1">
              <a:spLocks noChangeArrowheads="1"/>
            </p:cNvSpPr>
            <p:nvPr/>
          </p:nvSpPr>
          <p:spPr bwMode="auto">
            <a:xfrm>
              <a:off x="2016" y="2400"/>
              <a:ext cx="334" cy="222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V7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1" name="Group 62"/>
          <p:cNvGrpSpPr/>
          <p:nvPr/>
        </p:nvGrpSpPr>
        <p:grpSpPr bwMode="auto">
          <a:xfrm>
            <a:off x="8434388" y="3814763"/>
            <a:ext cx="533400" cy="438150"/>
            <a:chOff x="1344" y="2304"/>
            <a:chExt cx="334" cy="256"/>
          </a:xfrm>
        </p:grpSpPr>
        <p:sp>
          <p:nvSpPr>
            <p:cNvPr id="72" name="Oval 63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32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V6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4" name="Group 65"/>
          <p:cNvGrpSpPr/>
          <p:nvPr/>
        </p:nvGrpSpPr>
        <p:grpSpPr bwMode="auto">
          <a:xfrm>
            <a:off x="7291388" y="3814763"/>
            <a:ext cx="530225" cy="406400"/>
            <a:chOff x="1344" y="2304"/>
            <a:chExt cx="334" cy="256"/>
          </a:xfrm>
        </p:grpSpPr>
        <p:sp>
          <p:nvSpPr>
            <p:cNvPr id="75" name="Oval 66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50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V5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7" name="Group 68"/>
          <p:cNvGrpSpPr/>
          <p:nvPr/>
        </p:nvGrpSpPr>
        <p:grpSpPr bwMode="auto">
          <a:xfrm>
            <a:off x="6224588" y="3814763"/>
            <a:ext cx="565150" cy="442912"/>
            <a:chOff x="1344" y="2304"/>
            <a:chExt cx="334" cy="256"/>
          </a:xfrm>
        </p:grpSpPr>
        <p:sp>
          <p:nvSpPr>
            <p:cNvPr id="78" name="Oval 69"/>
            <p:cNvSpPr>
              <a:spLocks noChangeArrowheads="1"/>
            </p:cNvSpPr>
            <p:nvPr/>
          </p:nvSpPr>
          <p:spPr bwMode="auto">
            <a:xfrm>
              <a:off x="1392" y="2304"/>
              <a:ext cx="256" cy="256"/>
            </a:xfrm>
            <a:prstGeom prst="ellipse">
              <a:avLst/>
            </a:prstGeom>
            <a:solidFill>
              <a:srgbClr val="FFCC00"/>
            </a:solidFill>
            <a:ln w="12700" cap="rnd">
              <a:solidFill>
                <a:srgbClr val="FFCC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FF99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1344" y="2304"/>
              <a:ext cx="334" cy="229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V4</a:t>
              </a:r>
              <a:endParaRPr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80" name="Text Box 71"/>
          <p:cNvSpPr txBox="1">
            <a:spLocks noChangeArrowheads="1"/>
          </p:cNvSpPr>
          <p:nvPr/>
        </p:nvSpPr>
        <p:spPr bwMode="auto">
          <a:xfrm>
            <a:off x="76200" y="230505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宋体" panose="02010600030101010101" pitchFamily="2" charset="-122"/>
              </a:rPr>
              <a:t>           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V0,V1,V4,V7,V3,V2,V5,V6</a:t>
            </a:r>
            <a:endParaRPr kumimoji="1"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1" name="Line 72"/>
          <p:cNvSpPr>
            <a:spLocks noChangeShapeType="1"/>
          </p:cNvSpPr>
          <p:nvPr/>
        </p:nvSpPr>
        <p:spPr bwMode="auto">
          <a:xfrm flipV="1">
            <a:off x="6072188" y="4271963"/>
            <a:ext cx="457200" cy="304800"/>
          </a:xfrm>
          <a:prstGeom prst="line">
            <a:avLst/>
          </a:prstGeom>
          <a:noFill/>
          <a:ln w="12700">
            <a:solidFill>
              <a:srgbClr val="0F6FC6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7" grpId="0" animBg="1" autoUpdateAnimBg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utoUpdateAnimBg="0"/>
      <p:bldP spid="80" grpId="0" autoUpdateAnimBg="0"/>
      <p:bldP spid="8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深度优先搜索的示例演示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817B-FFB7-41BD-8270-DD0FA19E07B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Line 13"/>
          <p:cNvSpPr>
            <a:spLocks noChangeShapeType="1"/>
          </p:cNvSpPr>
          <p:nvPr/>
        </p:nvSpPr>
        <p:spPr bwMode="auto">
          <a:xfrm>
            <a:off x="1893888" y="2220912"/>
            <a:ext cx="792162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2973388" y="2363787"/>
            <a:ext cx="7207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4" name="Line 15"/>
          <p:cNvSpPr>
            <a:spLocks noChangeShapeType="1"/>
          </p:cNvSpPr>
          <p:nvPr/>
        </p:nvSpPr>
        <p:spPr bwMode="auto">
          <a:xfrm flipH="1">
            <a:off x="1101725" y="2363787"/>
            <a:ext cx="503238" cy="64928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5" name="Line 16"/>
          <p:cNvSpPr>
            <a:spLocks noChangeShapeType="1"/>
          </p:cNvSpPr>
          <p:nvPr/>
        </p:nvSpPr>
        <p:spPr bwMode="auto">
          <a:xfrm>
            <a:off x="1028700" y="3371850"/>
            <a:ext cx="5048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6" name="Line 17"/>
          <p:cNvSpPr>
            <a:spLocks noChangeShapeType="1"/>
          </p:cNvSpPr>
          <p:nvPr/>
        </p:nvSpPr>
        <p:spPr bwMode="auto">
          <a:xfrm>
            <a:off x="1820863" y="4308475"/>
            <a:ext cx="1008062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7" name="Line 18"/>
          <p:cNvSpPr>
            <a:spLocks noChangeShapeType="1"/>
          </p:cNvSpPr>
          <p:nvPr/>
        </p:nvSpPr>
        <p:spPr bwMode="auto">
          <a:xfrm flipV="1">
            <a:off x="3117850" y="3444875"/>
            <a:ext cx="576263" cy="7191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8" name="Line 20"/>
          <p:cNvSpPr>
            <a:spLocks noChangeShapeType="1"/>
          </p:cNvSpPr>
          <p:nvPr/>
        </p:nvSpPr>
        <p:spPr bwMode="auto">
          <a:xfrm>
            <a:off x="2038350" y="3587750"/>
            <a:ext cx="503238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9" name="Line 21"/>
          <p:cNvSpPr>
            <a:spLocks noChangeShapeType="1"/>
          </p:cNvSpPr>
          <p:nvPr/>
        </p:nvSpPr>
        <p:spPr bwMode="auto">
          <a:xfrm flipH="1">
            <a:off x="1965325" y="3084512"/>
            <a:ext cx="215900" cy="2873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90" name="Line 22"/>
          <p:cNvSpPr>
            <a:spLocks noChangeShapeType="1"/>
          </p:cNvSpPr>
          <p:nvPr/>
        </p:nvSpPr>
        <p:spPr bwMode="auto">
          <a:xfrm flipH="1">
            <a:off x="2397125" y="2363787"/>
            <a:ext cx="360363" cy="4318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91" name="Line 23"/>
          <p:cNvSpPr>
            <a:spLocks noChangeShapeType="1"/>
          </p:cNvSpPr>
          <p:nvPr/>
        </p:nvSpPr>
        <p:spPr bwMode="auto">
          <a:xfrm flipV="1">
            <a:off x="2901950" y="3300412"/>
            <a:ext cx="719138" cy="2159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92" name="Line 24"/>
          <p:cNvSpPr>
            <a:spLocks noChangeShapeType="1"/>
          </p:cNvSpPr>
          <p:nvPr/>
        </p:nvSpPr>
        <p:spPr bwMode="auto">
          <a:xfrm>
            <a:off x="2757488" y="3732212"/>
            <a:ext cx="215900" cy="3603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93" name="Oval 4"/>
          <p:cNvSpPr>
            <a:spLocks noChangeArrowheads="1"/>
          </p:cNvSpPr>
          <p:nvPr/>
        </p:nvSpPr>
        <p:spPr bwMode="auto">
          <a:xfrm>
            <a:off x="1533525" y="2005012"/>
            <a:ext cx="431800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4" name="Oval 5"/>
          <p:cNvSpPr>
            <a:spLocks noChangeArrowheads="1"/>
          </p:cNvSpPr>
          <p:nvPr/>
        </p:nvSpPr>
        <p:spPr bwMode="auto">
          <a:xfrm>
            <a:off x="741363" y="2868612"/>
            <a:ext cx="431800" cy="503238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v6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5" name="Oval 6"/>
          <p:cNvSpPr>
            <a:spLocks noChangeArrowheads="1"/>
          </p:cNvSpPr>
          <p:nvPr/>
        </p:nvSpPr>
        <p:spPr bwMode="auto">
          <a:xfrm>
            <a:off x="3621088" y="3084512"/>
            <a:ext cx="504825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6" name="Oval 7"/>
          <p:cNvSpPr>
            <a:spLocks noChangeArrowheads="1"/>
          </p:cNvSpPr>
          <p:nvPr/>
        </p:nvSpPr>
        <p:spPr bwMode="auto">
          <a:xfrm>
            <a:off x="2686050" y="2005012"/>
            <a:ext cx="576263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7" name="Oval 8"/>
          <p:cNvSpPr>
            <a:spLocks noChangeArrowheads="1"/>
          </p:cNvSpPr>
          <p:nvPr/>
        </p:nvSpPr>
        <p:spPr bwMode="auto">
          <a:xfrm>
            <a:off x="2828925" y="4092575"/>
            <a:ext cx="433388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v4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8" name="Oval 9"/>
          <p:cNvSpPr>
            <a:spLocks noChangeArrowheads="1"/>
          </p:cNvSpPr>
          <p:nvPr/>
        </p:nvSpPr>
        <p:spPr bwMode="auto">
          <a:xfrm>
            <a:off x="1460500" y="4092575"/>
            <a:ext cx="433388" cy="503237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99" name="Oval 10"/>
          <p:cNvSpPr>
            <a:spLocks noChangeArrowheads="1"/>
          </p:cNvSpPr>
          <p:nvPr/>
        </p:nvSpPr>
        <p:spPr bwMode="auto">
          <a:xfrm>
            <a:off x="2038350" y="2652712"/>
            <a:ext cx="431800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00" name="Oval 11"/>
          <p:cNvSpPr>
            <a:spLocks noChangeArrowheads="1"/>
          </p:cNvSpPr>
          <p:nvPr/>
        </p:nvSpPr>
        <p:spPr bwMode="auto">
          <a:xfrm>
            <a:off x="2541588" y="3300412"/>
            <a:ext cx="504825" cy="431800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01" name="Oval 12"/>
          <p:cNvSpPr>
            <a:spLocks noChangeArrowheads="1"/>
          </p:cNvSpPr>
          <p:nvPr/>
        </p:nvSpPr>
        <p:spPr bwMode="auto">
          <a:xfrm>
            <a:off x="1604963" y="3155950"/>
            <a:ext cx="433387" cy="5762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02" name="Line 19"/>
          <p:cNvSpPr>
            <a:spLocks noChangeShapeType="1"/>
          </p:cNvSpPr>
          <p:nvPr/>
        </p:nvSpPr>
        <p:spPr bwMode="auto">
          <a:xfrm flipH="1" flipV="1">
            <a:off x="2397125" y="3084512"/>
            <a:ext cx="215900" cy="2873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03" name="Oval 25"/>
          <p:cNvSpPr>
            <a:spLocks noChangeArrowheads="1"/>
          </p:cNvSpPr>
          <p:nvPr/>
        </p:nvSpPr>
        <p:spPr bwMode="auto">
          <a:xfrm>
            <a:off x="5207000" y="2076450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v1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4" name="Oval 26"/>
          <p:cNvSpPr>
            <a:spLocks noChangeArrowheads="1"/>
          </p:cNvSpPr>
          <p:nvPr/>
        </p:nvSpPr>
        <p:spPr bwMode="auto">
          <a:xfrm>
            <a:off x="4486275" y="301148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v6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5" name="Oval 27"/>
          <p:cNvSpPr>
            <a:spLocks noChangeArrowheads="1"/>
          </p:cNvSpPr>
          <p:nvPr/>
        </p:nvSpPr>
        <p:spPr bwMode="auto">
          <a:xfrm>
            <a:off x="7294563" y="308451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v3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6" name="Oval 28"/>
          <p:cNvSpPr>
            <a:spLocks noChangeArrowheads="1"/>
          </p:cNvSpPr>
          <p:nvPr/>
        </p:nvSpPr>
        <p:spPr bwMode="auto">
          <a:xfrm>
            <a:off x="6359525" y="2076450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v2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7" name="Oval 29"/>
          <p:cNvSpPr>
            <a:spLocks noChangeArrowheads="1"/>
          </p:cNvSpPr>
          <p:nvPr/>
        </p:nvSpPr>
        <p:spPr bwMode="auto">
          <a:xfrm>
            <a:off x="6502400" y="409257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v4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" name="Oval 30"/>
          <p:cNvSpPr>
            <a:spLocks noChangeArrowheads="1"/>
          </p:cNvSpPr>
          <p:nvPr/>
        </p:nvSpPr>
        <p:spPr bwMode="auto">
          <a:xfrm>
            <a:off x="5133975" y="409257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v5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9" name="Oval 31"/>
          <p:cNvSpPr>
            <a:spLocks noChangeArrowheads="1"/>
          </p:cNvSpPr>
          <p:nvPr/>
        </p:nvSpPr>
        <p:spPr bwMode="auto">
          <a:xfrm>
            <a:off x="5783263" y="2724150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v7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0" name="Oval 32"/>
          <p:cNvSpPr>
            <a:spLocks noChangeArrowheads="1"/>
          </p:cNvSpPr>
          <p:nvPr/>
        </p:nvSpPr>
        <p:spPr bwMode="auto">
          <a:xfrm>
            <a:off x="6215063" y="3371850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v8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1" name="Oval 33"/>
          <p:cNvSpPr>
            <a:spLocks noChangeArrowheads="1"/>
          </p:cNvSpPr>
          <p:nvPr/>
        </p:nvSpPr>
        <p:spPr bwMode="auto">
          <a:xfrm>
            <a:off x="5351463" y="3371850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v9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" name="Line 34"/>
          <p:cNvSpPr>
            <a:spLocks noChangeShapeType="1"/>
          </p:cNvSpPr>
          <p:nvPr/>
        </p:nvSpPr>
        <p:spPr bwMode="auto">
          <a:xfrm>
            <a:off x="5565775" y="2220912"/>
            <a:ext cx="792163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13" name="Group 35"/>
          <p:cNvGraphicFramePr>
            <a:graphicFrameLocks noGrp="1"/>
          </p:cNvGraphicFramePr>
          <p:nvPr/>
        </p:nvGraphicFramePr>
        <p:xfrm>
          <a:off x="3094038" y="5876925"/>
          <a:ext cx="5135562" cy="447675"/>
        </p:xfrm>
        <a:graphic>
          <a:graphicData uri="http://schemas.openxmlformats.org/drawingml/2006/table">
            <a:tbl>
              <a:tblPr/>
              <a:tblGrid>
                <a:gridCol w="571500"/>
                <a:gridCol w="573087"/>
                <a:gridCol w="571500"/>
                <a:gridCol w="573088"/>
                <a:gridCol w="571500"/>
                <a:gridCol w="573087"/>
                <a:gridCol w="585788"/>
                <a:gridCol w="558800"/>
                <a:gridCol w="557212"/>
              </a:tblGrid>
              <a:tr h="4476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4" name="Text Box 57"/>
          <p:cNvSpPr txBox="1">
            <a:spLocks noChangeArrowheads="1"/>
          </p:cNvSpPr>
          <p:nvPr/>
        </p:nvSpPr>
        <p:spPr bwMode="auto">
          <a:xfrm>
            <a:off x="952500" y="5556250"/>
            <a:ext cx="1482725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Visited[9]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5" name="Group 114"/>
          <p:cNvGraphicFramePr>
            <a:graphicFrameLocks noGrp="1"/>
          </p:cNvGraphicFramePr>
          <p:nvPr/>
        </p:nvGraphicFramePr>
        <p:xfrm>
          <a:off x="3094038" y="5173662"/>
          <a:ext cx="5135562" cy="431800"/>
        </p:xfrm>
        <a:graphic>
          <a:graphicData uri="http://schemas.openxmlformats.org/drawingml/2006/table">
            <a:tbl>
              <a:tblPr/>
              <a:tblGrid>
                <a:gridCol w="571500"/>
                <a:gridCol w="573087"/>
                <a:gridCol w="571500"/>
                <a:gridCol w="573088"/>
                <a:gridCol w="571500"/>
                <a:gridCol w="573087"/>
                <a:gridCol w="585788"/>
                <a:gridCol w="558800"/>
                <a:gridCol w="557212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6" name="Text Box 80"/>
          <p:cNvSpPr txBox="1">
            <a:spLocks noChangeArrowheads="1"/>
          </p:cNvSpPr>
          <p:nvPr/>
        </p:nvSpPr>
        <p:spPr bwMode="auto">
          <a:xfrm>
            <a:off x="3189288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17" name="Text Box 81"/>
          <p:cNvSpPr txBox="1">
            <a:spLocks noChangeArrowheads="1"/>
          </p:cNvSpPr>
          <p:nvPr/>
        </p:nvSpPr>
        <p:spPr bwMode="auto">
          <a:xfrm>
            <a:off x="3765550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18" name="Text Box 82"/>
          <p:cNvSpPr txBox="1">
            <a:spLocks noChangeArrowheads="1"/>
          </p:cNvSpPr>
          <p:nvPr/>
        </p:nvSpPr>
        <p:spPr bwMode="auto">
          <a:xfrm>
            <a:off x="4413250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19" name="Text Box 83"/>
          <p:cNvSpPr txBox="1">
            <a:spLocks noChangeArrowheads="1"/>
          </p:cNvSpPr>
          <p:nvPr/>
        </p:nvSpPr>
        <p:spPr bwMode="auto">
          <a:xfrm>
            <a:off x="4989513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0" name="Text Box 84"/>
          <p:cNvSpPr txBox="1">
            <a:spLocks noChangeArrowheads="1"/>
          </p:cNvSpPr>
          <p:nvPr/>
        </p:nvSpPr>
        <p:spPr bwMode="auto">
          <a:xfrm>
            <a:off x="5492750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1" name="Text Box 85"/>
          <p:cNvSpPr txBox="1">
            <a:spLocks noChangeArrowheads="1"/>
          </p:cNvSpPr>
          <p:nvPr/>
        </p:nvSpPr>
        <p:spPr bwMode="auto">
          <a:xfrm>
            <a:off x="6070600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2" name="Text Box 86"/>
          <p:cNvSpPr txBox="1">
            <a:spLocks noChangeArrowheads="1"/>
          </p:cNvSpPr>
          <p:nvPr/>
        </p:nvSpPr>
        <p:spPr bwMode="auto">
          <a:xfrm>
            <a:off x="6646863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3" name="Text Box 87"/>
          <p:cNvSpPr txBox="1">
            <a:spLocks noChangeArrowheads="1"/>
          </p:cNvSpPr>
          <p:nvPr/>
        </p:nvSpPr>
        <p:spPr bwMode="auto">
          <a:xfrm>
            <a:off x="7221538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4" name="Text Box 88"/>
          <p:cNvSpPr txBox="1">
            <a:spLocks noChangeArrowheads="1"/>
          </p:cNvSpPr>
          <p:nvPr/>
        </p:nvSpPr>
        <p:spPr bwMode="auto">
          <a:xfrm>
            <a:off x="7797800" y="5862637"/>
            <a:ext cx="288925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lIns="0" tIns="0" rIns="0" bIns="0" anchor="ctr" anchorCtr="1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25" name="Line 89"/>
          <p:cNvSpPr>
            <a:spLocks noChangeShapeType="1"/>
          </p:cNvSpPr>
          <p:nvPr/>
        </p:nvSpPr>
        <p:spPr bwMode="auto">
          <a:xfrm>
            <a:off x="6646863" y="2436812"/>
            <a:ext cx="719137" cy="6477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26" name="Line 90"/>
          <p:cNvSpPr>
            <a:spLocks noChangeShapeType="1"/>
          </p:cNvSpPr>
          <p:nvPr/>
        </p:nvSpPr>
        <p:spPr bwMode="auto">
          <a:xfrm flipH="1">
            <a:off x="6789738" y="3444875"/>
            <a:ext cx="647700" cy="7191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27" name="Line 91"/>
          <p:cNvSpPr>
            <a:spLocks noChangeShapeType="1"/>
          </p:cNvSpPr>
          <p:nvPr/>
        </p:nvSpPr>
        <p:spPr bwMode="auto">
          <a:xfrm flipH="1">
            <a:off x="5494338" y="4308475"/>
            <a:ext cx="1008062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28" name="Line 92"/>
          <p:cNvSpPr>
            <a:spLocks noChangeShapeType="1"/>
          </p:cNvSpPr>
          <p:nvPr/>
        </p:nvSpPr>
        <p:spPr bwMode="auto">
          <a:xfrm flipH="1" flipV="1">
            <a:off x="4702175" y="3371850"/>
            <a:ext cx="503238" cy="7921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29" name="Line 93"/>
          <p:cNvSpPr>
            <a:spLocks noChangeShapeType="1"/>
          </p:cNvSpPr>
          <p:nvPr/>
        </p:nvSpPr>
        <p:spPr bwMode="auto">
          <a:xfrm flipH="1" flipV="1">
            <a:off x="6429375" y="3732212"/>
            <a:ext cx="144463" cy="3603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30" name="Line 94"/>
          <p:cNvSpPr>
            <a:spLocks noChangeShapeType="1"/>
          </p:cNvSpPr>
          <p:nvPr/>
        </p:nvSpPr>
        <p:spPr bwMode="auto">
          <a:xfrm flipH="1" flipV="1">
            <a:off x="6070600" y="3084512"/>
            <a:ext cx="215900" cy="2873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31" name="Line 95"/>
          <p:cNvSpPr>
            <a:spLocks noChangeShapeType="1"/>
          </p:cNvSpPr>
          <p:nvPr/>
        </p:nvSpPr>
        <p:spPr bwMode="auto">
          <a:xfrm flipH="1">
            <a:off x="5637213" y="3084512"/>
            <a:ext cx="217487" cy="2873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4" grpId="0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算法的基本思想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E54-EEE1-4146-8007-F34AD7F4EF3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52400" y="1951037"/>
            <a:ext cx="8858250" cy="28495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首先访问图中某一个顶点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以该顶点为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出发点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任选一个与顶点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邻接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未被访问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的顶点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；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访问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以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为新的出发点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继续进行深度优先搜索，直至图中所有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有路径的顶点均被访问到</a:t>
            </a: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。   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深度优先搜索算法概要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406B-C1E1-4FF0-A102-FADF8F5BBF5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866775" y="2924175"/>
            <a:ext cx="6643688" cy="33242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步骤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访问顶点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i;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改变访问标志；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任选一个与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相邻又没被访问的顶点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，从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开始继续进行深度优先搜索。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23900" y="1851025"/>
            <a:ext cx="5545138" cy="657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从某点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v(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为某顶点编号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出发。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98-CEAD-4E70-B109-64433EECF72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23888" y="1174750"/>
            <a:ext cx="8001000" cy="54784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3300"/>
                </a:solidFill>
                <a:latin typeface="Times New Roman" panose="02020603050405020304" pitchFamily="18" charset="0"/>
              </a:rPr>
              <a:t>深度优先搜索算法</a:t>
            </a:r>
            <a:endParaRPr kumimoji="1" lang="zh-CN" altLang="en-US" sz="260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int visited[n];graph g;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 DFS(int i)                                               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图用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邻接矩阵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存储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 int j;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printf(“node:%c\n”,g.vexs[i]);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visited[i]=TRUE;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for (j=0;j&lt;n;j++)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if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((g.arcs[i][j]==1)&amp;&amp;(!visited[j]))</a:t>
            </a:r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      DFS(j);</a:t>
            </a:r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AutoShape 3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481775" y="1295381"/>
            <a:ext cx="2071702" cy="928694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临接矩阵图示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流程图: 资料带 14"/>
          <p:cNvSpPr/>
          <p:nvPr/>
        </p:nvSpPr>
        <p:spPr bwMode="auto">
          <a:xfrm>
            <a:off x="2624138" y="5562600"/>
            <a:ext cx="6215062" cy="1214437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图的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邻接矩阵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表示是唯一的，由深度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优先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算法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得到的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DFS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序列是唯一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0918C-8056-4915-88EA-EC80D858FA5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"/>
          <p:cNvGrpSpPr/>
          <p:nvPr/>
        </p:nvGrpSpPr>
        <p:grpSpPr bwMode="auto">
          <a:xfrm>
            <a:off x="0" y="4267200"/>
            <a:ext cx="4305300" cy="2143125"/>
            <a:chOff x="3048" y="528"/>
            <a:chExt cx="2712" cy="1350"/>
          </a:xfrm>
        </p:grpSpPr>
        <p:grpSp>
          <p:nvGrpSpPr>
            <p:cNvPr id="14" name="Group 3"/>
            <p:cNvGrpSpPr/>
            <p:nvPr/>
          </p:nvGrpSpPr>
          <p:grpSpPr bwMode="auto">
            <a:xfrm>
              <a:off x="4200" y="528"/>
              <a:ext cx="408" cy="294"/>
              <a:chOff x="2928" y="3312"/>
              <a:chExt cx="408" cy="294"/>
            </a:xfrm>
          </p:grpSpPr>
          <p:sp>
            <p:nvSpPr>
              <p:cNvPr id="46" name="Oval 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Text Box 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5" name="Group 6"/>
            <p:cNvGrpSpPr/>
            <p:nvPr/>
          </p:nvGrpSpPr>
          <p:grpSpPr bwMode="auto">
            <a:xfrm>
              <a:off x="3264" y="672"/>
              <a:ext cx="2218" cy="1028"/>
              <a:chOff x="3264" y="672"/>
              <a:chExt cx="2218" cy="1028"/>
            </a:xfrm>
          </p:grpSpPr>
          <p:sp>
            <p:nvSpPr>
              <p:cNvPr id="37" name="Line 7"/>
              <p:cNvSpPr>
                <a:spLocks noChangeShapeType="1"/>
              </p:cNvSpPr>
              <p:nvPr/>
            </p:nvSpPr>
            <p:spPr bwMode="auto">
              <a:xfrm flipV="1">
                <a:off x="3264" y="1046"/>
                <a:ext cx="304" cy="21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 flipV="1">
                <a:off x="3788" y="672"/>
                <a:ext cx="448" cy="23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Line 9"/>
              <p:cNvSpPr>
                <a:spLocks noChangeShapeType="1"/>
              </p:cNvSpPr>
              <p:nvPr/>
            </p:nvSpPr>
            <p:spPr bwMode="auto">
              <a:xfrm>
                <a:off x="3811" y="1046"/>
                <a:ext cx="303" cy="21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" name="Line 10"/>
              <p:cNvSpPr>
                <a:spLocks noChangeShapeType="1"/>
              </p:cNvSpPr>
              <p:nvPr/>
            </p:nvSpPr>
            <p:spPr bwMode="auto">
              <a:xfrm>
                <a:off x="4540" y="672"/>
                <a:ext cx="516" cy="249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" name="Line 11"/>
              <p:cNvSpPr>
                <a:spLocks noChangeShapeType="1"/>
              </p:cNvSpPr>
              <p:nvPr/>
            </p:nvSpPr>
            <p:spPr bwMode="auto">
              <a:xfrm>
                <a:off x="5270" y="1077"/>
                <a:ext cx="212" cy="15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Line 12"/>
              <p:cNvSpPr>
                <a:spLocks noChangeShapeType="1"/>
              </p:cNvSpPr>
              <p:nvPr/>
            </p:nvSpPr>
            <p:spPr bwMode="auto">
              <a:xfrm flipV="1">
                <a:off x="4905" y="1077"/>
                <a:ext cx="182" cy="18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Line 13"/>
              <p:cNvSpPr>
                <a:spLocks noChangeShapeType="1"/>
              </p:cNvSpPr>
              <p:nvPr/>
            </p:nvSpPr>
            <p:spPr bwMode="auto">
              <a:xfrm flipV="1">
                <a:off x="4966" y="1357"/>
                <a:ext cx="411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14"/>
              <p:cNvSpPr>
                <a:spLocks noChangeShapeType="1"/>
              </p:cNvSpPr>
              <p:nvPr/>
            </p:nvSpPr>
            <p:spPr bwMode="auto">
              <a:xfrm flipV="1">
                <a:off x="3811" y="1451"/>
                <a:ext cx="334" cy="249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Line 15"/>
              <p:cNvSpPr>
                <a:spLocks noChangeShapeType="1"/>
              </p:cNvSpPr>
              <p:nvPr/>
            </p:nvSpPr>
            <p:spPr bwMode="auto">
              <a:xfrm>
                <a:off x="3360" y="1488"/>
                <a:ext cx="240" cy="144"/>
              </a:xfrm>
              <a:prstGeom prst="line">
                <a:avLst/>
              </a:prstGeom>
              <a:noFill/>
              <a:ln w="38100" cap="rnd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 bwMode="auto">
            <a:xfrm>
              <a:off x="3528" y="1584"/>
              <a:ext cx="408" cy="294"/>
              <a:chOff x="2928" y="3312"/>
              <a:chExt cx="408" cy="294"/>
            </a:xfrm>
          </p:grpSpPr>
          <p:sp>
            <p:nvSpPr>
              <p:cNvPr id="35" name="Oval 17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V7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7" name="Group 19"/>
            <p:cNvGrpSpPr/>
            <p:nvPr/>
          </p:nvGrpSpPr>
          <p:grpSpPr bwMode="auto">
            <a:xfrm>
              <a:off x="5352" y="1248"/>
              <a:ext cx="408" cy="294"/>
              <a:chOff x="2928" y="3312"/>
              <a:chExt cx="408" cy="294"/>
            </a:xfrm>
          </p:grpSpPr>
          <p:sp>
            <p:nvSpPr>
              <p:cNvPr id="33" name="Oval 20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Text Box 21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V6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8" name="Group 22"/>
            <p:cNvGrpSpPr/>
            <p:nvPr/>
          </p:nvGrpSpPr>
          <p:grpSpPr bwMode="auto">
            <a:xfrm>
              <a:off x="4680" y="1248"/>
              <a:ext cx="408" cy="294"/>
              <a:chOff x="2928" y="3312"/>
              <a:chExt cx="408" cy="294"/>
            </a:xfrm>
          </p:grpSpPr>
          <p:sp>
            <p:nvSpPr>
              <p:cNvPr id="31" name="Oval 23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Text Box 24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V5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9" name="Group 25"/>
            <p:cNvGrpSpPr/>
            <p:nvPr/>
          </p:nvGrpSpPr>
          <p:grpSpPr bwMode="auto">
            <a:xfrm>
              <a:off x="4008" y="1248"/>
              <a:ext cx="408" cy="294"/>
              <a:chOff x="2928" y="3312"/>
              <a:chExt cx="408" cy="294"/>
            </a:xfrm>
          </p:grpSpPr>
          <p:sp>
            <p:nvSpPr>
              <p:cNvPr id="29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Text Box 27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V4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0" name="Group 28"/>
            <p:cNvGrpSpPr/>
            <p:nvPr/>
          </p:nvGrpSpPr>
          <p:grpSpPr bwMode="auto">
            <a:xfrm>
              <a:off x="3048" y="1248"/>
              <a:ext cx="408" cy="294"/>
              <a:chOff x="2928" y="3312"/>
              <a:chExt cx="408" cy="294"/>
            </a:xfrm>
          </p:grpSpPr>
          <p:sp>
            <p:nvSpPr>
              <p:cNvPr id="27" name="Oval 29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Text Box 30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" name="Group 31"/>
            <p:cNvGrpSpPr/>
            <p:nvPr/>
          </p:nvGrpSpPr>
          <p:grpSpPr bwMode="auto">
            <a:xfrm>
              <a:off x="4968" y="864"/>
              <a:ext cx="408" cy="294"/>
              <a:chOff x="2928" y="3312"/>
              <a:chExt cx="408" cy="294"/>
            </a:xfrm>
          </p:grpSpPr>
          <p:sp>
            <p:nvSpPr>
              <p:cNvPr id="25" name="Oval 32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33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2" name="Group 34"/>
            <p:cNvGrpSpPr/>
            <p:nvPr/>
          </p:nvGrpSpPr>
          <p:grpSpPr bwMode="auto">
            <a:xfrm>
              <a:off x="3528" y="816"/>
              <a:ext cx="408" cy="294"/>
              <a:chOff x="2928" y="3312"/>
              <a:chExt cx="408" cy="294"/>
            </a:xfrm>
          </p:grpSpPr>
          <p:sp>
            <p:nvSpPr>
              <p:cNvPr id="23" name="Oval 35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Text Box 36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48" name="Group 37"/>
          <p:cNvGrpSpPr/>
          <p:nvPr/>
        </p:nvGrpSpPr>
        <p:grpSpPr bwMode="auto">
          <a:xfrm>
            <a:off x="3429000" y="1066800"/>
            <a:ext cx="5287963" cy="3697288"/>
            <a:chOff x="1680" y="288"/>
            <a:chExt cx="3331" cy="2329"/>
          </a:xfrm>
        </p:grpSpPr>
        <p:sp>
          <p:nvSpPr>
            <p:cNvPr id="49" name="Rectangle 38"/>
            <p:cNvSpPr>
              <a:spLocks noChangeArrowheads="1"/>
            </p:cNvSpPr>
            <p:nvPr/>
          </p:nvSpPr>
          <p:spPr bwMode="auto">
            <a:xfrm>
              <a:off x="2112" y="336"/>
              <a:ext cx="816" cy="2208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128" y="888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>
              <a:off x="2496" y="336"/>
              <a:ext cx="0" cy="22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128" y="1163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128" y="595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>
              <a:off x="2120" y="1428"/>
              <a:ext cx="784" cy="0"/>
            </a:xfrm>
            <a:prstGeom prst="line">
              <a:avLst/>
            </a:prstGeom>
            <a:noFill/>
            <a:ln w="19050" cap="rnd">
              <a:solidFill>
                <a:srgbClr val="DBF5F9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120" y="1677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6" name="Line 45"/>
            <p:cNvSpPr>
              <a:spLocks noChangeShapeType="1"/>
            </p:cNvSpPr>
            <p:nvPr/>
          </p:nvSpPr>
          <p:spPr bwMode="auto">
            <a:xfrm>
              <a:off x="2112" y="2208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46"/>
            <p:cNvSpPr txBox="1">
              <a:spLocks noChangeArrowheads="1"/>
            </p:cNvSpPr>
            <p:nvPr/>
          </p:nvSpPr>
          <p:spPr bwMode="auto">
            <a:xfrm>
              <a:off x="1680" y="384"/>
              <a:ext cx="535" cy="2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5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0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1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2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3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4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5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6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 7</a:t>
              </a:r>
              <a:endPara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8" name="Text Box 47"/>
            <p:cNvSpPr txBox="1">
              <a:spLocks noChangeArrowheads="1"/>
            </p:cNvSpPr>
            <p:nvPr/>
          </p:nvSpPr>
          <p:spPr bwMode="auto">
            <a:xfrm>
              <a:off x="2191" y="288"/>
              <a:ext cx="357" cy="2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V0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V1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V2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V3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V4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V5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V6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V7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9" name="Group 48"/>
            <p:cNvGrpSpPr/>
            <p:nvPr/>
          </p:nvGrpSpPr>
          <p:grpSpPr bwMode="auto">
            <a:xfrm>
              <a:off x="3085" y="288"/>
              <a:ext cx="499" cy="288"/>
              <a:chOff x="4530" y="1824"/>
              <a:chExt cx="540" cy="288"/>
            </a:xfrm>
          </p:grpSpPr>
          <p:grpSp>
            <p:nvGrpSpPr>
              <p:cNvPr id="188" name="Group 49"/>
              <p:cNvGrpSpPr/>
              <p:nvPr/>
            </p:nvGrpSpPr>
            <p:grpSpPr bwMode="auto">
              <a:xfrm>
                <a:off x="4530" y="1860"/>
                <a:ext cx="540" cy="230"/>
                <a:chOff x="3696" y="1968"/>
                <a:chExt cx="1488" cy="480"/>
              </a:xfrm>
            </p:grpSpPr>
            <p:sp>
              <p:nvSpPr>
                <p:cNvPr id="190" name="Rectangle 50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1" name="Line 51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9" name="Text Box 52"/>
              <p:cNvSpPr txBox="1">
                <a:spLocks noChangeArrowheads="1"/>
              </p:cNvSpPr>
              <p:nvPr/>
            </p:nvSpPr>
            <p:spPr bwMode="auto">
              <a:xfrm>
                <a:off x="4560" y="1824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0" name="Line 53"/>
            <p:cNvSpPr>
              <a:spLocks noChangeShapeType="1"/>
            </p:cNvSpPr>
            <p:nvPr/>
          </p:nvSpPr>
          <p:spPr bwMode="auto">
            <a:xfrm>
              <a:off x="2729" y="466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1" name="Line 54"/>
            <p:cNvSpPr>
              <a:spLocks noChangeShapeType="1"/>
            </p:cNvSpPr>
            <p:nvPr/>
          </p:nvSpPr>
          <p:spPr bwMode="auto">
            <a:xfrm>
              <a:off x="2729" y="1321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2" name="Line 55"/>
            <p:cNvSpPr>
              <a:spLocks noChangeShapeType="1"/>
            </p:cNvSpPr>
            <p:nvPr/>
          </p:nvSpPr>
          <p:spPr bwMode="auto">
            <a:xfrm>
              <a:off x="2729" y="1001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3" name="Line 56"/>
            <p:cNvSpPr>
              <a:spLocks noChangeShapeType="1"/>
            </p:cNvSpPr>
            <p:nvPr/>
          </p:nvSpPr>
          <p:spPr bwMode="auto">
            <a:xfrm>
              <a:off x="3406" y="466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64" name="Group 57"/>
            <p:cNvGrpSpPr/>
            <p:nvPr/>
          </p:nvGrpSpPr>
          <p:grpSpPr bwMode="auto">
            <a:xfrm>
              <a:off x="3762" y="288"/>
              <a:ext cx="499" cy="288"/>
              <a:chOff x="5263" y="1824"/>
              <a:chExt cx="541" cy="288"/>
            </a:xfrm>
          </p:grpSpPr>
          <p:grpSp>
            <p:nvGrpSpPr>
              <p:cNvPr id="181" name="Group 58"/>
              <p:cNvGrpSpPr/>
              <p:nvPr/>
            </p:nvGrpSpPr>
            <p:grpSpPr bwMode="auto">
              <a:xfrm>
                <a:off x="5263" y="1860"/>
                <a:ext cx="541" cy="230"/>
                <a:chOff x="3696" y="1968"/>
                <a:chExt cx="1488" cy="480"/>
              </a:xfrm>
            </p:grpSpPr>
            <p:sp>
              <p:nvSpPr>
                <p:cNvPr id="186" name="Rectangle 59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7" name="Line 60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2" name="Text Box 61"/>
              <p:cNvSpPr txBox="1">
                <a:spLocks noChangeArrowheads="1"/>
              </p:cNvSpPr>
              <p:nvPr/>
            </p:nvSpPr>
            <p:spPr bwMode="auto">
              <a:xfrm>
                <a:off x="5325" y="1824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2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83" name="Group 62"/>
              <p:cNvGrpSpPr/>
              <p:nvPr/>
            </p:nvGrpSpPr>
            <p:grpSpPr bwMode="auto">
              <a:xfrm>
                <a:off x="5624" y="1926"/>
                <a:ext cx="108" cy="98"/>
                <a:chOff x="3456" y="720"/>
                <a:chExt cx="192" cy="144"/>
              </a:xfrm>
            </p:grpSpPr>
            <p:sp>
              <p:nvSpPr>
                <p:cNvPr id="184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5" name="Line 64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5" name="Group 65"/>
            <p:cNvGrpSpPr/>
            <p:nvPr/>
          </p:nvGrpSpPr>
          <p:grpSpPr bwMode="auto">
            <a:xfrm>
              <a:off x="4476" y="929"/>
              <a:ext cx="498" cy="288"/>
              <a:chOff x="3696" y="2736"/>
              <a:chExt cx="720" cy="402"/>
            </a:xfrm>
          </p:grpSpPr>
          <p:grpSp>
            <p:nvGrpSpPr>
              <p:cNvPr id="173" name="Group 66"/>
              <p:cNvGrpSpPr/>
              <p:nvPr/>
            </p:nvGrpSpPr>
            <p:grpSpPr bwMode="auto">
              <a:xfrm>
                <a:off x="3696" y="2736"/>
                <a:ext cx="720" cy="402"/>
                <a:chOff x="3744" y="864"/>
                <a:chExt cx="864" cy="402"/>
              </a:xfrm>
            </p:grpSpPr>
            <p:grpSp>
              <p:nvGrpSpPr>
                <p:cNvPr id="177" name="Group 67"/>
                <p:cNvGrpSpPr/>
                <p:nvPr/>
              </p:nvGrpSpPr>
              <p:grpSpPr bwMode="auto">
                <a:xfrm>
                  <a:off x="3744" y="864"/>
                  <a:ext cx="864" cy="336"/>
                  <a:chOff x="3696" y="1968"/>
                  <a:chExt cx="1488" cy="480"/>
                </a:xfrm>
              </p:grpSpPr>
              <p:sp>
                <p:nvSpPr>
                  <p:cNvPr id="179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1968"/>
                    <a:ext cx="1488" cy="480"/>
                  </a:xfrm>
                  <a:prstGeom prst="rect">
                    <a:avLst/>
                  </a:prstGeom>
                  <a:solidFill>
                    <a:srgbClr val="99CCFF"/>
                  </a:solidFill>
                  <a:ln w="19050" cap="rnd">
                    <a:solidFill>
                      <a:srgbClr val="DBF5F9"/>
                    </a:solidFill>
                    <a:miter lim="800000"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0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4464" y="1968"/>
                    <a:ext cx="0" cy="48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DBF5F9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8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840" y="864"/>
                  <a:ext cx="624" cy="402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黑体" panose="02010609060101010101" pitchFamily="2" charset="-122"/>
                      <a:ea typeface="黑体" panose="02010609060101010101" pitchFamily="2" charset="-122"/>
                    </a:rPr>
                    <a:t>0</a:t>
                  </a:r>
                  <a:endPara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174" name="Group 71"/>
              <p:cNvGrpSpPr/>
              <p:nvPr/>
            </p:nvGrpSpPr>
            <p:grpSpPr bwMode="auto">
              <a:xfrm>
                <a:off x="4176" y="2832"/>
                <a:ext cx="144" cy="144"/>
                <a:chOff x="4176" y="2832"/>
                <a:chExt cx="144" cy="144"/>
              </a:xfrm>
            </p:grpSpPr>
            <p:sp>
              <p:nvSpPr>
                <p:cNvPr id="175" name="Line 72"/>
                <p:cNvSpPr>
                  <a:spLocks noChangeShapeType="1"/>
                </p:cNvSpPr>
                <p:nvPr/>
              </p:nvSpPr>
              <p:spPr bwMode="auto">
                <a:xfrm flipV="1">
                  <a:off x="4176" y="2832"/>
                  <a:ext cx="72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6" name="Line 73"/>
                <p:cNvSpPr>
                  <a:spLocks noChangeShapeType="1"/>
                </p:cNvSpPr>
                <p:nvPr/>
              </p:nvSpPr>
              <p:spPr bwMode="auto">
                <a:xfrm>
                  <a:off x="4248" y="2832"/>
                  <a:ext cx="72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6" name="Group 74"/>
            <p:cNvGrpSpPr/>
            <p:nvPr/>
          </p:nvGrpSpPr>
          <p:grpSpPr bwMode="auto">
            <a:xfrm>
              <a:off x="3762" y="1152"/>
              <a:ext cx="499" cy="288"/>
              <a:chOff x="5263" y="2688"/>
              <a:chExt cx="541" cy="288"/>
            </a:xfrm>
          </p:grpSpPr>
          <p:grpSp>
            <p:nvGrpSpPr>
              <p:cNvPr id="166" name="Group 75"/>
              <p:cNvGrpSpPr/>
              <p:nvPr/>
            </p:nvGrpSpPr>
            <p:grpSpPr bwMode="auto">
              <a:xfrm>
                <a:off x="5263" y="2715"/>
                <a:ext cx="541" cy="232"/>
                <a:chOff x="3696" y="1968"/>
                <a:chExt cx="1488" cy="480"/>
              </a:xfrm>
            </p:grpSpPr>
            <p:sp>
              <p:nvSpPr>
                <p:cNvPr id="171" name="Rectangle 76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2" name="Line 77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7" name="Text Box 78"/>
              <p:cNvSpPr txBox="1">
                <a:spLocks noChangeArrowheads="1"/>
              </p:cNvSpPr>
              <p:nvPr/>
            </p:nvSpPr>
            <p:spPr bwMode="auto">
              <a:xfrm>
                <a:off x="5328" y="2688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68" name="Group 79"/>
              <p:cNvGrpSpPr/>
              <p:nvPr/>
            </p:nvGrpSpPr>
            <p:grpSpPr bwMode="auto">
              <a:xfrm>
                <a:off x="5624" y="2781"/>
                <a:ext cx="108" cy="100"/>
                <a:chOff x="3456" y="720"/>
                <a:chExt cx="192" cy="144"/>
              </a:xfrm>
            </p:grpSpPr>
            <p:sp>
              <p:nvSpPr>
                <p:cNvPr id="169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0" name="Line 81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7" name="Group 82"/>
            <p:cNvGrpSpPr/>
            <p:nvPr/>
          </p:nvGrpSpPr>
          <p:grpSpPr bwMode="auto">
            <a:xfrm>
              <a:off x="3762" y="1440"/>
              <a:ext cx="499" cy="288"/>
              <a:chOff x="5263" y="2976"/>
              <a:chExt cx="541" cy="288"/>
            </a:xfrm>
          </p:grpSpPr>
          <p:grpSp>
            <p:nvGrpSpPr>
              <p:cNvPr id="159" name="Group 83"/>
              <p:cNvGrpSpPr/>
              <p:nvPr/>
            </p:nvGrpSpPr>
            <p:grpSpPr bwMode="auto">
              <a:xfrm>
                <a:off x="5263" y="2999"/>
                <a:ext cx="541" cy="230"/>
                <a:chOff x="3696" y="1968"/>
                <a:chExt cx="1488" cy="480"/>
              </a:xfrm>
            </p:grpSpPr>
            <p:sp>
              <p:nvSpPr>
                <p:cNvPr id="164" name="Rectangle 84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5" name="Line 85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0" name="Text Box 86"/>
              <p:cNvSpPr txBox="1">
                <a:spLocks noChangeArrowheads="1"/>
              </p:cNvSpPr>
              <p:nvPr/>
            </p:nvSpPr>
            <p:spPr bwMode="auto">
              <a:xfrm>
                <a:off x="5328" y="2976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61" name="Group 87"/>
              <p:cNvGrpSpPr/>
              <p:nvPr/>
            </p:nvGrpSpPr>
            <p:grpSpPr bwMode="auto">
              <a:xfrm>
                <a:off x="5624" y="3065"/>
                <a:ext cx="108" cy="98"/>
                <a:chOff x="3456" y="720"/>
                <a:chExt cx="192" cy="144"/>
              </a:xfrm>
            </p:grpSpPr>
            <p:sp>
              <p:nvSpPr>
                <p:cNvPr id="162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3" name="Line 89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8" name="Group 90"/>
            <p:cNvGrpSpPr/>
            <p:nvPr/>
          </p:nvGrpSpPr>
          <p:grpSpPr bwMode="auto">
            <a:xfrm>
              <a:off x="3085" y="864"/>
              <a:ext cx="499" cy="288"/>
              <a:chOff x="4530" y="2400"/>
              <a:chExt cx="540" cy="288"/>
            </a:xfrm>
          </p:grpSpPr>
          <p:grpSp>
            <p:nvGrpSpPr>
              <p:cNvPr id="155" name="Group 91"/>
              <p:cNvGrpSpPr/>
              <p:nvPr/>
            </p:nvGrpSpPr>
            <p:grpSpPr bwMode="auto">
              <a:xfrm>
                <a:off x="4530" y="2430"/>
                <a:ext cx="540" cy="230"/>
                <a:chOff x="3696" y="1968"/>
                <a:chExt cx="1488" cy="480"/>
              </a:xfrm>
            </p:grpSpPr>
            <p:sp>
              <p:nvSpPr>
                <p:cNvPr id="157" name="Rectangle 92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8" name="Line 93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6" name="Text Box 94"/>
              <p:cNvSpPr txBox="1">
                <a:spLocks noChangeArrowheads="1"/>
              </p:cNvSpPr>
              <p:nvPr/>
            </p:nvSpPr>
            <p:spPr bwMode="auto">
              <a:xfrm>
                <a:off x="4560" y="2400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5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69" name="Group 95"/>
            <p:cNvGrpSpPr/>
            <p:nvPr/>
          </p:nvGrpSpPr>
          <p:grpSpPr bwMode="auto">
            <a:xfrm>
              <a:off x="3072" y="1440"/>
              <a:ext cx="499" cy="288"/>
              <a:chOff x="4530" y="2976"/>
              <a:chExt cx="540" cy="288"/>
            </a:xfrm>
          </p:grpSpPr>
          <p:grpSp>
            <p:nvGrpSpPr>
              <p:cNvPr id="151" name="Group 96"/>
              <p:cNvGrpSpPr/>
              <p:nvPr/>
            </p:nvGrpSpPr>
            <p:grpSpPr bwMode="auto">
              <a:xfrm>
                <a:off x="4530" y="2999"/>
                <a:ext cx="540" cy="230"/>
                <a:chOff x="3696" y="1968"/>
                <a:chExt cx="1488" cy="480"/>
              </a:xfrm>
            </p:grpSpPr>
            <p:sp>
              <p:nvSpPr>
                <p:cNvPr id="153" name="Rectangle 97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4" name="Line 98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2" name="Text Box 99"/>
              <p:cNvSpPr txBox="1">
                <a:spLocks noChangeArrowheads="1"/>
              </p:cNvSpPr>
              <p:nvPr/>
            </p:nvSpPr>
            <p:spPr bwMode="auto">
              <a:xfrm>
                <a:off x="4608" y="2976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7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0" name="Group 100"/>
            <p:cNvGrpSpPr/>
            <p:nvPr/>
          </p:nvGrpSpPr>
          <p:grpSpPr bwMode="auto">
            <a:xfrm>
              <a:off x="3085" y="1179"/>
              <a:ext cx="499" cy="251"/>
              <a:chOff x="3744" y="864"/>
              <a:chExt cx="864" cy="369"/>
            </a:xfrm>
          </p:grpSpPr>
          <p:grpSp>
            <p:nvGrpSpPr>
              <p:cNvPr id="147" name="Group 101"/>
              <p:cNvGrpSpPr/>
              <p:nvPr/>
            </p:nvGrpSpPr>
            <p:grpSpPr bwMode="auto">
              <a:xfrm>
                <a:off x="3744" y="864"/>
                <a:ext cx="864" cy="336"/>
                <a:chOff x="3696" y="1968"/>
                <a:chExt cx="1488" cy="480"/>
              </a:xfrm>
            </p:grpSpPr>
            <p:sp>
              <p:nvSpPr>
                <p:cNvPr id="149" name="Rectangle 102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" name="Line 103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8" name="Text Box 104"/>
              <p:cNvSpPr txBox="1">
                <a:spLocks noChangeArrowheads="1"/>
              </p:cNvSpPr>
              <p:nvPr/>
            </p:nvSpPr>
            <p:spPr bwMode="auto">
              <a:xfrm>
                <a:off x="3840" y="866"/>
                <a:ext cx="624" cy="367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7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1" name="Line 105"/>
            <p:cNvSpPr>
              <a:spLocks noChangeShapeType="1"/>
            </p:cNvSpPr>
            <p:nvPr/>
          </p:nvSpPr>
          <p:spPr bwMode="auto">
            <a:xfrm>
              <a:off x="2729" y="1570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2" name="Line 106"/>
            <p:cNvSpPr>
              <a:spLocks noChangeShapeType="1"/>
            </p:cNvSpPr>
            <p:nvPr/>
          </p:nvSpPr>
          <p:spPr bwMode="auto">
            <a:xfrm>
              <a:off x="3406" y="1570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3" name="Line 107"/>
            <p:cNvSpPr>
              <a:spLocks noChangeShapeType="1"/>
            </p:cNvSpPr>
            <p:nvPr/>
          </p:nvSpPr>
          <p:spPr bwMode="auto">
            <a:xfrm>
              <a:off x="3406" y="1285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4" name="Line 108"/>
            <p:cNvSpPr>
              <a:spLocks noChangeShapeType="1"/>
            </p:cNvSpPr>
            <p:nvPr/>
          </p:nvSpPr>
          <p:spPr bwMode="auto">
            <a:xfrm>
              <a:off x="3406" y="1001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75" name="Group 109"/>
            <p:cNvGrpSpPr/>
            <p:nvPr/>
          </p:nvGrpSpPr>
          <p:grpSpPr bwMode="auto">
            <a:xfrm>
              <a:off x="3085" y="576"/>
              <a:ext cx="499" cy="288"/>
              <a:chOff x="4530" y="2112"/>
              <a:chExt cx="540" cy="288"/>
            </a:xfrm>
          </p:grpSpPr>
          <p:grpSp>
            <p:nvGrpSpPr>
              <p:cNvPr id="143" name="Group 110"/>
              <p:cNvGrpSpPr/>
              <p:nvPr/>
            </p:nvGrpSpPr>
            <p:grpSpPr bwMode="auto">
              <a:xfrm>
                <a:off x="4530" y="2145"/>
                <a:ext cx="540" cy="230"/>
                <a:chOff x="3696" y="1968"/>
                <a:chExt cx="1488" cy="480"/>
              </a:xfrm>
            </p:grpSpPr>
            <p:sp>
              <p:nvSpPr>
                <p:cNvPr id="145" name="Rectangle 111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6" name="Line 112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4" name="Text Box 113"/>
              <p:cNvSpPr txBox="1">
                <a:spLocks noChangeArrowheads="1"/>
              </p:cNvSpPr>
              <p:nvPr/>
            </p:nvSpPr>
            <p:spPr bwMode="auto">
              <a:xfrm>
                <a:off x="4560" y="2112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3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6" name="Group 114"/>
            <p:cNvGrpSpPr/>
            <p:nvPr/>
          </p:nvGrpSpPr>
          <p:grpSpPr bwMode="auto">
            <a:xfrm>
              <a:off x="4512" y="576"/>
              <a:ext cx="499" cy="288"/>
              <a:chOff x="5263" y="2112"/>
              <a:chExt cx="541" cy="288"/>
            </a:xfrm>
          </p:grpSpPr>
          <p:grpSp>
            <p:nvGrpSpPr>
              <p:cNvPr id="136" name="Group 115"/>
              <p:cNvGrpSpPr/>
              <p:nvPr/>
            </p:nvGrpSpPr>
            <p:grpSpPr bwMode="auto">
              <a:xfrm>
                <a:off x="5263" y="2145"/>
                <a:ext cx="541" cy="230"/>
                <a:chOff x="3696" y="1968"/>
                <a:chExt cx="1488" cy="480"/>
              </a:xfrm>
            </p:grpSpPr>
            <p:sp>
              <p:nvSpPr>
                <p:cNvPr id="141" name="Rectangle 116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2" name="Line 117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7" name="Text Box 118"/>
              <p:cNvSpPr txBox="1">
                <a:spLocks noChangeArrowheads="1"/>
              </p:cNvSpPr>
              <p:nvPr/>
            </p:nvSpPr>
            <p:spPr bwMode="auto">
              <a:xfrm>
                <a:off x="5328" y="2112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0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38" name="Group 119"/>
              <p:cNvGrpSpPr/>
              <p:nvPr/>
            </p:nvGrpSpPr>
            <p:grpSpPr bwMode="auto">
              <a:xfrm>
                <a:off x="5624" y="2211"/>
                <a:ext cx="108" cy="98"/>
                <a:chOff x="4176" y="2832"/>
                <a:chExt cx="144" cy="144"/>
              </a:xfrm>
            </p:grpSpPr>
            <p:sp>
              <p:nvSpPr>
                <p:cNvPr id="139" name="Line 120"/>
                <p:cNvSpPr>
                  <a:spLocks noChangeShapeType="1"/>
                </p:cNvSpPr>
                <p:nvPr/>
              </p:nvSpPr>
              <p:spPr bwMode="auto">
                <a:xfrm flipV="1">
                  <a:off x="4176" y="2832"/>
                  <a:ext cx="72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0" name="Line 121"/>
                <p:cNvSpPr>
                  <a:spLocks noChangeShapeType="1"/>
                </p:cNvSpPr>
                <p:nvPr/>
              </p:nvSpPr>
              <p:spPr bwMode="auto">
                <a:xfrm>
                  <a:off x="4248" y="2832"/>
                  <a:ext cx="72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7" name="Line 122"/>
            <p:cNvSpPr>
              <a:spLocks noChangeShapeType="1"/>
            </p:cNvSpPr>
            <p:nvPr/>
          </p:nvSpPr>
          <p:spPr bwMode="auto">
            <a:xfrm>
              <a:off x="2729" y="716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78" name="Group 123"/>
            <p:cNvGrpSpPr/>
            <p:nvPr/>
          </p:nvGrpSpPr>
          <p:grpSpPr bwMode="auto">
            <a:xfrm>
              <a:off x="3762" y="864"/>
              <a:ext cx="499" cy="288"/>
              <a:chOff x="5263" y="2400"/>
              <a:chExt cx="541" cy="288"/>
            </a:xfrm>
          </p:grpSpPr>
          <p:grpSp>
            <p:nvGrpSpPr>
              <p:cNvPr id="132" name="Group 124"/>
              <p:cNvGrpSpPr/>
              <p:nvPr/>
            </p:nvGrpSpPr>
            <p:grpSpPr bwMode="auto">
              <a:xfrm>
                <a:off x="5263" y="2430"/>
                <a:ext cx="541" cy="230"/>
                <a:chOff x="3696" y="1968"/>
                <a:chExt cx="1488" cy="480"/>
              </a:xfrm>
            </p:grpSpPr>
            <p:sp>
              <p:nvSpPr>
                <p:cNvPr id="134" name="Rectangle 125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5" name="Line 126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" name="Text Box 127"/>
              <p:cNvSpPr txBox="1">
                <a:spLocks noChangeArrowheads="1"/>
              </p:cNvSpPr>
              <p:nvPr/>
            </p:nvSpPr>
            <p:spPr bwMode="auto">
              <a:xfrm>
                <a:off x="5328" y="2400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6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9" name="Line 128"/>
            <p:cNvSpPr>
              <a:spLocks noChangeShapeType="1"/>
            </p:cNvSpPr>
            <p:nvPr/>
          </p:nvSpPr>
          <p:spPr bwMode="auto">
            <a:xfrm>
              <a:off x="4119" y="1036"/>
              <a:ext cx="39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80" name="Line 129"/>
            <p:cNvSpPr>
              <a:spLocks noChangeShapeType="1"/>
            </p:cNvSpPr>
            <p:nvPr/>
          </p:nvSpPr>
          <p:spPr bwMode="auto">
            <a:xfrm>
              <a:off x="3442" y="716"/>
              <a:ext cx="32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81" name="Group 130"/>
            <p:cNvGrpSpPr/>
            <p:nvPr/>
          </p:nvGrpSpPr>
          <p:grpSpPr bwMode="auto">
            <a:xfrm>
              <a:off x="3744" y="603"/>
              <a:ext cx="499" cy="232"/>
              <a:chOff x="3696" y="1968"/>
              <a:chExt cx="1488" cy="480"/>
            </a:xfrm>
          </p:grpSpPr>
          <p:sp>
            <p:nvSpPr>
              <p:cNvPr id="130" name="Rectangle 131"/>
              <p:cNvSpPr>
                <a:spLocks noChangeArrowheads="1"/>
              </p:cNvSpPr>
              <p:nvPr/>
            </p:nvSpPr>
            <p:spPr bwMode="auto">
              <a:xfrm>
                <a:off x="3696" y="1968"/>
                <a:ext cx="1488" cy="480"/>
              </a:xfrm>
              <a:prstGeom prst="rect">
                <a:avLst/>
              </a:prstGeom>
              <a:solidFill>
                <a:srgbClr val="99CCFF"/>
              </a:solidFill>
              <a:ln w="19050" cap="rnd">
                <a:solidFill>
                  <a:srgbClr val="DBF5F9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" name="Line 132"/>
              <p:cNvSpPr>
                <a:spLocks noChangeShapeType="1"/>
              </p:cNvSpPr>
              <p:nvPr/>
            </p:nvSpPr>
            <p:spPr bwMode="auto">
              <a:xfrm>
                <a:off x="4464" y="1968"/>
                <a:ext cx="0" cy="480"/>
              </a:xfrm>
              <a:prstGeom prst="line">
                <a:avLst/>
              </a:prstGeom>
              <a:noFill/>
              <a:ln w="19050" cap="rnd">
                <a:solidFill>
                  <a:srgbClr val="DBF5F9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2" name="Text Box 133"/>
            <p:cNvSpPr txBox="1">
              <a:spLocks noChangeArrowheads="1"/>
            </p:cNvSpPr>
            <p:nvPr/>
          </p:nvSpPr>
          <p:spPr bwMode="auto">
            <a:xfrm>
              <a:off x="3804" y="576"/>
              <a:ext cx="362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4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83" name="Line 134"/>
            <p:cNvSpPr>
              <a:spLocks noChangeShapeType="1"/>
            </p:cNvSpPr>
            <p:nvPr/>
          </p:nvSpPr>
          <p:spPr bwMode="auto">
            <a:xfrm>
              <a:off x="4224" y="720"/>
              <a:ext cx="32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84" name="Line 135"/>
            <p:cNvSpPr>
              <a:spLocks noChangeShapeType="1"/>
            </p:cNvSpPr>
            <p:nvPr/>
          </p:nvSpPr>
          <p:spPr bwMode="auto">
            <a:xfrm>
              <a:off x="2112" y="1920"/>
              <a:ext cx="7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85" name="Group 136"/>
            <p:cNvGrpSpPr/>
            <p:nvPr/>
          </p:nvGrpSpPr>
          <p:grpSpPr bwMode="auto">
            <a:xfrm>
              <a:off x="3764" y="1742"/>
              <a:ext cx="499" cy="288"/>
              <a:chOff x="5263" y="2976"/>
              <a:chExt cx="541" cy="288"/>
            </a:xfrm>
          </p:grpSpPr>
          <p:grpSp>
            <p:nvGrpSpPr>
              <p:cNvPr id="123" name="Group 137"/>
              <p:cNvGrpSpPr/>
              <p:nvPr/>
            </p:nvGrpSpPr>
            <p:grpSpPr bwMode="auto">
              <a:xfrm>
                <a:off x="5263" y="2999"/>
                <a:ext cx="541" cy="230"/>
                <a:chOff x="3696" y="1968"/>
                <a:chExt cx="1488" cy="480"/>
              </a:xfrm>
            </p:grpSpPr>
            <p:sp>
              <p:nvSpPr>
                <p:cNvPr id="128" name="Rectangle 138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9" name="Line 139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4" name="Text Box 140"/>
              <p:cNvSpPr txBox="1">
                <a:spLocks noChangeArrowheads="1"/>
              </p:cNvSpPr>
              <p:nvPr/>
            </p:nvSpPr>
            <p:spPr bwMode="auto">
              <a:xfrm>
                <a:off x="5328" y="2976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2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25" name="Group 141"/>
              <p:cNvGrpSpPr/>
              <p:nvPr/>
            </p:nvGrpSpPr>
            <p:grpSpPr bwMode="auto">
              <a:xfrm>
                <a:off x="5624" y="3065"/>
                <a:ext cx="108" cy="98"/>
                <a:chOff x="3456" y="720"/>
                <a:chExt cx="192" cy="144"/>
              </a:xfrm>
            </p:grpSpPr>
            <p:sp>
              <p:nvSpPr>
                <p:cNvPr id="126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7" name="Line 143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86" name="Group 144"/>
            <p:cNvGrpSpPr/>
            <p:nvPr/>
          </p:nvGrpSpPr>
          <p:grpSpPr bwMode="auto">
            <a:xfrm>
              <a:off x="3087" y="1742"/>
              <a:ext cx="499" cy="288"/>
              <a:chOff x="4530" y="2976"/>
              <a:chExt cx="540" cy="288"/>
            </a:xfrm>
          </p:grpSpPr>
          <p:grpSp>
            <p:nvGrpSpPr>
              <p:cNvPr id="119" name="Group 145"/>
              <p:cNvGrpSpPr/>
              <p:nvPr/>
            </p:nvGrpSpPr>
            <p:grpSpPr bwMode="auto">
              <a:xfrm>
                <a:off x="4530" y="2999"/>
                <a:ext cx="540" cy="230"/>
                <a:chOff x="3696" y="1968"/>
                <a:chExt cx="1488" cy="480"/>
              </a:xfrm>
            </p:grpSpPr>
            <p:sp>
              <p:nvSpPr>
                <p:cNvPr id="121" name="Rectangle 146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2" name="Line 147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0" name="Text Box 148"/>
              <p:cNvSpPr txBox="1">
                <a:spLocks noChangeArrowheads="1"/>
              </p:cNvSpPr>
              <p:nvPr/>
            </p:nvSpPr>
            <p:spPr bwMode="auto">
              <a:xfrm>
                <a:off x="4608" y="2976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6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87" name="Line 149"/>
            <p:cNvSpPr>
              <a:spLocks noChangeShapeType="1"/>
            </p:cNvSpPr>
            <p:nvPr/>
          </p:nvSpPr>
          <p:spPr bwMode="auto">
            <a:xfrm>
              <a:off x="2731" y="1872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88" name="Line 150"/>
            <p:cNvSpPr>
              <a:spLocks noChangeShapeType="1"/>
            </p:cNvSpPr>
            <p:nvPr/>
          </p:nvSpPr>
          <p:spPr bwMode="auto">
            <a:xfrm>
              <a:off x="3408" y="1872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89" name="Group 151"/>
            <p:cNvGrpSpPr/>
            <p:nvPr/>
          </p:nvGrpSpPr>
          <p:grpSpPr bwMode="auto">
            <a:xfrm>
              <a:off x="3744" y="2016"/>
              <a:ext cx="499" cy="288"/>
              <a:chOff x="5263" y="2976"/>
              <a:chExt cx="541" cy="288"/>
            </a:xfrm>
          </p:grpSpPr>
          <p:grpSp>
            <p:nvGrpSpPr>
              <p:cNvPr id="112" name="Group 152"/>
              <p:cNvGrpSpPr/>
              <p:nvPr/>
            </p:nvGrpSpPr>
            <p:grpSpPr bwMode="auto">
              <a:xfrm>
                <a:off x="5263" y="2999"/>
                <a:ext cx="541" cy="230"/>
                <a:chOff x="3696" y="1968"/>
                <a:chExt cx="1488" cy="480"/>
              </a:xfrm>
            </p:grpSpPr>
            <p:sp>
              <p:nvSpPr>
                <p:cNvPr id="117" name="Rectangle 153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8" name="Line 154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3" name="Text Box 155"/>
              <p:cNvSpPr txBox="1">
                <a:spLocks noChangeArrowheads="1"/>
              </p:cNvSpPr>
              <p:nvPr/>
            </p:nvSpPr>
            <p:spPr bwMode="auto">
              <a:xfrm>
                <a:off x="5328" y="2976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5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14" name="Group 156"/>
              <p:cNvGrpSpPr/>
              <p:nvPr/>
            </p:nvGrpSpPr>
            <p:grpSpPr bwMode="auto">
              <a:xfrm>
                <a:off x="5624" y="3065"/>
                <a:ext cx="108" cy="98"/>
                <a:chOff x="3456" y="720"/>
                <a:chExt cx="192" cy="144"/>
              </a:xfrm>
            </p:grpSpPr>
            <p:sp>
              <p:nvSpPr>
                <p:cNvPr id="115" name="Line 157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6" name="Line 158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90" name="Group 159"/>
            <p:cNvGrpSpPr/>
            <p:nvPr/>
          </p:nvGrpSpPr>
          <p:grpSpPr bwMode="auto">
            <a:xfrm>
              <a:off x="3072" y="2016"/>
              <a:ext cx="499" cy="288"/>
              <a:chOff x="4530" y="2976"/>
              <a:chExt cx="540" cy="288"/>
            </a:xfrm>
          </p:grpSpPr>
          <p:grpSp>
            <p:nvGrpSpPr>
              <p:cNvPr id="108" name="Group 160"/>
              <p:cNvGrpSpPr/>
              <p:nvPr/>
            </p:nvGrpSpPr>
            <p:grpSpPr bwMode="auto">
              <a:xfrm>
                <a:off x="4530" y="2999"/>
                <a:ext cx="540" cy="230"/>
                <a:chOff x="3696" y="1968"/>
                <a:chExt cx="1488" cy="480"/>
              </a:xfrm>
            </p:grpSpPr>
            <p:sp>
              <p:nvSpPr>
                <p:cNvPr id="110" name="Rectangle 161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1" name="Line 162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9" name="Text Box 163"/>
              <p:cNvSpPr txBox="1">
                <a:spLocks noChangeArrowheads="1"/>
              </p:cNvSpPr>
              <p:nvPr/>
            </p:nvSpPr>
            <p:spPr bwMode="auto">
              <a:xfrm>
                <a:off x="4608" y="2976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2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1" name="Line 164"/>
            <p:cNvSpPr>
              <a:spLocks noChangeShapeType="1"/>
            </p:cNvSpPr>
            <p:nvPr/>
          </p:nvSpPr>
          <p:spPr bwMode="auto">
            <a:xfrm>
              <a:off x="2731" y="2112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92" name="Line 165"/>
            <p:cNvSpPr>
              <a:spLocks noChangeShapeType="1"/>
            </p:cNvSpPr>
            <p:nvPr/>
          </p:nvSpPr>
          <p:spPr bwMode="auto">
            <a:xfrm>
              <a:off x="3408" y="2112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93" name="Group 166"/>
            <p:cNvGrpSpPr/>
            <p:nvPr/>
          </p:nvGrpSpPr>
          <p:grpSpPr bwMode="auto">
            <a:xfrm>
              <a:off x="3764" y="2318"/>
              <a:ext cx="499" cy="288"/>
              <a:chOff x="5263" y="2976"/>
              <a:chExt cx="541" cy="288"/>
            </a:xfrm>
          </p:grpSpPr>
          <p:grpSp>
            <p:nvGrpSpPr>
              <p:cNvPr id="101" name="Group 167"/>
              <p:cNvGrpSpPr/>
              <p:nvPr/>
            </p:nvGrpSpPr>
            <p:grpSpPr bwMode="auto">
              <a:xfrm>
                <a:off x="5263" y="2999"/>
                <a:ext cx="541" cy="230"/>
                <a:chOff x="3696" y="1968"/>
                <a:chExt cx="1488" cy="480"/>
              </a:xfrm>
            </p:grpSpPr>
            <p:sp>
              <p:nvSpPr>
                <p:cNvPr id="106" name="Rectangle 168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7" name="Line 169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2" name="Text Box 170"/>
              <p:cNvSpPr txBox="1">
                <a:spLocks noChangeArrowheads="1"/>
              </p:cNvSpPr>
              <p:nvPr/>
            </p:nvSpPr>
            <p:spPr bwMode="auto">
              <a:xfrm>
                <a:off x="5328" y="2976"/>
                <a:ext cx="392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4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103" name="Group 171"/>
              <p:cNvGrpSpPr/>
              <p:nvPr/>
            </p:nvGrpSpPr>
            <p:grpSpPr bwMode="auto">
              <a:xfrm>
                <a:off x="5624" y="3065"/>
                <a:ext cx="108" cy="98"/>
                <a:chOff x="3456" y="720"/>
                <a:chExt cx="192" cy="144"/>
              </a:xfrm>
            </p:grpSpPr>
            <p:sp>
              <p:nvSpPr>
                <p:cNvPr id="104" name="Line 172"/>
                <p:cNvSpPr>
                  <a:spLocks noChangeShapeType="1"/>
                </p:cNvSpPr>
                <p:nvPr/>
              </p:nvSpPr>
              <p:spPr bwMode="auto">
                <a:xfrm flipV="1">
                  <a:off x="3456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5" name="Line 173"/>
                <p:cNvSpPr>
                  <a:spLocks noChangeShapeType="1"/>
                </p:cNvSpPr>
                <p:nvPr/>
              </p:nvSpPr>
              <p:spPr bwMode="auto">
                <a:xfrm>
                  <a:off x="3552" y="72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DBF5F9"/>
                  </a:solidFill>
                  <a:round/>
                </a:ln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94" name="Group 174"/>
            <p:cNvGrpSpPr/>
            <p:nvPr/>
          </p:nvGrpSpPr>
          <p:grpSpPr bwMode="auto">
            <a:xfrm>
              <a:off x="3087" y="2318"/>
              <a:ext cx="499" cy="288"/>
              <a:chOff x="4530" y="2976"/>
              <a:chExt cx="540" cy="288"/>
            </a:xfrm>
          </p:grpSpPr>
          <p:grpSp>
            <p:nvGrpSpPr>
              <p:cNvPr id="97" name="Group 175"/>
              <p:cNvGrpSpPr/>
              <p:nvPr/>
            </p:nvGrpSpPr>
            <p:grpSpPr bwMode="auto">
              <a:xfrm>
                <a:off x="4530" y="2999"/>
                <a:ext cx="540" cy="230"/>
                <a:chOff x="3696" y="1968"/>
                <a:chExt cx="1488" cy="480"/>
              </a:xfrm>
            </p:grpSpPr>
            <p:sp>
              <p:nvSpPr>
                <p:cNvPr id="99" name="Rectangle 176"/>
                <p:cNvSpPr>
                  <a:spLocks noChangeArrowheads="1"/>
                </p:cNvSpPr>
                <p:nvPr/>
              </p:nvSpPr>
              <p:spPr bwMode="auto">
                <a:xfrm>
                  <a:off x="3696" y="1968"/>
                  <a:ext cx="1488" cy="480"/>
                </a:xfrm>
                <a:prstGeom prst="rect">
                  <a:avLst/>
                </a:prstGeom>
                <a:solidFill>
                  <a:srgbClr val="99CCFF"/>
                </a:solidFill>
                <a:ln w="19050" cap="rnd">
                  <a:solidFill>
                    <a:srgbClr val="DBF5F9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0" name="Line 177"/>
                <p:cNvSpPr>
                  <a:spLocks noChangeShapeType="1"/>
                </p:cNvSpPr>
                <p:nvPr/>
              </p:nvSpPr>
              <p:spPr bwMode="auto">
                <a:xfrm>
                  <a:off x="4464" y="1968"/>
                  <a:ext cx="0" cy="480"/>
                </a:xfrm>
                <a:prstGeom prst="line">
                  <a:avLst/>
                </a:prstGeom>
                <a:noFill/>
                <a:ln w="19050" cap="rnd">
                  <a:solidFill>
                    <a:srgbClr val="DBF5F9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8" name="Text Box 178"/>
              <p:cNvSpPr txBox="1">
                <a:spLocks noChangeArrowheads="1"/>
              </p:cNvSpPr>
              <p:nvPr/>
            </p:nvSpPr>
            <p:spPr bwMode="auto">
              <a:xfrm>
                <a:off x="4608" y="2976"/>
                <a:ext cx="390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3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5" name="Line 179"/>
            <p:cNvSpPr>
              <a:spLocks noChangeShapeType="1"/>
            </p:cNvSpPr>
            <p:nvPr/>
          </p:nvSpPr>
          <p:spPr bwMode="auto">
            <a:xfrm>
              <a:off x="2731" y="2448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96" name="Line 180"/>
            <p:cNvSpPr>
              <a:spLocks noChangeShapeType="1"/>
            </p:cNvSpPr>
            <p:nvPr/>
          </p:nvSpPr>
          <p:spPr bwMode="auto">
            <a:xfrm>
              <a:off x="3408" y="2448"/>
              <a:ext cx="35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192" name="Line 181"/>
          <p:cNvSpPr>
            <a:spLocks noChangeShapeType="1"/>
          </p:cNvSpPr>
          <p:nvPr/>
        </p:nvSpPr>
        <p:spPr bwMode="auto">
          <a:xfrm>
            <a:off x="4495800" y="1295400"/>
            <a:ext cx="1295400" cy="0"/>
          </a:xfrm>
          <a:prstGeom prst="line">
            <a:avLst/>
          </a:prstGeom>
          <a:noFill/>
          <a:ln w="9525">
            <a:noFill/>
            <a:rou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3" name="流程图: 资料带 192"/>
          <p:cNvSpPr/>
          <p:nvPr/>
        </p:nvSpPr>
        <p:spPr bwMode="auto">
          <a:xfrm>
            <a:off x="4267200" y="5410200"/>
            <a:ext cx="4838700" cy="1428750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以邻接表为存储结构，则查找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邻接点的操作实际是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顺序查找链表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4" name="AutoShape 4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714348" y="2095488"/>
            <a:ext cx="1857388" cy="1000132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邻接表图示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" name="TextBox 184"/>
          <p:cNvSpPr txBox="1">
            <a:spLocks noChangeArrowheads="1"/>
          </p:cNvSpPr>
          <p:nvPr/>
        </p:nvSpPr>
        <p:spPr bwMode="auto">
          <a:xfrm>
            <a:off x="428625" y="3595688"/>
            <a:ext cx="286543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rPr>
              <a:t>请给出图的邻接表</a:t>
            </a: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3" grpId="0" animBg="1"/>
      <p:bldP spid="193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9590-93B1-4096-9593-8B9842724C5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3400" y="1154113"/>
            <a:ext cx="8243888" cy="57054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vexnode g[n]; 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DFSL(int i)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图用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邻接表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存储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 int j;  edgenode *p;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printf(“node:%c\n”,g[i].vertex);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visited[i]=TRUE;                              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标识当前结点为访问过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p=g[i].link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；                     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得到当前结点的一条边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while (p!=NULL)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{ if (!visited[p-&gt;adjvex])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如果存在边并未被访问过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DFSL(p-&gt;adjvex);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  p=p-&gt;next;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}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流程图: 资料带 14"/>
          <p:cNvSpPr/>
          <p:nvPr/>
        </p:nvSpPr>
        <p:spPr bwMode="auto">
          <a:xfrm>
            <a:off x="2500313" y="5638800"/>
            <a:ext cx="6215062" cy="1214437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图的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邻接表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表示不是唯一的，由深度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优先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算法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得到的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DFS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序列不是唯一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87350" y="1371600"/>
            <a:ext cx="8375650" cy="45720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lIns="92075" tIns="46038" rIns="92075" bIns="4603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非连通图的深度优先搜索遍历</a:t>
            </a:r>
            <a:endParaRPr lang="zh-CN" altLang="zh-CN" sz="1100" b="1">
              <a:solidFill>
                <a:srgbClr val="0033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Tx/>
              <a:buBlip>
                <a:blip r:embed="rId1"/>
              </a:buBlip>
            </a:pPr>
            <a:r>
              <a:rPr lang="zh-CN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首先将图中每个顶点的访问标志设为 </a:t>
            </a: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FALSE,  </a:t>
            </a:r>
            <a:r>
              <a:rPr lang="zh-CN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之后搜索图中每个顶点</a:t>
            </a:r>
            <a:endParaRPr lang="en-US" altLang="zh-CN" sz="24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若已被访问过，则该顶点一定是落在图中已求得的连通分量上；</a:t>
            </a:r>
            <a:endParaRPr lang="en-US" altLang="zh-CN" sz="24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若还未被访问，则从该顶点出发遍历图，可求得图的另一个连通分量。</a:t>
            </a:r>
            <a:endParaRPr lang="zh-CN" altLang="en-US" sz="24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6E88-D327-44F1-8B69-7DA804FF8F7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158261" y="5253037"/>
            <a:ext cx="6337300" cy="1285875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04617B">
              <a:lumMod val="20000"/>
              <a:lumOff val="80000"/>
            </a:srgbClr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rPr>
              <a:t>如果一个无向图是非连通图，如何遍历？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707F9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" name="AutoShape 4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6732119" y="5386411"/>
            <a:ext cx="2107081" cy="93821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图示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非连通图的深度优先搜索遍历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9057-E53B-451F-9F94-0B9EE01B314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3810000" y="1905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5181600" y="1905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1981200" y="3048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2743200" y="4114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3200400" y="3048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4343400" y="3048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4724400" y="4114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k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5562600" y="3048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f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64770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2209800" y="2133600"/>
            <a:ext cx="1600200" cy="9144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2209800" y="3505200"/>
            <a:ext cx="609600" cy="6858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3276600" y="4343400"/>
            <a:ext cx="1447800" cy="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 flipH="1">
            <a:off x="3505200" y="2286000"/>
            <a:ext cx="3810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2971800" y="3429000"/>
            <a:ext cx="381000" cy="6858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4800600" y="3505200"/>
            <a:ext cx="152400" cy="6096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4267200" y="2286000"/>
            <a:ext cx="3048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4343400" y="2133600"/>
            <a:ext cx="1447800" cy="914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H="1">
            <a:off x="5257800" y="3505200"/>
            <a:ext cx="609600" cy="7620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5715000" y="2133600"/>
            <a:ext cx="762000" cy="2286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2667000" y="5530850"/>
            <a:ext cx="5540375" cy="654050"/>
          </a:xfrm>
          <a:prstGeom prst="rect">
            <a:avLst/>
          </a:prstGeom>
          <a:solidFill>
            <a:srgbClr val="EBEBFF"/>
          </a:solidFill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F   F   F   F   F   F   F   F   F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>
            <a:off x="32543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38639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44735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50831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56927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>
            <a:off x="63023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>
            <a:off x="69119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>
            <a:off x="7521575" y="5538788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Rectangle 30"/>
          <p:cNvSpPr>
            <a:spLocks noChangeArrowheads="1"/>
          </p:cNvSpPr>
          <p:nvPr/>
        </p:nvSpPr>
        <p:spPr bwMode="auto">
          <a:xfrm>
            <a:off x="27114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31"/>
          <p:cNvSpPr>
            <a:spLocks noChangeArrowheads="1"/>
          </p:cNvSpPr>
          <p:nvPr/>
        </p:nvSpPr>
        <p:spPr bwMode="auto">
          <a:xfrm>
            <a:off x="33210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39306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Rectangle 33"/>
          <p:cNvSpPr>
            <a:spLocks noChangeArrowheads="1"/>
          </p:cNvSpPr>
          <p:nvPr/>
        </p:nvSpPr>
        <p:spPr bwMode="auto">
          <a:xfrm>
            <a:off x="45402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518160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35"/>
          <p:cNvSpPr>
            <a:spLocks noChangeArrowheads="1"/>
          </p:cNvSpPr>
          <p:nvPr/>
        </p:nvSpPr>
        <p:spPr bwMode="auto">
          <a:xfrm>
            <a:off x="57594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36"/>
          <p:cNvSpPr>
            <a:spLocks noChangeArrowheads="1"/>
          </p:cNvSpPr>
          <p:nvPr/>
        </p:nvSpPr>
        <p:spPr bwMode="auto">
          <a:xfrm>
            <a:off x="63690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Rectangle 37"/>
          <p:cNvSpPr>
            <a:spLocks noChangeArrowheads="1"/>
          </p:cNvSpPr>
          <p:nvPr/>
        </p:nvSpPr>
        <p:spPr bwMode="auto">
          <a:xfrm>
            <a:off x="69786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Rectangle 38"/>
          <p:cNvSpPr>
            <a:spLocks noChangeArrowheads="1"/>
          </p:cNvSpPr>
          <p:nvPr/>
        </p:nvSpPr>
        <p:spPr bwMode="auto">
          <a:xfrm>
            <a:off x="7664450" y="5538788"/>
            <a:ext cx="488950" cy="641350"/>
          </a:xfrm>
          <a:prstGeom prst="rect">
            <a:avLst/>
          </a:prstGeom>
          <a:solidFill>
            <a:srgbClr val="FFCC99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Rectangle 39"/>
          <p:cNvSpPr>
            <a:spLocks noChangeArrowheads="1"/>
          </p:cNvSpPr>
          <p:nvPr/>
        </p:nvSpPr>
        <p:spPr bwMode="auto">
          <a:xfrm>
            <a:off x="26670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Rectangle 40"/>
          <p:cNvSpPr>
            <a:spLocks noChangeArrowheads="1"/>
          </p:cNvSpPr>
          <p:nvPr/>
        </p:nvSpPr>
        <p:spPr bwMode="auto">
          <a:xfrm>
            <a:off x="32766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Rectangle 41"/>
          <p:cNvSpPr>
            <a:spLocks noChangeArrowheads="1"/>
          </p:cNvSpPr>
          <p:nvPr/>
        </p:nvSpPr>
        <p:spPr bwMode="auto">
          <a:xfrm>
            <a:off x="38862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Rectangle 42"/>
          <p:cNvSpPr>
            <a:spLocks noChangeArrowheads="1"/>
          </p:cNvSpPr>
          <p:nvPr/>
        </p:nvSpPr>
        <p:spPr bwMode="auto">
          <a:xfrm>
            <a:off x="44958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5105400" y="6216650"/>
            <a:ext cx="55245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k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57150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f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Rectangle 45"/>
          <p:cNvSpPr>
            <a:spLocks noChangeArrowheads="1"/>
          </p:cNvSpPr>
          <p:nvPr/>
        </p:nvSpPr>
        <p:spPr bwMode="auto">
          <a:xfrm>
            <a:off x="6324600" y="62166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e 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Rectangle 46"/>
          <p:cNvSpPr>
            <a:spLocks noChangeArrowheads="1"/>
          </p:cNvSpPr>
          <p:nvPr/>
        </p:nvSpPr>
        <p:spPr bwMode="auto">
          <a:xfrm>
            <a:off x="6991350" y="6216650"/>
            <a:ext cx="55245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Rectangle 47"/>
          <p:cNvSpPr>
            <a:spLocks noChangeArrowheads="1"/>
          </p:cNvSpPr>
          <p:nvPr/>
        </p:nvSpPr>
        <p:spPr bwMode="auto">
          <a:xfrm>
            <a:off x="7543800" y="6216650"/>
            <a:ext cx="6858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Oval 48"/>
          <p:cNvSpPr>
            <a:spLocks noChangeArrowheads="1"/>
          </p:cNvSpPr>
          <p:nvPr/>
        </p:nvSpPr>
        <p:spPr bwMode="auto">
          <a:xfrm>
            <a:off x="3810000" y="1905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Line 49"/>
          <p:cNvSpPr>
            <a:spLocks noChangeShapeType="1"/>
          </p:cNvSpPr>
          <p:nvPr/>
        </p:nvSpPr>
        <p:spPr bwMode="auto">
          <a:xfrm flipH="1">
            <a:off x="2209800" y="2133600"/>
            <a:ext cx="1600200" cy="9144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Oval 50"/>
          <p:cNvSpPr>
            <a:spLocks noChangeArrowheads="1"/>
          </p:cNvSpPr>
          <p:nvPr/>
        </p:nvSpPr>
        <p:spPr bwMode="auto">
          <a:xfrm>
            <a:off x="1981200" y="3048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" name="Line 51"/>
          <p:cNvSpPr>
            <a:spLocks noChangeShapeType="1"/>
          </p:cNvSpPr>
          <p:nvPr/>
        </p:nvSpPr>
        <p:spPr bwMode="auto">
          <a:xfrm>
            <a:off x="2209800" y="3505200"/>
            <a:ext cx="609600" cy="6858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Oval 52"/>
          <p:cNvSpPr>
            <a:spLocks noChangeArrowheads="1"/>
          </p:cNvSpPr>
          <p:nvPr/>
        </p:nvSpPr>
        <p:spPr bwMode="auto">
          <a:xfrm>
            <a:off x="2743200" y="4114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Line 53"/>
          <p:cNvSpPr>
            <a:spLocks noChangeShapeType="1"/>
          </p:cNvSpPr>
          <p:nvPr/>
        </p:nvSpPr>
        <p:spPr bwMode="auto">
          <a:xfrm flipH="1">
            <a:off x="2971800" y="3429000"/>
            <a:ext cx="381000" cy="6858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Line 54"/>
          <p:cNvSpPr>
            <a:spLocks noChangeShapeType="1"/>
          </p:cNvSpPr>
          <p:nvPr/>
        </p:nvSpPr>
        <p:spPr bwMode="auto">
          <a:xfrm>
            <a:off x="3276600" y="4343400"/>
            <a:ext cx="1447800" cy="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Oval 55"/>
          <p:cNvSpPr>
            <a:spLocks noChangeArrowheads="1"/>
          </p:cNvSpPr>
          <p:nvPr/>
        </p:nvSpPr>
        <p:spPr bwMode="auto">
          <a:xfrm>
            <a:off x="4724400" y="4114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k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Line 56"/>
          <p:cNvSpPr>
            <a:spLocks noChangeShapeType="1"/>
          </p:cNvSpPr>
          <p:nvPr/>
        </p:nvSpPr>
        <p:spPr bwMode="auto">
          <a:xfrm flipH="1">
            <a:off x="5257800" y="3505200"/>
            <a:ext cx="609600" cy="7620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Oval 57"/>
          <p:cNvSpPr>
            <a:spLocks noChangeArrowheads="1"/>
          </p:cNvSpPr>
          <p:nvPr/>
        </p:nvSpPr>
        <p:spPr bwMode="auto">
          <a:xfrm>
            <a:off x="5562600" y="3048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f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Line 58"/>
          <p:cNvSpPr>
            <a:spLocks noChangeShapeType="1"/>
          </p:cNvSpPr>
          <p:nvPr/>
        </p:nvSpPr>
        <p:spPr bwMode="auto">
          <a:xfrm>
            <a:off x="4800600" y="3505200"/>
            <a:ext cx="152400" cy="609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Oval 59"/>
          <p:cNvSpPr>
            <a:spLocks noChangeArrowheads="1"/>
          </p:cNvSpPr>
          <p:nvPr/>
        </p:nvSpPr>
        <p:spPr bwMode="auto">
          <a:xfrm>
            <a:off x="4343400" y="3048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Oval 60"/>
          <p:cNvSpPr>
            <a:spLocks noChangeArrowheads="1"/>
          </p:cNvSpPr>
          <p:nvPr/>
        </p:nvSpPr>
        <p:spPr bwMode="auto">
          <a:xfrm>
            <a:off x="3200400" y="3048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Oval 61"/>
          <p:cNvSpPr>
            <a:spLocks noChangeArrowheads="1"/>
          </p:cNvSpPr>
          <p:nvPr/>
        </p:nvSpPr>
        <p:spPr bwMode="auto">
          <a:xfrm>
            <a:off x="5181600" y="19050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Line 62"/>
          <p:cNvSpPr>
            <a:spLocks noChangeShapeType="1"/>
          </p:cNvSpPr>
          <p:nvPr/>
        </p:nvSpPr>
        <p:spPr bwMode="auto">
          <a:xfrm>
            <a:off x="5715000" y="2133600"/>
            <a:ext cx="762000" cy="228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Oval 63"/>
          <p:cNvSpPr>
            <a:spLocks noChangeArrowheads="1"/>
          </p:cNvSpPr>
          <p:nvPr/>
        </p:nvSpPr>
        <p:spPr bwMode="auto">
          <a:xfrm>
            <a:off x="6477000" y="2209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800000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Text Box 64"/>
          <p:cNvSpPr txBox="1">
            <a:spLocks noChangeArrowheads="1"/>
          </p:cNvSpPr>
          <p:nvPr/>
        </p:nvSpPr>
        <p:spPr bwMode="auto">
          <a:xfrm>
            <a:off x="288925" y="5462588"/>
            <a:ext cx="2249488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访问标志</a:t>
            </a:r>
            <a:r>
              <a:rPr kumimoji="1" lang="en-US" altLang="zh-CN" sz="3600" b="1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Text Box 65"/>
          <p:cNvSpPr txBox="1">
            <a:spLocks noChangeArrowheads="1"/>
          </p:cNvSpPr>
          <p:nvPr/>
        </p:nvSpPr>
        <p:spPr bwMode="auto">
          <a:xfrm>
            <a:off x="304800" y="6140450"/>
            <a:ext cx="2249488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访问次序</a:t>
            </a:r>
            <a:r>
              <a:rPr kumimoji="1" lang="en-US" altLang="zh-CN" sz="3600" b="1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Text Box 66"/>
          <p:cNvSpPr txBox="1">
            <a:spLocks noChangeArrowheads="1"/>
          </p:cNvSpPr>
          <p:nvPr/>
        </p:nvSpPr>
        <p:spPr bwMode="auto">
          <a:xfrm>
            <a:off x="395288" y="1963738"/>
            <a:ext cx="1250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000099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Text Box 67"/>
          <p:cNvSpPr txBox="1">
            <a:spLocks noChangeArrowheads="1"/>
          </p:cNvSpPr>
          <p:nvPr/>
        </p:nvSpPr>
        <p:spPr bwMode="auto">
          <a:xfrm>
            <a:off x="2765425" y="5081588"/>
            <a:ext cx="538797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0      1      2      3      4      5      6      7      8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Line 68"/>
          <p:cNvSpPr>
            <a:spLocks noChangeShapeType="1"/>
          </p:cNvSpPr>
          <p:nvPr/>
        </p:nvSpPr>
        <p:spPr bwMode="auto">
          <a:xfrm flipV="1">
            <a:off x="3200400" y="3429000"/>
            <a:ext cx="24384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Text Box 72"/>
          <p:cNvSpPr txBox="1">
            <a:spLocks noChangeArrowheads="1"/>
          </p:cNvSpPr>
          <p:nvPr/>
        </p:nvSpPr>
        <p:spPr bwMode="auto">
          <a:xfrm>
            <a:off x="2824163" y="4565650"/>
            <a:ext cx="5614987" cy="48895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0F6FC6">
                <a:gamma/>
                <a:shade val="60000"/>
                <a:invGamma/>
              </a:srgbClr>
            </a:prstShdw>
          </a:effec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kern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600" b="1" kern="0">
                <a:solidFill>
                  <a:srgbClr val="6600CC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600" b="1" kern="0">
                <a:solidFill>
                  <a:srgbClr val="000000"/>
                </a:solidFill>
                <a:latin typeface="Times New Roman" panose="02020603050405020304" pitchFamily="18" charset="0"/>
              </a:rPr>
              <a:t>b     c     d      e      f      g     h     k     </a:t>
            </a:r>
            <a:endParaRPr kumimoji="1" lang="en-US" altLang="zh-CN" sz="2600" b="1" ker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 autoUpdateAnimBg="0"/>
      <p:bldP spid="42" grpId="0" animBg="1" autoUpdateAnimBg="0"/>
      <p:bldP spid="43" grpId="0" animBg="1" autoUpdateAnimBg="0"/>
      <p:bldP spid="44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49" grpId="0" animBg="1" autoUpdateAnimBg="0"/>
      <p:bldP spid="50" grpId="0" animBg="1" autoUpdateAnimBg="0"/>
      <p:bldP spid="51" grpId="0" animBg="1" autoUpdateAnimBg="0"/>
      <p:bldP spid="52" grpId="0" animBg="1" autoUpdateAnimBg="0"/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58" grpId="0" animBg="1" autoUpdateAnimBg="0"/>
      <p:bldP spid="59" grpId="0" animBg="1" autoUpdateAnimBg="0"/>
      <p:bldP spid="60" grpId="0" animBg="1"/>
      <p:bldP spid="61" grpId="0" animBg="1" autoUpdateAnimBg="0"/>
      <p:bldP spid="62" grpId="0" animBg="1"/>
      <p:bldP spid="63" grpId="0" animBg="1" autoUpdateAnimBg="0"/>
      <p:bldP spid="64" grpId="0" animBg="1"/>
      <p:bldP spid="65" grpId="0" animBg="1"/>
      <p:bldP spid="66" grpId="0" animBg="1" autoUpdateAnimBg="0"/>
      <p:bldP spid="67" grpId="0" animBg="1"/>
      <p:bldP spid="68" grpId="0" animBg="1" autoUpdateAnimBg="0"/>
      <p:bldP spid="69" grpId="0" animBg="1"/>
      <p:bldP spid="70" grpId="0" animBg="1" autoUpdateAnimBg="0"/>
      <p:bldP spid="71" grpId="0" animBg="1" autoUpdateAnimBg="0"/>
      <p:bldP spid="72" grpId="0" animBg="1" autoUpdateAnimBg="0"/>
      <p:bldP spid="73" grpId="0" animBg="1"/>
      <p:bldP spid="74" grpId="0" animBg="1" autoUpdateAnimBg="0"/>
      <p:bldP spid="76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非连通图的遍历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8B9F-BFFA-43F0-9F90-4EE70FD5AB2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3400" y="1828800"/>
            <a:ext cx="8077200" cy="8921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</a:ln>
          <a:effectLst/>
        </p:spPr>
        <p:txBody>
          <a:bodyPr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cs"/>
              </a:rPr>
              <a:t>非连通图的遍历必须多次调用深度优先搜索或广度优先搜索算法，遍历算法如下：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707F9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479425" y="2819400"/>
            <a:ext cx="8207375" cy="4007251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TRAVER()   // </a:t>
            </a: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遍历用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邻接矩阵</a:t>
            </a: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表示的非连通图</a:t>
            </a:r>
            <a:endParaRPr kumimoji="1" lang="zh-CN" altLang="en-US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{  int  i;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for  ( i = 0; i &lt; n; i++)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    visited[i] = FALSE;  // </a:t>
            </a: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标志数组初始化 </a:t>
            </a:r>
            <a:endParaRPr kumimoji="1" lang="zh-CN" altLang="en-US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for  ( i = 0; i &lt; n; i++)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    {  if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 !visited[i])  DFS(i);  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                         // </a:t>
            </a: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从顶点出发遍历一个连 通分量 </a:t>
            </a:r>
            <a:endParaRPr kumimoji="1" lang="zh-CN" altLang="en-US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 }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深度优先搜索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DFS ( Depth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非连通图的遍历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29F8-A81C-4622-BCF8-5E6717B0248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055688" y="1915533"/>
            <a:ext cx="6291722" cy="4485267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DFSTraverse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(Graph G, 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Status (*Visit)(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v)) {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// 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对图 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G 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作深度优先遍历。</a:t>
            </a:r>
            <a:endParaRPr kumimoji="1"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VisitFunc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= Visit;   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for (v=0; v&lt;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G.vexnum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 ++v) 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visited[v] = FALSE; // 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访问标志数组初始化</a:t>
            </a:r>
            <a:endParaRPr kumimoji="1"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for (v=0; v&lt;</a:t>
            </a:r>
            <a:r>
              <a:rPr kumimoji="1" lang="en-US" altLang="zh-CN" sz="2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G.vexnum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; ++v) 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if (!visited[v])  DFS(G, v);</a:t>
            </a:r>
            <a:endParaRPr kumimoji="1" lang="en-US" altLang="zh-CN" sz="2400" b="1" dirty="0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// 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对尚未访问的顶点调用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DFS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图的遍历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9.3.1 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深度优先搜索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DFS ( Depth First Search )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9.3.2 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广度优先搜索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BFS ( Breadth First Search )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1B683-6F52-4312-B39B-C2E2400E54E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广度优先搜索的思想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8FC5-E3B4-4E27-BD45-11DF4CB202D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65150" y="1809750"/>
            <a:ext cx="8197850" cy="448738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广度优先搜索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BFS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遍历类似于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树的按层次遍历。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首先访问图中某一个指定的出发点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然后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依次访问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的所有邻接点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i1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,v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i2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it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再依次以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为顶点，访问各顶点未被访问的邻接点，依此类推，直到图中所有顶点均被访问为止。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 algn="just"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(4)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若此时图中尚有顶点未被访问，则另选图中一个未曾被访问的顶点作起始点，重复上述过程，直至图中所有顶点都被访问到为止。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0D4F-5508-4005-B3F0-B3D3BB20D27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3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5892632" y="3438500"/>
            <a:ext cx="1946233" cy="842981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4617B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kern="0" dirty="0">
                <a:solidFill>
                  <a:srgbClr val="000000"/>
                </a:solidFill>
                <a:latin typeface="Constantia" panose="02030602050306030303"/>
              </a:rPr>
              <a:t>图示</a:t>
            </a:r>
            <a:endParaRPr kumimoji="1" lang="en-US" altLang="zh-CN" sz="2400" b="1" kern="0" dirty="0">
              <a:solidFill>
                <a:srgbClr val="000000"/>
              </a:solidFill>
              <a:latin typeface="Constantia" panose="02030602050306030303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227116"/>
            <a:ext cx="8537575" cy="2152650"/>
          </a:xfrm>
          <a:prstGeom prst="rect">
            <a:avLst/>
          </a:prstGeom>
          <a:gradFill rotWithShape="1">
            <a:gsLst>
              <a:gs pos="0">
                <a:srgbClr val="AABBDF">
                  <a:tint val="50000"/>
                  <a:satMod val="300000"/>
                </a:srgbClr>
              </a:gs>
              <a:gs pos="35000">
                <a:srgbClr val="AABBDF">
                  <a:tint val="37000"/>
                  <a:satMod val="300000"/>
                </a:srgbClr>
              </a:gs>
              <a:gs pos="100000">
                <a:srgbClr val="AABBD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AABBDF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广度优先搜索遍历的过程好比“</a:t>
            </a:r>
            <a:r>
              <a:rPr kumimoji="1" lang="zh-CN" altLang="en-US" sz="2800" b="1" ker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一石激起千重浪</a:t>
            </a:r>
            <a:r>
              <a:rPr kumimoji="1" lang="zh-CN" altLang="en-US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”。访问顶点 </a:t>
            </a:r>
            <a:r>
              <a:rPr kumimoji="1" lang="en-US" altLang="zh-CN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 </a:t>
            </a:r>
            <a:r>
              <a:rPr kumimoji="1" lang="zh-CN" altLang="en-US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就好比将一块大石头扔进池塘的中央，必然激起浪花，这个浪花从中央向外四周扩散开来，渐渐波及池塘中从近到远的其它</a:t>
            </a:r>
            <a:r>
              <a:rPr kumimoji="1" lang="en-US" altLang="zh-CN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kumimoji="1" lang="zh-CN" altLang="en-US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石块</a:t>
            </a:r>
            <a:r>
              <a:rPr kumimoji="1" lang="en-US" altLang="zh-CN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kumimoji="1" lang="zh-CN" altLang="en-US" sz="2800" b="1" kern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r>
              <a:rPr kumimoji="1" lang="zh-CN" altLang="en-US" sz="2800" b="1" ker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kumimoji="1" lang="zh-CN" altLang="en-US" sz="2800" b="1" kern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Rectangle 2"/>
          <p:cNvSpPr txBox="1"/>
          <p:nvPr/>
        </p:nvSpPr>
        <p:spPr bwMode="auto">
          <a:xfrm>
            <a:off x="304800" y="4343400"/>
            <a:ext cx="8029575" cy="1744662"/>
          </a:xfrm>
          <a:prstGeom prst="rect">
            <a:avLst/>
          </a:prstGeom>
          <a:gradFill rotWithShape="1">
            <a:gsLst>
              <a:gs pos="0">
                <a:srgbClr val="0F6FC6">
                  <a:tint val="50000"/>
                  <a:satMod val="300000"/>
                </a:srgbClr>
              </a:gs>
              <a:gs pos="35000">
                <a:srgbClr val="0F6FC6">
                  <a:tint val="37000"/>
                  <a:satMod val="300000"/>
                </a:srgbClr>
              </a:gs>
              <a:gs pos="100000">
                <a:srgbClr val="0F6F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F6F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273050" indent="-27305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1" lang="en-US" altLang="zh-CN" sz="2800" b="1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1" lang="zh-CN" altLang="en-US" sz="2800" b="1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改变布局重新画图，将</a:t>
            </a:r>
            <a:r>
              <a:rPr kumimoji="1"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顶点 </a:t>
            </a:r>
            <a:r>
              <a:rPr kumimoji="1"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 </a:t>
            </a:r>
            <a:r>
              <a:rPr kumimoji="1"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放在上方中央</a:t>
            </a:r>
            <a:r>
              <a:rPr kumimoji="1" lang="zh-CN" altLang="en-US" sz="2800" b="1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，则图的广度优先搜索遍历的过程</a:t>
            </a:r>
            <a:r>
              <a:rPr kumimoji="1"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类似于树的按层次遍历</a:t>
            </a:r>
            <a:r>
              <a:rPr kumimoji="1" lang="zh-CN" altLang="en-US" sz="2800" b="1" kern="0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的过程。 </a:t>
            </a:r>
            <a:endParaRPr kumimoji="1" lang="zh-CN" altLang="en-US" sz="2800" b="1" kern="0" dirty="0">
              <a:solidFill>
                <a:srgbClr val="3333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AutoShape 3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6252275" y="6096000"/>
            <a:ext cx="2153825" cy="77312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 kern="0">
                <a:solidFill>
                  <a:srgbClr val="000000"/>
                </a:solidFill>
                <a:latin typeface="Constantia" panose="02030602050306030303"/>
              </a:rPr>
              <a:t>图示</a:t>
            </a:r>
            <a:endParaRPr kumimoji="1" lang="zh-CN" altLang="en-US" sz="2400" b="1" kern="0">
              <a:solidFill>
                <a:srgbClr val="000000"/>
              </a:solidFill>
              <a:latin typeface="Constantia" panose="0203060205030603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EF20-D00F-43B3-B11A-EFB4550C60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1371600" y="3429000"/>
            <a:ext cx="711200" cy="696913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V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4"/>
          <p:cNvSpPr>
            <a:spLocks noChangeArrowheads="1"/>
          </p:cNvSpPr>
          <p:nvPr/>
        </p:nvSpPr>
        <p:spPr bwMode="auto">
          <a:xfrm>
            <a:off x="304800" y="28956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1905000" y="44958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8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2743200" y="35814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rgbClr val="00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3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7"/>
          <p:cNvSpPr>
            <a:spLocks noChangeArrowheads="1"/>
          </p:cNvSpPr>
          <p:nvPr/>
        </p:nvSpPr>
        <p:spPr bwMode="auto">
          <a:xfrm>
            <a:off x="304800" y="41910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rgbClr val="00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7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>
            <a:off x="990600" y="5257800"/>
            <a:ext cx="533400" cy="609600"/>
          </a:xfrm>
          <a:prstGeom prst="ellipse">
            <a:avLst/>
          </a:prstGeom>
          <a:solidFill>
            <a:srgbClr val="99CCFF">
              <a:alpha val="50195"/>
            </a:srgbClr>
          </a:solidFill>
          <a:ln w="28575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8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00082"/>
                </a:solidFill>
                <a:latin typeface="Times New Roman" panose="02020603050405020304" pitchFamily="18" charset="0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>
            <a:off x="1981200" y="23622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2438400" y="57150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kern="0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kern="0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5</a:t>
            </a:r>
            <a:endParaRPr lang="zh-CN" altLang="zh-CN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Line 11"/>
          <p:cNvSpPr>
            <a:spLocks noChangeShapeType="1"/>
          </p:cNvSpPr>
          <p:nvPr/>
        </p:nvSpPr>
        <p:spPr bwMode="auto">
          <a:xfrm>
            <a:off x="838200" y="3200400"/>
            <a:ext cx="609600" cy="381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1828800" y="4114800"/>
            <a:ext cx="228600" cy="4572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 flipH="1">
            <a:off x="1828800" y="2895600"/>
            <a:ext cx="2286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533400" y="3505200"/>
            <a:ext cx="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685800" y="4800600"/>
            <a:ext cx="3810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1524000" y="5562600"/>
            <a:ext cx="914400" cy="381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2209800" y="5105400"/>
            <a:ext cx="381000" cy="6096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2362200" y="4114800"/>
            <a:ext cx="4572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2514600" y="2667000"/>
            <a:ext cx="457200" cy="914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V="1">
            <a:off x="609600" y="2667000"/>
            <a:ext cx="1371600" cy="2286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Oval 21"/>
          <p:cNvSpPr>
            <a:spLocks noChangeArrowheads="1"/>
          </p:cNvSpPr>
          <p:nvPr/>
        </p:nvSpPr>
        <p:spPr bwMode="auto">
          <a:xfrm>
            <a:off x="3352800" y="4800600"/>
            <a:ext cx="533400" cy="609600"/>
          </a:xfrm>
          <a:prstGeom prst="ellipse">
            <a:avLst/>
          </a:prstGeom>
          <a:solidFill>
            <a:srgbClr val="99CCFF">
              <a:alpha val="50195"/>
            </a:srgbClr>
          </a:solidFill>
          <a:ln w="28575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8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00082"/>
                </a:solidFill>
                <a:latin typeface="Times New Roman" panose="02020603050405020304" pitchFamily="18" charset="0"/>
              </a:rPr>
              <a:t>4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3200400" y="4114800"/>
            <a:ext cx="38100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Line 23"/>
          <p:cNvSpPr>
            <a:spLocks noChangeShapeType="1"/>
          </p:cNvSpPr>
          <p:nvPr/>
        </p:nvSpPr>
        <p:spPr bwMode="auto">
          <a:xfrm flipH="1">
            <a:off x="2971800" y="5334000"/>
            <a:ext cx="53340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24"/>
          <p:cNvSpPr txBox="1">
            <a:spLocks noChangeArrowheads="1"/>
          </p:cNvSpPr>
          <p:nvPr/>
        </p:nvSpPr>
        <p:spPr bwMode="auto">
          <a:xfrm>
            <a:off x="307975" y="1295400"/>
            <a:ext cx="8607425" cy="528637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对连通图，从起始点</a:t>
            </a:r>
            <a:r>
              <a:rPr lang="en-US" altLang="zh-CN" sz="2800" ker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</a:t>
            </a:r>
            <a:r>
              <a:rPr lang="zh-CN" altLang="en-US" sz="2800" ker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到其余各顶点必定存在路径。  </a:t>
            </a:r>
            <a:endParaRPr lang="zh-CN" altLang="en-US" sz="2800" kern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3581400" y="2295525"/>
            <a:ext cx="5316538" cy="1128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其中，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, 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, 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8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endParaRPr lang="en-US" altLang="zh-CN" sz="320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           </a:t>
            </a:r>
            <a:r>
              <a:rPr lang="zh-CN" altLang="en-US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的路径长度为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；</a:t>
            </a:r>
            <a:endParaRPr lang="zh-CN" altLang="en-US">
              <a:solidFill>
                <a:srgbClr val="0000CC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6" name="Rectangle 26"/>
          <p:cNvSpPr>
            <a:spLocks noChangeArrowheads="1"/>
          </p:cNvSpPr>
          <p:nvPr/>
        </p:nvSpPr>
        <p:spPr bwMode="auto">
          <a:xfrm>
            <a:off x="4953000" y="3514725"/>
            <a:ext cx="3843338" cy="1066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7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, 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3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, 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5</a:t>
            </a:r>
            <a:endParaRPr lang="en-US" altLang="zh-CN" sz="3200" baseline="-2500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的</a:t>
            </a:r>
            <a:r>
              <a:rPr lang="zh-CN" altLang="en-US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路径长度为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；</a:t>
            </a:r>
            <a:endParaRPr lang="zh-CN" altLang="en-US">
              <a:solidFill>
                <a:srgbClr val="0000CC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4953000" y="4733925"/>
            <a:ext cx="3638550" cy="1066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6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, V-&gt;w</a:t>
            </a:r>
            <a:r>
              <a:rPr lang="en-US" altLang="zh-CN" sz="32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4</a:t>
            </a:r>
            <a:r>
              <a:rPr lang="en-US" altLang="zh-CN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 </a:t>
            </a:r>
            <a:endParaRPr lang="en-US" altLang="zh-CN" sz="3200">
              <a:solidFill>
                <a:srgbClr val="0000CC"/>
              </a:solidFill>
              <a:latin typeface="楷体_GB2312" pitchFamily="49" charset="-122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的路径长度为</a:t>
            </a:r>
            <a:r>
              <a:rPr lang="en-US" altLang="zh-CN" sz="32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宋体" panose="02010600030101010101" pitchFamily="2" charset="-122"/>
              </a:rPr>
              <a:t>。</a:t>
            </a:r>
            <a:endParaRPr lang="zh-CN" altLang="en-US">
              <a:solidFill>
                <a:srgbClr val="0000CC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>
            <a:off x="838200" y="3200400"/>
            <a:ext cx="609600" cy="3810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304800" y="28956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 flipH="1">
            <a:off x="1828800" y="2895600"/>
            <a:ext cx="228600" cy="533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Line 31"/>
          <p:cNvSpPr>
            <a:spLocks noChangeShapeType="1"/>
          </p:cNvSpPr>
          <p:nvPr/>
        </p:nvSpPr>
        <p:spPr bwMode="auto">
          <a:xfrm>
            <a:off x="1828800" y="4114800"/>
            <a:ext cx="228600" cy="4572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Line 32"/>
          <p:cNvSpPr>
            <a:spLocks noChangeShapeType="1"/>
          </p:cNvSpPr>
          <p:nvPr/>
        </p:nvSpPr>
        <p:spPr bwMode="auto">
          <a:xfrm>
            <a:off x="533400" y="3505200"/>
            <a:ext cx="0" cy="6858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>
            <a:off x="2514600" y="2667000"/>
            <a:ext cx="457200" cy="914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>
            <a:off x="2209800" y="5105400"/>
            <a:ext cx="381000" cy="6096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Line 35"/>
          <p:cNvSpPr>
            <a:spLocks noChangeShapeType="1"/>
          </p:cNvSpPr>
          <p:nvPr/>
        </p:nvSpPr>
        <p:spPr bwMode="auto">
          <a:xfrm>
            <a:off x="685800" y="4800600"/>
            <a:ext cx="381000" cy="533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Line 36"/>
          <p:cNvSpPr>
            <a:spLocks noChangeShapeType="1"/>
          </p:cNvSpPr>
          <p:nvPr/>
        </p:nvSpPr>
        <p:spPr bwMode="auto">
          <a:xfrm>
            <a:off x="3200400" y="4114800"/>
            <a:ext cx="381000" cy="6858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Oval 37"/>
          <p:cNvSpPr>
            <a:spLocks noChangeArrowheads="1"/>
          </p:cNvSpPr>
          <p:nvPr/>
        </p:nvSpPr>
        <p:spPr bwMode="auto">
          <a:xfrm>
            <a:off x="1371600" y="3429000"/>
            <a:ext cx="711200" cy="696913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V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Oval 38"/>
          <p:cNvSpPr>
            <a:spLocks noChangeArrowheads="1"/>
          </p:cNvSpPr>
          <p:nvPr/>
        </p:nvSpPr>
        <p:spPr bwMode="auto">
          <a:xfrm>
            <a:off x="1981200" y="23622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Oval 39"/>
          <p:cNvSpPr>
            <a:spLocks noChangeArrowheads="1"/>
          </p:cNvSpPr>
          <p:nvPr/>
        </p:nvSpPr>
        <p:spPr bwMode="auto">
          <a:xfrm>
            <a:off x="304800" y="41910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7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Oval 40"/>
          <p:cNvSpPr>
            <a:spLocks noChangeArrowheads="1"/>
          </p:cNvSpPr>
          <p:nvPr/>
        </p:nvSpPr>
        <p:spPr bwMode="auto">
          <a:xfrm>
            <a:off x="990600" y="52578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8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00082"/>
                </a:solidFill>
                <a:latin typeface="Times New Roman" panose="02020603050405020304" pitchFamily="18" charset="0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Oval 41"/>
          <p:cNvSpPr>
            <a:spLocks noChangeArrowheads="1"/>
          </p:cNvSpPr>
          <p:nvPr/>
        </p:nvSpPr>
        <p:spPr bwMode="auto">
          <a:xfrm>
            <a:off x="2743200" y="35814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3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Oval 42"/>
          <p:cNvSpPr>
            <a:spLocks noChangeArrowheads="1"/>
          </p:cNvSpPr>
          <p:nvPr/>
        </p:nvSpPr>
        <p:spPr bwMode="auto">
          <a:xfrm>
            <a:off x="1905000" y="44958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800000"/>
                </a:solidFill>
                <a:latin typeface="Times New Roman" panose="02020603050405020304" pitchFamily="18" charset="0"/>
              </a:rPr>
              <a:t>8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Oval 43"/>
          <p:cNvSpPr>
            <a:spLocks noChangeArrowheads="1"/>
          </p:cNvSpPr>
          <p:nvPr/>
        </p:nvSpPr>
        <p:spPr bwMode="auto">
          <a:xfrm>
            <a:off x="2438400" y="57150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4617B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4617B"/>
                </a:solidFill>
                <a:latin typeface="Times New Roman" panose="02020603050405020304" pitchFamily="18" charset="0"/>
              </a:rPr>
              <a:t>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Oval 44"/>
          <p:cNvSpPr>
            <a:spLocks noChangeArrowheads="1"/>
          </p:cNvSpPr>
          <p:nvPr/>
        </p:nvSpPr>
        <p:spPr bwMode="auto">
          <a:xfrm>
            <a:off x="3352800" y="48006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8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3200" b="1" baseline="-25000">
                <a:solidFill>
                  <a:srgbClr val="000082"/>
                </a:solidFill>
                <a:latin typeface="Times New Roman" panose="02020603050405020304" pitchFamily="18" charset="0"/>
              </a:rPr>
              <a:t>4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广度优先搜索的思想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CEF72-221D-49B3-BF65-97B9D0D8DAA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 bwMode="auto">
          <a:xfrm>
            <a:off x="685800" y="1966913"/>
            <a:ext cx="7772400" cy="390048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>
                <a:srgbClr val="003300"/>
              </a:buClr>
              <a:buSzPct val="96000"/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nstantia" panose="02030602050306030303"/>
              </a:rPr>
              <a:t>为了实现逐层访问，算法中使用一个</a:t>
            </a:r>
            <a:r>
              <a:rPr lang="zh-CN" altLang="en-US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nstantia" panose="02030602050306030303"/>
              </a:rPr>
              <a:t>队列</a:t>
            </a:r>
            <a:r>
              <a:rPr lang="zh-CN" altLang="en-US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nstantia" panose="02030602050306030303"/>
              </a:rPr>
              <a:t>，以记忆正在访问的这一层和上一层的顶点，以便于向下一层访问。</a:t>
            </a:r>
            <a:endParaRPr lang="zh-CN" altLang="en-US" b="1" kern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nstantia" panose="02030602050306030303"/>
            </a:endParaRPr>
          </a:p>
          <a:p>
            <a:pPr>
              <a:lnSpc>
                <a:spcPct val="120000"/>
              </a:lnSpc>
              <a:buClr>
                <a:srgbClr val="003300"/>
              </a:buClr>
              <a:buSzPct val="96000"/>
              <a:buFont typeface="Wingdings" panose="05000000000000000000" pitchFamily="2" charset="2"/>
              <a:buChar char="Ø"/>
              <a:defRPr/>
            </a:pPr>
            <a:r>
              <a:rPr lang="zh-CN" altLang="en-US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nstantia" panose="02030602050306030303"/>
              </a:rPr>
              <a:t>与深度优先搜索过程一样，为避免重复访问，需要一个辅助数组 </a:t>
            </a:r>
            <a:r>
              <a:rPr lang="en-US" altLang="zh-CN" b="1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tantia" panose="02030602050306030303"/>
              </a:rPr>
              <a:t>visited</a:t>
            </a:r>
            <a:r>
              <a:rPr lang="en-US" altLang="zh-CN" b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nstantia" panose="02030602050306030303"/>
              </a:rPr>
              <a:t> [ ]</a:t>
            </a:r>
            <a:r>
              <a:rPr lang="zh-CN" altLang="en-US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nstantia" panose="02030602050306030303"/>
              </a:rPr>
              <a:t>，给被访问过的顶点加标记。</a:t>
            </a:r>
            <a:endParaRPr lang="en-US" altLang="zh-CN" kern="0" dirty="0">
              <a:solidFill>
                <a:srgbClr val="000000"/>
              </a:solidFill>
              <a:latin typeface="Constantia" panose="0203060205030603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B185-22AB-4D2D-B606-6F1BCEA3B6C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"/>
          <p:cNvGrpSpPr/>
          <p:nvPr/>
        </p:nvGrpSpPr>
        <p:grpSpPr bwMode="auto">
          <a:xfrm>
            <a:off x="228600" y="4141787"/>
            <a:ext cx="4419600" cy="990600"/>
            <a:chOff x="144" y="2496"/>
            <a:chExt cx="2784" cy="624"/>
          </a:xfrm>
        </p:grpSpPr>
        <p:grpSp>
          <p:nvGrpSpPr>
            <p:cNvPr id="14" name="Group 3"/>
            <p:cNvGrpSpPr/>
            <p:nvPr/>
          </p:nvGrpSpPr>
          <p:grpSpPr bwMode="auto">
            <a:xfrm>
              <a:off x="144" y="2832"/>
              <a:ext cx="2784" cy="288"/>
              <a:chOff x="480" y="1200"/>
              <a:chExt cx="2688" cy="243"/>
            </a:xfrm>
          </p:grpSpPr>
          <p:sp>
            <p:nvSpPr>
              <p:cNvPr id="16" name="Rectangle 4"/>
              <p:cNvSpPr>
                <a:spLocks noChangeArrowheads="1"/>
              </p:cNvSpPr>
              <p:nvPr/>
            </p:nvSpPr>
            <p:spPr bwMode="auto">
              <a:xfrm>
                <a:off x="480" y="1200"/>
                <a:ext cx="2688" cy="24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Line 5"/>
              <p:cNvSpPr>
                <a:spLocks noChangeShapeType="1"/>
              </p:cNvSpPr>
              <p:nvPr/>
            </p:nvSpPr>
            <p:spPr bwMode="auto">
              <a:xfrm>
                <a:off x="816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1152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Line 7"/>
              <p:cNvSpPr>
                <a:spLocks noChangeShapeType="1"/>
              </p:cNvSpPr>
              <p:nvPr/>
            </p:nvSpPr>
            <p:spPr bwMode="auto">
              <a:xfrm>
                <a:off x="1488" y="1203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Line 8"/>
              <p:cNvSpPr>
                <a:spLocks noChangeShapeType="1"/>
              </p:cNvSpPr>
              <p:nvPr/>
            </p:nvSpPr>
            <p:spPr bwMode="auto">
              <a:xfrm>
                <a:off x="1824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Line 9"/>
              <p:cNvSpPr>
                <a:spLocks noChangeShapeType="1"/>
              </p:cNvSpPr>
              <p:nvPr/>
            </p:nvSpPr>
            <p:spPr bwMode="auto">
              <a:xfrm>
                <a:off x="2160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>
                <a:off x="2496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>
                <a:off x="2832" y="120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92" y="249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Q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3048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V0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3048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8382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V1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13716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V2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19050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V3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2478088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V4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30480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V5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35814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V6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191000" y="4675187"/>
            <a:ext cx="457200" cy="39687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V7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8382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V1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" name="Text Box 24"/>
          <p:cNvSpPr txBox="1">
            <a:spLocks noChangeArrowheads="1"/>
          </p:cNvSpPr>
          <p:nvPr/>
        </p:nvSpPr>
        <p:spPr bwMode="auto">
          <a:xfrm>
            <a:off x="13716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V2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19050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V3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3048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V0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25146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V4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31242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V5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36576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V6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" name="Text Box 30"/>
          <p:cNvSpPr txBox="1">
            <a:spLocks noChangeArrowheads="1"/>
          </p:cNvSpPr>
          <p:nvPr/>
        </p:nvSpPr>
        <p:spPr bwMode="auto">
          <a:xfrm>
            <a:off x="4191000" y="5284787"/>
            <a:ext cx="45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V7</a:t>
            </a:r>
            <a:endParaRPr kumimoji="1" lang="en-US" altLang="zh-CN" sz="20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8382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32"/>
          <p:cNvSpPr>
            <a:spLocks noChangeArrowheads="1"/>
          </p:cNvSpPr>
          <p:nvPr/>
        </p:nvSpPr>
        <p:spPr bwMode="auto">
          <a:xfrm>
            <a:off x="13716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Rectangle 33"/>
          <p:cNvSpPr>
            <a:spLocks noChangeArrowheads="1"/>
          </p:cNvSpPr>
          <p:nvPr/>
        </p:nvSpPr>
        <p:spPr bwMode="auto">
          <a:xfrm>
            <a:off x="25146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Rectangle 34"/>
          <p:cNvSpPr>
            <a:spLocks noChangeArrowheads="1"/>
          </p:cNvSpPr>
          <p:nvPr/>
        </p:nvSpPr>
        <p:spPr bwMode="auto">
          <a:xfrm>
            <a:off x="19050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angle 35"/>
          <p:cNvSpPr>
            <a:spLocks noChangeArrowheads="1"/>
          </p:cNvSpPr>
          <p:nvPr/>
        </p:nvSpPr>
        <p:spPr bwMode="auto">
          <a:xfrm>
            <a:off x="30480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36"/>
          <p:cNvSpPr>
            <a:spLocks noChangeArrowheads="1"/>
          </p:cNvSpPr>
          <p:nvPr/>
        </p:nvSpPr>
        <p:spPr bwMode="auto">
          <a:xfrm>
            <a:off x="35814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37"/>
          <p:cNvSpPr>
            <a:spLocks noChangeArrowheads="1"/>
          </p:cNvSpPr>
          <p:nvPr/>
        </p:nvSpPr>
        <p:spPr bwMode="auto">
          <a:xfrm>
            <a:off x="4191000" y="4675187"/>
            <a:ext cx="457200" cy="381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8" name="Group 38"/>
          <p:cNvGrpSpPr/>
          <p:nvPr/>
        </p:nvGrpSpPr>
        <p:grpSpPr bwMode="auto">
          <a:xfrm>
            <a:off x="4838700" y="3913187"/>
            <a:ext cx="4305300" cy="2143125"/>
            <a:chOff x="240" y="2736"/>
            <a:chExt cx="2712" cy="1350"/>
          </a:xfrm>
        </p:grpSpPr>
        <p:grpSp>
          <p:nvGrpSpPr>
            <p:cNvPr id="49" name="Group 39"/>
            <p:cNvGrpSpPr/>
            <p:nvPr/>
          </p:nvGrpSpPr>
          <p:grpSpPr bwMode="auto">
            <a:xfrm>
              <a:off x="1392" y="2736"/>
              <a:ext cx="408" cy="294"/>
              <a:chOff x="2928" y="3312"/>
              <a:chExt cx="408" cy="294"/>
            </a:xfrm>
          </p:grpSpPr>
          <p:sp>
            <p:nvSpPr>
              <p:cNvPr id="81" name="Oval 40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Text Box 41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V0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0" name="Group 42"/>
            <p:cNvGrpSpPr/>
            <p:nvPr/>
          </p:nvGrpSpPr>
          <p:grpSpPr bwMode="auto">
            <a:xfrm>
              <a:off x="465" y="2891"/>
              <a:ext cx="2218" cy="1028"/>
              <a:chOff x="465" y="2891"/>
              <a:chExt cx="2218" cy="1028"/>
            </a:xfrm>
          </p:grpSpPr>
          <p:sp>
            <p:nvSpPr>
              <p:cNvPr id="72" name="Line 43"/>
              <p:cNvSpPr>
                <a:spLocks noChangeShapeType="1"/>
              </p:cNvSpPr>
              <p:nvPr/>
            </p:nvSpPr>
            <p:spPr bwMode="auto">
              <a:xfrm flipV="1">
                <a:off x="465" y="3265"/>
                <a:ext cx="304" cy="21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Line 44"/>
              <p:cNvSpPr>
                <a:spLocks noChangeShapeType="1"/>
              </p:cNvSpPr>
              <p:nvPr/>
            </p:nvSpPr>
            <p:spPr bwMode="auto">
              <a:xfrm flipV="1">
                <a:off x="989" y="2891"/>
                <a:ext cx="448" cy="23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4" name="Line 45"/>
              <p:cNvSpPr>
                <a:spLocks noChangeShapeType="1"/>
              </p:cNvSpPr>
              <p:nvPr/>
            </p:nvSpPr>
            <p:spPr bwMode="auto">
              <a:xfrm>
                <a:off x="1012" y="3265"/>
                <a:ext cx="303" cy="21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Line 46"/>
              <p:cNvSpPr>
                <a:spLocks noChangeShapeType="1"/>
              </p:cNvSpPr>
              <p:nvPr/>
            </p:nvSpPr>
            <p:spPr bwMode="auto">
              <a:xfrm>
                <a:off x="1741" y="2891"/>
                <a:ext cx="516" cy="249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Line 47"/>
              <p:cNvSpPr>
                <a:spLocks noChangeShapeType="1"/>
              </p:cNvSpPr>
              <p:nvPr/>
            </p:nvSpPr>
            <p:spPr bwMode="auto">
              <a:xfrm>
                <a:off x="2471" y="3296"/>
                <a:ext cx="212" cy="15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" name="Line 48"/>
              <p:cNvSpPr>
                <a:spLocks noChangeShapeType="1"/>
              </p:cNvSpPr>
              <p:nvPr/>
            </p:nvSpPr>
            <p:spPr bwMode="auto">
              <a:xfrm flipV="1">
                <a:off x="2106" y="3296"/>
                <a:ext cx="182" cy="18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Line 49"/>
              <p:cNvSpPr>
                <a:spLocks noChangeShapeType="1"/>
              </p:cNvSpPr>
              <p:nvPr/>
            </p:nvSpPr>
            <p:spPr bwMode="auto">
              <a:xfrm flipV="1">
                <a:off x="2167" y="3576"/>
                <a:ext cx="411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Line 50"/>
              <p:cNvSpPr>
                <a:spLocks noChangeShapeType="1"/>
              </p:cNvSpPr>
              <p:nvPr/>
            </p:nvSpPr>
            <p:spPr bwMode="auto">
              <a:xfrm flipV="1">
                <a:off x="1012" y="3670"/>
                <a:ext cx="334" cy="249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Line 51"/>
              <p:cNvSpPr>
                <a:spLocks noChangeShapeType="1"/>
              </p:cNvSpPr>
              <p:nvPr/>
            </p:nvSpPr>
            <p:spPr bwMode="auto">
              <a:xfrm>
                <a:off x="528" y="3744"/>
                <a:ext cx="240" cy="144"/>
              </a:xfrm>
              <a:prstGeom prst="line">
                <a:avLst/>
              </a:prstGeom>
              <a:noFill/>
              <a:ln w="38100" cap="rnd">
                <a:solidFill>
                  <a:srgbClr val="FF6600"/>
                </a:solidFill>
                <a:rou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Group 52"/>
            <p:cNvGrpSpPr/>
            <p:nvPr/>
          </p:nvGrpSpPr>
          <p:grpSpPr bwMode="auto">
            <a:xfrm>
              <a:off x="720" y="3792"/>
              <a:ext cx="408" cy="294"/>
              <a:chOff x="2928" y="3312"/>
              <a:chExt cx="408" cy="294"/>
            </a:xfrm>
          </p:grpSpPr>
          <p:sp>
            <p:nvSpPr>
              <p:cNvPr id="70" name="Oval 53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" name="Text Box 54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V7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2" name="Group 55"/>
            <p:cNvGrpSpPr/>
            <p:nvPr/>
          </p:nvGrpSpPr>
          <p:grpSpPr bwMode="auto">
            <a:xfrm>
              <a:off x="2544" y="3456"/>
              <a:ext cx="408" cy="294"/>
              <a:chOff x="2928" y="3312"/>
              <a:chExt cx="408" cy="294"/>
            </a:xfrm>
          </p:grpSpPr>
          <p:sp>
            <p:nvSpPr>
              <p:cNvPr id="68" name="Oval 5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" name="Text Box 57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V6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3" name="Group 58"/>
            <p:cNvGrpSpPr/>
            <p:nvPr/>
          </p:nvGrpSpPr>
          <p:grpSpPr bwMode="auto">
            <a:xfrm>
              <a:off x="1872" y="3456"/>
              <a:ext cx="408" cy="294"/>
              <a:chOff x="2928" y="3312"/>
              <a:chExt cx="408" cy="294"/>
            </a:xfrm>
          </p:grpSpPr>
          <p:sp>
            <p:nvSpPr>
              <p:cNvPr id="66" name="Oval 59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" name="Text Box 60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V5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4" name="Group 61"/>
            <p:cNvGrpSpPr/>
            <p:nvPr/>
          </p:nvGrpSpPr>
          <p:grpSpPr bwMode="auto">
            <a:xfrm>
              <a:off x="1200" y="3456"/>
              <a:ext cx="408" cy="294"/>
              <a:chOff x="2928" y="3312"/>
              <a:chExt cx="408" cy="294"/>
            </a:xfrm>
          </p:grpSpPr>
          <p:sp>
            <p:nvSpPr>
              <p:cNvPr id="64" name="Oval 62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" name="Text Box 63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V4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5" name="Group 64"/>
            <p:cNvGrpSpPr/>
            <p:nvPr/>
          </p:nvGrpSpPr>
          <p:grpSpPr bwMode="auto">
            <a:xfrm>
              <a:off x="240" y="3456"/>
              <a:ext cx="408" cy="294"/>
              <a:chOff x="2928" y="3312"/>
              <a:chExt cx="408" cy="294"/>
            </a:xfrm>
          </p:grpSpPr>
          <p:sp>
            <p:nvSpPr>
              <p:cNvPr id="62" name="Oval 65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" name="Text Box 66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V3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6" name="Group 67"/>
            <p:cNvGrpSpPr/>
            <p:nvPr/>
          </p:nvGrpSpPr>
          <p:grpSpPr bwMode="auto">
            <a:xfrm>
              <a:off x="2160" y="3072"/>
              <a:ext cx="408" cy="294"/>
              <a:chOff x="2928" y="3312"/>
              <a:chExt cx="408" cy="294"/>
            </a:xfrm>
          </p:grpSpPr>
          <p:sp>
            <p:nvSpPr>
              <p:cNvPr id="60" name="Oval 68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" name="Text Box 69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V2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7" name="Group 70"/>
            <p:cNvGrpSpPr/>
            <p:nvPr/>
          </p:nvGrpSpPr>
          <p:grpSpPr bwMode="auto">
            <a:xfrm>
              <a:off x="720" y="3024"/>
              <a:ext cx="408" cy="294"/>
              <a:chOff x="2928" y="3312"/>
              <a:chExt cx="408" cy="294"/>
            </a:xfrm>
          </p:grpSpPr>
          <p:sp>
            <p:nvSpPr>
              <p:cNvPr id="58" name="Oval 71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" name="Text Box 72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</a:rPr>
                  <a:t>V1</a:t>
                </a:r>
                <a:endPara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83" name="AutoShape 73"/>
          <p:cNvSpPr>
            <a:spLocks noChangeArrowheads="1"/>
          </p:cNvSpPr>
          <p:nvPr/>
        </p:nvSpPr>
        <p:spPr bwMode="auto">
          <a:xfrm>
            <a:off x="827088" y="1447800"/>
            <a:ext cx="7561262" cy="1368425"/>
          </a:xfrm>
          <a:prstGeom prst="wedgeRoundRectCallout">
            <a:avLst>
              <a:gd name="adj1" fmla="val -43745"/>
              <a:gd name="adj2" fmla="val 126796"/>
              <a:gd name="adj3" fmla="val 16667"/>
            </a:avLst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在广度优先遍历算法中，需设置一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队列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，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保存已访问的顶点，并控制遍历顶点的顺序。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utoUpdateAnimBg="0"/>
      <p:bldP spid="25" grpId="0" animBg="1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30" grpId="0" animBg="1" autoUpdateAnimBg="0"/>
      <p:bldP spid="31" grpId="0" animBg="1" autoUpdateAnimBg="0"/>
      <p:bldP spid="32" grpId="0" animBg="1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广度优先搜索示例演示</a:t>
            </a:r>
            <a:endParaRPr kumimoji="1"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DFDD-1F51-472F-9097-95CE1138EF3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2119313" y="1819275"/>
            <a:ext cx="457200" cy="0"/>
          </a:xfrm>
          <a:prstGeom prst="line">
            <a:avLst/>
          </a:prstGeom>
          <a:noFill/>
          <a:ln w="28575">
            <a:solidFill>
              <a:srgbClr val="0F6FC6"/>
            </a:solidFill>
            <a:round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11188" y="1720850"/>
            <a:ext cx="150812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出发点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1900238" y="2590800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v5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auto">
          <a:xfrm>
            <a:off x="4708525" y="26638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v2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3773488" y="165576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v1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10"/>
          <p:cNvSpPr>
            <a:spLocks noChangeArrowheads="1"/>
          </p:cNvSpPr>
          <p:nvPr/>
        </p:nvSpPr>
        <p:spPr bwMode="auto">
          <a:xfrm>
            <a:off x="3916363" y="367188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v3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11"/>
          <p:cNvSpPr>
            <a:spLocks noChangeArrowheads="1"/>
          </p:cNvSpPr>
          <p:nvPr/>
        </p:nvSpPr>
        <p:spPr bwMode="auto">
          <a:xfrm>
            <a:off x="2547938" y="367188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v4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12"/>
          <p:cNvSpPr>
            <a:spLocks noChangeArrowheads="1"/>
          </p:cNvSpPr>
          <p:nvPr/>
        </p:nvSpPr>
        <p:spPr bwMode="auto">
          <a:xfrm>
            <a:off x="3197225" y="2303462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v6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13"/>
          <p:cNvSpPr>
            <a:spLocks noChangeArrowheads="1"/>
          </p:cNvSpPr>
          <p:nvPr/>
        </p:nvSpPr>
        <p:spPr bwMode="auto">
          <a:xfrm>
            <a:off x="3629025" y="2951162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v7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Oval 14"/>
          <p:cNvSpPr>
            <a:spLocks noChangeArrowheads="1"/>
          </p:cNvSpPr>
          <p:nvPr/>
        </p:nvSpPr>
        <p:spPr bwMode="auto">
          <a:xfrm>
            <a:off x="2765425" y="2951162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v8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>
            <a:off x="2981325" y="1800225"/>
            <a:ext cx="792163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>
            <a:off x="4060825" y="1943100"/>
            <a:ext cx="7207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 flipH="1">
            <a:off x="2189163" y="1943100"/>
            <a:ext cx="503237" cy="64928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2116138" y="2951162"/>
            <a:ext cx="5048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>
            <a:off x="2916238" y="3887787"/>
            <a:ext cx="1008062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 flipV="1">
            <a:off x="4205288" y="3024187"/>
            <a:ext cx="576262" cy="7191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 flipH="1" flipV="1">
            <a:off x="3484563" y="2663825"/>
            <a:ext cx="215900" cy="2873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Line 22"/>
          <p:cNvSpPr>
            <a:spLocks noChangeShapeType="1"/>
          </p:cNvSpPr>
          <p:nvPr/>
        </p:nvSpPr>
        <p:spPr bwMode="auto">
          <a:xfrm>
            <a:off x="3125788" y="3167062"/>
            <a:ext cx="503237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Line 23"/>
          <p:cNvSpPr>
            <a:spLocks noChangeShapeType="1"/>
          </p:cNvSpPr>
          <p:nvPr/>
        </p:nvSpPr>
        <p:spPr bwMode="auto">
          <a:xfrm flipH="1">
            <a:off x="3052763" y="2663825"/>
            <a:ext cx="215900" cy="2873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Line 24"/>
          <p:cNvSpPr>
            <a:spLocks noChangeShapeType="1"/>
          </p:cNvSpPr>
          <p:nvPr/>
        </p:nvSpPr>
        <p:spPr bwMode="auto">
          <a:xfrm flipH="1">
            <a:off x="3484563" y="1943100"/>
            <a:ext cx="360362" cy="4318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3" name="Line 25"/>
          <p:cNvSpPr>
            <a:spLocks noChangeShapeType="1"/>
          </p:cNvSpPr>
          <p:nvPr/>
        </p:nvSpPr>
        <p:spPr bwMode="auto">
          <a:xfrm flipV="1">
            <a:off x="3989388" y="2879725"/>
            <a:ext cx="719137" cy="2159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Line 26"/>
          <p:cNvSpPr>
            <a:spLocks noChangeShapeType="1"/>
          </p:cNvSpPr>
          <p:nvPr/>
        </p:nvSpPr>
        <p:spPr bwMode="auto">
          <a:xfrm>
            <a:off x="3844925" y="3311525"/>
            <a:ext cx="215900" cy="3603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5" name="Oval 27"/>
          <p:cNvSpPr>
            <a:spLocks noChangeArrowheads="1"/>
          </p:cNvSpPr>
          <p:nvPr/>
        </p:nvSpPr>
        <p:spPr bwMode="auto">
          <a:xfrm>
            <a:off x="6294438" y="165576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v0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Oval 28"/>
          <p:cNvSpPr>
            <a:spLocks noChangeArrowheads="1"/>
          </p:cNvSpPr>
          <p:nvPr/>
        </p:nvSpPr>
        <p:spPr bwMode="auto">
          <a:xfrm>
            <a:off x="5573713" y="2590800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v5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7" name="Oval 29"/>
          <p:cNvSpPr>
            <a:spLocks noChangeArrowheads="1"/>
          </p:cNvSpPr>
          <p:nvPr/>
        </p:nvSpPr>
        <p:spPr bwMode="auto">
          <a:xfrm>
            <a:off x="8382000" y="26638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v2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8" name="Oval 30"/>
          <p:cNvSpPr>
            <a:spLocks noChangeArrowheads="1"/>
          </p:cNvSpPr>
          <p:nvPr/>
        </p:nvSpPr>
        <p:spPr bwMode="auto">
          <a:xfrm>
            <a:off x="7446963" y="165576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v1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9" name="Oval 31"/>
          <p:cNvSpPr>
            <a:spLocks noChangeArrowheads="1"/>
          </p:cNvSpPr>
          <p:nvPr/>
        </p:nvSpPr>
        <p:spPr bwMode="auto">
          <a:xfrm>
            <a:off x="7589838" y="367188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v3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0" name="Oval 32"/>
          <p:cNvSpPr>
            <a:spLocks noChangeArrowheads="1"/>
          </p:cNvSpPr>
          <p:nvPr/>
        </p:nvSpPr>
        <p:spPr bwMode="auto">
          <a:xfrm>
            <a:off x="6221413" y="367188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v4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6870700" y="2303462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v6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Oval 34"/>
          <p:cNvSpPr>
            <a:spLocks noChangeArrowheads="1"/>
          </p:cNvSpPr>
          <p:nvPr/>
        </p:nvSpPr>
        <p:spPr bwMode="auto">
          <a:xfrm>
            <a:off x="7302500" y="2951162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v7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Oval 35"/>
          <p:cNvSpPr>
            <a:spLocks noChangeArrowheads="1"/>
          </p:cNvSpPr>
          <p:nvPr/>
        </p:nvSpPr>
        <p:spPr bwMode="auto">
          <a:xfrm>
            <a:off x="6438900" y="2951162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v8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Line 36"/>
          <p:cNvSpPr>
            <a:spLocks noChangeShapeType="1"/>
          </p:cNvSpPr>
          <p:nvPr/>
        </p:nvSpPr>
        <p:spPr bwMode="auto">
          <a:xfrm>
            <a:off x="6653213" y="1800225"/>
            <a:ext cx="792162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5" name="Line 37"/>
          <p:cNvSpPr>
            <a:spLocks noChangeShapeType="1"/>
          </p:cNvSpPr>
          <p:nvPr/>
        </p:nvSpPr>
        <p:spPr bwMode="auto">
          <a:xfrm>
            <a:off x="7734300" y="2016125"/>
            <a:ext cx="719138" cy="6477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6" name="Line 38"/>
          <p:cNvSpPr>
            <a:spLocks noChangeShapeType="1"/>
          </p:cNvSpPr>
          <p:nvPr/>
        </p:nvSpPr>
        <p:spPr bwMode="auto">
          <a:xfrm flipH="1">
            <a:off x="7877175" y="3024187"/>
            <a:ext cx="647700" cy="7191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7" name="Line 39"/>
          <p:cNvSpPr>
            <a:spLocks noChangeShapeType="1"/>
          </p:cNvSpPr>
          <p:nvPr/>
        </p:nvSpPr>
        <p:spPr bwMode="auto">
          <a:xfrm flipH="1">
            <a:off x="5862638" y="2016125"/>
            <a:ext cx="503237" cy="5762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Line 40"/>
          <p:cNvSpPr>
            <a:spLocks noChangeShapeType="1"/>
          </p:cNvSpPr>
          <p:nvPr/>
        </p:nvSpPr>
        <p:spPr bwMode="auto">
          <a:xfrm flipH="1">
            <a:off x="7158038" y="2016125"/>
            <a:ext cx="360362" cy="3603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9" name="Line 41"/>
          <p:cNvSpPr>
            <a:spLocks noChangeShapeType="1"/>
          </p:cNvSpPr>
          <p:nvPr/>
        </p:nvSpPr>
        <p:spPr bwMode="auto">
          <a:xfrm flipH="1">
            <a:off x="7662863" y="2881312"/>
            <a:ext cx="719137" cy="2159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5789613" y="2952750"/>
            <a:ext cx="5048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654800" y="2663825"/>
            <a:ext cx="287338" cy="2889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2" name="Text Box 44"/>
          <p:cNvSpPr txBox="1">
            <a:spLocks noChangeArrowheads="1"/>
          </p:cNvSpPr>
          <p:nvPr/>
        </p:nvSpPr>
        <p:spPr bwMode="auto">
          <a:xfrm>
            <a:off x="7596188" y="121920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>
            <a:off x="5502275" y="2246312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46"/>
          <p:cNvSpPr txBox="1">
            <a:spLocks noChangeArrowheads="1"/>
          </p:cNvSpPr>
          <p:nvPr/>
        </p:nvSpPr>
        <p:spPr bwMode="auto">
          <a:xfrm>
            <a:off x="8604250" y="217487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Text Box 47"/>
          <p:cNvSpPr txBox="1">
            <a:spLocks noChangeArrowheads="1"/>
          </p:cNvSpPr>
          <p:nvPr/>
        </p:nvSpPr>
        <p:spPr bwMode="auto">
          <a:xfrm>
            <a:off x="7302500" y="231775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Text Box 48"/>
          <p:cNvSpPr txBox="1">
            <a:spLocks noChangeArrowheads="1"/>
          </p:cNvSpPr>
          <p:nvPr/>
        </p:nvSpPr>
        <p:spPr bwMode="auto">
          <a:xfrm>
            <a:off x="5940425" y="368617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Text Box 49"/>
          <p:cNvSpPr txBox="1">
            <a:spLocks noChangeArrowheads="1"/>
          </p:cNvSpPr>
          <p:nvPr/>
        </p:nvSpPr>
        <p:spPr bwMode="auto">
          <a:xfrm>
            <a:off x="8094663" y="368617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Text Box 50"/>
          <p:cNvSpPr txBox="1">
            <a:spLocks noChangeArrowheads="1"/>
          </p:cNvSpPr>
          <p:nvPr/>
        </p:nvSpPr>
        <p:spPr bwMode="auto">
          <a:xfrm>
            <a:off x="7446963" y="332740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Text Box 51"/>
          <p:cNvSpPr txBox="1">
            <a:spLocks noChangeArrowheads="1"/>
          </p:cNvSpPr>
          <p:nvPr/>
        </p:nvSpPr>
        <p:spPr bwMode="auto">
          <a:xfrm>
            <a:off x="6223000" y="2678112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0" name="Group 140"/>
          <p:cNvGraphicFramePr>
            <a:graphicFrameLocks noGrp="1"/>
          </p:cNvGraphicFramePr>
          <p:nvPr/>
        </p:nvGraphicFramePr>
        <p:xfrm>
          <a:off x="2579688" y="5375275"/>
          <a:ext cx="6096000" cy="431800"/>
        </p:xfrm>
        <a:graphic>
          <a:graphicData uri="http://schemas.openxmlformats.org/drawingml/2006/table">
            <a:tbl>
              <a:tblPr/>
              <a:tblGrid>
                <a:gridCol w="677862"/>
                <a:gridCol w="676275"/>
                <a:gridCol w="703263"/>
                <a:gridCol w="652462"/>
                <a:gridCol w="676275"/>
                <a:gridCol w="677863"/>
                <a:gridCol w="677862"/>
                <a:gridCol w="676275"/>
                <a:gridCol w="677863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Text Box 74"/>
          <p:cNvSpPr txBox="1">
            <a:spLocks noChangeArrowheads="1"/>
          </p:cNvSpPr>
          <p:nvPr/>
        </p:nvSpPr>
        <p:spPr bwMode="auto">
          <a:xfrm>
            <a:off x="1946275" y="54610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2" name="Group 75"/>
          <p:cNvGraphicFramePr>
            <a:graphicFrameLocks noGrp="1"/>
          </p:cNvGraphicFramePr>
          <p:nvPr/>
        </p:nvGraphicFramePr>
        <p:xfrm>
          <a:off x="2579688" y="4405312"/>
          <a:ext cx="6096000" cy="695325"/>
        </p:xfrm>
        <a:graphic>
          <a:graphicData uri="http://schemas.openxmlformats.org/drawingml/2006/table">
            <a:tbl>
              <a:tblPr/>
              <a:tblGrid>
                <a:gridCol w="677862"/>
                <a:gridCol w="676275"/>
                <a:gridCol w="703263"/>
                <a:gridCol w="652462"/>
                <a:gridCol w="676275"/>
                <a:gridCol w="677863"/>
                <a:gridCol w="677862"/>
                <a:gridCol w="676275"/>
                <a:gridCol w="677863"/>
              </a:tblGrid>
              <a:tr h="6953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Text Box 97"/>
          <p:cNvSpPr txBox="1">
            <a:spLocks noChangeArrowheads="1"/>
          </p:cNvSpPr>
          <p:nvPr/>
        </p:nvSpPr>
        <p:spPr bwMode="auto">
          <a:xfrm>
            <a:off x="1360488" y="4481512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Visit[v]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Text Box 98"/>
          <p:cNvSpPr txBox="1">
            <a:spLocks noChangeArrowheads="1"/>
          </p:cNvSpPr>
          <p:nvPr/>
        </p:nvSpPr>
        <p:spPr bwMode="auto">
          <a:xfrm>
            <a:off x="2655888" y="3948112"/>
            <a:ext cx="5943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0     1       2      3    4      5      6      7     8  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Text Box 99"/>
          <p:cNvSpPr txBox="1">
            <a:spLocks noChangeArrowheads="1"/>
          </p:cNvSpPr>
          <p:nvPr/>
        </p:nvSpPr>
        <p:spPr bwMode="auto">
          <a:xfrm>
            <a:off x="27320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Text Box 100"/>
          <p:cNvSpPr txBox="1">
            <a:spLocks noChangeArrowheads="1"/>
          </p:cNvSpPr>
          <p:nvPr/>
        </p:nvSpPr>
        <p:spPr bwMode="auto">
          <a:xfrm>
            <a:off x="2627313" y="5407025"/>
            <a:ext cx="533400" cy="39687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V0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7" name="Text Box 101"/>
          <p:cNvSpPr txBox="1">
            <a:spLocks noChangeArrowheads="1"/>
          </p:cNvSpPr>
          <p:nvPr/>
        </p:nvSpPr>
        <p:spPr bwMode="auto">
          <a:xfrm>
            <a:off x="2555875" y="5989637"/>
            <a:ext cx="7429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V0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Text Box 102"/>
          <p:cNvSpPr txBox="1">
            <a:spLocks noChangeArrowheads="1"/>
          </p:cNvSpPr>
          <p:nvPr/>
        </p:nvSpPr>
        <p:spPr bwMode="auto">
          <a:xfrm>
            <a:off x="34178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Text Box 103"/>
          <p:cNvSpPr txBox="1">
            <a:spLocks noChangeArrowheads="1"/>
          </p:cNvSpPr>
          <p:nvPr/>
        </p:nvSpPr>
        <p:spPr bwMode="auto">
          <a:xfrm>
            <a:off x="3376613" y="5407025"/>
            <a:ext cx="533400" cy="39687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V1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0" name="Text Box 104"/>
          <p:cNvSpPr txBox="1">
            <a:spLocks noChangeArrowheads="1"/>
          </p:cNvSpPr>
          <p:nvPr/>
        </p:nvSpPr>
        <p:spPr bwMode="auto">
          <a:xfrm>
            <a:off x="60848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Text Box 105"/>
          <p:cNvSpPr txBox="1">
            <a:spLocks noChangeArrowheads="1"/>
          </p:cNvSpPr>
          <p:nvPr/>
        </p:nvSpPr>
        <p:spPr bwMode="auto">
          <a:xfrm>
            <a:off x="4025900" y="5407025"/>
            <a:ext cx="533400" cy="39687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V5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2" name="Text Box 106"/>
          <p:cNvSpPr txBox="1">
            <a:spLocks noChangeArrowheads="1"/>
          </p:cNvSpPr>
          <p:nvPr/>
        </p:nvSpPr>
        <p:spPr bwMode="auto">
          <a:xfrm>
            <a:off x="3276600" y="5989637"/>
            <a:ext cx="7080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V1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Rectangle 107"/>
          <p:cNvSpPr>
            <a:spLocks noChangeArrowheads="1"/>
          </p:cNvSpPr>
          <p:nvPr/>
        </p:nvSpPr>
        <p:spPr bwMode="auto">
          <a:xfrm>
            <a:off x="3348038" y="5407025"/>
            <a:ext cx="457200" cy="3810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4" name="Text Box 108"/>
          <p:cNvSpPr txBox="1">
            <a:spLocks noChangeArrowheads="1"/>
          </p:cNvSpPr>
          <p:nvPr/>
        </p:nvSpPr>
        <p:spPr bwMode="auto">
          <a:xfrm>
            <a:off x="41036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Text Box 109"/>
          <p:cNvSpPr txBox="1">
            <a:spLocks noChangeArrowheads="1"/>
          </p:cNvSpPr>
          <p:nvPr/>
        </p:nvSpPr>
        <p:spPr bwMode="auto">
          <a:xfrm>
            <a:off x="4673600" y="5407025"/>
            <a:ext cx="533400" cy="39687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V2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6" name="Text Box 110"/>
          <p:cNvSpPr txBox="1">
            <a:spLocks noChangeArrowheads="1"/>
          </p:cNvSpPr>
          <p:nvPr/>
        </p:nvSpPr>
        <p:spPr bwMode="auto">
          <a:xfrm>
            <a:off x="5392738" y="5407025"/>
            <a:ext cx="533400" cy="39687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V6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7" name="Text Box 111"/>
          <p:cNvSpPr txBox="1">
            <a:spLocks noChangeArrowheads="1"/>
          </p:cNvSpPr>
          <p:nvPr/>
        </p:nvSpPr>
        <p:spPr bwMode="auto">
          <a:xfrm>
            <a:off x="74564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Rectangle 112"/>
          <p:cNvSpPr>
            <a:spLocks noChangeArrowheads="1"/>
          </p:cNvSpPr>
          <p:nvPr/>
        </p:nvSpPr>
        <p:spPr bwMode="auto">
          <a:xfrm>
            <a:off x="2703513" y="5407025"/>
            <a:ext cx="457200" cy="3810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9" name="Text Box 113"/>
          <p:cNvSpPr txBox="1">
            <a:spLocks noChangeArrowheads="1"/>
          </p:cNvSpPr>
          <p:nvPr/>
        </p:nvSpPr>
        <p:spPr bwMode="auto">
          <a:xfrm>
            <a:off x="3997325" y="5989637"/>
            <a:ext cx="6731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V5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Text Box 114"/>
          <p:cNvSpPr txBox="1">
            <a:spLocks noChangeArrowheads="1"/>
          </p:cNvSpPr>
          <p:nvPr/>
        </p:nvSpPr>
        <p:spPr bwMode="auto">
          <a:xfrm>
            <a:off x="47894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" name="Text Box 115"/>
          <p:cNvSpPr txBox="1">
            <a:spLocks noChangeArrowheads="1"/>
          </p:cNvSpPr>
          <p:nvPr/>
        </p:nvSpPr>
        <p:spPr bwMode="auto">
          <a:xfrm>
            <a:off x="5969000" y="54610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FF33CC"/>
                </a:solidFill>
                <a:latin typeface="Times New Roman" panose="02020603050405020304" pitchFamily="18" charset="0"/>
              </a:rPr>
              <a:t>V4</a:t>
            </a:r>
            <a:endParaRPr kumimoji="1" lang="en-US" altLang="zh-CN" sz="2000" b="1">
              <a:solidFill>
                <a:srgbClr val="FF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Text Box 116"/>
          <p:cNvSpPr txBox="1">
            <a:spLocks noChangeArrowheads="1"/>
          </p:cNvSpPr>
          <p:nvPr/>
        </p:nvSpPr>
        <p:spPr bwMode="auto">
          <a:xfrm>
            <a:off x="4645025" y="5989637"/>
            <a:ext cx="7112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V2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Text Box 117"/>
          <p:cNvSpPr txBox="1">
            <a:spLocks noChangeArrowheads="1"/>
          </p:cNvSpPr>
          <p:nvPr/>
        </p:nvSpPr>
        <p:spPr bwMode="auto">
          <a:xfrm>
            <a:off x="53990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Text Box 118"/>
          <p:cNvSpPr txBox="1">
            <a:spLocks noChangeArrowheads="1"/>
          </p:cNvSpPr>
          <p:nvPr/>
        </p:nvSpPr>
        <p:spPr bwMode="auto">
          <a:xfrm>
            <a:off x="81422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Text Box 119"/>
          <p:cNvSpPr txBox="1">
            <a:spLocks noChangeArrowheads="1"/>
          </p:cNvSpPr>
          <p:nvPr/>
        </p:nvSpPr>
        <p:spPr bwMode="auto">
          <a:xfrm>
            <a:off x="6761163" y="54610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FF33CC"/>
                </a:solidFill>
                <a:latin typeface="Times New Roman" panose="02020603050405020304" pitchFamily="18" charset="0"/>
              </a:rPr>
              <a:t>V3</a:t>
            </a:r>
            <a:endParaRPr kumimoji="1" lang="en-US" altLang="zh-CN" sz="2000" b="1">
              <a:solidFill>
                <a:srgbClr val="FF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" name="Text Box 120"/>
          <p:cNvSpPr txBox="1">
            <a:spLocks noChangeArrowheads="1"/>
          </p:cNvSpPr>
          <p:nvPr/>
        </p:nvSpPr>
        <p:spPr bwMode="auto">
          <a:xfrm>
            <a:off x="7410450" y="54610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FF33CC"/>
                </a:solidFill>
                <a:latin typeface="Times New Roman" panose="02020603050405020304" pitchFamily="18" charset="0"/>
              </a:rPr>
              <a:t>V7</a:t>
            </a:r>
            <a:endParaRPr kumimoji="1" lang="en-US" altLang="zh-CN" sz="2000" b="1">
              <a:solidFill>
                <a:srgbClr val="FF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Rectangle 121"/>
          <p:cNvSpPr>
            <a:spLocks noChangeArrowheads="1"/>
          </p:cNvSpPr>
          <p:nvPr/>
        </p:nvSpPr>
        <p:spPr bwMode="auto">
          <a:xfrm>
            <a:off x="4600575" y="5461000"/>
            <a:ext cx="457200" cy="306387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8" name="Text Box 122"/>
          <p:cNvSpPr txBox="1">
            <a:spLocks noChangeArrowheads="1"/>
          </p:cNvSpPr>
          <p:nvPr/>
        </p:nvSpPr>
        <p:spPr bwMode="auto">
          <a:xfrm>
            <a:off x="5221288" y="5989637"/>
            <a:ext cx="7445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V6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Text Box 123"/>
          <p:cNvSpPr txBox="1">
            <a:spLocks noChangeArrowheads="1"/>
          </p:cNvSpPr>
          <p:nvPr/>
        </p:nvSpPr>
        <p:spPr bwMode="auto">
          <a:xfrm>
            <a:off x="6846888" y="4481512"/>
            <a:ext cx="457200" cy="51911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Text Box 124"/>
          <p:cNvSpPr txBox="1">
            <a:spLocks noChangeArrowheads="1"/>
          </p:cNvSpPr>
          <p:nvPr/>
        </p:nvSpPr>
        <p:spPr bwMode="auto">
          <a:xfrm>
            <a:off x="8058150" y="54610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FF33CC"/>
                </a:solidFill>
                <a:latin typeface="Times New Roman" panose="02020603050405020304" pitchFamily="18" charset="0"/>
              </a:rPr>
              <a:t>V8</a:t>
            </a:r>
            <a:endParaRPr kumimoji="1" lang="en-US" altLang="zh-CN" sz="2000" b="1">
              <a:solidFill>
                <a:srgbClr val="FF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" name="Rectangle 125"/>
          <p:cNvSpPr>
            <a:spLocks noChangeArrowheads="1"/>
          </p:cNvSpPr>
          <p:nvPr/>
        </p:nvSpPr>
        <p:spPr bwMode="auto">
          <a:xfrm>
            <a:off x="5465763" y="5461000"/>
            <a:ext cx="381000" cy="306387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" name="Rectangle 126"/>
          <p:cNvSpPr>
            <a:spLocks noChangeArrowheads="1"/>
          </p:cNvSpPr>
          <p:nvPr/>
        </p:nvSpPr>
        <p:spPr bwMode="auto">
          <a:xfrm>
            <a:off x="7481888" y="5387975"/>
            <a:ext cx="381000" cy="3810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3" name="Text Box 127"/>
          <p:cNvSpPr txBox="1">
            <a:spLocks noChangeArrowheads="1"/>
          </p:cNvSpPr>
          <p:nvPr/>
        </p:nvSpPr>
        <p:spPr bwMode="auto">
          <a:xfrm>
            <a:off x="6732588" y="5989637"/>
            <a:ext cx="6810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V3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" name="Rectangle 128"/>
          <p:cNvSpPr>
            <a:spLocks noChangeArrowheads="1"/>
          </p:cNvSpPr>
          <p:nvPr/>
        </p:nvSpPr>
        <p:spPr bwMode="auto">
          <a:xfrm>
            <a:off x="6042025" y="5461000"/>
            <a:ext cx="381000" cy="306387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" name="Text Box 129"/>
          <p:cNvSpPr txBox="1">
            <a:spLocks noChangeArrowheads="1"/>
          </p:cNvSpPr>
          <p:nvPr/>
        </p:nvSpPr>
        <p:spPr bwMode="auto">
          <a:xfrm>
            <a:off x="5940425" y="5989637"/>
            <a:ext cx="7112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V4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" name="Rectangle 130"/>
          <p:cNvSpPr>
            <a:spLocks noChangeArrowheads="1"/>
          </p:cNvSpPr>
          <p:nvPr/>
        </p:nvSpPr>
        <p:spPr bwMode="auto">
          <a:xfrm>
            <a:off x="6834188" y="5387975"/>
            <a:ext cx="381000" cy="3810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7" name="Rectangle 131"/>
          <p:cNvSpPr>
            <a:spLocks noChangeArrowheads="1"/>
          </p:cNvSpPr>
          <p:nvPr/>
        </p:nvSpPr>
        <p:spPr bwMode="auto">
          <a:xfrm>
            <a:off x="8129588" y="5387975"/>
            <a:ext cx="381000" cy="379412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8" name="Text Box 132"/>
          <p:cNvSpPr txBox="1">
            <a:spLocks noChangeArrowheads="1"/>
          </p:cNvSpPr>
          <p:nvPr/>
        </p:nvSpPr>
        <p:spPr bwMode="auto">
          <a:xfrm>
            <a:off x="7381875" y="5989637"/>
            <a:ext cx="7175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V7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" name="Text Box 133"/>
          <p:cNvSpPr txBox="1">
            <a:spLocks noChangeArrowheads="1"/>
          </p:cNvSpPr>
          <p:nvPr/>
        </p:nvSpPr>
        <p:spPr bwMode="auto">
          <a:xfrm>
            <a:off x="8029575" y="5989637"/>
            <a:ext cx="71913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V8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" name="Rectangle 134"/>
          <p:cNvSpPr>
            <a:spLocks noChangeArrowheads="1"/>
          </p:cNvSpPr>
          <p:nvPr/>
        </p:nvSpPr>
        <p:spPr bwMode="auto">
          <a:xfrm>
            <a:off x="4025900" y="5407025"/>
            <a:ext cx="381000" cy="288925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1" name="Text Box 136"/>
          <p:cNvSpPr txBox="1">
            <a:spLocks noChangeArrowheads="1"/>
          </p:cNvSpPr>
          <p:nvPr/>
        </p:nvSpPr>
        <p:spPr bwMode="auto">
          <a:xfrm>
            <a:off x="6156325" y="123825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" name="Oval 6"/>
          <p:cNvSpPr>
            <a:spLocks noChangeArrowheads="1"/>
          </p:cNvSpPr>
          <p:nvPr/>
        </p:nvSpPr>
        <p:spPr bwMode="auto">
          <a:xfrm>
            <a:off x="2620963" y="165576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v0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03" name="AutoShape 3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74580" y="5791200"/>
            <a:ext cx="2440020" cy="1092200"/>
          </a:xfrm>
          <a:prstGeom prst="notchedRightArrow">
            <a:avLst>
              <a:gd name="adj1" fmla="val 50000"/>
              <a:gd name="adj2" fmla="val 34523"/>
            </a:avLst>
          </a:prstGeom>
          <a:solidFill>
            <a:srgbClr val="04617B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邻接表存储图示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3" grpId="0"/>
      <p:bldP spid="64" grpId="0"/>
      <p:bldP spid="65" grpId="0" animBg="1"/>
      <p:bldP spid="66" grpId="0" animBg="1"/>
      <p:bldP spid="67" grpId="0"/>
      <p:bldP spid="68" grpId="0" animBg="1"/>
      <p:bldP spid="69" grpId="0" animBg="1"/>
      <p:bldP spid="70" grpId="0" animBg="1"/>
      <p:bldP spid="71" grpId="0" animBg="1"/>
      <p:bldP spid="72" grpId="0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/>
      <p:bldP spid="80" grpId="0" animBg="1"/>
      <p:bldP spid="81" grpId="0"/>
      <p:bldP spid="82" grpId="0"/>
      <p:bldP spid="83" grpId="0" animBg="1"/>
      <p:bldP spid="84" grpId="0" animBg="1"/>
      <p:bldP spid="85" grpId="0"/>
      <p:bldP spid="86" grpId="0"/>
      <p:bldP spid="87" grpId="0" animBg="1"/>
      <p:bldP spid="88" grpId="0"/>
      <p:bldP spid="89" grpId="0" animBg="1"/>
      <p:bldP spid="90" grpId="0"/>
      <p:bldP spid="91" grpId="0" animBg="1"/>
      <p:bldP spid="92" grpId="0" animBg="1"/>
      <p:bldP spid="93" grpId="0"/>
      <p:bldP spid="94" grpId="0" animBg="1"/>
      <p:bldP spid="95" grpId="0"/>
      <p:bldP spid="96" grpId="0" animBg="1"/>
      <p:bldP spid="97" grpId="0" animBg="1"/>
      <p:bldP spid="98" grpId="0"/>
      <p:bldP spid="99" grpId="0"/>
      <p:bldP spid="10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DC7-E5A8-41D7-980C-02A91B6DEF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38200" y="1346200"/>
            <a:ext cx="7315200" cy="4445000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广度优先搜索算法</a:t>
            </a:r>
            <a:endParaRPr kumimoji="1" lang="zh-CN" altLang="en-US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BSF(int k)         /*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图用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邻接矩阵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表示*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{ int i,j;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SETNULL(Q);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ENQUEUE(Q,k)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;//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当前访问结点入队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visited[k]=TRUE;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while (!EMPTY(Q))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{ i=DEQUEUE(Q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让当前结点出队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1695-43EE-40F7-AE3A-FA124239657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23850" y="1255713"/>
            <a:ext cx="8558213" cy="2763837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for (j=0;j&lt;n;j++)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访问这一行所有结点</a:t>
            </a:r>
            <a:endParaRPr kumimoji="1" lang="zh-CN" altLang="en-US" sz="28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if ((g.arcs[i][j]==1)&amp;&amp;(!visited[j]))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如果当前结点有边且下一结点未被访问</a:t>
            </a:r>
            <a:endParaRPr kumimoji="1" lang="zh-CN" altLang="en-US" sz="2800" b="1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{  visited[j]=TRUE;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ENQUEUE(Q,j);    }  }}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4343400"/>
            <a:ext cx="8659813" cy="188595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</a:ln>
          <a:effectLst/>
        </p:spPr>
        <p:txBody>
          <a:bodyPr lIns="92075" tIns="46038" rIns="92075" bIns="46038"/>
          <a:lstStyle/>
          <a:p>
            <a:pPr marL="273050" marR="0" lvl="0" indent="-27305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如果使用邻接矩阵，则对于每一个被访问过的顶点，循环要检测矩阵中的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n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个元素，总的时间代价为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O(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32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D71D4-9C4B-4D2B-94C7-6C2F95E5003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62000" y="1268412"/>
            <a:ext cx="7388225" cy="5360988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3333FF"/>
                </a:solidFill>
                <a:latin typeface="Times New Roman" panose="02020603050405020304" pitchFamily="18" charset="0"/>
              </a:rPr>
              <a:t>广度优先搜索算法</a:t>
            </a:r>
            <a:endParaRPr kumimoji="1" lang="zh-CN" altLang="en-US" sz="32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BFSL(int k)      //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</a:rPr>
              <a:t>图用</a:t>
            </a:r>
            <a:r>
              <a:rPr kumimoji="1" lang="zh-CN" altLang="en-US" sz="3200" b="1">
                <a:solidFill>
                  <a:srgbClr val="3333FF"/>
                </a:solidFill>
                <a:latin typeface="Times New Roman" panose="02020603050405020304" pitchFamily="18" charset="0"/>
              </a:rPr>
              <a:t>邻接表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</a:rPr>
              <a:t>表示</a:t>
            </a:r>
            <a:endParaRPr kumimoji="1" lang="zh-CN" altLang="en-US" sz="3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int i; edgenode *p;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SETNULL(Q);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ENQUEUE(Q,k);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visited[k]=TRUE;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while (!EMPTY(Q))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{ i=DEQUEUE(Q);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723E-694E-448A-993D-AD439CC2E0B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42938" y="1066800"/>
            <a:ext cx="7429500" cy="58531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p=g1[i].link;</a:t>
            </a:r>
            <a:endParaRPr kumimoji="1" lang="en-US" altLang="zh-CN" sz="32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 while (p!=NULL)//</a:t>
            </a:r>
            <a:r>
              <a:rPr kumimoji="1"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访问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的整个链</a:t>
            </a:r>
            <a:endParaRPr kumimoji="1" lang="zh-CN" altLang="en-US" sz="3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{ if (!visited[p-&gt;adjvex])</a:t>
            </a:r>
            <a:endParaRPr kumimoji="1" lang="en-US" altLang="zh-CN" sz="32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        {visited[p-&gt;adjvex]=TRUE;</a:t>
            </a:r>
            <a:endParaRPr kumimoji="1" lang="en-US" altLang="zh-CN" sz="32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         ENQUEUE(Q,p-&gt;adjvex);}</a:t>
            </a:r>
            <a:endParaRPr kumimoji="1" lang="en-US" altLang="zh-CN" sz="320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     p=p-&gt;next; </a:t>
            </a:r>
            <a:endParaRPr kumimoji="1" lang="en-US" altLang="zh-CN" sz="32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    }  </a:t>
            </a:r>
            <a:endParaRPr kumimoji="1" lang="en-US" altLang="zh-CN" sz="32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FF"/>
                </a:solidFill>
                <a:latin typeface="Times New Roman" panose="02020603050405020304" pitchFamily="18" charset="0"/>
              </a:rPr>
              <a:t>}}</a:t>
            </a:r>
            <a:endParaRPr kumimoji="1" lang="en-US" altLang="zh-CN" sz="32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3708400" y="5257800"/>
            <a:ext cx="4364038" cy="912812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04617B">
              <a:lumMod val="20000"/>
              <a:lumOff val="80000"/>
            </a:srgbClr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时间复杂度为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O(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n+</a:t>
            </a:r>
            <a:r>
              <a:rPr kumimoji="1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F0FA9-291A-4D5B-BD24-A0150397150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90513" y="1257955"/>
            <a:ext cx="8567737" cy="544764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void BFSTraverse(Graph G,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                       Status (*Visit)(int v)){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for (v=0; v&lt;G.vexnum; ++v)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 visited[v] = FALSE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;         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//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初始化访问标志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InitQueue(Q);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             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// 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置空的辅助队列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Q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for ( v=0;  v&lt;G.vexnum;  ++v 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if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( !visited[v]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)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{                         // v 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尚未访问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          visited[u] = TRUE;  Visit(u);   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// </a:t>
            </a:r>
            <a:r>
              <a: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访问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u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          EnQueue(Q, v);                       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// v</a:t>
            </a:r>
            <a:r>
              <a: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入队列</a:t>
            </a: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          ……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见下页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} 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}  // BFSTraverse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9.3.2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广度优先搜索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BFS ( Breadth First Search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6184-0BDF-46A9-872B-AC12880E6BD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28600" y="1340108"/>
            <a:ext cx="8715375" cy="483209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while (!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QueueEmpty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(Q))  {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DeQueue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(Q, u);       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                                // </a:t>
            </a:r>
            <a:r>
              <a: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队头元素出队并置为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for(w=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FirstAdjVex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(G, u); w!=0;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                   w=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NextAdjVex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G,u,w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))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if ( ! visited[w])  {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  visited[w]=TRUE;  Visit(w);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EnQueue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(Q, w);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// </a:t>
            </a:r>
            <a:r>
              <a: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访问的顶点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w</a:t>
            </a:r>
            <a:r>
              <a: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入队列</a:t>
            </a:r>
            <a:endParaRPr kumimoji="1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} // if</a:t>
            </a:r>
            <a:endParaRPr kumimoji="1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} // while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结论</a:t>
            </a:r>
            <a:endParaRPr kumimoji="1" lang="zh-CN" altLang="en-US" sz="40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158F-E328-4CF1-AE33-1766D7E511D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14313" y="1185862"/>
            <a:ext cx="8715375" cy="5214938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  <a:effectLst/>
        </p:spPr>
        <p:txBody>
          <a:bodyPr lIns="92075" tIns="46038" rIns="92075" bIns="46038"/>
          <a:lstStyle/>
          <a:p>
            <a:pPr marL="273050" indent="-2730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当无向图为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非连通图时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，从图中某一顶点出发，利用深度优先搜索算法或广度优先搜索算法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不可能遍历到图中的所有顶点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，只能访问到该顶点所在的最大连通子图</a:t>
            </a:r>
            <a:r>
              <a:rPr lang="en-US" altLang="zh-CN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连通分量</a:t>
            </a:r>
            <a:r>
              <a:rPr lang="en-US" altLang="zh-CN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</a:rPr>
              <a:t>的所有顶点。</a:t>
            </a:r>
            <a:endParaRPr lang="zh-CN" altLang="en-US" sz="2800" b="1" dirty="0">
              <a:solidFill>
                <a:srgbClr val="003399"/>
              </a:solidFill>
              <a:latin typeface="宋体" panose="02010600030101010101" pitchFamily="2" charset="-122"/>
            </a:endParaRPr>
          </a:p>
          <a:p>
            <a:pPr marL="273050" indent="-2730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lang="zh-CN" altLang="en-US" sz="2800" b="1" dirty="0">
                <a:solidFill>
                  <a:srgbClr val="3333FF"/>
                </a:solidFill>
                <a:latin typeface="宋体" panose="02010600030101010101" pitchFamily="2" charset="-122"/>
              </a:rPr>
              <a:t>若从无向图的每一个连通分量中的一个顶点出发进行遍历，可求得无向图的所有连通分量。</a:t>
            </a:r>
            <a:endParaRPr lang="en-US" altLang="zh-CN" sz="28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marL="273050" indent="-2730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Tx/>
              <a:buBlip>
                <a:blip r:embed="rId2"/>
              </a:buBlip>
              <a:defRPr/>
            </a:pPr>
            <a:r>
              <a:rPr kumimoji="1" lang="zh-CN" altLang="en-US" sz="2800" b="1" dirty="0">
                <a:solidFill>
                  <a:srgbClr val="0707F9"/>
                </a:solidFill>
                <a:latin typeface="宋体" panose="02010600030101010101" pitchFamily="2" charset="-122"/>
              </a:rPr>
              <a:t>树的先根遍历是一种深度优先搜索策略，树的层次遍历是一种广度优先搜索策略。</a:t>
            </a:r>
            <a:endParaRPr kumimoji="1" lang="zh-CN" altLang="en-US" sz="2800" b="1" dirty="0">
              <a:solidFill>
                <a:srgbClr val="0707F9"/>
              </a:solidFill>
              <a:latin typeface="宋体" panose="02010600030101010101" pitchFamily="2" charset="-122"/>
            </a:endParaRPr>
          </a:p>
          <a:p>
            <a:pPr marL="273050" indent="-2730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/>
            </a:pPr>
            <a:endParaRPr lang="zh-CN" altLang="en-US" sz="2800" b="1" dirty="0">
              <a:solidFill>
                <a:srgbClr val="000066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总结</a:t>
            </a:r>
            <a:endParaRPr kumimoji="1" lang="zh-CN" altLang="en-US" sz="40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78C0E-9DD2-4CF1-84B7-3895DAD3697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755650" y="1714500"/>
            <a:ext cx="7702550" cy="1963614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利用深度优先搜索可以实现以下目标：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判断图是否连通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求图的连通分量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B633-1007-4A78-9D38-4F4F481716A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生成树和最小生成树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生成树（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spanning tree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最小生成树（</a:t>
            </a:r>
            <a:r>
              <a:rPr kumimoji="1"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Minimun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spanning tree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AA41-728E-4D27-9D3F-1836FB8CEDE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生成树和最小生成树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生成树（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spanning tree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最小生成树（</a:t>
            </a:r>
            <a:r>
              <a:rPr kumimoji="1" lang="en-US" altLang="zh-CN" b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Minimun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spanning tree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5CC8-15D3-4FAE-8D1C-BDEBDB42637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图的相关术语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FB68-44D5-465E-BF93-26A7A07EB06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951038" y="3311525"/>
            <a:ext cx="6335712" cy="126047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在图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中，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V0,V1,V2,V3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是简单路径；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V0,V1,V2,V4,V1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不是简单路径。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在图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中，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V0,V2,V3,V0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是简单回路。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311400" y="6437313"/>
            <a:ext cx="1944688" cy="45720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F6FC6"/>
                </a:solidFill>
                <a:latin typeface="Times New Roman" panose="02020603050405020304" pitchFamily="18" charset="0"/>
              </a:rPr>
              <a:t>无向图</a:t>
            </a:r>
            <a:r>
              <a:rPr lang="en-US" altLang="zh-CN" sz="2400" b="1">
                <a:solidFill>
                  <a:srgbClr val="0F6FC6"/>
                </a:solidFill>
                <a:latin typeface="Times New Roman" panose="02020603050405020304" pitchFamily="18" charset="0"/>
              </a:rPr>
              <a:t>G1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6405563" y="6437313"/>
            <a:ext cx="1881187" cy="45720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F6FC6"/>
                </a:solidFill>
                <a:latin typeface="Times New Roman" panose="02020603050405020304" pitchFamily="18" charset="0"/>
              </a:rPr>
              <a:t>有向图</a:t>
            </a:r>
            <a:r>
              <a:rPr lang="en-US" altLang="zh-CN" sz="2400" b="1">
                <a:solidFill>
                  <a:srgbClr val="0F6FC6"/>
                </a:solidFill>
                <a:latin typeface="Times New Roman" panose="02020603050405020304" pitchFamily="18" charset="0"/>
              </a:rPr>
              <a:t>G2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Oval 7"/>
          <p:cNvSpPr>
            <a:spLocks noChangeArrowheads="1"/>
          </p:cNvSpPr>
          <p:nvPr/>
        </p:nvSpPr>
        <p:spPr bwMode="auto">
          <a:xfrm>
            <a:off x="642938" y="3403600"/>
            <a:ext cx="1143000" cy="4064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H="1">
            <a:off x="2727325" y="4965700"/>
            <a:ext cx="1588" cy="7620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2960688" y="4816475"/>
            <a:ext cx="7556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3951288" y="5008563"/>
            <a:ext cx="0" cy="71913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 flipH="1">
            <a:off x="2905125" y="5573713"/>
            <a:ext cx="271463" cy="27463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flipH="1">
            <a:off x="3500438" y="5024438"/>
            <a:ext cx="271462" cy="27463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3479800" y="5610225"/>
            <a:ext cx="236538" cy="2333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2511425" y="45799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2439988" y="4610100"/>
            <a:ext cx="647700" cy="396875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V0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val 16"/>
          <p:cNvSpPr>
            <a:spLocks noChangeArrowheads="1"/>
          </p:cNvSpPr>
          <p:nvPr/>
        </p:nvSpPr>
        <p:spPr bwMode="auto">
          <a:xfrm>
            <a:off x="3651250" y="57229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Text Box 17"/>
          <p:cNvSpPr txBox="1">
            <a:spLocks noChangeArrowheads="1"/>
          </p:cNvSpPr>
          <p:nvPr/>
        </p:nvSpPr>
        <p:spPr bwMode="auto">
          <a:xfrm>
            <a:off x="3592513" y="5762625"/>
            <a:ext cx="647700" cy="396875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V4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Oval 18"/>
          <p:cNvSpPr>
            <a:spLocks noChangeArrowheads="1"/>
          </p:cNvSpPr>
          <p:nvPr/>
        </p:nvSpPr>
        <p:spPr bwMode="auto">
          <a:xfrm>
            <a:off x="2508250" y="57229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2441575" y="5762625"/>
            <a:ext cx="647700" cy="396875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V3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val 20"/>
          <p:cNvSpPr>
            <a:spLocks noChangeArrowheads="1"/>
          </p:cNvSpPr>
          <p:nvPr/>
        </p:nvSpPr>
        <p:spPr bwMode="auto">
          <a:xfrm>
            <a:off x="3644900" y="4575175"/>
            <a:ext cx="468313" cy="466725"/>
          </a:xfrm>
          <a:prstGeom prst="ellipse">
            <a:avLst/>
          </a:prstGeom>
          <a:solidFill>
            <a:srgbClr val="DBF5F9"/>
          </a:solidFill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3590925" y="4611688"/>
            <a:ext cx="647700" cy="396875"/>
          </a:xfrm>
          <a:prstGeom prst="rect">
            <a:avLst/>
          </a:prstGeom>
          <a:noFill/>
          <a:ln w="12700" cap="rnd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val 22"/>
          <p:cNvSpPr>
            <a:spLocks noChangeArrowheads="1"/>
          </p:cNvSpPr>
          <p:nvPr/>
        </p:nvSpPr>
        <p:spPr bwMode="auto">
          <a:xfrm>
            <a:off x="3070225" y="5184775"/>
            <a:ext cx="468313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3016250" y="5222875"/>
            <a:ext cx="647700" cy="396875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Line 24"/>
          <p:cNvSpPr>
            <a:spLocks noChangeShapeType="1"/>
          </p:cNvSpPr>
          <p:nvPr/>
        </p:nvSpPr>
        <p:spPr bwMode="auto">
          <a:xfrm>
            <a:off x="6616700" y="5080000"/>
            <a:ext cx="0" cy="72548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6908800" y="6038850"/>
            <a:ext cx="803275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5" name="Line 26"/>
          <p:cNvSpPr>
            <a:spLocks noChangeShapeType="1"/>
          </p:cNvSpPr>
          <p:nvPr/>
        </p:nvSpPr>
        <p:spPr bwMode="auto">
          <a:xfrm flipV="1">
            <a:off x="6759575" y="4854575"/>
            <a:ext cx="898525" cy="222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6" name="Line 27"/>
          <p:cNvSpPr>
            <a:spLocks noChangeShapeType="1"/>
          </p:cNvSpPr>
          <p:nvPr/>
        </p:nvSpPr>
        <p:spPr bwMode="auto">
          <a:xfrm flipH="1" flipV="1">
            <a:off x="6781800" y="4956175"/>
            <a:ext cx="1066800" cy="9906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7" name="Oval 28"/>
          <p:cNvSpPr>
            <a:spLocks noChangeArrowheads="1"/>
          </p:cNvSpPr>
          <p:nvPr/>
        </p:nvSpPr>
        <p:spPr bwMode="auto">
          <a:xfrm>
            <a:off x="6375400" y="45799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6327775" y="4648200"/>
            <a:ext cx="503238" cy="396875"/>
          </a:xfrm>
          <a:prstGeom prst="rect">
            <a:avLst/>
          </a:prstGeom>
          <a:noFill/>
          <a:ln w="12700" cap="rnd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V0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val 30"/>
          <p:cNvSpPr>
            <a:spLocks noChangeArrowheads="1"/>
          </p:cNvSpPr>
          <p:nvPr/>
        </p:nvSpPr>
        <p:spPr bwMode="auto">
          <a:xfrm>
            <a:off x="7667625" y="4583113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0" name="Text Box 31"/>
          <p:cNvSpPr txBox="1">
            <a:spLocks noChangeArrowheads="1"/>
          </p:cNvSpPr>
          <p:nvPr/>
        </p:nvSpPr>
        <p:spPr bwMode="auto">
          <a:xfrm>
            <a:off x="7624763" y="4648200"/>
            <a:ext cx="652462" cy="396875"/>
          </a:xfrm>
          <a:prstGeom prst="rect">
            <a:avLst/>
          </a:prstGeom>
          <a:noFill/>
          <a:ln w="12700" cap="rnd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Oval 32"/>
          <p:cNvSpPr>
            <a:spLocks noChangeArrowheads="1"/>
          </p:cNvSpPr>
          <p:nvPr/>
        </p:nvSpPr>
        <p:spPr bwMode="auto">
          <a:xfrm>
            <a:off x="6448425" y="57991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2" name="Text Box 33"/>
          <p:cNvSpPr txBox="1">
            <a:spLocks noChangeArrowheads="1"/>
          </p:cNvSpPr>
          <p:nvPr/>
        </p:nvSpPr>
        <p:spPr bwMode="auto">
          <a:xfrm>
            <a:off x="6327775" y="5872163"/>
            <a:ext cx="647700" cy="396875"/>
          </a:xfrm>
          <a:prstGeom prst="rect">
            <a:avLst/>
          </a:prstGeom>
          <a:noFill/>
          <a:ln w="12700" cap="rnd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Oval 34"/>
          <p:cNvSpPr>
            <a:spLocks noChangeArrowheads="1"/>
          </p:cNvSpPr>
          <p:nvPr/>
        </p:nvSpPr>
        <p:spPr bwMode="auto">
          <a:xfrm>
            <a:off x="7667625" y="5799138"/>
            <a:ext cx="458788" cy="466725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4" name="Text Box 35"/>
          <p:cNvSpPr txBox="1">
            <a:spLocks noChangeArrowheads="1"/>
          </p:cNvSpPr>
          <p:nvPr/>
        </p:nvSpPr>
        <p:spPr bwMode="auto">
          <a:xfrm>
            <a:off x="7553325" y="5835650"/>
            <a:ext cx="647700" cy="396875"/>
          </a:xfrm>
          <a:prstGeom prst="rect">
            <a:avLst/>
          </a:prstGeom>
          <a:noFill/>
          <a:ln w="12700" cap="rnd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宋体" panose="02010600030101010101" pitchFamily="2" charset="-122"/>
              </a:rPr>
              <a:t>V3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569912" y="1905000"/>
            <a:ext cx="7888288" cy="1200329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简单路径和简单回路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在一条路径中</a:t>
            </a:r>
            <a:r>
              <a:rPr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若除起点和终点外</a:t>
            </a:r>
            <a:r>
              <a:rPr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所有顶点各不相同</a:t>
            </a:r>
            <a:r>
              <a:rPr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则称该路径为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简单路径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；由简单路径组成的回路称为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简单回路</a:t>
            </a:r>
            <a:r>
              <a:rPr lang="zh-CN" altLang="en-US" sz="2400" b="1">
                <a:solidFill>
                  <a:srgbClr val="0707F9"/>
                </a:solidFill>
                <a:latin typeface="Times New Roman" panose="02020603050405020304" pitchFamily="18" charset="0"/>
              </a:rPr>
              <a:t>；</a:t>
            </a:r>
            <a:endParaRPr lang="zh-CN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图的相关术语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E95B-CF26-4FFD-978D-C11ECC96248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2"/>
          <p:cNvSpPr txBox="1">
            <a:spLocks noChangeArrowheads="1"/>
          </p:cNvSpPr>
          <p:nvPr/>
        </p:nvSpPr>
        <p:spPr bwMode="auto">
          <a:xfrm>
            <a:off x="754063" y="2057400"/>
            <a:ext cx="7705725" cy="1411288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连通图（强连通图）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在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向图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G=&lt; V, E &gt;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中，若对任何两个顶点 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u 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都存在从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v 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到 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u 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的路径，则称</a:t>
            </a:r>
            <a:r>
              <a:rPr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是连通图（强连通图）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755650" y="3789363"/>
            <a:ext cx="7632700" cy="1411287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子图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设有两个图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G=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）、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G1=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V1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E1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），若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V1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 V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E1 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E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E1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关联的顶点都在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V1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中，则称 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G1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的子图；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CA33B-CC35-4960-98B0-A19E9CC3105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/>
        </p:nvSpPr>
        <p:spPr bwMode="auto">
          <a:xfrm>
            <a:off x="214313" y="1219200"/>
            <a:ext cx="8786812" cy="25717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lIns="92075" tIns="46038" rIns="92075" bIns="46038"/>
          <a:lstStyle/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连通图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若图G中任意两个顶点之间都有路径相通，则称此图为连通图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连通分量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若无向图为非连通图，则图中各个极大连通子图称作此图的连通分量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39750" y="4576763"/>
            <a:ext cx="8175625" cy="2246312"/>
          </a:xfrm>
          <a:prstGeom prst="rect">
            <a:avLst/>
          </a:prstGeom>
          <a:noFill/>
          <a:ln w="9525" algn="ctr">
            <a:solidFill>
              <a:srgbClr val="0000CC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深度优先搜索和广度优先搜索在基于一点的搜索过程中，能访问到该顶点所在的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最大连通子图的所有顶点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，即一个连通分量。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通过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变换搜索顶点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，可求得无向图的所有连通分量。        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14313" y="3878263"/>
            <a:ext cx="3636962" cy="51911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6600CC"/>
              </a:buClr>
              <a:buSzPts val="2800"/>
              <a:buFont typeface="Wingdings" panose="05000000000000000000" pitchFamily="2" charset="2"/>
              <a:buChar char="p"/>
            </a:pPr>
            <a:r>
              <a:rPr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连通分量求解过程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CD3F-856A-45D4-96AF-1A796DB2CB9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/>
        </p:nvSpPr>
        <p:spPr bwMode="auto">
          <a:xfrm>
            <a:off x="214313" y="1128712"/>
            <a:ext cx="8786812" cy="3214688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lIns="92075" tIns="46038" rIns="92075" bIns="46038"/>
          <a:lstStyle/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连通图的生成树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假设一个连通图有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个顶点和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条边，其中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条边和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个顶点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构成一个极小连通子图，称该极小连通子图为此连通图的生成树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非连通图的生成森林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对非连通图，则称由各个连通分量的生成树的集合为此非连通图的生成森林。</a:t>
            </a: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827088" y="4475163"/>
            <a:ext cx="7416800" cy="519112"/>
          </a:xfrm>
          <a:prstGeom prst="rect">
            <a:avLst/>
          </a:prstGeom>
          <a:noFill/>
          <a:ln w="38100" cmpd="dbl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的生成树当且仅当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满足如下条件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AutoShape 4"/>
          <p:cNvSpPr/>
          <p:nvPr/>
        </p:nvSpPr>
        <p:spPr bwMode="auto">
          <a:xfrm>
            <a:off x="1547813" y="5411788"/>
            <a:ext cx="360362" cy="1423987"/>
          </a:xfrm>
          <a:prstGeom prst="leftBrace">
            <a:avLst>
              <a:gd name="adj1" fmla="val 32930"/>
              <a:gd name="adj2" fmla="val 52245"/>
            </a:avLst>
          </a:prstGeom>
          <a:noFill/>
          <a:ln w="38100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979613" y="5267325"/>
            <a:ext cx="3421062" cy="1585913"/>
          </a:xfrm>
          <a:prstGeom prst="rect">
            <a:avLst/>
          </a:prstGeom>
          <a:noFill/>
          <a:ln w="38100" cmpd="dbl" algn="ctr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的连通子图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包含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的所有顶点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中无回路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6D046-B448-46FA-9A16-09144BFC680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/>
        </p:nvSpPr>
        <p:spPr bwMode="auto">
          <a:xfrm>
            <a:off x="366713" y="1219200"/>
            <a:ext cx="8472487" cy="487680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lIns="92075" tIns="46038" rIns="92075" bIns="46038"/>
          <a:lstStyle/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707F9"/>
                </a:solidFill>
                <a:latin typeface="楷体_GB2312" pitchFamily="49" charset="-122"/>
              </a:rPr>
              <a:t>生成树：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连通图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</a:rPr>
              <a:t>G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的一个子图如果是一棵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</a:rPr>
              <a:t>包含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</a:rPr>
              <a:t>G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</a:rPr>
              <a:t>的所 有顶点的树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，则该子图称为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</a:rPr>
              <a:t>G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的生成树。</a:t>
            </a:r>
            <a:endParaRPr lang="en-US" altLang="zh-CN" sz="2400" b="1">
              <a:solidFill>
                <a:srgbClr val="000000"/>
              </a:solidFill>
              <a:latin typeface="楷体_GB2312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</a:rPr>
              <a:t>生成树是连通图的极小连通子图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。所谓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</a:rPr>
              <a:t>极小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是指：若在树中任意增加一条边，则将出现一个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</a:rPr>
              <a:t>回路；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</a:rPr>
              <a:t>若去掉一条边，将会使之变成非连通图。</a:t>
            </a:r>
            <a:endParaRPr lang="en-US" altLang="zh-CN" sz="2400" b="1">
              <a:solidFill>
                <a:srgbClr val="000000"/>
              </a:solidFill>
              <a:latin typeface="楷体_GB2312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生成树是一个连通图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的一个极小的连通子图。包含图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所有顶点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，但只有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条边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，并且是连通的。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Wingdings" panose="05000000000000000000" pitchFamily="2" charset="2"/>
              <a:buChar char="p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利用深（广）度优先搜索可以实现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求深（广）度优先生成树。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(spanning tree )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C20C2-3481-441D-AF0C-C4EDD91DB55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14313" y="1131888"/>
            <a:ext cx="8501062" cy="2547937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无向图的生成树</a:t>
            </a:r>
            <a:endParaRPr kumimoji="1" lang="en-US" altLang="zh-CN" sz="28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生成树可由遍历过程中所经过的边组成</a:t>
            </a:r>
            <a:endParaRPr kumimoji="1" lang="zh-CN" altLang="en-US" sz="28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lvl="1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深度优先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生成树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广度优先生成树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2457450" y="4057650"/>
            <a:ext cx="468313" cy="466725"/>
          </a:xfrm>
          <a:prstGeom prst="ellipse">
            <a:avLst/>
          </a:prstGeom>
          <a:solidFill>
            <a:srgbClr val="FFFFCC"/>
          </a:solidFill>
          <a:ln w="28575" cap="rnd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381250" y="4057650"/>
            <a:ext cx="647700" cy="457200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V0</a:t>
            </a:r>
            <a:endParaRPr lang="en-US" altLang="zh-CN" sz="2400" b="1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 flipV="1">
            <a:off x="909638" y="4897438"/>
            <a:ext cx="482600" cy="346075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 flipV="1">
            <a:off x="1741488" y="4303713"/>
            <a:ext cx="711200" cy="373062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1085850" y="5581650"/>
            <a:ext cx="481013" cy="346075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2935288" y="4303713"/>
            <a:ext cx="819150" cy="395287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094163" y="4946650"/>
            <a:ext cx="336550" cy="246063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V="1">
            <a:off x="3514725" y="4946650"/>
            <a:ext cx="288925" cy="296863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3611563" y="5391150"/>
            <a:ext cx="652462" cy="0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V="1">
            <a:off x="1778000" y="5540375"/>
            <a:ext cx="530225" cy="395288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1847850" y="4972050"/>
            <a:ext cx="304800" cy="304800"/>
          </a:xfrm>
          <a:prstGeom prst="line">
            <a:avLst/>
          </a:prstGeom>
          <a:noFill/>
          <a:ln w="38100" cap="rnd">
            <a:solidFill>
              <a:srgbClr val="0000CC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" name="Group 14"/>
          <p:cNvGrpSpPr/>
          <p:nvPr/>
        </p:nvGrpSpPr>
        <p:grpSpPr bwMode="auto">
          <a:xfrm>
            <a:off x="1314450" y="5734050"/>
            <a:ext cx="647700" cy="466725"/>
            <a:chOff x="2928" y="3312"/>
            <a:chExt cx="408" cy="294"/>
          </a:xfrm>
        </p:grpSpPr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V7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28" name="Group 17"/>
          <p:cNvGrpSpPr/>
          <p:nvPr/>
        </p:nvGrpSpPr>
        <p:grpSpPr bwMode="auto">
          <a:xfrm>
            <a:off x="4210050" y="5200650"/>
            <a:ext cx="647700" cy="466725"/>
            <a:chOff x="2928" y="3312"/>
            <a:chExt cx="408" cy="294"/>
          </a:xfrm>
        </p:grpSpPr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19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V6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1" name="Group 20"/>
          <p:cNvGrpSpPr/>
          <p:nvPr/>
        </p:nvGrpSpPr>
        <p:grpSpPr bwMode="auto">
          <a:xfrm>
            <a:off x="3143250" y="5200650"/>
            <a:ext cx="647700" cy="466725"/>
            <a:chOff x="2928" y="3312"/>
            <a:chExt cx="408" cy="294"/>
          </a:xfrm>
        </p:grpSpPr>
        <p:sp>
          <p:nvSpPr>
            <p:cNvPr id="32" name="Oval 21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V5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4" name="Group 23"/>
          <p:cNvGrpSpPr/>
          <p:nvPr/>
        </p:nvGrpSpPr>
        <p:grpSpPr bwMode="auto">
          <a:xfrm>
            <a:off x="2076450" y="5200650"/>
            <a:ext cx="647700" cy="466725"/>
            <a:chOff x="2928" y="3312"/>
            <a:chExt cx="408" cy="294"/>
          </a:xfrm>
        </p:grpSpPr>
        <p:sp>
          <p:nvSpPr>
            <p:cNvPr id="35" name="Oval 24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V4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7" name="Group 26"/>
          <p:cNvGrpSpPr/>
          <p:nvPr/>
        </p:nvGrpSpPr>
        <p:grpSpPr bwMode="auto">
          <a:xfrm>
            <a:off x="552450" y="5200650"/>
            <a:ext cx="647700" cy="466725"/>
            <a:chOff x="2928" y="3312"/>
            <a:chExt cx="408" cy="294"/>
          </a:xfrm>
        </p:grpSpPr>
        <p:sp>
          <p:nvSpPr>
            <p:cNvPr id="38" name="Oval 27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8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V3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0" name="Group 29"/>
          <p:cNvGrpSpPr/>
          <p:nvPr/>
        </p:nvGrpSpPr>
        <p:grpSpPr bwMode="auto">
          <a:xfrm>
            <a:off x="3600450" y="4591050"/>
            <a:ext cx="647700" cy="466725"/>
            <a:chOff x="2928" y="3312"/>
            <a:chExt cx="408" cy="294"/>
          </a:xfrm>
        </p:grpSpPr>
        <p:sp>
          <p:nvSpPr>
            <p:cNvPr id="41" name="Oval 30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31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V2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3" name="Group 32"/>
          <p:cNvGrpSpPr/>
          <p:nvPr/>
        </p:nvGrpSpPr>
        <p:grpSpPr bwMode="auto">
          <a:xfrm>
            <a:off x="1314450" y="4514850"/>
            <a:ext cx="647700" cy="466725"/>
            <a:chOff x="2928" y="3312"/>
            <a:chExt cx="408" cy="294"/>
          </a:xfrm>
        </p:grpSpPr>
        <p:sp>
          <p:nvSpPr>
            <p:cNvPr id="44" name="Oval 33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V1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6" name="Group 35"/>
          <p:cNvGrpSpPr/>
          <p:nvPr/>
        </p:nvGrpSpPr>
        <p:grpSpPr bwMode="auto">
          <a:xfrm>
            <a:off x="4819650" y="5200650"/>
            <a:ext cx="647700" cy="466725"/>
            <a:chOff x="2928" y="3312"/>
            <a:chExt cx="408" cy="294"/>
          </a:xfrm>
        </p:grpSpPr>
        <p:sp>
          <p:nvSpPr>
            <p:cNvPr id="47" name="Oval 36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V3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9" name="Group 38"/>
          <p:cNvGrpSpPr/>
          <p:nvPr/>
        </p:nvGrpSpPr>
        <p:grpSpPr bwMode="auto">
          <a:xfrm>
            <a:off x="6596063" y="4133850"/>
            <a:ext cx="647700" cy="466725"/>
            <a:chOff x="2928" y="3312"/>
            <a:chExt cx="408" cy="294"/>
          </a:xfrm>
        </p:grpSpPr>
        <p:sp>
          <p:nvSpPr>
            <p:cNvPr id="50" name="Oval 39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V0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2" name="Line 41"/>
          <p:cNvSpPr>
            <a:spLocks noChangeShapeType="1"/>
          </p:cNvSpPr>
          <p:nvPr/>
        </p:nvSpPr>
        <p:spPr bwMode="auto">
          <a:xfrm flipV="1">
            <a:off x="5124450" y="4973638"/>
            <a:ext cx="482600" cy="346075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Line 42"/>
          <p:cNvSpPr>
            <a:spLocks noChangeShapeType="1"/>
          </p:cNvSpPr>
          <p:nvPr/>
        </p:nvSpPr>
        <p:spPr bwMode="auto">
          <a:xfrm flipV="1">
            <a:off x="5956300" y="4379913"/>
            <a:ext cx="711200" cy="373062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5992813" y="4973638"/>
            <a:ext cx="481012" cy="346075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5" name="Line 44"/>
          <p:cNvSpPr>
            <a:spLocks noChangeShapeType="1"/>
          </p:cNvSpPr>
          <p:nvPr/>
        </p:nvSpPr>
        <p:spPr bwMode="auto">
          <a:xfrm>
            <a:off x="7150100" y="4379913"/>
            <a:ext cx="819150" cy="395287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6" name="Line 45"/>
          <p:cNvSpPr>
            <a:spLocks noChangeShapeType="1"/>
          </p:cNvSpPr>
          <p:nvPr/>
        </p:nvSpPr>
        <p:spPr bwMode="auto">
          <a:xfrm>
            <a:off x="8308975" y="5022850"/>
            <a:ext cx="336550" cy="246063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7" name="Line 46"/>
          <p:cNvSpPr>
            <a:spLocks noChangeShapeType="1"/>
          </p:cNvSpPr>
          <p:nvPr/>
        </p:nvSpPr>
        <p:spPr bwMode="auto">
          <a:xfrm flipV="1">
            <a:off x="7729538" y="5022850"/>
            <a:ext cx="288925" cy="296863"/>
          </a:xfrm>
          <a:prstGeom prst="line">
            <a:avLst/>
          </a:prstGeom>
          <a:noFill/>
          <a:ln w="38100">
            <a:solidFill>
              <a:srgbClr val="E2D700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8" name="Line 47"/>
          <p:cNvSpPr>
            <a:spLocks noChangeShapeType="1"/>
          </p:cNvSpPr>
          <p:nvPr/>
        </p:nvSpPr>
        <p:spPr bwMode="auto">
          <a:xfrm flipV="1">
            <a:off x="7826375" y="5467350"/>
            <a:ext cx="652463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Line 48"/>
          <p:cNvSpPr>
            <a:spLocks noChangeShapeType="1"/>
          </p:cNvSpPr>
          <p:nvPr/>
        </p:nvSpPr>
        <p:spPr bwMode="auto">
          <a:xfrm flipV="1">
            <a:off x="5992813" y="5616575"/>
            <a:ext cx="530225" cy="395288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0" name="Group 50"/>
          <p:cNvGrpSpPr/>
          <p:nvPr/>
        </p:nvGrpSpPr>
        <p:grpSpPr bwMode="auto">
          <a:xfrm>
            <a:off x="5529263" y="5810250"/>
            <a:ext cx="647700" cy="466725"/>
            <a:chOff x="2928" y="3312"/>
            <a:chExt cx="408" cy="294"/>
          </a:xfrm>
        </p:grpSpPr>
        <p:sp>
          <p:nvSpPr>
            <p:cNvPr id="61" name="Oval 51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52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V7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3" name="Group 53"/>
          <p:cNvGrpSpPr/>
          <p:nvPr/>
        </p:nvGrpSpPr>
        <p:grpSpPr bwMode="auto">
          <a:xfrm>
            <a:off x="8424863" y="5276850"/>
            <a:ext cx="647700" cy="466725"/>
            <a:chOff x="2928" y="3312"/>
            <a:chExt cx="408" cy="294"/>
          </a:xfrm>
        </p:grpSpPr>
        <p:sp>
          <p:nvSpPr>
            <p:cNvPr id="64" name="Oval 54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55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V6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6" name="Group 56"/>
          <p:cNvGrpSpPr/>
          <p:nvPr/>
        </p:nvGrpSpPr>
        <p:grpSpPr bwMode="auto">
          <a:xfrm>
            <a:off x="7358063" y="5276850"/>
            <a:ext cx="647700" cy="466725"/>
            <a:chOff x="2928" y="3312"/>
            <a:chExt cx="408" cy="294"/>
          </a:xfrm>
        </p:grpSpPr>
        <p:sp>
          <p:nvSpPr>
            <p:cNvPr id="67" name="Oval 57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8" name="Text Box 58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V5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9" name="Group 59"/>
          <p:cNvGrpSpPr/>
          <p:nvPr/>
        </p:nvGrpSpPr>
        <p:grpSpPr bwMode="auto">
          <a:xfrm>
            <a:off x="6291263" y="5276850"/>
            <a:ext cx="647700" cy="466725"/>
            <a:chOff x="2928" y="3312"/>
            <a:chExt cx="408" cy="294"/>
          </a:xfrm>
        </p:grpSpPr>
        <p:sp>
          <p:nvSpPr>
            <p:cNvPr id="70" name="Oval 60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61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V4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2" name="Group 62"/>
          <p:cNvGrpSpPr/>
          <p:nvPr/>
        </p:nvGrpSpPr>
        <p:grpSpPr bwMode="auto">
          <a:xfrm>
            <a:off x="7815263" y="4667250"/>
            <a:ext cx="647700" cy="466725"/>
            <a:chOff x="2928" y="3312"/>
            <a:chExt cx="408" cy="294"/>
          </a:xfrm>
        </p:grpSpPr>
        <p:sp>
          <p:nvSpPr>
            <p:cNvPr id="73" name="Oval 63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V2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5" name="Group 65"/>
          <p:cNvGrpSpPr/>
          <p:nvPr/>
        </p:nvGrpSpPr>
        <p:grpSpPr bwMode="auto">
          <a:xfrm>
            <a:off x="5529263" y="4591050"/>
            <a:ext cx="647700" cy="466725"/>
            <a:chOff x="2928" y="3312"/>
            <a:chExt cx="408" cy="294"/>
          </a:xfrm>
        </p:grpSpPr>
        <p:sp>
          <p:nvSpPr>
            <p:cNvPr id="76" name="Oval 66"/>
            <p:cNvSpPr>
              <a:spLocks noChangeArrowheads="1"/>
            </p:cNvSpPr>
            <p:nvPr/>
          </p:nvSpPr>
          <p:spPr bwMode="auto">
            <a:xfrm>
              <a:off x="2976" y="3312"/>
              <a:ext cx="295" cy="294"/>
            </a:xfrm>
            <a:prstGeom prst="ellipse">
              <a:avLst/>
            </a:prstGeom>
            <a:solidFill>
              <a:srgbClr val="FFFFCC"/>
            </a:solidFill>
            <a:ln w="28575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67"/>
            <p:cNvSpPr txBox="1">
              <a:spLocks noChangeArrowheads="1"/>
            </p:cNvSpPr>
            <p:nvPr/>
          </p:nvSpPr>
          <p:spPr bwMode="auto">
            <a:xfrm>
              <a:off x="2928" y="3312"/>
              <a:ext cx="408" cy="288"/>
            </a:xfrm>
            <a:prstGeom prst="rect">
              <a:avLst/>
            </a:prstGeom>
            <a:noFill/>
            <a:ln w="12700" cap="rnd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V1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78" name="Rectangle 68"/>
          <p:cNvSpPr>
            <a:spLocks noChangeArrowheads="1"/>
          </p:cNvSpPr>
          <p:nvPr/>
        </p:nvSpPr>
        <p:spPr bwMode="auto">
          <a:xfrm>
            <a:off x="154305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深度优先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生成树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Rectangle 69"/>
          <p:cNvSpPr>
            <a:spLocks noChangeArrowheads="1"/>
          </p:cNvSpPr>
          <p:nvPr/>
        </p:nvSpPr>
        <p:spPr bwMode="auto">
          <a:xfrm>
            <a:off x="5648325" y="6329363"/>
            <a:ext cx="3352800" cy="493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广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度优先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生成树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Line 13"/>
          <p:cNvSpPr>
            <a:spLocks noChangeShapeType="1"/>
          </p:cNvSpPr>
          <p:nvPr/>
        </p:nvSpPr>
        <p:spPr bwMode="auto">
          <a:xfrm>
            <a:off x="5319713" y="5586413"/>
            <a:ext cx="304800" cy="304800"/>
          </a:xfrm>
          <a:prstGeom prst="line">
            <a:avLst/>
          </a:prstGeom>
          <a:noFill/>
          <a:ln w="38100" cap="rnd">
            <a:solidFill>
              <a:srgbClr val="0000CC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78" grpId="0"/>
      <p:bldP spid="79" grpId="0"/>
      <p:bldP spid="8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生成树和最小生成树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生成树（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spanning tree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最小生成树（</a:t>
            </a:r>
            <a:r>
              <a:rPr kumimoji="1"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Minimun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spanning tree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E07C2-9BAC-4794-BB37-878C8E855A0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5A26-6E7F-4B9A-9B26-2D97D230D3A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81000" y="3590925"/>
            <a:ext cx="4114800" cy="1570037"/>
          </a:xfrm>
          <a:prstGeom prst="rect">
            <a:avLst/>
          </a:prstGeom>
          <a:noFill/>
          <a:ln w="12700" cap="rnd">
            <a:noFill/>
            <a:miter lim="800000"/>
          </a:ln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FFFF66"/>
                </a:solidFill>
                <a:latin typeface="Times New Roman" panose="02020603050405020304" pitchFamily="18" charset="0"/>
              </a:rPr>
              <a:t> 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要在 </a:t>
            </a:r>
            <a:r>
              <a:rPr kumimoji="1" lang="en-US" altLang="zh-CN" sz="2400" b="1" dirty="0">
                <a:solidFill>
                  <a:srgbClr val="000000"/>
                </a:solidFill>
                <a:latin typeface="隶书" panose="02010509060101010101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个城市间建立交通网，要考虑的问题如何在保证 </a:t>
            </a:r>
            <a:r>
              <a:rPr kumimoji="1" lang="en-US" altLang="zh-CN" sz="2400" b="1" dirty="0">
                <a:solidFill>
                  <a:srgbClr val="000000"/>
                </a:solidFill>
                <a:latin typeface="隶书" panose="02010509060101010101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点连通的前题下最节省经费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?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" name="Group 4"/>
          <p:cNvGrpSpPr/>
          <p:nvPr/>
        </p:nvGrpSpPr>
        <p:grpSpPr bwMode="auto">
          <a:xfrm>
            <a:off x="5943600" y="2362200"/>
            <a:ext cx="2743200" cy="2362200"/>
            <a:chOff x="3744" y="768"/>
            <a:chExt cx="1728" cy="1488"/>
          </a:xfrm>
        </p:grpSpPr>
        <p:grpSp>
          <p:nvGrpSpPr>
            <p:cNvPr id="15" name="Group 5"/>
            <p:cNvGrpSpPr/>
            <p:nvPr/>
          </p:nvGrpSpPr>
          <p:grpSpPr bwMode="auto">
            <a:xfrm>
              <a:off x="3984" y="960"/>
              <a:ext cx="1252" cy="1155"/>
              <a:chOff x="3982" y="942"/>
              <a:chExt cx="1252" cy="1155"/>
            </a:xfrm>
          </p:grpSpPr>
          <p:sp>
            <p:nvSpPr>
              <p:cNvPr id="48" name="Line 6"/>
              <p:cNvSpPr>
                <a:spLocks noChangeShapeType="1"/>
              </p:cNvSpPr>
              <p:nvPr/>
            </p:nvSpPr>
            <p:spPr bwMode="auto">
              <a:xfrm flipH="1">
                <a:off x="4042" y="942"/>
                <a:ext cx="417" cy="349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Line 7"/>
              <p:cNvSpPr>
                <a:spLocks noChangeShapeType="1"/>
              </p:cNvSpPr>
              <p:nvPr/>
            </p:nvSpPr>
            <p:spPr bwMode="auto">
              <a:xfrm>
                <a:off x="3982" y="1582"/>
                <a:ext cx="179" cy="34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Line 8"/>
              <p:cNvSpPr>
                <a:spLocks noChangeShapeType="1"/>
              </p:cNvSpPr>
              <p:nvPr/>
            </p:nvSpPr>
            <p:spPr bwMode="auto">
              <a:xfrm flipH="1">
                <a:off x="5055" y="1582"/>
                <a:ext cx="179" cy="406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Line 9"/>
              <p:cNvSpPr>
                <a:spLocks noChangeShapeType="1"/>
              </p:cNvSpPr>
              <p:nvPr/>
            </p:nvSpPr>
            <p:spPr bwMode="auto">
              <a:xfrm>
                <a:off x="4399" y="2097"/>
                <a:ext cx="418" cy="0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>
                <a:off x="4638" y="1117"/>
                <a:ext cx="0" cy="232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Line 11"/>
              <p:cNvSpPr>
                <a:spLocks noChangeShapeType="1"/>
              </p:cNvSpPr>
              <p:nvPr/>
            </p:nvSpPr>
            <p:spPr bwMode="auto">
              <a:xfrm flipH="1">
                <a:off x="4280" y="1632"/>
                <a:ext cx="239" cy="34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Line 12"/>
              <p:cNvSpPr>
                <a:spLocks noChangeShapeType="1"/>
              </p:cNvSpPr>
              <p:nvPr/>
            </p:nvSpPr>
            <p:spPr bwMode="auto">
              <a:xfrm>
                <a:off x="4757" y="1640"/>
                <a:ext cx="179" cy="290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13"/>
              <p:cNvSpPr>
                <a:spLocks noChangeShapeType="1"/>
              </p:cNvSpPr>
              <p:nvPr/>
            </p:nvSpPr>
            <p:spPr bwMode="auto">
              <a:xfrm>
                <a:off x="4102" y="1407"/>
                <a:ext cx="357" cy="5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4817" y="1000"/>
              <a:ext cx="357" cy="291"/>
            </a:xfrm>
            <a:prstGeom prst="line">
              <a:avLst/>
            </a:prstGeom>
            <a:noFill/>
            <a:ln w="19050" cap="rnd">
              <a:solidFill>
                <a:srgbClr val="FF3300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H="1">
              <a:off x="4757" y="1407"/>
              <a:ext cx="357" cy="58"/>
            </a:xfrm>
            <a:prstGeom prst="line">
              <a:avLst/>
            </a:prstGeom>
            <a:noFill/>
            <a:ln w="19050" cap="rnd">
              <a:solidFill>
                <a:srgbClr val="FF3300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8" name="Group 16"/>
            <p:cNvGrpSpPr/>
            <p:nvPr/>
          </p:nvGrpSpPr>
          <p:grpSpPr bwMode="auto">
            <a:xfrm>
              <a:off x="3744" y="768"/>
              <a:ext cx="1728" cy="1488"/>
              <a:chOff x="3744" y="768"/>
              <a:chExt cx="1728" cy="1488"/>
            </a:xfrm>
          </p:grpSpPr>
          <p:grpSp>
            <p:nvGrpSpPr>
              <p:cNvPr id="19" name="Group 17"/>
              <p:cNvGrpSpPr/>
              <p:nvPr/>
            </p:nvGrpSpPr>
            <p:grpSpPr bwMode="auto">
              <a:xfrm>
                <a:off x="4459" y="1349"/>
                <a:ext cx="358" cy="326"/>
                <a:chOff x="1532" y="1657"/>
                <a:chExt cx="288" cy="269"/>
              </a:xfrm>
            </p:grpSpPr>
            <p:sp>
              <p:nvSpPr>
                <p:cNvPr id="46" name="Oval 18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V2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 bwMode="auto">
              <a:xfrm>
                <a:off x="4459" y="768"/>
                <a:ext cx="358" cy="326"/>
                <a:chOff x="1532" y="1657"/>
                <a:chExt cx="288" cy="269"/>
              </a:xfrm>
            </p:grpSpPr>
            <p:sp>
              <p:nvSpPr>
                <p:cNvPr id="44" name="Oval 21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V0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" name="Group 23"/>
              <p:cNvGrpSpPr/>
              <p:nvPr/>
            </p:nvGrpSpPr>
            <p:grpSpPr bwMode="auto">
              <a:xfrm>
                <a:off x="5114" y="1233"/>
                <a:ext cx="358" cy="326"/>
                <a:chOff x="1532" y="1657"/>
                <a:chExt cx="288" cy="269"/>
              </a:xfrm>
            </p:grpSpPr>
            <p:sp>
              <p:nvSpPr>
                <p:cNvPr id="42" name="Oval 24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V3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2" name="Group 26"/>
              <p:cNvGrpSpPr/>
              <p:nvPr/>
            </p:nvGrpSpPr>
            <p:grpSpPr bwMode="auto">
              <a:xfrm>
                <a:off x="4817" y="1930"/>
                <a:ext cx="357" cy="326"/>
                <a:chOff x="1532" y="1657"/>
                <a:chExt cx="288" cy="269"/>
              </a:xfrm>
            </p:grpSpPr>
            <p:sp>
              <p:nvSpPr>
                <p:cNvPr id="40" name="Oval 27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561" y="1680"/>
                  <a:ext cx="254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3" name="Group 29"/>
              <p:cNvGrpSpPr/>
              <p:nvPr/>
            </p:nvGrpSpPr>
            <p:grpSpPr bwMode="auto">
              <a:xfrm>
                <a:off x="4042" y="1930"/>
                <a:ext cx="357" cy="326"/>
                <a:chOff x="1532" y="1657"/>
                <a:chExt cx="288" cy="269"/>
              </a:xfrm>
            </p:grpSpPr>
            <p:sp>
              <p:nvSpPr>
                <p:cNvPr id="38" name="Oval 30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3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561" y="1680"/>
                  <a:ext cx="254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V4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4" name="Group 32"/>
              <p:cNvGrpSpPr/>
              <p:nvPr/>
            </p:nvGrpSpPr>
            <p:grpSpPr bwMode="auto">
              <a:xfrm>
                <a:off x="3744" y="1233"/>
                <a:ext cx="358" cy="326"/>
                <a:chOff x="1532" y="1657"/>
                <a:chExt cx="288" cy="269"/>
              </a:xfrm>
            </p:grpSpPr>
            <p:sp>
              <p:nvSpPr>
                <p:cNvPr id="36" name="Oval 33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3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V1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5" name="Group 35"/>
              <p:cNvGrpSpPr/>
              <p:nvPr/>
            </p:nvGrpSpPr>
            <p:grpSpPr bwMode="auto">
              <a:xfrm>
                <a:off x="3863" y="826"/>
                <a:ext cx="1490" cy="1316"/>
                <a:chOff x="3863" y="826"/>
                <a:chExt cx="1490" cy="1316"/>
              </a:xfrm>
            </p:grpSpPr>
            <p:sp>
              <p:nvSpPr>
                <p:cNvPr id="2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863" y="1622"/>
                  <a:ext cx="239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3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042" y="826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936" y="866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114" y="1680"/>
                  <a:ext cx="239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2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459" y="1099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1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221" y="1505"/>
                  <a:ext cx="238" cy="289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817" y="1215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221" y="1215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817" y="1564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4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519" y="1854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56" name="Oval 46"/>
          <p:cNvSpPr>
            <a:spLocks noChangeArrowheads="1"/>
          </p:cNvSpPr>
          <p:nvPr/>
        </p:nvSpPr>
        <p:spPr bwMode="auto">
          <a:xfrm>
            <a:off x="304800" y="3057525"/>
            <a:ext cx="1143000" cy="3810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Text Box 47"/>
          <p:cNvSpPr txBox="1">
            <a:spLocks noChangeArrowheads="1"/>
          </p:cNvSpPr>
          <p:nvPr/>
        </p:nvSpPr>
        <p:spPr bwMode="auto">
          <a:xfrm>
            <a:off x="304800" y="4953000"/>
            <a:ext cx="3581400" cy="12747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F6FC6"/>
                </a:solidFill>
                <a:latin typeface="Times New Roman" panose="02020603050405020304" pitchFamily="18" charset="0"/>
              </a:rPr>
              <a:t>          </a:t>
            </a:r>
            <a:endParaRPr kumimoji="1" lang="en-US" altLang="zh-CN" sz="2400" b="1" dirty="0">
              <a:solidFill>
                <a:srgbClr val="0F6FC6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F6FC6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求解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连通</a:t>
            </a:r>
            <a:r>
              <a:rPr kumimoji="1" lang="en-US" altLang="zh-CN" sz="2400" b="1" dirty="0">
                <a:solidFill>
                  <a:srgbClr val="000000"/>
                </a:solidFill>
                <a:latin typeface="隶书" panose="02010509060101010101" pitchFamily="49" charset="-122"/>
              </a:rPr>
              <a:t>6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个城市且代价最小的交通线路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?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" name="Group 48"/>
          <p:cNvGrpSpPr/>
          <p:nvPr/>
        </p:nvGrpSpPr>
        <p:grpSpPr bwMode="auto">
          <a:xfrm>
            <a:off x="3810000" y="4800600"/>
            <a:ext cx="4876800" cy="2133600"/>
            <a:chOff x="2448" y="2592"/>
            <a:chExt cx="3072" cy="1344"/>
          </a:xfrm>
        </p:grpSpPr>
        <p:sp>
          <p:nvSpPr>
            <p:cNvPr id="59" name="AutoShape 49"/>
            <p:cNvSpPr>
              <a:spLocks noChangeArrowheads="1"/>
            </p:cNvSpPr>
            <p:nvPr/>
          </p:nvSpPr>
          <p:spPr bwMode="auto">
            <a:xfrm>
              <a:off x="3024" y="2592"/>
              <a:ext cx="2496" cy="960"/>
            </a:xfrm>
            <a:prstGeom prst="cloudCallout">
              <a:avLst>
                <a:gd name="adj1" fmla="val -43750"/>
                <a:gd name="adj2" fmla="val 70000"/>
              </a:avLst>
            </a:prstGeom>
            <a:solidFill>
              <a:srgbClr val="CCFFCC"/>
            </a:solidFill>
            <a:ln w="12700" cap="rnd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如何求连通图的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最小生成树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?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隶书" panose="02010509060101010101" pitchFamily="49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0" name="WordArt 50"/>
            <p:cNvSpPr>
              <a:spLocks noChangeArrowheads="1" noChangeShapeType="1"/>
            </p:cNvSpPr>
            <p:nvPr/>
          </p:nvSpPr>
          <p:spPr bwMode="auto">
            <a:xfrm>
              <a:off x="2448" y="3648"/>
              <a:ext cx="672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30690"/>
                </a:avLst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600" b="1" i="0" u="none" strike="noStrike" kern="10" cap="none" spc="0" normalizeH="0" baseline="0" noProof="0">
                  <a:ln w="12700">
                    <a:solidFill>
                      <a:srgbClr val="008000"/>
                    </a:solidFill>
                    <a:round/>
                  </a:ln>
                  <a:solidFill>
                    <a:srgbClr val="66FF66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uLnTx/>
                  <a:uFillTx/>
                  <a:latin typeface="宋体" panose="02010600030101010101" pitchFamily="2" charset="-122"/>
                </a:rPr>
                <a:t>？</a:t>
              </a:r>
              <a:endParaRPr kumimoji="1" lang="zh-CN" altLang="en-US" sz="3600" b="1" i="0" u="none" strike="noStrike" kern="10" cap="none" spc="0" normalizeH="0" baseline="0" noProof="0">
                <a:ln w="12700">
                  <a:solidFill>
                    <a:srgbClr val="008000"/>
                  </a:solidFill>
                  <a:round/>
                </a:ln>
                <a:solidFill>
                  <a:srgbClr val="66FF66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61" name="Rectangle 2"/>
          <p:cNvSpPr>
            <a:spLocks noGrp="1" noChangeArrowheads="1"/>
          </p:cNvSpPr>
          <p:nvPr/>
        </p:nvSpPr>
        <p:spPr bwMode="auto">
          <a:xfrm>
            <a:off x="300038" y="1128712"/>
            <a:ext cx="6786562" cy="13573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最小生成树：</a:t>
            </a:r>
            <a:endParaRPr lang="en-US" altLang="zh-CN" sz="2800" b="1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rgbClr val="0707F9"/>
              </a:buClr>
              <a:buSzPct val="100000"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</a:rPr>
              <a:t>生成树的权最小的生成树称为最小生成树</a:t>
            </a:r>
            <a:endParaRPr lang="zh-CN" altLang="en-US" sz="2800" b="1" dirty="0">
              <a:solidFill>
                <a:srgbClr val="FF66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85C-DF91-4348-A7D7-381C3ABF6B0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81000" y="1371600"/>
            <a:ext cx="8397875" cy="1566863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</a:t>
            </a:r>
            <a:r>
              <a:rPr lang="zh-CN" altLang="en-US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假设要在 </a:t>
            </a:r>
            <a:r>
              <a:rPr lang="en-US" altLang="zh-CN" sz="3200" i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n </a:t>
            </a:r>
            <a:r>
              <a:rPr lang="zh-CN" altLang="en-US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个城市之间建立通讯联络网，则连通 </a:t>
            </a:r>
            <a:r>
              <a:rPr lang="en-US" altLang="zh-CN" sz="3200" i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n </a:t>
            </a:r>
            <a:r>
              <a:rPr lang="zh-CN" altLang="en-US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个城市只需要修建 </a:t>
            </a:r>
            <a:r>
              <a:rPr lang="en-US" altLang="zh-CN" sz="3200" i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n-1</a:t>
            </a:r>
            <a:r>
              <a:rPr lang="zh-CN" altLang="en-US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条线路，</a:t>
            </a:r>
            <a:r>
              <a:rPr lang="zh-CN" altLang="en-US" sz="32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如何在最节省经费的前提下建立</a:t>
            </a:r>
            <a:r>
              <a:rPr lang="zh-CN" altLang="en-US" sz="32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这个</a:t>
            </a:r>
            <a:r>
              <a:rPr lang="zh-CN" altLang="en-US" sz="32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通讯网</a:t>
            </a:r>
            <a:r>
              <a:rPr lang="zh-CN" altLang="en-US" sz="320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？</a:t>
            </a:r>
            <a:endParaRPr lang="zh-CN" altLang="en-US" sz="320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54038" y="3743325"/>
            <a:ext cx="355600" cy="914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5" name="流程图: 资料带 14"/>
          <p:cNvSpPr/>
          <p:nvPr/>
        </p:nvSpPr>
        <p:spPr bwMode="auto">
          <a:xfrm>
            <a:off x="1714480" y="3729038"/>
            <a:ext cx="6072230" cy="1785950"/>
          </a:xfrm>
          <a:prstGeom prst="flowChartPunchedTape">
            <a:avLst/>
          </a:prstGeom>
          <a:solidFill>
            <a:srgbClr val="DBF5F9">
              <a:lumMod val="9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(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连通网的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)</a:t>
            </a: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宋体" panose="02010600030101010101" pitchFamily="2" charset="-122"/>
              </a:rPr>
              <a:t>最小生成树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BCE8-5973-4678-8791-DB3B6DF4912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554038" y="3965575"/>
            <a:ext cx="33855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endParaRPr lang="zh-CN" altLang="zh-CN" sz="16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65125" y="1889125"/>
            <a:ext cx="8321675" cy="1569660"/>
          </a:xfrm>
          <a:prstGeom prst="rect">
            <a:avLst/>
          </a:prstGeom>
          <a:noFill/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32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      </a:t>
            </a:r>
            <a:r>
              <a:rPr lang="zh-CN" altLang="en-US" sz="32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构造网的一棵最小生成树，即：     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在 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e 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条带权的边中选取 </a:t>
            </a:r>
            <a:r>
              <a:rPr lang="en-US" altLang="zh-CN" sz="32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n-1 </a:t>
            </a:r>
            <a:r>
              <a:rPr lang="zh-CN" altLang="en-US" sz="32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条边（不构成回路），使“权值之和”为最小</a:t>
            </a:r>
            <a:r>
              <a:rPr lang="zh-CN" altLang="en-US" sz="32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。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5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85750" y="5622925"/>
            <a:ext cx="8053808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算法二：</a:t>
            </a:r>
            <a:r>
              <a:rPr kumimoji="1" lang="en-US" altLang="zh-CN" sz="36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Kruskal </a:t>
            </a:r>
            <a:r>
              <a:rPr lang="zh-CN" altLang="en-US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（克鲁斯卡尔算法）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33400" y="1203325"/>
            <a:ext cx="3068469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该问题等价于：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7" name="Text Box 5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285750" y="4451350"/>
            <a:ext cx="6511719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算法一：</a:t>
            </a:r>
            <a:r>
              <a:rPr lang="en-US" altLang="zh-CN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Prim </a:t>
            </a:r>
            <a:r>
              <a:rPr lang="zh-CN" altLang="en-US" sz="36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（普里姆算法）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118F-CA41-440E-A866-41B691E2A44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30250" y="1322368"/>
            <a:ext cx="5153025" cy="588963"/>
          </a:xfrm>
          <a:prstGeom prst="rect">
            <a:avLst/>
          </a:prstGeom>
          <a:solidFill>
            <a:srgbClr val="3333FF"/>
          </a:solidFill>
          <a:ln w="9525">
            <a:solidFill>
              <a:srgbClr val="3333FF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用</a:t>
            </a:r>
            <a:r>
              <a:rPr kumimoji="1" lang="en-US" altLang="zh-C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Prim</a:t>
            </a:r>
            <a:r>
              <a:rPr kumimoji="1"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算法构造最小生成树</a:t>
            </a:r>
            <a:endParaRPr kumimoji="1" lang="zh-CN" alt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4" name="Group 3"/>
          <p:cNvGrpSpPr/>
          <p:nvPr/>
        </p:nvGrpSpPr>
        <p:grpSpPr bwMode="auto">
          <a:xfrm>
            <a:off x="1066800" y="2560618"/>
            <a:ext cx="2819400" cy="3124200"/>
            <a:chOff x="432" y="1104"/>
            <a:chExt cx="1776" cy="1968"/>
          </a:xfrm>
        </p:grpSpPr>
        <p:sp>
          <p:nvSpPr>
            <p:cNvPr id="15" name="Oval 4"/>
            <p:cNvSpPr>
              <a:spLocks noChangeArrowheads="1"/>
            </p:cNvSpPr>
            <p:nvPr/>
          </p:nvSpPr>
          <p:spPr bwMode="auto">
            <a:xfrm>
              <a:off x="1152" y="11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432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1152" y="206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1872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9" name="Oval 8"/>
            <p:cNvSpPr>
              <a:spLocks noChangeArrowheads="1"/>
            </p:cNvSpPr>
            <p:nvPr/>
          </p:nvSpPr>
          <p:spPr bwMode="auto">
            <a:xfrm>
              <a:off x="1680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624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720" y="1344"/>
              <a:ext cx="48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1488" y="1344"/>
              <a:ext cx="432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720" y="1920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V="1">
              <a:off x="1488" y="1920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5" name="Line 14"/>
            <p:cNvSpPr>
              <a:spLocks noChangeShapeType="1"/>
            </p:cNvSpPr>
            <p:nvPr/>
          </p:nvSpPr>
          <p:spPr bwMode="auto">
            <a:xfrm>
              <a:off x="624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flipH="1">
              <a:off x="1872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Line 16"/>
            <p:cNvSpPr>
              <a:spLocks noChangeShapeType="1"/>
            </p:cNvSpPr>
            <p:nvPr/>
          </p:nvSpPr>
          <p:spPr bwMode="auto">
            <a:xfrm>
              <a:off x="960" y="28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8" name="Line 17"/>
            <p:cNvSpPr>
              <a:spLocks noChangeShapeType="1"/>
            </p:cNvSpPr>
            <p:nvPr/>
          </p:nvSpPr>
          <p:spPr bwMode="auto">
            <a:xfrm>
              <a:off x="1344" y="144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 flipH="1">
              <a:off x="912" y="2352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Line 19"/>
            <p:cNvSpPr>
              <a:spLocks noChangeShapeType="1"/>
            </p:cNvSpPr>
            <p:nvPr/>
          </p:nvSpPr>
          <p:spPr bwMode="auto">
            <a:xfrm>
              <a:off x="1440" y="2352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1632" y="12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672" y="129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864" y="182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1296" y="158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1488" y="182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432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1872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27"/>
            <p:cNvSpPr txBox="1">
              <a:spLocks noChangeArrowheads="1"/>
            </p:cNvSpPr>
            <p:nvPr/>
          </p:nvSpPr>
          <p:spPr bwMode="auto">
            <a:xfrm>
              <a:off x="960" y="24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8"/>
            <p:cNvSpPr txBox="1">
              <a:spLocks noChangeArrowheads="1"/>
            </p:cNvSpPr>
            <p:nvPr/>
          </p:nvSpPr>
          <p:spPr bwMode="auto">
            <a:xfrm>
              <a:off x="1344" y="24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29"/>
            <p:cNvSpPr txBox="1">
              <a:spLocks noChangeArrowheads="1"/>
            </p:cNvSpPr>
            <p:nvPr/>
          </p:nvSpPr>
          <p:spPr bwMode="auto">
            <a:xfrm>
              <a:off x="1200" y="278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30"/>
          <p:cNvGrpSpPr/>
          <p:nvPr/>
        </p:nvGrpSpPr>
        <p:grpSpPr bwMode="auto">
          <a:xfrm>
            <a:off x="5257800" y="2636818"/>
            <a:ext cx="2819400" cy="2971800"/>
            <a:chOff x="3072" y="1152"/>
            <a:chExt cx="1776" cy="1872"/>
          </a:xfrm>
        </p:grpSpPr>
        <p:sp>
          <p:nvSpPr>
            <p:cNvPr id="42" name="Oval 31"/>
            <p:cNvSpPr>
              <a:spLocks noChangeArrowheads="1"/>
            </p:cNvSpPr>
            <p:nvPr/>
          </p:nvSpPr>
          <p:spPr bwMode="auto">
            <a:xfrm>
              <a:off x="3792" y="115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3" name="Oval 32"/>
            <p:cNvSpPr>
              <a:spLocks noChangeArrowheads="1"/>
            </p:cNvSpPr>
            <p:nvPr/>
          </p:nvSpPr>
          <p:spPr bwMode="auto">
            <a:xfrm>
              <a:off x="3072" y="168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4" name="Oval 33"/>
            <p:cNvSpPr>
              <a:spLocks noChangeArrowheads="1"/>
            </p:cNvSpPr>
            <p:nvPr/>
          </p:nvSpPr>
          <p:spPr bwMode="auto">
            <a:xfrm>
              <a:off x="3792" y="211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5" name="Oval 34"/>
            <p:cNvSpPr>
              <a:spLocks noChangeArrowheads="1"/>
            </p:cNvSpPr>
            <p:nvPr/>
          </p:nvSpPr>
          <p:spPr bwMode="auto">
            <a:xfrm>
              <a:off x="4512" y="168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6" name="Oval 35"/>
            <p:cNvSpPr>
              <a:spLocks noChangeArrowheads="1"/>
            </p:cNvSpPr>
            <p:nvPr/>
          </p:nvSpPr>
          <p:spPr bwMode="auto">
            <a:xfrm>
              <a:off x="4320" y="2688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7" name="Oval 36"/>
            <p:cNvSpPr>
              <a:spLocks noChangeArrowheads="1"/>
            </p:cNvSpPr>
            <p:nvPr/>
          </p:nvSpPr>
          <p:spPr bwMode="auto">
            <a:xfrm>
              <a:off x="3264" y="2688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" name="Group 37"/>
          <p:cNvGrpSpPr/>
          <p:nvPr/>
        </p:nvGrpSpPr>
        <p:grpSpPr bwMode="auto">
          <a:xfrm>
            <a:off x="5791200" y="3703618"/>
            <a:ext cx="762000" cy="609600"/>
            <a:chOff x="3360" y="1872"/>
            <a:chExt cx="480" cy="384"/>
          </a:xfrm>
        </p:grpSpPr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3360" y="1968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39"/>
            <p:cNvSpPr txBox="1">
              <a:spLocks noChangeArrowheads="1"/>
            </p:cNvSpPr>
            <p:nvPr/>
          </p:nvSpPr>
          <p:spPr bwMode="auto">
            <a:xfrm>
              <a:off x="3504" y="187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" name="Group 40"/>
          <p:cNvGrpSpPr/>
          <p:nvPr/>
        </p:nvGrpSpPr>
        <p:grpSpPr bwMode="auto">
          <a:xfrm>
            <a:off x="6629400" y="3170218"/>
            <a:ext cx="533400" cy="990600"/>
            <a:chOff x="3936" y="1488"/>
            <a:chExt cx="336" cy="624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3984" y="1488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3936" y="163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" name="Group 43"/>
          <p:cNvGrpSpPr/>
          <p:nvPr/>
        </p:nvGrpSpPr>
        <p:grpSpPr bwMode="auto">
          <a:xfrm>
            <a:off x="5257800" y="4008418"/>
            <a:ext cx="533400" cy="1066800"/>
            <a:chOff x="3072" y="2016"/>
            <a:chExt cx="336" cy="672"/>
          </a:xfrm>
        </p:grpSpPr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3264" y="2016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45"/>
            <p:cNvSpPr txBox="1">
              <a:spLocks noChangeArrowheads="1"/>
            </p:cNvSpPr>
            <p:nvPr/>
          </p:nvSpPr>
          <p:spPr bwMode="auto">
            <a:xfrm>
              <a:off x="3072" y="220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" name="Group 46"/>
          <p:cNvGrpSpPr/>
          <p:nvPr/>
        </p:nvGrpSpPr>
        <p:grpSpPr bwMode="auto">
          <a:xfrm>
            <a:off x="7543800" y="4008418"/>
            <a:ext cx="533400" cy="1066800"/>
            <a:chOff x="4512" y="2016"/>
            <a:chExt cx="336" cy="672"/>
          </a:xfrm>
        </p:grpSpPr>
        <p:sp>
          <p:nvSpPr>
            <p:cNvPr id="58" name="Line 47"/>
            <p:cNvSpPr>
              <a:spLocks noChangeShapeType="1"/>
            </p:cNvSpPr>
            <p:nvPr/>
          </p:nvSpPr>
          <p:spPr bwMode="auto">
            <a:xfrm flipH="1">
              <a:off x="4512" y="2016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48"/>
            <p:cNvSpPr txBox="1">
              <a:spLocks noChangeArrowheads="1"/>
            </p:cNvSpPr>
            <p:nvPr/>
          </p:nvSpPr>
          <p:spPr bwMode="auto">
            <a:xfrm>
              <a:off x="4512" y="220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" name="Group 49"/>
          <p:cNvGrpSpPr/>
          <p:nvPr/>
        </p:nvGrpSpPr>
        <p:grpSpPr bwMode="auto">
          <a:xfrm>
            <a:off x="6705600" y="4618018"/>
            <a:ext cx="609600" cy="609600"/>
            <a:chOff x="3984" y="2400"/>
            <a:chExt cx="384" cy="384"/>
          </a:xfrm>
        </p:grpSpPr>
        <p:sp>
          <p:nvSpPr>
            <p:cNvPr id="61" name="Line 50"/>
            <p:cNvSpPr>
              <a:spLocks noChangeShapeType="1"/>
            </p:cNvSpPr>
            <p:nvPr/>
          </p:nvSpPr>
          <p:spPr bwMode="auto">
            <a:xfrm>
              <a:off x="4080" y="2400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51"/>
            <p:cNvSpPr txBox="1">
              <a:spLocks noChangeArrowheads="1"/>
            </p:cNvSpPr>
            <p:nvPr/>
          </p:nvSpPr>
          <p:spPr bwMode="auto">
            <a:xfrm>
              <a:off x="3984" y="249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63" name="AutoShape 5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035109" y="5605443"/>
            <a:ext cx="2011253" cy="1023957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DBF5F9">
              <a:lumMod val="9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图示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DB33-F293-4C06-B2C7-225940D0EAA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28600" y="2005012"/>
            <a:ext cx="8702675" cy="4594225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1.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取图中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任意一个顶点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作为生成树的根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，之后往生成树上添加新的顶点 </a:t>
            </a:r>
            <a:r>
              <a:rPr lang="en-US" altLang="zh-CN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w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。</a:t>
            </a:r>
            <a:endParaRPr lang="en-US" altLang="zh-CN" sz="2800" b="1" dirty="0">
              <a:solidFill>
                <a:srgbClr val="000082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2.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在添加的顶点 </a:t>
            </a:r>
            <a:r>
              <a:rPr lang="en-US" altLang="zh-CN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w 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和已经在生成树上的顶点</a:t>
            </a:r>
            <a:r>
              <a:rPr lang="en-US" altLang="zh-CN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 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之间必定存在一条边，并且该边的权值在所有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连通顶点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和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w 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之间的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边中取值最小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。</a:t>
            </a:r>
            <a:endParaRPr lang="en-US" altLang="zh-CN" sz="2800" b="1" dirty="0">
              <a:solidFill>
                <a:srgbClr val="000082"/>
              </a:solidFill>
              <a:latin typeface="Times New Roman" panose="02020603050405020304" pitchFamily="18" charset="0"/>
              <a:ea typeface="楷体_GB2312" pitchFamily="49" charset="-122"/>
              <a:cs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3.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继续往生成树上添加顶点，直至生成树上含有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n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个</a:t>
            </a:r>
            <a:r>
              <a:rPr lang="zh-CN" altLang="en-US" sz="2800" b="1" dirty="0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顶点为止。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285750" y="1219200"/>
            <a:ext cx="4383088" cy="5794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普里姆算法的基本思想</a:t>
            </a:r>
            <a:r>
              <a:rPr lang="en-US" altLang="zh-CN" sz="32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:</a:t>
            </a:r>
            <a:endParaRPr lang="zh-CN" altLang="zh-CN" sz="32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D07D-DED4-4FDC-A694-E1D0A4E6FA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-285750" y="1968500"/>
            <a:ext cx="6624638" cy="4813300"/>
          </a:xfrm>
          <a:prstGeom prst="rect">
            <a:avLst/>
          </a:prstGeom>
          <a:noFill/>
          <a:ln w="12700" cap="rnd">
            <a:solidFill>
              <a:srgbClr val="3333FF"/>
            </a:solidFill>
            <a:miter lim="800000"/>
          </a:ln>
        </p:spPr>
        <p:txBody>
          <a:bodyPr>
            <a:spAutoFit/>
          </a:bodyPr>
          <a:lstStyle/>
          <a:p>
            <a:pPr lvl="1" algn="just" eaLnBrk="0" fontAlgn="base" hangingPunct="0">
              <a:lnSpc>
                <a:spcPct val="115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66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Prim</a:t>
            </a:r>
            <a:r>
              <a:rPr kumimoji="1" lang="zh-CN" altLang="en-US" sz="2600" b="1">
                <a:solidFill>
                  <a:srgbClr val="006600"/>
                </a:solidFill>
                <a:latin typeface="Times New Roman" panose="02020603050405020304" pitchFamily="18" charset="0"/>
              </a:rPr>
              <a:t>算法基本步骤</a:t>
            </a:r>
            <a:endParaRPr kumimoji="1" lang="zh-CN" altLang="en-US" sz="2600" b="1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设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G=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V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）为一个具有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个顶点的带权的连通网络，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T=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TE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）为构造的生成树。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）初始时，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U={V0}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TE=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）在所有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 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en-US" sz="2600" b="1">
                <a:solidFill>
                  <a:srgbClr val="0707F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V-U 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的边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(u,v)</a:t>
            </a:r>
            <a:endParaRPr kumimoji="1" lang="en-US" altLang="zh-CN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中选择一条权值最小的边，不妨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         设为（</a:t>
            </a:r>
            <a:r>
              <a:rPr kumimoji="1" lang="en-US" altLang="en-US" sz="2600" b="1">
                <a:solidFill>
                  <a:srgbClr val="0707F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u,v)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(u,v) 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加入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TE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，同时将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 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加入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）重复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，直到</a:t>
            </a:r>
            <a:r>
              <a:rPr kumimoji="1" lang="en-US" altLang="zh-CN" sz="2600" b="1">
                <a:solidFill>
                  <a:srgbClr val="0707F9"/>
                </a:solidFill>
                <a:latin typeface="Times New Roman" panose="02020603050405020304" pitchFamily="18" charset="0"/>
              </a:rPr>
              <a:t>U=V</a:t>
            </a:r>
            <a:r>
              <a:rPr kumimoji="1" lang="zh-CN" altLang="en-US" sz="2600" b="1">
                <a:solidFill>
                  <a:srgbClr val="0707F9"/>
                </a:solidFill>
                <a:latin typeface="Times New Roman" panose="02020603050405020304" pitchFamily="18" charset="0"/>
              </a:rPr>
              <a:t>为止；</a:t>
            </a:r>
            <a:endParaRPr kumimoji="1" lang="zh-CN" altLang="en-US" sz="2600" b="1">
              <a:solidFill>
                <a:srgbClr val="0707F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71438" y="122555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Prim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5"/>
          <p:cNvGrpSpPr/>
          <p:nvPr/>
        </p:nvGrpSpPr>
        <p:grpSpPr bwMode="auto">
          <a:xfrm>
            <a:off x="6402388" y="3025775"/>
            <a:ext cx="2743200" cy="2362200"/>
            <a:chOff x="3744" y="768"/>
            <a:chExt cx="1728" cy="1488"/>
          </a:xfrm>
        </p:grpSpPr>
        <p:grpSp>
          <p:nvGrpSpPr>
            <p:cNvPr id="16" name="Group 6"/>
            <p:cNvGrpSpPr/>
            <p:nvPr/>
          </p:nvGrpSpPr>
          <p:grpSpPr bwMode="auto">
            <a:xfrm>
              <a:off x="3984" y="960"/>
              <a:ext cx="1252" cy="1155"/>
              <a:chOff x="3982" y="942"/>
              <a:chExt cx="1252" cy="1155"/>
            </a:xfrm>
          </p:grpSpPr>
          <p:sp>
            <p:nvSpPr>
              <p:cNvPr id="49" name="Line 7"/>
              <p:cNvSpPr>
                <a:spLocks noChangeShapeType="1"/>
              </p:cNvSpPr>
              <p:nvPr/>
            </p:nvSpPr>
            <p:spPr bwMode="auto">
              <a:xfrm flipH="1">
                <a:off x="4042" y="942"/>
                <a:ext cx="417" cy="349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Line 8"/>
              <p:cNvSpPr>
                <a:spLocks noChangeShapeType="1"/>
              </p:cNvSpPr>
              <p:nvPr/>
            </p:nvSpPr>
            <p:spPr bwMode="auto">
              <a:xfrm>
                <a:off x="3982" y="1582"/>
                <a:ext cx="179" cy="34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" name="Line 9"/>
              <p:cNvSpPr>
                <a:spLocks noChangeShapeType="1"/>
              </p:cNvSpPr>
              <p:nvPr/>
            </p:nvSpPr>
            <p:spPr bwMode="auto">
              <a:xfrm flipH="1">
                <a:off x="5055" y="1582"/>
                <a:ext cx="179" cy="406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>
                <a:off x="4399" y="2097"/>
                <a:ext cx="418" cy="0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" name="Line 11"/>
              <p:cNvSpPr>
                <a:spLocks noChangeShapeType="1"/>
              </p:cNvSpPr>
              <p:nvPr/>
            </p:nvSpPr>
            <p:spPr bwMode="auto">
              <a:xfrm>
                <a:off x="4638" y="1117"/>
                <a:ext cx="0" cy="232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Line 12"/>
              <p:cNvSpPr>
                <a:spLocks noChangeShapeType="1"/>
              </p:cNvSpPr>
              <p:nvPr/>
            </p:nvSpPr>
            <p:spPr bwMode="auto">
              <a:xfrm flipH="1">
                <a:off x="4280" y="1632"/>
                <a:ext cx="239" cy="34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Line 13"/>
              <p:cNvSpPr>
                <a:spLocks noChangeShapeType="1"/>
              </p:cNvSpPr>
              <p:nvPr/>
            </p:nvSpPr>
            <p:spPr bwMode="auto">
              <a:xfrm>
                <a:off x="4757" y="1640"/>
                <a:ext cx="179" cy="290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Line 14"/>
              <p:cNvSpPr>
                <a:spLocks noChangeShapeType="1"/>
              </p:cNvSpPr>
              <p:nvPr/>
            </p:nvSpPr>
            <p:spPr bwMode="auto">
              <a:xfrm>
                <a:off x="4102" y="1407"/>
                <a:ext cx="357" cy="58"/>
              </a:xfrm>
              <a:prstGeom prst="line">
                <a:avLst/>
              </a:prstGeom>
              <a:noFill/>
              <a:ln w="28575" cap="rnd">
                <a:solidFill>
                  <a:srgbClr val="FF3300"/>
                </a:solidFill>
                <a:rou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600" b="1">
                  <a:solidFill>
                    <a:srgbClr val="6600C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4817" y="1000"/>
              <a:ext cx="357" cy="291"/>
            </a:xfrm>
            <a:prstGeom prst="line">
              <a:avLst/>
            </a:prstGeom>
            <a:noFill/>
            <a:ln w="19050" cap="rnd">
              <a:solidFill>
                <a:srgbClr val="FF3300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>
              <a:off x="4757" y="1407"/>
              <a:ext cx="357" cy="58"/>
            </a:xfrm>
            <a:prstGeom prst="line">
              <a:avLst/>
            </a:prstGeom>
            <a:noFill/>
            <a:ln w="19050" cap="rnd">
              <a:solidFill>
                <a:srgbClr val="FF3300"/>
              </a:solidFill>
              <a:rou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" name="Group 17"/>
            <p:cNvGrpSpPr/>
            <p:nvPr/>
          </p:nvGrpSpPr>
          <p:grpSpPr bwMode="auto">
            <a:xfrm>
              <a:off x="3744" y="768"/>
              <a:ext cx="1728" cy="1488"/>
              <a:chOff x="3744" y="768"/>
              <a:chExt cx="1728" cy="1488"/>
            </a:xfrm>
          </p:grpSpPr>
          <p:grpSp>
            <p:nvGrpSpPr>
              <p:cNvPr id="20" name="Group 18"/>
              <p:cNvGrpSpPr/>
              <p:nvPr/>
            </p:nvGrpSpPr>
            <p:grpSpPr bwMode="auto">
              <a:xfrm>
                <a:off x="4459" y="1349"/>
                <a:ext cx="358" cy="326"/>
                <a:chOff x="1532" y="1657"/>
                <a:chExt cx="288" cy="269"/>
              </a:xfrm>
            </p:grpSpPr>
            <p:sp>
              <p:nvSpPr>
                <p:cNvPr id="47" name="Oval 19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V2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 bwMode="auto">
              <a:xfrm>
                <a:off x="4459" y="768"/>
                <a:ext cx="358" cy="326"/>
                <a:chOff x="1532" y="1657"/>
                <a:chExt cx="288" cy="269"/>
              </a:xfrm>
            </p:grpSpPr>
            <p:sp>
              <p:nvSpPr>
                <p:cNvPr id="45" name="Oval 22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V0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2" name="Group 24"/>
              <p:cNvGrpSpPr/>
              <p:nvPr/>
            </p:nvGrpSpPr>
            <p:grpSpPr bwMode="auto">
              <a:xfrm>
                <a:off x="5114" y="1233"/>
                <a:ext cx="358" cy="326"/>
                <a:chOff x="1532" y="1657"/>
                <a:chExt cx="288" cy="269"/>
              </a:xfrm>
            </p:grpSpPr>
            <p:sp>
              <p:nvSpPr>
                <p:cNvPr id="43" name="Oval 25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V3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3" name="Group 27"/>
              <p:cNvGrpSpPr/>
              <p:nvPr/>
            </p:nvGrpSpPr>
            <p:grpSpPr bwMode="auto">
              <a:xfrm>
                <a:off x="4817" y="1930"/>
                <a:ext cx="357" cy="326"/>
                <a:chOff x="1532" y="1657"/>
                <a:chExt cx="288" cy="269"/>
              </a:xfrm>
            </p:grpSpPr>
            <p:sp>
              <p:nvSpPr>
                <p:cNvPr id="41" name="Oval 28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561" y="1680"/>
                  <a:ext cx="254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4" name="Group 30"/>
              <p:cNvGrpSpPr/>
              <p:nvPr/>
            </p:nvGrpSpPr>
            <p:grpSpPr bwMode="auto">
              <a:xfrm>
                <a:off x="4042" y="1930"/>
                <a:ext cx="357" cy="326"/>
                <a:chOff x="1532" y="1657"/>
                <a:chExt cx="288" cy="269"/>
              </a:xfrm>
            </p:grpSpPr>
            <p:sp>
              <p:nvSpPr>
                <p:cNvPr id="39" name="Oval 31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0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561" y="1680"/>
                  <a:ext cx="254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V4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5" name="Group 33"/>
              <p:cNvGrpSpPr/>
              <p:nvPr/>
            </p:nvGrpSpPr>
            <p:grpSpPr bwMode="auto">
              <a:xfrm>
                <a:off x="3744" y="1233"/>
                <a:ext cx="358" cy="326"/>
                <a:chOff x="1532" y="1657"/>
                <a:chExt cx="288" cy="269"/>
              </a:xfrm>
            </p:grpSpPr>
            <p:sp>
              <p:nvSpPr>
                <p:cNvPr id="37" name="Oval 34"/>
                <p:cNvSpPr>
                  <a:spLocks noChangeArrowheads="1"/>
                </p:cNvSpPr>
                <p:nvPr/>
              </p:nvSpPr>
              <p:spPr bwMode="auto">
                <a:xfrm>
                  <a:off x="1532" y="1657"/>
                  <a:ext cx="288" cy="269"/>
                </a:xfrm>
                <a:prstGeom prst="ellipse">
                  <a:avLst/>
                </a:prstGeom>
                <a:solidFill>
                  <a:srgbClr val="FFFFA5"/>
                </a:solidFill>
                <a:ln w="12700" cap="rnd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zh-CN" sz="2000" b="1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38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560" y="1680"/>
                  <a:ext cx="256" cy="23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V1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6" name="Group 36"/>
              <p:cNvGrpSpPr/>
              <p:nvPr/>
            </p:nvGrpSpPr>
            <p:grpSpPr bwMode="auto">
              <a:xfrm>
                <a:off x="3863" y="826"/>
                <a:ext cx="1490" cy="1316"/>
                <a:chOff x="3863" y="826"/>
                <a:chExt cx="1490" cy="1316"/>
              </a:xfrm>
            </p:grpSpPr>
            <p:sp>
              <p:nvSpPr>
                <p:cNvPr id="2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863" y="1622"/>
                  <a:ext cx="239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3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042" y="826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936" y="866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5114" y="1680"/>
                  <a:ext cx="239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2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459" y="1099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1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221" y="1505"/>
                  <a:ext cx="238" cy="289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817" y="1215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221" y="1215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5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817" y="1564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4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519" y="1854"/>
                  <a:ext cx="238" cy="288"/>
                </a:xfrm>
                <a:prstGeom prst="rect">
                  <a:avLst/>
                </a:prstGeom>
                <a:noFill/>
                <a:ln w="12700" cap="rnd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>
                      <a:solidFill>
                        <a:srgbClr val="0000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6</a:t>
                  </a:r>
                  <a:endParaRPr kumimoji="1" lang="en-US" altLang="zh-CN" sz="2400" b="1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3B4E-E000-4FD6-856F-804468DC244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 bwMode="auto">
          <a:xfrm>
            <a:off x="685800" y="1581150"/>
            <a:ext cx="7772400" cy="835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0" bIns="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算法要点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】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4" name="Rectangle 3"/>
          <p:cNvSpPr txBox="1"/>
          <p:nvPr/>
        </p:nvSpPr>
        <p:spPr bwMode="auto">
          <a:xfrm>
            <a:off x="685800" y="2652712"/>
            <a:ext cx="7458075" cy="4114800"/>
          </a:xfrm>
          <a:prstGeom prst="rect">
            <a:avLst/>
          </a:prstGeom>
          <a:noFill/>
          <a:ln w="19050">
            <a:solidFill>
              <a:srgbClr val="0707F9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Void Prim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G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{T=       ;//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存放加入的边；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={V0};//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存放加入的结点；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while(U-V!=     )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{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设（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u,v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）是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     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    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V-U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）且权最小的边；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T=T       {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U=U      {V}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}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4479925" y="1327150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" name="Group 16"/>
          <p:cNvGrpSpPr/>
          <p:nvPr/>
        </p:nvGrpSpPr>
        <p:grpSpPr bwMode="auto">
          <a:xfrm>
            <a:off x="1285875" y="2867025"/>
            <a:ext cx="3214688" cy="2643187"/>
            <a:chOff x="111" y="667"/>
            <a:chExt cx="2025" cy="1665"/>
          </a:xfrm>
        </p:grpSpPr>
        <p:graphicFrame>
          <p:nvGraphicFramePr>
            <p:cNvPr id="22" name="Object 2"/>
            <p:cNvGraphicFramePr>
              <a:graphicFrameLocks noChangeAspect="1"/>
            </p:cNvGraphicFramePr>
            <p:nvPr/>
          </p:nvGraphicFramePr>
          <p:xfrm>
            <a:off x="905" y="1207"/>
            <a:ext cx="286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0" name="公式" r:id="rId2" imgW="127000" imgH="203200" progId="Equation.3">
                    <p:embed/>
                  </p:oleObj>
                </mc:Choice>
                <mc:Fallback>
                  <p:oleObj name="公式" r:id="rId2" imgW="127000" imgH="203200" progId="Equation.3">
                    <p:embed/>
                    <p:pic>
                      <p:nvPicPr>
                        <p:cNvPr id="0" name="图片 175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5" y="1207"/>
                          <a:ext cx="286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"/>
            <p:cNvGraphicFramePr>
              <a:graphicFrameLocks noChangeAspect="1"/>
            </p:cNvGraphicFramePr>
            <p:nvPr/>
          </p:nvGraphicFramePr>
          <p:xfrm>
            <a:off x="111" y="667"/>
            <a:ext cx="287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1" name="公式" r:id="rId4" imgW="127000" imgH="203200" progId="Equation.3">
                    <p:embed/>
                  </p:oleObj>
                </mc:Choice>
                <mc:Fallback>
                  <p:oleObj name="公式" r:id="rId4" imgW="127000" imgH="203200" progId="Equation.3">
                    <p:embed/>
                    <p:pic>
                      <p:nvPicPr>
                        <p:cNvPr id="0" name="图片 175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" y="667"/>
                          <a:ext cx="287" cy="4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4"/>
            <p:cNvGraphicFramePr>
              <a:graphicFrameLocks noChangeAspect="1"/>
            </p:cNvGraphicFramePr>
            <p:nvPr/>
          </p:nvGraphicFramePr>
          <p:xfrm>
            <a:off x="1841" y="1542"/>
            <a:ext cx="29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2" name="公式" r:id="rId5" imgW="127000" imgH="127000" progId="Equation.3">
                    <p:embed/>
                  </p:oleObj>
                </mc:Choice>
                <mc:Fallback>
                  <p:oleObj name="公式" r:id="rId5" imgW="127000" imgH="127000" progId="Equation.3">
                    <p:embed/>
                    <p:pic>
                      <p:nvPicPr>
                        <p:cNvPr id="0" name="图片 175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1542"/>
                          <a:ext cx="295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5"/>
            <p:cNvGraphicFramePr>
              <a:graphicFrameLocks noChangeAspect="1"/>
            </p:cNvGraphicFramePr>
            <p:nvPr/>
          </p:nvGraphicFramePr>
          <p:xfrm>
            <a:off x="1122" y="1588"/>
            <a:ext cx="249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3" name="公式" r:id="rId7" imgW="127000" imgH="127000" progId="Equation.3">
                    <p:embed/>
                  </p:oleObj>
                </mc:Choice>
                <mc:Fallback>
                  <p:oleObj name="公式" r:id="rId7" imgW="127000" imgH="127000" progId="Equation.3">
                    <p:embed/>
                    <p:pic>
                      <p:nvPicPr>
                        <p:cNvPr id="0" name="图片 175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2" y="1588"/>
                          <a:ext cx="249" cy="2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6"/>
            <p:cNvGraphicFramePr>
              <a:graphicFrameLocks noChangeAspect="1"/>
            </p:cNvGraphicFramePr>
            <p:nvPr/>
          </p:nvGraphicFramePr>
          <p:xfrm>
            <a:off x="426" y="2032"/>
            <a:ext cx="24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4" name="公式" r:id="rId8" imgW="152400" imgH="190500" progId="Equation.3">
                    <p:embed/>
                  </p:oleObj>
                </mc:Choice>
                <mc:Fallback>
                  <p:oleObj name="公式" r:id="rId8" imgW="152400" imgH="190500" progId="Equation.3">
                    <p:embed/>
                    <p:pic>
                      <p:nvPicPr>
                        <p:cNvPr id="0" name="图片 175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" y="2032"/>
                          <a:ext cx="240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7"/>
            <p:cNvGraphicFramePr>
              <a:graphicFrameLocks noChangeAspect="1"/>
            </p:cNvGraphicFramePr>
            <p:nvPr/>
          </p:nvGraphicFramePr>
          <p:xfrm>
            <a:off x="426" y="1792"/>
            <a:ext cx="24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5" name="公式" r:id="rId10" imgW="152400" imgH="190500" progId="Equation.3">
                    <p:embed/>
                  </p:oleObj>
                </mc:Choice>
                <mc:Fallback>
                  <p:oleObj name="公式" r:id="rId10" imgW="152400" imgH="190500" progId="Equation.3">
                    <p:embed/>
                    <p:pic>
                      <p:nvPicPr>
                        <p:cNvPr id="0" name="图片 175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" y="1792"/>
                          <a:ext cx="240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-71438" y="129540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Prim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0ADDF-4D4A-4F4D-9102-0CC66676D8F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0" y="129540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Prim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Oval 2"/>
          <p:cNvSpPr>
            <a:spLocks noChangeArrowheads="1"/>
          </p:cNvSpPr>
          <p:nvPr/>
        </p:nvSpPr>
        <p:spPr bwMode="auto">
          <a:xfrm>
            <a:off x="1325562" y="3009900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v2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5" name="Oval 3"/>
          <p:cNvSpPr>
            <a:spLocks noChangeArrowheads="1"/>
          </p:cNvSpPr>
          <p:nvPr/>
        </p:nvSpPr>
        <p:spPr bwMode="auto">
          <a:xfrm>
            <a:off x="1325562" y="41624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v5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6" name="Oval 4"/>
          <p:cNvSpPr>
            <a:spLocks noChangeArrowheads="1"/>
          </p:cNvSpPr>
          <p:nvPr/>
        </p:nvSpPr>
        <p:spPr bwMode="auto">
          <a:xfrm>
            <a:off x="3198812" y="41624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v6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3270250" y="308133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v4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8" name="Oval 6"/>
          <p:cNvSpPr>
            <a:spLocks noChangeArrowheads="1"/>
          </p:cNvSpPr>
          <p:nvPr/>
        </p:nvSpPr>
        <p:spPr bwMode="auto">
          <a:xfrm>
            <a:off x="2335212" y="243363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v1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9" name="Oval 7"/>
          <p:cNvSpPr>
            <a:spLocks noChangeArrowheads="1"/>
          </p:cNvSpPr>
          <p:nvPr/>
        </p:nvSpPr>
        <p:spPr bwMode="auto">
          <a:xfrm>
            <a:off x="2262187" y="3441700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v3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V="1">
            <a:off x="1614487" y="2649537"/>
            <a:ext cx="720725" cy="4318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1470025" y="3370262"/>
            <a:ext cx="0" cy="7921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2695575" y="2649537"/>
            <a:ext cx="647700" cy="5048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1685925" y="4378325"/>
            <a:ext cx="1512887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2622550" y="3297237"/>
            <a:ext cx="647700" cy="21748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1614487" y="3297237"/>
            <a:ext cx="647700" cy="21748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1614487" y="3730625"/>
            <a:ext cx="720725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3414712" y="3441700"/>
            <a:ext cx="0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2551112" y="3730625"/>
            <a:ext cx="719138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1809750" y="2382837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2989262" y="2465387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2339975" y="287972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2" name="Line 21"/>
          <p:cNvSpPr>
            <a:spLocks noChangeShapeType="1"/>
          </p:cNvSpPr>
          <p:nvPr/>
        </p:nvSpPr>
        <p:spPr bwMode="auto">
          <a:xfrm>
            <a:off x="2478087" y="2794000"/>
            <a:ext cx="0" cy="6477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1974850" y="3095625"/>
            <a:ext cx="152400" cy="365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2771775" y="3113087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1254125" y="3544887"/>
            <a:ext cx="152400" cy="365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3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1763712" y="368935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2339975" y="403225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2844800" y="361632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4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3492500" y="361632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2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0" name="Oval 29"/>
          <p:cNvSpPr>
            <a:spLocks noChangeArrowheads="1"/>
          </p:cNvSpPr>
          <p:nvPr/>
        </p:nvSpPr>
        <p:spPr bwMode="auto">
          <a:xfrm>
            <a:off x="5068887" y="294798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v2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1" name="Oval 30"/>
          <p:cNvSpPr>
            <a:spLocks noChangeArrowheads="1"/>
          </p:cNvSpPr>
          <p:nvPr/>
        </p:nvSpPr>
        <p:spPr bwMode="auto">
          <a:xfrm>
            <a:off x="5068887" y="4100512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v5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2" name="Oval 31"/>
          <p:cNvSpPr>
            <a:spLocks noChangeArrowheads="1"/>
          </p:cNvSpPr>
          <p:nvPr/>
        </p:nvSpPr>
        <p:spPr bwMode="auto">
          <a:xfrm>
            <a:off x="6942137" y="4100512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v6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3" name="Oval 32"/>
          <p:cNvSpPr>
            <a:spLocks noChangeArrowheads="1"/>
          </p:cNvSpPr>
          <p:nvPr/>
        </p:nvSpPr>
        <p:spPr bwMode="auto">
          <a:xfrm>
            <a:off x="7013575" y="3019425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v4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4" name="Oval 33"/>
          <p:cNvSpPr>
            <a:spLocks noChangeArrowheads="1"/>
          </p:cNvSpPr>
          <p:nvPr/>
        </p:nvSpPr>
        <p:spPr bwMode="auto">
          <a:xfrm>
            <a:off x="6078537" y="23717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v1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5" name="Oval 34"/>
          <p:cNvSpPr>
            <a:spLocks noChangeArrowheads="1"/>
          </p:cNvSpPr>
          <p:nvPr/>
        </p:nvSpPr>
        <p:spPr bwMode="auto">
          <a:xfrm>
            <a:off x="6005512" y="337978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v3</a:t>
            </a:r>
            <a:endParaRPr kumimoji="0" lang="zh-CN" altLang="zh-C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6" name="Line 35"/>
          <p:cNvSpPr>
            <a:spLocks noChangeShapeType="1"/>
          </p:cNvSpPr>
          <p:nvPr/>
        </p:nvSpPr>
        <p:spPr bwMode="auto">
          <a:xfrm flipV="1">
            <a:off x="5357812" y="2587625"/>
            <a:ext cx="720725" cy="431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7" name="Line 36"/>
          <p:cNvSpPr>
            <a:spLocks noChangeShapeType="1"/>
          </p:cNvSpPr>
          <p:nvPr/>
        </p:nvSpPr>
        <p:spPr bwMode="auto">
          <a:xfrm>
            <a:off x="6438900" y="2587625"/>
            <a:ext cx="647700" cy="5048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5554662" y="2362200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6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6732587" y="2403475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50" name="Text Box 39"/>
          <p:cNvSpPr txBox="1">
            <a:spLocks noChangeArrowheads="1"/>
          </p:cNvSpPr>
          <p:nvPr/>
        </p:nvSpPr>
        <p:spPr bwMode="auto">
          <a:xfrm>
            <a:off x="6083300" y="2817812"/>
            <a:ext cx="1524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6221412" y="2732087"/>
            <a:ext cx="0" cy="6477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2" name="Line 41"/>
          <p:cNvSpPr>
            <a:spLocks noChangeShapeType="1"/>
          </p:cNvSpPr>
          <p:nvPr/>
        </p:nvSpPr>
        <p:spPr bwMode="auto">
          <a:xfrm flipV="1">
            <a:off x="5357812" y="2660650"/>
            <a:ext cx="792163" cy="143986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Line 42"/>
          <p:cNvSpPr>
            <a:spLocks noChangeShapeType="1"/>
          </p:cNvSpPr>
          <p:nvPr/>
        </p:nvSpPr>
        <p:spPr bwMode="auto">
          <a:xfrm flipH="1" flipV="1">
            <a:off x="6365875" y="2732087"/>
            <a:ext cx="720725" cy="136842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Text Box 43"/>
          <p:cNvSpPr txBox="1">
            <a:spLocks noChangeArrowheads="1"/>
          </p:cNvSpPr>
          <p:nvPr/>
        </p:nvSpPr>
        <p:spPr bwMode="auto">
          <a:xfrm>
            <a:off x="5213350" y="3435350"/>
            <a:ext cx="457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100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55" name="Text Box 44"/>
          <p:cNvSpPr txBox="1">
            <a:spLocks noChangeArrowheads="1"/>
          </p:cNvSpPr>
          <p:nvPr/>
        </p:nvSpPr>
        <p:spPr bwMode="auto">
          <a:xfrm>
            <a:off x="6600825" y="3452812"/>
            <a:ext cx="457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100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graphicFrame>
        <p:nvGraphicFramePr>
          <p:cNvPr id="56" name="Group 45"/>
          <p:cNvGraphicFramePr>
            <a:graphicFrameLocks noGrp="1"/>
          </p:cNvGraphicFramePr>
          <p:nvPr/>
        </p:nvGraphicFramePr>
        <p:xfrm>
          <a:off x="3957637" y="5848350"/>
          <a:ext cx="4087813" cy="469900"/>
        </p:xfrm>
        <a:graphic>
          <a:graphicData uri="http://schemas.openxmlformats.org/drawingml/2006/table">
            <a:tbl>
              <a:tblPr/>
              <a:tblGrid>
                <a:gridCol w="619125"/>
                <a:gridCol w="692150"/>
                <a:gridCol w="693738"/>
                <a:gridCol w="693737"/>
                <a:gridCol w="695325"/>
                <a:gridCol w="693738"/>
              </a:tblGrid>
              <a:tr h="469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6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5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100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100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" name="Text Box 61"/>
          <p:cNvSpPr txBox="1">
            <a:spLocks noChangeArrowheads="1"/>
          </p:cNvSpPr>
          <p:nvPr/>
        </p:nvSpPr>
        <p:spPr bwMode="auto">
          <a:xfrm>
            <a:off x="2393950" y="5857875"/>
            <a:ext cx="1125537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lowcost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58" name="Text Box 62"/>
          <p:cNvSpPr txBox="1">
            <a:spLocks noChangeArrowheads="1"/>
          </p:cNvSpPr>
          <p:nvPr/>
        </p:nvSpPr>
        <p:spPr bwMode="auto">
          <a:xfrm>
            <a:off x="4130675" y="4525963"/>
            <a:ext cx="37338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0     1       2      3      4      5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graphicFrame>
        <p:nvGraphicFramePr>
          <p:cNvPr id="59" name="Group 63"/>
          <p:cNvGraphicFramePr>
            <a:graphicFrameLocks noGrp="1"/>
          </p:cNvGraphicFramePr>
          <p:nvPr/>
        </p:nvGraphicFramePr>
        <p:xfrm>
          <a:off x="3989387" y="5056187"/>
          <a:ext cx="4087813" cy="469900"/>
        </p:xfrm>
        <a:graphic>
          <a:graphicData uri="http://schemas.openxmlformats.org/drawingml/2006/table">
            <a:tbl>
              <a:tblPr/>
              <a:tblGrid>
                <a:gridCol w="619125"/>
                <a:gridCol w="677863"/>
                <a:gridCol w="708025"/>
                <a:gridCol w="693737"/>
                <a:gridCol w="695325"/>
                <a:gridCol w="693738"/>
              </a:tblGrid>
              <a:tr h="469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v1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v1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v1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v1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宋体" panose="02010600030101010101" pitchFamily="2" charset="-122"/>
                        </a:rPr>
                        <a:t>v1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" name="Text Box 79"/>
          <p:cNvSpPr txBox="1">
            <a:spLocks noChangeArrowheads="1"/>
          </p:cNvSpPr>
          <p:nvPr/>
        </p:nvSpPr>
        <p:spPr bwMode="auto">
          <a:xfrm>
            <a:off x="2405062" y="5065712"/>
            <a:ext cx="1166813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adjVEx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61" name="Text Box 80"/>
          <p:cNvSpPr txBox="1">
            <a:spLocks noChangeArrowheads="1"/>
          </p:cNvSpPr>
          <p:nvPr/>
        </p:nvSpPr>
        <p:spPr bwMode="auto">
          <a:xfrm>
            <a:off x="563562" y="5426075"/>
            <a:ext cx="1698625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closedge[n]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7" name="思想气泡: 云 6"/>
          <p:cNvSpPr/>
          <p:nvPr/>
        </p:nvSpPr>
        <p:spPr>
          <a:xfrm>
            <a:off x="6884986" y="1263651"/>
            <a:ext cx="2030413" cy="120173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如何寻找一个结点最小权的边</a:t>
            </a:r>
            <a:endParaRPr lang="zh-CN" alt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6B587-01C3-47A8-8F3D-4F26A61E5B6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1600200" y="1570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3886200" y="1570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5181600" y="20272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c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4572000" y="28654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3200400" y="25606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1447800" y="3094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g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3124200" y="37036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V="1">
            <a:off x="2057400" y="1798638"/>
            <a:ext cx="1828800" cy="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1981200" y="1951038"/>
            <a:ext cx="1295400" cy="6858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3505200" y="1951038"/>
            <a:ext cx="457200" cy="6096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1676400" y="2027238"/>
            <a:ext cx="152400" cy="10668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V="1">
            <a:off x="1905000" y="2865438"/>
            <a:ext cx="1295400" cy="3810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3657600" y="2789238"/>
            <a:ext cx="914400" cy="2286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4343400" y="1798638"/>
            <a:ext cx="838200" cy="3048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 flipH="1">
            <a:off x="4953000" y="2408238"/>
            <a:ext cx="304800" cy="4572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4267200" y="1951038"/>
            <a:ext cx="533400" cy="9906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1905000" y="3398838"/>
            <a:ext cx="1219200" cy="4572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H="1">
            <a:off x="3581400" y="3170238"/>
            <a:ext cx="990600" cy="685800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2590800" y="1355725"/>
            <a:ext cx="53975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19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4724400" y="1493838"/>
            <a:ext cx="3619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2400">
              <a:solidFill>
                <a:srgbClr val="04617B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2209800" y="1798638"/>
            <a:ext cx="5397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289050" y="2255838"/>
            <a:ext cx="5397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2362200" y="3246438"/>
            <a:ext cx="5397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27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2057400" y="2681288"/>
            <a:ext cx="5397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16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3886200" y="2498725"/>
            <a:ext cx="36195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3635375" y="3111500"/>
            <a:ext cx="53975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21</a:t>
            </a:r>
            <a:endParaRPr kumimoji="1"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5105400" y="2484438"/>
            <a:ext cx="3619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Oval 29"/>
          <p:cNvSpPr>
            <a:spLocks noChangeArrowheads="1"/>
          </p:cNvSpPr>
          <p:nvPr/>
        </p:nvSpPr>
        <p:spPr bwMode="auto">
          <a:xfrm>
            <a:off x="1600200" y="15700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>
            <a:off x="3657600" y="2789238"/>
            <a:ext cx="914400" cy="228600"/>
          </a:xfrm>
          <a:prstGeom prst="line">
            <a:avLst/>
          </a:prstGeom>
          <a:noFill/>
          <a:ln w="28575" cap="sq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Oval 31"/>
          <p:cNvSpPr>
            <a:spLocks noChangeArrowheads="1"/>
          </p:cNvSpPr>
          <p:nvPr/>
        </p:nvSpPr>
        <p:spPr bwMode="auto">
          <a:xfrm>
            <a:off x="3200400" y="25606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1981200" y="1951038"/>
            <a:ext cx="1295400" cy="685800"/>
          </a:xfrm>
          <a:prstGeom prst="line">
            <a:avLst/>
          </a:prstGeom>
          <a:noFill/>
          <a:ln w="28575" cap="sq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33"/>
          <p:cNvSpPr txBox="1">
            <a:spLocks noChangeArrowheads="1"/>
          </p:cNvSpPr>
          <p:nvPr/>
        </p:nvSpPr>
        <p:spPr bwMode="auto">
          <a:xfrm>
            <a:off x="3352800" y="1798638"/>
            <a:ext cx="5397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12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Oval 34"/>
          <p:cNvSpPr>
            <a:spLocks noChangeArrowheads="1"/>
          </p:cNvSpPr>
          <p:nvPr/>
        </p:nvSpPr>
        <p:spPr bwMode="auto">
          <a:xfrm>
            <a:off x="4572000" y="28654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6" name="Line 35"/>
          <p:cNvSpPr>
            <a:spLocks noChangeShapeType="1"/>
          </p:cNvSpPr>
          <p:nvPr/>
        </p:nvSpPr>
        <p:spPr bwMode="auto">
          <a:xfrm flipH="1">
            <a:off x="4953000" y="2408238"/>
            <a:ext cx="304800" cy="457200"/>
          </a:xfrm>
          <a:prstGeom prst="line">
            <a:avLst/>
          </a:prstGeom>
          <a:noFill/>
          <a:ln w="28575" cap="sq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Oval 36"/>
          <p:cNvSpPr>
            <a:spLocks noChangeArrowheads="1"/>
          </p:cNvSpPr>
          <p:nvPr/>
        </p:nvSpPr>
        <p:spPr bwMode="auto">
          <a:xfrm>
            <a:off x="5181600" y="20272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Line 37"/>
          <p:cNvSpPr>
            <a:spLocks noChangeShapeType="1"/>
          </p:cNvSpPr>
          <p:nvPr/>
        </p:nvSpPr>
        <p:spPr bwMode="auto">
          <a:xfrm>
            <a:off x="4343400" y="1798638"/>
            <a:ext cx="838200" cy="304800"/>
          </a:xfrm>
          <a:prstGeom prst="line">
            <a:avLst/>
          </a:prstGeom>
          <a:noFill/>
          <a:ln w="28575" cap="sq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3886200" y="15700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Text Box 39"/>
          <p:cNvSpPr txBox="1">
            <a:spLocks noChangeArrowheads="1"/>
          </p:cNvSpPr>
          <p:nvPr/>
        </p:nvSpPr>
        <p:spPr bwMode="auto">
          <a:xfrm>
            <a:off x="4419600" y="2103438"/>
            <a:ext cx="361950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4617B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" name="Object 40"/>
          <p:cNvGraphicFramePr>
            <a:graphicFrameLocks noChangeAspect="1"/>
          </p:cNvGraphicFramePr>
          <p:nvPr/>
        </p:nvGraphicFramePr>
        <p:xfrm>
          <a:off x="457200" y="4614863"/>
          <a:ext cx="8196263" cy="247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5" name="文档" r:id="rId2" imgW="8199120" imgH="2484120" progId="Word.Document.8">
                  <p:embed/>
                </p:oleObj>
              </mc:Choice>
              <mc:Fallback>
                <p:oleObj name="文档" r:id="rId2" imgW="8199120" imgH="2484120" progId="Word.Document.8">
                  <p:embed/>
                  <p:pic>
                    <p:nvPicPr>
                      <p:cNvPr id="0" name="图片 4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614863"/>
                        <a:ext cx="8196263" cy="24717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41"/>
          <p:cNvSpPr txBox="1">
            <a:spLocks noChangeArrowheads="1"/>
          </p:cNvSpPr>
          <p:nvPr/>
        </p:nvSpPr>
        <p:spPr bwMode="auto">
          <a:xfrm>
            <a:off x="3200400" y="548640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3" name="Text Box 42"/>
          <p:cNvSpPr txBox="1">
            <a:spLocks noChangeArrowheads="1"/>
          </p:cNvSpPr>
          <p:nvPr/>
        </p:nvSpPr>
        <p:spPr bwMode="auto">
          <a:xfrm>
            <a:off x="5943600" y="548640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Text Box 43"/>
          <p:cNvSpPr txBox="1">
            <a:spLocks noChangeArrowheads="1"/>
          </p:cNvSpPr>
          <p:nvPr/>
        </p:nvSpPr>
        <p:spPr bwMode="auto">
          <a:xfrm>
            <a:off x="7772400" y="545465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5" name="Text Box 44"/>
          <p:cNvSpPr txBox="1">
            <a:spLocks noChangeArrowheads="1"/>
          </p:cNvSpPr>
          <p:nvPr/>
        </p:nvSpPr>
        <p:spPr bwMode="auto">
          <a:xfrm>
            <a:off x="3200400" y="614045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19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6" name="Text Box 45"/>
          <p:cNvSpPr txBox="1">
            <a:spLocks noChangeArrowheads="1"/>
          </p:cNvSpPr>
          <p:nvPr/>
        </p:nvSpPr>
        <p:spPr bwMode="auto">
          <a:xfrm>
            <a:off x="5927725" y="617220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14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7" name="Text Box 46"/>
          <p:cNvSpPr txBox="1">
            <a:spLocks noChangeArrowheads="1"/>
          </p:cNvSpPr>
          <p:nvPr/>
        </p:nvSpPr>
        <p:spPr bwMode="auto">
          <a:xfrm>
            <a:off x="7756525" y="6140450"/>
            <a:ext cx="854075" cy="654050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18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8" name="Text Box 47"/>
          <p:cNvSpPr txBox="1">
            <a:spLocks noChangeArrowheads="1"/>
          </p:cNvSpPr>
          <p:nvPr/>
        </p:nvSpPr>
        <p:spPr bwMode="auto">
          <a:xfrm>
            <a:off x="5943600" y="6216650"/>
            <a:ext cx="854075" cy="654050"/>
          </a:xfrm>
          <a:prstGeom prst="rect">
            <a:avLst/>
          </a:prstGeom>
          <a:solidFill>
            <a:srgbClr val="FADCD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14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9" name="Text Box 48"/>
          <p:cNvSpPr txBox="1">
            <a:spLocks noChangeArrowheads="1"/>
          </p:cNvSpPr>
          <p:nvPr/>
        </p:nvSpPr>
        <p:spPr bwMode="auto">
          <a:xfrm>
            <a:off x="266700" y="1295400"/>
            <a:ext cx="1250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82"/>
                </a:solidFill>
                <a:latin typeface="Times New Roman" panose="02020603050405020304" pitchFamily="18" charset="0"/>
              </a:rPr>
              <a:t>例如</a:t>
            </a:r>
            <a:r>
              <a:rPr kumimoji="1" lang="en-US" altLang="zh-CN" sz="3600" b="1" dirty="0">
                <a:solidFill>
                  <a:srgbClr val="000082"/>
                </a:solidFill>
                <a:latin typeface="Times New Roman" panose="02020603050405020304" pitchFamily="18" charset="0"/>
              </a:rPr>
              <a:t>:</a:t>
            </a:r>
            <a:endParaRPr kumimoji="1" lang="en-US" altLang="zh-CN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 Box 49"/>
          <p:cNvSpPr txBox="1">
            <a:spLocks noChangeArrowheads="1"/>
          </p:cNvSpPr>
          <p:nvPr/>
        </p:nvSpPr>
        <p:spPr bwMode="auto">
          <a:xfrm>
            <a:off x="3200400" y="5486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1" name="Text Box 50"/>
          <p:cNvSpPr txBox="1">
            <a:spLocks noChangeArrowheads="1"/>
          </p:cNvSpPr>
          <p:nvPr/>
        </p:nvSpPr>
        <p:spPr bwMode="auto">
          <a:xfrm>
            <a:off x="3200400" y="6203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12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2" name="Text Box 51"/>
          <p:cNvSpPr txBox="1">
            <a:spLocks noChangeArrowheads="1"/>
          </p:cNvSpPr>
          <p:nvPr/>
        </p:nvSpPr>
        <p:spPr bwMode="auto">
          <a:xfrm>
            <a:off x="5013325" y="5486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7756525" y="5486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e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4" name="Text Box 53"/>
          <p:cNvSpPr txBox="1">
            <a:spLocks noChangeArrowheads="1"/>
          </p:cNvSpPr>
          <p:nvPr/>
        </p:nvSpPr>
        <p:spPr bwMode="auto">
          <a:xfrm>
            <a:off x="5013325" y="6203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7772400" y="6203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0082"/>
                </a:solidFill>
                <a:effectLst/>
                <a:uLnTx/>
                <a:uFillTx/>
                <a:latin typeface="Times New Roman" panose="02020603050405020304" pitchFamily="18" charset="0"/>
              </a:rPr>
              <a:t>16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6" name="Text Box 55"/>
          <p:cNvSpPr txBox="1">
            <a:spLocks noChangeArrowheads="1"/>
          </p:cNvSpPr>
          <p:nvPr/>
        </p:nvSpPr>
        <p:spPr bwMode="auto">
          <a:xfrm>
            <a:off x="5029200" y="6203950"/>
            <a:ext cx="854075" cy="654050"/>
          </a:xfrm>
          <a:prstGeom prst="rect">
            <a:avLst/>
          </a:prstGeom>
          <a:solidFill>
            <a:srgbClr val="FADCD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7" name="Text Box 56"/>
          <p:cNvSpPr txBox="1">
            <a:spLocks noChangeArrowheads="1"/>
          </p:cNvSpPr>
          <p:nvPr/>
        </p:nvSpPr>
        <p:spPr bwMode="auto">
          <a:xfrm>
            <a:off x="4114800" y="5486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8" name="Text Box 57"/>
          <p:cNvSpPr txBox="1">
            <a:spLocks noChangeArrowheads="1"/>
          </p:cNvSpPr>
          <p:nvPr/>
        </p:nvSpPr>
        <p:spPr bwMode="auto">
          <a:xfrm>
            <a:off x="4114800" y="6203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9" name="Text Box 58"/>
          <p:cNvSpPr txBox="1">
            <a:spLocks noChangeArrowheads="1"/>
          </p:cNvSpPr>
          <p:nvPr/>
        </p:nvSpPr>
        <p:spPr bwMode="auto">
          <a:xfrm>
            <a:off x="3200400" y="5486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0" name="Text Box 59"/>
          <p:cNvSpPr txBox="1">
            <a:spLocks noChangeArrowheads="1"/>
          </p:cNvSpPr>
          <p:nvPr/>
        </p:nvSpPr>
        <p:spPr bwMode="auto">
          <a:xfrm>
            <a:off x="6858000" y="5486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1" name="Text Box 60"/>
          <p:cNvSpPr txBox="1">
            <a:spLocks noChangeArrowheads="1"/>
          </p:cNvSpPr>
          <p:nvPr/>
        </p:nvSpPr>
        <p:spPr bwMode="auto">
          <a:xfrm>
            <a:off x="3200400" y="6203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2" name="Text Box 61"/>
          <p:cNvSpPr txBox="1">
            <a:spLocks noChangeArrowheads="1"/>
          </p:cNvSpPr>
          <p:nvPr/>
        </p:nvSpPr>
        <p:spPr bwMode="auto">
          <a:xfrm>
            <a:off x="6858000" y="6203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Times New Roman" panose="02020603050405020304" pitchFamily="18" charset="0"/>
              </a:rPr>
              <a:t>21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3" name="Text Box 62"/>
          <p:cNvSpPr txBox="1">
            <a:spLocks noChangeArrowheads="1"/>
          </p:cNvSpPr>
          <p:nvPr/>
        </p:nvSpPr>
        <p:spPr bwMode="auto">
          <a:xfrm>
            <a:off x="4114800" y="6203950"/>
            <a:ext cx="854075" cy="654050"/>
          </a:xfrm>
          <a:prstGeom prst="rect">
            <a:avLst/>
          </a:prstGeom>
          <a:solidFill>
            <a:srgbClr val="FADCD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4" name="Text Box 63"/>
          <p:cNvSpPr txBox="1">
            <a:spLocks noChangeArrowheads="1"/>
          </p:cNvSpPr>
          <p:nvPr/>
        </p:nvSpPr>
        <p:spPr bwMode="auto">
          <a:xfrm>
            <a:off x="3200400" y="5486400"/>
            <a:ext cx="854075" cy="654050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5" name="Text Box 64"/>
          <p:cNvSpPr txBox="1">
            <a:spLocks noChangeArrowheads="1"/>
          </p:cNvSpPr>
          <p:nvPr/>
        </p:nvSpPr>
        <p:spPr bwMode="auto">
          <a:xfrm>
            <a:off x="3200400" y="6203950"/>
            <a:ext cx="854075" cy="654050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6" name="Text Box 65"/>
          <p:cNvSpPr txBox="1">
            <a:spLocks noChangeArrowheads="1"/>
          </p:cNvSpPr>
          <p:nvPr/>
        </p:nvSpPr>
        <p:spPr bwMode="auto">
          <a:xfrm>
            <a:off x="3200400" y="6203950"/>
            <a:ext cx="854075" cy="654050"/>
          </a:xfrm>
          <a:prstGeom prst="rect">
            <a:avLst/>
          </a:prstGeom>
          <a:solidFill>
            <a:srgbClr val="FADCDC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7" name="Text Box 66"/>
          <p:cNvSpPr txBox="1">
            <a:spLocks noChangeArrowheads="1"/>
          </p:cNvSpPr>
          <p:nvPr/>
        </p:nvSpPr>
        <p:spPr bwMode="auto">
          <a:xfrm>
            <a:off x="2628900" y="4032250"/>
            <a:ext cx="5903913" cy="5191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0F6FC6">
                <a:gamma/>
                <a:shade val="60000"/>
                <a:invGamma/>
              </a:srgbClr>
            </a:prst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       b         c        d         e        f          g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0" grpId="0" animBg="1" autoUpdateAnimBg="0"/>
      <p:bldP spid="41" grpId="0" animBg="1"/>
      <p:bldP spid="42" grpId="0" animBg="1" autoUpdateAnimBg="0"/>
      <p:bldP spid="43" grpId="0" animBg="1"/>
      <p:bldP spid="44" grpId="0" autoUpdateAnimBg="0"/>
      <p:bldP spid="45" grpId="0" animBg="1" autoUpdateAnimBg="0"/>
      <p:bldP spid="46" grpId="0" animBg="1"/>
      <p:bldP spid="47" grpId="0" animBg="1" autoUpdateAnimBg="0"/>
      <p:bldP spid="48" grpId="0" animBg="1"/>
      <p:bldP spid="49" grpId="0" animBg="1" autoUpdateAnimBg="0"/>
      <p:bldP spid="50" grpId="0" autoUpdateAnimBg="0"/>
      <p:bldP spid="52" grpId="0" animBg="1" autoUpdateAnimBg="0"/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58" grpId="0" animBg="1" autoUpdateAnimBg="0"/>
      <p:bldP spid="59" grpId="0" autoUpdateAnimBg="0"/>
      <p:bldP spid="60" grpId="0" animBg="1" autoUpdateAnimBg="0"/>
      <p:bldP spid="61" grpId="0" animBg="1" autoUpdateAnimBg="0"/>
      <p:bldP spid="62" grpId="0" animBg="1" autoUpdateAnimBg="0"/>
      <p:bldP spid="63" grpId="0" animBg="1" autoUpdateAnimBg="0"/>
      <p:bldP spid="64" grpId="0" animBg="1" autoUpdateAnimBg="0"/>
      <p:bldP spid="65" grpId="0" animBg="1" autoUpdateAnimBg="0"/>
      <p:bldP spid="66" grpId="0" animBg="1" autoUpdateAnimBg="0"/>
      <p:bldP spid="67" grpId="0" animBg="1" autoUpdateAnimBg="0"/>
      <p:bldP spid="68" grpId="0" animBg="1" autoUpdateAnimBg="0"/>
      <p:bldP spid="69" grpId="0" animBg="1" autoUpdateAnimBg="0"/>
      <p:bldP spid="70" grpId="0" animBg="1" autoUpdateAnimBg="0"/>
      <p:bldP spid="71" grpId="0" animBg="1" autoUpdateAnimBg="0"/>
      <p:bldP spid="72" grpId="0" animBg="1" autoUpdateAnimBg="0"/>
      <p:bldP spid="73" grpId="0" animBg="1" autoUpdateAnimBg="0"/>
      <p:bldP spid="74" grpId="0" animBg="1" autoUpdateAnimBg="0"/>
      <p:bldP spid="75" grpId="0" animBg="1" autoUpdateAnimBg="0"/>
      <p:bldP spid="76" grpId="0" animBg="1" autoUpdateAnimBg="0"/>
      <p:bldP spid="77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35FB-7FC2-493B-85B4-345DFDC610C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6351" y="1222375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Prim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684213" y="1992312"/>
            <a:ext cx="8208962" cy="4789488"/>
          </a:xfrm>
          <a:prstGeom prst="rect">
            <a:avLst/>
          </a:prstGeom>
          <a:noFill/>
          <a:ln w="12700" cap="sq">
            <a:solidFill>
              <a:srgbClr val="0000CC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void MiniSpanTree_P(MGraph G, VErtexType u) {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k = LocateVEx (G, u );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for ( j=0; j&lt;G.VExnum; ++j )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     //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辅助数组初始化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if (j!=k) 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closedge[j] = { u, G.arcs[k][j].adj }; 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closedge[k].lowcost = 0;               //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初始，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{v0}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for (i=0; i&lt;G.VExnum; ++i) {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1403350" y="5592762"/>
            <a:ext cx="42148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继续向生成树上添加顶点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;</a:t>
            </a:r>
            <a:endParaRPr lang="zh-CN" altLang="zh-CN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  <p:sp>
        <p:nvSpPr>
          <p:cNvPr id="16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940425" y="5649912"/>
            <a:ext cx="1800225" cy="519113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宋体" panose="02010600030101010101" pitchFamily="2" charset="-122"/>
              </a:rPr>
              <a:t>见下页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22E2-7C45-473E-BC87-0056C06330E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6351" y="1298575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Prim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566738" y="1924050"/>
            <a:ext cx="7893050" cy="440055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k = minimum(closedge);  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求出加入生成树的下一个顶点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(k)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printf(closedge[k].adjVEx, G.VExs[k]);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//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输出生成树上一条边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closedge[k].lowcost = 0;   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顶点并入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集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for (j=0; j&lt;G.VExnum; ++j)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//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修改其它顶点的最小边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if (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G.arcs[k][j].adj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&lt; closedge[j].lowcost)</a:t>
            </a:r>
            <a:endParaRPr lang="en-US" altLang="zh-CN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 closedge[j] = { G.VExs[k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], G.arcs[k][j].adj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}; </a:t>
            </a:r>
            <a:endParaRPr lang="zh-CN" altLang="zh-CN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77EB-48D5-4CAB-9DEA-73B5E4E86CF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23850" y="1989137"/>
            <a:ext cx="6910388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CC"/>
                </a:solidFill>
                <a:latin typeface="Times New Roman" panose="02020603050405020304" pitchFamily="18" charset="0"/>
              </a:rPr>
              <a:t>用</a:t>
            </a:r>
            <a:r>
              <a:rPr kumimoji="1" lang="en-US" altLang="zh-CN" sz="3200" b="1">
                <a:solidFill>
                  <a:srgbClr val="0000CC"/>
                </a:solidFill>
                <a:latin typeface="Times New Roman" panose="02020603050405020304" pitchFamily="18" charset="0"/>
              </a:rPr>
              <a:t>Kruskal</a:t>
            </a:r>
            <a:r>
              <a:rPr kumimoji="1" lang="zh-CN" altLang="en-US" sz="3200" b="1">
                <a:solidFill>
                  <a:srgbClr val="0000CC"/>
                </a:solidFill>
                <a:latin typeface="Times New Roman" panose="02020603050405020304" pitchFamily="18" charset="0"/>
              </a:rPr>
              <a:t>算法构造最小生成树的过程</a:t>
            </a:r>
            <a:endParaRPr kumimoji="1" lang="zh-CN" altLang="en-US" sz="32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" name="Group 3"/>
          <p:cNvGrpSpPr/>
          <p:nvPr/>
        </p:nvGrpSpPr>
        <p:grpSpPr bwMode="auto">
          <a:xfrm>
            <a:off x="685800" y="2659062"/>
            <a:ext cx="2819400" cy="3124200"/>
            <a:chOff x="432" y="1104"/>
            <a:chExt cx="1776" cy="1968"/>
          </a:xfrm>
        </p:grpSpPr>
        <p:sp>
          <p:nvSpPr>
            <p:cNvPr id="15" name="Oval 4"/>
            <p:cNvSpPr>
              <a:spLocks noChangeArrowheads="1"/>
            </p:cNvSpPr>
            <p:nvPr/>
          </p:nvSpPr>
          <p:spPr bwMode="auto">
            <a:xfrm>
              <a:off x="1152" y="11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432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1152" y="206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1872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9" name="Oval 8"/>
            <p:cNvSpPr>
              <a:spLocks noChangeArrowheads="1"/>
            </p:cNvSpPr>
            <p:nvPr/>
          </p:nvSpPr>
          <p:spPr bwMode="auto">
            <a:xfrm>
              <a:off x="1680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>
              <a:off x="624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720" y="1344"/>
              <a:ext cx="48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1488" y="1344"/>
              <a:ext cx="432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720" y="1920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V="1">
              <a:off x="1488" y="1920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5" name="Line 14"/>
            <p:cNvSpPr>
              <a:spLocks noChangeShapeType="1"/>
            </p:cNvSpPr>
            <p:nvPr/>
          </p:nvSpPr>
          <p:spPr bwMode="auto">
            <a:xfrm>
              <a:off x="624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flipH="1">
              <a:off x="1872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Line 16"/>
            <p:cNvSpPr>
              <a:spLocks noChangeShapeType="1"/>
            </p:cNvSpPr>
            <p:nvPr/>
          </p:nvSpPr>
          <p:spPr bwMode="auto">
            <a:xfrm>
              <a:off x="960" y="28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8" name="Line 17"/>
            <p:cNvSpPr>
              <a:spLocks noChangeShapeType="1"/>
            </p:cNvSpPr>
            <p:nvPr/>
          </p:nvSpPr>
          <p:spPr bwMode="auto">
            <a:xfrm>
              <a:off x="1344" y="144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 flipH="1">
              <a:off x="912" y="2352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Line 19"/>
            <p:cNvSpPr>
              <a:spLocks noChangeShapeType="1"/>
            </p:cNvSpPr>
            <p:nvPr/>
          </p:nvSpPr>
          <p:spPr bwMode="auto">
            <a:xfrm>
              <a:off x="1440" y="2352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1632" y="12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672" y="129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864" y="182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1296" y="158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1488" y="182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432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1872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27"/>
            <p:cNvSpPr txBox="1">
              <a:spLocks noChangeArrowheads="1"/>
            </p:cNvSpPr>
            <p:nvPr/>
          </p:nvSpPr>
          <p:spPr bwMode="auto">
            <a:xfrm>
              <a:off x="960" y="24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8"/>
            <p:cNvSpPr txBox="1">
              <a:spLocks noChangeArrowheads="1"/>
            </p:cNvSpPr>
            <p:nvPr/>
          </p:nvSpPr>
          <p:spPr bwMode="auto">
            <a:xfrm>
              <a:off x="1344" y="24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29"/>
            <p:cNvSpPr txBox="1">
              <a:spLocks noChangeArrowheads="1"/>
            </p:cNvSpPr>
            <p:nvPr/>
          </p:nvSpPr>
          <p:spPr bwMode="auto">
            <a:xfrm>
              <a:off x="1200" y="278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30"/>
          <p:cNvGrpSpPr/>
          <p:nvPr/>
        </p:nvGrpSpPr>
        <p:grpSpPr bwMode="auto">
          <a:xfrm>
            <a:off x="5029200" y="2659062"/>
            <a:ext cx="2819400" cy="2971800"/>
            <a:chOff x="3168" y="1104"/>
            <a:chExt cx="1776" cy="1872"/>
          </a:xfrm>
        </p:grpSpPr>
        <p:sp>
          <p:nvSpPr>
            <p:cNvPr id="42" name="Oval 31"/>
            <p:cNvSpPr>
              <a:spLocks noChangeArrowheads="1"/>
            </p:cNvSpPr>
            <p:nvPr/>
          </p:nvSpPr>
          <p:spPr bwMode="auto">
            <a:xfrm>
              <a:off x="3888" y="11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3" name="Oval 32"/>
            <p:cNvSpPr>
              <a:spLocks noChangeArrowheads="1"/>
            </p:cNvSpPr>
            <p:nvPr/>
          </p:nvSpPr>
          <p:spPr bwMode="auto">
            <a:xfrm>
              <a:off x="3168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4" name="Oval 33"/>
            <p:cNvSpPr>
              <a:spLocks noChangeArrowheads="1"/>
            </p:cNvSpPr>
            <p:nvPr/>
          </p:nvSpPr>
          <p:spPr bwMode="auto">
            <a:xfrm>
              <a:off x="3888" y="206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5" name="Oval 34"/>
            <p:cNvSpPr>
              <a:spLocks noChangeArrowheads="1"/>
            </p:cNvSpPr>
            <p:nvPr/>
          </p:nvSpPr>
          <p:spPr bwMode="auto">
            <a:xfrm>
              <a:off x="4608" y="1632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6" name="Oval 35"/>
            <p:cNvSpPr>
              <a:spLocks noChangeArrowheads="1"/>
            </p:cNvSpPr>
            <p:nvPr/>
          </p:nvSpPr>
          <p:spPr bwMode="auto">
            <a:xfrm>
              <a:off x="4416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7" name="Oval 36"/>
            <p:cNvSpPr>
              <a:spLocks noChangeArrowheads="1"/>
            </p:cNvSpPr>
            <p:nvPr/>
          </p:nvSpPr>
          <p:spPr bwMode="auto">
            <a:xfrm>
              <a:off x="3360" y="2640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" name="Group 37"/>
          <p:cNvGrpSpPr/>
          <p:nvPr/>
        </p:nvGrpSpPr>
        <p:grpSpPr bwMode="auto">
          <a:xfrm>
            <a:off x="5486400" y="3802062"/>
            <a:ext cx="762000" cy="609600"/>
            <a:chOff x="3456" y="1824"/>
            <a:chExt cx="480" cy="384"/>
          </a:xfrm>
        </p:grpSpPr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3456" y="1920"/>
              <a:ext cx="43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39"/>
            <p:cNvSpPr txBox="1">
              <a:spLocks noChangeArrowheads="1"/>
            </p:cNvSpPr>
            <p:nvPr/>
          </p:nvSpPr>
          <p:spPr bwMode="auto">
            <a:xfrm>
              <a:off x="3600" y="182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" name="Group 40"/>
          <p:cNvGrpSpPr/>
          <p:nvPr/>
        </p:nvGrpSpPr>
        <p:grpSpPr bwMode="auto">
          <a:xfrm>
            <a:off x="6400800" y="3192462"/>
            <a:ext cx="533400" cy="990600"/>
            <a:chOff x="4032" y="1440"/>
            <a:chExt cx="336" cy="624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4080" y="144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4032" y="1584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" name="Group 43"/>
          <p:cNvGrpSpPr/>
          <p:nvPr/>
        </p:nvGrpSpPr>
        <p:grpSpPr bwMode="auto">
          <a:xfrm>
            <a:off x="5029200" y="4030662"/>
            <a:ext cx="533400" cy="1066800"/>
            <a:chOff x="3168" y="1968"/>
            <a:chExt cx="336" cy="672"/>
          </a:xfrm>
        </p:grpSpPr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3360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45"/>
            <p:cNvSpPr txBox="1">
              <a:spLocks noChangeArrowheads="1"/>
            </p:cNvSpPr>
            <p:nvPr/>
          </p:nvSpPr>
          <p:spPr bwMode="auto">
            <a:xfrm>
              <a:off x="3168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" name="Group 46"/>
          <p:cNvGrpSpPr/>
          <p:nvPr/>
        </p:nvGrpSpPr>
        <p:grpSpPr bwMode="auto">
          <a:xfrm>
            <a:off x="7315200" y="4030662"/>
            <a:ext cx="533400" cy="1066800"/>
            <a:chOff x="4608" y="1968"/>
            <a:chExt cx="336" cy="672"/>
          </a:xfrm>
        </p:grpSpPr>
        <p:sp>
          <p:nvSpPr>
            <p:cNvPr id="58" name="Line 47"/>
            <p:cNvSpPr>
              <a:spLocks noChangeShapeType="1"/>
            </p:cNvSpPr>
            <p:nvPr/>
          </p:nvSpPr>
          <p:spPr bwMode="auto">
            <a:xfrm flipH="1">
              <a:off x="4608" y="1968"/>
              <a:ext cx="144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48"/>
            <p:cNvSpPr txBox="1">
              <a:spLocks noChangeArrowheads="1"/>
            </p:cNvSpPr>
            <p:nvPr/>
          </p:nvSpPr>
          <p:spPr bwMode="auto">
            <a:xfrm>
              <a:off x="4608" y="216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" name="Group 49"/>
          <p:cNvGrpSpPr/>
          <p:nvPr/>
        </p:nvGrpSpPr>
        <p:grpSpPr bwMode="auto">
          <a:xfrm>
            <a:off x="6477000" y="4640262"/>
            <a:ext cx="609600" cy="609600"/>
            <a:chOff x="4080" y="2352"/>
            <a:chExt cx="384" cy="384"/>
          </a:xfrm>
        </p:grpSpPr>
        <p:sp>
          <p:nvSpPr>
            <p:cNvPr id="61" name="Line 50"/>
            <p:cNvSpPr>
              <a:spLocks noChangeShapeType="1"/>
            </p:cNvSpPr>
            <p:nvPr/>
          </p:nvSpPr>
          <p:spPr bwMode="auto">
            <a:xfrm>
              <a:off x="4176" y="2352"/>
              <a:ext cx="28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51"/>
            <p:cNvSpPr txBox="1">
              <a:spLocks noChangeArrowheads="1"/>
            </p:cNvSpPr>
            <p:nvPr/>
          </p:nvSpPr>
          <p:spPr bwMode="auto">
            <a:xfrm>
              <a:off x="4080" y="2448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63" name="AutoShape 5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5991970" y="5757878"/>
            <a:ext cx="1704230" cy="112395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4617B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图示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Line 53"/>
          <p:cNvSpPr>
            <a:spLocks noChangeShapeType="1"/>
          </p:cNvSpPr>
          <p:nvPr/>
        </p:nvSpPr>
        <p:spPr bwMode="auto">
          <a:xfrm flipV="1">
            <a:off x="5795963" y="4622800"/>
            <a:ext cx="504825" cy="576262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Line 54"/>
          <p:cNvSpPr>
            <a:spLocks noChangeShapeType="1"/>
          </p:cNvSpPr>
          <p:nvPr/>
        </p:nvSpPr>
        <p:spPr bwMode="auto">
          <a:xfrm>
            <a:off x="6732588" y="3040062"/>
            <a:ext cx="647700" cy="503238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-71438" y="121920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Kruskal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4" grpId="1" animBg="1"/>
      <p:bldP spid="6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2D483-3EE6-4FD8-93FA-51586863CB3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6351" y="129540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Kruskal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81000" y="2790825"/>
            <a:ext cx="8458200" cy="1171575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考虑问题的出发点</a:t>
            </a:r>
            <a:r>
              <a:rPr kumimoji="1" lang="en-US" altLang="zh-CN" sz="28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</a:rPr>
              <a:t>为使生成树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上边的权值之和达到最小，</a:t>
            </a:r>
            <a:r>
              <a:rPr kumimoji="1" lang="zh-CN" altLang="en-US" sz="2800" b="1">
                <a:solidFill>
                  <a:srgbClr val="000082"/>
                </a:solidFill>
                <a:latin typeface="Times New Roman" panose="02020603050405020304" pitchFamily="18" charset="0"/>
                <a:ea typeface="楷体_GB2312" pitchFamily="49" charset="-122"/>
              </a:rPr>
              <a:t>则应使生成树中每一条边的权值尽可能地小。</a:t>
            </a:r>
            <a:endParaRPr kumimoji="1" lang="zh-CN" altLang="en-US" sz="2800" b="1">
              <a:solidFill>
                <a:srgbClr val="00008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81000" y="2033587"/>
            <a:ext cx="4819650" cy="531813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克鲁斯卡尔算法的基本思想：</a:t>
            </a:r>
            <a:endParaRPr kumimoji="1" lang="zh-CN" altLang="en-US" sz="2800" b="1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6D692-A7B5-46EE-B23A-938FAFCEAC5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441325" y="2414587"/>
            <a:ext cx="8245475" cy="394970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G=(V,E)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是连通网，用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来记录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上最小生成树边的集合。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中取最短边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，如果边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所关联的两个顶点不在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的同一个连通分量中，则将该边加入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中删除边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重复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两个步骤，直到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条边。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84137" y="1214438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Kruskal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36575" y="1830387"/>
            <a:ext cx="4819650" cy="531813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克鲁斯卡尔算法的基本思想：</a:t>
            </a:r>
            <a:endParaRPr kumimoji="1" lang="zh-CN" altLang="en-US" sz="2800" b="1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9.4.2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最小生成树（</a:t>
            </a:r>
            <a:r>
              <a:rPr kumimoji="1" lang="en-US" altLang="zh-CN" sz="3200" b="1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Minimun</a:t>
            </a: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spanning tree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6F307-4EBF-4D21-97CC-D89DF209B5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09600" y="1795462"/>
            <a:ext cx="7994650" cy="4533900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克鲁斯卡尔算法的基本思想</a:t>
            </a:r>
            <a:endParaRPr kumimoji="1"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T = (V, φ)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While  ( 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中所含边数 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&lt; n-1 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{ 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从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中选取当前最短边 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600" b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u,v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从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中删除边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600" b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u,v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if  ((</a:t>
            </a:r>
            <a:r>
              <a:rPr kumimoji="1" lang="en-US" altLang="zh-CN" sz="2600" b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u,v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 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并入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之后不产生回路 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将边 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600" b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u,v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 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并入</a:t>
            </a:r>
            <a:r>
              <a:rPr kumimoji="1" lang="en-US" altLang="zh-CN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中；</a:t>
            </a:r>
            <a:endParaRPr kumimoji="1" lang="zh-CN" altLang="en-US" sz="2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kumimoji="1" lang="en-US" altLang="zh-CN" sz="2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}</a:t>
            </a:r>
            <a:endParaRPr kumimoji="1" lang="en-US" altLang="zh-CN" sz="2600" b="1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6351" y="1295400"/>
            <a:ext cx="3892551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914400" lvl="1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Kruskal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算法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50649-9378-43A1-9AD5-5BEE9C01944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有向无环图的应用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9.5.1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拓扑排序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(Topological Sort)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9.5.2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关键路径 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(Critical  Path) 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31A3-7C43-443F-873B-3D09A949F9C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有向无环图的应用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9.5.1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拓扑排序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(Topological Sort)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9.5.2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关键路径  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(Critical  Path) 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2A69-BD18-4CF0-8012-E5FCEF30FC6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有向无环图的应用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3C84-75E5-4677-BBD3-B7FF014ABC8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 bwMode="auto">
          <a:xfrm>
            <a:off x="228600" y="1295400"/>
            <a:ext cx="80359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有向无环图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4" name="Rectangle 3"/>
          <p:cNvSpPr txBox="1"/>
          <p:nvPr/>
        </p:nvSpPr>
        <p:spPr bwMode="auto">
          <a:xfrm>
            <a:off x="517525" y="1817687"/>
            <a:ext cx="8175625" cy="4572000"/>
          </a:xfrm>
          <a:prstGeom prst="rect">
            <a:avLst/>
          </a:prstGeom>
          <a:noFill/>
          <a:ln w="9525" cap="flat" algn="ctr">
            <a:solidFill>
              <a:srgbClr val="009DD9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问题提出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一个无环的有向图称作有向无环图（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directed acycline graph 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，简称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图在工程计划和管理方面应用广泛。几乎所有的工程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(project)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都可分为若干个称作“活动”的子工程， 并且这些子工程之间通常受着一定条件的约束。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有向无环图的应用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EF3C-7B1B-4BB1-BC85-18AE05891A3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685800" y="2066925"/>
            <a:ext cx="7772400" cy="3960812"/>
          </a:xfrm>
          <a:prstGeom prst="rect">
            <a:avLst/>
          </a:prstGeom>
          <a:noFill/>
          <a:ln w="9525" cap="flat" algn="ctr">
            <a:solidFill>
              <a:srgbClr val="009DD9"/>
            </a:solidFill>
            <a:miter lim="800000"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某些子工程必须在另外的一些子工程完成之后才能开始。对整个工程和系统，人们主要关心的是两方面的问题：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    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      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工程能否顺利进行；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完成整个工程所必须的最短时间。       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5653087" y="3938587"/>
            <a:ext cx="2736850" cy="936625"/>
          </a:xfrm>
          <a:prstGeom prst="leftArrow">
            <a:avLst>
              <a:gd name="adj1" fmla="val 50000"/>
              <a:gd name="adj2" fmla="val 73051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拓扑排序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auto">
          <a:xfrm>
            <a:off x="5510212" y="5881687"/>
            <a:ext cx="2808288" cy="936625"/>
          </a:xfrm>
          <a:prstGeom prst="leftArrow">
            <a:avLst>
              <a:gd name="adj1" fmla="val 50000"/>
              <a:gd name="adj2" fmla="val 74958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关键路径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6"/>
          <p:cNvSpPr txBox="1"/>
          <p:nvPr/>
        </p:nvSpPr>
        <p:spPr bwMode="auto">
          <a:xfrm>
            <a:off x="396875" y="1295400"/>
            <a:ext cx="287972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kumimoji="1" lang="en-US" altLang="zh-CN" sz="2800" b="1" kern="0" dirty="0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kern="0" dirty="0">
                <a:solidFill>
                  <a:srgbClr val="6600CC"/>
                </a:solidFill>
                <a:latin typeface="Times New Roman" panose="02020603050405020304" pitchFamily="18" charset="0"/>
              </a:rPr>
              <a:t>问题提出</a:t>
            </a:r>
            <a:endParaRPr kumimoji="1" lang="zh-CN" altLang="en-US" sz="2800" b="1" kern="0" dirty="0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151D-96AD-4C68-A2BF-1D1443270F3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65163" y="1200150"/>
            <a:ext cx="3841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何谓“拓扑排序”？</a:t>
            </a:r>
            <a:endParaRPr kumimoji="1" lang="zh-CN" altLang="en-US" sz="36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58850" y="1939925"/>
            <a:ext cx="5213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对有向图进行如下操作：</a:t>
            </a:r>
            <a:endParaRPr kumimoji="1" lang="zh-CN" altLang="en-US" sz="36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25450" y="2759075"/>
            <a:ext cx="8321675" cy="2301875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360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按照有向图给出的次序关系，将图中顶点排成一个</a:t>
            </a:r>
            <a:r>
              <a:rPr kumimoji="1" lang="zh-CN" altLang="en-US" sz="360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线性序列</a:t>
            </a:r>
            <a:r>
              <a:rPr kumimoji="1" lang="zh-CN" altLang="en-US" sz="360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，对于有向图中没有限定次序关系的顶点，则可以人为加上任意的次序关系。</a:t>
            </a:r>
            <a:endParaRPr kumimoji="1" lang="zh-CN" altLang="en-US" sz="360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304800" y="5516562"/>
            <a:ext cx="89154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由此所得顶点的线性序列称之为</a:t>
            </a:r>
            <a:r>
              <a:rPr kumimoji="1" lang="zh-CN" altLang="en-US" sz="320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拓扑有序序列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nimBg="1" autoUpdateAnimBg="0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8621-85A4-43FE-8AE9-7CEA952658F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61950" y="1328737"/>
            <a:ext cx="4903788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：求有向图的拓扑序列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Oval 3"/>
          <p:cNvSpPr>
            <a:spLocks noChangeArrowheads="1"/>
          </p:cNvSpPr>
          <p:nvPr/>
        </p:nvSpPr>
        <p:spPr bwMode="auto">
          <a:xfrm>
            <a:off x="2495550" y="2319337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3790950" y="2916237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1200150" y="2916237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2495550" y="3449637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 flipV="1">
            <a:off x="1657350" y="2535237"/>
            <a:ext cx="838200" cy="4572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>
            <a:off x="1581150" y="3297237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2952750" y="2611437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V="1">
            <a:off x="2952750" y="3297237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57200" y="4327525"/>
            <a:ext cx="8229600" cy="1311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可求得</a:t>
            </a:r>
            <a:r>
              <a:rPr kumimoji="1" lang="zh-CN" altLang="en-US" sz="32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拓扑有序序列</a:t>
            </a:r>
            <a:r>
              <a:rPr kumimoji="1"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3200">
                <a:solidFill>
                  <a:srgbClr val="0000FF"/>
                </a:solidFill>
                <a:latin typeface="Times New Roman" panose="02020603050405020304" pitchFamily="18" charset="0"/>
              </a:rPr>
              <a:t>A B C D</a:t>
            </a:r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</a:rPr>
              <a:t>或</a:t>
            </a:r>
            <a:r>
              <a:rPr kumimoji="1"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3200">
                <a:solidFill>
                  <a:srgbClr val="0000FF"/>
                </a:solidFill>
                <a:latin typeface="Times New Roman" panose="02020603050405020304" pitchFamily="18" charset="0"/>
              </a:rPr>
              <a:t>A C B D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B45D2-2413-4AE5-88A8-73827E19F59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2855912" y="197167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4151312" y="250507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1560512" y="250507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2855912" y="303847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rgbClr val="04617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</a:rPr>
              <a:t>C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 flipV="1">
            <a:off x="2017712" y="2276475"/>
            <a:ext cx="838200" cy="304800"/>
          </a:xfrm>
          <a:prstGeom prst="line">
            <a:avLst/>
          </a:prstGeom>
          <a:noFill/>
          <a:ln w="28575" cap="sq">
            <a:solidFill>
              <a:srgbClr val="04617B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1941512" y="2886075"/>
            <a:ext cx="914400" cy="381000"/>
          </a:xfrm>
          <a:prstGeom prst="line">
            <a:avLst/>
          </a:prstGeom>
          <a:noFill/>
          <a:ln w="28575" cap="sq">
            <a:solidFill>
              <a:srgbClr val="04617B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 flipV="1">
            <a:off x="3313112" y="2886075"/>
            <a:ext cx="914400" cy="381000"/>
          </a:xfrm>
          <a:prstGeom prst="line">
            <a:avLst/>
          </a:prstGeom>
          <a:noFill/>
          <a:ln w="28575" cap="sq">
            <a:solidFill>
              <a:srgbClr val="04617B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H="1" flipV="1">
            <a:off x="3313112" y="2200275"/>
            <a:ext cx="914400" cy="457200"/>
          </a:xfrm>
          <a:prstGeom prst="line">
            <a:avLst/>
          </a:prstGeom>
          <a:noFill/>
          <a:ln w="28575" cap="sq">
            <a:solidFill>
              <a:srgbClr val="04617B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084512" y="2428875"/>
            <a:ext cx="0" cy="609600"/>
          </a:xfrm>
          <a:prstGeom prst="line">
            <a:avLst/>
          </a:prstGeom>
          <a:noFill/>
          <a:ln w="28575" cap="sq">
            <a:solidFill>
              <a:srgbClr val="04617B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798512" y="3876675"/>
            <a:ext cx="6788150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不能求得它的拓扑有序序列。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646112" y="4943475"/>
            <a:ext cx="7431088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因为图中存在一个回路</a:t>
            </a:r>
            <a:r>
              <a:rPr kumimoji="1" lang="zh-CN" altLang="en-US" sz="400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4000">
                <a:solidFill>
                  <a:srgbClr val="CC0000"/>
                </a:solidFill>
                <a:latin typeface="Times New Roman" panose="02020603050405020304" pitchFamily="18" charset="0"/>
              </a:rPr>
              <a:t>{B, C, D}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322262" y="1219200"/>
            <a:ext cx="4903788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32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：求有向图的拓扑序列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00941-155D-49D5-85B0-48E8845A125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/>
          <p:cNvSpPr/>
          <p:nvPr/>
        </p:nvSpPr>
        <p:spPr bwMode="auto">
          <a:xfrm>
            <a:off x="971550" y="2133600"/>
            <a:ext cx="7672388" cy="1500187"/>
          </a:xfrm>
          <a:prstGeom prst="rect">
            <a:avLst/>
          </a:prstGeom>
          <a:noFill/>
          <a:ln w="9525" algn="ctr">
            <a:solidFill>
              <a:srgbClr val="009DD9"/>
            </a:solidFill>
            <a:miter lim="800000"/>
          </a:ln>
        </p:spPr>
        <p:txBody>
          <a:bodyPr/>
          <a:lstStyle/>
          <a:p>
            <a:pPr marL="273050" marR="0" lvl="0" indent="-27305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707F9"/>
              </a:buClr>
              <a:buSzPct val="9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计算机专业课程次序的安排就是一个简单的工程，每一门课程的学习都是整个工程的活动。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395288" y="1320782"/>
            <a:ext cx="73294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拓扑排序事例分析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流程图: 资料带 14"/>
          <p:cNvSpPr/>
          <p:nvPr/>
        </p:nvSpPr>
        <p:spPr bwMode="auto">
          <a:xfrm>
            <a:off x="2000232" y="3810000"/>
            <a:ext cx="5214974" cy="2571768"/>
          </a:xfrm>
          <a:prstGeom prst="flowChartPunchedTape">
            <a:avLst/>
          </a:prstGeom>
          <a:solidFill>
            <a:srgbClr val="DBF5F9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273050" marR="0" lvl="0" indent="-27305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707F9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707F9"/>
              </a:buClr>
              <a:buSzPct val="9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如何安排课程学习的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先后次序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273050" marR="0" lvl="0" indent="-27305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707F9"/>
              </a:buClr>
              <a:buSzPct val="9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是一个典型的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拓扑排序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问题。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9921-5F40-4A3B-B126-D550233703C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46163" y="1579562"/>
            <a:ext cx="6192837" cy="512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编号   课程名称            先修课程  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计算机原理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2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编译原理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4,5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3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操作系统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4,5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4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程序设计                  无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5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数据结构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4,6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6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离散数学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7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形式语言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8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电路基础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9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高等数学                 无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10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计算机网络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41338" y="1219200"/>
            <a:ext cx="48958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拓扑排序事例分析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DD712-F2A3-4512-96F3-FCA9CA7B9E4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5795963" y="3676650"/>
            <a:ext cx="431800" cy="6477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804025" y="4397375"/>
            <a:ext cx="647700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V="1">
            <a:off x="6372225" y="4468812"/>
            <a:ext cx="1152525" cy="7207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6732588" y="3605212"/>
            <a:ext cx="792162" cy="6477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 flipV="1">
            <a:off x="7667625" y="3676650"/>
            <a:ext cx="1588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6804025" y="4613275"/>
            <a:ext cx="720725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7667625" y="4540250"/>
            <a:ext cx="1588" cy="5048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6372225" y="5405437"/>
            <a:ext cx="504825" cy="5032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V="1">
            <a:off x="6445250" y="2813050"/>
            <a:ext cx="503238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7165975" y="2381250"/>
            <a:ext cx="719138" cy="3603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Oval 2"/>
          <p:cNvSpPr>
            <a:spLocks noChangeArrowheads="1"/>
          </p:cNvSpPr>
          <p:nvPr/>
        </p:nvSpPr>
        <p:spPr bwMode="auto">
          <a:xfrm>
            <a:off x="5580063" y="425291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Oval 3"/>
          <p:cNvSpPr>
            <a:spLocks noChangeArrowheads="1"/>
          </p:cNvSpPr>
          <p:nvPr/>
        </p:nvSpPr>
        <p:spPr bwMode="auto">
          <a:xfrm>
            <a:off x="6516688" y="4252912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Oval 4"/>
          <p:cNvSpPr>
            <a:spLocks noChangeArrowheads="1"/>
          </p:cNvSpPr>
          <p:nvPr/>
        </p:nvSpPr>
        <p:spPr bwMode="auto">
          <a:xfrm>
            <a:off x="6083300" y="5118100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Oval 5"/>
          <p:cNvSpPr>
            <a:spLocks noChangeArrowheads="1"/>
          </p:cNvSpPr>
          <p:nvPr/>
        </p:nvSpPr>
        <p:spPr bwMode="auto">
          <a:xfrm>
            <a:off x="7453313" y="4179887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Oval 6"/>
          <p:cNvSpPr>
            <a:spLocks noChangeArrowheads="1"/>
          </p:cNvSpPr>
          <p:nvPr/>
        </p:nvSpPr>
        <p:spPr bwMode="auto">
          <a:xfrm>
            <a:off x="7451725" y="331628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7524750" y="504507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Oval 8"/>
          <p:cNvSpPr>
            <a:spLocks noChangeArrowheads="1"/>
          </p:cNvSpPr>
          <p:nvPr/>
        </p:nvSpPr>
        <p:spPr bwMode="auto">
          <a:xfrm>
            <a:off x="6156325" y="331628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Oval 9"/>
          <p:cNvSpPr>
            <a:spLocks noChangeArrowheads="1"/>
          </p:cNvSpPr>
          <p:nvPr/>
        </p:nvSpPr>
        <p:spPr bwMode="auto">
          <a:xfrm>
            <a:off x="6877050" y="2524125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Oval 10"/>
          <p:cNvSpPr>
            <a:spLocks noChangeArrowheads="1"/>
          </p:cNvSpPr>
          <p:nvPr/>
        </p:nvSpPr>
        <p:spPr bwMode="auto">
          <a:xfrm>
            <a:off x="6804025" y="5837237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Oval 11"/>
          <p:cNvSpPr>
            <a:spLocks noChangeArrowheads="1"/>
          </p:cNvSpPr>
          <p:nvPr/>
        </p:nvSpPr>
        <p:spPr bwMode="auto">
          <a:xfrm>
            <a:off x="7812088" y="2092325"/>
            <a:ext cx="431800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>
            <a:off x="5868988" y="4613275"/>
            <a:ext cx="287337" cy="503237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828675" y="1931987"/>
            <a:ext cx="3455988" cy="4697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编号   先修课程编号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1          8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2          4,5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3          4,5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   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无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5          4,6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6          9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7          6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8          9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9  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无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10       1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AutoShape 27"/>
          <p:cNvSpPr>
            <a:spLocks noChangeArrowheads="1"/>
          </p:cNvSpPr>
          <p:nvPr/>
        </p:nvSpPr>
        <p:spPr bwMode="auto">
          <a:xfrm>
            <a:off x="2627313" y="4108450"/>
            <a:ext cx="2520950" cy="720725"/>
          </a:xfrm>
          <a:prstGeom prst="rightArrow">
            <a:avLst>
              <a:gd name="adj1" fmla="val 50000"/>
              <a:gd name="adj2" fmla="val 87445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生成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DAG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Text Box 28"/>
          <p:cNvSpPr txBox="1">
            <a:spLocks noChangeArrowheads="1"/>
          </p:cNvSpPr>
          <p:nvPr/>
        </p:nvSpPr>
        <p:spPr bwMode="auto">
          <a:xfrm>
            <a:off x="396875" y="1228725"/>
            <a:ext cx="48958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拓扑排序事例分析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D432-4B9F-46DC-8639-3E7A701B45B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9750" y="1801812"/>
            <a:ext cx="7704138" cy="1474788"/>
          </a:xfrm>
          <a:prstGeom prst="rect">
            <a:avLst/>
          </a:prstGeom>
          <a:noFill/>
          <a:ln w="9525">
            <a:solidFill>
              <a:srgbClr val="0F6FC6"/>
            </a:solidFill>
            <a:miter lim="800000"/>
          </a:ln>
        </p:spPr>
        <p:txBody>
          <a:bodyPr lIns="90000" tIns="90000" rIns="90000" bIns="9000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顶点活动网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(Activity On Vertex Network,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简称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网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：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将顶点表示活动，边表示活动之间的关系的网称为顶点活动网。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41338" y="3352800"/>
            <a:ext cx="7702550" cy="1898650"/>
          </a:xfrm>
          <a:prstGeom prst="rect">
            <a:avLst/>
          </a:prstGeom>
          <a:noFill/>
          <a:ln w="9525" algn="ctr">
            <a:solidFill>
              <a:srgbClr val="0F6FC6"/>
            </a:solidFill>
            <a:miter lim="800000"/>
          </a:ln>
        </p:spPr>
        <p:txBody>
          <a:bodyPr lIns="90000" tIns="90000" rIns="90000" bIns="9000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拓扑序列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：把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网中的所有顶点排成一个</a:t>
            </a:r>
            <a:r>
              <a:rPr kumimoji="1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线性序列，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该序列满足如下条件：若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网中存在从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vi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到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vj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的路径，则在该序列中，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vi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必位于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vj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之前。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396875" y="1157288"/>
            <a:ext cx="489585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拓扑排序有关概念</a:t>
            </a:r>
            <a:endParaRPr kumimoji="1" lang="zh-CN" altLang="en-US" sz="2800" b="1" dirty="0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539750" y="5321300"/>
            <a:ext cx="7704138" cy="1044575"/>
          </a:xfrm>
          <a:prstGeom prst="rect">
            <a:avLst/>
          </a:prstGeom>
          <a:noFill/>
          <a:ln w="9525" algn="ctr">
            <a:solidFill>
              <a:srgbClr val="0F6FC6"/>
            </a:solidFill>
            <a:miter lim="800000"/>
          </a:ln>
        </p:spPr>
        <p:txBody>
          <a:bodyPr lIns="90000" tIns="90000" rIns="90000" bIns="9000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拓扑排序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：构造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网的拓扑序列的操作被称为拓扑排序。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7" name="AutoShape 5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891337" y="5791200"/>
            <a:ext cx="1871663" cy="112395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4617B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图示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37DA-50DC-4649-87F0-57968025714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1692275" y="2447925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Oval 4"/>
          <p:cNvSpPr>
            <a:spLocks noChangeArrowheads="1"/>
          </p:cNvSpPr>
          <p:nvPr/>
        </p:nvSpPr>
        <p:spPr bwMode="auto">
          <a:xfrm>
            <a:off x="1692275" y="4103688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2195513" y="3313113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2627313" y="2447925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Oval 7"/>
          <p:cNvSpPr>
            <a:spLocks noChangeArrowheads="1"/>
          </p:cNvSpPr>
          <p:nvPr/>
        </p:nvSpPr>
        <p:spPr bwMode="auto">
          <a:xfrm>
            <a:off x="3563938" y="2447925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>
            <a:off x="4498975" y="2447925"/>
            <a:ext cx="360363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>
            <a:off x="3059113" y="4103688"/>
            <a:ext cx="360362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Oval 10"/>
          <p:cNvSpPr>
            <a:spLocks noChangeArrowheads="1"/>
          </p:cNvSpPr>
          <p:nvPr/>
        </p:nvSpPr>
        <p:spPr bwMode="auto">
          <a:xfrm>
            <a:off x="4356100" y="4103688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3635375" y="3313113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1908175" y="2808288"/>
            <a:ext cx="360363" cy="5762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 flipV="1">
            <a:off x="1908175" y="3600450"/>
            <a:ext cx="360363" cy="5032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2051050" y="2663825"/>
            <a:ext cx="576263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2987675" y="2663825"/>
            <a:ext cx="576263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3924300" y="2663825"/>
            <a:ext cx="576263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2555875" y="3529013"/>
            <a:ext cx="10795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>
            <a:off x="2051050" y="4248150"/>
            <a:ext cx="1009650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3419475" y="4248150"/>
            <a:ext cx="936625" cy="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V="1">
            <a:off x="3276600" y="3671888"/>
            <a:ext cx="431800" cy="4318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V="1">
            <a:off x="3924300" y="2808288"/>
            <a:ext cx="647700" cy="576262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3851275" y="3673475"/>
            <a:ext cx="504825" cy="5032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3" name="Oval 23"/>
          <p:cNvSpPr>
            <a:spLocks noChangeArrowheads="1"/>
          </p:cNvSpPr>
          <p:nvPr/>
        </p:nvSpPr>
        <p:spPr bwMode="auto">
          <a:xfrm>
            <a:off x="5724525" y="26638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Oval 24"/>
          <p:cNvSpPr>
            <a:spLocks noChangeArrowheads="1"/>
          </p:cNvSpPr>
          <p:nvPr/>
        </p:nvSpPr>
        <p:spPr bwMode="auto">
          <a:xfrm>
            <a:off x="6300788" y="2663825"/>
            <a:ext cx="360362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Oval 25"/>
          <p:cNvSpPr>
            <a:spLocks noChangeArrowheads="1"/>
          </p:cNvSpPr>
          <p:nvPr/>
        </p:nvSpPr>
        <p:spPr bwMode="auto">
          <a:xfrm>
            <a:off x="6948488" y="2663825"/>
            <a:ext cx="360362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Oval 26"/>
          <p:cNvSpPr>
            <a:spLocks noChangeArrowheads="1"/>
          </p:cNvSpPr>
          <p:nvPr/>
        </p:nvSpPr>
        <p:spPr bwMode="auto">
          <a:xfrm>
            <a:off x="6372225" y="33115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Oval 27"/>
          <p:cNvSpPr>
            <a:spLocks noChangeArrowheads="1"/>
          </p:cNvSpPr>
          <p:nvPr/>
        </p:nvSpPr>
        <p:spPr bwMode="auto">
          <a:xfrm>
            <a:off x="7092950" y="33115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Oval 28"/>
          <p:cNvSpPr>
            <a:spLocks noChangeArrowheads="1"/>
          </p:cNvSpPr>
          <p:nvPr/>
        </p:nvSpPr>
        <p:spPr bwMode="auto">
          <a:xfrm>
            <a:off x="7740650" y="33115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596188" y="2663825"/>
            <a:ext cx="360362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Oval 30"/>
          <p:cNvSpPr>
            <a:spLocks noChangeArrowheads="1"/>
          </p:cNvSpPr>
          <p:nvPr/>
        </p:nvSpPr>
        <p:spPr bwMode="auto">
          <a:xfrm>
            <a:off x="5724525" y="33115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Oval 31"/>
          <p:cNvSpPr>
            <a:spLocks noChangeArrowheads="1"/>
          </p:cNvSpPr>
          <p:nvPr/>
        </p:nvSpPr>
        <p:spPr bwMode="auto">
          <a:xfrm>
            <a:off x="8172450" y="26638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412750" y="1223963"/>
            <a:ext cx="75438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拓扑排序算法的示例演示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46"/>
          <p:cNvSpPr txBox="1">
            <a:spLocks noChangeArrowheads="1"/>
          </p:cNvSpPr>
          <p:nvPr/>
        </p:nvSpPr>
        <p:spPr bwMode="auto">
          <a:xfrm>
            <a:off x="900113" y="4648200"/>
            <a:ext cx="7632700" cy="85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讨论：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如果顶点还没有输出完而找不到入度为零的顶点怎么办？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57"/>
          <p:cNvSpPr txBox="1">
            <a:spLocks noChangeArrowheads="1"/>
          </p:cNvSpPr>
          <p:nvPr/>
        </p:nvSpPr>
        <p:spPr bwMode="auto">
          <a:xfrm>
            <a:off x="900113" y="5791200"/>
            <a:ext cx="76327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答案：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存在环路，无法进行拓扑排序，退出。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4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/>
      <p:bldP spid="4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3A106-372A-49A9-97FA-FD58D7FA68E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42988" y="2459037"/>
            <a:ext cx="6480175" cy="3332163"/>
          </a:xfrm>
          <a:prstGeom prst="rect">
            <a:avLst/>
          </a:prstGeom>
          <a:noFill/>
          <a:ln w="9525" algn="ctr">
            <a:solidFill>
              <a:srgbClr val="0F6FC6"/>
            </a:solidFill>
            <a:miter lim="800000"/>
          </a:ln>
        </p:spPr>
        <p:txBody>
          <a:bodyPr lIns="90000" tIns="90000" rIns="90000" bIns="9000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一个有向图的拓扑序列不一定唯一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;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有向无环图一定存在拓扑序列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;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有向有环图不存在拓扑序列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;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(4)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通过构造拓扑序列，可判定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网是否存在环。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395288" y="1293812"/>
            <a:ext cx="48958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拓扑排序特点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2A54-4FBF-43B8-8E46-052572BF2C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1295400"/>
            <a:ext cx="7543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拓扑排序算法的基本思想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57250" y="2532063"/>
            <a:ext cx="7543800" cy="3154362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在有向图中选一个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入度为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的顶点输出。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从图中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删除该顶点及所有它的出边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重复执行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，直到全部顶点均已输出，或图中剩余顶点的入度均不为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说明图中存在回路，无法继续拓扑排序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A1F1D-BD07-4106-9688-71AD09C8754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2"/>
          <p:cNvGraphicFramePr>
            <a:graphicFrameLocks noGrp="1"/>
          </p:cNvGraphicFramePr>
          <p:nvPr/>
        </p:nvGraphicFramePr>
        <p:xfrm>
          <a:off x="3371850" y="2074862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10"/>
          <p:cNvGraphicFramePr>
            <a:graphicFrameLocks noGrp="1"/>
          </p:cNvGraphicFramePr>
          <p:nvPr/>
        </p:nvGraphicFramePr>
        <p:xfrm>
          <a:off x="3371850" y="3370262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4090988" y="3590925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6" name="Group 19"/>
          <p:cNvGraphicFramePr>
            <a:graphicFrameLocks noGrp="1"/>
          </p:cNvGraphicFramePr>
          <p:nvPr/>
        </p:nvGraphicFramePr>
        <p:xfrm>
          <a:off x="4811713" y="3375025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27"/>
          <p:cNvGraphicFramePr>
            <a:graphicFrameLocks noGrp="1"/>
          </p:cNvGraphicFramePr>
          <p:nvPr/>
        </p:nvGraphicFramePr>
        <p:xfrm>
          <a:off x="3444875" y="5087937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35"/>
          <p:cNvGraphicFramePr>
            <a:graphicFrameLocks noGrp="1"/>
          </p:cNvGraphicFramePr>
          <p:nvPr/>
        </p:nvGraphicFramePr>
        <p:xfrm>
          <a:off x="3371850" y="4017962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Group 43"/>
          <p:cNvGraphicFramePr>
            <a:graphicFrameLocks noGrp="1"/>
          </p:cNvGraphicFramePr>
          <p:nvPr/>
        </p:nvGraphicFramePr>
        <p:xfrm>
          <a:off x="2076450" y="2001837"/>
          <a:ext cx="889000" cy="3600448"/>
        </p:xfrm>
        <a:graphic>
          <a:graphicData uri="http://schemas.openxmlformats.org/drawingml/2006/table">
            <a:tbl>
              <a:tblPr/>
              <a:tblGrid>
                <a:gridCol w="409575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Line 66"/>
          <p:cNvSpPr>
            <a:spLocks noChangeShapeType="1"/>
          </p:cNvSpPr>
          <p:nvPr/>
        </p:nvSpPr>
        <p:spPr bwMode="auto">
          <a:xfrm>
            <a:off x="2652713" y="352425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67"/>
          <p:cNvSpPr>
            <a:spLocks noChangeShapeType="1"/>
          </p:cNvSpPr>
          <p:nvPr/>
        </p:nvSpPr>
        <p:spPr bwMode="auto">
          <a:xfrm>
            <a:off x="2724150" y="5303837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2" name="Group 68"/>
          <p:cNvGraphicFramePr>
            <a:graphicFrameLocks noGrp="1"/>
          </p:cNvGraphicFramePr>
          <p:nvPr/>
        </p:nvGraphicFramePr>
        <p:xfrm>
          <a:off x="4811713" y="2074862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Line 76"/>
          <p:cNvSpPr>
            <a:spLocks noChangeShapeType="1"/>
          </p:cNvSpPr>
          <p:nvPr/>
        </p:nvSpPr>
        <p:spPr bwMode="auto">
          <a:xfrm>
            <a:off x="4164013" y="2290762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4" name="Group 77"/>
          <p:cNvGraphicFramePr>
            <a:graphicFrameLocks noGrp="1"/>
          </p:cNvGraphicFramePr>
          <p:nvPr/>
        </p:nvGraphicFramePr>
        <p:xfrm>
          <a:off x="4884738" y="5092700"/>
          <a:ext cx="863600" cy="427038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Line 85"/>
          <p:cNvSpPr>
            <a:spLocks noChangeShapeType="1"/>
          </p:cNvSpPr>
          <p:nvPr/>
        </p:nvSpPr>
        <p:spPr bwMode="auto">
          <a:xfrm>
            <a:off x="4164013" y="5313362"/>
            <a:ext cx="7207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6" name="Group 86"/>
          <p:cNvGraphicFramePr>
            <a:graphicFrameLocks noGrp="1"/>
          </p:cNvGraphicFramePr>
          <p:nvPr/>
        </p:nvGraphicFramePr>
        <p:xfrm>
          <a:off x="6251575" y="2074862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Line 94"/>
          <p:cNvSpPr>
            <a:spLocks noChangeShapeType="1"/>
          </p:cNvSpPr>
          <p:nvPr/>
        </p:nvSpPr>
        <p:spPr bwMode="auto">
          <a:xfrm>
            <a:off x="5603875" y="2290762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8" name="Line 95"/>
          <p:cNvSpPr>
            <a:spLocks noChangeShapeType="1"/>
          </p:cNvSpPr>
          <p:nvPr/>
        </p:nvSpPr>
        <p:spPr bwMode="auto">
          <a:xfrm>
            <a:off x="2652713" y="2290762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9" name="Line 96"/>
          <p:cNvSpPr>
            <a:spLocks noChangeShapeType="1"/>
          </p:cNvSpPr>
          <p:nvPr/>
        </p:nvSpPr>
        <p:spPr bwMode="auto">
          <a:xfrm>
            <a:off x="2652713" y="4160837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0" name="Group 98"/>
          <p:cNvGraphicFramePr>
            <a:graphicFrameLocks noGrp="1"/>
          </p:cNvGraphicFramePr>
          <p:nvPr/>
        </p:nvGraphicFramePr>
        <p:xfrm>
          <a:off x="3109913" y="5948362"/>
          <a:ext cx="5224463" cy="519112"/>
        </p:xfrm>
        <a:graphic>
          <a:graphicData uri="http://schemas.openxmlformats.org/drawingml/2006/table">
            <a:tbl>
              <a:tblPr/>
              <a:tblGrid>
                <a:gridCol w="871538"/>
                <a:gridCol w="869950"/>
                <a:gridCol w="871537"/>
                <a:gridCol w="869950"/>
                <a:gridCol w="871538"/>
                <a:gridCol w="869950"/>
              </a:tblGrid>
              <a:tr h="5191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Text Box 114"/>
          <p:cNvSpPr txBox="1">
            <a:spLocks noChangeArrowheads="1"/>
          </p:cNvSpPr>
          <p:nvPr/>
        </p:nvSpPr>
        <p:spPr bwMode="auto">
          <a:xfrm>
            <a:off x="1154113" y="5976937"/>
            <a:ext cx="1539875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indegree[]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" name="Group 115"/>
          <p:cNvGraphicFramePr>
            <a:graphicFrameLocks noGrp="1"/>
          </p:cNvGraphicFramePr>
          <p:nvPr/>
        </p:nvGraphicFramePr>
        <p:xfrm>
          <a:off x="7621588" y="1724025"/>
          <a:ext cx="600075" cy="3241674"/>
        </p:xfrm>
        <a:graphic>
          <a:graphicData uri="http://schemas.openxmlformats.org/drawingml/2006/table">
            <a:tbl>
              <a:tblPr/>
              <a:tblGrid>
                <a:gridCol w="600075"/>
              </a:tblGrid>
              <a:tr h="5413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" name="Text Box 131"/>
          <p:cNvSpPr txBox="1">
            <a:spLocks noChangeArrowheads="1"/>
          </p:cNvSpPr>
          <p:nvPr/>
        </p:nvSpPr>
        <p:spPr bwMode="auto">
          <a:xfrm>
            <a:off x="7772400" y="5319712"/>
            <a:ext cx="357188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栈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Text Box 132"/>
          <p:cNvSpPr txBox="1">
            <a:spLocks noChangeArrowheads="1"/>
          </p:cNvSpPr>
          <p:nvPr/>
        </p:nvSpPr>
        <p:spPr bwMode="auto">
          <a:xfrm>
            <a:off x="7758113" y="4486275"/>
            <a:ext cx="3556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133"/>
          <p:cNvSpPr txBox="1">
            <a:spLocks noChangeArrowheads="1"/>
          </p:cNvSpPr>
          <p:nvPr/>
        </p:nvSpPr>
        <p:spPr bwMode="auto">
          <a:xfrm>
            <a:off x="7716838" y="3914775"/>
            <a:ext cx="3556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Text Box 134"/>
          <p:cNvSpPr txBox="1">
            <a:spLocks noChangeArrowheads="1"/>
          </p:cNvSpPr>
          <p:nvPr/>
        </p:nvSpPr>
        <p:spPr bwMode="auto">
          <a:xfrm>
            <a:off x="7716838" y="4491037"/>
            <a:ext cx="35560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v4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Text Box 135"/>
          <p:cNvSpPr txBox="1">
            <a:spLocks noChangeArrowheads="1"/>
          </p:cNvSpPr>
          <p:nvPr/>
        </p:nvSpPr>
        <p:spPr bwMode="auto">
          <a:xfrm>
            <a:off x="7716838" y="3914775"/>
            <a:ext cx="3556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Text Box 136"/>
          <p:cNvSpPr txBox="1">
            <a:spLocks noChangeArrowheads="1"/>
          </p:cNvSpPr>
          <p:nvPr/>
        </p:nvSpPr>
        <p:spPr bwMode="auto">
          <a:xfrm>
            <a:off x="6900863" y="5919787"/>
            <a:ext cx="276225" cy="436563"/>
          </a:xfrm>
          <a:prstGeom prst="rect">
            <a:avLst/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137"/>
          <p:cNvSpPr txBox="1">
            <a:spLocks noChangeArrowheads="1"/>
          </p:cNvSpPr>
          <p:nvPr/>
        </p:nvSpPr>
        <p:spPr bwMode="auto">
          <a:xfrm>
            <a:off x="4308475" y="5919787"/>
            <a:ext cx="266700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Text Box 138"/>
          <p:cNvSpPr txBox="1">
            <a:spLocks noChangeArrowheads="1"/>
          </p:cNvSpPr>
          <p:nvPr/>
        </p:nvSpPr>
        <p:spPr bwMode="auto">
          <a:xfrm>
            <a:off x="6037263" y="5919787"/>
            <a:ext cx="266700" cy="427038"/>
          </a:xfrm>
          <a:prstGeom prst="rect">
            <a:avLst/>
          </a:prstGeom>
          <a:solidFill>
            <a:srgbClr val="E2D700"/>
          </a:solidFill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Text Box 139"/>
          <p:cNvSpPr txBox="1">
            <a:spLocks noChangeArrowheads="1"/>
          </p:cNvSpPr>
          <p:nvPr/>
        </p:nvSpPr>
        <p:spPr bwMode="auto">
          <a:xfrm>
            <a:off x="6037263" y="5919787"/>
            <a:ext cx="266700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140"/>
          <p:cNvSpPr txBox="1">
            <a:spLocks noChangeArrowheads="1"/>
          </p:cNvSpPr>
          <p:nvPr/>
        </p:nvSpPr>
        <p:spPr bwMode="auto">
          <a:xfrm>
            <a:off x="5106988" y="5919787"/>
            <a:ext cx="266700" cy="427038"/>
          </a:xfrm>
          <a:prstGeom prst="rect">
            <a:avLst/>
          </a:prstGeom>
          <a:solidFill>
            <a:srgbClr val="04617B"/>
          </a:solidFill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42"/>
          <p:cNvSpPr txBox="1">
            <a:spLocks noChangeArrowheads="1"/>
          </p:cNvSpPr>
          <p:nvPr/>
        </p:nvSpPr>
        <p:spPr bwMode="auto">
          <a:xfrm>
            <a:off x="395288" y="1066800"/>
            <a:ext cx="61928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拓扑排序算法演示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部分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143"/>
          <p:cNvSpPr txBox="1">
            <a:spLocks noChangeArrowheads="1"/>
          </p:cNvSpPr>
          <p:nvPr/>
        </p:nvSpPr>
        <p:spPr bwMode="auto">
          <a:xfrm>
            <a:off x="3314700" y="6477000"/>
            <a:ext cx="5400675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0F6FC6">
                <a:gamma/>
                <a:shade val="60000"/>
                <a:invGamma/>
              </a:srgbClr>
            </a:prst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v1       v2       v3        v4       v5      v6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5" name="Text Box 144"/>
          <p:cNvSpPr txBox="1">
            <a:spLocks noChangeArrowheads="1"/>
          </p:cNvSpPr>
          <p:nvPr/>
        </p:nvSpPr>
        <p:spPr bwMode="auto">
          <a:xfrm>
            <a:off x="928688" y="5608637"/>
            <a:ext cx="14224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rgbClr val="0F6FC6">
                <a:gamma/>
                <a:shade val="60000"/>
                <a:invGamma/>
              </a:srgbClr>
            </a:prst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</a:rPr>
              <a:t>入度已知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46" name="Group 18"/>
          <p:cNvGraphicFramePr>
            <a:graphicFrameLocks noGrp="1"/>
          </p:cNvGraphicFramePr>
          <p:nvPr/>
        </p:nvGraphicFramePr>
        <p:xfrm>
          <a:off x="1071538" y="1608122"/>
          <a:ext cx="1879599" cy="36576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960791"/>
                <a:gridCol w="918808"/>
              </a:tblGrid>
              <a:tr h="3349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data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firstarc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Group 3"/>
          <p:cNvGraphicFramePr>
            <a:graphicFrameLocks noGrp="1"/>
          </p:cNvGraphicFramePr>
          <p:nvPr/>
        </p:nvGraphicFramePr>
        <p:xfrm>
          <a:off x="3286116" y="1536684"/>
          <a:ext cx="2357454" cy="36792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89384"/>
                <a:gridCol w="1468070"/>
              </a:tblGrid>
              <a:tr h="35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adjvex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nextarc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4" grpId="1"/>
      <p:bldP spid="35" grpId="0"/>
      <p:bldP spid="35" grpId="1"/>
      <p:bldP spid="36" grpId="0"/>
      <p:bldP spid="37" grpId="0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7CEC-51B2-4077-A191-DDB4EF7F7A1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82625" y="1949450"/>
            <a:ext cx="8066088" cy="445135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marL="495300" indent="-4953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增加一个存放各顶点入度的数组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indegree[]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95300" indent="-4953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扫描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indegree[],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将入度为零的顶点入栈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95300" indent="-4953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(2)while(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栈非空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 {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52500" lvl="1" indent="-4953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弹出栈顶元素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vi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并输出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;</a:t>
            </a:r>
            <a:endParaRPr kumimoji="1" lang="en-US" altLang="zh-CN" sz="2800" b="1" dirty="0">
              <a:solidFill>
                <a:srgbClr val="0000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52500" lvl="1" indent="-4953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检查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vi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的出边表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将每条出边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&lt;</a:t>
            </a:r>
            <a:r>
              <a:rPr kumimoji="1" lang="en-US" altLang="zh-CN" sz="2800" b="1" dirty="0" err="1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vi,vj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&gt;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终点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vj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的入度减</a:t>
            </a:r>
            <a:r>
              <a:rPr kumimoji="1"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kumimoji="1" lang="en-US" altLang="zh-CN" sz="2800" b="1" dirty="0">
              <a:solidFill>
                <a:srgbClr val="0000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52500" lvl="1" indent="-4953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kumimoji="1" lang="en-US" altLang="zh-CN" sz="2800" b="1" dirty="0" err="1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vj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的入度减至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0,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kumimoji="1" lang="en-US" altLang="zh-CN" sz="2800" b="1" dirty="0" err="1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vj</a:t>
            </a:r>
            <a:r>
              <a:rPr kumimoji="1" lang="zh-CN" altLang="en-US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入栈</a:t>
            </a:r>
            <a:r>
              <a:rPr kumimoji="1" lang="en-US" altLang="zh-CN" sz="2800" b="1" dirty="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;</a:t>
            </a:r>
            <a:endParaRPr kumimoji="1" lang="en-US" altLang="zh-CN" sz="2800" b="1" dirty="0">
              <a:solidFill>
                <a:srgbClr val="0000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95300" indent="-4953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}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95300" indent="-4953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若输出的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顶点数小于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则“有回路”；否则正常结束。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23850" y="1228725"/>
            <a:ext cx="6192838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拓扑排序算法概要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AF6B-7A51-47AF-AC09-D3C6DC33234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71500" y="1487487"/>
            <a:ext cx="7743825" cy="5294313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FindInDegree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ALGraph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G,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indegree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[])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对各顶点求入度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indegree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[0..vernum-1]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ArcNode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*p;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(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=0;i&lt;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G.VExnum;i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++) 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{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p=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G.VErtices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].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firstarc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while (p)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{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indegree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[p-&gt;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adjvex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]++;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p=p-&gt;next;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}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}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288" y="1143000"/>
            <a:ext cx="61928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求各顶点入度的算法详解</a:t>
            </a:r>
            <a:endParaRPr kumimoji="1" lang="zh-CN" altLang="en-US" sz="2800" b="1" dirty="0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" name="Group 2"/>
          <p:cNvGraphicFramePr>
            <a:graphicFrameLocks noGrp="1"/>
          </p:cNvGraphicFramePr>
          <p:nvPr/>
        </p:nvGraphicFramePr>
        <p:xfrm>
          <a:off x="4757738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Group 43"/>
          <p:cNvGraphicFramePr>
            <a:graphicFrameLocks noGrp="1"/>
          </p:cNvGraphicFramePr>
          <p:nvPr/>
        </p:nvGraphicFramePr>
        <p:xfrm>
          <a:off x="3462338" y="5608638"/>
          <a:ext cx="889000" cy="1209674"/>
        </p:xfrm>
        <a:graphic>
          <a:graphicData uri="http://schemas.openxmlformats.org/drawingml/2006/table">
            <a:tbl>
              <a:tblPr/>
              <a:tblGrid>
                <a:gridCol w="409575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68"/>
          <p:cNvGraphicFramePr>
            <a:graphicFrameLocks noGrp="1"/>
          </p:cNvGraphicFramePr>
          <p:nvPr/>
        </p:nvGraphicFramePr>
        <p:xfrm>
          <a:off x="6197600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Line 76"/>
          <p:cNvSpPr>
            <a:spLocks noChangeShapeType="1"/>
          </p:cNvSpPr>
          <p:nvPr/>
        </p:nvSpPr>
        <p:spPr bwMode="auto">
          <a:xfrm>
            <a:off x="5549900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86"/>
          <p:cNvGraphicFramePr>
            <a:graphicFrameLocks noGrp="1"/>
          </p:cNvGraphicFramePr>
          <p:nvPr/>
        </p:nvGraphicFramePr>
        <p:xfrm>
          <a:off x="7637463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Line 94"/>
          <p:cNvSpPr>
            <a:spLocks noChangeShapeType="1"/>
          </p:cNvSpPr>
          <p:nvPr/>
        </p:nvSpPr>
        <p:spPr bwMode="auto">
          <a:xfrm>
            <a:off x="6989763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1" name="Line 95"/>
          <p:cNvSpPr>
            <a:spLocks noChangeShapeType="1"/>
          </p:cNvSpPr>
          <p:nvPr/>
        </p:nvSpPr>
        <p:spPr bwMode="auto">
          <a:xfrm>
            <a:off x="4038600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2457424" y="5214950"/>
          <a:ext cx="1879599" cy="36576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960791"/>
                <a:gridCol w="918808"/>
              </a:tblGrid>
              <a:tr h="3349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data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firstarc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Group 3"/>
          <p:cNvGraphicFramePr>
            <a:graphicFrameLocks noGrp="1"/>
          </p:cNvGraphicFramePr>
          <p:nvPr/>
        </p:nvGraphicFramePr>
        <p:xfrm>
          <a:off x="4672002" y="5143512"/>
          <a:ext cx="2357454" cy="36792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89384"/>
                <a:gridCol w="1468070"/>
              </a:tblGrid>
              <a:tr h="35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adjvex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nextarc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2701925" y="5786438"/>
            <a:ext cx="36988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5" name="直接箭头连接符 15"/>
          <p:cNvCxnSpPr>
            <a:cxnSpLocks noChangeShapeType="1"/>
            <a:stCxn id="24" idx="3"/>
          </p:cNvCxnSpPr>
          <p:nvPr/>
        </p:nvCxnSpPr>
        <p:spPr bwMode="auto">
          <a:xfrm flipV="1">
            <a:off x="3071813" y="5786438"/>
            <a:ext cx="357187" cy="246062"/>
          </a:xfrm>
          <a:prstGeom prst="straightConnector1">
            <a:avLst/>
          </a:prstGeom>
          <a:noFill/>
          <a:ln w="28575" algn="ctr">
            <a:solidFill>
              <a:srgbClr val="0707F9"/>
            </a:solidFill>
            <a:miter lim="800000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4D6C-25A9-4585-8DC6-8F2899CADE7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38200" y="1589087"/>
            <a:ext cx="7848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95288" y="1719262"/>
            <a:ext cx="8569325" cy="517048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Status TopologicalSort(ALGraph G) {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SqStack S;  int count,k,i;  ArcNode *p;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int indegree[MAX_VERTEX_NUM];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FindInDegree(G, indegree);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对各顶点求入度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InitStack(S);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for (i=0; i&lt;G.Vexnum; ++i)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建零入度顶点栈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if (!indegree[i]) Push(S, i);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入度为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者进栈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count = 0;             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对输出顶点计数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while (!StackEmpty(S))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{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Pop(S, i);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printf(i, G.Vertices[i].data);  ++count;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//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输入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号顶点并计数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95288" y="1143000"/>
            <a:ext cx="61928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拓扑排序算法详解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72D1-9263-44AB-951A-84BAEA3207A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38200" y="1066800"/>
            <a:ext cx="7848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39750" y="1447800"/>
            <a:ext cx="7920038" cy="39401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号顶点的每个邻接点的入度减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for (p=G.vertices[i].firstarc;  p;  p=p-&gt;nextarc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)      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{ k = p-&gt;adjvex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if (!(--indegree[k])) Push(S, k);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入度为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的入栈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}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}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if (count&lt;G.Vexnum) return ERROR;    //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有回路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else return OK;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} // TopologicalSort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5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019925" y="852488"/>
            <a:ext cx="1800225" cy="519112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接上页</a:t>
            </a:r>
            <a:endParaRPr kumimoji="1" lang="zh-CN" altLang="en-US" sz="3600" b="1" i="0" u="sng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95288" y="990600"/>
            <a:ext cx="61928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6600CC"/>
                </a:solidFill>
                <a:latin typeface="Times New Roman" panose="02020603050405020304" pitchFamily="18" charset="0"/>
              </a:rPr>
              <a:t>拓扑排序算法详解</a:t>
            </a:r>
            <a:endParaRPr kumimoji="1" lang="zh-CN" altLang="en-US" sz="2800" b="1" dirty="0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Group 2"/>
          <p:cNvGraphicFramePr>
            <a:graphicFrameLocks noGrp="1"/>
          </p:cNvGraphicFramePr>
          <p:nvPr/>
        </p:nvGraphicFramePr>
        <p:xfrm>
          <a:off x="4757738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43"/>
          <p:cNvGraphicFramePr>
            <a:graphicFrameLocks noGrp="1"/>
          </p:cNvGraphicFramePr>
          <p:nvPr/>
        </p:nvGraphicFramePr>
        <p:xfrm>
          <a:off x="3462338" y="5608638"/>
          <a:ext cx="889000" cy="1209674"/>
        </p:xfrm>
        <a:graphic>
          <a:graphicData uri="http://schemas.openxmlformats.org/drawingml/2006/table">
            <a:tbl>
              <a:tblPr/>
              <a:tblGrid>
                <a:gridCol w="409575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Group 68"/>
          <p:cNvGraphicFramePr>
            <a:graphicFrameLocks noGrp="1"/>
          </p:cNvGraphicFramePr>
          <p:nvPr/>
        </p:nvGraphicFramePr>
        <p:xfrm>
          <a:off x="6197600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Line 76"/>
          <p:cNvSpPr>
            <a:spLocks noChangeShapeType="1"/>
          </p:cNvSpPr>
          <p:nvPr/>
        </p:nvSpPr>
        <p:spPr bwMode="auto">
          <a:xfrm>
            <a:off x="5549900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1" name="Group 86"/>
          <p:cNvGraphicFramePr>
            <a:graphicFrameLocks noGrp="1"/>
          </p:cNvGraphicFramePr>
          <p:nvPr/>
        </p:nvGraphicFramePr>
        <p:xfrm>
          <a:off x="7637463" y="5681663"/>
          <a:ext cx="86360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511175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Line 94"/>
          <p:cNvSpPr>
            <a:spLocks noChangeShapeType="1"/>
          </p:cNvSpPr>
          <p:nvPr/>
        </p:nvSpPr>
        <p:spPr bwMode="auto">
          <a:xfrm>
            <a:off x="6989763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3" name="Line 95"/>
          <p:cNvSpPr>
            <a:spLocks noChangeShapeType="1"/>
          </p:cNvSpPr>
          <p:nvPr/>
        </p:nvSpPr>
        <p:spPr bwMode="auto">
          <a:xfrm>
            <a:off x="4038600" y="5897563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4" name="Group 18"/>
          <p:cNvGraphicFramePr>
            <a:graphicFrameLocks noGrp="1"/>
          </p:cNvGraphicFramePr>
          <p:nvPr/>
        </p:nvGraphicFramePr>
        <p:xfrm>
          <a:off x="2457424" y="5214950"/>
          <a:ext cx="1879599" cy="36576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960791"/>
                <a:gridCol w="918808"/>
              </a:tblGrid>
              <a:tr h="3349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data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firstarc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Group 3"/>
          <p:cNvGraphicFramePr>
            <a:graphicFrameLocks noGrp="1"/>
          </p:cNvGraphicFramePr>
          <p:nvPr/>
        </p:nvGraphicFramePr>
        <p:xfrm>
          <a:off x="4672002" y="5143512"/>
          <a:ext cx="2357454" cy="36792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89384"/>
                <a:gridCol w="1468070"/>
              </a:tblGrid>
              <a:tr h="35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adjvex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nextarc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TextBox 15"/>
          <p:cNvSpPr txBox="1">
            <a:spLocks noChangeArrowheads="1"/>
          </p:cNvSpPr>
          <p:nvPr/>
        </p:nvSpPr>
        <p:spPr bwMode="auto">
          <a:xfrm>
            <a:off x="2701925" y="5786438"/>
            <a:ext cx="36988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" name="直接箭头连接符 16"/>
          <p:cNvCxnSpPr>
            <a:cxnSpLocks noChangeShapeType="1"/>
            <a:stCxn id="26" idx="3"/>
          </p:cNvCxnSpPr>
          <p:nvPr/>
        </p:nvCxnSpPr>
        <p:spPr bwMode="auto">
          <a:xfrm flipV="1">
            <a:off x="3071813" y="5786438"/>
            <a:ext cx="357187" cy="246062"/>
          </a:xfrm>
          <a:prstGeom prst="straightConnector1">
            <a:avLst/>
          </a:prstGeom>
          <a:noFill/>
          <a:ln w="28575" algn="ctr">
            <a:solidFill>
              <a:srgbClr val="0707F9"/>
            </a:solidFill>
            <a:miter lim="800000"/>
            <a:tailEnd type="arrow" w="med" len="med"/>
          </a:ln>
        </p:spPr>
      </p:cxnSp>
      <p:sp>
        <p:nvSpPr>
          <p:cNvPr id="28" name="TextBox 17"/>
          <p:cNvSpPr txBox="1">
            <a:spLocks noChangeArrowheads="1"/>
          </p:cNvSpPr>
          <p:nvPr/>
        </p:nvSpPr>
        <p:spPr bwMode="auto">
          <a:xfrm>
            <a:off x="4773613" y="6080125"/>
            <a:ext cx="36988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6D11-6E2B-4D0F-A132-858D00B8F69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3"/>
          <p:cNvGraphicFramePr>
            <a:graphicFrameLocks noGrp="1"/>
          </p:cNvGraphicFramePr>
          <p:nvPr/>
        </p:nvGraphicFramePr>
        <p:xfrm>
          <a:off x="4071934" y="3014668"/>
          <a:ext cx="2357454" cy="36792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89384"/>
                <a:gridCol w="1468070"/>
              </a:tblGrid>
              <a:tr h="35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adjvex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nextarc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14438" y="3014663"/>
          <a:ext cx="2333619" cy="365760"/>
        </p:xfrm>
        <a:graphic>
          <a:graphicData uri="http://schemas.openxmlformats.org/drawingml/2006/table">
            <a:tbl>
              <a:tblPr firstRow="1" bandRow="1"/>
              <a:tblGrid>
                <a:gridCol w="734901"/>
                <a:gridCol w="421573"/>
                <a:gridCol w="1177145"/>
              </a:tblGrid>
              <a:tr h="3174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data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firstarc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254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238250" y="3657600"/>
          <a:ext cx="2333619" cy="1828800"/>
        </p:xfrm>
        <a:graphic>
          <a:graphicData uri="http://schemas.openxmlformats.org/drawingml/2006/table">
            <a:tbl>
              <a:tblPr firstRow="1" bandRow="1"/>
              <a:tblGrid>
                <a:gridCol w="777873"/>
                <a:gridCol w="777873"/>
                <a:gridCol w="777873"/>
              </a:tblGrid>
              <a:tr h="334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>
                          <a:latin typeface="+mn-ea"/>
                          <a:ea typeface="+mn-ea"/>
                        </a:rPr>
                        <a:t>v1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</a:tr>
              <a:tr h="334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v2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</a:tr>
              <a:tr h="334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v3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</a:tr>
              <a:tr h="334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v4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40000"/>
                      </a:srgbClr>
                    </a:solidFill>
                  </a:tcPr>
                </a:tc>
              </a:tr>
              <a:tr h="3349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v5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9DD9"/>
                      </a:solidFill>
                    </a:lnL>
                    <a:lnR w="12700" cmpd="sng">
                      <a:solidFill>
                        <a:srgbClr val="009DD9"/>
                      </a:solidFill>
                    </a:lnR>
                    <a:lnT w="12700" cmpd="sng">
                      <a:solidFill>
                        <a:srgbClr val="009DD9"/>
                      </a:solidFill>
                    </a:lnT>
                    <a:lnB w="12700" cmpd="sng">
                      <a:solidFill>
                        <a:srgbClr val="009DD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6" name="直接箭头连接符 8"/>
          <p:cNvCxnSpPr>
            <a:cxnSpLocks noChangeShapeType="1"/>
          </p:cNvCxnSpPr>
          <p:nvPr/>
        </p:nvCxnSpPr>
        <p:spPr bwMode="auto">
          <a:xfrm>
            <a:off x="3143250" y="3871913"/>
            <a:ext cx="1000125" cy="1587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17" name="直接箭头连接符 9"/>
          <p:cNvCxnSpPr>
            <a:cxnSpLocks noChangeShapeType="1"/>
          </p:cNvCxnSpPr>
          <p:nvPr/>
        </p:nvCxnSpPr>
        <p:spPr bwMode="auto">
          <a:xfrm>
            <a:off x="3143250" y="4227513"/>
            <a:ext cx="1000125" cy="1587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18" name="直接箭头连接符 10"/>
          <p:cNvCxnSpPr>
            <a:cxnSpLocks noChangeShapeType="1"/>
          </p:cNvCxnSpPr>
          <p:nvPr/>
        </p:nvCxnSpPr>
        <p:spPr bwMode="auto">
          <a:xfrm>
            <a:off x="3143250" y="4584700"/>
            <a:ext cx="1000125" cy="1588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19" name="直接箭头连接符 11"/>
          <p:cNvCxnSpPr>
            <a:cxnSpLocks noChangeShapeType="1"/>
          </p:cNvCxnSpPr>
          <p:nvPr/>
        </p:nvCxnSpPr>
        <p:spPr bwMode="auto">
          <a:xfrm>
            <a:off x="3143250" y="4943475"/>
            <a:ext cx="1000125" cy="1588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cxnSp>
        <p:nvCxnSpPr>
          <p:cNvPr id="20" name="直接箭头连接符 12"/>
          <p:cNvCxnSpPr>
            <a:cxnSpLocks noChangeShapeType="1"/>
          </p:cNvCxnSpPr>
          <p:nvPr/>
        </p:nvCxnSpPr>
        <p:spPr bwMode="auto">
          <a:xfrm>
            <a:off x="3143250" y="5299075"/>
            <a:ext cx="1000125" cy="1588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miter lim="800000"/>
            <a:tailEnd type="arrow" w="med" len="med"/>
          </a:ln>
        </p:spPr>
      </p:cxn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395288" y="1249363"/>
            <a:ext cx="61928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存储结构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Box 14"/>
          <p:cNvSpPr txBox="1">
            <a:spLocks noChangeArrowheads="1"/>
          </p:cNvSpPr>
          <p:nvPr/>
        </p:nvSpPr>
        <p:spPr bwMode="auto">
          <a:xfrm>
            <a:off x="349250" y="1985963"/>
            <a:ext cx="8294688" cy="4619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采用邻接表作为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AOV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网的存储结构，在表头增设一个入度域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拓扑排序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9EF5-C7D7-4895-9479-72DA894D8EB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1211262"/>
            <a:ext cx="28067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95288" y="1981200"/>
            <a:ext cx="8248650" cy="44005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设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网有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个顶点，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条边。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）对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条弧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求各顶点的入度的时间复杂度是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O(e)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）初始建立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入度为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的顶点栈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，要检查所有顶点一次，执行时间为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O(n)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）排序中，若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AOV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网无回路，则每个顶点入、出栈各一次，每个边表结点被检查一次，执行时间为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n+e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拓扑排序算法的时间复杂度为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n+e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有向无环图的应用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FB6E-502A-4E16-81B5-AADAB9BFEA5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/>
          <p:cNvSpPr txBox="1"/>
          <p:nvPr/>
        </p:nvSpPr>
        <p:spPr bwMode="auto">
          <a:xfrm>
            <a:off x="179388" y="1146175"/>
            <a:ext cx="287972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p"/>
            </a:pPr>
            <a:r>
              <a:rPr kumimoji="1" lang="en-US" altLang="zh-CN" sz="2800" b="1" kern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kern="0">
                <a:solidFill>
                  <a:srgbClr val="006600"/>
                </a:solidFill>
                <a:latin typeface="Times New Roman" panose="02020603050405020304" pitchFamily="18" charset="0"/>
              </a:rPr>
              <a:t>问题提出</a:t>
            </a:r>
            <a:endParaRPr kumimoji="1" lang="zh-CN" altLang="en-US" sz="2800" b="1" kern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71563" y="1739900"/>
            <a:ext cx="6513512" cy="52387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拓扑排序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-AOV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网表示各工序的先后关系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81000" y="2525712"/>
            <a:ext cx="8458200" cy="379888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       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假设以有向网表示一个施工流图，弧上的权值表示完成该项子工程所需时间。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问：哪些子工程项是“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关键工程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”？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即：哪些子工程项将影响整个工程的完成期限的。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8547-D645-4DBA-91CA-7FEE4DD0BB9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71500" y="1957387"/>
            <a:ext cx="8001000" cy="954088"/>
          </a:xfrm>
          <a:prstGeom prst="rect">
            <a:avLst/>
          </a:prstGeom>
          <a:noFill/>
          <a:ln w="9525">
            <a:solidFill>
              <a:srgbClr val="009DD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带权的有向图无环图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顶点表示事件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边表示活动，权表示活动持续的时间。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Text Box 36"/>
          <p:cNvSpPr txBox="1">
            <a:spLocks noChangeArrowheads="1"/>
          </p:cNvSpPr>
          <p:nvPr/>
        </p:nvSpPr>
        <p:spPr bwMode="auto">
          <a:xfrm>
            <a:off x="395288" y="1292225"/>
            <a:ext cx="4537075" cy="1039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AOE(Activity On Edge)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网：</a:t>
            </a:r>
            <a:endParaRPr kumimoji="1" lang="en-US" altLang="zh-CN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auto">
          <a:xfrm>
            <a:off x="642938" y="3925887"/>
            <a:ext cx="8001000" cy="224631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表示实际工程计划的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AOE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网应该是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无回路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(2)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只有一个入度为零的顶点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称作源点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表示整个活动开始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(3)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只有一个出度为零的顶点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称作汇点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表示整个活动结束。 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00063" y="3171825"/>
            <a:ext cx="272573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AOE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网的特点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B456-9D2B-4F89-B066-94CCA787CA0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1954213"/>
            <a:ext cx="8248650" cy="6302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AOE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网中，路径长度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最长的路径称为关键路径。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6"/>
          <p:cNvSpPr txBox="1">
            <a:spLocks noChangeArrowheads="1"/>
          </p:cNvSpPr>
          <p:nvPr/>
        </p:nvSpPr>
        <p:spPr bwMode="auto">
          <a:xfrm>
            <a:off x="466725" y="1219200"/>
            <a:ext cx="25923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auto">
          <a:xfrm>
            <a:off x="500063" y="3756025"/>
            <a:ext cx="8286750" cy="6302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关键路径上的活动都是关键活动（关键工程）。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395288" y="3041650"/>
            <a:ext cx="25923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关键活动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0100" y="4598075"/>
            <a:ext cx="7358114" cy="2031325"/>
          </a:xfrm>
          <a:prstGeom prst="rect">
            <a:avLst/>
          </a:prstGeom>
          <a:solidFill>
            <a:srgbClr val="009DD9">
              <a:lumMod val="20000"/>
              <a:lumOff val="8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“关键活动”指的是：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该弧上（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工序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权值（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加工时间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）增加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将使有向图上的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最长路径（工程）的长度增加。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D9A1-FA35-45EF-9D20-E61D44E6D60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466725" y="1157288"/>
            <a:ext cx="45370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AOE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网图示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AutoShape 37"/>
          <p:cNvSpPr>
            <a:spLocks noChangeArrowheads="1"/>
          </p:cNvSpPr>
          <p:nvPr/>
        </p:nvSpPr>
        <p:spPr bwMode="auto">
          <a:xfrm flipH="1">
            <a:off x="395288" y="3211512"/>
            <a:ext cx="1081087" cy="936625"/>
          </a:xfrm>
          <a:prstGeom prst="wedgeRoundRectCallout">
            <a:avLst>
              <a:gd name="adj1" fmla="val -56759"/>
              <a:gd name="adj2" fmla="val -117458"/>
              <a:gd name="adj3" fmla="val 16667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rPr>
              <a:t>源点</a:t>
            </a: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AutoShape 38"/>
          <p:cNvSpPr>
            <a:spLocks noChangeArrowheads="1"/>
          </p:cNvSpPr>
          <p:nvPr/>
        </p:nvSpPr>
        <p:spPr bwMode="auto">
          <a:xfrm flipH="1">
            <a:off x="7524750" y="3284537"/>
            <a:ext cx="1079500" cy="936625"/>
          </a:xfrm>
          <a:prstGeom prst="wedgeRoundRectCallout">
            <a:avLst>
              <a:gd name="adj1" fmla="val 86028"/>
              <a:gd name="adj2" fmla="val -114579"/>
              <a:gd name="adj3" fmla="val 16667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rPr>
              <a:t>汇点</a:t>
            </a: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1857375" y="5149850"/>
            <a:ext cx="6000750" cy="1708150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讨论：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(1)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整个工程需要多少时间？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(2)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哪些活动是影响工程进度的关键？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71813" y="4437062"/>
            <a:ext cx="3200400" cy="49212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图中的弧表示子工程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组合 38"/>
          <p:cNvGrpSpPr/>
          <p:nvPr/>
        </p:nvGrpSpPr>
        <p:grpSpPr bwMode="auto">
          <a:xfrm>
            <a:off x="1643063" y="1643062"/>
            <a:ext cx="5643562" cy="2571750"/>
            <a:chOff x="1295400" y="228600"/>
            <a:chExt cx="6553200" cy="3200400"/>
          </a:xfrm>
        </p:grpSpPr>
        <p:sp>
          <p:nvSpPr>
            <p:cNvPr id="19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80D5-0F9A-45CA-BA63-A1F3B6F1057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466725" y="1249363"/>
            <a:ext cx="45370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AOE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网图示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AutoShape 37"/>
          <p:cNvSpPr>
            <a:spLocks noChangeArrowheads="1"/>
          </p:cNvSpPr>
          <p:nvPr/>
        </p:nvSpPr>
        <p:spPr bwMode="auto">
          <a:xfrm flipH="1">
            <a:off x="395288" y="3625850"/>
            <a:ext cx="1081087" cy="936625"/>
          </a:xfrm>
          <a:prstGeom prst="wedgeRoundRectCallout">
            <a:avLst>
              <a:gd name="adj1" fmla="val -56759"/>
              <a:gd name="adj2" fmla="val -117458"/>
              <a:gd name="adj3" fmla="val 16667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rPr>
              <a:t>源点</a:t>
            </a: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AutoShape 38"/>
          <p:cNvSpPr>
            <a:spLocks noChangeArrowheads="1"/>
          </p:cNvSpPr>
          <p:nvPr/>
        </p:nvSpPr>
        <p:spPr bwMode="auto">
          <a:xfrm flipH="1">
            <a:off x="7524750" y="3698875"/>
            <a:ext cx="1079500" cy="936625"/>
          </a:xfrm>
          <a:prstGeom prst="wedgeRoundRectCallout">
            <a:avLst>
              <a:gd name="adj1" fmla="val 86028"/>
              <a:gd name="adj2" fmla="val -114579"/>
              <a:gd name="adj3" fmla="val 16667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rPr>
              <a:t>汇点</a:t>
            </a: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714375" y="4921250"/>
            <a:ext cx="7143750" cy="1708150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答案：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最短时间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是从源点到汇点的最长路径长度。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最长路径上的活动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rPr>
              <a:t>是影响工程进度的关键。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组合 38"/>
          <p:cNvGrpSpPr/>
          <p:nvPr/>
        </p:nvGrpSpPr>
        <p:grpSpPr bwMode="auto">
          <a:xfrm>
            <a:off x="1643063" y="2057400"/>
            <a:ext cx="5643562" cy="2571750"/>
            <a:chOff x="1295400" y="228600"/>
            <a:chExt cx="6553200" cy="3200400"/>
          </a:xfrm>
        </p:grpSpPr>
        <p:sp>
          <p:nvSpPr>
            <p:cNvPr id="18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46E33-3A4D-4021-A5C6-C864294F18D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9750" y="1849438"/>
            <a:ext cx="8135938" cy="170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是从源点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v1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的最长路径长度，记作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ve(k)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。这个长度决定了所有从顶点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发出的活动能够开工的最早时间。</a:t>
            </a:r>
            <a:endParaRPr kumimoji="1"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62"/>
          <p:cNvSpPr txBox="1">
            <a:spLocks noChangeArrowheads="1"/>
          </p:cNvSpPr>
          <p:nvPr/>
        </p:nvSpPr>
        <p:spPr bwMode="auto">
          <a:xfrm>
            <a:off x="539750" y="1233487"/>
            <a:ext cx="67691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r>
              <a:rPr kumimoji="1" lang="zh-CN" altLang="en-US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的最早发生时间</a:t>
            </a:r>
            <a:endParaRPr kumimoji="1" lang="zh-CN" altLang="en-US" sz="2800" b="1" dirty="0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76275" y="3671888"/>
            <a:ext cx="7324725" cy="1471612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“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事件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顶点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)”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 最早发生时间 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ve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(j)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ve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(j) =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从源点到顶点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j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的最长路径长度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；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</p:txBody>
      </p:sp>
      <p:pic>
        <p:nvPicPr>
          <p:cNvPr id="16" name="Picture 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5419725"/>
            <a:ext cx="1655763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00288" y="5346700"/>
            <a:ext cx="632301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FF9AD-1CF0-4FD0-9E23-B7D74C4EB33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2"/>
          <p:cNvSpPr>
            <a:spLocks noChangeArrowheads="1"/>
          </p:cNvSpPr>
          <p:nvPr/>
        </p:nvSpPr>
        <p:spPr bwMode="auto">
          <a:xfrm>
            <a:off x="1700213" y="24384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Oval 3"/>
          <p:cNvSpPr>
            <a:spLocks noChangeArrowheads="1"/>
          </p:cNvSpPr>
          <p:nvPr/>
        </p:nvSpPr>
        <p:spPr bwMode="auto">
          <a:xfrm>
            <a:off x="3224213" y="16002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Oval 4"/>
          <p:cNvSpPr>
            <a:spLocks noChangeArrowheads="1"/>
          </p:cNvSpPr>
          <p:nvPr/>
        </p:nvSpPr>
        <p:spPr bwMode="auto">
          <a:xfrm>
            <a:off x="3224213" y="34290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Oval 5"/>
          <p:cNvSpPr>
            <a:spLocks noChangeArrowheads="1"/>
          </p:cNvSpPr>
          <p:nvPr/>
        </p:nvSpPr>
        <p:spPr bwMode="auto">
          <a:xfrm>
            <a:off x="2309813" y="4343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Oval 6"/>
          <p:cNvSpPr>
            <a:spLocks noChangeArrowheads="1"/>
          </p:cNvSpPr>
          <p:nvPr/>
        </p:nvSpPr>
        <p:spPr bwMode="auto">
          <a:xfrm>
            <a:off x="4748213" y="25146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Oval 7"/>
          <p:cNvSpPr>
            <a:spLocks noChangeArrowheads="1"/>
          </p:cNvSpPr>
          <p:nvPr/>
        </p:nvSpPr>
        <p:spPr bwMode="auto">
          <a:xfrm>
            <a:off x="5205413" y="4343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Oval 8"/>
          <p:cNvSpPr>
            <a:spLocks noChangeArrowheads="1"/>
          </p:cNvSpPr>
          <p:nvPr/>
        </p:nvSpPr>
        <p:spPr bwMode="auto">
          <a:xfrm>
            <a:off x="6272213" y="16002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Oval 9"/>
          <p:cNvSpPr>
            <a:spLocks noChangeArrowheads="1"/>
          </p:cNvSpPr>
          <p:nvPr/>
        </p:nvSpPr>
        <p:spPr bwMode="auto">
          <a:xfrm>
            <a:off x="6272213" y="34290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Oval 10"/>
          <p:cNvSpPr>
            <a:spLocks noChangeArrowheads="1"/>
          </p:cNvSpPr>
          <p:nvPr/>
        </p:nvSpPr>
        <p:spPr bwMode="auto">
          <a:xfrm>
            <a:off x="7796213" y="25146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V="1">
            <a:off x="2081213" y="18288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Line 12"/>
          <p:cNvSpPr>
            <a:spLocks noChangeShapeType="1"/>
          </p:cNvSpPr>
          <p:nvPr/>
        </p:nvSpPr>
        <p:spPr bwMode="auto">
          <a:xfrm>
            <a:off x="2157413" y="2667000"/>
            <a:ext cx="1143000" cy="9144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Line 13"/>
          <p:cNvSpPr>
            <a:spLocks noChangeShapeType="1"/>
          </p:cNvSpPr>
          <p:nvPr/>
        </p:nvSpPr>
        <p:spPr bwMode="auto">
          <a:xfrm flipV="1">
            <a:off x="3681413" y="28194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Line 14"/>
          <p:cNvSpPr>
            <a:spLocks noChangeShapeType="1"/>
          </p:cNvSpPr>
          <p:nvPr/>
        </p:nvSpPr>
        <p:spPr bwMode="auto">
          <a:xfrm>
            <a:off x="3681413" y="18288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Line 15"/>
          <p:cNvSpPr>
            <a:spLocks noChangeShapeType="1"/>
          </p:cNvSpPr>
          <p:nvPr/>
        </p:nvSpPr>
        <p:spPr bwMode="auto">
          <a:xfrm flipV="1">
            <a:off x="5129213" y="18288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" name="Line 16"/>
          <p:cNvSpPr>
            <a:spLocks noChangeShapeType="1"/>
          </p:cNvSpPr>
          <p:nvPr/>
        </p:nvSpPr>
        <p:spPr bwMode="auto">
          <a:xfrm>
            <a:off x="6729413" y="18288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Line 17"/>
          <p:cNvSpPr>
            <a:spLocks noChangeShapeType="1"/>
          </p:cNvSpPr>
          <p:nvPr/>
        </p:nvSpPr>
        <p:spPr bwMode="auto">
          <a:xfrm flipV="1">
            <a:off x="6729413" y="28956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Line 18"/>
          <p:cNvSpPr>
            <a:spLocks noChangeShapeType="1"/>
          </p:cNvSpPr>
          <p:nvPr/>
        </p:nvSpPr>
        <p:spPr bwMode="auto">
          <a:xfrm>
            <a:off x="5205413" y="2819400"/>
            <a:ext cx="1066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" name="Line 19"/>
          <p:cNvSpPr>
            <a:spLocks noChangeShapeType="1"/>
          </p:cNvSpPr>
          <p:nvPr/>
        </p:nvSpPr>
        <p:spPr bwMode="auto">
          <a:xfrm>
            <a:off x="1928813" y="2895600"/>
            <a:ext cx="609600" cy="1447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Line 20"/>
          <p:cNvSpPr>
            <a:spLocks noChangeShapeType="1"/>
          </p:cNvSpPr>
          <p:nvPr/>
        </p:nvSpPr>
        <p:spPr bwMode="auto">
          <a:xfrm>
            <a:off x="2767013" y="4572000"/>
            <a:ext cx="2438400" cy="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" name="Line 21"/>
          <p:cNvSpPr>
            <a:spLocks noChangeShapeType="1"/>
          </p:cNvSpPr>
          <p:nvPr/>
        </p:nvSpPr>
        <p:spPr bwMode="auto">
          <a:xfrm flipV="1">
            <a:off x="5662613" y="3810000"/>
            <a:ext cx="685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Text Box 22"/>
          <p:cNvSpPr txBox="1">
            <a:spLocks noChangeArrowheads="1"/>
          </p:cNvSpPr>
          <p:nvPr/>
        </p:nvSpPr>
        <p:spPr bwMode="auto">
          <a:xfrm>
            <a:off x="2303463" y="17065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" name="Text Box 23"/>
          <p:cNvSpPr txBox="1">
            <a:spLocks noChangeArrowheads="1"/>
          </p:cNvSpPr>
          <p:nvPr/>
        </p:nvSpPr>
        <p:spPr bwMode="auto">
          <a:xfrm>
            <a:off x="2538413" y="26209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Text Box 24"/>
          <p:cNvSpPr txBox="1">
            <a:spLocks noChangeArrowheads="1"/>
          </p:cNvSpPr>
          <p:nvPr/>
        </p:nvSpPr>
        <p:spPr bwMode="auto">
          <a:xfrm>
            <a:off x="2227263" y="3295650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Text Box 25"/>
          <p:cNvSpPr txBox="1">
            <a:spLocks noChangeArrowheads="1"/>
          </p:cNvSpPr>
          <p:nvPr/>
        </p:nvSpPr>
        <p:spPr bwMode="auto">
          <a:xfrm>
            <a:off x="3751263" y="40687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" name="Text Box 26"/>
          <p:cNvSpPr txBox="1">
            <a:spLocks noChangeArrowheads="1"/>
          </p:cNvSpPr>
          <p:nvPr/>
        </p:nvSpPr>
        <p:spPr bwMode="auto">
          <a:xfrm>
            <a:off x="4062413" y="17065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" name="Text Box 27"/>
          <p:cNvSpPr txBox="1">
            <a:spLocks noChangeArrowheads="1"/>
          </p:cNvSpPr>
          <p:nvPr/>
        </p:nvSpPr>
        <p:spPr bwMode="auto">
          <a:xfrm>
            <a:off x="3970338" y="2762250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" name="Text Box 28"/>
          <p:cNvSpPr txBox="1">
            <a:spLocks noChangeArrowheads="1"/>
          </p:cNvSpPr>
          <p:nvPr/>
        </p:nvSpPr>
        <p:spPr bwMode="auto">
          <a:xfrm>
            <a:off x="5427663" y="1752600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" name="Text Box 29"/>
          <p:cNvSpPr txBox="1">
            <a:spLocks noChangeArrowheads="1"/>
          </p:cNvSpPr>
          <p:nvPr/>
        </p:nvSpPr>
        <p:spPr bwMode="auto">
          <a:xfrm>
            <a:off x="5586413" y="2743200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" name="Text Box 30"/>
          <p:cNvSpPr txBox="1">
            <a:spLocks noChangeArrowheads="1"/>
          </p:cNvSpPr>
          <p:nvPr/>
        </p:nvSpPr>
        <p:spPr bwMode="auto">
          <a:xfrm>
            <a:off x="7180263" y="16303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" name="Text Box 31"/>
          <p:cNvSpPr txBox="1">
            <a:spLocks noChangeArrowheads="1"/>
          </p:cNvSpPr>
          <p:nvPr/>
        </p:nvSpPr>
        <p:spPr bwMode="auto">
          <a:xfrm>
            <a:off x="6789738" y="28495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Text Box 32"/>
          <p:cNvSpPr txBox="1">
            <a:spLocks noChangeArrowheads="1"/>
          </p:cNvSpPr>
          <p:nvPr/>
        </p:nvSpPr>
        <p:spPr bwMode="auto">
          <a:xfrm>
            <a:off x="5570538" y="3840162"/>
            <a:ext cx="350837" cy="492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Line 65"/>
          <p:cNvSpPr>
            <a:spLocks noChangeShapeType="1"/>
          </p:cNvSpPr>
          <p:nvPr/>
        </p:nvSpPr>
        <p:spPr bwMode="auto">
          <a:xfrm>
            <a:off x="1090613" y="6858000"/>
            <a:ext cx="7696200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99" name="Line 66"/>
          <p:cNvSpPr>
            <a:spLocks noChangeShapeType="1"/>
          </p:cNvSpPr>
          <p:nvPr/>
        </p:nvSpPr>
        <p:spPr bwMode="auto">
          <a:xfrm>
            <a:off x="8786813" y="4724400"/>
            <a:ext cx="0" cy="2133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00" name="Object 2"/>
          <p:cNvGraphicFramePr>
            <a:graphicFrameLocks noChangeAspect="1"/>
          </p:cNvGraphicFramePr>
          <p:nvPr/>
        </p:nvGraphicFramePr>
        <p:xfrm>
          <a:off x="1173163" y="4737100"/>
          <a:ext cx="76136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" name="文档" r:id="rId2" imgW="7609840" imgH="2275840" progId="Word.Document.8">
                  <p:embed/>
                </p:oleObj>
              </mc:Choice>
              <mc:Fallback>
                <p:oleObj name="文档" r:id="rId2" imgW="7609840" imgH="2275840" progId="Word.Document.8">
                  <p:embed/>
                  <p:pic>
                    <p:nvPicPr>
                      <p:cNvPr id="0" name="图片 54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4737100"/>
                        <a:ext cx="76136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 Box 83"/>
          <p:cNvSpPr txBox="1">
            <a:spLocks noChangeArrowheads="1"/>
          </p:cNvSpPr>
          <p:nvPr/>
        </p:nvSpPr>
        <p:spPr bwMode="auto">
          <a:xfrm>
            <a:off x="2081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" name="Text Box 84"/>
          <p:cNvSpPr txBox="1">
            <a:spLocks noChangeArrowheads="1"/>
          </p:cNvSpPr>
          <p:nvPr/>
        </p:nvSpPr>
        <p:spPr bwMode="auto">
          <a:xfrm>
            <a:off x="2843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" name="Text Box 85"/>
          <p:cNvSpPr txBox="1">
            <a:spLocks noChangeArrowheads="1"/>
          </p:cNvSpPr>
          <p:nvPr/>
        </p:nvSpPr>
        <p:spPr bwMode="auto">
          <a:xfrm>
            <a:off x="3605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Text Box 86"/>
          <p:cNvSpPr txBox="1">
            <a:spLocks noChangeArrowheads="1"/>
          </p:cNvSpPr>
          <p:nvPr/>
        </p:nvSpPr>
        <p:spPr bwMode="auto">
          <a:xfrm>
            <a:off x="4367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Text Box 87"/>
          <p:cNvSpPr txBox="1">
            <a:spLocks noChangeArrowheads="1"/>
          </p:cNvSpPr>
          <p:nvPr/>
        </p:nvSpPr>
        <p:spPr bwMode="auto">
          <a:xfrm>
            <a:off x="5129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" name="Text Box 88"/>
          <p:cNvSpPr txBox="1">
            <a:spLocks noChangeArrowheads="1"/>
          </p:cNvSpPr>
          <p:nvPr/>
        </p:nvSpPr>
        <p:spPr bwMode="auto">
          <a:xfrm>
            <a:off x="5891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" name="Text Box 89"/>
          <p:cNvSpPr txBox="1">
            <a:spLocks noChangeArrowheads="1"/>
          </p:cNvSpPr>
          <p:nvPr/>
        </p:nvSpPr>
        <p:spPr bwMode="auto">
          <a:xfrm>
            <a:off x="6653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" name="Text Box 90"/>
          <p:cNvSpPr txBox="1">
            <a:spLocks noChangeArrowheads="1"/>
          </p:cNvSpPr>
          <p:nvPr/>
        </p:nvSpPr>
        <p:spPr bwMode="auto">
          <a:xfrm>
            <a:off x="741521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" name="Text Box 91"/>
          <p:cNvSpPr txBox="1">
            <a:spLocks noChangeArrowheads="1"/>
          </p:cNvSpPr>
          <p:nvPr/>
        </p:nvSpPr>
        <p:spPr bwMode="auto">
          <a:xfrm>
            <a:off x="8221663" y="54864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" name="Text Box 92"/>
          <p:cNvSpPr txBox="1">
            <a:spLocks noChangeArrowheads="1"/>
          </p:cNvSpPr>
          <p:nvPr/>
        </p:nvSpPr>
        <p:spPr bwMode="auto">
          <a:xfrm>
            <a:off x="273526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" name="Text Box 93"/>
          <p:cNvSpPr txBox="1">
            <a:spLocks noChangeArrowheads="1"/>
          </p:cNvSpPr>
          <p:nvPr/>
        </p:nvSpPr>
        <p:spPr bwMode="auto">
          <a:xfrm>
            <a:off x="3529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Text Box 94"/>
          <p:cNvSpPr txBox="1">
            <a:spLocks noChangeArrowheads="1"/>
          </p:cNvSpPr>
          <p:nvPr/>
        </p:nvSpPr>
        <p:spPr bwMode="auto">
          <a:xfrm>
            <a:off x="425926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Text Box 95"/>
          <p:cNvSpPr txBox="1">
            <a:spLocks noChangeArrowheads="1"/>
          </p:cNvSpPr>
          <p:nvPr/>
        </p:nvSpPr>
        <p:spPr bwMode="auto">
          <a:xfrm>
            <a:off x="5815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Text Box 96"/>
          <p:cNvSpPr txBox="1">
            <a:spLocks noChangeArrowheads="1"/>
          </p:cNvSpPr>
          <p:nvPr/>
        </p:nvSpPr>
        <p:spPr bwMode="auto">
          <a:xfrm>
            <a:off x="7339013" y="5486400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Text Box 97"/>
          <p:cNvSpPr txBox="1">
            <a:spLocks noChangeArrowheads="1"/>
          </p:cNvSpPr>
          <p:nvPr/>
        </p:nvSpPr>
        <p:spPr bwMode="auto">
          <a:xfrm>
            <a:off x="5021263" y="5486400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Text Box 98"/>
          <p:cNvSpPr txBox="1">
            <a:spLocks noChangeArrowheads="1"/>
          </p:cNvSpPr>
          <p:nvPr/>
        </p:nvSpPr>
        <p:spPr bwMode="auto">
          <a:xfrm>
            <a:off x="5053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Text Box 99"/>
          <p:cNvSpPr txBox="1">
            <a:spLocks noChangeArrowheads="1"/>
          </p:cNvSpPr>
          <p:nvPr/>
        </p:nvSpPr>
        <p:spPr bwMode="auto">
          <a:xfrm>
            <a:off x="6577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" name="Text Box 100"/>
          <p:cNvSpPr txBox="1">
            <a:spLocks noChangeArrowheads="1"/>
          </p:cNvSpPr>
          <p:nvPr/>
        </p:nvSpPr>
        <p:spPr bwMode="auto">
          <a:xfrm>
            <a:off x="7339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" name="Text Box 101"/>
          <p:cNvSpPr txBox="1">
            <a:spLocks noChangeArrowheads="1"/>
          </p:cNvSpPr>
          <p:nvPr/>
        </p:nvSpPr>
        <p:spPr bwMode="auto">
          <a:xfrm>
            <a:off x="8101013" y="5486400"/>
            <a:ext cx="641350" cy="64135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" name="Text Box 62"/>
          <p:cNvSpPr txBox="1">
            <a:spLocks noChangeArrowheads="1"/>
          </p:cNvSpPr>
          <p:nvPr/>
        </p:nvSpPr>
        <p:spPr bwMode="auto">
          <a:xfrm>
            <a:off x="457200" y="1143000"/>
            <a:ext cx="67691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r>
              <a:rPr kumimoji="1" lang="zh-CN" altLang="en-US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的最早发生时间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---</a:t>
            </a:r>
            <a:r>
              <a:rPr kumimoji="1" lang="en-US" altLang="zh-CN" sz="2800" b="1" dirty="0" err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ve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(k)</a:t>
            </a:r>
            <a:endParaRPr kumimoji="1" lang="zh-CN" altLang="en-US" sz="2800" b="1" dirty="0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 autoUpdateAnimBg="0"/>
      <p:bldP spid="111" grpId="0" animBg="1" autoUpdateAnimBg="0"/>
      <p:bldP spid="112" grpId="0" animBg="1" autoUpdateAnimBg="0"/>
      <p:bldP spid="113" grpId="0" animBg="1" autoUpdateAnimBg="0"/>
      <p:bldP spid="114" grpId="0" animBg="1" autoUpdateAnimBg="0"/>
      <p:bldP spid="115" grpId="0" animBg="1" autoUpdateAnimBg="0"/>
      <p:bldP spid="116" grpId="0" animBg="1" autoUpdateAnimBg="0"/>
      <p:bldP spid="117" grpId="0" animBg="1" autoUpdateAnimBg="0"/>
      <p:bldP spid="118" grpId="0" animBg="1" autoUpdateAnimBg="0"/>
      <p:bldP spid="119" grpId="0" animBg="1" autoUpdateAnimBg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6A17E-2E12-47AC-957B-B8A92E48FBE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9750" y="1689100"/>
            <a:ext cx="8135938" cy="1169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是指在不推迟整个工期的前提下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r>
              <a:rPr kumimoji="1"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</a:t>
            </a:r>
            <a:r>
              <a:rPr kumimoji="1"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允许的最晚发生时间。</a:t>
            </a:r>
            <a:endParaRPr kumimoji="1"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62"/>
          <p:cNvSpPr txBox="1">
            <a:spLocks noChangeArrowheads="1"/>
          </p:cNvSpPr>
          <p:nvPr/>
        </p:nvSpPr>
        <p:spPr bwMode="auto">
          <a:xfrm>
            <a:off x="357188" y="1157287"/>
            <a:ext cx="67691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r>
              <a:rPr kumimoji="1" lang="zh-CN" altLang="en-US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的最迟发生时间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kumimoji="1" lang="en-US" altLang="zh-CN" sz="2800" b="1" dirty="0" err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(k)</a:t>
            </a:r>
            <a:endParaRPr kumimoji="1" lang="zh-CN" altLang="en-US" sz="2800" b="1" dirty="0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5292725"/>
            <a:ext cx="180657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7313" y="5384800"/>
            <a:ext cx="6235700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271588" y="2884487"/>
            <a:ext cx="6015037" cy="216058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9DD9"/>
            </a:solidFill>
            <a:prstDash val="solid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从后往回计算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从汇点开始计算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)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vl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(k) = 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的最早发生时间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ve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(n)-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vk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到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vn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最长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路径长度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0B8A-4A23-4599-A352-C7A0B52117C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ine 65"/>
          <p:cNvSpPr>
            <a:spLocks noChangeShapeType="1"/>
          </p:cNvSpPr>
          <p:nvPr/>
        </p:nvSpPr>
        <p:spPr bwMode="auto">
          <a:xfrm>
            <a:off x="685800" y="6276975"/>
            <a:ext cx="7696200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Line 66"/>
          <p:cNvSpPr>
            <a:spLocks noChangeShapeType="1"/>
          </p:cNvSpPr>
          <p:nvPr/>
        </p:nvSpPr>
        <p:spPr bwMode="auto">
          <a:xfrm>
            <a:off x="8382000" y="4143375"/>
            <a:ext cx="0" cy="2133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768350" y="4156075"/>
          <a:ext cx="76136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" name="文档" r:id="rId2" imgW="7609840" imgH="2275840" progId="Word.Document.8">
                  <p:embed/>
                </p:oleObj>
              </mc:Choice>
              <mc:Fallback>
                <p:oleObj name="文档" r:id="rId2" imgW="7609840" imgH="2275840" progId="Word.Document.8">
                  <p:embed/>
                  <p:pic>
                    <p:nvPicPr>
                      <p:cNvPr id="0" name="图片 64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156075"/>
                        <a:ext cx="76136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83"/>
          <p:cNvSpPr txBox="1">
            <a:spLocks noChangeArrowheads="1"/>
          </p:cNvSpPr>
          <p:nvPr/>
        </p:nvSpPr>
        <p:spPr bwMode="auto">
          <a:xfrm>
            <a:off x="1676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84"/>
          <p:cNvSpPr txBox="1">
            <a:spLocks noChangeArrowheads="1"/>
          </p:cNvSpPr>
          <p:nvPr/>
        </p:nvSpPr>
        <p:spPr bwMode="auto">
          <a:xfrm>
            <a:off x="2438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85"/>
          <p:cNvSpPr txBox="1">
            <a:spLocks noChangeArrowheads="1"/>
          </p:cNvSpPr>
          <p:nvPr/>
        </p:nvSpPr>
        <p:spPr bwMode="auto">
          <a:xfrm>
            <a:off x="3200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86"/>
          <p:cNvSpPr txBox="1">
            <a:spLocks noChangeArrowheads="1"/>
          </p:cNvSpPr>
          <p:nvPr/>
        </p:nvSpPr>
        <p:spPr bwMode="auto">
          <a:xfrm>
            <a:off x="3962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87"/>
          <p:cNvSpPr txBox="1">
            <a:spLocks noChangeArrowheads="1"/>
          </p:cNvSpPr>
          <p:nvPr/>
        </p:nvSpPr>
        <p:spPr bwMode="auto">
          <a:xfrm>
            <a:off x="4724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88"/>
          <p:cNvSpPr txBox="1">
            <a:spLocks noChangeArrowheads="1"/>
          </p:cNvSpPr>
          <p:nvPr/>
        </p:nvSpPr>
        <p:spPr bwMode="auto">
          <a:xfrm>
            <a:off x="5486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89"/>
          <p:cNvSpPr txBox="1">
            <a:spLocks noChangeArrowheads="1"/>
          </p:cNvSpPr>
          <p:nvPr/>
        </p:nvSpPr>
        <p:spPr bwMode="auto">
          <a:xfrm>
            <a:off x="6248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90"/>
          <p:cNvSpPr txBox="1">
            <a:spLocks noChangeArrowheads="1"/>
          </p:cNvSpPr>
          <p:nvPr/>
        </p:nvSpPr>
        <p:spPr bwMode="auto">
          <a:xfrm>
            <a:off x="701040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91"/>
          <p:cNvSpPr txBox="1">
            <a:spLocks noChangeArrowheads="1"/>
          </p:cNvSpPr>
          <p:nvPr/>
        </p:nvSpPr>
        <p:spPr bwMode="auto">
          <a:xfrm>
            <a:off x="7816850" y="4905375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92"/>
          <p:cNvSpPr txBox="1">
            <a:spLocks noChangeArrowheads="1"/>
          </p:cNvSpPr>
          <p:nvPr/>
        </p:nvSpPr>
        <p:spPr bwMode="auto">
          <a:xfrm>
            <a:off x="233045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93"/>
          <p:cNvSpPr txBox="1">
            <a:spLocks noChangeArrowheads="1"/>
          </p:cNvSpPr>
          <p:nvPr/>
        </p:nvSpPr>
        <p:spPr bwMode="auto">
          <a:xfrm>
            <a:off x="312420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94"/>
          <p:cNvSpPr txBox="1">
            <a:spLocks noChangeArrowheads="1"/>
          </p:cNvSpPr>
          <p:nvPr/>
        </p:nvSpPr>
        <p:spPr bwMode="auto">
          <a:xfrm>
            <a:off x="385445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95"/>
          <p:cNvSpPr txBox="1">
            <a:spLocks noChangeArrowheads="1"/>
          </p:cNvSpPr>
          <p:nvPr/>
        </p:nvSpPr>
        <p:spPr bwMode="auto">
          <a:xfrm>
            <a:off x="541020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96"/>
          <p:cNvSpPr txBox="1">
            <a:spLocks noChangeArrowheads="1"/>
          </p:cNvSpPr>
          <p:nvPr/>
        </p:nvSpPr>
        <p:spPr bwMode="auto">
          <a:xfrm>
            <a:off x="693420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97"/>
          <p:cNvSpPr txBox="1">
            <a:spLocks noChangeArrowheads="1"/>
          </p:cNvSpPr>
          <p:nvPr/>
        </p:nvSpPr>
        <p:spPr bwMode="auto">
          <a:xfrm>
            <a:off x="461645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98"/>
          <p:cNvSpPr txBox="1">
            <a:spLocks noChangeArrowheads="1"/>
          </p:cNvSpPr>
          <p:nvPr/>
        </p:nvSpPr>
        <p:spPr bwMode="auto">
          <a:xfrm>
            <a:off x="4648200" y="4905375"/>
            <a:ext cx="641350" cy="641350"/>
          </a:xfrm>
          <a:prstGeom prst="rect">
            <a:avLst/>
          </a:prstGeom>
          <a:solidFill>
            <a:srgbClr val="C673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99"/>
          <p:cNvSpPr txBox="1">
            <a:spLocks noChangeArrowheads="1"/>
          </p:cNvSpPr>
          <p:nvPr/>
        </p:nvSpPr>
        <p:spPr bwMode="auto">
          <a:xfrm>
            <a:off x="617220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15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100"/>
          <p:cNvSpPr txBox="1">
            <a:spLocks noChangeArrowheads="1"/>
          </p:cNvSpPr>
          <p:nvPr/>
        </p:nvSpPr>
        <p:spPr bwMode="auto">
          <a:xfrm>
            <a:off x="6934200" y="4905375"/>
            <a:ext cx="641350" cy="641350"/>
          </a:xfrm>
          <a:prstGeom prst="rect">
            <a:avLst/>
          </a:prstGeom>
          <a:solidFill>
            <a:srgbClr val="C673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101"/>
          <p:cNvSpPr txBox="1">
            <a:spLocks noChangeArrowheads="1"/>
          </p:cNvSpPr>
          <p:nvPr/>
        </p:nvSpPr>
        <p:spPr bwMode="auto">
          <a:xfrm>
            <a:off x="7696200" y="49053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102"/>
          <p:cNvSpPr txBox="1">
            <a:spLocks noChangeArrowheads="1"/>
          </p:cNvSpPr>
          <p:nvPr/>
        </p:nvSpPr>
        <p:spPr bwMode="auto">
          <a:xfrm>
            <a:off x="7664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103"/>
          <p:cNvSpPr txBox="1">
            <a:spLocks noChangeArrowheads="1"/>
          </p:cNvSpPr>
          <p:nvPr/>
        </p:nvSpPr>
        <p:spPr bwMode="auto">
          <a:xfrm>
            <a:off x="6902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104"/>
          <p:cNvSpPr txBox="1">
            <a:spLocks noChangeArrowheads="1"/>
          </p:cNvSpPr>
          <p:nvPr/>
        </p:nvSpPr>
        <p:spPr bwMode="auto">
          <a:xfrm>
            <a:off x="6140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105"/>
          <p:cNvSpPr txBox="1">
            <a:spLocks noChangeArrowheads="1"/>
          </p:cNvSpPr>
          <p:nvPr/>
        </p:nvSpPr>
        <p:spPr bwMode="auto">
          <a:xfrm>
            <a:off x="5378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106"/>
          <p:cNvSpPr txBox="1">
            <a:spLocks noChangeArrowheads="1"/>
          </p:cNvSpPr>
          <p:nvPr/>
        </p:nvSpPr>
        <p:spPr bwMode="auto">
          <a:xfrm>
            <a:off x="464820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Text Box 107"/>
          <p:cNvSpPr txBox="1">
            <a:spLocks noChangeArrowheads="1"/>
          </p:cNvSpPr>
          <p:nvPr/>
        </p:nvSpPr>
        <p:spPr bwMode="auto">
          <a:xfrm>
            <a:off x="3854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108"/>
          <p:cNvSpPr txBox="1">
            <a:spLocks noChangeArrowheads="1"/>
          </p:cNvSpPr>
          <p:nvPr/>
        </p:nvSpPr>
        <p:spPr bwMode="auto">
          <a:xfrm>
            <a:off x="312420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 Box 109"/>
          <p:cNvSpPr txBox="1">
            <a:spLocks noChangeArrowheads="1"/>
          </p:cNvSpPr>
          <p:nvPr/>
        </p:nvSpPr>
        <p:spPr bwMode="auto">
          <a:xfrm>
            <a:off x="2330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110"/>
          <p:cNvSpPr txBox="1">
            <a:spLocks noChangeArrowheads="1"/>
          </p:cNvSpPr>
          <p:nvPr/>
        </p:nvSpPr>
        <p:spPr bwMode="auto">
          <a:xfrm>
            <a:off x="1568450" y="5591175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111"/>
          <p:cNvSpPr txBox="1">
            <a:spLocks noChangeArrowheads="1"/>
          </p:cNvSpPr>
          <p:nvPr/>
        </p:nvSpPr>
        <p:spPr bwMode="auto">
          <a:xfrm>
            <a:off x="6140450" y="55911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16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 Box 112"/>
          <p:cNvSpPr txBox="1">
            <a:spLocks noChangeArrowheads="1"/>
          </p:cNvSpPr>
          <p:nvPr/>
        </p:nvSpPr>
        <p:spPr bwMode="auto">
          <a:xfrm>
            <a:off x="6934200" y="55911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 Box 113"/>
          <p:cNvSpPr txBox="1">
            <a:spLocks noChangeArrowheads="1"/>
          </p:cNvSpPr>
          <p:nvPr/>
        </p:nvSpPr>
        <p:spPr bwMode="auto">
          <a:xfrm>
            <a:off x="4648200" y="5591175"/>
            <a:ext cx="60960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114"/>
          <p:cNvSpPr txBox="1">
            <a:spLocks noChangeArrowheads="1"/>
          </p:cNvSpPr>
          <p:nvPr/>
        </p:nvSpPr>
        <p:spPr bwMode="auto">
          <a:xfrm>
            <a:off x="2362200" y="5591175"/>
            <a:ext cx="60960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 Box 115"/>
          <p:cNvSpPr txBox="1">
            <a:spLocks noChangeArrowheads="1"/>
          </p:cNvSpPr>
          <p:nvPr/>
        </p:nvSpPr>
        <p:spPr bwMode="auto">
          <a:xfrm>
            <a:off x="3124200" y="5591175"/>
            <a:ext cx="60960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 Box 117"/>
          <p:cNvSpPr txBox="1">
            <a:spLocks noChangeArrowheads="1"/>
          </p:cNvSpPr>
          <p:nvPr/>
        </p:nvSpPr>
        <p:spPr bwMode="auto">
          <a:xfrm>
            <a:off x="5410200" y="5591175"/>
            <a:ext cx="64135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 Box 118"/>
          <p:cNvSpPr txBox="1">
            <a:spLocks noChangeArrowheads="1"/>
          </p:cNvSpPr>
          <p:nvPr/>
        </p:nvSpPr>
        <p:spPr bwMode="auto">
          <a:xfrm>
            <a:off x="3886200" y="5591175"/>
            <a:ext cx="60960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Text Box 119"/>
          <p:cNvSpPr txBox="1">
            <a:spLocks noChangeArrowheads="1"/>
          </p:cNvSpPr>
          <p:nvPr/>
        </p:nvSpPr>
        <p:spPr bwMode="auto">
          <a:xfrm>
            <a:off x="1600200" y="5591175"/>
            <a:ext cx="609600" cy="641350"/>
          </a:xfrm>
          <a:prstGeom prst="rect">
            <a:avLst/>
          </a:prstGeom>
          <a:solidFill>
            <a:srgbClr val="DFAF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 Box 120"/>
          <p:cNvSpPr txBox="1">
            <a:spLocks noChangeArrowheads="1"/>
          </p:cNvSpPr>
          <p:nvPr/>
        </p:nvSpPr>
        <p:spPr bwMode="auto">
          <a:xfrm>
            <a:off x="4648200" y="5635625"/>
            <a:ext cx="641350" cy="641350"/>
          </a:xfrm>
          <a:prstGeom prst="rect">
            <a:avLst/>
          </a:prstGeom>
          <a:solidFill>
            <a:srgbClr val="C673FF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3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Text Box 121"/>
          <p:cNvSpPr txBox="1">
            <a:spLocks noChangeArrowheads="1"/>
          </p:cNvSpPr>
          <p:nvPr/>
        </p:nvSpPr>
        <p:spPr bwMode="auto">
          <a:xfrm>
            <a:off x="2470150" y="6365875"/>
            <a:ext cx="6173788" cy="49212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隶书" panose="02010509060101010101" pitchFamily="49" charset="-122"/>
                <a:cs typeface="+mn-cs"/>
              </a:rPr>
              <a:t>拓扑有序序列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隶书" panose="02010509060101010101" pitchFamily="49" charset="-122"/>
                <a:cs typeface="+mn-cs"/>
              </a:rPr>
              <a:t>:  a - d - f - c - b - e - h - g - k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73"/>
          <p:cNvGrpSpPr/>
          <p:nvPr/>
        </p:nvGrpSpPr>
        <p:grpSpPr bwMode="auto">
          <a:xfrm>
            <a:off x="1643063" y="1114425"/>
            <a:ext cx="6286500" cy="3000375"/>
            <a:chOff x="1295400" y="228600"/>
            <a:chExt cx="6553200" cy="3200400"/>
          </a:xfrm>
        </p:grpSpPr>
        <p:sp>
          <p:nvSpPr>
            <p:cNvPr id="55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6" name="Text Box 62"/>
          <p:cNvSpPr txBox="1">
            <a:spLocks noChangeArrowheads="1"/>
          </p:cNvSpPr>
          <p:nvPr/>
        </p:nvSpPr>
        <p:spPr bwMode="auto">
          <a:xfrm>
            <a:off x="393700" y="569844"/>
            <a:ext cx="67691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事件</a:t>
            </a:r>
            <a:r>
              <a:rPr kumimoji="1" lang="zh-CN" altLang="en-US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的最迟发生时间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kumimoji="1" lang="en-US" altLang="zh-CN" sz="2800" b="1" dirty="0" err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b="1" dirty="0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(k)</a:t>
            </a:r>
            <a:endParaRPr kumimoji="1" lang="zh-CN" altLang="en-US" sz="2800" b="1" dirty="0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4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49" grpId="0" animBg="1" autoUpdateAnimBg="0"/>
      <p:bldP spid="50" grpId="0" animBg="1" autoUpdateAnimBg="0"/>
      <p:bldP spid="51" grpId="0" animBg="1" autoUpdateAnimBg="0"/>
      <p:bldP spid="52" grpId="0" animBg="1" autoUpdateAnimBg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C690-AF3A-4A22-900E-A1DD5E494D0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03262" y="1800225"/>
            <a:ext cx="8135938" cy="170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若活动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是由弧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vk,vj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表示，则活动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最早开始时间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应等于事件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的最早发生时间。因此，有：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]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ve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[k]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36"/>
          <p:cNvGrpSpPr/>
          <p:nvPr/>
        </p:nvGrpSpPr>
        <p:grpSpPr bwMode="auto">
          <a:xfrm>
            <a:off x="1806575" y="3781425"/>
            <a:ext cx="6286500" cy="3000375"/>
            <a:chOff x="1295400" y="228600"/>
            <a:chExt cx="6553200" cy="3200400"/>
          </a:xfrm>
        </p:grpSpPr>
        <p:sp>
          <p:nvSpPr>
            <p:cNvPr id="15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6" name="Text Box 62"/>
          <p:cNvSpPr txBox="1">
            <a:spLocks noChangeArrowheads="1"/>
          </p:cNvSpPr>
          <p:nvPr/>
        </p:nvSpPr>
        <p:spPr bwMode="auto">
          <a:xfrm>
            <a:off x="131762" y="1157288"/>
            <a:ext cx="67691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r>
              <a:rPr kumimoji="1" lang="zh-CN" altLang="en-US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的最早开始时间</a:t>
            </a: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—e[i]</a:t>
            </a:r>
            <a:endParaRPr kumimoji="1" lang="zh-CN" altLang="en-US" sz="2800" b="1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D916-FD5E-4951-8A46-1A05BB65D8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endParaRPr lang="zh-CN" altLang="en-US" dirty="0"/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484188" y="3938588"/>
          <a:ext cx="8278812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6" name="文档" r:id="rId2" imgW="8295640" imgH="3566160" progId="Word.Document.8">
                  <p:embed/>
                </p:oleObj>
              </mc:Choice>
              <mc:Fallback>
                <p:oleObj name="文档" r:id="rId2" imgW="8295640" imgH="3566160" progId="Word.Document.8">
                  <p:embed/>
                  <p:pic>
                    <p:nvPicPr>
                      <p:cNvPr id="0" name="图片 7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3938588"/>
                        <a:ext cx="8278812" cy="356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51"/>
          <p:cNvSpPr>
            <a:spLocks noChangeShapeType="1"/>
          </p:cNvSpPr>
          <p:nvPr/>
        </p:nvSpPr>
        <p:spPr bwMode="auto">
          <a:xfrm>
            <a:off x="8763000" y="4114800"/>
            <a:ext cx="0" cy="3276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Text Box 52"/>
          <p:cNvSpPr txBox="1">
            <a:spLocks noChangeArrowheads="1"/>
          </p:cNvSpPr>
          <p:nvPr/>
        </p:nvSpPr>
        <p:spPr bwMode="auto">
          <a:xfrm>
            <a:off x="114300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53"/>
          <p:cNvSpPr txBox="1">
            <a:spLocks noChangeArrowheads="1"/>
          </p:cNvSpPr>
          <p:nvPr/>
        </p:nvSpPr>
        <p:spPr bwMode="auto">
          <a:xfrm>
            <a:off x="187325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54"/>
          <p:cNvSpPr txBox="1">
            <a:spLocks noChangeArrowheads="1"/>
          </p:cNvSpPr>
          <p:nvPr/>
        </p:nvSpPr>
        <p:spPr bwMode="auto">
          <a:xfrm>
            <a:off x="255905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55"/>
          <p:cNvSpPr txBox="1">
            <a:spLocks noChangeArrowheads="1"/>
          </p:cNvSpPr>
          <p:nvPr/>
        </p:nvSpPr>
        <p:spPr bwMode="auto">
          <a:xfrm>
            <a:off x="324485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56"/>
          <p:cNvSpPr txBox="1">
            <a:spLocks noChangeArrowheads="1"/>
          </p:cNvSpPr>
          <p:nvPr/>
        </p:nvSpPr>
        <p:spPr bwMode="auto">
          <a:xfrm>
            <a:off x="396240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469265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58"/>
          <p:cNvSpPr txBox="1">
            <a:spLocks noChangeArrowheads="1"/>
          </p:cNvSpPr>
          <p:nvPr/>
        </p:nvSpPr>
        <p:spPr bwMode="auto">
          <a:xfrm>
            <a:off x="537845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609600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6781800" y="5334000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61"/>
          <p:cNvSpPr txBox="1">
            <a:spLocks noChangeArrowheads="1"/>
          </p:cNvSpPr>
          <p:nvPr/>
        </p:nvSpPr>
        <p:spPr bwMode="auto">
          <a:xfrm>
            <a:off x="7359650" y="5334000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15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62"/>
          <p:cNvSpPr txBox="1">
            <a:spLocks noChangeArrowheads="1"/>
          </p:cNvSpPr>
          <p:nvPr/>
        </p:nvSpPr>
        <p:spPr bwMode="auto">
          <a:xfrm>
            <a:off x="8077200" y="5334000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9900FF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Box 51"/>
          <p:cNvSpPr txBox="1">
            <a:spLocks noChangeArrowheads="1"/>
          </p:cNvSpPr>
          <p:nvPr/>
        </p:nvSpPr>
        <p:spPr bwMode="auto">
          <a:xfrm>
            <a:off x="2786063" y="3848100"/>
            <a:ext cx="18415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Box 52"/>
          <p:cNvSpPr txBox="1">
            <a:spLocks noChangeArrowheads="1"/>
          </p:cNvSpPr>
          <p:nvPr/>
        </p:nvSpPr>
        <p:spPr bwMode="auto">
          <a:xfrm>
            <a:off x="2714625" y="5786438"/>
            <a:ext cx="4872038" cy="1108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66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e[i] = ve[k]</a:t>
            </a:r>
            <a:endParaRPr kumimoji="1" lang="zh-CN" altLang="en-US" sz="6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" name="组合 54"/>
          <p:cNvGrpSpPr/>
          <p:nvPr/>
        </p:nvGrpSpPr>
        <p:grpSpPr bwMode="auto">
          <a:xfrm>
            <a:off x="3714750" y="642938"/>
            <a:ext cx="5286375" cy="2143125"/>
            <a:chOff x="1295400" y="228600"/>
            <a:chExt cx="6553200" cy="3200400"/>
          </a:xfrm>
        </p:grpSpPr>
        <p:sp>
          <p:nvSpPr>
            <p:cNvPr id="29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1000125" y="2857500"/>
          <a:ext cx="6786610" cy="1036320"/>
        </p:xfrm>
        <a:graphic>
          <a:graphicData uri="http://schemas.openxmlformats.org/drawingml/2006/table">
            <a:tbl>
              <a:tblPr firstRow="1" bandRow="1"/>
              <a:tblGrid>
                <a:gridCol w="863593"/>
                <a:gridCol w="658113"/>
                <a:gridCol w="658113"/>
                <a:gridCol w="658113"/>
                <a:gridCol w="658113"/>
                <a:gridCol w="658113"/>
                <a:gridCol w="658113"/>
                <a:gridCol w="658113"/>
                <a:gridCol w="658113"/>
                <a:gridCol w="658113"/>
              </a:tblGrid>
              <a:tr h="464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2400" dirty="0"/>
                        <a:t>事件</a:t>
                      </a:r>
                      <a:endParaRPr lang="zh-CN" altLang="en-US" sz="24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a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b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c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d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e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f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g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h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dirty="0"/>
                        <a:t>k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</a:tr>
              <a:tr h="464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 err="1">
                          <a:latin typeface="+mn-ea"/>
                          <a:ea typeface="+mn-ea"/>
                        </a:rPr>
                        <a:t>ve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0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15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14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2800" b="1" dirty="0">
                          <a:latin typeface="+mn-ea"/>
                          <a:ea typeface="+mn-ea"/>
                        </a:rPr>
                        <a:t>18</a:t>
                      </a:r>
                      <a:endParaRPr lang="zh-CN" altLang="en-US" sz="28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1" name="Text Box 62"/>
          <p:cNvSpPr txBox="1">
            <a:spLocks noChangeArrowheads="1"/>
          </p:cNvSpPr>
          <p:nvPr/>
        </p:nvSpPr>
        <p:spPr bwMode="auto">
          <a:xfrm>
            <a:off x="0" y="357188"/>
            <a:ext cx="67691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r>
              <a:rPr kumimoji="1" lang="zh-CN" altLang="en-US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的最早开始时间</a:t>
            </a: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—e[i]</a:t>
            </a:r>
            <a:endParaRPr kumimoji="1" lang="zh-CN" altLang="en-US" sz="2800" b="1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4C92-9666-4115-9DE7-0BD4CD4EC65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62"/>
          <p:cNvSpPr txBox="1">
            <a:spLocks noChangeArrowheads="1"/>
          </p:cNvSpPr>
          <p:nvPr/>
        </p:nvSpPr>
        <p:spPr bwMode="auto">
          <a:xfrm>
            <a:off x="71438" y="1308100"/>
            <a:ext cx="67691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r>
              <a:rPr kumimoji="1" lang="zh-CN" altLang="en-US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的最晚开始时间</a:t>
            </a:r>
            <a:r>
              <a:rPr kumimoji="1" lang="en-US" altLang="zh-CN" sz="2800" b="1">
                <a:solidFill>
                  <a:srgbClr val="003300"/>
                </a:solidFill>
                <a:latin typeface="微软雅黑" panose="020B0503020204020204" charset="-122"/>
                <a:ea typeface="微软雅黑" panose="020B0503020204020204" charset="-122"/>
              </a:rPr>
              <a:t>--l[i]</a:t>
            </a:r>
            <a:endParaRPr kumimoji="1" lang="zh-CN" altLang="en-US" sz="2800" b="1">
              <a:solidFill>
                <a:srgbClr val="0033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539750" y="2159000"/>
            <a:ext cx="8135938" cy="3632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在不推迟整个工期的前提下，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必须开始的最晚时间。若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由弧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vj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表示，则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的最晚开始时间要保证事件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vj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的最迟发生时间不拖后。</a:t>
            </a:r>
            <a:endParaRPr kumimoji="1" lang="en-US" altLang="zh-CN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因此，等于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vj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的最迟发生时间减去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vk,vj</a:t>
            </a:r>
            <a:r>
              <a:rPr kumimoji="1"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的持续时间即</a:t>
            </a:r>
            <a:endParaRPr kumimoji="1" lang="en-US" altLang="zh-CN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l[i]=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[j]-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dut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vk,vj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0CC2B-1DF8-455D-8981-3462DAABBDA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457200" y="3057525"/>
          <a:ext cx="8278812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39" name="文档" r:id="rId2" imgW="8295640" imgH="3566160" progId="Word.Document.8">
                  <p:embed/>
                </p:oleObj>
              </mc:Choice>
              <mc:Fallback>
                <p:oleObj name="文档" r:id="rId2" imgW="8295640" imgH="3566160" progId="Word.Document.8">
                  <p:embed/>
                  <p:pic>
                    <p:nvPicPr>
                      <p:cNvPr id="0" name="图片 149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57525"/>
                        <a:ext cx="8278812" cy="356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50"/>
          <p:cNvSpPr>
            <a:spLocks noChangeShapeType="1"/>
          </p:cNvSpPr>
          <p:nvPr/>
        </p:nvSpPr>
        <p:spPr bwMode="auto">
          <a:xfrm>
            <a:off x="582612" y="6510338"/>
            <a:ext cx="8153400" cy="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5" name="Line 51"/>
          <p:cNvSpPr>
            <a:spLocks noChangeShapeType="1"/>
          </p:cNvSpPr>
          <p:nvPr/>
        </p:nvSpPr>
        <p:spPr bwMode="auto">
          <a:xfrm>
            <a:off x="8736012" y="3233738"/>
            <a:ext cx="0" cy="3276600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Text Box 52"/>
          <p:cNvSpPr txBox="1">
            <a:spLocks noChangeArrowheads="1"/>
          </p:cNvSpPr>
          <p:nvPr/>
        </p:nvSpPr>
        <p:spPr bwMode="auto">
          <a:xfrm>
            <a:off x="111601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53"/>
          <p:cNvSpPr txBox="1">
            <a:spLocks noChangeArrowheads="1"/>
          </p:cNvSpPr>
          <p:nvPr/>
        </p:nvSpPr>
        <p:spPr bwMode="auto">
          <a:xfrm>
            <a:off x="184626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54"/>
          <p:cNvSpPr txBox="1">
            <a:spLocks noChangeArrowheads="1"/>
          </p:cNvSpPr>
          <p:nvPr/>
        </p:nvSpPr>
        <p:spPr bwMode="auto">
          <a:xfrm>
            <a:off x="253206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55"/>
          <p:cNvSpPr txBox="1">
            <a:spLocks noChangeArrowheads="1"/>
          </p:cNvSpPr>
          <p:nvPr/>
        </p:nvSpPr>
        <p:spPr bwMode="auto">
          <a:xfrm>
            <a:off x="321786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56"/>
          <p:cNvSpPr txBox="1">
            <a:spLocks noChangeArrowheads="1"/>
          </p:cNvSpPr>
          <p:nvPr/>
        </p:nvSpPr>
        <p:spPr bwMode="auto">
          <a:xfrm>
            <a:off x="393541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6566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35146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606901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6754812" y="445293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7332662" y="4452938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15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8050212" y="4452938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8050212" y="5183188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14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7364412" y="5183188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16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111601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184626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253206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321786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393541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6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70"/>
          <p:cNvSpPr txBox="1">
            <a:spLocks noChangeArrowheads="1"/>
          </p:cNvSpPr>
          <p:nvPr/>
        </p:nvSpPr>
        <p:spPr bwMode="auto">
          <a:xfrm>
            <a:off x="466566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71"/>
          <p:cNvSpPr txBox="1">
            <a:spLocks noChangeArrowheads="1"/>
          </p:cNvSpPr>
          <p:nvPr/>
        </p:nvSpPr>
        <p:spPr bwMode="auto">
          <a:xfrm>
            <a:off x="535146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72"/>
          <p:cNvSpPr txBox="1">
            <a:spLocks noChangeArrowheads="1"/>
          </p:cNvSpPr>
          <p:nvPr/>
        </p:nvSpPr>
        <p:spPr bwMode="auto">
          <a:xfrm>
            <a:off x="6069012" y="5183188"/>
            <a:ext cx="4127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73"/>
          <p:cNvSpPr txBox="1">
            <a:spLocks noChangeArrowheads="1"/>
          </p:cNvSpPr>
          <p:nvPr/>
        </p:nvSpPr>
        <p:spPr bwMode="auto">
          <a:xfrm>
            <a:off x="6646862" y="5183188"/>
            <a:ext cx="6413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3300"/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26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3173412" y="6224588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0" name="剪辑" r:id="rId4" imgW="2236470" imgH="1900555" progId="">
                  <p:embed/>
                </p:oleObj>
              </mc:Choice>
              <mc:Fallback>
                <p:oleObj name="剪辑" r:id="rId4" imgW="2236470" imgH="1900555" progId="">
                  <p:embed/>
                  <p:pic>
                    <p:nvPicPr>
                      <p:cNvPr id="0" name="图片 14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2" y="6224588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"/>
          <p:cNvGraphicFramePr>
            <a:graphicFrameLocks noChangeAspect="1"/>
          </p:cNvGraphicFramePr>
          <p:nvPr/>
        </p:nvGraphicFramePr>
        <p:xfrm>
          <a:off x="973137" y="629602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1" name="剪辑" r:id="rId6" imgW="319405" imgH="275590" progId="">
                  <p:embed/>
                </p:oleObj>
              </mc:Choice>
              <mc:Fallback>
                <p:oleObj name="剪辑" r:id="rId6" imgW="319405" imgH="275590" progId="">
                  <p:embed/>
                  <p:pic>
                    <p:nvPicPr>
                      <p:cNvPr id="0" name="图片 14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7" y="6296025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6"/>
          <p:cNvGraphicFramePr>
            <a:graphicFrameLocks noChangeAspect="1"/>
          </p:cNvGraphicFramePr>
          <p:nvPr/>
        </p:nvGraphicFramePr>
        <p:xfrm>
          <a:off x="5992812" y="6313488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2" name="剪辑" r:id="rId8" imgW="319405" imgH="275590" progId="">
                  <p:embed/>
                </p:oleObj>
              </mc:Choice>
              <mc:Fallback>
                <p:oleObj name="剪辑" r:id="rId8" imgW="319405" imgH="275590" progId="">
                  <p:embed/>
                  <p:pic>
                    <p:nvPicPr>
                      <p:cNvPr id="0" name="图片 14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2" y="6313488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7"/>
          <p:cNvGraphicFramePr>
            <a:graphicFrameLocks noChangeAspect="1"/>
          </p:cNvGraphicFramePr>
          <p:nvPr/>
        </p:nvGraphicFramePr>
        <p:xfrm>
          <a:off x="8126412" y="6350000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43" name="剪辑" r:id="rId10" imgW="319405" imgH="275590" progId="">
                  <p:embed/>
                </p:oleObj>
              </mc:Choice>
              <mc:Fallback>
                <p:oleObj name="剪辑" r:id="rId10" imgW="319405" imgH="275590" progId="">
                  <p:embed/>
                  <p:pic>
                    <p:nvPicPr>
                      <p:cNvPr id="0" name="图片 14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6412" y="6350000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44512" y="4354513"/>
            <a:ext cx="8215313" cy="584200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l[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]=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vl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[j]-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dut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&lt;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vk,vj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&gt;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707F9"/>
              </a:solidFill>
              <a:effectLst/>
              <a:uLnTx/>
              <a:uFillTx/>
              <a:latin typeface="Constantia" panose="020306020503060303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2416175" y="5824538"/>
            <a:ext cx="62865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66"/>
                </a:solidFill>
                <a:latin typeface="Times New Roman" panose="02020603050405020304" pitchFamily="18" charset="0"/>
              </a:rPr>
              <a:t>8-5</a:t>
            </a:r>
            <a:endParaRPr kumimoji="1" lang="zh-CN" altLang="en-US" sz="2600" b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687512" y="5832475"/>
            <a:ext cx="62865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66"/>
                </a:solidFill>
                <a:latin typeface="Times New Roman" panose="02020603050405020304" pitchFamily="18" charset="0"/>
              </a:rPr>
              <a:t>6-4</a:t>
            </a:r>
            <a:endParaRPr kumimoji="1" lang="zh-CN" altLang="en-US" sz="2600" b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1116012" y="5824538"/>
            <a:ext cx="628698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6-6</a:t>
            </a:r>
            <a:endParaRPr kumimoji="1" lang="zh-CN" altLang="en-US" sz="26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Box 56"/>
          <p:cNvSpPr txBox="1">
            <a:spLocks noChangeArrowheads="1"/>
          </p:cNvSpPr>
          <p:nvPr/>
        </p:nvSpPr>
        <p:spPr bwMode="auto">
          <a:xfrm>
            <a:off x="473075" y="3252788"/>
            <a:ext cx="519112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00"/>
                </a:solidFill>
                <a:latin typeface="Times New Roman" panose="02020603050405020304" pitchFamily="18" charset="0"/>
              </a:rPr>
              <a:t>弧</a:t>
            </a:r>
            <a:endParaRPr kumimoji="1" lang="zh-CN" altLang="en-US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187700" y="5824538"/>
            <a:ext cx="62865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7-1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473575" y="5824538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10-2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5187950" y="5832475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16-8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902325" y="5824538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14-7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3773487" y="5824538"/>
            <a:ext cx="62865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7-1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6616700" y="5824538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14-4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7331075" y="5824538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18-2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8045450" y="5824538"/>
            <a:ext cx="79533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99"/>
                </a:solidFill>
                <a:latin typeface="Times New Roman" panose="02020603050405020304" pitchFamily="18" charset="0"/>
              </a:rPr>
              <a:t>18-4</a:t>
            </a:r>
            <a:endParaRPr kumimoji="1" lang="zh-CN" altLang="en-US" sz="26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" name="组合 66"/>
          <p:cNvGrpSpPr/>
          <p:nvPr/>
        </p:nvGrpSpPr>
        <p:grpSpPr bwMode="auto">
          <a:xfrm>
            <a:off x="1901825" y="152400"/>
            <a:ext cx="5429250" cy="2143125"/>
            <a:chOff x="1295400" y="228600"/>
            <a:chExt cx="6553200" cy="3200400"/>
          </a:xfrm>
        </p:grpSpPr>
        <p:sp>
          <p:nvSpPr>
            <p:cNvPr id="56" name="Oval 2"/>
            <p:cNvSpPr>
              <a:spLocks noChangeArrowheads="1"/>
            </p:cNvSpPr>
            <p:nvPr/>
          </p:nvSpPr>
          <p:spPr bwMode="auto">
            <a:xfrm>
              <a:off x="1295400" y="10668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Oval 3"/>
            <p:cNvSpPr>
              <a:spLocks noChangeArrowheads="1"/>
            </p:cNvSpPr>
            <p:nvPr/>
          </p:nvSpPr>
          <p:spPr bwMode="auto">
            <a:xfrm>
              <a:off x="2819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Oval 4"/>
            <p:cNvSpPr>
              <a:spLocks noChangeArrowheads="1"/>
            </p:cNvSpPr>
            <p:nvPr/>
          </p:nvSpPr>
          <p:spPr bwMode="auto">
            <a:xfrm>
              <a:off x="2819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Oval 5"/>
            <p:cNvSpPr>
              <a:spLocks noChangeArrowheads="1"/>
            </p:cNvSpPr>
            <p:nvPr/>
          </p:nvSpPr>
          <p:spPr bwMode="auto">
            <a:xfrm>
              <a:off x="19050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Oval 6"/>
            <p:cNvSpPr>
              <a:spLocks noChangeArrowheads="1"/>
            </p:cNvSpPr>
            <p:nvPr/>
          </p:nvSpPr>
          <p:spPr bwMode="auto">
            <a:xfrm>
              <a:off x="4343400" y="11430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7"/>
            <p:cNvSpPr>
              <a:spLocks noChangeArrowheads="1"/>
            </p:cNvSpPr>
            <p:nvPr/>
          </p:nvSpPr>
          <p:spPr bwMode="auto">
            <a:xfrm>
              <a:off x="4800600" y="29718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Oval 8"/>
            <p:cNvSpPr>
              <a:spLocks noChangeArrowheads="1"/>
            </p:cNvSpPr>
            <p:nvPr/>
          </p:nvSpPr>
          <p:spPr bwMode="auto">
            <a:xfrm>
              <a:off x="5867400" y="2286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g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Oval 9"/>
            <p:cNvSpPr>
              <a:spLocks noChangeArrowheads="1"/>
            </p:cNvSpPr>
            <p:nvPr/>
          </p:nvSpPr>
          <p:spPr bwMode="auto">
            <a:xfrm>
              <a:off x="5867400" y="2057400"/>
              <a:ext cx="457200" cy="457200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Oval 10"/>
            <p:cNvSpPr>
              <a:spLocks noChangeArrowheads="1"/>
            </p:cNvSpPr>
            <p:nvPr/>
          </p:nvSpPr>
          <p:spPr bwMode="auto">
            <a:xfrm>
              <a:off x="7391400" y="1143000"/>
              <a:ext cx="457200" cy="457200"/>
            </a:xfrm>
            <a:prstGeom prst="ellipse">
              <a:avLst/>
            </a:prstGeom>
            <a:solidFill>
              <a:srgbClr val="99CCFF"/>
            </a:solidFill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Line 11"/>
            <p:cNvSpPr>
              <a:spLocks noChangeShapeType="1"/>
            </p:cNvSpPr>
            <p:nvPr/>
          </p:nvSpPr>
          <p:spPr bwMode="auto">
            <a:xfrm flipV="1">
              <a:off x="1676400" y="4572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Line 12"/>
            <p:cNvSpPr>
              <a:spLocks noChangeShapeType="1"/>
            </p:cNvSpPr>
            <p:nvPr/>
          </p:nvSpPr>
          <p:spPr bwMode="auto">
            <a:xfrm>
              <a:off x="1752600" y="1295400"/>
              <a:ext cx="1143000" cy="9144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Line 13"/>
            <p:cNvSpPr>
              <a:spLocks noChangeShapeType="1"/>
            </p:cNvSpPr>
            <p:nvPr/>
          </p:nvSpPr>
          <p:spPr bwMode="auto">
            <a:xfrm flipV="1">
              <a:off x="3276600" y="14478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Line 14"/>
            <p:cNvSpPr>
              <a:spLocks noChangeShapeType="1"/>
            </p:cNvSpPr>
            <p:nvPr/>
          </p:nvSpPr>
          <p:spPr bwMode="auto">
            <a:xfrm>
              <a:off x="3276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Line 15"/>
            <p:cNvSpPr>
              <a:spLocks noChangeShapeType="1"/>
            </p:cNvSpPr>
            <p:nvPr/>
          </p:nvSpPr>
          <p:spPr bwMode="auto">
            <a:xfrm flipV="1">
              <a:off x="47244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Line 16"/>
            <p:cNvSpPr>
              <a:spLocks noChangeShapeType="1"/>
            </p:cNvSpPr>
            <p:nvPr/>
          </p:nvSpPr>
          <p:spPr bwMode="auto">
            <a:xfrm>
              <a:off x="6324600" y="457200"/>
              <a:ext cx="11430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Line 17"/>
            <p:cNvSpPr>
              <a:spLocks noChangeShapeType="1"/>
            </p:cNvSpPr>
            <p:nvPr/>
          </p:nvSpPr>
          <p:spPr bwMode="auto">
            <a:xfrm flipV="1">
              <a:off x="6324600" y="1524000"/>
              <a:ext cx="1143000" cy="685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Line 18"/>
            <p:cNvSpPr>
              <a:spLocks noChangeShapeType="1"/>
            </p:cNvSpPr>
            <p:nvPr/>
          </p:nvSpPr>
          <p:spPr bwMode="auto">
            <a:xfrm>
              <a:off x="4800600" y="1447800"/>
              <a:ext cx="1066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Line 19"/>
            <p:cNvSpPr>
              <a:spLocks noChangeShapeType="1"/>
            </p:cNvSpPr>
            <p:nvPr/>
          </p:nvSpPr>
          <p:spPr bwMode="auto">
            <a:xfrm>
              <a:off x="1524000" y="1524000"/>
              <a:ext cx="609600" cy="14478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Line 20"/>
            <p:cNvSpPr>
              <a:spLocks noChangeShapeType="1"/>
            </p:cNvSpPr>
            <p:nvPr/>
          </p:nvSpPr>
          <p:spPr bwMode="auto">
            <a:xfrm>
              <a:off x="2362200" y="3200400"/>
              <a:ext cx="2438400" cy="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" name="Line 21"/>
            <p:cNvSpPr>
              <a:spLocks noChangeShapeType="1"/>
            </p:cNvSpPr>
            <p:nvPr/>
          </p:nvSpPr>
          <p:spPr bwMode="auto">
            <a:xfrm flipV="1">
              <a:off x="5257800" y="2438400"/>
              <a:ext cx="685800" cy="762000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600" b="1">
                <a:solidFill>
                  <a:srgbClr val="66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22"/>
            <p:cNvSpPr txBox="1">
              <a:spLocks noChangeArrowheads="1"/>
            </p:cNvSpPr>
            <p:nvPr/>
          </p:nvSpPr>
          <p:spPr bwMode="auto">
            <a:xfrm>
              <a:off x="189865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23"/>
            <p:cNvSpPr txBox="1">
              <a:spLocks noChangeArrowheads="1"/>
            </p:cNvSpPr>
            <p:nvPr/>
          </p:nvSpPr>
          <p:spPr bwMode="auto">
            <a:xfrm>
              <a:off x="2133600" y="12493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Text Box 24"/>
            <p:cNvSpPr txBox="1">
              <a:spLocks noChangeArrowheads="1"/>
            </p:cNvSpPr>
            <p:nvPr/>
          </p:nvSpPr>
          <p:spPr bwMode="auto">
            <a:xfrm>
              <a:off x="1822450" y="19240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25"/>
            <p:cNvSpPr txBox="1">
              <a:spLocks noChangeArrowheads="1"/>
            </p:cNvSpPr>
            <p:nvPr/>
          </p:nvSpPr>
          <p:spPr bwMode="auto">
            <a:xfrm>
              <a:off x="3346450" y="26971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Text Box 26"/>
            <p:cNvSpPr txBox="1">
              <a:spLocks noChangeArrowheads="1"/>
            </p:cNvSpPr>
            <p:nvPr/>
          </p:nvSpPr>
          <p:spPr bwMode="auto">
            <a:xfrm>
              <a:off x="3657600" y="334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Text Box 27"/>
            <p:cNvSpPr txBox="1">
              <a:spLocks noChangeArrowheads="1"/>
            </p:cNvSpPr>
            <p:nvPr/>
          </p:nvSpPr>
          <p:spPr bwMode="auto">
            <a:xfrm>
              <a:off x="3565525" y="139065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28"/>
            <p:cNvSpPr txBox="1">
              <a:spLocks noChangeArrowheads="1"/>
            </p:cNvSpPr>
            <p:nvPr/>
          </p:nvSpPr>
          <p:spPr bwMode="auto">
            <a:xfrm>
              <a:off x="5022850" y="3810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8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Text Box 29"/>
            <p:cNvSpPr txBox="1">
              <a:spLocks noChangeArrowheads="1"/>
            </p:cNvSpPr>
            <p:nvPr/>
          </p:nvSpPr>
          <p:spPr bwMode="auto">
            <a:xfrm>
              <a:off x="5181600" y="1371600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Text Box 30"/>
            <p:cNvSpPr txBox="1">
              <a:spLocks noChangeArrowheads="1"/>
            </p:cNvSpPr>
            <p:nvPr/>
          </p:nvSpPr>
          <p:spPr bwMode="auto">
            <a:xfrm>
              <a:off x="6775450" y="2587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6384925" y="14779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Text Box 32"/>
            <p:cNvSpPr txBox="1">
              <a:spLocks noChangeArrowheads="1"/>
            </p:cNvSpPr>
            <p:nvPr/>
          </p:nvSpPr>
          <p:spPr bwMode="auto">
            <a:xfrm>
              <a:off x="5165725" y="2468563"/>
              <a:ext cx="351378" cy="49244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520950" y="2366963"/>
          <a:ext cx="6096000" cy="741680"/>
        </p:xfrm>
        <a:graphic>
          <a:graphicData uri="http://schemas.openxmlformats.org/drawingml/2006/table">
            <a:tbl>
              <a:tblPr firstRow="1" bandRow="1"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dirty="0"/>
                        <a:t>k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 err="1">
                          <a:latin typeface="+mn-ea"/>
                          <a:ea typeface="+mn-ea"/>
                        </a:rPr>
                        <a:t>vl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8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10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16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14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b="1" dirty="0">
                          <a:latin typeface="+mn-ea"/>
                          <a:ea typeface="+mn-ea"/>
                        </a:rPr>
                        <a:t>18</a:t>
                      </a:r>
                      <a:endParaRPr lang="zh-CN" altLang="en-US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008EC4"/>
                      </a:solidFill>
                    </a:lnL>
                    <a:lnR w="12700" cmpd="sng">
                      <a:solidFill>
                        <a:srgbClr val="008EC4"/>
                      </a:solidFill>
                    </a:lnR>
                    <a:lnT w="12700" cmpd="sng">
                      <a:solidFill>
                        <a:srgbClr val="008EC4"/>
                      </a:solidFill>
                    </a:lnT>
                    <a:lnB w="12700" cmpd="sng">
                      <a:solidFill>
                        <a:srgbClr val="008EC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EC4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42" grpId="0" animBg="1"/>
      <p:bldP spid="43" grpId="0"/>
      <p:bldP spid="44" grpId="0"/>
      <p:bldP spid="45" grpId="0"/>
      <p:bldP spid="47" grpId="0"/>
      <p:bldP spid="48" grpId="0"/>
      <p:bldP spid="49" grpId="0"/>
      <p:bldP spid="50" grpId="0"/>
      <p:bldP spid="50" grpId="1"/>
      <p:bldP spid="51" grpId="0"/>
      <p:bldP spid="52" grpId="0"/>
      <p:bldP spid="53" grpId="0"/>
      <p:bldP spid="54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654F-A48B-4CCA-83D4-9A50F788CBC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63"/>
          <p:cNvSpPr txBox="1">
            <a:spLocks noChangeArrowheads="1"/>
          </p:cNvSpPr>
          <p:nvPr/>
        </p:nvSpPr>
        <p:spPr bwMode="auto">
          <a:xfrm>
            <a:off x="642911" y="2143116"/>
            <a:ext cx="7929618" cy="581762"/>
          </a:xfrm>
          <a:prstGeom prst="rect">
            <a:avLst/>
          </a:prstGeom>
          <a:gradFill rotWithShape="1">
            <a:gsLst>
              <a:gs pos="0">
                <a:srgbClr val="FFFFFF">
                  <a:shade val="51000"/>
                  <a:satMod val="130000"/>
                </a:srgbClr>
              </a:gs>
              <a:gs pos="80000">
                <a:srgbClr val="FFFFFF">
                  <a:shade val="93000"/>
                  <a:satMod val="130000"/>
                </a:srgbClr>
              </a:gs>
              <a:gs pos="100000">
                <a:srgbClr val="FFFFFF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最早开始时间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=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最晚开始时间的活动为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关键活动。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流程图: 资料带 13"/>
          <p:cNvSpPr/>
          <p:nvPr/>
        </p:nvSpPr>
        <p:spPr bwMode="auto">
          <a:xfrm>
            <a:off x="2285984" y="3714752"/>
            <a:ext cx="4572032" cy="2143140"/>
          </a:xfrm>
          <a:prstGeom prst="flowChartPunchedTape">
            <a:avLst/>
          </a:prstGeom>
          <a:solidFill>
            <a:srgbClr val="DBF5F9">
              <a:lumMod val="90000"/>
            </a:srgb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如何求关键活动？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1501-8AC6-4F8F-92BF-00DF01A4D97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47662" y="1212850"/>
            <a:ext cx="3479800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如何求关键活动？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442912" y="2427287"/>
            <a:ext cx="8215313" cy="1643063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事件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顶点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)”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 最早发生时间 </a:t>
            </a:r>
            <a:r>
              <a:rPr kumimoji="1" lang="en-US" altLang="zh-CN" sz="3600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(j)</a:t>
            </a:r>
            <a:endParaRPr kumimoji="1" lang="en-US" altLang="zh-CN" sz="36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ve(j) = </a:t>
            </a:r>
            <a:r>
              <a:rPr kumimoji="1" lang="zh-CN" altLang="en-US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从源点到顶点</a:t>
            </a: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zh-CN" altLang="en-US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的最长路径长度；</a:t>
            </a:r>
            <a:endParaRPr kumimoji="1" lang="zh-CN" altLang="en-US" sz="36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19100" y="4527550"/>
            <a:ext cx="8572500" cy="1557349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事件</a:t>
            </a:r>
            <a:r>
              <a:rPr kumimoji="1" lang="en-US" altLang="zh-CN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顶点</a:t>
            </a:r>
            <a:r>
              <a:rPr kumimoji="1" lang="en-US" altLang="zh-CN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)” </a:t>
            </a:r>
            <a:r>
              <a:rPr kumimoji="1" lang="zh-CN" altLang="en-US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 最迟发生时间 </a:t>
            </a:r>
            <a:r>
              <a:rPr kumimoji="1" lang="en-US" altLang="zh-CN" sz="3600" b="1" i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6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(k) </a:t>
            </a:r>
            <a:endParaRPr kumimoji="1" lang="en-US" altLang="zh-CN" sz="36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lvl="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(k) =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汇点</a:t>
            </a:r>
            <a:r>
              <a:rPr kumimoji="1" lang="zh-CN" altLang="en-US" sz="2800" b="1" kern="0" dirty="0">
                <a:solidFill>
                  <a:srgbClr val="FF0000"/>
                </a:solidFill>
                <a:latin typeface="Constantia" panose="02030602050306030303"/>
                <a:ea typeface="楷体_GB2312" pitchFamily="49" charset="-122"/>
              </a:rPr>
              <a:t>最早发生时间</a:t>
            </a:r>
            <a:r>
              <a:rPr kumimoji="1" lang="en-US" altLang="zh-CN" sz="2800" b="1" kern="0" dirty="0">
                <a:solidFill>
                  <a:srgbClr val="FF0000"/>
                </a:solidFill>
                <a:latin typeface="Constantia" panose="02030602050306030303"/>
                <a:ea typeface="楷体_GB2312" pitchFamily="49" charset="-122"/>
              </a:rPr>
              <a:t>-</a:t>
            </a:r>
            <a:r>
              <a:rPr kumimoji="1" lang="en-US" altLang="zh-CN" sz="2800" b="1" kern="0" dirty="0" err="1">
                <a:solidFill>
                  <a:srgbClr val="FF0000"/>
                </a:solidFill>
                <a:latin typeface="Constantia" panose="02030602050306030303"/>
                <a:ea typeface="楷体_GB2312" pitchFamily="49" charset="-122"/>
              </a:rPr>
              <a:t>vk</a:t>
            </a:r>
            <a:r>
              <a:rPr kumimoji="1" lang="zh-CN" altLang="en-US" sz="2800" b="1" kern="0" dirty="0">
                <a:solidFill>
                  <a:srgbClr val="FF0000"/>
                </a:solidFill>
                <a:latin typeface="Constantia" panose="02030602050306030303"/>
                <a:ea typeface="楷体_GB2312" pitchFamily="49" charset="-122"/>
              </a:rPr>
              <a:t>到汇点的最长路径长度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  <p:bldP spid="15" grpId="0" animBg="1" autoUpdateAnimBg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4854-2330-45A4-9BF0-C6EFB003C8E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38200" y="1560512"/>
            <a:ext cx="7662863" cy="5262563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假设第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条弧为 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&lt;j, k&gt;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弧尾是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j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则 对第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项活动而言</a:t>
            </a:r>
            <a:endParaRPr kumimoji="1" lang="zh-CN" altLang="en-US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“活动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)”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 最早开始时间 </a:t>
            </a:r>
            <a:r>
              <a:rPr kumimoji="1" lang="en-US" altLang="zh-CN" sz="32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e(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 =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(j)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//</a:t>
            </a:r>
            <a:r>
              <a:rPr kumimoji="1"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弧尾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与顶点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1"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的最早开始时间相同</a:t>
            </a:r>
            <a:endParaRPr kumimoji="1"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“活动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)”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 最迟开始时间 </a:t>
            </a:r>
            <a:r>
              <a:rPr kumimoji="1" lang="en-US" altLang="zh-CN" sz="32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l(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 =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(k) –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dut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(&lt;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j,k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&gt;)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85750" y="1066800"/>
            <a:ext cx="3479800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如何求关键活动？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utoUpdateAnimBg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D737-3538-428E-925E-EAFE21734A6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52487" y="2081212"/>
            <a:ext cx="6386513" cy="3786188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事件发生时间的计算公式：</a:t>
            </a:r>
            <a:endParaRPr kumimoji="1" lang="zh-CN" altLang="en-US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源点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 = 0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(k) = Max{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(j) +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dut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(&lt;j, k&gt;)}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汇点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 =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汇点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(j) = Min{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(k) – </a:t>
            </a:r>
            <a:r>
              <a:rPr kumimoji="1"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dut</a:t>
            </a:r>
            <a:r>
              <a:rPr kumimoji="1"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(&lt;j, k&gt;)}</a:t>
            </a:r>
            <a:endParaRPr kumimoji="1" lang="en-US" altLang="zh-CN" sz="32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92112" y="1247775"/>
            <a:ext cx="3479800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如何求关键活动？</a:t>
            </a:r>
            <a:endParaRPr kumimoji="1" lang="zh-CN" altLang="en-US" sz="2800" b="1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utoUpdateAnimBg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0C7B-914A-42FB-8CAC-FDFE058BC07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6"/>
          <p:cNvSpPr txBox="1">
            <a:spLocks noChangeArrowheads="1"/>
          </p:cNvSpPr>
          <p:nvPr/>
        </p:nvSpPr>
        <p:spPr bwMode="auto">
          <a:xfrm>
            <a:off x="468313" y="1219200"/>
            <a:ext cx="41036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求关键活动算法要点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28688" y="2527300"/>
            <a:ext cx="7286625" cy="6826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ve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的顺序是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按拓扑有序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次序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32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009650" y="3157538"/>
            <a:ext cx="6596063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vl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的顺序是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按拓扑逆序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次序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3200" b="1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041400" y="4313238"/>
            <a:ext cx="7188200" cy="1865312"/>
          </a:xfrm>
          <a:prstGeom prst="rect">
            <a:avLst/>
          </a:prstGeom>
          <a:noFill/>
          <a:ln w="12700" cap="sq">
            <a:solidFill>
              <a:srgbClr val="0707F9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方法：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在拓扑排序的过程中，另设一个“栈”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记下拓扑有序序列。</a:t>
            </a:r>
            <a:endParaRPr kumimoji="1"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476250" y="1884363"/>
            <a:ext cx="7981950" cy="584200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拓扑逆序序列即为拓扑有序序列的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tantia" panose="02030602050306030303"/>
                <a:ea typeface="楷体_GB2312" pitchFamily="49" charset="-122"/>
                <a:cs typeface="+mn-cs"/>
              </a:rPr>
              <a:t>逆序列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nstantia" panose="02030602050306030303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6" grpId="0" animBg="1" autoUpdateAnimBg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5B924-F1D1-4813-AA92-BCB8B4BA872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11163" y="2095500"/>
            <a:ext cx="8351837" cy="22467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(1)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求出每个事件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的最早发生时间</a:t>
            </a:r>
            <a:r>
              <a:rPr kumimoji="1" lang="en-US" altLang="zh-CN" sz="2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ve</a:t>
            </a:r>
            <a:r>
              <a:rPr kumimoji="1"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1" lang="en-US" altLang="zh-CN" sz="2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和最晚发生</a:t>
            </a:r>
            <a:r>
              <a:rPr kumimoji="1" lang="en-US" altLang="zh-CN" sz="2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kumimoji="1" lang="en-US" altLang="zh-CN" sz="28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kumimoji="1" lang="en-US" altLang="zh-CN" sz="2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(2)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求出每个活动最早开始时间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e(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和最晚开始时间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l(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):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 e(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)=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ve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[j]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 l(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)=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[k]-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dut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(&lt;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j,k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&gt;)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Box 36"/>
          <p:cNvSpPr txBox="1">
            <a:spLocks noChangeArrowheads="1"/>
          </p:cNvSpPr>
          <p:nvPr/>
        </p:nvSpPr>
        <p:spPr bwMode="auto">
          <a:xfrm>
            <a:off x="411163" y="1325562"/>
            <a:ext cx="41036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求关键活动算法要点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auto">
          <a:xfrm>
            <a:off x="228600" y="4327525"/>
            <a:ext cx="8351838" cy="1235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(3)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比较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e(i)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l(i)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， </a:t>
            </a:r>
            <a:r>
              <a:rPr kumimoji="1" lang="en-US" altLang="zh-CN" sz="3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e(i)</a:t>
            </a:r>
            <a:r>
              <a:rPr kumimoji="1" lang="zh-CN" altLang="en-US" sz="3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kumimoji="1" lang="en-US" altLang="zh-CN" sz="3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l(i)</a:t>
            </a:r>
            <a:r>
              <a:rPr kumimoji="1" lang="zh-CN" altLang="en-US" sz="3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相等</a:t>
            </a:r>
            <a:r>
              <a:rPr kumimoji="1" lang="zh-CN" altLang="en-US" sz="3000">
                <a:solidFill>
                  <a:srgbClr val="0707F9"/>
                </a:solidFill>
                <a:latin typeface="微软雅黑" panose="020B0503020204020204" charset="-122"/>
                <a:ea typeface="微软雅黑" panose="020B0503020204020204" charset="-122"/>
              </a:rPr>
              <a:t>的活动即为</a:t>
            </a:r>
            <a:r>
              <a:rPr kumimoji="1" lang="zh-CN" altLang="en-US" sz="3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关键活动</a:t>
            </a:r>
            <a:r>
              <a:rPr kumimoji="1" lang="zh-CN" altLang="en-US" sz="3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1" lang="zh-CN" altLang="en-US" sz="30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3755-89AB-44F4-B619-1936A03F259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1938338"/>
            <a:ext cx="8064500" cy="170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第一步为</a:t>
            </a:r>
            <a:r>
              <a:rPr kumimoji="1"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前进阶段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ve[1]=0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沿着路径上每条边的方向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用如下公式求每个事件的最早发生时间</a:t>
            </a:r>
            <a:r>
              <a:rPr kumimoji="1"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: ve[j]=</a:t>
            </a:r>
            <a:endParaRPr kumimoji="1" lang="en-US" altLang="zh-CN" sz="28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2195513" y="3019425"/>
          <a:ext cx="47529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" name="公式" r:id="rId2" imgW="1574800" imgH="279400" progId="Equation.3">
                  <p:embed/>
                </p:oleObj>
              </mc:Choice>
              <mc:Fallback>
                <p:oleObj name="公式" r:id="rId2" imgW="1574800" imgH="279400" progId="Equation.3">
                  <p:embed/>
                  <p:pic>
                    <p:nvPicPr>
                      <p:cNvPr id="0" name="图片 98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019425"/>
                        <a:ext cx="475297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396875" y="1290638"/>
            <a:ext cx="748823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求事件的最早发生时间和最晚发生时间步骤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468313" y="3810000"/>
            <a:ext cx="8064500" cy="222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第二步为</a:t>
            </a:r>
            <a:r>
              <a:rPr kumimoji="1"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回退阶段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从已求出的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[n]=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ve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[n]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沿着路径上每条边的相反方向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kumimoji="1"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用如下公式求每个事件的最迟发生时间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vl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kumimoji="1"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]=</a:t>
            </a:r>
            <a:endParaRPr kumimoji="1"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1547813" y="5394325"/>
          <a:ext cx="58007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9" name="公式" r:id="rId4" imgW="1574800" imgH="292100" progId="Equation.3">
                  <p:embed/>
                </p:oleObj>
              </mc:Choice>
              <mc:Fallback>
                <p:oleObj name="公式" r:id="rId4" imgW="1574800" imgH="292100" progId="Equation.3">
                  <p:embed/>
                  <p:pic>
                    <p:nvPicPr>
                      <p:cNvPr id="0" name="图片 9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394325"/>
                        <a:ext cx="58007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30D2-8387-4CA3-B8C6-051232E64F9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462088" y="1538288"/>
            <a:ext cx="678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95288" y="1219200"/>
            <a:ext cx="49418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关键路径算法所用数据结构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928688" y="1670050"/>
            <a:ext cx="7029450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float ve[n],vl[n];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记录事件的最早发生时间和最晚发生时间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871538" y="2813050"/>
            <a:ext cx="7129462" cy="5238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邻接表的存储表示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Group 2"/>
          <p:cNvGraphicFramePr>
            <a:graphicFrameLocks noGrp="1"/>
          </p:cNvGraphicFramePr>
          <p:nvPr/>
        </p:nvGraphicFramePr>
        <p:xfrm>
          <a:off x="4014788" y="4994275"/>
          <a:ext cx="863601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255588"/>
                <a:gridCol w="255588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68"/>
          <p:cNvGraphicFramePr>
            <a:graphicFrameLocks noGrp="1"/>
          </p:cNvGraphicFramePr>
          <p:nvPr/>
        </p:nvGraphicFramePr>
        <p:xfrm>
          <a:off x="5454650" y="4994275"/>
          <a:ext cx="863601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255588"/>
                <a:gridCol w="255588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Line 76"/>
          <p:cNvSpPr>
            <a:spLocks noChangeShapeType="1"/>
          </p:cNvSpPr>
          <p:nvPr/>
        </p:nvSpPr>
        <p:spPr bwMode="auto">
          <a:xfrm>
            <a:off x="4806950" y="521017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0" name="Group 86"/>
          <p:cNvGraphicFramePr>
            <a:graphicFrameLocks noGrp="1"/>
          </p:cNvGraphicFramePr>
          <p:nvPr/>
        </p:nvGraphicFramePr>
        <p:xfrm>
          <a:off x="6894513" y="4994275"/>
          <a:ext cx="977710" cy="427037"/>
        </p:xfrm>
        <a:graphic>
          <a:graphicData uri="http://schemas.openxmlformats.org/drawingml/2006/table">
            <a:tbl>
              <a:tblPr/>
              <a:tblGrid>
                <a:gridCol w="352425"/>
                <a:gridCol w="369697"/>
                <a:gridCol w="255588"/>
              </a:tblGrid>
              <a:tr h="4270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Line 94"/>
          <p:cNvSpPr>
            <a:spLocks noChangeShapeType="1"/>
          </p:cNvSpPr>
          <p:nvPr/>
        </p:nvSpPr>
        <p:spPr bwMode="auto">
          <a:xfrm>
            <a:off x="6246813" y="521017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22" name="Line 95"/>
          <p:cNvSpPr>
            <a:spLocks noChangeShapeType="1"/>
          </p:cNvSpPr>
          <p:nvPr/>
        </p:nvSpPr>
        <p:spPr bwMode="auto">
          <a:xfrm>
            <a:off x="3295650" y="5210175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8"/>
          <p:cNvGraphicFramePr>
            <a:graphicFrameLocks noGrp="1"/>
          </p:cNvGraphicFramePr>
          <p:nvPr/>
        </p:nvGraphicFramePr>
        <p:xfrm>
          <a:off x="1714480" y="4527554"/>
          <a:ext cx="1879599" cy="36576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960791"/>
                <a:gridCol w="918808"/>
              </a:tblGrid>
              <a:tr h="3349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data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firstarc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Group 3"/>
          <p:cNvGraphicFramePr>
            <a:graphicFrameLocks noGrp="1"/>
          </p:cNvGraphicFramePr>
          <p:nvPr/>
        </p:nvGraphicFramePr>
        <p:xfrm>
          <a:off x="3929058" y="4456116"/>
          <a:ext cx="2357454" cy="36792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009DD9">
                        <a:tint val="50000"/>
                        <a:satMod val="300000"/>
                      </a:srgbClr>
                    </a:gs>
                    <a:gs pos="35000">
                      <a:srgbClr val="009DD9">
                        <a:tint val="37000"/>
                        <a:satMod val="300000"/>
                      </a:srgbClr>
                    </a:gs>
                    <a:gs pos="100000">
                      <a:srgbClr val="009DD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889384"/>
                <a:gridCol w="1468070"/>
              </a:tblGrid>
              <a:tr h="3571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adjvex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info  </a:t>
                      </a:r>
                      <a:r>
                        <a:rPr kumimoji="0" lang="en-US" altLang="zh-CN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nextarc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9DD9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1958975" y="5099050"/>
            <a:ext cx="369888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6" name="直接箭头连接符 15"/>
          <p:cNvCxnSpPr>
            <a:cxnSpLocks noChangeShapeType="1"/>
            <a:stCxn id="25" idx="3"/>
          </p:cNvCxnSpPr>
          <p:nvPr/>
        </p:nvCxnSpPr>
        <p:spPr bwMode="auto">
          <a:xfrm flipV="1">
            <a:off x="2328863" y="5099050"/>
            <a:ext cx="357187" cy="246063"/>
          </a:xfrm>
          <a:prstGeom prst="straightConnector1">
            <a:avLst/>
          </a:prstGeom>
          <a:noFill/>
          <a:ln w="28575" algn="ctr">
            <a:solidFill>
              <a:srgbClr val="0707F9"/>
            </a:solidFill>
            <a:miter lim="800000"/>
            <a:tailEnd type="arrow" w="med" len="med"/>
          </a:ln>
        </p:spPr>
      </p:cxnSp>
      <p:sp>
        <p:nvSpPr>
          <p:cNvPr id="27" name="TextBox 16"/>
          <p:cNvSpPr txBox="1">
            <a:spLocks noChangeArrowheads="1"/>
          </p:cNvSpPr>
          <p:nvPr/>
        </p:nvSpPr>
        <p:spPr bwMode="auto">
          <a:xfrm>
            <a:off x="4030663" y="5392738"/>
            <a:ext cx="369887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" name="Group 43"/>
          <p:cNvGraphicFramePr>
            <a:graphicFrameLocks noGrp="1"/>
          </p:cNvGraphicFramePr>
          <p:nvPr/>
        </p:nvGraphicFramePr>
        <p:xfrm>
          <a:off x="2776538" y="4956175"/>
          <a:ext cx="889000" cy="1209674"/>
        </p:xfrm>
        <a:graphic>
          <a:graphicData uri="http://schemas.openxmlformats.org/drawingml/2006/table">
            <a:tbl>
              <a:tblPr/>
              <a:tblGrid>
                <a:gridCol w="409575"/>
                <a:gridCol w="479425"/>
              </a:tblGrid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" name="TextBox 18"/>
          <p:cNvSpPr txBox="1">
            <a:spLocks noChangeArrowheads="1"/>
          </p:cNvSpPr>
          <p:nvPr/>
        </p:nvSpPr>
        <p:spPr bwMode="auto">
          <a:xfrm>
            <a:off x="5143500" y="3884613"/>
            <a:ext cx="8032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边表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Box 19"/>
          <p:cNvSpPr txBox="1">
            <a:spLocks noChangeArrowheads="1"/>
          </p:cNvSpPr>
          <p:nvPr/>
        </p:nvSpPr>
        <p:spPr bwMode="auto">
          <a:xfrm>
            <a:off x="2143125" y="4027488"/>
            <a:ext cx="1112838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顶点表</a:t>
            </a:r>
            <a:endParaRPr kumimoji="1" lang="zh-CN" altLang="en-US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 rot="5400000">
            <a:off x="5180013" y="4635500"/>
            <a:ext cx="357188" cy="1587"/>
          </a:xfrm>
          <a:prstGeom prst="line">
            <a:avLst/>
          </a:prstGeom>
          <a:noFill/>
          <a:ln w="12700" cap="flat" cmpd="sng" algn="ctr">
            <a:solidFill>
              <a:srgbClr val="04617B">
                <a:lumMod val="60000"/>
                <a:lumOff val="4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2" name="TextBox 22"/>
          <p:cNvSpPr txBox="1">
            <a:spLocks noChangeArrowheads="1"/>
          </p:cNvSpPr>
          <p:nvPr/>
        </p:nvSpPr>
        <p:spPr bwMode="auto">
          <a:xfrm>
            <a:off x="2786063" y="6170613"/>
            <a:ext cx="850900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6600CC"/>
                </a:solidFill>
                <a:latin typeface="Times New Roman" panose="02020603050405020304" pitchFamily="18" charset="0"/>
              </a:rPr>
              <a:t>……</a:t>
            </a:r>
            <a:endParaRPr kumimoji="1" lang="zh-CN" altLang="en-US" sz="26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125E-AA75-4C60-ABEB-E1BF12F4E74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11188" y="2193925"/>
            <a:ext cx="7848600" cy="4247317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修改后的拓扑排序只是添加了求事件的最早开始时间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Stack </a:t>
            </a:r>
            <a:r>
              <a:rPr kumimoji="1" lang="en-US" altLang="zh-CN" sz="2800" b="1" dirty="0" err="1">
                <a:solidFill>
                  <a:srgbClr val="0707F9"/>
                </a:solidFill>
                <a:latin typeface="Times New Roman" panose="02020603050405020304" pitchFamily="18" charset="0"/>
              </a:rPr>
              <a:t>S;int</a:t>
            </a: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count=0,k;</a:t>
            </a:r>
            <a:endParaRPr kumimoji="1" lang="en-US" altLang="zh-CN" sz="2800" b="1" dirty="0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 char </a:t>
            </a:r>
            <a:r>
              <a:rPr kumimoji="1" lang="en-US" altLang="zh-CN" sz="2800" b="1" dirty="0" err="1">
                <a:solidFill>
                  <a:srgbClr val="0707F9"/>
                </a:solidFill>
                <a:latin typeface="Times New Roman" panose="02020603050405020304" pitchFamily="18" charset="0"/>
              </a:rPr>
              <a:t>indegree</a:t>
            </a: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[40];  </a:t>
            </a:r>
            <a:r>
              <a:rPr kumimoji="1" lang="en-US" altLang="zh-CN" sz="2800" b="1" dirty="0" err="1">
                <a:solidFill>
                  <a:srgbClr val="0707F9"/>
                </a:solidFill>
                <a:latin typeface="Times New Roman" panose="02020603050405020304" pitchFamily="18" charset="0"/>
              </a:rPr>
              <a:t>ArcNode</a:t>
            </a: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*p;</a:t>
            </a:r>
            <a:endParaRPr kumimoji="1" lang="en-US" altLang="zh-CN" sz="2800" b="1" dirty="0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707F9"/>
                </a:solidFill>
                <a:latin typeface="Times New Roman" panose="02020603050405020304" pitchFamily="18" charset="0"/>
              </a:rPr>
              <a:t>InitStack</a:t>
            </a: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(S);</a:t>
            </a:r>
            <a:endParaRPr kumimoji="1" lang="en-US" altLang="zh-CN" sz="2800" b="1" dirty="0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FindInDegree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(G,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indegree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);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for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j=0; j&lt;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G.vexnum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++j)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               //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建零入度顶点栈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indegree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[j]==0) Push(S, j);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入度为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者进栈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InitStack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(T);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建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拓扑序列顶点栈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T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707F9"/>
                </a:solidFill>
                <a:latin typeface="Times New Roman" panose="02020603050405020304" pitchFamily="18" charset="0"/>
              </a:rPr>
              <a:t>  count = 0;    </a:t>
            </a:r>
            <a:endParaRPr kumimoji="1" lang="en-US" altLang="zh-CN" sz="2800" b="1" dirty="0">
              <a:solidFill>
                <a:srgbClr val="0707F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304800" y="1136650"/>
            <a:ext cx="4941888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矩形 6"/>
          <p:cNvSpPr>
            <a:spLocks noChangeArrowheads="1"/>
          </p:cNvSpPr>
          <p:nvPr/>
        </p:nvSpPr>
        <p:spPr bwMode="auto">
          <a:xfrm>
            <a:off x="285750" y="1636712"/>
            <a:ext cx="68580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707F9"/>
                </a:solidFill>
                <a:latin typeface="Times New Roman" panose="02020603050405020304" pitchFamily="18" charset="0"/>
              </a:rPr>
              <a:t>status TopologicalOrder(ALGraph G, Stack &amp;T)</a:t>
            </a:r>
            <a:endParaRPr kumimoji="1" lang="en-US" altLang="zh-CN" sz="2400" b="1">
              <a:solidFill>
                <a:srgbClr val="0707F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0947-6741-4C86-91F6-5AFD18DBFA0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750" y="1985963"/>
            <a:ext cx="8208963" cy="2586037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for (int i=0; i&lt;G.vexnum; i++) ve[i] = 0;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初始化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while (!StackEmpty(S)) {</a:t>
            </a:r>
            <a:endParaRPr kumimoji="1" lang="en-US" altLang="zh-CN" sz="28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     Pop(S, j);Push(T, j);++count;</a:t>
            </a:r>
            <a:endParaRPr kumimoji="1" lang="en-US" altLang="zh-CN" sz="2800" b="1">
              <a:solidFill>
                <a:srgbClr val="0707F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for (p=G.vertices[j].firstarc; p; p=p-&gt;nextarc)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{ k = p-&gt;adjvex;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号顶点的每个邻接点的入度减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      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22275" y="1249363"/>
            <a:ext cx="4941888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9398-31EB-47E1-9A24-24517353020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00063" y="1995487"/>
            <a:ext cx="8208962" cy="387798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(--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indegree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[k] == 0) Push(S, k);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若入度减为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，则入栈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if (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[j]+p-&gt;info &gt;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[k])//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求事件的最早开始时间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[k] =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[j]+p-&gt;info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;// *p-&gt;info=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j,k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(count&lt;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G.vexnum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 return ERROR;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else return OK;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//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TopologicalOrder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22275" y="1258887"/>
            <a:ext cx="49418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156325" y="1403350"/>
            <a:ext cx="1800225" cy="519112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接上页</a:t>
            </a:r>
            <a:endParaRPr kumimoji="1" lang="zh-CN" altLang="en-US" sz="3600" b="1" i="0" u="sng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流程图: 资料带 15"/>
          <p:cNvSpPr/>
          <p:nvPr/>
        </p:nvSpPr>
        <p:spPr bwMode="auto">
          <a:xfrm>
            <a:off x="1357313" y="5976937"/>
            <a:ext cx="3500437" cy="500063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修改后的拓扑排序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707F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B506-50C2-4513-B04B-3333522B41F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8575" y="100013"/>
            <a:ext cx="6802438" cy="671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流程图: 资料带 13"/>
          <p:cNvSpPr/>
          <p:nvPr/>
        </p:nvSpPr>
        <p:spPr bwMode="auto">
          <a:xfrm>
            <a:off x="3929063" y="6215063"/>
            <a:ext cx="3500437" cy="500062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修改后的拓扑排序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707F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D07C-0800-47AC-83D5-751C13A450E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750" y="1779588"/>
            <a:ext cx="7632700" cy="46974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Status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CriticalPath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ALGraph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G) {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// G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为有向网，输出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的各项关键活动。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Stack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T;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a,j,k,el,ee,dut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char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tag;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ArcNode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*p;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(!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TopologicalOrder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(G, T))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ERROR;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for(a=0; a&lt;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G.vexnum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 a++)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[a] =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[G.vexnum-1];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初始化顶点事件的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最迟发生时间</a:t>
            </a:r>
            <a:endParaRPr kumimoji="1" lang="zh-CN" altLang="en-US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288" y="1185878"/>
            <a:ext cx="49418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4C69-FE43-4415-AB4F-7B400490347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42875" y="2089150"/>
            <a:ext cx="8929688" cy="3016250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(!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StackEmpty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(T))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按拓扑逆序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求各顶点的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值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(Pop(T, j), p=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G.vertices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[j].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firstarc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 p; p=p-&gt;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nextarc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k=p-&gt;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adjvex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=p-&gt;info;                 //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j,k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if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[k]-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&lt;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[j])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 =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[k]-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288" y="1241425"/>
            <a:ext cx="49418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24C2-03D0-461A-A42F-5766F3F78D9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85750" y="1627187"/>
            <a:ext cx="8429625" cy="5170488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(j=0; j&lt;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G.vexnum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++j)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ee,el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和关键活动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(p=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G.vertices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[j].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firstarc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  p; p=p-&gt;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nextarc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k=p-&gt;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adjvex;dut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=p-&gt;info;  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[j];  el =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vl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[k]-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tag = (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ee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==el) ? '*' : ' ';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(j, k,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dut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ee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el, tag);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输出关键活动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OK;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                                               //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CriticalPath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288" y="1157288"/>
            <a:ext cx="494188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关键路径算法详解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AC5F-EFAF-4B6F-9412-C70BDFF7435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527050"/>
            <a:ext cx="7200900" cy="614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9.5.2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BCF98-3877-4F4C-B441-DDAE4DA07B4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5288" y="1285875"/>
            <a:ext cx="21605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0" y="4637088"/>
            <a:ext cx="9144000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042988" y="2727325"/>
            <a:ext cx="6913562" cy="2759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在拓扑排序求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Ve[i]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和逆拓扑有序求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Vl[i]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所需时间为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O(n+e)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  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求各个活动的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e[k]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l[k]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时所需时间为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O(e)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总共花费时间仍然是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O(n+e)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3F42-74FF-4D47-A008-3CCDCB2D0F8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139825" y="2665413"/>
            <a:ext cx="7924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8       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V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835025" y="2970213"/>
            <a:ext cx="7924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5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 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7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  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8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9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11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13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12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  (a</a:t>
            </a:r>
            <a:r>
              <a:rPr kumimoji="1" lang="en-US" altLang="zh-CN" sz="2400" b="1" baseline="-25000">
                <a:solidFill>
                  <a:srgbClr val="3333FF"/>
                </a:solidFill>
                <a:latin typeface="Times New Roman" panose="02020603050405020304" pitchFamily="18" charset="0"/>
              </a:rPr>
              <a:t>14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31800" y="3438525"/>
            <a:ext cx="111918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ve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216025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0145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27765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6147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3767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1387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59007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13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68151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7500938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15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8226425" y="35036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21</a:t>
            </a:r>
            <a:endParaRPr kumimoji="1" lang="en-US" altLang="zh-CN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487363" y="4705350"/>
            <a:ext cx="8143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850900" y="4752975"/>
            <a:ext cx="1371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(0  0  0)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1917700" y="475297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(4)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2451100" y="4752975"/>
            <a:ext cx="990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(3  3)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3517900" y="4752975"/>
            <a:ext cx="685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(2)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4279900" y="475297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(7)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4813300" y="4752975"/>
            <a:ext cx="914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(8  8)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5575300" y="4752975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(13  13)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6718300" y="475297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(10)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7404100" y="475297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(15)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395288" y="3971925"/>
            <a:ext cx="11191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vl</a:t>
            </a:r>
            <a:r>
              <a:rPr kumimoji="1"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12160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19780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27400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5782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30"/>
          <p:cNvSpPr txBox="1">
            <a:spLocks noChangeArrowheads="1"/>
          </p:cNvSpPr>
          <p:nvPr/>
        </p:nvSpPr>
        <p:spPr bwMode="auto">
          <a:xfrm>
            <a:off x="43402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 Box 31"/>
          <p:cNvSpPr txBox="1">
            <a:spLocks noChangeArrowheads="1"/>
          </p:cNvSpPr>
          <p:nvPr/>
        </p:nvSpPr>
        <p:spPr bwMode="auto">
          <a:xfrm>
            <a:off x="51022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8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58642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13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33"/>
          <p:cNvSpPr txBox="1">
            <a:spLocks noChangeArrowheads="1"/>
          </p:cNvSpPr>
          <p:nvPr/>
        </p:nvSpPr>
        <p:spPr bwMode="auto">
          <a:xfrm>
            <a:off x="67786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74644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16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8226425" y="4037013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21</a:t>
            </a:r>
            <a:endParaRPr kumimoji="1"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39"/>
          <p:cNvSpPr txBox="1">
            <a:spLocks noChangeArrowheads="1"/>
          </p:cNvSpPr>
          <p:nvPr/>
        </p:nvSpPr>
        <p:spPr bwMode="auto">
          <a:xfrm>
            <a:off x="4264025" y="4572000"/>
            <a:ext cx="53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0" y="5972175"/>
            <a:ext cx="6286500" cy="4572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关键活动：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6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9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13</a:t>
            </a:r>
            <a:r>
              <a:rPr kumimoji="1" lang="zh-CN" altLang="en-US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；</a:t>
            </a:r>
            <a:endParaRPr kumimoji="1" lang="zh-CN" altLang="en-US" sz="2400" b="1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0" y="6400800"/>
            <a:ext cx="6215063" cy="457200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关键路径：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5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10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和  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6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7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10 </a:t>
            </a:r>
            <a:r>
              <a:rPr kumimoji="1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。</a:t>
            </a:r>
            <a:endParaRPr kumimoji="1" lang="zh-CN" altLang="en-US" sz="2400" b="1" i="0" u="none" strike="noStrike" kern="0" cap="none" spc="0" normalizeH="0" baseline="-25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0" name="Text Box 45"/>
          <p:cNvSpPr txBox="1">
            <a:spLocks noChangeArrowheads="1"/>
          </p:cNvSpPr>
          <p:nvPr/>
        </p:nvSpPr>
        <p:spPr bwMode="auto">
          <a:xfrm>
            <a:off x="8242300" y="4752975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21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" name="Group 46"/>
          <p:cNvGrpSpPr/>
          <p:nvPr/>
        </p:nvGrpSpPr>
        <p:grpSpPr bwMode="auto">
          <a:xfrm>
            <a:off x="1643063" y="214313"/>
            <a:ext cx="6715125" cy="2438400"/>
            <a:chOff x="384" y="480"/>
            <a:chExt cx="3360" cy="1488"/>
          </a:xfrm>
        </p:grpSpPr>
        <p:grpSp>
          <p:nvGrpSpPr>
            <p:cNvPr id="52" name="Group 47"/>
            <p:cNvGrpSpPr/>
            <p:nvPr/>
          </p:nvGrpSpPr>
          <p:grpSpPr bwMode="auto">
            <a:xfrm>
              <a:off x="384" y="576"/>
              <a:ext cx="3360" cy="1392"/>
              <a:chOff x="384" y="576"/>
              <a:chExt cx="3360" cy="1392"/>
            </a:xfrm>
          </p:grpSpPr>
          <p:grpSp>
            <p:nvGrpSpPr>
              <p:cNvPr id="67" name="Group 48"/>
              <p:cNvGrpSpPr/>
              <p:nvPr/>
            </p:nvGrpSpPr>
            <p:grpSpPr bwMode="auto">
              <a:xfrm>
                <a:off x="384" y="1104"/>
                <a:ext cx="384" cy="288"/>
                <a:chOff x="480" y="2640"/>
                <a:chExt cx="384" cy="288"/>
              </a:xfrm>
            </p:grpSpPr>
            <p:sp>
              <p:nvSpPr>
                <p:cNvPr id="109" name="Oval 49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0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8" name="Group 51"/>
              <p:cNvGrpSpPr/>
              <p:nvPr/>
            </p:nvGrpSpPr>
            <p:grpSpPr bwMode="auto">
              <a:xfrm>
                <a:off x="912" y="576"/>
                <a:ext cx="384" cy="288"/>
                <a:chOff x="480" y="2640"/>
                <a:chExt cx="384" cy="288"/>
              </a:xfrm>
            </p:grpSpPr>
            <p:sp>
              <p:nvSpPr>
                <p:cNvPr id="107" name="Oval 52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8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" name="Group 54"/>
              <p:cNvGrpSpPr/>
              <p:nvPr/>
            </p:nvGrpSpPr>
            <p:grpSpPr bwMode="auto">
              <a:xfrm>
                <a:off x="912" y="1104"/>
                <a:ext cx="384" cy="288"/>
                <a:chOff x="480" y="2640"/>
                <a:chExt cx="384" cy="288"/>
              </a:xfrm>
            </p:grpSpPr>
            <p:sp>
              <p:nvSpPr>
                <p:cNvPr id="105" name="Oval 55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6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" name="Group 57"/>
              <p:cNvGrpSpPr/>
              <p:nvPr/>
            </p:nvGrpSpPr>
            <p:grpSpPr bwMode="auto">
              <a:xfrm>
                <a:off x="1680" y="1392"/>
                <a:ext cx="384" cy="288"/>
                <a:chOff x="480" y="2640"/>
                <a:chExt cx="384" cy="288"/>
              </a:xfrm>
            </p:grpSpPr>
            <p:sp>
              <p:nvSpPr>
                <p:cNvPr id="103" name="Oval 58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6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1" name="Group 60"/>
              <p:cNvGrpSpPr/>
              <p:nvPr/>
            </p:nvGrpSpPr>
            <p:grpSpPr bwMode="auto">
              <a:xfrm>
                <a:off x="912" y="1680"/>
                <a:ext cx="384" cy="288"/>
                <a:chOff x="480" y="2640"/>
                <a:chExt cx="384" cy="288"/>
              </a:xfrm>
            </p:grpSpPr>
            <p:sp>
              <p:nvSpPr>
                <p:cNvPr id="101" name="Oval 61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V4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" name="Group 63"/>
              <p:cNvGrpSpPr/>
              <p:nvPr/>
            </p:nvGrpSpPr>
            <p:grpSpPr bwMode="auto">
              <a:xfrm>
                <a:off x="1680" y="576"/>
                <a:ext cx="384" cy="288"/>
                <a:chOff x="480" y="2640"/>
                <a:chExt cx="384" cy="288"/>
              </a:xfrm>
            </p:grpSpPr>
            <p:sp>
              <p:nvSpPr>
                <p:cNvPr id="99" name="Oval 64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0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5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3" name="Group 66"/>
              <p:cNvGrpSpPr/>
              <p:nvPr/>
            </p:nvGrpSpPr>
            <p:grpSpPr bwMode="auto">
              <a:xfrm>
                <a:off x="2400" y="576"/>
                <a:ext cx="384" cy="288"/>
                <a:chOff x="480" y="2640"/>
                <a:chExt cx="384" cy="288"/>
              </a:xfrm>
            </p:grpSpPr>
            <p:sp>
              <p:nvSpPr>
                <p:cNvPr id="97" name="Oval 67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7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4" name="Group 69"/>
              <p:cNvGrpSpPr/>
              <p:nvPr/>
            </p:nvGrpSpPr>
            <p:grpSpPr bwMode="auto">
              <a:xfrm>
                <a:off x="2352" y="1392"/>
                <a:ext cx="384" cy="288"/>
                <a:chOff x="480" y="2640"/>
                <a:chExt cx="384" cy="288"/>
              </a:xfrm>
            </p:grpSpPr>
            <p:sp>
              <p:nvSpPr>
                <p:cNvPr id="95" name="Oval 70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6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8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5" name="Group 72"/>
              <p:cNvGrpSpPr/>
              <p:nvPr/>
            </p:nvGrpSpPr>
            <p:grpSpPr bwMode="auto">
              <a:xfrm>
                <a:off x="2928" y="1392"/>
                <a:ext cx="384" cy="288"/>
                <a:chOff x="480" y="2640"/>
                <a:chExt cx="384" cy="288"/>
              </a:xfrm>
            </p:grpSpPr>
            <p:sp>
              <p:nvSpPr>
                <p:cNvPr id="93" name="Oval 73"/>
                <p:cNvSpPr>
                  <a:spLocks noChangeArrowheads="1"/>
                </p:cNvSpPr>
                <p:nvPr/>
              </p:nvSpPr>
              <p:spPr bwMode="auto">
                <a:xfrm>
                  <a:off x="480" y="2640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4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480" y="2640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9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" name="Group 75"/>
              <p:cNvGrpSpPr/>
              <p:nvPr/>
            </p:nvGrpSpPr>
            <p:grpSpPr bwMode="auto">
              <a:xfrm>
                <a:off x="3360" y="1008"/>
                <a:ext cx="384" cy="288"/>
                <a:chOff x="4914" y="3253"/>
                <a:chExt cx="384" cy="288"/>
              </a:xfrm>
            </p:grpSpPr>
            <p:sp>
              <p:nvSpPr>
                <p:cNvPr id="91" name="Oval 76"/>
                <p:cNvSpPr>
                  <a:spLocks noChangeArrowheads="1"/>
                </p:cNvSpPr>
                <p:nvPr/>
              </p:nvSpPr>
              <p:spPr bwMode="auto">
                <a:xfrm>
                  <a:off x="4947" y="3253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2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4914" y="3264"/>
                  <a:ext cx="384" cy="2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V</a:t>
                  </a:r>
                  <a:r>
                    <a:rPr kumimoji="1" lang="en-US" altLang="zh-CN" sz="20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</a:rPr>
                    <a:t>10</a:t>
                  </a:r>
                  <a:endPara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7" name="Line 78"/>
              <p:cNvSpPr>
                <a:spLocks noChangeShapeType="1"/>
              </p:cNvSpPr>
              <p:nvPr/>
            </p:nvSpPr>
            <p:spPr bwMode="auto">
              <a:xfrm flipV="1">
                <a:off x="576" y="816"/>
                <a:ext cx="384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8" name="Line 79"/>
              <p:cNvSpPr>
                <a:spLocks noChangeShapeType="1"/>
              </p:cNvSpPr>
              <p:nvPr/>
            </p:nvSpPr>
            <p:spPr bwMode="auto">
              <a:xfrm flipV="1">
                <a:off x="3216" y="1248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" name="Line 80"/>
              <p:cNvSpPr>
                <a:spLocks noChangeShapeType="1"/>
              </p:cNvSpPr>
              <p:nvPr/>
            </p:nvSpPr>
            <p:spPr bwMode="auto">
              <a:xfrm>
                <a:off x="672" y="1248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" name="Line 81"/>
              <p:cNvSpPr>
                <a:spLocks noChangeShapeType="1"/>
              </p:cNvSpPr>
              <p:nvPr/>
            </p:nvSpPr>
            <p:spPr bwMode="auto">
              <a:xfrm>
                <a:off x="1200" y="720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Line 82"/>
              <p:cNvSpPr>
                <a:spLocks noChangeShapeType="1"/>
              </p:cNvSpPr>
              <p:nvPr/>
            </p:nvSpPr>
            <p:spPr bwMode="auto">
              <a:xfrm>
                <a:off x="1968" y="720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" name="Line 83"/>
              <p:cNvSpPr>
                <a:spLocks noChangeShapeType="1"/>
              </p:cNvSpPr>
              <p:nvPr/>
            </p:nvSpPr>
            <p:spPr bwMode="auto">
              <a:xfrm>
                <a:off x="576" y="1392"/>
                <a:ext cx="384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Line 84"/>
              <p:cNvSpPr>
                <a:spLocks noChangeShapeType="1"/>
              </p:cNvSpPr>
              <p:nvPr/>
            </p:nvSpPr>
            <p:spPr bwMode="auto">
              <a:xfrm flipV="1">
                <a:off x="1200" y="1584"/>
                <a:ext cx="48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Line 85"/>
              <p:cNvSpPr>
                <a:spLocks noChangeShapeType="1"/>
              </p:cNvSpPr>
              <p:nvPr/>
            </p:nvSpPr>
            <p:spPr bwMode="auto">
              <a:xfrm>
                <a:off x="1200" y="1296"/>
                <a:ext cx="48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Line 86"/>
              <p:cNvSpPr>
                <a:spLocks noChangeShapeType="1"/>
              </p:cNvSpPr>
              <p:nvPr/>
            </p:nvSpPr>
            <p:spPr bwMode="auto">
              <a:xfrm>
                <a:off x="1968" y="1536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Line 87"/>
              <p:cNvSpPr>
                <a:spLocks noChangeShapeType="1"/>
              </p:cNvSpPr>
              <p:nvPr/>
            </p:nvSpPr>
            <p:spPr bwMode="auto">
              <a:xfrm flipV="1">
                <a:off x="1200" y="816"/>
                <a:ext cx="528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" name="Line 88"/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" name="Line 89"/>
              <p:cNvSpPr>
                <a:spLocks noChangeShapeType="1"/>
              </p:cNvSpPr>
              <p:nvPr/>
            </p:nvSpPr>
            <p:spPr bwMode="auto">
              <a:xfrm>
                <a:off x="2592" y="864"/>
                <a:ext cx="384" cy="5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Line 90"/>
              <p:cNvSpPr>
                <a:spLocks noChangeShapeType="1"/>
              </p:cNvSpPr>
              <p:nvPr/>
            </p:nvSpPr>
            <p:spPr bwMode="auto">
              <a:xfrm>
                <a:off x="2688" y="768"/>
                <a:ext cx="72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0" name="Line 91"/>
              <p:cNvSpPr>
                <a:spLocks noChangeShapeType="1"/>
              </p:cNvSpPr>
              <p:nvPr/>
            </p:nvSpPr>
            <p:spPr bwMode="auto">
              <a:xfrm flipV="1">
                <a:off x="1872" y="864"/>
                <a:ext cx="624" cy="5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Text Box 92"/>
            <p:cNvSpPr txBox="1">
              <a:spLocks noChangeArrowheads="1"/>
            </p:cNvSpPr>
            <p:nvPr/>
          </p:nvSpPr>
          <p:spPr bwMode="auto">
            <a:xfrm>
              <a:off x="384" y="768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=4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4" name="Text Box 93"/>
            <p:cNvSpPr txBox="1">
              <a:spLocks noChangeArrowheads="1"/>
            </p:cNvSpPr>
            <p:nvPr/>
          </p:nvSpPr>
          <p:spPr bwMode="auto">
            <a:xfrm>
              <a:off x="602" y="997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=3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5" name="Text Box 94"/>
            <p:cNvSpPr txBox="1">
              <a:spLocks noChangeArrowheads="1"/>
            </p:cNvSpPr>
            <p:nvPr/>
          </p:nvSpPr>
          <p:spPr bwMode="auto">
            <a:xfrm>
              <a:off x="432" y="1536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=2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95"/>
            <p:cNvSpPr txBox="1">
              <a:spLocks noChangeArrowheads="1"/>
            </p:cNvSpPr>
            <p:nvPr/>
          </p:nvSpPr>
          <p:spPr bwMode="auto">
            <a:xfrm>
              <a:off x="1200" y="480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=3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96"/>
            <p:cNvSpPr txBox="1">
              <a:spLocks noChangeArrowheads="1"/>
            </p:cNvSpPr>
            <p:nvPr/>
          </p:nvSpPr>
          <p:spPr bwMode="auto">
            <a:xfrm>
              <a:off x="1056" y="816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=3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97"/>
            <p:cNvSpPr txBox="1">
              <a:spLocks noChangeArrowheads="1"/>
            </p:cNvSpPr>
            <p:nvPr/>
          </p:nvSpPr>
          <p:spPr bwMode="auto">
            <a:xfrm>
              <a:off x="1296" y="1152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=5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98"/>
            <p:cNvSpPr txBox="1">
              <a:spLocks noChangeArrowheads="1"/>
            </p:cNvSpPr>
            <p:nvPr/>
          </p:nvSpPr>
          <p:spPr bwMode="auto">
            <a:xfrm>
              <a:off x="1776" y="960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=5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99"/>
            <p:cNvSpPr txBox="1">
              <a:spLocks noChangeArrowheads="1"/>
            </p:cNvSpPr>
            <p:nvPr/>
          </p:nvSpPr>
          <p:spPr bwMode="auto">
            <a:xfrm>
              <a:off x="2544" y="1536"/>
              <a:ext cx="67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12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=5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1" name="Text Box 100"/>
            <p:cNvSpPr txBox="1">
              <a:spLocks noChangeArrowheads="1"/>
            </p:cNvSpPr>
            <p:nvPr/>
          </p:nvSpPr>
          <p:spPr bwMode="auto">
            <a:xfrm>
              <a:off x="1104" y="1536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=4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2" name="Text Box 101"/>
            <p:cNvSpPr txBox="1">
              <a:spLocks noChangeArrowheads="1"/>
            </p:cNvSpPr>
            <p:nvPr/>
          </p:nvSpPr>
          <p:spPr bwMode="auto">
            <a:xfrm>
              <a:off x="1968" y="480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=6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102"/>
            <p:cNvSpPr txBox="1">
              <a:spLocks noChangeArrowheads="1"/>
            </p:cNvSpPr>
            <p:nvPr/>
          </p:nvSpPr>
          <p:spPr bwMode="auto">
            <a:xfrm>
              <a:off x="1920" y="1536"/>
              <a:ext cx="624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=2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103"/>
            <p:cNvSpPr txBox="1">
              <a:spLocks noChangeArrowheads="1"/>
            </p:cNvSpPr>
            <p:nvPr/>
          </p:nvSpPr>
          <p:spPr bwMode="auto">
            <a:xfrm>
              <a:off x="2352" y="1008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104"/>
            <p:cNvSpPr txBox="1">
              <a:spLocks noChangeArrowheads="1"/>
            </p:cNvSpPr>
            <p:nvPr/>
          </p:nvSpPr>
          <p:spPr bwMode="auto">
            <a:xfrm>
              <a:off x="2928" y="672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13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=8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6" name="Text Box 105"/>
            <p:cNvSpPr txBox="1">
              <a:spLocks noChangeArrowheads="1"/>
            </p:cNvSpPr>
            <p:nvPr/>
          </p:nvSpPr>
          <p:spPr bwMode="auto">
            <a:xfrm>
              <a:off x="3216" y="1344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14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=5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111" name="Text Box 106"/>
          <p:cNvSpPr txBox="1">
            <a:spLocks noChangeArrowheads="1"/>
          </p:cNvSpPr>
          <p:nvPr/>
        </p:nvSpPr>
        <p:spPr bwMode="auto">
          <a:xfrm>
            <a:off x="461963" y="5148263"/>
            <a:ext cx="8143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" name="Text Box 107"/>
          <p:cNvSpPr txBox="1">
            <a:spLocks noChangeArrowheads="1"/>
          </p:cNvSpPr>
          <p:nvPr/>
        </p:nvSpPr>
        <p:spPr bwMode="auto">
          <a:xfrm>
            <a:off x="825500" y="5195888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(0  0  2)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Text Box 108"/>
          <p:cNvSpPr txBox="1">
            <a:spLocks noChangeArrowheads="1"/>
          </p:cNvSpPr>
          <p:nvPr/>
        </p:nvSpPr>
        <p:spPr bwMode="auto">
          <a:xfrm>
            <a:off x="1892300" y="5195888"/>
            <a:ext cx="76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Text Box 109"/>
          <p:cNvSpPr txBox="1">
            <a:spLocks noChangeArrowheads="1"/>
          </p:cNvSpPr>
          <p:nvPr/>
        </p:nvSpPr>
        <p:spPr bwMode="auto">
          <a:xfrm>
            <a:off x="2425700" y="5195888"/>
            <a:ext cx="990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(4  3)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Text Box 110"/>
          <p:cNvSpPr txBox="1">
            <a:spLocks noChangeArrowheads="1"/>
          </p:cNvSpPr>
          <p:nvPr/>
        </p:nvSpPr>
        <p:spPr bwMode="auto">
          <a:xfrm>
            <a:off x="3492500" y="5195888"/>
            <a:ext cx="685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" name="Text Box 111"/>
          <p:cNvSpPr txBox="1">
            <a:spLocks noChangeArrowheads="1"/>
          </p:cNvSpPr>
          <p:nvPr/>
        </p:nvSpPr>
        <p:spPr bwMode="auto">
          <a:xfrm>
            <a:off x="4254500" y="5195888"/>
            <a:ext cx="76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(7)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" name="Text Box 112"/>
          <p:cNvSpPr txBox="1">
            <a:spLocks noChangeArrowheads="1"/>
          </p:cNvSpPr>
          <p:nvPr/>
        </p:nvSpPr>
        <p:spPr bwMode="auto">
          <a:xfrm>
            <a:off x="4787900" y="5195888"/>
            <a:ext cx="91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(8  9)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" name="Text Box 113"/>
          <p:cNvSpPr txBox="1">
            <a:spLocks noChangeArrowheads="1"/>
          </p:cNvSpPr>
          <p:nvPr/>
        </p:nvSpPr>
        <p:spPr bwMode="auto">
          <a:xfrm>
            <a:off x="5549900" y="5195888"/>
            <a:ext cx="1219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(15  13)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" name="Text Box 114"/>
          <p:cNvSpPr txBox="1">
            <a:spLocks noChangeArrowheads="1"/>
          </p:cNvSpPr>
          <p:nvPr/>
        </p:nvSpPr>
        <p:spPr bwMode="auto">
          <a:xfrm>
            <a:off x="6692900" y="5195888"/>
            <a:ext cx="76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(11)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" name="Text Box 115"/>
          <p:cNvSpPr txBox="1">
            <a:spLocks noChangeArrowheads="1"/>
          </p:cNvSpPr>
          <p:nvPr/>
        </p:nvSpPr>
        <p:spPr bwMode="auto">
          <a:xfrm>
            <a:off x="7378700" y="5195888"/>
            <a:ext cx="76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(16)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" name="Text Box 116"/>
          <p:cNvSpPr txBox="1">
            <a:spLocks noChangeArrowheads="1"/>
          </p:cNvSpPr>
          <p:nvPr/>
        </p:nvSpPr>
        <p:spPr bwMode="auto">
          <a:xfrm>
            <a:off x="8216900" y="5195888"/>
            <a:ext cx="60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4617B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4617B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2981325" y="3786188"/>
            <a:ext cx="1579563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正向取最大值</a:t>
            </a:r>
            <a:endParaRPr kumimoji="1" lang="zh-CN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" name="TextBox 122"/>
          <p:cNvSpPr txBox="1">
            <a:spLocks noChangeArrowheads="1"/>
          </p:cNvSpPr>
          <p:nvPr/>
        </p:nvSpPr>
        <p:spPr bwMode="auto">
          <a:xfrm>
            <a:off x="3000375" y="4243388"/>
            <a:ext cx="1579563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反向取最小值</a:t>
            </a:r>
            <a:endParaRPr kumimoji="1" lang="zh-CN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4" name="Text Box 7"/>
          <p:cNvSpPr txBox="1">
            <a:spLocks noChangeArrowheads="1"/>
          </p:cNvSpPr>
          <p:nvPr/>
        </p:nvSpPr>
        <p:spPr bwMode="auto">
          <a:xfrm>
            <a:off x="-71438" y="0"/>
            <a:ext cx="2571751" cy="523875"/>
          </a:xfrm>
          <a:prstGeom prst="rect">
            <a:avLst/>
          </a:prstGeom>
          <a:gradFill rotWithShape="1">
            <a:gsLst>
              <a:gs pos="0">
                <a:srgbClr val="009DD9">
                  <a:tint val="50000"/>
                  <a:satMod val="300000"/>
                </a:srgbClr>
              </a:gs>
              <a:gs pos="35000">
                <a:srgbClr val="009DD9">
                  <a:tint val="37000"/>
                  <a:satMod val="300000"/>
                </a:srgbClr>
              </a:gs>
              <a:gs pos="100000">
                <a:srgbClr val="009DD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9DD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1: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求关键路径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 animBg="1"/>
      <p:bldP spid="49" grpId="0" animBg="1"/>
      <p:bldP spid="5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第九章 图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9.1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图的定义和术语（集合与图论）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图的存储结构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图的遍历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9.4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生成树和最小生成树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9.5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有向无环图的应用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最短路径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1E9C-9707-4756-96CD-387EBEB4B39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章 栈与队列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最短路径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61A9-58BE-4FF5-9B90-4A5ED2436C2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25475" y="3243263"/>
            <a:ext cx="8137525" cy="11144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应用：交通咨询系统、通讯网、计算机网络常要寻找两结点间最短路径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382587" y="1428750"/>
            <a:ext cx="8348663" cy="140017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/>
          <a:lstStyle/>
          <a:p>
            <a:pPr marL="273050" indent="-2730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95000"/>
              <a:buFont typeface="Wingdings" panose="05000000000000000000" pitchFamily="2" charset="2"/>
              <a:buChar char="Ø"/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宋体" panose="02010600030101010101" pitchFamily="2" charset="-122"/>
              </a:rPr>
              <a:t>问题的提出： 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给定一个带权有向图</a:t>
            </a:r>
            <a:r>
              <a:rPr lang="en-US" altLang="zh-CN" sz="2800" b="1" i="1" kern="0" dirty="0">
                <a:solidFill>
                  <a:srgbClr val="0000FF"/>
                </a:solidFill>
                <a:latin typeface="宋体" panose="02010600030101010101" pitchFamily="2" charset="-122"/>
              </a:rPr>
              <a:t>G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与源点</a:t>
            </a:r>
            <a:r>
              <a:rPr lang="en-US" altLang="zh-CN" sz="2800" b="1" i="1" kern="0" dirty="0">
                <a:solidFill>
                  <a:srgbClr val="0000FF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，求从</a:t>
            </a:r>
            <a:r>
              <a:rPr lang="en-US" altLang="zh-CN" sz="2800" b="1" i="1" kern="0" dirty="0">
                <a:solidFill>
                  <a:srgbClr val="0000FF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到</a:t>
            </a:r>
            <a:r>
              <a:rPr lang="en-US" altLang="zh-CN" sz="2800" b="1" i="1" kern="0" dirty="0">
                <a:solidFill>
                  <a:srgbClr val="0000FF"/>
                </a:solidFill>
                <a:latin typeface="宋体" panose="02010600030101010101" pitchFamily="2" charset="-122"/>
              </a:rPr>
              <a:t>G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中其它顶点的最短路径。</a:t>
            </a:r>
            <a:endParaRPr lang="zh-CN" altLang="en-US" sz="2800" b="1" kern="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最短路径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9.6.1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单源最短路径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集合与图论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9.6.2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每一对顶点之间的最短路径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DA7A-E97E-460A-9204-E74907C593E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最短路径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9.6.1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单源最短路径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集合与图论</a:t>
            </a: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kumimoji="1"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9.6.2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每一对顶点之间的最短路径</a:t>
            </a:r>
            <a:endParaRPr kumimoji="1" lang="zh-CN" altLang="en-US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1DD-BDDE-4B59-9853-8F2C833C465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0A01-11FC-497E-BDBE-7AC47E41E30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/>
          <p:cNvSpPr txBox="1"/>
          <p:nvPr/>
        </p:nvSpPr>
        <p:spPr>
          <a:xfrm>
            <a:off x="357188" y="1295400"/>
            <a:ext cx="7772400" cy="571500"/>
          </a:xfrm>
          <a:prstGeom prst="rect">
            <a:avLst/>
          </a:prstGeo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</a:rPr>
              <a:t>Dijkstra</a:t>
            </a:r>
            <a:r>
              <a:rPr lang="en-US" altLang="zh-CN" sz="2800" dirty="0"/>
              <a:t> (</a:t>
            </a:r>
            <a:r>
              <a:rPr lang="zh-CN" altLang="en-US" sz="2800" dirty="0"/>
              <a:t>迪杰斯特拉</a:t>
            </a:r>
            <a:r>
              <a:rPr lang="en-US" altLang="zh-CN" sz="2800" dirty="0"/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</a:rPr>
              <a:t>算法基本思想：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68313" y="1868186"/>
            <a:ext cx="8318500" cy="4456414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</a:ln>
        </p:spPr>
        <p:txBody>
          <a:bodyPr lIns="90000" tIns="46800" rIns="90000" bIns="46800">
            <a:spAutoFit/>
          </a:bodyPr>
          <a:lstStyle/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集合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的 初值为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S={1}</a:t>
            </a:r>
            <a:endParaRPr kumimoji="1" lang="en-US" altLang="zh-CN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为各顶点当前最短路径</a:t>
            </a:r>
            <a:endParaRPr kumimoji="1"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从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V-S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中选择顶点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，使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D[w]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的值最小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（选择权值最小的边加入）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并将 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加入集合 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，则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w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的最短路径已求出。</a:t>
            </a:r>
            <a:endParaRPr kumimoji="1"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调整其它各结点的当前最短路径</a:t>
            </a:r>
            <a:endParaRPr kumimoji="1"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D[k]=min{D[k], D[w]+C[w][k]}</a:t>
            </a:r>
            <a:endParaRPr kumimoji="1" lang="en-US" altLang="zh-CN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Calibri" panose="020F0502020204030204" pitchFamily="34" charset="0"/>
              <a:buAutoNum type="arabicPeriod"/>
            </a:pP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直到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中包含所有顶点</a:t>
            </a:r>
            <a:endParaRPr kumimoji="1" lang="zh-CN" altLang="en-US" sz="24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C5-A4EC-4BDB-88AE-7D3F3BF4D24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95275" y="838200"/>
            <a:ext cx="67151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Dijkstra(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迪杰斯特拉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算法的求解过程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804862" y="1371600"/>
          <a:ext cx="7500938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5" name="Picture" r:id="rId2" imgW="4700270" imgH="1908810" progId="Word.Picture.8">
                  <p:embed/>
                </p:oleObj>
              </mc:Choice>
              <mc:Fallback>
                <p:oleObj name="Picture" r:id="rId2" imgW="4700270" imgH="1908810" progId="Word.Picture.8">
                  <p:embed/>
                  <p:pic>
                    <p:nvPicPr>
                      <p:cNvPr id="0" name="图片 11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2" y="1371600"/>
                        <a:ext cx="7500938" cy="30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14313" y="5810250"/>
            <a:ext cx="157162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rPr>
              <a:t>选择顶点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</a:t>
            </a:r>
            <a:endParaRPr kumimoji="1" lang="zh-CN" altLang="en-US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1285875" y="4024312"/>
          <a:ext cx="7143750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6" name="Picture" r:id="rId4" imgW="4010660" imgH="1861185" progId="Word.Picture.8">
                  <p:embed/>
                </p:oleObj>
              </mc:Choice>
              <mc:Fallback>
                <p:oleObj name="Picture" r:id="rId4" imgW="4010660" imgH="1861185" progId="Word.Picture.8">
                  <p:embed/>
                  <p:pic>
                    <p:nvPicPr>
                      <p:cNvPr id="0" name="图片 11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024312"/>
                        <a:ext cx="7143750" cy="312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285875" y="4117975"/>
          <a:ext cx="7143750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" name="Picture" r:id="rId6" imgW="4010660" imgH="1861185" progId="Word.Picture.8">
                  <p:embed/>
                </p:oleObj>
              </mc:Choice>
              <mc:Fallback>
                <p:oleObj name="Picture" r:id="rId6" imgW="4010660" imgH="1861185" progId="Word.Picture.8">
                  <p:embed/>
                  <p:pic>
                    <p:nvPicPr>
                      <p:cNvPr id="0" name="图片 11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117975"/>
                        <a:ext cx="7143750" cy="312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143375" y="5810250"/>
            <a:ext cx="157162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rPr>
              <a:t>选择顶点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3</a:t>
            </a:r>
            <a:endParaRPr kumimoji="1" lang="zh-CN" altLang="en-US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D140-56C4-40AF-B074-23BD9F3A8A9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304800" y="771525"/>
            <a:ext cx="67151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 err="1">
                <a:solidFill>
                  <a:srgbClr val="003300"/>
                </a:solidFill>
                <a:latin typeface="Times New Roman" panose="02020603050405020304" pitchFamily="18" charset="0"/>
              </a:rPr>
              <a:t>Dijkstra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迪杰斯特拉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算法的求解过程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2"/>
          <p:cNvGraphicFramePr>
            <a:graphicFrameLocks noChangeAspect="1"/>
          </p:cNvGraphicFramePr>
          <p:nvPr/>
        </p:nvGraphicFramePr>
        <p:xfrm>
          <a:off x="804862" y="1265238"/>
          <a:ext cx="7500938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7" name="Picture" r:id="rId2" imgW="4700270" imgH="1908810" progId="Word.Picture.8">
                  <p:embed/>
                </p:oleObj>
              </mc:Choice>
              <mc:Fallback>
                <p:oleObj name="Picture" r:id="rId2" imgW="4700270" imgH="1908810" progId="Word.Picture.8">
                  <p:embed/>
                  <p:pic>
                    <p:nvPicPr>
                      <p:cNvPr id="0" name="图片 12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2" y="1265238"/>
                        <a:ext cx="7500938" cy="30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6"/>
          <p:cNvSpPr txBox="1">
            <a:spLocks noChangeArrowheads="1"/>
          </p:cNvSpPr>
          <p:nvPr/>
        </p:nvSpPr>
        <p:spPr bwMode="auto">
          <a:xfrm>
            <a:off x="4019550" y="2670175"/>
            <a:ext cx="15716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rPr>
              <a:t>选择顶点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</a:t>
            </a:r>
            <a:endParaRPr kumimoji="1" lang="zh-CN" altLang="en-US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-1123951" y="3598863"/>
          <a:ext cx="7258051" cy="356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8" name="Picture" r:id="rId4" imgW="4243070" imgH="2085340" progId="Word.Picture.8">
                  <p:embed/>
                </p:oleObj>
              </mc:Choice>
              <mc:Fallback>
                <p:oleObj name="Picture" r:id="rId4" imgW="4243070" imgH="2085340" progId="Word.Picture.8">
                  <p:embed/>
                  <p:pic>
                    <p:nvPicPr>
                      <p:cNvPr id="0" name="图片 12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23951" y="3598863"/>
                        <a:ext cx="7258051" cy="356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76300" y="5456238"/>
            <a:ext cx="157162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rPr>
              <a:t>选择顶点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4</a:t>
            </a:r>
            <a:endParaRPr kumimoji="1" lang="zh-CN" altLang="en-US" sz="24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162550" y="1160462"/>
          <a:ext cx="7258050" cy="356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9" name="Picture" r:id="rId6" imgW="4243070" imgH="2085340" progId="Word.Picture.8">
                  <p:embed/>
                </p:oleObj>
              </mc:Choice>
              <mc:Fallback>
                <p:oleObj name="Picture" r:id="rId6" imgW="4243070" imgH="208534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1160462"/>
                        <a:ext cx="7258050" cy="356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DF7-D489-4F87-9928-F419DB71D84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Group 45"/>
          <p:cNvGraphicFramePr>
            <a:graphicFrameLocks noGrp="1"/>
          </p:cNvGraphicFramePr>
          <p:nvPr/>
        </p:nvGraphicFramePr>
        <p:xfrm>
          <a:off x="471430" y="4205287"/>
          <a:ext cx="8215370" cy="1780032"/>
        </p:xfrm>
        <a:graphic>
          <a:graphicData uri="http://schemas.openxmlformats.org/drawingml/2006/table">
            <a:tbl>
              <a:tblPr/>
              <a:tblGrid>
                <a:gridCol w="1047264"/>
                <a:gridCol w="1752471"/>
                <a:gridCol w="876989"/>
                <a:gridCol w="2707818"/>
                <a:gridCol w="1830828"/>
              </a:tblGrid>
              <a:tr h="3143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循环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源点集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k+1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D[0]…D[4]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P[]…P[4]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73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初始化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１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２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｛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｝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{4,3}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{4,3,5}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∞  ∞   20  0  60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∞  ∞   20  0  30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∞  ∞    20  0  30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0  0  4  0  4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0  0  4  0  3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0  0  4  0  3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 bwMode="auto">
          <a:xfrm>
            <a:off x="481013" y="1177925"/>
            <a:ext cx="3805237" cy="2955925"/>
            <a:chOff x="1056" y="672"/>
            <a:chExt cx="3264" cy="3013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2352" y="6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１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1056" y="1728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２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3792" y="1728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５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1536" y="30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３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3120" y="30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４</a:t>
              </a:r>
              <a:endPara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 flipH="1">
              <a:off x="1488" y="1056"/>
              <a:ext cx="912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440" y="2208"/>
              <a:ext cx="288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2832" y="1056"/>
              <a:ext cx="1008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2688" y="1152"/>
              <a:ext cx="624" cy="19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V="1">
              <a:off x="2016" y="2064"/>
              <a:ext cx="1824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V="1">
              <a:off x="3552" y="2208"/>
              <a:ext cx="432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>
              <a:off x="2064" y="3312"/>
              <a:ext cx="10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1153" y="2497"/>
              <a:ext cx="526" cy="3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2210" y="2546"/>
              <a:ext cx="527" cy="3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>
              <a:off x="2833" y="1776"/>
              <a:ext cx="527" cy="3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1633" y="1200"/>
              <a:ext cx="529" cy="3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>
              <a:spLocks noChangeArrowheads="1"/>
            </p:cNvSpPr>
            <p:nvPr/>
          </p:nvSpPr>
          <p:spPr bwMode="auto">
            <a:xfrm>
              <a:off x="2350" y="3312"/>
              <a:ext cx="531" cy="3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3601" y="2592"/>
              <a:ext cx="526" cy="3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60</a:t>
              </a:r>
              <a:endPara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3265" y="1200"/>
              <a:ext cx="1055" cy="5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100</a:t>
              </a:r>
              <a:endPara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43" name="Text Box 46"/>
          <p:cNvSpPr txBox="1">
            <a:spLocks noChangeArrowheads="1"/>
          </p:cNvSpPr>
          <p:nvPr/>
        </p:nvSpPr>
        <p:spPr bwMode="auto">
          <a:xfrm>
            <a:off x="1428750" y="6305550"/>
            <a:ext cx="6429375" cy="400050"/>
          </a:xfrm>
          <a:prstGeom prst="rect">
            <a:avLst/>
          </a:prstGeom>
          <a:solidFill>
            <a:srgbClr val="04617B">
              <a:lumMod val="20000"/>
              <a:lumOff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P[i-1]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表示从源点到达</a:t>
            </a:r>
            <a:r>
              <a:rPr kumimoji="1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i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点的最短路径上该点的前驱顶点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4" name="AutoShape 15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5857884" y="2419340"/>
            <a:ext cx="1571636" cy="86674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40000"/>
              <a:lumOff val="60000"/>
            </a:srgbClr>
          </a:solidFill>
          <a:ln w="9525">
            <a:solidFill>
              <a:srgbClr val="04617B">
                <a:lumMod val="40000"/>
                <a:lumOff val="60000"/>
              </a:srgbClr>
            </a:solidFill>
            <a:miter lim="800000"/>
          </a:ln>
          <a:effectLst>
            <a:glow rad="139700">
              <a:srgbClr val="FFFFFF">
                <a:satMod val="175000"/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图示</a:t>
            </a:r>
            <a:endParaRPr kumimoji="1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32C16-CC60-4B1D-802E-FFFD79EA193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>
          <a:xfrm>
            <a:off x="2298700" y="1219200"/>
            <a:ext cx="3643313" cy="568325"/>
          </a:xfrm>
          <a:prstGeom prst="rect">
            <a:avLst/>
          </a:prstGeom>
          <a:solidFill>
            <a:srgbClr val="3333FF"/>
          </a:soli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Dijkstra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算法要点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</a:endParaRPr>
          </a:p>
        </p:txBody>
      </p:sp>
      <p:sp>
        <p:nvSpPr>
          <p:cNvPr id="14" name="Rectangle 3"/>
          <p:cNvSpPr txBox="1"/>
          <p:nvPr/>
        </p:nvSpPr>
        <p:spPr>
          <a:xfrm>
            <a:off x="228600" y="2216150"/>
            <a:ext cx="8570913" cy="3675063"/>
          </a:xfrm>
          <a:prstGeom prst="rect">
            <a:avLst/>
          </a:prstGeom>
          <a:ln>
            <a:solidFill>
              <a:srgbClr val="333399"/>
            </a:solidFill>
          </a:ln>
        </p:spPr>
        <p:txBody>
          <a:bodyPr/>
          <a:lstStyle/>
          <a:p>
            <a:pPr marL="609600" indent="-609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5000"/>
              <a:buFontTx/>
              <a:buAutoNum type="arabicPeriod"/>
              <a:defRPr/>
            </a:pP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将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V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（顶点集合）分成两个集合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S(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开始只包含源点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)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和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V-S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。</a:t>
            </a:r>
            <a:endParaRPr lang="zh-CN" altLang="en-US" sz="3200" b="1" kern="0" dirty="0">
              <a:solidFill>
                <a:srgbClr val="3333FF"/>
              </a:solidFill>
              <a:latin typeface="Constantia" panose="02030602050306030303"/>
            </a:endParaRPr>
          </a:p>
          <a:p>
            <a:pPr marL="609600" indent="-609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5000"/>
              <a:buFontTx/>
              <a:buAutoNum type="arabicPeriod"/>
              <a:defRPr/>
            </a:pP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每一步从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V-S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中选择一结点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w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加入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S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，使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S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中从源点到其余结点的路长最短，此过程进行到</a:t>
            </a:r>
            <a:r>
              <a:rPr lang="en-US" altLang="zh-CN" sz="3200" b="1" kern="0" dirty="0">
                <a:solidFill>
                  <a:srgbClr val="3333FF"/>
                </a:solidFill>
                <a:latin typeface="Constantia" panose="02030602050306030303"/>
              </a:rPr>
              <a:t>V-S</a:t>
            </a:r>
            <a:r>
              <a:rPr lang="zh-CN" altLang="en-US" sz="3200" b="1" kern="0" dirty="0">
                <a:solidFill>
                  <a:srgbClr val="3333FF"/>
                </a:solidFill>
                <a:latin typeface="Constantia" panose="02030602050306030303"/>
              </a:rPr>
              <a:t>变成空集为止。</a:t>
            </a:r>
            <a:endParaRPr lang="zh-CN" altLang="en-US" sz="3200" b="1" kern="0" dirty="0">
              <a:solidFill>
                <a:srgbClr val="3333FF"/>
              </a:solidFill>
              <a:latin typeface="Constantia" panose="02030602050306030303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FAEA3-EDDB-4C00-82E2-84F8CFDCB65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>
          <a:xfrm>
            <a:off x="574675" y="1295400"/>
            <a:ext cx="8035925" cy="5715000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b="1" kern="0" dirty="0" err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用邻接矩阵表示有向图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{S={1}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=2;i&lt;=n; 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]=C[1][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];//D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置初值</a:t>
            </a:r>
            <a:endParaRPr lang="zh-CN" altLang="en-US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=1;i&lt;=n-1; 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V-S 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中选出一个顶点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D[w]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的值最小；</a:t>
            </a:r>
            <a:endParaRPr lang="zh-CN" altLang="en-US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把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V-S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中的每个顶点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D[v]=min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D[v], D[w]+C[w][v] 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     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/>
          <p:nvPr/>
        </p:nvSpPr>
        <p:spPr>
          <a:xfrm>
            <a:off x="395288" y="803275"/>
            <a:ext cx="3643312" cy="5683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800" b="1" kern="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sz="2800" b="1" kern="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算法概要</a:t>
            </a:r>
            <a:endParaRPr lang="zh-CN" altLang="en-US" sz="2800" b="1" kern="0" dirty="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5128-6124-44E3-92C4-57D49760E6D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>
          <a:xfrm>
            <a:off x="250825" y="1017587"/>
            <a:ext cx="8678863" cy="5383213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8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ShortestPath_DIJ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 </a:t>
            </a:r>
            <a:r>
              <a:rPr lang="en-US" altLang="zh-CN" sz="28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G,int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v0)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求有向图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顶点到其余顶点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的带权长度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D[v]</a:t>
            </a:r>
            <a:endParaRPr lang="en-US" altLang="zh-CN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//final[v]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v∈S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，即已经求得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的最短路径</a:t>
            </a:r>
            <a:endParaRPr lang="zh-CN" altLang="en-US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for(v=0;v&lt;</a:t>
            </a:r>
            <a:r>
              <a:rPr lang="en-US" altLang="zh-CN" sz="28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G.vexnum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;++v){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final[v]=FALSE;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D[v]=</a:t>
            </a:r>
            <a:r>
              <a:rPr lang="en-US" altLang="zh-CN" sz="28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G.arcs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[v0][v];</a:t>
            </a: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}//</a:t>
            </a:r>
            <a:r>
              <a:rPr lang="zh-CN" alt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  <a:endParaRPr lang="zh-CN" altLang="en-US" sz="28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D[v0]=0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final[v0]=TRUE</a:t>
            </a:r>
            <a:r>
              <a:rPr lang="zh-CN" altLang="en-US" sz="28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从顶点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出发，首先将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</a:t>
            </a:r>
            <a:endParaRPr lang="zh-CN" altLang="en-US" sz="28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endParaRPr lang="en-US" altLang="zh-CN" sz="28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9.6.1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从某源点到其余各点的最短路径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310-DB18-41F6-AFC9-085CD918810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/>
          <p:nvPr/>
        </p:nvSpPr>
        <p:spPr bwMode="auto">
          <a:xfrm>
            <a:off x="103187" y="857250"/>
            <a:ext cx="8964613" cy="57864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开始主循环，每次求得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到某个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顶点的最短路径，并加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=1;i&lt;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G.vexnum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;++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                                     //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其余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G.vexnum-1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个顶点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min=INFINITY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                //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当前所知离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顶点的最近距离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(w=0;w&lt;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G.vexnum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;++w)</a:t>
            </a:r>
            <a:endParaRPr lang="en-US" altLang="zh-CN" sz="24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if(!final[w])                            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//w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顶点在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V-S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中，即顶点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还没有加入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D[w]&lt;min</a:t>
            </a: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{v=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w;min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=D[w]</a:t>
            </a: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4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//w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顶点离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顶点更近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                                                                                                 //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选择最小的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D[w]</a:t>
            </a:r>
            <a:endParaRPr lang="en-US" altLang="zh-CN" sz="20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final[v]=TRUE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                     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顶点最近的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(w=0;w&lt;</a:t>
            </a:r>
            <a:r>
              <a:rPr lang="en-US" altLang="zh-CN" sz="2400" b="1" kern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G.vexnum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;++w)//</a:t>
            </a: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更新当前最短距离</a:t>
            </a:r>
            <a:endParaRPr lang="zh-CN" altLang="en-US" sz="24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zh-CN" altLang="en-US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final[w]&amp;&amp;(</a:t>
            </a:r>
            <a:r>
              <a:rPr lang="en-US" altLang="zh-CN" sz="28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min+G.arcs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[v][w]&lt;D[w])){</a:t>
            </a:r>
            <a:endParaRPr lang="en-US" altLang="zh-CN" sz="28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D[w]=</a:t>
            </a:r>
            <a:r>
              <a:rPr lang="en-US" altLang="zh-CN" sz="28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min+G.arcs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[v][w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 sz="24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b="1" kern="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3495675" y="5715000"/>
            <a:ext cx="4679950" cy="936625"/>
          </a:xfrm>
          <a:prstGeom prst="cloudCallout">
            <a:avLst>
              <a:gd name="adj1" fmla="val -46065"/>
              <a:gd name="adj2" fmla="val 65426"/>
            </a:avLst>
          </a:prstGeom>
          <a:solidFill>
            <a:srgbClr val="DBF5F9">
              <a:lumMod val="90000"/>
            </a:srgbClr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时间复杂度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）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最短路径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9.6.1 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单源最短路径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集合与图论</a:t>
            </a:r>
            <a:r>
              <a:rPr kumimoji="1" lang="en-US" altLang="zh-CN" sz="28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kumimoji="1" lang="en-US" altLang="zh-CN" sz="2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9.6.2 </a:t>
            </a:r>
            <a:r>
              <a:rPr kumimoji="1"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每一对顶点之间的最短路径</a:t>
            </a:r>
            <a:endParaRPr kumimoji="1"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600E-E9D1-4F34-9C9E-5676F86E2E7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B2D9D-0734-4491-8C8D-282074A8A32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35"/>
          <p:cNvSpPr>
            <a:spLocks noChangeArrowheads="1"/>
          </p:cNvSpPr>
          <p:nvPr/>
        </p:nvSpPr>
        <p:spPr bwMode="auto">
          <a:xfrm>
            <a:off x="539750" y="1565275"/>
            <a:ext cx="77724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</a:rPr>
              <a:t>依次把有向网络的每个顶点作为源点，重复执行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</a:rPr>
              <a:t>Dijkstra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</a:rPr>
              <a:t>算法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3000" b="1">
                <a:solidFill>
                  <a:srgbClr val="0000FF"/>
                </a:solidFill>
                <a:latin typeface="Times New Roman" panose="02020603050405020304" pitchFamily="18" charset="0"/>
              </a:rPr>
              <a:t>次，即可求得每对顶点之间的最短路径。</a:t>
            </a:r>
            <a:endParaRPr kumimoji="1" lang="zh-CN" altLang="en-US" sz="3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Rectangle 138"/>
          <p:cNvSpPr>
            <a:spLocks noChangeArrowheads="1"/>
          </p:cNvSpPr>
          <p:nvPr/>
        </p:nvSpPr>
        <p:spPr bwMode="auto">
          <a:xfrm>
            <a:off x="1187450" y="3365500"/>
            <a:ext cx="446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是否有更简洁的方法？</a:t>
            </a:r>
            <a:endParaRPr kumimoji="1" lang="zh-CN" altLang="en-US" sz="3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AutoShape 139"/>
          <p:cNvSpPr>
            <a:spLocks noChangeArrowheads="1"/>
          </p:cNvSpPr>
          <p:nvPr/>
        </p:nvSpPr>
        <p:spPr bwMode="auto">
          <a:xfrm flipH="1">
            <a:off x="1979613" y="5381625"/>
            <a:ext cx="4321175" cy="790575"/>
          </a:xfrm>
          <a:prstGeom prst="wedgeRoundRectCallout">
            <a:avLst>
              <a:gd name="adj1" fmla="val 12856"/>
              <a:gd name="adj2" fmla="val -242773"/>
              <a:gd name="adj3" fmla="val 16667"/>
            </a:avLst>
          </a:prstGeom>
          <a:solidFill>
            <a:srgbClr val="DBF5F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Floyd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算法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A02F-FB34-433A-B608-E97044446AB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44513" y="1296987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算法的基本想法：</a:t>
            </a:r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动态规划算法 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00050" y="1946275"/>
            <a:ext cx="7848600" cy="51706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如果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vi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vj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之间有有向边，则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vi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vj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之间有一条路径，但不一定是最短的；也许经过某些中间点会使路径长度更短。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经过哪些中间点会使路径长度缩短呢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?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经过哪些中间点会使 路径长度最短呢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?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只需尝试在原路径中间加入其它顶点作为中间顶点。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如何尝试？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系统地在原路径中间加入每个顶点，然后不断地调整当前 路径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和路径长度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即可。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34" y="4267200"/>
            <a:ext cx="2280966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D0622-993B-46FB-906C-CF4AFF737C3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52400" y="1143000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示例： 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28600" y="1752600"/>
            <a:ext cx="8915400" cy="3016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2,1</a:t>
            </a:r>
            <a:r>
              <a:rPr kumimoji="1"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&gt;5; &lt;2,0&gt;&lt;0,1&gt;4; a[2][1]=a[2][0]+a[0][1]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调整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注意</a:t>
            </a:r>
            <a:r>
              <a:rPr kumimoji="1" lang="en-US" altLang="zh-CN" sz="2800" b="1" dirty="0">
                <a:solidFill>
                  <a:srgbClr val="00B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考虑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v0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做中间点可能还会改变其它顶点间的距离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kumimoji="1" lang="pt-BR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&lt;2,0,3&gt;7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; </a:t>
            </a:r>
            <a:r>
              <a:rPr kumimoji="1" lang="pt-BR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kumimoji="1" lang="pt-BR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2,3</a:t>
            </a:r>
            <a:r>
              <a:rPr kumimoji="1" lang="pt-BR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&gt;8 ; a[2][3]=a[2][0]+a[0][3] </a:t>
            </a:r>
            <a:endParaRPr kumimoji="1" lang="pt-BR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pt-BR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&lt;2,3&gt;:  &lt;2,0&gt;&lt;0,3&gt;:  &lt;2,0&gt;&lt;0,1&gt;&lt;1,3&gt;=&lt;2,0,1,3&gt; a[2][3]=6  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调整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注意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：有时加入中间顶点后的路径比原路径长  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保持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343400"/>
            <a:ext cx="2895600" cy="193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1A499-A71A-469E-B772-EF36E7A5272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44513" y="1296987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算法的基本思想：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00050" y="1946275"/>
            <a:ext cx="7848600" cy="8617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804896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2590800"/>
            <a:ext cx="82169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25" y="3536950"/>
            <a:ext cx="8210550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5384800"/>
            <a:ext cx="822325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E094-CF31-4A41-A00F-B7D034543A4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44513" y="1296987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算法的数据结构 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00050" y="1946275"/>
            <a:ext cx="7848600" cy="42473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图的存储结构：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带权的有向图采用邻接矩阵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C[n][n]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存储</a:t>
            </a:r>
            <a:endParaRPr kumimoji="1"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数组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D[n][n]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存放在迭代过程中求得的最短路径长度。迭代公式：  </a:t>
            </a:r>
            <a:endParaRPr kumimoji="1"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数组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P[n][n]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存放从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求得的最短路径。初始时，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P[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][j]=-1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4269927"/>
            <a:ext cx="7321550" cy="83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FCE3-3FD9-458D-9E9F-DCEE778C15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44513" y="1296987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00050" y="1946275"/>
            <a:ext cx="7848600" cy="862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对顶点进行编号，设顶点为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0,1,...,n-1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算法仍采用邻接矩阵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G.arcs[n][n]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表示有向网络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" name="Rectangle 2"/>
          <p:cNvSpPr txBox="1"/>
          <p:nvPr/>
        </p:nvSpPr>
        <p:spPr>
          <a:xfrm>
            <a:off x="544513" y="3228975"/>
            <a:ext cx="7989887" cy="3019425"/>
          </a:xfrm>
          <a:prstGeom prst="rect">
            <a:avLst/>
          </a:prstGeom>
          <a:ln>
            <a:solidFill>
              <a:srgbClr val="003300"/>
            </a:solidFill>
          </a:ln>
        </p:spPr>
        <p:txBody>
          <a:bodyPr/>
          <a:lstStyle/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弗洛伊德算法的基本操作</a:t>
            </a:r>
            <a:r>
              <a:rPr lang="zh-CN" altLang="en-US" sz="2800" b="1" kern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endParaRPr lang="zh-CN" altLang="en-US" sz="2800" b="1" kern="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(D[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][k]+D[k][j] &lt; D[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][j])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 = D[</a:t>
            </a:r>
            <a:r>
              <a:rPr lang="en-US" altLang="zh-CN" sz="28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][k]+D[k][j]; 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　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其中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表示在路径中新增添考虑的顶点号，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为路径的起始顶点号，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j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为路径的终止顶点号。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4A17-CE25-45F1-9CE5-65303A79579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544513" y="1296987"/>
            <a:ext cx="662463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00050" y="1946275"/>
            <a:ext cx="7848600" cy="862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对顶点进行编号，设顶点为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0,1,...,n-1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算法仍采用邻接矩阵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G.arcs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[n][n]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表示有向网络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90575" y="2898775"/>
            <a:ext cx="7524750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just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(-1)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[n][n]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表示中间不经过任何点的最短路径；它就是邻接距阵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G.arcs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[n][n]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marR="0" lvl="0" indent="-457200" algn="just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(0)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[n][n]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中间只允许经过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的最短路径；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marR="0" lvl="0" indent="-457200" algn="just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[n][n]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中间只允许经过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的最短路径；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marR="0" lvl="0" indent="-457200" algn="just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………………………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marR="0" lvl="0" indent="-457200" algn="just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 n-1)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[n][n],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中间可经过所有顶点的最短路径。   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FAD8-9BFE-408A-8ACA-B068CA9A187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"/>
          <p:cNvGrpSpPr/>
          <p:nvPr/>
        </p:nvGrpSpPr>
        <p:grpSpPr bwMode="auto">
          <a:xfrm>
            <a:off x="677863" y="1344613"/>
            <a:ext cx="3322637" cy="2922587"/>
            <a:chOff x="1056" y="672"/>
            <a:chExt cx="3264" cy="3096"/>
          </a:xfrm>
        </p:grpSpPr>
        <p:sp>
          <p:nvSpPr>
            <p:cNvPr id="14" name="Oval 3"/>
            <p:cNvSpPr>
              <a:spLocks noChangeArrowheads="1"/>
            </p:cNvSpPr>
            <p:nvPr/>
          </p:nvSpPr>
          <p:spPr bwMode="auto">
            <a:xfrm>
              <a:off x="2352" y="6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１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5" name="Oval 4"/>
            <p:cNvSpPr>
              <a:spLocks noChangeArrowheads="1"/>
            </p:cNvSpPr>
            <p:nvPr/>
          </p:nvSpPr>
          <p:spPr bwMode="auto">
            <a:xfrm>
              <a:off x="1056" y="1728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２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3792" y="1728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５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1536" y="30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３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3120" y="3072"/>
              <a:ext cx="528" cy="480"/>
            </a:xfrm>
            <a:prstGeom prst="ellipse">
              <a:avLst/>
            </a:prstGeom>
            <a:solidFill>
              <a:srgbClr val="DBF5F9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４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 flipH="1">
              <a:off x="1488" y="1056"/>
              <a:ext cx="912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1440" y="2208"/>
              <a:ext cx="288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2832" y="1056"/>
              <a:ext cx="1008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2688" y="1152"/>
              <a:ext cx="624" cy="19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 flipV="1">
              <a:off x="2016" y="2064"/>
              <a:ext cx="1824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V="1">
              <a:off x="3552" y="2208"/>
              <a:ext cx="432" cy="9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5" name="Line 14"/>
            <p:cNvSpPr>
              <a:spLocks noChangeShapeType="1"/>
            </p:cNvSpPr>
            <p:nvPr/>
          </p:nvSpPr>
          <p:spPr bwMode="auto">
            <a:xfrm flipH="1">
              <a:off x="2064" y="3312"/>
              <a:ext cx="10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1152" y="2496"/>
              <a:ext cx="529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2208" y="2544"/>
              <a:ext cx="529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17"/>
            <p:cNvSpPr txBox="1">
              <a:spLocks noChangeArrowheads="1"/>
            </p:cNvSpPr>
            <p:nvPr/>
          </p:nvSpPr>
          <p:spPr bwMode="auto">
            <a:xfrm>
              <a:off x="2833" y="1776"/>
              <a:ext cx="527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1632" y="1199"/>
              <a:ext cx="529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19"/>
            <p:cNvSpPr txBox="1">
              <a:spLocks noChangeArrowheads="1"/>
            </p:cNvSpPr>
            <p:nvPr/>
          </p:nvSpPr>
          <p:spPr bwMode="auto">
            <a:xfrm>
              <a:off x="2353" y="3312"/>
              <a:ext cx="527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3601" y="2591"/>
              <a:ext cx="527" cy="4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3264" y="1199"/>
              <a:ext cx="720" cy="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3" name="Object 2"/>
          <p:cNvGraphicFramePr>
            <a:graphicFrameLocks noChangeAspect="1"/>
          </p:cNvGraphicFramePr>
          <p:nvPr/>
        </p:nvGraphicFramePr>
        <p:xfrm>
          <a:off x="4470400" y="949325"/>
          <a:ext cx="3959225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0" name="Equation" r:id="rId2" imgW="1866900" imgH="1143000" progId="Equation.3">
                  <p:embed/>
                </p:oleObj>
              </mc:Choice>
              <mc:Fallback>
                <p:oleObj name="Equation" r:id="rId2" imgW="1866900" imgH="1143000" progId="Equation.3">
                  <p:embed/>
                  <p:pic>
                    <p:nvPicPr>
                      <p:cNvPr id="0" name="图片 16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949325"/>
                        <a:ext cx="3959225" cy="242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/>
          <p:cNvGraphicFramePr>
            <a:graphicFrameLocks noChangeAspect="1"/>
          </p:cNvGraphicFramePr>
          <p:nvPr/>
        </p:nvGraphicFramePr>
        <p:xfrm>
          <a:off x="401638" y="4197350"/>
          <a:ext cx="3598862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1" name="Equation" r:id="rId4" imgW="1866900" imgH="1143000" progId="Equation.3">
                  <p:embed/>
                </p:oleObj>
              </mc:Choice>
              <mc:Fallback>
                <p:oleObj name="Equation" r:id="rId4" imgW="1866900" imgH="1143000" progId="Equation.3">
                  <p:embed/>
                  <p:pic>
                    <p:nvPicPr>
                      <p:cNvPr id="0" name="图片 166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4197350"/>
                        <a:ext cx="3598862" cy="220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71438" y="6396037"/>
            <a:ext cx="3897312" cy="461963"/>
          </a:xfrm>
          <a:prstGeom prst="rect">
            <a:avLst/>
          </a:prstGeom>
          <a:solidFill>
            <a:srgbClr val="DBF5F9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</a:rPr>
              <a:t>可以经过第二个点后的矩阵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4762500" y="3865563"/>
          <a:ext cx="3792538" cy="243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2" name="Equation" r:id="rId6" imgW="42672000" imgH="27432000" progId="Equation.DSMT4">
                  <p:embed/>
                </p:oleObj>
              </mc:Choice>
              <mc:Fallback>
                <p:oleObj name="Equation" r:id="rId6" imgW="42672000" imgH="27432000" progId="Equation.DSMT4">
                  <p:embed/>
                  <p:pic>
                    <p:nvPicPr>
                      <p:cNvPr id="0" name="图片 166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3865563"/>
                        <a:ext cx="3792538" cy="2436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/>
        </p:nvGraphicFramePr>
        <p:xfrm>
          <a:off x="4565650" y="1023938"/>
          <a:ext cx="3656013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" name="Equation" r:id="rId8" imgW="42672000" imgH="27432000" progId="Equation.DSMT4">
                  <p:embed/>
                </p:oleObj>
              </mc:Choice>
              <mc:Fallback>
                <p:oleObj name="Equation" r:id="rId8" imgW="42672000" imgH="27432000" progId="Equation.DSMT4">
                  <p:embed/>
                  <p:pic>
                    <p:nvPicPr>
                      <p:cNvPr id="0" name="图片 166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1023938"/>
                        <a:ext cx="3656013" cy="234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35"/>
          <p:cNvSpPr txBox="1">
            <a:spLocks noChangeArrowheads="1"/>
          </p:cNvSpPr>
          <p:nvPr/>
        </p:nvSpPr>
        <p:spPr bwMode="auto">
          <a:xfrm>
            <a:off x="142875" y="847725"/>
            <a:ext cx="4962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算法思想示例分析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7621-5013-40C7-9A27-A2476943D32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2"/>
          <p:cNvSpPr>
            <a:spLocks noChangeArrowheads="1"/>
          </p:cNvSpPr>
          <p:nvPr/>
        </p:nvSpPr>
        <p:spPr bwMode="auto">
          <a:xfrm>
            <a:off x="539750" y="4995863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Oval 3"/>
          <p:cNvSpPr>
            <a:spLocks noChangeArrowheads="1"/>
          </p:cNvSpPr>
          <p:nvPr/>
        </p:nvSpPr>
        <p:spPr bwMode="auto">
          <a:xfrm>
            <a:off x="1476375" y="5859463"/>
            <a:ext cx="360363" cy="360362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Oval 4"/>
          <p:cNvSpPr>
            <a:spLocks noChangeArrowheads="1"/>
          </p:cNvSpPr>
          <p:nvPr/>
        </p:nvSpPr>
        <p:spPr bwMode="auto">
          <a:xfrm>
            <a:off x="1547813" y="4346575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Oval 5"/>
          <p:cNvSpPr>
            <a:spLocks noChangeArrowheads="1"/>
          </p:cNvSpPr>
          <p:nvPr/>
        </p:nvSpPr>
        <p:spPr bwMode="auto">
          <a:xfrm>
            <a:off x="2484438" y="5067300"/>
            <a:ext cx="360362" cy="360363"/>
          </a:xfrm>
          <a:prstGeom prst="ellipse">
            <a:avLst/>
          </a:prstGeom>
          <a:solidFill>
            <a:srgbClr val="DBF5F9"/>
          </a:solidFill>
          <a:ln w="28575" cap="rnd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539750" y="2774950"/>
            <a:ext cx="2500313" cy="85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求下图各顶点之</a:t>
            </a:r>
            <a:endParaRPr kumimoji="1" lang="zh-CN" altLang="en-US" sz="2800" b="1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间的最短路径</a:t>
            </a:r>
            <a:endParaRPr kumimoji="1" lang="zh-CN" altLang="en-US" sz="2800" b="1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755650" y="5356225"/>
            <a:ext cx="720725" cy="576263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5" name="Line 8"/>
          <p:cNvSpPr>
            <a:spLocks noChangeShapeType="1"/>
          </p:cNvSpPr>
          <p:nvPr/>
        </p:nvSpPr>
        <p:spPr bwMode="auto">
          <a:xfrm flipV="1">
            <a:off x="1836738" y="5427663"/>
            <a:ext cx="719137" cy="504825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6" name="Line 9"/>
          <p:cNvSpPr>
            <a:spLocks noChangeShapeType="1"/>
          </p:cNvSpPr>
          <p:nvPr/>
        </p:nvSpPr>
        <p:spPr bwMode="auto">
          <a:xfrm flipH="1" flipV="1">
            <a:off x="900113" y="5213350"/>
            <a:ext cx="1584325" cy="714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7" name="Line 10"/>
          <p:cNvSpPr>
            <a:spLocks noChangeShapeType="1"/>
          </p:cNvSpPr>
          <p:nvPr/>
        </p:nvSpPr>
        <p:spPr bwMode="auto">
          <a:xfrm flipV="1">
            <a:off x="1692275" y="4708525"/>
            <a:ext cx="0" cy="115093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Line 11"/>
          <p:cNvSpPr>
            <a:spLocks noChangeShapeType="1"/>
          </p:cNvSpPr>
          <p:nvPr/>
        </p:nvSpPr>
        <p:spPr bwMode="auto">
          <a:xfrm flipH="1">
            <a:off x="828675" y="4564063"/>
            <a:ext cx="719138" cy="431800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9" name="Line 12"/>
          <p:cNvSpPr>
            <a:spLocks noChangeShapeType="1"/>
          </p:cNvSpPr>
          <p:nvPr/>
        </p:nvSpPr>
        <p:spPr bwMode="auto">
          <a:xfrm>
            <a:off x="1908175" y="4635500"/>
            <a:ext cx="647700" cy="433388"/>
          </a:xfrm>
          <a:prstGeom prst="line">
            <a:avLst/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cxnSp>
        <p:nvCxnSpPr>
          <p:cNvPr id="50" name="AutoShape 13"/>
          <p:cNvCxnSpPr>
            <a:cxnSpLocks noChangeShapeType="1"/>
            <a:stCxn id="39" idx="0"/>
            <a:endCxn id="41" idx="1"/>
          </p:cNvCxnSpPr>
          <p:nvPr/>
        </p:nvCxnSpPr>
        <p:spPr bwMode="auto">
          <a:xfrm rot="-5400000">
            <a:off x="862013" y="4243387"/>
            <a:ext cx="596900" cy="879475"/>
          </a:xfrm>
          <a:prstGeom prst="curvedConnector3">
            <a:avLst>
              <a:gd name="adj1" fmla="val 144681"/>
            </a:avLst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</p:cxnSp>
      <p:cxnSp>
        <p:nvCxnSpPr>
          <p:cNvPr id="51" name="AutoShape 14"/>
          <p:cNvCxnSpPr>
            <a:cxnSpLocks noChangeShapeType="1"/>
            <a:stCxn id="42" idx="0"/>
            <a:endCxn id="41" idx="7"/>
          </p:cNvCxnSpPr>
          <p:nvPr/>
        </p:nvCxnSpPr>
        <p:spPr bwMode="auto">
          <a:xfrm rot="5400000" flipH="1">
            <a:off x="1926432" y="4314031"/>
            <a:ext cx="668338" cy="809625"/>
          </a:xfrm>
          <a:prstGeom prst="curvedConnector3">
            <a:avLst>
              <a:gd name="adj1" fmla="val 139903"/>
            </a:avLst>
          </a:prstGeom>
          <a:noFill/>
          <a:ln w="22225">
            <a:solidFill>
              <a:srgbClr val="000000"/>
            </a:solidFill>
            <a:miter lim="800000"/>
            <a:tailEnd type="triangle" w="med" len="med"/>
          </a:ln>
        </p:spPr>
      </p:cxnSp>
      <p:sp>
        <p:nvSpPr>
          <p:cNvPr id="52" name="Text Box 15"/>
          <p:cNvSpPr txBox="1">
            <a:spLocks noChangeArrowheads="1"/>
          </p:cNvSpPr>
          <p:nvPr/>
        </p:nvSpPr>
        <p:spPr bwMode="auto">
          <a:xfrm>
            <a:off x="900113" y="5588000"/>
            <a:ext cx="17780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2173288" y="5673725"/>
            <a:ext cx="17780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1908175" y="4881563"/>
            <a:ext cx="1778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1476375" y="4737100"/>
            <a:ext cx="17780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2030413" y="4376738"/>
            <a:ext cx="1778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Text Box 20"/>
          <p:cNvSpPr txBox="1">
            <a:spLocks noChangeArrowheads="1"/>
          </p:cNvSpPr>
          <p:nvPr/>
        </p:nvSpPr>
        <p:spPr bwMode="auto">
          <a:xfrm>
            <a:off x="1116013" y="4371975"/>
            <a:ext cx="17780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Text Box 21"/>
          <p:cNvSpPr txBox="1">
            <a:spLocks noChangeArrowheads="1"/>
          </p:cNvSpPr>
          <p:nvPr/>
        </p:nvSpPr>
        <p:spPr bwMode="auto">
          <a:xfrm>
            <a:off x="684213" y="3938588"/>
            <a:ext cx="1778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Text Box 22"/>
          <p:cNvSpPr txBox="1">
            <a:spLocks noChangeArrowheads="1"/>
          </p:cNvSpPr>
          <p:nvPr/>
        </p:nvSpPr>
        <p:spPr bwMode="auto">
          <a:xfrm>
            <a:off x="2246313" y="3729038"/>
            <a:ext cx="17780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0" name="Group 23"/>
          <p:cNvGraphicFramePr>
            <a:graphicFrameLocks noGrp="1"/>
          </p:cNvGraphicFramePr>
          <p:nvPr/>
        </p:nvGraphicFramePr>
        <p:xfrm>
          <a:off x="6421438" y="4851400"/>
          <a:ext cx="2398712" cy="1608137"/>
        </p:xfrm>
        <a:graphic>
          <a:graphicData uri="http://schemas.openxmlformats.org/drawingml/2006/table">
            <a:tbl>
              <a:tblPr/>
              <a:tblGrid>
                <a:gridCol w="598487"/>
                <a:gridCol w="601663"/>
                <a:gridCol w="600075"/>
                <a:gridCol w="598487"/>
              </a:tblGrid>
              <a:tr h="365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Group 50"/>
          <p:cNvGraphicFramePr>
            <a:graphicFrameLocks noGrp="1"/>
          </p:cNvGraphicFramePr>
          <p:nvPr/>
        </p:nvGraphicFramePr>
        <p:xfrm>
          <a:off x="3348038" y="4851400"/>
          <a:ext cx="2881312" cy="1677987"/>
        </p:xfrm>
        <a:graphic>
          <a:graphicData uri="http://schemas.openxmlformats.org/drawingml/2006/table">
            <a:tbl>
              <a:tblPr/>
              <a:tblGrid>
                <a:gridCol w="719137"/>
                <a:gridCol w="722313"/>
                <a:gridCol w="720725"/>
                <a:gridCol w="719137"/>
              </a:tblGrid>
              <a:tr h="365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BAD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4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CAB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Text Box 77"/>
          <p:cNvSpPr txBox="1">
            <a:spLocks noChangeArrowheads="1"/>
          </p:cNvSpPr>
          <p:nvPr/>
        </p:nvSpPr>
        <p:spPr bwMode="auto">
          <a:xfrm>
            <a:off x="3276600" y="4132263"/>
            <a:ext cx="6119813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两点之间只允许经过</a:t>
            </a:r>
            <a:r>
              <a:rPr kumimoji="1"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A</a:t>
            </a:r>
            <a:r>
              <a:rPr kumimoji="1" lang="zh-CN" altLang="en-US" sz="2800" b="1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点</a:t>
            </a: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的距阵</a:t>
            </a:r>
            <a:r>
              <a:rPr kumimoji="1" lang="en-US" altLang="zh-CN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D</a:t>
            </a:r>
            <a:r>
              <a:rPr kumimoji="1" lang="en-US" altLang="zh-CN" sz="2800" b="1" baseline="3000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(0)</a:t>
            </a: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：</a:t>
            </a:r>
            <a:endParaRPr kumimoji="1" lang="zh-CN" altLang="en-US" sz="2800" b="1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63" name="Group 78"/>
          <p:cNvGraphicFramePr>
            <a:graphicFrameLocks noGrp="1"/>
          </p:cNvGraphicFramePr>
          <p:nvPr/>
        </p:nvGraphicFramePr>
        <p:xfrm>
          <a:off x="3348038" y="2049463"/>
          <a:ext cx="2881312" cy="1677987"/>
        </p:xfrm>
        <a:graphic>
          <a:graphicData uri="http://schemas.openxmlformats.org/drawingml/2006/table">
            <a:tbl>
              <a:tblPr/>
              <a:tblGrid>
                <a:gridCol w="719137"/>
                <a:gridCol w="722313"/>
                <a:gridCol w="720725"/>
                <a:gridCol w="719137"/>
              </a:tblGrid>
              <a:tr h="365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AA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AD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BD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4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CB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CD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DD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Text Box 105"/>
          <p:cNvSpPr txBox="1">
            <a:spLocks noChangeArrowheads="1"/>
          </p:cNvSpPr>
          <p:nvPr/>
        </p:nvSpPr>
        <p:spPr bwMode="auto">
          <a:xfrm>
            <a:off x="4284663" y="1395413"/>
            <a:ext cx="446405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两点之间直达的距阵</a:t>
            </a:r>
            <a:r>
              <a:rPr kumimoji="1" lang="en-US" altLang="zh-CN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D</a:t>
            </a:r>
            <a:r>
              <a:rPr kumimoji="1" lang="en-US" altLang="zh-CN" sz="2800" b="1" baseline="3000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(-1)</a:t>
            </a:r>
            <a:r>
              <a:rPr kumimoji="1" lang="zh-CN" altLang="en-US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：</a:t>
            </a:r>
            <a:endParaRPr kumimoji="1" lang="zh-CN" altLang="en-US" sz="2800" b="1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65" name="Group 106"/>
          <p:cNvGraphicFramePr>
            <a:graphicFrameLocks noGrp="1"/>
          </p:cNvGraphicFramePr>
          <p:nvPr/>
        </p:nvGraphicFramePr>
        <p:xfrm>
          <a:off x="6494463" y="2043113"/>
          <a:ext cx="2398712" cy="1606549"/>
        </p:xfrm>
        <a:graphic>
          <a:graphicData uri="http://schemas.openxmlformats.org/drawingml/2006/table">
            <a:tbl>
              <a:tblPr/>
              <a:tblGrid>
                <a:gridCol w="598487"/>
                <a:gridCol w="601663"/>
                <a:gridCol w="600075"/>
                <a:gridCol w="598487"/>
              </a:tblGrid>
              <a:tr h="365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∞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" name="Text Box 135"/>
          <p:cNvSpPr txBox="1">
            <a:spLocks noChangeArrowheads="1"/>
          </p:cNvSpPr>
          <p:nvPr/>
        </p:nvSpPr>
        <p:spPr bwMode="auto">
          <a:xfrm>
            <a:off x="142875" y="914400"/>
            <a:ext cx="4962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算法思想示例分析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7" name="Oval 136"/>
          <p:cNvSpPr>
            <a:spLocks noChangeArrowheads="1"/>
          </p:cNvSpPr>
          <p:nvPr/>
        </p:nvSpPr>
        <p:spPr bwMode="auto">
          <a:xfrm>
            <a:off x="107950" y="1955800"/>
            <a:ext cx="1143000" cy="592138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4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9.6.2 </a:t>
            </a:r>
            <a:r>
              <a:rPr kumimoji="1"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各顶点之间的最短路径</a:t>
            </a:r>
            <a:endParaRPr kumimoji="1" lang="zh-CN" altLang="en-US" sz="28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09E3-035B-477D-BA4E-B50DF81818C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-228600" y="1114425"/>
            <a:ext cx="228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85750" y="685800"/>
            <a:ext cx="662463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Floyd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00063" y="1216025"/>
            <a:ext cx="8143875" cy="5561013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Floyd(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A,C,n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{for (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=1;i&lt;=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n;i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for (j=1;j&lt;=n;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j++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A[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][j]=C [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][j];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//A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初始化，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表示任意两点之间最短路长的矩阵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//C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是有向图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的邻接矩阵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 (k=1;k&lt;=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n;k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for (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=1;i&lt;=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n;i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for (j=1;j&lt;=n;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j++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if(A[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][k]+ A[k][j]&lt; A[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][j])</a:t>
            </a:r>
            <a:endParaRPr kumimoji="1" lang="en-US" altLang="zh-CN" sz="2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          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经过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点后路径长度是否变短</a:t>
            </a:r>
            <a:endParaRPr kumimoji="1" lang="zh-CN" altLang="en-US" sz="2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A[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][j]= A[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][k]+ A[k][j];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AutoShape 3"/>
          <p:cNvSpPr>
            <a:spLocks noChangeArrowheads="1"/>
          </p:cNvSpPr>
          <p:nvPr/>
        </p:nvSpPr>
        <p:spPr bwMode="auto">
          <a:xfrm>
            <a:off x="4321175" y="3990975"/>
            <a:ext cx="4679950" cy="936625"/>
          </a:xfrm>
          <a:prstGeom prst="cloudCallout">
            <a:avLst>
              <a:gd name="adj1" fmla="val -46065"/>
              <a:gd name="adj2" fmla="val 65426"/>
            </a:avLst>
          </a:prstGeom>
          <a:solidFill>
            <a:srgbClr val="DBF5F9">
              <a:lumMod val="90000"/>
            </a:srgbClr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时间复杂度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）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Courier New" panose="02070309020205020404" pitchFamily="49" charset="0"/>
              </a:rPr>
              <a:t>本章小结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DE3D-D2B1-4722-A407-655F2573AAC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9</a:t>
            </a:r>
            <a:r>
              <a:rPr lang="zh-CN" altLang="en-US" b="1" dirty="0">
                <a:solidFill>
                  <a:srgbClr val="00B0F0"/>
                </a:solidFill>
              </a:rPr>
              <a:t>章 图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39750" y="1300163"/>
            <a:ext cx="8175625" cy="4795837"/>
          </a:xfrm>
          <a:prstGeom prst="rect">
            <a:avLst/>
          </a:prstGeom>
          <a:noFill/>
          <a:ln w="38100" cmpd="dbl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熟悉图的各种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存储结构及其构造算法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，了解实际问题的求解效率与采用何种存储结构和算法有密切联系。</a:t>
            </a:r>
            <a:endParaRPr kumimoji="1"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熟练掌握图的深度优先和广度优先搜索</a:t>
            </a:r>
            <a:r>
              <a:rPr kumimoji="1"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遍历及算法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理解图的遍历算法与树的遍历算法之间的类似和差异；</a:t>
            </a:r>
            <a:endParaRPr kumimoji="1"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掌握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拓扑排序、关键路径和最短路径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的求解、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应用背景和思想；</a:t>
            </a:r>
            <a:endParaRPr kumimoji="1"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掌握构造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最小生成树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的过程和的算法。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9章 查找1">
  <a:themeElements>
    <a:clrScheme name="第9章 查找1 1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第9章 查找1">
      <a:majorFont>
        <a:latin typeface="Calibri"/>
        <a:ea typeface="宋体"/>
        <a:cs typeface=""/>
      </a:majorFont>
      <a:minorFont>
        <a:latin typeface="Constant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600" b="1" i="0" u="none" strike="noStrike" cap="none" normalizeH="0" baseline="0" smtClean="0">
            <a:ln>
              <a:noFill/>
            </a:ln>
            <a:solidFill>
              <a:srgbClr val="6600CC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600" b="1" i="0" u="none" strike="noStrike" cap="none" normalizeH="0" baseline="0" smtClean="0">
            <a:ln>
              <a:noFill/>
            </a:ln>
            <a:solidFill>
              <a:srgbClr val="6600CC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第9章 查找1 1">
        <a:dk1>
          <a:srgbClr val="000000"/>
        </a:dk1>
        <a:lt1>
          <a:srgbClr val="FFFFFF"/>
        </a:lt1>
        <a:dk2>
          <a:srgbClr val="04617B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34074</Words>
  <Application>WPS 演示</Application>
  <PresentationFormat>全屏显示(4:3)</PresentationFormat>
  <Paragraphs>5858</Paragraphs>
  <Slides>183</Slides>
  <Notes>183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26</vt:i4>
      </vt:variant>
      <vt:variant>
        <vt:lpstr>幻灯片标题</vt:lpstr>
      </vt:variant>
      <vt:variant>
        <vt:i4>183</vt:i4>
      </vt:variant>
    </vt:vector>
  </HeadingPairs>
  <TitlesOfParts>
    <vt:vector size="234" baseType="lpstr">
      <vt:lpstr>Arial</vt:lpstr>
      <vt:lpstr>宋体</vt:lpstr>
      <vt:lpstr>Wingdings</vt:lpstr>
      <vt:lpstr>Times New Roman</vt:lpstr>
      <vt:lpstr>楷体_GB2312</vt:lpstr>
      <vt:lpstr>新宋体</vt:lpstr>
      <vt:lpstr>隶书</vt:lpstr>
      <vt:lpstr>Calibri</vt:lpstr>
      <vt:lpstr>Wingdings 2</vt:lpstr>
      <vt:lpstr>Constantia</vt:lpstr>
      <vt:lpstr>Symbol</vt:lpstr>
      <vt:lpstr>微软雅黑</vt:lpstr>
      <vt:lpstr>Arial Unicode MS</vt:lpstr>
      <vt:lpstr>黑体</vt:lpstr>
      <vt:lpstr>Times New Roman</vt:lpstr>
      <vt:lpstr>Tahoma</vt:lpstr>
      <vt:lpstr>Constantia</vt:lpstr>
      <vt:lpstr>华文楷体</vt:lpstr>
      <vt:lpstr>Calibri</vt:lpstr>
      <vt:lpstr>华文中宋</vt:lpstr>
      <vt:lpstr>华文琥珀</vt:lpstr>
      <vt:lpstr>华文行楷</vt:lpstr>
      <vt:lpstr>Courier New</vt:lpstr>
      <vt:lpstr>Office 主题​​</vt:lpstr>
      <vt:lpstr>第9章 查找1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第9章 图（1）           ——图的基本问题和算法</vt:lpstr>
      <vt:lpstr>第九章 图</vt:lpstr>
      <vt:lpstr>本章知识点</vt:lpstr>
      <vt:lpstr>本章难点</vt:lpstr>
      <vt:lpstr>第九章 图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9.1  图的定义和术语</vt:lpstr>
      <vt:lpstr>第九章 图</vt:lpstr>
      <vt:lpstr>9.2  图的存储结构</vt:lpstr>
      <vt:lpstr>9.2  图的存储结构</vt:lpstr>
      <vt:lpstr>9.2.1 邻接矩阵（Adjacency Matrix）</vt:lpstr>
      <vt:lpstr>9.2.1 邻接矩阵（Adjacency Matrix）</vt:lpstr>
      <vt:lpstr>9.2.1 邻接矩阵（Adjacency Matrix）</vt:lpstr>
      <vt:lpstr>9.2.1 邻接矩阵（Adjacency Matrix）</vt:lpstr>
      <vt:lpstr>9.2.1 邻接矩阵（Adjacency Matrix）</vt:lpstr>
      <vt:lpstr>9.2.1 邻接矩阵（Adjacency Matrix）</vt:lpstr>
      <vt:lpstr>9.2.1 邻接矩阵（Adjacency Matrix）</vt:lpstr>
      <vt:lpstr>9.2.1 邻接矩阵（Adjacency Matrix）</vt:lpstr>
      <vt:lpstr>9.2  图的存储结构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9.2.2  邻接表（Adjacency List）</vt:lpstr>
      <vt:lpstr>9.2  图的存储结构</vt:lpstr>
      <vt:lpstr>9.2.3  十字链表(Orthogonal List)</vt:lpstr>
      <vt:lpstr>9.2.3  十字链表(Orthogonal List)</vt:lpstr>
      <vt:lpstr>9.2.3  十字链表(Orthogonal List)</vt:lpstr>
      <vt:lpstr>9.2.3  十字链表(Orthogonal List)</vt:lpstr>
      <vt:lpstr>9.2  图的存储结构</vt:lpstr>
      <vt:lpstr>9.2.4  邻接多重表 (Adjacency multilistOrthogonal List)</vt:lpstr>
      <vt:lpstr>9.2.4  邻接多重表 (Adjacency multilistOrthogonal List)</vt:lpstr>
      <vt:lpstr>9.2.4  邻接多重表 (Adjacency multilistOrthogonal List)</vt:lpstr>
      <vt:lpstr>第九章 图</vt:lpstr>
      <vt:lpstr>9.3  图的遍历</vt:lpstr>
      <vt:lpstr>9.3  图的遍历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9.3.1 深度优先搜索DFS ( Depth First Search )</vt:lpstr>
      <vt:lpstr>9.3  图的遍历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9.3.2 广度优先搜索BFS ( Breadth First Search )</vt:lpstr>
      <vt:lpstr>结论</vt:lpstr>
      <vt:lpstr>总结</vt:lpstr>
      <vt:lpstr>第九章 图</vt:lpstr>
      <vt:lpstr>9.4 生成树和最小生成树</vt:lpstr>
      <vt:lpstr>9.4 生成树和最小生成树</vt:lpstr>
      <vt:lpstr>9.4.1 生成树(spanning tree )</vt:lpstr>
      <vt:lpstr>9.4.1 生成树(spanning tree )</vt:lpstr>
      <vt:lpstr>9.4.1 生成树(spanning tree )</vt:lpstr>
      <vt:lpstr>9.4.1 生成树(spanning tree )</vt:lpstr>
      <vt:lpstr>9.4.1 生成树(spanning tree )</vt:lpstr>
      <vt:lpstr>9.4.1 生成树(spanning tree )</vt:lpstr>
      <vt:lpstr>9.4 生成树和最小生成树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9.4.2  最小生成树（Minimun spanning tree ）</vt:lpstr>
      <vt:lpstr>第九章 图</vt:lpstr>
      <vt:lpstr>9.5 有向无环图的应用</vt:lpstr>
      <vt:lpstr>9.5 有向无环图的应用</vt:lpstr>
      <vt:lpstr>9.5 有向无环图的应用</vt:lpstr>
      <vt:lpstr>9.5 有向无环图的应用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9.5.1 拓扑排序</vt:lpstr>
      <vt:lpstr>9.5 有向无环图的应用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PowerPoint 演示文稿</vt:lpstr>
      <vt:lpstr>9.5.2 关键路径</vt:lpstr>
      <vt:lpstr>\</vt:lpstr>
      <vt:lpstr>9.5.2 关键路径</vt:lpstr>
      <vt:lpstr>PowerPoint 演示文稿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9.5.2 关键路径</vt:lpstr>
      <vt:lpstr>PowerPoint 演示文稿</vt:lpstr>
      <vt:lpstr>第九章 图</vt:lpstr>
      <vt:lpstr>9.6 最短路径</vt:lpstr>
      <vt:lpstr>9.6 最短路径</vt:lpstr>
      <vt:lpstr>9.6 最短路径</vt:lpstr>
      <vt:lpstr>9.6.1从某源点到其余各点的最短路径</vt:lpstr>
      <vt:lpstr>9.6.1 从某源点到其余各点的最短路径</vt:lpstr>
      <vt:lpstr>9.6.1 从某源点到其余各点的最短路径</vt:lpstr>
      <vt:lpstr>9.6.1 从某源点到其余各点的最短路径</vt:lpstr>
      <vt:lpstr>9.6.1 从某源点到其余各点的最短路径</vt:lpstr>
      <vt:lpstr>9.6.1 从某源点到其余各点的最短路径</vt:lpstr>
      <vt:lpstr>9.6.1 从某源点到其余各点的最短路径</vt:lpstr>
      <vt:lpstr>9.6.1 从某源点到其余各点的最短路径</vt:lpstr>
      <vt:lpstr>9.6 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9.6.2 各顶点之间的最短路径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Structures</dc:title>
  <dc:creator>Haijun ZHANG</dc:creator>
  <cp:lastModifiedBy>大宇哥</cp:lastModifiedBy>
  <cp:revision>635</cp:revision>
  <dcterms:created xsi:type="dcterms:W3CDTF">2017-08-09T05:01:00Z</dcterms:created>
  <dcterms:modified xsi:type="dcterms:W3CDTF">2025-03-27T12:26:22Z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F2EBAAAFA532454BB3E05218063B3BAD_12</vt:lpwstr>
  </property>
  <property fmtid="{D5CDD505-2E9C-101B-9397-08002B2CF9AE}" pid="3" name="KSOProductBuildVer">
    <vt:lpwstr>2052-12.1.0.20305</vt:lpwstr>
  </property>
</Properties>
</file>