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4"/>
  </p:notesMasterIdLst>
  <p:handoutMasterIdLst>
    <p:handoutMasterId r:id="rId195"/>
  </p:handoutMasterIdLst>
  <p:sldIdLst>
    <p:sldId id="266" r:id="rId2"/>
    <p:sldId id="540" r:id="rId3"/>
    <p:sldId id="267" r:id="rId4"/>
    <p:sldId id="541" r:id="rId5"/>
    <p:sldId id="268" r:id="rId6"/>
    <p:sldId id="542" r:id="rId7"/>
    <p:sldId id="502" r:id="rId8"/>
    <p:sldId id="543" r:id="rId9"/>
    <p:sldId id="544" r:id="rId10"/>
    <p:sldId id="545" r:id="rId11"/>
    <p:sldId id="546" r:id="rId12"/>
    <p:sldId id="547" r:id="rId13"/>
    <p:sldId id="548" r:id="rId14"/>
    <p:sldId id="549" r:id="rId15"/>
    <p:sldId id="550" r:id="rId16"/>
    <p:sldId id="551" r:id="rId17"/>
    <p:sldId id="552" r:id="rId18"/>
    <p:sldId id="553" r:id="rId19"/>
    <p:sldId id="554" r:id="rId20"/>
    <p:sldId id="555" r:id="rId21"/>
    <p:sldId id="556" r:id="rId22"/>
    <p:sldId id="557" r:id="rId23"/>
    <p:sldId id="558" r:id="rId24"/>
    <p:sldId id="559" r:id="rId25"/>
    <p:sldId id="560" r:id="rId26"/>
    <p:sldId id="561" r:id="rId27"/>
    <p:sldId id="562" r:id="rId28"/>
    <p:sldId id="563" r:id="rId29"/>
    <p:sldId id="564" r:id="rId30"/>
    <p:sldId id="565" r:id="rId31"/>
    <p:sldId id="566" r:id="rId32"/>
    <p:sldId id="567" r:id="rId33"/>
    <p:sldId id="568" r:id="rId34"/>
    <p:sldId id="569" r:id="rId35"/>
    <p:sldId id="570" r:id="rId36"/>
    <p:sldId id="571" r:id="rId37"/>
    <p:sldId id="572" r:id="rId38"/>
    <p:sldId id="573" r:id="rId39"/>
    <p:sldId id="574" r:id="rId40"/>
    <p:sldId id="575" r:id="rId41"/>
    <p:sldId id="576" r:id="rId42"/>
    <p:sldId id="577" r:id="rId43"/>
    <p:sldId id="578" r:id="rId44"/>
    <p:sldId id="580" r:id="rId45"/>
    <p:sldId id="579" r:id="rId46"/>
    <p:sldId id="581" r:id="rId47"/>
    <p:sldId id="583" r:id="rId48"/>
    <p:sldId id="582" r:id="rId49"/>
    <p:sldId id="584" r:id="rId50"/>
    <p:sldId id="586" r:id="rId51"/>
    <p:sldId id="585" r:id="rId52"/>
    <p:sldId id="587" r:id="rId53"/>
    <p:sldId id="588" r:id="rId54"/>
    <p:sldId id="589" r:id="rId55"/>
    <p:sldId id="590" r:id="rId56"/>
    <p:sldId id="591" r:id="rId57"/>
    <p:sldId id="599" r:id="rId58"/>
    <p:sldId id="593" r:id="rId59"/>
    <p:sldId id="594" r:id="rId60"/>
    <p:sldId id="595" r:id="rId61"/>
    <p:sldId id="596" r:id="rId62"/>
    <p:sldId id="600" r:id="rId63"/>
    <p:sldId id="597" r:id="rId64"/>
    <p:sldId id="601" r:id="rId65"/>
    <p:sldId id="602" r:id="rId66"/>
    <p:sldId id="604" r:id="rId67"/>
    <p:sldId id="606" r:id="rId68"/>
    <p:sldId id="605" r:id="rId69"/>
    <p:sldId id="603" r:id="rId70"/>
    <p:sldId id="607" r:id="rId71"/>
    <p:sldId id="608" r:id="rId72"/>
    <p:sldId id="610" r:id="rId73"/>
    <p:sldId id="609" r:id="rId74"/>
    <p:sldId id="611" r:id="rId75"/>
    <p:sldId id="612" r:id="rId76"/>
    <p:sldId id="613" r:id="rId77"/>
    <p:sldId id="615" r:id="rId78"/>
    <p:sldId id="614" r:id="rId79"/>
    <p:sldId id="598" r:id="rId80"/>
    <p:sldId id="616" r:id="rId81"/>
    <p:sldId id="617" r:id="rId82"/>
    <p:sldId id="618" r:id="rId83"/>
    <p:sldId id="620" r:id="rId84"/>
    <p:sldId id="621" r:id="rId85"/>
    <p:sldId id="622" r:id="rId86"/>
    <p:sldId id="619" r:id="rId87"/>
    <p:sldId id="623" r:id="rId88"/>
    <p:sldId id="624" r:id="rId89"/>
    <p:sldId id="625" r:id="rId90"/>
    <p:sldId id="592" r:id="rId91"/>
    <p:sldId id="626" r:id="rId92"/>
    <p:sldId id="627" r:id="rId93"/>
    <p:sldId id="628" r:id="rId94"/>
    <p:sldId id="629" r:id="rId95"/>
    <p:sldId id="630" r:id="rId96"/>
    <p:sldId id="631" r:id="rId97"/>
    <p:sldId id="632" r:id="rId98"/>
    <p:sldId id="633" r:id="rId99"/>
    <p:sldId id="634" r:id="rId100"/>
    <p:sldId id="635" r:id="rId101"/>
    <p:sldId id="636" r:id="rId102"/>
    <p:sldId id="637" r:id="rId103"/>
    <p:sldId id="638" r:id="rId104"/>
    <p:sldId id="639" r:id="rId105"/>
    <p:sldId id="640" r:id="rId106"/>
    <p:sldId id="641" r:id="rId107"/>
    <p:sldId id="644" r:id="rId108"/>
    <p:sldId id="645" r:id="rId109"/>
    <p:sldId id="642" r:id="rId110"/>
    <p:sldId id="643" r:id="rId111"/>
    <p:sldId id="646" r:id="rId112"/>
    <p:sldId id="647" r:id="rId113"/>
    <p:sldId id="648" r:id="rId114"/>
    <p:sldId id="649" r:id="rId115"/>
    <p:sldId id="650" r:id="rId116"/>
    <p:sldId id="651" r:id="rId117"/>
    <p:sldId id="652" r:id="rId118"/>
    <p:sldId id="653" r:id="rId119"/>
    <p:sldId id="654" r:id="rId120"/>
    <p:sldId id="657" r:id="rId121"/>
    <p:sldId id="659" r:id="rId122"/>
    <p:sldId id="660" r:id="rId123"/>
    <p:sldId id="658" r:id="rId124"/>
    <p:sldId id="662" r:id="rId125"/>
    <p:sldId id="664" r:id="rId126"/>
    <p:sldId id="665" r:id="rId127"/>
    <p:sldId id="663" r:id="rId128"/>
    <p:sldId id="666" r:id="rId129"/>
    <p:sldId id="667" r:id="rId130"/>
    <p:sldId id="668" r:id="rId131"/>
    <p:sldId id="669" r:id="rId132"/>
    <p:sldId id="670" r:id="rId133"/>
    <p:sldId id="671" r:id="rId134"/>
    <p:sldId id="674" r:id="rId135"/>
    <p:sldId id="672" r:id="rId136"/>
    <p:sldId id="675" r:id="rId137"/>
    <p:sldId id="676" r:id="rId138"/>
    <p:sldId id="677" r:id="rId139"/>
    <p:sldId id="678" r:id="rId140"/>
    <p:sldId id="679" r:id="rId141"/>
    <p:sldId id="681" r:id="rId142"/>
    <p:sldId id="680" r:id="rId143"/>
    <p:sldId id="683" r:id="rId144"/>
    <p:sldId id="682" r:id="rId145"/>
    <p:sldId id="684" r:id="rId146"/>
    <p:sldId id="685" r:id="rId147"/>
    <p:sldId id="686" r:id="rId148"/>
    <p:sldId id="687" r:id="rId149"/>
    <p:sldId id="688" r:id="rId150"/>
    <p:sldId id="689" r:id="rId151"/>
    <p:sldId id="691" r:id="rId152"/>
    <p:sldId id="692" r:id="rId153"/>
    <p:sldId id="693" r:id="rId154"/>
    <p:sldId id="694" r:id="rId155"/>
    <p:sldId id="695" r:id="rId156"/>
    <p:sldId id="696" r:id="rId157"/>
    <p:sldId id="699" r:id="rId158"/>
    <p:sldId id="700" r:id="rId159"/>
    <p:sldId id="702" r:id="rId160"/>
    <p:sldId id="701" r:id="rId161"/>
    <p:sldId id="703" r:id="rId162"/>
    <p:sldId id="704" r:id="rId163"/>
    <p:sldId id="705" r:id="rId164"/>
    <p:sldId id="708" r:id="rId165"/>
    <p:sldId id="709" r:id="rId166"/>
    <p:sldId id="710" r:id="rId167"/>
    <p:sldId id="706" r:id="rId168"/>
    <p:sldId id="707" r:id="rId169"/>
    <p:sldId id="711" r:id="rId170"/>
    <p:sldId id="712" r:id="rId171"/>
    <p:sldId id="714" r:id="rId172"/>
    <p:sldId id="713" r:id="rId173"/>
    <p:sldId id="715" r:id="rId174"/>
    <p:sldId id="716" r:id="rId175"/>
    <p:sldId id="718" r:id="rId176"/>
    <p:sldId id="717" r:id="rId177"/>
    <p:sldId id="719" r:id="rId178"/>
    <p:sldId id="720" r:id="rId179"/>
    <p:sldId id="722" r:id="rId180"/>
    <p:sldId id="723" r:id="rId181"/>
    <p:sldId id="721" r:id="rId182"/>
    <p:sldId id="724" r:id="rId183"/>
    <p:sldId id="725" r:id="rId184"/>
    <p:sldId id="726" r:id="rId185"/>
    <p:sldId id="727" r:id="rId186"/>
    <p:sldId id="728" r:id="rId187"/>
    <p:sldId id="729" r:id="rId188"/>
    <p:sldId id="739" r:id="rId189"/>
    <p:sldId id="326" r:id="rId190"/>
    <p:sldId id="731" r:id="rId191"/>
    <p:sldId id="732" r:id="rId192"/>
    <p:sldId id="733" r:id="rId19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01BF"/>
    <a:srgbClr val="1B06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6388" autoAdjust="0"/>
  </p:normalViewPr>
  <p:slideViewPr>
    <p:cSldViewPr>
      <p:cViewPr varScale="1">
        <p:scale>
          <a:sx n="76" d="100"/>
          <a:sy n="76" d="100"/>
        </p:scale>
        <p:origin x="1258" y="3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notesMaster" Target="notesMasters/notesMaster1.xml"/><Relationship Id="rId199"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handoutMaster" Target="handoutMasters/handoutMaster1.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viewProps" Target="view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theme" Target="theme/theme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zh-CN" altLang="en-US"/>
              <a:t>第</a:t>
            </a:r>
            <a:r>
              <a:rPr lang="en-US" altLang="zh-CN"/>
              <a:t>1</a:t>
            </a:r>
            <a:r>
              <a:rPr lang="zh-CN" altLang="en-US"/>
              <a:t>章 绪论</a:t>
            </a: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24B3334-8B19-41FD-BA5B-2CDDAB13B5AB}" type="datetimeFigureOut">
              <a:rPr lang="zh-CN" altLang="en-US" smtClean="0"/>
              <a:t>2025/2/8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F5231CD-A0B8-4499-BF13-ACF9615008C5}" type="slidenum">
              <a:rPr lang="zh-CN" altLang="en-US" smtClean="0"/>
              <a:t>‹#›</a:t>
            </a:fld>
            <a:endParaRPr lang="zh-CN" altLang="en-US"/>
          </a:p>
        </p:txBody>
      </p:sp>
    </p:spTree>
    <p:extLst>
      <p:ext uri="{BB962C8B-B14F-4D97-AF65-F5344CB8AC3E}">
        <p14:creationId xmlns:p14="http://schemas.microsoft.com/office/powerpoint/2010/main" val="1603092418"/>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zh-CN" altLang="en-US"/>
              <a:t>第</a:t>
            </a:r>
            <a:r>
              <a:rPr lang="en-US" altLang="zh-CN"/>
              <a:t>1</a:t>
            </a:r>
            <a:r>
              <a:rPr lang="zh-CN" altLang="en-US"/>
              <a:t>章 绪论</a:t>
            </a: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426617-0DE9-4FCC-BA51-2984BBE67358}" type="datetimeFigureOut">
              <a:rPr lang="zh-CN" altLang="en-US" smtClean="0"/>
              <a:t>2025/2/8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73ADF5C-0B53-4BD5-BF19-A16D1C70E8AA}" type="slidenum">
              <a:rPr lang="zh-CN" altLang="en-US" smtClean="0"/>
              <a:t>‹#›</a:t>
            </a:fld>
            <a:endParaRPr lang="zh-CN" altLang="en-US"/>
          </a:p>
        </p:txBody>
      </p:sp>
    </p:spTree>
    <p:extLst>
      <p:ext uri="{BB962C8B-B14F-4D97-AF65-F5344CB8AC3E}">
        <p14:creationId xmlns:p14="http://schemas.microsoft.com/office/powerpoint/2010/main" val="3546944924"/>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20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21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22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23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24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Yan18_31min;</a:t>
            </a:r>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25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26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27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28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29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8</a:t>
            </a:r>
            <a:r>
              <a:rPr lang="zh-CN" altLang="en-US"/>
              <a:t>次课完成。。。</a:t>
            </a:r>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30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不大于</a:t>
            </a:r>
            <a:r>
              <a:rPr lang="en-US" altLang="zh-CN" dirty="0"/>
              <a:t>log2n</a:t>
            </a:r>
            <a:r>
              <a:rPr lang="zh-CN" altLang="en-US" dirty="0"/>
              <a:t>的最大整数；反之表示不小于</a:t>
            </a:r>
            <a:r>
              <a:rPr lang="en-US" altLang="zh-CN" dirty="0"/>
              <a:t>x</a:t>
            </a:r>
            <a:r>
              <a:rPr lang="zh-CN" altLang="en-US" dirty="0"/>
              <a:t>的最小整数。。。</a:t>
            </a:r>
            <a:endParaRPr lang="en-US" altLang="zh-CN" dirty="0"/>
          </a:p>
          <a:p>
            <a:r>
              <a:rPr lang="zh-CN" altLang="en-US" dirty="0"/>
              <a:t>以</a:t>
            </a:r>
            <a:r>
              <a:rPr lang="en-US" altLang="zh-CN" dirty="0"/>
              <a:t>log2n</a:t>
            </a:r>
            <a:r>
              <a:rPr lang="zh-CN" altLang="en-US" dirty="0"/>
              <a:t>往下取整。。。</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31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32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Yan19_3min;</a:t>
            </a:r>
          </a:p>
          <a:p>
            <a:endParaRPr lang="en-US" altLang="zh-CN" dirty="0"/>
          </a:p>
          <a:p>
            <a:r>
              <a:rPr lang="zh-CN" altLang="en-US" dirty="0"/>
              <a:t>不大于</a:t>
            </a:r>
            <a:r>
              <a:rPr lang="en-US" altLang="zh-CN" dirty="0" err="1"/>
              <a:t>i</a:t>
            </a:r>
            <a:r>
              <a:rPr lang="en-US" altLang="zh-CN" dirty="0"/>
              <a:t>/2</a:t>
            </a:r>
            <a:r>
              <a:rPr lang="zh-CN" altLang="en-US" dirty="0"/>
              <a:t>的最大整数；</a:t>
            </a:r>
            <a:endParaRPr lang="en-US" altLang="zh-CN" dirty="0"/>
          </a:p>
          <a:p>
            <a:r>
              <a:rPr lang="en-US" altLang="zh-CN" dirty="0" err="1"/>
              <a:t>i</a:t>
            </a:r>
            <a:r>
              <a:rPr lang="en-US" altLang="zh-CN" dirty="0"/>
              <a:t>/2</a:t>
            </a:r>
            <a:r>
              <a:rPr lang="zh-CN" altLang="en-US" dirty="0"/>
              <a:t>往下取整；</a:t>
            </a:r>
            <a:endParaRPr lang="en-US" altLang="zh-CN" dirty="0"/>
          </a:p>
          <a:p>
            <a:endParaRPr lang="en-US" altLang="zh-CN" dirty="0"/>
          </a:p>
          <a:p>
            <a:r>
              <a:rPr lang="zh-CN" altLang="en-US" dirty="0"/>
              <a:t>证明先看纸上。</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33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34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Yan19_07min</a:t>
            </a:r>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35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36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bi</a:t>
            </a:r>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37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38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39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40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证：</a:t>
            </a:r>
            <a:r>
              <a:rPr lang="en-US" altLang="zh-CN" dirty="0"/>
              <a:t>n</a:t>
            </a:r>
            <a:r>
              <a:rPr lang="zh-CN" altLang="en-US" dirty="0"/>
              <a:t>个结点总的指针域数</a:t>
            </a:r>
            <a:r>
              <a:rPr lang="en-US" altLang="zh-CN" dirty="0"/>
              <a:t>2n </a:t>
            </a:r>
          </a:p>
          <a:p>
            <a:r>
              <a:rPr lang="zh-CN" altLang="en-US" dirty="0"/>
              <a:t>除了根结点外，其余</a:t>
            </a:r>
            <a:r>
              <a:rPr lang="en-US" altLang="zh-CN" dirty="0"/>
              <a:t>n-1</a:t>
            </a:r>
            <a:r>
              <a:rPr lang="zh-CN" altLang="en-US" dirty="0"/>
              <a:t>个结点</a:t>
            </a:r>
          </a:p>
          <a:p>
            <a:r>
              <a:rPr lang="zh-CN" altLang="en-US" dirty="0"/>
              <a:t>都是由指针域指出的结点； </a:t>
            </a:r>
            <a:endParaRPr lang="en-US" altLang="zh-CN" dirty="0"/>
          </a:p>
          <a:p>
            <a:r>
              <a:rPr lang="zh-CN" altLang="en-US" dirty="0"/>
              <a:t>所以，剩余的结点数即</a:t>
            </a:r>
          </a:p>
          <a:p>
            <a:r>
              <a:rPr lang="zh-CN" altLang="en-US" dirty="0"/>
              <a:t>空指针域个数为：</a:t>
            </a:r>
          </a:p>
          <a:p>
            <a:r>
              <a:rPr lang="en-US" altLang="zh-CN" dirty="0"/>
              <a:t>2n-</a:t>
            </a:r>
            <a:r>
              <a:rPr lang="zh-CN" altLang="en-US" dirty="0"/>
              <a:t>（</a:t>
            </a:r>
            <a:r>
              <a:rPr lang="en-US" altLang="zh-CN" dirty="0"/>
              <a:t>n-1</a:t>
            </a:r>
            <a:r>
              <a:rPr lang="zh-CN" altLang="en-US" dirty="0"/>
              <a:t>）</a:t>
            </a:r>
            <a:r>
              <a:rPr lang="en-US" altLang="zh-CN" dirty="0"/>
              <a:t>=n+1 </a:t>
            </a:r>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41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42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还有双亲链表等。。。</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43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44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首先看什么是遍历；</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45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46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后两者是类似的，</a:t>
            </a:r>
            <a:endParaRPr lang="en-US" altLang="zh-CN" dirty="0"/>
          </a:p>
          <a:p>
            <a:r>
              <a:rPr lang="zh-CN" altLang="en-US" dirty="0"/>
              <a:t>下面我们重点讨论先左后右的遍历方法</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47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完后，举一个邮递员送报的例子；约定是先左后右的顺序送；</a:t>
            </a:r>
            <a:endParaRPr lang="en-US" altLang="zh-CN" dirty="0"/>
          </a:p>
          <a:p>
            <a:r>
              <a:rPr lang="en-US" altLang="zh-CN" dirty="0"/>
              <a:t>Yan19_28min;</a:t>
            </a:r>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48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7</a:t>
            </a:r>
            <a:r>
              <a:rPr lang="zh-CN" altLang="en-US" dirty="0"/>
              <a:t>次课结束。。</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49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表达式可以看成是根：操作符；左子树：第一操作数；右子树：第二操作数；</a:t>
            </a:r>
            <a:endParaRPr lang="en-US" altLang="zh-CN" dirty="0"/>
          </a:p>
          <a:p>
            <a:r>
              <a:rPr lang="zh-CN" altLang="en-US" dirty="0"/>
              <a:t>二叉树遍历就是表达式的表示顺序</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50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51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52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53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54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55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测试一下。。。。</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56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57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58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先序遍历是在二叉树不空的前提下进行的；如果不空，那么先访问根结点，然后先序遍历左子树（递归调用，指向左子树）；再遍历右子树；</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59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和前面类似，只要把顺序调换一下就可以了</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60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61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62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Yan19_42min;</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我们先回忆一下中序遍历的过程；是第二次从左边回来的时候再访问，也就是先碰到，但后访问，为了辨识回来的路，也就是将这种路径结构用栈来存储；</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先设一个指针指向</a:t>
            </a:r>
            <a:r>
              <a:rPr lang="en-US" altLang="zh-CN" dirty="0"/>
              <a:t>+</a:t>
            </a:r>
            <a:r>
              <a:rPr lang="zh-CN" altLang="en-US" dirty="0"/>
              <a:t>，</a:t>
            </a:r>
            <a:r>
              <a:rPr lang="en-US" altLang="zh-CN" dirty="0"/>
              <a:t>+</a:t>
            </a:r>
            <a:r>
              <a:rPr lang="zh-CN" altLang="en-US" dirty="0"/>
              <a:t>存在左子树，我就把</a:t>
            </a:r>
            <a:r>
              <a:rPr lang="en-US" altLang="zh-CN" dirty="0"/>
              <a:t>+</a:t>
            </a:r>
            <a:r>
              <a:rPr lang="zh-CN" altLang="en-US" dirty="0"/>
              <a:t>入栈，然后到*，然后*入栈，到</a:t>
            </a:r>
            <a:r>
              <a:rPr lang="en-US" altLang="zh-CN" dirty="0"/>
              <a:t>a</a:t>
            </a:r>
            <a:r>
              <a:rPr lang="zh-CN" altLang="en-US" dirty="0"/>
              <a:t>，不存在左子树了，就访问</a:t>
            </a:r>
            <a:r>
              <a:rPr lang="en-US" altLang="zh-CN" dirty="0"/>
              <a:t>a</a:t>
            </a:r>
            <a:r>
              <a:rPr lang="zh-CN" altLang="en-US" dirty="0"/>
              <a:t>，然后弹出栈顶元素*访问（从左边回来了），然后到右子树碰到</a:t>
            </a:r>
            <a:r>
              <a:rPr lang="en-US" altLang="zh-CN" dirty="0"/>
              <a:t>-</a:t>
            </a:r>
            <a:r>
              <a:rPr lang="zh-CN" altLang="en-US" dirty="0"/>
              <a:t>，</a:t>
            </a:r>
            <a:r>
              <a:rPr lang="en-US" altLang="zh-CN" dirty="0"/>
              <a:t>-</a:t>
            </a:r>
            <a:r>
              <a:rPr lang="zh-CN" altLang="en-US" dirty="0"/>
              <a:t>有左子树，所以入栈，然后到</a:t>
            </a:r>
            <a:r>
              <a:rPr lang="en-US" altLang="zh-CN" dirty="0"/>
              <a:t>b</a:t>
            </a:r>
            <a:r>
              <a:rPr lang="zh-CN" altLang="en-US" dirty="0"/>
              <a:t>，访问</a:t>
            </a:r>
            <a:r>
              <a:rPr lang="en-US" altLang="zh-CN" dirty="0"/>
              <a:t>b</a:t>
            </a:r>
            <a:r>
              <a:rPr lang="zh-CN" altLang="en-US" dirty="0"/>
              <a:t>；回来弹出栈顶元素</a:t>
            </a:r>
            <a:r>
              <a:rPr lang="en-US" altLang="zh-CN" dirty="0"/>
              <a:t>-</a:t>
            </a:r>
            <a:r>
              <a:rPr lang="zh-CN" altLang="en-US" dirty="0"/>
              <a:t>，访问</a:t>
            </a:r>
            <a:r>
              <a:rPr lang="en-US" altLang="zh-CN" dirty="0"/>
              <a:t>-</a:t>
            </a:r>
            <a:r>
              <a:rPr lang="zh-CN" altLang="en-US" dirty="0"/>
              <a:t>，然后访问右子树的</a:t>
            </a:r>
            <a:r>
              <a:rPr lang="en-US" altLang="zh-CN" dirty="0"/>
              <a:t>c</a:t>
            </a:r>
            <a:r>
              <a:rPr lang="zh-CN" altLang="en-US" dirty="0"/>
              <a:t>；到头了，要往回走了，我再弹出栈顶元素，</a:t>
            </a:r>
            <a:r>
              <a:rPr lang="en-US" altLang="zh-CN" dirty="0"/>
              <a:t>+</a:t>
            </a:r>
            <a:r>
              <a:rPr lang="zh-CN" altLang="en-US" dirty="0"/>
              <a:t>，然后访问</a:t>
            </a:r>
            <a:r>
              <a:rPr lang="en-US" altLang="zh-CN" dirty="0"/>
              <a:t>+</a:t>
            </a:r>
            <a:r>
              <a:rPr lang="zh-CN" altLang="en-US" dirty="0"/>
              <a:t>；然后往右子树走，到</a:t>
            </a:r>
            <a:r>
              <a:rPr lang="en-US" altLang="zh-CN" dirty="0"/>
              <a:t>/</a:t>
            </a:r>
            <a:r>
              <a:rPr lang="zh-CN" altLang="en-US" dirty="0"/>
              <a:t>，入栈，访问</a:t>
            </a:r>
            <a:r>
              <a:rPr lang="en-US" altLang="zh-CN" dirty="0"/>
              <a:t>d</a:t>
            </a:r>
            <a:r>
              <a:rPr lang="zh-CN" altLang="en-US" dirty="0"/>
              <a:t>，</a:t>
            </a:r>
            <a:r>
              <a:rPr lang="en-US" altLang="zh-CN" dirty="0"/>
              <a:t>/</a:t>
            </a:r>
            <a:r>
              <a:rPr lang="zh-CN" altLang="en-US" dirty="0"/>
              <a:t>出栈，然后访问</a:t>
            </a:r>
            <a:r>
              <a:rPr lang="en-US" altLang="zh-CN" dirty="0"/>
              <a:t>/</a:t>
            </a:r>
            <a:r>
              <a:rPr lang="zh-CN" altLang="en-US" dirty="0"/>
              <a:t>，然后再访问</a:t>
            </a:r>
            <a:r>
              <a:rPr lang="en-US" altLang="zh-CN" dirty="0"/>
              <a:t>e</a:t>
            </a:r>
            <a:r>
              <a:rPr lang="zh-CN" altLang="en-US" dirty="0"/>
              <a:t>；</a:t>
            </a:r>
          </a:p>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63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a:t>
            </a:r>
            <a:r>
              <a:rPr lang="en-US" altLang="zh-CN" dirty="0" err="1"/>
              <a:t>rch</a:t>
            </a:r>
            <a:r>
              <a:rPr lang="zh-CN" altLang="en-US" dirty="0"/>
              <a:t>是右结点；</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64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65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66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67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68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69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统计左子树和右子树叶子结点之和。。。</a:t>
            </a:r>
            <a:endParaRPr lang="en-US" altLang="zh-CN" dirty="0"/>
          </a:p>
          <a:p>
            <a:r>
              <a:rPr lang="zh-CN" altLang="en-US" dirty="0"/>
              <a:t>左子树上叶子结点的总和和总的二叉树上的叶子结点计算方法是一样的，所以用递归调用；</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70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第一层根结点要算上，所以最后</a:t>
            </a:r>
            <a:r>
              <a:rPr lang="en-US" altLang="zh-CN" dirty="0"/>
              <a:t>+1</a:t>
            </a:r>
            <a:r>
              <a:rPr lang="zh-CN" altLang="en-US" dirty="0"/>
              <a:t>；</a:t>
            </a:r>
            <a:endParaRPr lang="en-US" altLang="zh-CN" dirty="0"/>
          </a:p>
          <a:p>
            <a:r>
              <a:rPr lang="zh-CN" altLang="en-US" dirty="0"/>
              <a:t>空树，深度</a:t>
            </a:r>
            <a:r>
              <a:rPr lang="en-US" altLang="zh-CN" dirty="0"/>
              <a:t>=0</a:t>
            </a:r>
            <a:r>
              <a:rPr lang="zh-CN" altLang="en-US" dirty="0"/>
              <a:t>；</a:t>
            </a:r>
            <a:endParaRPr lang="en-US" altLang="zh-CN" dirty="0"/>
          </a:p>
          <a:p>
            <a:r>
              <a:rPr lang="zh-CN" altLang="en-US" dirty="0"/>
              <a:t>只有一个根节点，深度是</a:t>
            </a:r>
            <a:r>
              <a:rPr lang="en-US" altLang="zh-CN" dirty="0"/>
              <a:t>=1</a:t>
            </a:r>
            <a:r>
              <a:rPr lang="zh-CN" altLang="en-US" dirty="0"/>
              <a:t>；</a:t>
            </a:r>
            <a:endParaRPr lang="en-US" altLang="zh-CN" dirty="0"/>
          </a:p>
          <a:p>
            <a:r>
              <a:rPr lang="zh-CN" altLang="en-US" dirty="0"/>
              <a:t>一般二叉树，深度是</a:t>
            </a:r>
            <a:r>
              <a:rPr lang="en-US" altLang="zh-CN" dirty="0"/>
              <a:t>max</a:t>
            </a:r>
            <a:r>
              <a:rPr lang="zh-CN" altLang="en-US" dirty="0"/>
              <a:t>（</a:t>
            </a:r>
            <a:r>
              <a:rPr lang="en-US" altLang="zh-CN" dirty="0"/>
              <a:t>dl</a:t>
            </a:r>
            <a:r>
              <a:rPr lang="zh-CN" altLang="en-US" dirty="0"/>
              <a:t>，</a:t>
            </a:r>
            <a:r>
              <a:rPr lang="en-US" altLang="zh-CN" dirty="0" err="1"/>
              <a:t>dr</a:t>
            </a:r>
            <a:r>
              <a:rPr lang="zh-CN" altLang="en-US" dirty="0"/>
              <a:t>）</a:t>
            </a:r>
            <a:r>
              <a:rPr lang="en-US" altLang="zh-CN" dirty="0"/>
              <a:t>+1</a:t>
            </a:r>
            <a:r>
              <a:rPr lang="zh-CN" altLang="en-US" dirty="0"/>
              <a:t>，即左子树和右子树深度的最大值</a:t>
            </a:r>
            <a:r>
              <a:rPr lang="en-US" altLang="zh-CN" dirty="0"/>
              <a:t>+1</a:t>
            </a:r>
            <a:r>
              <a:rPr lang="zh-CN" altLang="en-US" dirty="0"/>
              <a:t>；</a:t>
            </a:r>
            <a:endParaRPr lang="en-US" altLang="zh-CN" dirty="0"/>
          </a:p>
          <a:p>
            <a:endParaRPr lang="en-US" altLang="zh-CN" dirty="0"/>
          </a:p>
          <a:p>
            <a:r>
              <a:rPr lang="zh-CN" altLang="en-US" dirty="0"/>
              <a:t>二叉树的基本操作可以在递归的基础上利用遍历来完成；</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71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72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73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给定中序和先序能够唯一确定：</a:t>
            </a:r>
            <a:endParaRPr lang="en-US" altLang="zh-CN" dirty="0"/>
          </a:p>
          <a:p>
            <a:r>
              <a:rPr lang="zh-CN" altLang="en-US" dirty="0"/>
              <a:t>在先序遍历序列中，第一个结点一定是二叉树的根结点，而在中序遍历中，根结点必然将中序序列分割成两个子序列。前一个子序列就是根结点的左子树的中序序列，后一个子序列是根结点的右子树的中序序列。根据这两个子序列，在先序序列中找到对应的左子序列和右子序列。在先序序列中，左子序列的第一个结点是左子树的根结点，右子序列的第一个结点是右子树的根结点。如此递推下去，便能唯一确定这颗二叉树。</a:t>
            </a:r>
            <a:endParaRPr lang="en-US" altLang="zh-CN" dirty="0"/>
          </a:p>
          <a:p>
            <a:endParaRPr lang="en-US" altLang="zh-CN" dirty="0"/>
          </a:p>
          <a:p>
            <a:r>
              <a:rPr lang="zh-CN" altLang="en-US" dirty="0"/>
              <a:t>给定中序和后序能够唯一确定：</a:t>
            </a:r>
          </a:p>
          <a:p>
            <a:r>
              <a:rPr lang="zh-CN" altLang="en-US" dirty="0"/>
              <a:t>考虑后序序列中的最后一个结点，如同先序序列中的第一个结点。。。</a:t>
            </a:r>
            <a:endParaRPr lang="en-US" altLang="zh-CN" dirty="0"/>
          </a:p>
          <a:p>
            <a:endParaRPr lang="en-US" altLang="zh-CN" dirty="0"/>
          </a:p>
          <a:p>
            <a:r>
              <a:rPr lang="zh-CN" altLang="en-US" dirty="0"/>
              <a:t>先序：</a:t>
            </a:r>
            <a:r>
              <a:rPr lang="en-US" altLang="zh-CN" dirty="0"/>
              <a:t>ABCD</a:t>
            </a:r>
            <a:r>
              <a:rPr lang="zh-CN" altLang="en-US" dirty="0"/>
              <a:t>；</a:t>
            </a:r>
            <a:endParaRPr lang="en-US" altLang="zh-CN" dirty="0"/>
          </a:p>
          <a:p>
            <a:r>
              <a:rPr lang="zh-CN" altLang="en-US" dirty="0"/>
              <a:t>后序：</a:t>
            </a:r>
            <a:r>
              <a:rPr lang="en-US" altLang="zh-CN" dirty="0"/>
              <a:t>DCBA</a:t>
            </a:r>
            <a:r>
              <a:rPr lang="zh-CN" altLang="en-US" dirty="0"/>
              <a:t>；</a:t>
            </a:r>
            <a:endParaRPr lang="en-US" altLang="zh-CN" dirty="0"/>
          </a:p>
          <a:p>
            <a:r>
              <a:rPr lang="zh-CN" altLang="en-US" dirty="0"/>
              <a:t>不能唯一确定一颗二叉树；</a:t>
            </a:r>
            <a:endParaRPr lang="en-US" altLang="zh-CN" dirty="0"/>
          </a:p>
          <a:p>
            <a:r>
              <a:rPr lang="zh-CN" altLang="en-US" dirty="0"/>
              <a:t>但可以确定二叉树中结点的祖先关系：当两个结点的前序序列为</a:t>
            </a:r>
            <a:r>
              <a:rPr lang="en-US" altLang="zh-CN" dirty="0"/>
              <a:t>XY</a:t>
            </a:r>
            <a:r>
              <a:rPr lang="zh-CN" altLang="en-US" dirty="0"/>
              <a:t>与后序序列为</a:t>
            </a:r>
            <a:r>
              <a:rPr lang="en-US" altLang="zh-CN" dirty="0"/>
              <a:t>YX</a:t>
            </a:r>
            <a:r>
              <a:rPr lang="zh-CN" altLang="en-US" dirty="0"/>
              <a:t>时，则</a:t>
            </a:r>
            <a:r>
              <a:rPr lang="en-US" altLang="zh-CN" dirty="0"/>
              <a:t>X</a:t>
            </a:r>
            <a:r>
              <a:rPr lang="zh-CN" altLang="en-US" dirty="0"/>
              <a:t>为</a:t>
            </a:r>
            <a:r>
              <a:rPr lang="en-US" altLang="zh-CN" dirty="0"/>
              <a:t>Y</a:t>
            </a:r>
            <a:r>
              <a:rPr lang="zh-CN" altLang="en-US" dirty="0"/>
              <a:t>的祖先。</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74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Yan21_5min;</a:t>
            </a:r>
          </a:p>
          <a:p>
            <a:r>
              <a:rPr lang="zh-CN" altLang="en-US" dirty="0"/>
              <a:t>由先序确定了根结点是</a:t>
            </a:r>
            <a:r>
              <a:rPr lang="en-US" altLang="zh-CN" dirty="0"/>
              <a:t>1</a:t>
            </a:r>
            <a:r>
              <a:rPr lang="zh-CN" altLang="en-US" dirty="0"/>
              <a:t>；由中序，根结点的位置我们确定了，左子树上有</a:t>
            </a:r>
            <a:r>
              <a:rPr lang="en-US" altLang="zh-CN" dirty="0"/>
              <a:t>264</a:t>
            </a:r>
            <a:r>
              <a:rPr lang="zh-CN" altLang="en-US" dirty="0"/>
              <a:t>，右子树上是</a:t>
            </a:r>
            <a:r>
              <a:rPr lang="en-US" altLang="zh-CN" dirty="0"/>
              <a:t>3758</a:t>
            </a:r>
            <a:r>
              <a:rPr lang="zh-CN" altLang="en-US" dirty="0"/>
              <a:t>；</a:t>
            </a:r>
            <a:endParaRPr lang="en-US" altLang="zh-CN" dirty="0"/>
          </a:p>
          <a:p>
            <a:r>
              <a:rPr lang="zh-CN" altLang="en-US" dirty="0"/>
              <a:t>由先序确定了左子树的根结点是</a:t>
            </a:r>
            <a:r>
              <a:rPr lang="en-US" altLang="zh-CN" dirty="0"/>
              <a:t>2</a:t>
            </a:r>
            <a:r>
              <a:rPr lang="zh-CN" altLang="en-US" dirty="0"/>
              <a:t>，没有左子树，有右子树是</a:t>
            </a:r>
            <a:r>
              <a:rPr lang="en-US" altLang="zh-CN" dirty="0"/>
              <a:t>46</a:t>
            </a:r>
            <a:r>
              <a:rPr lang="zh-CN" altLang="en-US" dirty="0"/>
              <a:t>，然后依次类推；</a:t>
            </a:r>
            <a:endParaRPr lang="en-US" altLang="zh-CN" dirty="0"/>
          </a:p>
          <a:p>
            <a:r>
              <a:rPr lang="en-US" altLang="zh-CN" dirty="0"/>
              <a:t>3—</a:t>
            </a:r>
            <a:r>
              <a:rPr lang="zh-CN" altLang="en-US" dirty="0"/>
              <a:t>右子树是</a:t>
            </a:r>
            <a:r>
              <a:rPr lang="en-US" altLang="zh-CN" dirty="0"/>
              <a:t>5</a:t>
            </a:r>
            <a:r>
              <a:rPr lang="zh-CN" altLang="en-US" dirty="0"/>
              <a:t>：左子树是</a:t>
            </a:r>
            <a:r>
              <a:rPr lang="en-US" altLang="zh-CN" dirty="0"/>
              <a:t>7</a:t>
            </a:r>
            <a:r>
              <a:rPr lang="zh-CN" altLang="en-US" dirty="0"/>
              <a:t>，右子树是</a:t>
            </a:r>
            <a:r>
              <a:rPr lang="en-US" altLang="zh-CN" dirty="0"/>
              <a:t>8</a:t>
            </a:r>
            <a:r>
              <a:rPr lang="zh-CN" altLang="en-US" dirty="0"/>
              <a:t>；</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75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76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77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Yan20_15min;</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78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结构要相同，数据域也相同。。。</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79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80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引出线索二叉树。。。</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81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82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Yan21_14min;</a:t>
            </a:r>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83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线索二叉树的遍历，不用栈来解决了。。。这是线索二叉树的好处</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84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85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86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在黑板写出来。。。</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87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线索二叉树是在二叉树的基础上实现的，这些指针加在哪里，是加在了空指针上；左子树的空指针是用来指向前驱的；右子树的空指针用来指向后继；</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88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89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90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91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第八次课完成，测试一下</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92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先讲一下上次测验的答案。。。</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93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94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95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96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97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98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99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中序线索二叉树；</a:t>
            </a:r>
            <a:endParaRPr lang="en-US" altLang="zh-CN" dirty="0"/>
          </a:p>
          <a:p>
            <a:r>
              <a:rPr lang="en-US" altLang="zh-CN" dirty="0"/>
              <a:t>Yan21_31min;</a:t>
            </a:r>
          </a:p>
          <a:p>
            <a:endParaRPr lang="en-US" altLang="zh-CN" dirty="0"/>
          </a:p>
          <a:p>
            <a:r>
              <a:rPr lang="zh-CN" altLang="en-US" dirty="0"/>
              <a:t>无论有没有直接后继结点，都可以找到后继。。。</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100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101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102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103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104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105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这里再看一下。。。</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106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构建的整个过程程序。。。。有头结点。。。</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107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108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递归中序线索化二叉树。。。</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109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110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111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112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a:t>
            </a:r>
            <a:r>
              <a:rPr lang="en-US" altLang="zh-CN" dirty="0" err="1"/>
              <a:t>Inordernext</a:t>
            </a:r>
            <a:r>
              <a:rPr lang="en-US" altLang="zh-CN" dirty="0"/>
              <a:t>(p);//</a:t>
            </a:r>
            <a:r>
              <a:rPr lang="zh-CN" altLang="en-US" dirty="0"/>
              <a:t>找*</a:t>
            </a:r>
            <a:r>
              <a:rPr lang="en-US" altLang="zh-CN" dirty="0"/>
              <a:t>p</a:t>
            </a:r>
            <a:r>
              <a:rPr lang="zh-CN" altLang="en-US" dirty="0"/>
              <a:t>的中序后继结点</a:t>
            </a:r>
          </a:p>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113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114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根据规则，从左到右扫描，遇到两个操作数和他之前紧靠的运算符构成一个二叉树。。。</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115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也是从左到右扫描，遇到两个操作数和前面的运算符构成二叉树。。。</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116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117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118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119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120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121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122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123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124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整个树的结构是这样一些双亲结点的集合，那么这些双亲结点也是用一个顺序表给他存储起来；</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125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r=0</a:t>
            </a:r>
          </a:p>
          <a:p>
            <a:r>
              <a:rPr lang="en-US" altLang="zh-CN" dirty="0"/>
              <a:t>n=9</a:t>
            </a:r>
          </a:p>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126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127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128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129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130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131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132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133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134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135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136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137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第九次课结束。。。</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138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139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140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141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142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143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144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145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146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147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148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149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150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151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152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153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154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155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156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157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第一个树的子树森林的深度</a:t>
            </a:r>
            <a:r>
              <a:rPr lang="en-US" altLang="zh-CN" dirty="0"/>
              <a:t>+1</a:t>
            </a:r>
            <a:r>
              <a:rPr lang="zh-CN" altLang="en-US" dirty="0"/>
              <a:t>和其他树构成的森林的深度，这两个之间取个最大值；</a:t>
            </a:r>
            <a:endParaRPr lang="en-US" altLang="zh-CN" dirty="0"/>
          </a:p>
          <a:p>
            <a:endParaRPr lang="en-US" altLang="zh-CN" dirty="0"/>
          </a:p>
          <a:p>
            <a:r>
              <a:rPr lang="zh-CN" altLang="en-US" dirty="0"/>
              <a:t>下次也可以加一个输出树中所有从根到叶子结点的路径算法（见</a:t>
            </a:r>
            <a:r>
              <a:rPr lang="en-US" altLang="zh-CN" dirty="0"/>
              <a:t>yan23_4min</a:t>
            </a:r>
            <a:r>
              <a:rPr lang="zh-CN" altLang="en-US" dirty="0"/>
              <a:t>）</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158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159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8</a:t>
            </a:r>
            <a:r>
              <a:rPr lang="zh-CN" altLang="en-US" dirty="0"/>
              <a:t>章贪心算法里面有涉及到哈夫曼编码问题（自学内容）</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160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161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162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163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11</a:t>
            </a:r>
            <a:r>
              <a:rPr lang="zh-CN" altLang="en-US" dirty="0"/>
              <a:t>次课结束</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164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165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166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哈夫曼树不唯一，但</a:t>
            </a:r>
            <a:r>
              <a:rPr lang="en-US" altLang="zh-CN" dirty="0"/>
              <a:t>WPL</a:t>
            </a:r>
            <a:r>
              <a:rPr lang="zh-CN" altLang="en-US" dirty="0"/>
              <a:t>唯一。</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167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将非满二叉树中，所有度不满</a:t>
            </a:r>
            <a:r>
              <a:rPr lang="en-US" altLang="zh-CN" dirty="0"/>
              <a:t>2</a:t>
            </a:r>
            <a:r>
              <a:rPr lang="zh-CN" altLang="en-US" dirty="0"/>
              <a:t>的节点扩充为</a:t>
            </a:r>
            <a:r>
              <a:rPr lang="en-US" altLang="zh-CN" dirty="0"/>
              <a:t>2</a:t>
            </a:r>
            <a:r>
              <a:rPr lang="zh-CN" altLang="en-US" dirty="0"/>
              <a:t>，便得到了扩充二叉树。扩充的节点称为外部节点，其余原来的节点称为内部节点。</a:t>
            </a:r>
            <a:endParaRPr lang="en-US" altLang="zh-CN" dirty="0"/>
          </a:p>
          <a:p>
            <a:endParaRPr lang="en-US" altLang="zh-CN" dirty="0"/>
          </a:p>
          <a:p>
            <a:endParaRPr lang="en-US" altLang="zh-CN" dirty="0"/>
          </a:p>
          <a:p>
            <a:r>
              <a:rPr lang="zh-CN" altLang="en-US" dirty="0"/>
              <a:t>左右子树长满。。。</a:t>
            </a:r>
            <a:endParaRPr lang="en-US" altLang="zh-CN" dirty="0"/>
          </a:p>
          <a:p>
            <a:r>
              <a:rPr lang="zh-CN" altLang="en-US" dirty="0"/>
              <a:t>很多应用问题中为树的叶节点赋予一个权值，用于表示出现频度、概率值等。因此，在问题处理中把叶节点定义得不同于非叶节点，把叶节点看作“外节点”，非叶节点看作“内节点”。这样的二叉树称为扩充二叉树。扩充二叉树中只有度为</a:t>
            </a:r>
            <a:r>
              <a:rPr lang="en-US" altLang="zh-CN" dirty="0"/>
              <a:t>2</a:t>
            </a:r>
            <a:r>
              <a:rPr lang="zh-CN" altLang="en-US" dirty="0"/>
              <a:t>的内节点和度为</a:t>
            </a:r>
            <a:r>
              <a:rPr lang="en-US" altLang="zh-CN" dirty="0"/>
              <a:t>0</a:t>
            </a:r>
            <a:r>
              <a:rPr lang="zh-CN" altLang="en-US" dirty="0"/>
              <a:t>的外节点。根据完全二叉树的性质，有</a:t>
            </a:r>
            <a:r>
              <a:rPr lang="en-US" altLang="zh-CN" dirty="0"/>
              <a:t>n</a:t>
            </a:r>
            <a:r>
              <a:rPr lang="zh-CN" altLang="en-US" dirty="0"/>
              <a:t>个外节点就有</a:t>
            </a:r>
            <a:r>
              <a:rPr lang="en-US" altLang="zh-CN" dirty="0"/>
              <a:t>n-1</a:t>
            </a:r>
            <a:r>
              <a:rPr lang="zh-CN" altLang="en-US" dirty="0"/>
              <a:t>个内节点，总节点数为</a:t>
            </a:r>
            <a:r>
              <a:rPr lang="en-US" altLang="zh-CN" dirty="0"/>
              <a:t>2n-1.</a:t>
            </a:r>
          </a:p>
          <a:p>
            <a:endParaRPr lang="en-US" altLang="zh-CN" dirty="0"/>
          </a:p>
          <a:p>
            <a:endParaRPr lang="zh-CN" altLang="en-US" dirty="0"/>
          </a:p>
          <a:p>
            <a:r>
              <a:rPr lang="zh-CN" altLang="en-US" dirty="0"/>
              <a:t>什么是增长树？答：当二叉树中结点没有左子树形或没有右子树形时，增加 特殊的结点，由此生成的二叉树称为增 长的二叉树</a:t>
            </a:r>
          </a:p>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168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Yan24</a:t>
            </a:r>
          </a:p>
          <a:p>
            <a:r>
              <a:rPr lang="zh-CN" altLang="en-US" dirty="0"/>
              <a:t>正确答案：</a:t>
            </a:r>
            <a:r>
              <a:rPr lang="en-US" altLang="zh-CN" dirty="0"/>
              <a:t>(1)</a:t>
            </a:r>
            <a:r>
              <a:rPr lang="zh-CN" altLang="en-US" dirty="0"/>
              <a:t>设</a:t>
            </a:r>
            <a:r>
              <a:rPr lang="en-US" altLang="zh-CN" dirty="0"/>
              <a:t>n=1</a:t>
            </a:r>
            <a:r>
              <a:rPr lang="zh-CN" altLang="en-US" dirty="0"/>
              <a:t>则</a:t>
            </a:r>
            <a:r>
              <a:rPr lang="en-US" altLang="zh-CN" dirty="0"/>
              <a:t>e+2*1=2(</a:t>
            </a:r>
            <a:r>
              <a:rPr lang="zh-CN" altLang="en-US" dirty="0"/>
              <a:t>只有一个根结点时有两个外部结点</a:t>
            </a:r>
            <a:r>
              <a:rPr lang="en-US" altLang="zh-CN" dirty="0"/>
              <a:t>)</a:t>
            </a:r>
            <a:r>
              <a:rPr lang="zh-CN" altLang="en-US" dirty="0"/>
              <a:t>公式成立。 设有</a:t>
            </a:r>
            <a:r>
              <a:rPr lang="en-US" altLang="zh-CN" dirty="0"/>
              <a:t>n</a:t>
            </a:r>
            <a:r>
              <a:rPr lang="zh-CN" altLang="en-US" dirty="0"/>
              <a:t>个结点时公式成立即 </a:t>
            </a:r>
            <a:r>
              <a:rPr lang="en-US" altLang="zh-CN" dirty="0" err="1"/>
              <a:t>En</a:t>
            </a:r>
            <a:r>
              <a:rPr lang="en-US" altLang="zh-CN" dirty="0"/>
              <a:t>=In+2n (1) </a:t>
            </a:r>
            <a:r>
              <a:rPr lang="zh-CN" altLang="en-US" dirty="0"/>
              <a:t>现在要证明当有</a:t>
            </a:r>
            <a:r>
              <a:rPr lang="en-US" altLang="zh-CN" dirty="0"/>
              <a:t>n+1</a:t>
            </a:r>
            <a:r>
              <a:rPr lang="zh-CN" altLang="en-US" dirty="0"/>
              <a:t>个结点时公式成立。 增加一个内部结点设路径长度为</a:t>
            </a:r>
            <a:r>
              <a:rPr lang="en-US" altLang="zh-CN" dirty="0"/>
              <a:t>l</a:t>
            </a:r>
            <a:r>
              <a:rPr lang="zh-CN" altLang="en-US" dirty="0"/>
              <a:t>则 </a:t>
            </a:r>
            <a:r>
              <a:rPr lang="en-US" altLang="zh-CN" dirty="0"/>
              <a:t>In+1=</a:t>
            </a:r>
            <a:r>
              <a:rPr lang="en-US" altLang="zh-CN" dirty="0" err="1"/>
              <a:t>In+l</a:t>
            </a:r>
            <a:r>
              <a:rPr lang="en-US" altLang="zh-CN" dirty="0"/>
              <a:t> (2) </a:t>
            </a:r>
            <a:r>
              <a:rPr lang="zh-CN" altLang="en-US" dirty="0"/>
              <a:t>该内部结点其实是从一个外部结点变来的即这时相当于也增加了一个外部结点</a:t>
            </a:r>
            <a:r>
              <a:rPr lang="en-US" altLang="zh-CN" dirty="0"/>
              <a:t>(</a:t>
            </a:r>
            <a:r>
              <a:rPr lang="zh-CN" altLang="en-US" dirty="0"/>
              <a:t>原外部结点变成内部结点时增加两个外部结点</a:t>
            </a:r>
            <a:r>
              <a:rPr lang="en-US" altLang="zh-CN" dirty="0"/>
              <a:t>)</a:t>
            </a:r>
            <a:r>
              <a:rPr lang="zh-CN" altLang="en-US" dirty="0"/>
              <a:t>则</a:t>
            </a:r>
            <a:endParaRPr lang="en-US" altLang="zh-CN" dirty="0"/>
          </a:p>
          <a:p>
            <a:endParaRPr lang="en-US" altLang="zh-CN" dirty="0"/>
          </a:p>
          <a:p>
            <a:r>
              <a:rPr lang="zh-CN" altLang="en-US" dirty="0"/>
              <a:t>首先你说的二叉树是只有一个根节点，每个节点两个分叉的二叉树是吧</a:t>
            </a:r>
          </a:p>
          <a:p>
            <a:r>
              <a:rPr lang="zh-CN" altLang="en-US" dirty="0"/>
              <a:t>其实很简单了</a:t>
            </a:r>
          </a:p>
          <a:p>
            <a:r>
              <a:rPr lang="zh-CN" altLang="en-US" dirty="0"/>
              <a:t>每个内节点是有</a:t>
            </a:r>
            <a:r>
              <a:rPr lang="en-US" altLang="zh-CN" dirty="0"/>
              <a:t>2</a:t>
            </a:r>
            <a:r>
              <a:rPr lang="zh-CN" altLang="en-US" dirty="0"/>
              <a:t>个 向下的分支</a:t>
            </a:r>
          </a:p>
          <a:p>
            <a:r>
              <a:rPr lang="zh-CN" altLang="en-US" dirty="0"/>
              <a:t>比如我们取从上到下的顺序看这个</a:t>
            </a:r>
            <a:r>
              <a:rPr lang="en-US" altLang="zh-CN" dirty="0"/>
              <a:t>2</a:t>
            </a:r>
            <a:r>
              <a:rPr lang="zh-CN" altLang="en-US" dirty="0"/>
              <a:t>叉树</a:t>
            </a:r>
          </a:p>
          <a:p>
            <a:r>
              <a:rPr lang="zh-CN" altLang="en-US" dirty="0"/>
              <a:t>重点注意倒数第二层的节点</a:t>
            </a:r>
          </a:p>
          <a:p>
            <a:endParaRPr lang="zh-CN" altLang="en-US" dirty="0"/>
          </a:p>
          <a:p>
            <a:r>
              <a:rPr lang="zh-CN" altLang="en-US" dirty="0"/>
              <a:t>其实</a:t>
            </a:r>
            <a:r>
              <a:rPr lang="en-US" altLang="zh-CN" dirty="0"/>
              <a:t>E</a:t>
            </a:r>
            <a:r>
              <a:rPr lang="zh-CN" altLang="en-US" dirty="0"/>
              <a:t>和</a:t>
            </a:r>
            <a:r>
              <a:rPr lang="en-US" altLang="zh-CN" dirty="0"/>
              <a:t>I </a:t>
            </a:r>
            <a:r>
              <a:rPr lang="zh-CN" altLang="en-US" dirty="0"/>
              <a:t>相差的就是 </a:t>
            </a:r>
            <a:r>
              <a:rPr lang="en-US" altLang="zh-CN" dirty="0"/>
              <a:t>2n</a:t>
            </a:r>
          </a:p>
          <a:p>
            <a:r>
              <a:rPr lang="en-US" altLang="zh-CN" dirty="0"/>
              <a:t>2n</a:t>
            </a:r>
            <a:r>
              <a:rPr lang="zh-CN" altLang="en-US" dirty="0"/>
              <a:t>是什么，就是每个内节点申出来的</a:t>
            </a:r>
            <a:r>
              <a:rPr lang="en-US" altLang="zh-CN" dirty="0"/>
              <a:t>2</a:t>
            </a:r>
            <a:r>
              <a:rPr lang="zh-CN" altLang="en-US" dirty="0"/>
              <a:t>个径了</a:t>
            </a:r>
          </a:p>
          <a:p>
            <a:r>
              <a:rPr lang="zh-CN" altLang="en-US" dirty="0"/>
              <a:t>我不知道你们老师怎么讲的，数据结构是要讲二叉树的，</a:t>
            </a:r>
          </a:p>
          <a:p>
            <a:r>
              <a:rPr lang="zh-CN" altLang="en-US" dirty="0"/>
              <a:t>我给学生讲的时候就是这么说的，</a:t>
            </a:r>
          </a:p>
          <a:p>
            <a:r>
              <a:rPr lang="zh-CN" altLang="en-US" dirty="0"/>
              <a:t>其实很直观的！</a:t>
            </a:r>
            <a:endParaRPr lang="en-US" altLang="zh-CN" dirty="0"/>
          </a:p>
          <a:p>
            <a:endParaRPr lang="en-US" altLang="zh-CN" dirty="0"/>
          </a:p>
          <a:p>
            <a:endParaRPr lang="en-US" altLang="zh-CN" dirty="0"/>
          </a:p>
          <a:p>
            <a:r>
              <a:rPr lang="zh-CN" altLang="en-US" dirty="0"/>
              <a:t>书上给出外部路径和</a:t>
            </a:r>
            <a:r>
              <a:rPr lang="en-US" altLang="zh-CN" dirty="0"/>
              <a:t>E=</a:t>
            </a:r>
            <a:r>
              <a:rPr lang="zh-CN" altLang="en-US" dirty="0"/>
              <a:t>内部路径和</a:t>
            </a:r>
            <a:r>
              <a:rPr lang="en-US" altLang="zh-CN" dirty="0"/>
              <a:t>I+2*n</a:t>
            </a:r>
            <a:r>
              <a:rPr lang="zh-CN" altLang="en-US" dirty="0"/>
              <a:t>（</a:t>
            </a:r>
            <a:r>
              <a:rPr lang="en-US" altLang="zh-CN" dirty="0"/>
              <a:t>n</a:t>
            </a:r>
            <a:r>
              <a:rPr lang="zh-CN" altLang="en-US" dirty="0"/>
              <a:t>为内部节点个数）的证明是归纳法证明，并不能在未知结论的情况下进行。我一向不喜欢这种不给出来怎么猜的思路直接就上数学归纳法的证明，不给一个思维的过渡，让人怎么接受嘛。</a:t>
            </a:r>
          </a:p>
          <a:p>
            <a:endParaRPr lang="zh-CN" altLang="en-US" dirty="0"/>
          </a:p>
          <a:p>
            <a:r>
              <a:rPr lang="zh-CN" altLang="en-US" dirty="0"/>
              <a:t>现我通过将节点按照度数分类的方法，给出一种探索式证明：</a:t>
            </a:r>
          </a:p>
          <a:p>
            <a:endParaRPr lang="zh-CN" altLang="en-US" dirty="0"/>
          </a:p>
          <a:p>
            <a:r>
              <a:rPr lang="zh-CN" altLang="en-US" dirty="0"/>
              <a:t>设外部路径长度和为</a:t>
            </a:r>
            <a:r>
              <a:rPr lang="en-US" altLang="zh-CN" dirty="0"/>
              <a:t>E</a:t>
            </a:r>
            <a:r>
              <a:rPr lang="zh-CN" altLang="en-US" dirty="0"/>
              <a:t>。可知</a:t>
            </a:r>
            <a:r>
              <a:rPr lang="en-US" altLang="zh-CN" dirty="0"/>
              <a:t>E=</a:t>
            </a:r>
            <a:r>
              <a:rPr lang="zh-CN" altLang="en-US" dirty="0"/>
              <a:t>原二叉树中所有度为</a:t>
            </a:r>
            <a:r>
              <a:rPr lang="en-US" altLang="zh-CN" dirty="0"/>
              <a:t>0</a:t>
            </a:r>
            <a:r>
              <a:rPr lang="zh-CN" altLang="en-US" dirty="0"/>
              <a:t>的节点的路径和*</a:t>
            </a:r>
            <a:r>
              <a:rPr lang="en-US" altLang="zh-CN" dirty="0"/>
              <a:t>2+</a:t>
            </a:r>
            <a:r>
              <a:rPr lang="zh-CN" altLang="en-US" dirty="0"/>
              <a:t>度为</a:t>
            </a:r>
            <a:r>
              <a:rPr lang="en-US" altLang="zh-CN" dirty="0"/>
              <a:t>1</a:t>
            </a:r>
            <a:r>
              <a:rPr lang="zh-CN" altLang="en-US" dirty="0"/>
              <a:t>的路径和*</a:t>
            </a:r>
            <a:r>
              <a:rPr lang="en-US" altLang="zh-CN" dirty="0"/>
              <a:t>1+n+1</a:t>
            </a:r>
            <a:r>
              <a:rPr lang="zh-CN" altLang="en-US" dirty="0"/>
              <a:t>（多出来</a:t>
            </a:r>
            <a:r>
              <a:rPr lang="en-US" altLang="zh-CN" dirty="0"/>
              <a:t>n+1</a:t>
            </a:r>
            <a:r>
              <a:rPr lang="zh-CN" altLang="en-US" dirty="0"/>
              <a:t>个外部节点，每个节点多了长度为</a:t>
            </a:r>
            <a:r>
              <a:rPr lang="en-US" altLang="zh-CN" dirty="0"/>
              <a:t>1</a:t>
            </a:r>
            <a:r>
              <a:rPr lang="zh-CN" altLang="en-US" dirty="0"/>
              <a:t>的路径）。</a:t>
            </a:r>
          </a:p>
          <a:p>
            <a:endParaRPr lang="zh-CN" altLang="en-US" dirty="0"/>
          </a:p>
          <a:p>
            <a:r>
              <a:rPr lang="zh-CN" altLang="en-US" dirty="0"/>
              <a:t>又内部路径</a:t>
            </a:r>
            <a:r>
              <a:rPr lang="en-US" altLang="zh-CN" dirty="0"/>
              <a:t>=</a:t>
            </a:r>
            <a:r>
              <a:rPr lang="zh-CN" altLang="en-US" dirty="0"/>
              <a:t>原二叉树中度为</a:t>
            </a:r>
            <a:r>
              <a:rPr lang="en-US" altLang="zh-CN" dirty="0"/>
              <a:t>0</a:t>
            </a:r>
            <a:r>
              <a:rPr lang="zh-CN" altLang="en-US" dirty="0"/>
              <a:t>的路径和</a:t>
            </a:r>
            <a:r>
              <a:rPr lang="en-US" altLang="zh-CN" dirty="0"/>
              <a:t>+</a:t>
            </a:r>
            <a:r>
              <a:rPr lang="zh-CN" altLang="en-US" dirty="0"/>
              <a:t>度为</a:t>
            </a:r>
            <a:r>
              <a:rPr lang="en-US" altLang="zh-CN" dirty="0"/>
              <a:t>1</a:t>
            </a:r>
            <a:r>
              <a:rPr lang="zh-CN" altLang="en-US" dirty="0"/>
              <a:t>的路径和</a:t>
            </a:r>
            <a:r>
              <a:rPr lang="en-US" altLang="zh-CN" dirty="0"/>
              <a:t>+</a:t>
            </a:r>
            <a:r>
              <a:rPr lang="zh-CN" altLang="en-US" dirty="0"/>
              <a:t>度为</a:t>
            </a:r>
            <a:r>
              <a:rPr lang="en-US" altLang="zh-CN" dirty="0"/>
              <a:t>2</a:t>
            </a:r>
            <a:r>
              <a:rPr lang="zh-CN" altLang="en-US" dirty="0"/>
              <a:t>的路径和。</a:t>
            </a:r>
          </a:p>
          <a:p>
            <a:endParaRPr lang="zh-CN" altLang="en-US" dirty="0"/>
          </a:p>
          <a:p>
            <a:r>
              <a:rPr lang="en-US" altLang="zh-CN" dirty="0"/>
              <a:t>E-I=</a:t>
            </a:r>
            <a:r>
              <a:rPr lang="zh-CN" altLang="en-US" dirty="0"/>
              <a:t>度为</a:t>
            </a:r>
            <a:r>
              <a:rPr lang="en-US" altLang="zh-CN" dirty="0"/>
              <a:t>0</a:t>
            </a:r>
            <a:r>
              <a:rPr lang="zh-CN" altLang="en-US" dirty="0"/>
              <a:t>的路径和</a:t>
            </a:r>
            <a:r>
              <a:rPr lang="en-US" altLang="zh-CN" dirty="0"/>
              <a:t>-</a:t>
            </a:r>
            <a:r>
              <a:rPr lang="zh-CN" altLang="en-US" dirty="0"/>
              <a:t>度为</a:t>
            </a:r>
            <a:r>
              <a:rPr lang="en-US" altLang="zh-CN" dirty="0"/>
              <a:t>2</a:t>
            </a:r>
            <a:r>
              <a:rPr lang="zh-CN" altLang="en-US" dirty="0"/>
              <a:t>的路径和</a:t>
            </a:r>
            <a:r>
              <a:rPr lang="en-US" altLang="zh-CN" dirty="0"/>
              <a:t>+n+1</a:t>
            </a:r>
            <a:r>
              <a:rPr lang="zh-CN" altLang="en-US" dirty="0"/>
              <a:t>。</a:t>
            </a:r>
          </a:p>
          <a:p>
            <a:endParaRPr lang="zh-CN" altLang="en-US" dirty="0"/>
          </a:p>
          <a:p>
            <a:r>
              <a:rPr lang="zh-CN" altLang="en-US" dirty="0"/>
              <a:t>又可知，原二叉树的边数为</a:t>
            </a:r>
            <a:r>
              <a:rPr lang="en-US" altLang="zh-CN" dirty="0"/>
              <a:t>n-1</a:t>
            </a:r>
            <a:r>
              <a:rPr lang="zh-CN" altLang="en-US" dirty="0"/>
              <a:t>（所有除根节点以外的节点都有唯一前驱），而度为</a:t>
            </a:r>
            <a:r>
              <a:rPr lang="en-US" altLang="zh-CN" dirty="0"/>
              <a:t>2</a:t>
            </a:r>
            <a:r>
              <a:rPr lang="zh-CN" altLang="en-US" dirty="0"/>
              <a:t>的节点数比度为</a:t>
            </a:r>
            <a:r>
              <a:rPr lang="en-US" altLang="zh-CN" dirty="0"/>
              <a:t>0</a:t>
            </a:r>
            <a:r>
              <a:rPr lang="zh-CN" altLang="en-US" dirty="0"/>
              <a:t>的结点数少</a:t>
            </a:r>
            <a:r>
              <a:rPr lang="en-US" altLang="zh-CN" dirty="0"/>
              <a:t>1</a:t>
            </a:r>
            <a:r>
              <a:rPr lang="zh-CN" altLang="en-US" dirty="0"/>
              <a:t>。由数学归纳法可知（这个很好猜嘛），度为</a:t>
            </a:r>
            <a:r>
              <a:rPr lang="en-US" altLang="zh-CN" dirty="0"/>
              <a:t>2</a:t>
            </a:r>
            <a:r>
              <a:rPr lang="zh-CN" altLang="en-US" dirty="0"/>
              <a:t>的路径和恰好为度为</a:t>
            </a:r>
            <a:r>
              <a:rPr lang="en-US" altLang="zh-CN" dirty="0"/>
              <a:t>0</a:t>
            </a:r>
            <a:r>
              <a:rPr lang="zh-CN" altLang="en-US" dirty="0"/>
              <a:t>的路径和中多加的边数。故</a:t>
            </a:r>
            <a:r>
              <a:rPr lang="en-US" altLang="zh-CN" dirty="0"/>
              <a:t>E-I=2*n</a:t>
            </a:r>
            <a:r>
              <a:rPr lang="zh-CN" altLang="en-US" dirty="0"/>
              <a:t>得证。</a:t>
            </a:r>
          </a:p>
          <a:p>
            <a:endParaRPr lang="zh-CN" altLang="en-US" dirty="0"/>
          </a:p>
          <a:p>
            <a:r>
              <a:rPr lang="zh-CN" altLang="en-US" dirty="0"/>
              <a:t>此结论也可以推广至树（度可以大于</a:t>
            </a:r>
            <a:r>
              <a:rPr lang="en-US" altLang="zh-CN" dirty="0"/>
              <a:t>2</a:t>
            </a:r>
            <a:r>
              <a:rPr lang="zh-CN" altLang="en-US" dirty="0"/>
              <a:t>的情况下），只要搞清节点的分类情况和各类节点的数量关系（</a:t>
            </a:r>
            <a:r>
              <a:rPr lang="en-US" altLang="zh-CN" dirty="0"/>
              <a:t>n0=n2+2*n3+...+(k-1)*nk+1)</a:t>
            </a:r>
            <a:r>
              <a:rPr lang="zh-CN" altLang="en-US" dirty="0"/>
              <a:t>，和节点路径相加时多加了那几条边的次数，就可以推知。</a:t>
            </a:r>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169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170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171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有了这条性质，就可以帮我以动态数组的方式构建哈夫曼树了。。。</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172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a:t>
            </a:r>
            <a:r>
              <a:rPr lang="en-US" altLang="zh-CN" dirty="0"/>
              <a:t>m</a:t>
            </a:r>
            <a:r>
              <a:rPr lang="zh-CN" altLang="en-US" dirty="0"/>
              <a:t>个结点的动态数组存储霍夫曼树。</a:t>
            </a:r>
            <a:r>
              <a:rPr lang="en-US" altLang="zh-CN" dirty="0"/>
              <a:t>M=2n-1;</a:t>
            </a:r>
          </a:p>
          <a:p>
            <a:endParaRPr lang="en-US" altLang="zh-CN" dirty="0"/>
          </a:p>
          <a:p>
            <a:r>
              <a:rPr lang="zh-CN" altLang="en-US" dirty="0"/>
              <a:t>示例中，把权值小的可以都放在左子树上。。。</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173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174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175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176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177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178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179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180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181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182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183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小的放在左边。。</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184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小的放在右边。。。</a:t>
            </a:r>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185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186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此种形状的二叉树，需要的比较次数是：</a:t>
            </a:r>
            <a:r>
              <a:rPr lang="en-US" altLang="zh-CN" dirty="0"/>
              <a:t>10000 (3×20</a:t>
            </a:r>
            <a:r>
              <a:rPr lang="zh-CN" altLang="en-US" dirty="0"/>
              <a:t>％＋</a:t>
            </a:r>
            <a:r>
              <a:rPr lang="en-US" altLang="zh-CN" dirty="0"/>
              <a:t>2×80</a:t>
            </a:r>
            <a:r>
              <a:rPr lang="zh-CN" altLang="en-US" dirty="0"/>
              <a:t>％</a:t>
            </a:r>
            <a:r>
              <a:rPr lang="en-US" altLang="zh-CN" dirty="0"/>
              <a:t>)</a:t>
            </a:r>
            <a:r>
              <a:rPr lang="zh-CN" altLang="en-US" dirty="0"/>
              <a:t>＝</a:t>
            </a:r>
            <a:r>
              <a:rPr lang="en-US" altLang="zh-CN" dirty="0"/>
              <a:t>22000</a:t>
            </a:r>
            <a:r>
              <a:rPr lang="zh-CN" altLang="en-US" dirty="0"/>
              <a:t>次，显然：两种判别树的效率是不一样的。</a:t>
            </a:r>
            <a:endParaRPr lang="en-US" altLang="zh-CN" dirty="0"/>
          </a:p>
          <a:p>
            <a:endParaRPr lang="en-US" altLang="zh-CN" dirty="0"/>
          </a:p>
          <a:p>
            <a:endParaRPr lang="en-US" altLang="zh-CN" dirty="0"/>
          </a:p>
          <a:p>
            <a:r>
              <a:rPr lang="zh-CN" altLang="en-US" dirty="0"/>
              <a:t>八枚硬币问题：假定有八枚硬币</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a:t>
            </a:r>
            <a:r>
              <a:rPr lang="en-US" altLang="zh-CN" dirty="0"/>
              <a:t>f</a:t>
            </a:r>
            <a:r>
              <a:rPr lang="zh-CN" altLang="en-US" dirty="0"/>
              <a:t>、</a:t>
            </a:r>
            <a:r>
              <a:rPr lang="en-US" altLang="zh-CN" dirty="0"/>
              <a:t>g</a:t>
            </a:r>
            <a:r>
              <a:rPr lang="zh-CN" altLang="en-US" dirty="0"/>
              <a:t>、</a:t>
            </a:r>
            <a:r>
              <a:rPr lang="en-US" altLang="zh-CN" dirty="0"/>
              <a:t>h</a:t>
            </a:r>
            <a:r>
              <a:rPr lang="zh-CN" altLang="en-US" dirty="0"/>
              <a:t>，已知其中</a:t>
            </a:r>
            <a:r>
              <a:rPr lang="en-US" altLang="zh-CN" dirty="0"/>
              <a:t>1</a:t>
            </a:r>
            <a:r>
              <a:rPr lang="zh-CN" altLang="en-US" dirty="0"/>
              <a:t>枚 是伪造的假币，假币的重量与真币不同，或重或轻。要求 是伪造的假币，假币的重量与真币不同，或重或轻。要求 以天平为工具，用最少的比较次数挑出假币。 </a:t>
            </a:r>
            <a:endParaRPr lang="en-US" altLang="zh-CN" dirty="0"/>
          </a:p>
          <a:p>
            <a:r>
              <a:rPr lang="zh-CN" altLang="en-US" dirty="0"/>
              <a:t>八枚硬币问题判定树：</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187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此种形状的二叉树，需要的比较次数是：</a:t>
            </a:r>
            <a:r>
              <a:rPr lang="en-US" altLang="zh-CN" dirty="0"/>
              <a:t>10000 (3×20</a:t>
            </a:r>
            <a:r>
              <a:rPr lang="zh-CN" altLang="en-US" dirty="0"/>
              <a:t>％＋</a:t>
            </a:r>
            <a:r>
              <a:rPr lang="en-US" altLang="zh-CN" dirty="0"/>
              <a:t>2×80</a:t>
            </a:r>
            <a:r>
              <a:rPr lang="zh-CN" altLang="en-US" dirty="0"/>
              <a:t>％</a:t>
            </a:r>
            <a:r>
              <a:rPr lang="en-US" altLang="zh-CN" dirty="0"/>
              <a:t>)</a:t>
            </a:r>
            <a:r>
              <a:rPr lang="zh-CN" altLang="en-US" dirty="0"/>
              <a:t>＝</a:t>
            </a:r>
            <a:r>
              <a:rPr lang="en-US" altLang="zh-CN" dirty="0"/>
              <a:t>22000</a:t>
            </a:r>
            <a:r>
              <a:rPr lang="zh-CN" altLang="en-US" dirty="0"/>
              <a:t>次，显然：两种判别树的效率是不一样的。</a:t>
            </a:r>
            <a:endParaRPr lang="en-US" altLang="zh-CN" dirty="0"/>
          </a:p>
          <a:p>
            <a:endParaRPr lang="en-US" altLang="zh-CN" dirty="0"/>
          </a:p>
          <a:p>
            <a:r>
              <a:rPr lang="zh-CN" altLang="en-US" dirty="0"/>
              <a:t>必须是临近的结点进行合并，不能跳跃，因为有连续性判断的问题。。。。</a:t>
            </a:r>
            <a:endParaRPr lang="en-US" altLang="zh-CN" dirty="0"/>
          </a:p>
          <a:p>
            <a:endParaRPr lang="en-US" altLang="zh-CN" dirty="0"/>
          </a:p>
          <a:p>
            <a:r>
              <a:rPr lang="zh-CN" altLang="en-US" dirty="0"/>
              <a:t>八枚硬币问题：假定有八枚硬币</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a:t>
            </a:r>
            <a:r>
              <a:rPr lang="en-US" altLang="zh-CN" dirty="0"/>
              <a:t>f</a:t>
            </a:r>
            <a:r>
              <a:rPr lang="zh-CN" altLang="en-US" dirty="0"/>
              <a:t>、</a:t>
            </a:r>
            <a:r>
              <a:rPr lang="en-US" altLang="zh-CN" dirty="0"/>
              <a:t>g</a:t>
            </a:r>
            <a:r>
              <a:rPr lang="zh-CN" altLang="en-US" dirty="0"/>
              <a:t>、</a:t>
            </a:r>
            <a:r>
              <a:rPr lang="en-US" altLang="zh-CN" dirty="0"/>
              <a:t>h</a:t>
            </a:r>
            <a:r>
              <a:rPr lang="zh-CN" altLang="en-US" dirty="0"/>
              <a:t>，已知其中</a:t>
            </a:r>
            <a:r>
              <a:rPr lang="en-US" altLang="zh-CN" dirty="0"/>
              <a:t>1</a:t>
            </a:r>
            <a:r>
              <a:rPr lang="zh-CN" altLang="en-US" dirty="0"/>
              <a:t>枚 是伪造的假币，假币的重量与真币不同，或重或轻。要求 是伪造的假币，假币的重量与真币不同，或重或轻。要求 以天平为工具，用最少的比较次数挑出假币。 </a:t>
            </a:r>
            <a:endParaRPr lang="en-US" altLang="zh-CN" dirty="0"/>
          </a:p>
          <a:p>
            <a:r>
              <a:rPr lang="zh-CN" altLang="en-US" dirty="0"/>
              <a:t>八枚硬币问题判定树：</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188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189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190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191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测试</a:t>
            </a:r>
            <a:r>
              <a:rPr lang="en-US" altLang="zh-CN" dirty="0"/>
              <a:t>3</a:t>
            </a:r>
            <a:r>
              <a:rPr lang="zh-CN" altLang="en-US" dirty="0"/>
              <a:t>测试一下</a:t>
            </a:r>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pPr/>
              <a:t>192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extLst>
      <p:ext uri="{BB962C8B-B14F-4D97-AF65-F5344CB8AC3E}">
        <p14:creationId xmlns:p14="http://schemas.microsoft.com/office/powerpoint/2010/main" val="1953212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220A954-0C92-475E-8E13-2BF6A1B379E2}" type="datetime1">
              <a:rPr lang="zh-CN" altLang="en-US" smtClean="0"/>
              <a:t>2025/2/8</a:t>
            </a:fld>
            <a:endParaRPr lang="zh-CN" altLang="en-US"/>
          </a:p>
        </p:txBody>
      </p:sp>
      <p:sp>
        <p:nvSpPr>
          <p:cNvPr id="5" name="页脚占位符 4"/>
          <p:cNvSpPr>
            <a:spLocks noGrp="1"/>
          </p:cNvSpPr>
          <p:nvPr>
            <p:ph type="ftr" sz="quarter" idx="11"/>
          </p:nvPr>
        </p:nvSpPr>
        <p:spPr/>
        <p:txBody>
          <a:bodyPr/>
          <a:lstStyle/>
          <a:p>
            <a:r>
              <a:rPr lang="zh-CN" altLang="en-US"/>
              <a:t>哈工大（深圳）计算机</a:t>
            </a:r>
          </a:p>
        </p:txBody>
      </p:sp>
      <p:sp>
        <p:nvSpPr>
          <p:cNvPr id="6" name="灯片编号占位符 5"/>
          <p:cNvSpPr>
            <a:spLocks noGrp="1"/>
          </p:cNvSpPr>
          <p:nvPr>
            <p:ph type="sldNum" sz="quarter" idx="12"/>
          </p:nvPr>
        </p:nvSpPr>
        <p:spPr/>
        <p:txBody>
          <a:bodyPr/>
          <a:lstStyle/>
          <a:p>
            <a:fld id="{0063EC4C-CFD8-4F45-A0A2-30028C1F73DB}" type="slidenum">
              <a:rPr lang="zh-CN" altLang="en-US" smtClean="0"/>
              <a:t>‹#›</a:t>
            </a:fld>
            <a:endParaRPr lang="zh-CN" altLang="en-US"/>
          </a:p>
        </p:txBody>
      </p:sp>
    </p:spTree>
    <p:extLst>
      <p:ext uri="{BB962C8B-B14F-4D97-AF65-F5344CB8AC3E}">
        <p14:creationId xmlns:p14="http://schemas.microsoft.com/office/powerpoint/2010/main" val="600637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10F70B-EA92-49CC-BEDC-63B873AA9B6A}" type="datetime1">
              <a:rPr lang="zh-CN" altLang="en-US" smtClean="0"/>
              <a:t>2025/2/8</a:t>
            </a:fld>
            <a:endParaRPr lang="zh-CN" altLang="en-US"/>
          </a:p>
        </p:txBody>
      </p:sp>
      <p:sp>
        <p:nvSpPr>
          <p:cNvPr id="5" name="页脚占位符 4"/>
          <p:cNvSpPr>
            <a:spLocks noGrp="1"/>
          </p:cNvSpPr>
          <p:nvPr>
            <p:ph type="ftr" sz="quarter" idx="11"/>
          </p:nvPr>
        </p:nvSpPr>
        <p:spPr/>
        <p:txBody>
          <a:bodyPr/>
          <a:lstStyle/>
          <a:p>
            <a:r>
              <a:rPr lang="zh-CN" altLang="en-US"/>
              <a:t>哈工大（深圳）计算机</a:t>
            </a:r>
          </a:p>
        </p:txBody>
      </p:sp>
      <p:sp>
        <p:nvSpPr>
          <p:cNvPr id="6" name="灯片编号占位符 5"/>
          <p:cNvSpPr>
            <a:spLocks noGrp="1"/>
          </p:cNvSpPr>
          <p:nvPr>
            <p:ph type="sldNum" sz="quarter" idx="12"/>
          </p:nvPr>
        </p:nvSpPr>
        <p:spPr/>
        <p:txBody>
          <a:bodyPr/>
          <a:lstStyle/>
          <a:p>
            <a:fld id="{0063EC4C-CFD8-4F45-A0A2-30028C1F73DB}" type="slidenum">
              <a:rPr lang="zh-CN" altLang="en-US" smtClean="0"/>
              <a:t>‹#›</a:t>
            </a:fld>
            <a:endParaRPr lang="zh-CN" altLang="en-US"/>
          </a:p>
        </p:txBody>
      </p:sp>
    </p:spTree>
    <p:extLst>
      <p:ext uri="{BB962C8B-B14F-4D97-AF65-F5344CB8AC3E}">
        <p14:creationId xmlns:p14="http://schemas.microsoft.com/office/powerpoint/2010/main" val="1424970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B9ABE15-08D3-402E-B7C5-8286F24C7DFD}" type="datetime1">
              <a:rPr lang="zh-CN" altLang="en-US" smtClean="0"/>
              <a:t>2025/2/8</a:t>
            </a:fld>
            <a:endParaRPr lang="zh-CN" altLang="en-US"/>
          </a:p>
        </p:txBody>
      </p:sp>
      <p:sp>
        <p:nvSpPr>
          <p:cNvPr id="5" name="页脚占位符 4"/>
          <p:cNvSpPr>
            <a:spLocks noGrp="1"/>
          </p:cNvSpPr>
          <p:nvPr>
            <p:ph type="ftr" sz="quarter" idx="11"/>
          </p:nvPr>
        </p:nvSpPr>
        <p:spPr/>
        <p:txBody>
          <a:bodyPr/>
          <a:lstStyle/>
          <a:p>
            <a:r>
              <a:rPr lang="zh-CN" altLang="en-US"/>
              <a:t>哈工大（深圳）计算机</a:t>
            </a:r>
          </a:p>
        </p:txBody>
      </p:sp>
      <p:sp>
        <p:nvSpPr>
          <p:cNvPr id="6" name="灯片编号占位符 5"/>
          <p:cNvSpPr>
            <a:spLocks noGrp="1"/>
          </p:cNvSpPr>
          <p:nvPr>
            <p:ph type="sldNum" sz="quarter" idx="12"/>
          </p:nvPr>
        </p:nvSpPr>
        <p:spPr/>
        <p:txBody>
          <a:bodyPr/>
          <a:lstStyle/>
          <a:p>
            <a:fld id="{0063EC4C-CFD8-4F45-A0A2-30028C1F73DB}" type="slidenum">
              <a:rPr lang="zh-CN" altLang="en-US" smtClean="0"/>
              <a:t>‹#›</a:t>
            </a:fld>
            <a:endParaRPr lang="zh-CN" altLang="en-US"/>
          </a:p>
        </p:txBody>
      </p:sp>
    </p:spTree>
    <p:extLst>
      <p:ext uri="{BB962C8B-B14F-4D97-AF65-F5344CB8AC3E}">
        <p14:creationId xmlns:p14="http://schemas.microsoft.com/office/powerpoint/2010/main" val="3700641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85B0488-0143-45E1-AFDA-CD5C707C028D}" type="datetime1">
              <a:rPr lang="zh-CN" altLang="en-US" smtClean="0"/>
              <a:t>2025/2/8</a:t>
            </a:fld>
            <a:endParaRPr lang="zh-CN" altLang="en-US"/>
          </a:p>
        </p:txBody>
      </p:sp>
      <p:sp>
        <p:nvSpPr>
          <p:cNvPr id="6" name="页脚占位符 5"/>
          <p:cNvSpPr>
            <a:spLocks noGrp="1"/>
          </p:cNvSpPr>
          <p:nvPr>
            <p:ph type="ftr" sz="quarter" idx="11"/>
          </p:nvPr>
        </p:nvSpPr>
        <p:spPr/>
        <p:txBody>
          <a:bodyPr/>
          <a:lstStyle/>
          <a:p>
            <a:r>
              <a:rPr lang="zh-CN" altLang="en-US"/>
              <a:t>哈工大（深圳）计算机</a:t>
            </a:r>
          </a:p>
        </p:txBody>
      </p:sp>
      <p:sp>
        <p:nvSpPr>
          <p:cNvPr id="7" name="灯片编号占位符 6"/>
          <p:cNvSpPr>
            <a:spLocks noGrp="1"/>
          </p:cNvSpPr>
          <p:nvPr>
            <p:ph type="sldNum" sz="quarter" idx="12"/>
          </p:nvPr>
        </p:nvSpPr>
        <p:spPr/>
        <p:txBody>
          <a:bodyPr/>
          <a:lstStyle/>
          <a:p>
            <a:fld id="{0063EC4C-CFD8-4F45-A0A2-30028C1F73DB}" type="slidenum">
              <a:rPr lang="zh-CN" altLang="en-US" smtClean="0"/>
              <a:t>‹#›</a:t>
            </a:fld>
            <a:endParaRPr lang="zh-CN" altLang="en-US"/>
          </a:p>
        </p:txBody>
      </p:sp>
    </p:spTree>
    <p:extLst>
      <p:ext uri="{BB962C8B-B14F-4D97-AF65-F5344CB8AC3E}">
        <p14:creationId xmlns:p14="http://schemas.microsoft.com/office/powerpoint/2010/main" val="1799610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61384B7-E943-4F0F-AB87-151C31DECF86}" type="datetime1">
              <a:rPr lang="zh-CN" altLang="en-US" smtClean="0"/>
              <a:t>2025/2/8</a:t>
            </a:fld>
            <a:endParaRPr lang="zh-CN" altLang="en-US"/>
          </a:p>
        </p:txBody>
      </p:sp>
      <p:sp>
        <p:nvSpPr>
          <p:cNvPr id="8" name="页脚占位符 7"/>
          <p:cNvSpPr>
            <a:spLocks noGrp="1"/>
          </p:cNvSpPr>
          <p:nvPr>
            <p:ph type="ftr" sz="quarter" idx="11"/>
          </p:nvPr>
        </p:nvSpPr>
        <p:spPr/>
        <p:txBody>
          <a:bodyPr/>
          <a:lstStyle/>
          <a:p>
            <a:r>
              <a:rPr lang="zh-CN" altLang="en-US"/>
              <a:t>哈工大（深圳）计算机</a:t>
            </a:r>
          </a:p>
        </p:txBody>
      </p:sp>
      <p:sp>
        <p:nvSpPr>
          <p:cNvPr id="9" name="灯片编号占位符 8"/>
          <p:cNvSpPr>
            <a:spLocks noGrp="1"/>
          </p:cNvSpPr>
          <p:nvPr>
            <p:ph type="sldNum" sz="quarter" idx="12"/>
          </p:nvPr>
        </p:nvSpPr>
        <p:spPr/>
        <p:txBody>
          <a:bodyPr/>
          <a:lstStyle/>
          <a:p>
            <a:fld id="{0063EC4C-CFD8-4F45-A0A2-30028C1F73DB}" type="slidenum">
              <a:rPr lang="zh-CN" altLang="en-US" smtClean="0"/>
              <a:t>‹#›</a:t>
            </a:fld>
            <a:endParaRPr lang="zh-CN" altLang="en-US"/>
          </a:p>
        </p:txBody>
      </p:sp>
    </p:spTree>
    <p:extLst>
      <p:ext uri="{BB962C8B-B14F-4D97-AF65-F5344CB8AC3E}">
        <p14:creationId xmlns:p14="http://schemas.microsoft.com/office/powerpoint/2010/main" val="712419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83D99FF-319A-4F02-8D68-7903DF379DFF}" type="datetime1">
              <a:rPr lang="zh-CN" altLang="en-US" smtClean="0"/>
              <a:t>2025/2/8</a:t>
            </a:fld>
            <a:endParaRPr lang="zh-CN" altLang="en-US"/>
          </a:p>
        </p:txBody>
      </p:sp>
      <p:sp>
        <p:nvSpPr>
          <p:cNvPr id="4" name="页脚占位符 3"/>
          <p:cNvSpPr>
            <a:spLocks noGrp="1"/>
          </p:cNvSpPr>
          <p:nvPr>
            <p:ph type="ftr" sz="quarter" idx="11"/>
          </p:nvPr>
        </p:nvSpPr>
        <p:spPr/>
        <p:txBody>
          <a:bodyPr/>
          <a:lstStyle/>
          <a:p>
            <a:r>
              <a:rPr lang="zh-CN" altLang="en-US"/>
              <a:t>哈工大（深圳）计算机</a:t>
            </a:r>
          </a:p>
        </p:txBody>
      </p:sp>
      <p:sp>
        <p:nvSpPr>
          <p:cNvPr id="5" name="灯片编号占位符 4"/>
          <p:cNvSpPr>
            <a:spLocks noGrp="1"/>
          </p:cNvSpPr>
          <p:nvPr>
            <p:ph type="sldNum" sz="quarter" idx="12"/>
          </p:nvPr>
        </p:nvSpPr>
        <p:spPr/>
        <p:txBody>
          <a:bodyPr/>
          <a:lstStyle/>
          <a:p>
            <a:fld id="{0063EC4C-CFD8-4F45-A0A2-30028C1F73DB}" type="slidenum">
              <a:rPr lang="zh-CN" altLang="en-US" smtClean="0"/>
              <a:t>‹#›</a:t>
            </a:fld>
            <a:endParaRPr lang="zh-CN" altLang="en-US"/>
          </a:p>
        </p:txBody>
      </p:sp>
    </p:spTree>
    <p:extLst>
      <p:ext uri="{BB962C8B-B14F-4D97-AF65-F5344CB8AC3E}">
        <p14:creationId xmlns:p14="http://schemas.microsoft.com/office/powerpoint/2010/main" val="398974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58D34E-FEB2-4EDA-A1B1-4071DC52DEDE}" type="datetime1">
              <a:rPr lang="zh-CN" altLang="en-US" smtClean="0"/>
              <a:t>2025/2/8</a:t>
            </a:fld>
            <a:endParaRPr lang="zh-CN" altLang="en-US"/>
          </a:p>
        </p:txBody>
      </p:sp>
      <p:sp>
        <p:nvSpPr>
          <p:cNvPr id="3" name="页脚占位符 2"/>
          <p:cNvSpPr>
            <a:spLocks noGrp="1"/>
          </p:cNvSpPr>
          <p:nvPr>
            <p:ph type="ftr" sz="quarter" idx="11"/>
          </p:nvPr>
        </p:nvSpPr>
        <p:spPr/>
        <p:txBody>
          <a:bodyPr/>
          <a:lstStyle/>
          <a:p>
            <a:r>
              <a:rPr lang="zh-CN" altLang="en-US"/>
              <a:t>哈工大（深圳）计算机</a:t>
            </a:r>
          </a:p>
        </p:txBody>
      </p:sp>
      <p:sp>
        <p:nvSpPr>
          <p:cNvPr id="4" name="灯片编号占位符 3"/>
          <p:cNvSpPr>
            <a:spLocks noGrp="1"/>
          </p:cNvSpPr>
          <p:nvPr>
            <p:ph type="sldNum" sz="quarter" idx="12"/>
          </p:nvPr>
        </p:nvSpPr>
        <p:spPr/>
        <p:txBody>
          <a:bodyPr/>
          <a:lstStyle/>
          <a:p>
            <a:fld id="{0063EC4C-CFD8-4F45-A0A2-30028C1F73DB}" type="slidenum">
              <a:rPr lang="zh-CN" altLang="en-US" smtClean="0"/>
              <a:t>‹#›</a:t>
            </a:fld>
            <a:endParaRPr lang="zh-CN" altLang="en-US"/>
          </a:p>
        </p:txBody>
      </p:sp>
    </p:spTree>
    <p:extLst>
      <p:ext uri="{BB962C8B-B14F-4D97-AF65-F5344CB8AC3E}">
        <p14:creationId xmlns:p14="http://schemas.microsoft.com/office/powerpoint/2010/main" val="932339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8595342-5654-4927-A57C-DCF22FAF9926}" type="datetime1">
              <a:rPr lang="zh-CN" altLang="en-US" smtClean="0"/>
              <a:t>2025/2/8</a:t>
            </a:fld>
            <a:endParaRPr lang="zh-CN" altLang="en-US"/>
          </a:p>
        </p:txBody>
      </p:sp>
      <p:sp>
        <p:nvSpPr>
          <p:cNvPr id="6" name="页脚占位符 5"/>
          <p:cNvSpPr>
            <a:spLocks noGrp="1"/>
          </p:cNvSpPr>
          <p:nvPr>
            <p:ph type="ftr" sz="quarter" idx="11"/>
          </p:nvPr>
        </p:nvSpPr>
        <p:spPr/>
        <p:txBody>
          <a:bodyPr/>
          <a:lstStyle/>
          <a:p>
            <a:r>
              <a:rPr lang="zh-CN" altLang="en-US"/>
              <a:t>哈工大（深圳）计算机</a:t>
            </a:r>
          </a:p>
        </p:txBody>
      </p:sp>
      <p:sp>
        <p:nvSpPr>
          <p:cNvPr id="7" name="灯片编号占位符 6"/>
          <p:cNvSpPr>
            <a:spLocks noGrp="1"/>
          </p:cNvSpPr>
          <p:nvPr>
            <p:ph type="sldNum" sz="quarter" idx="12"/>
          </p:nvPr>
        </p:nvSpPr>
        <p:spPr/>
        <p:txBody>
          <a:bodyPr/>
          <a:lstStyle/>
          <a:p>
            <a:fld id="{0063EC4C-CFD8-4F45-A0A2-30028C1F73DB}" type="slidenum">
              <a:rPr lang="zh-CN" altLang="en-US" smtClean="0"/>
              <a:t>‹#›</a:t>
            </a:fld>
            <a:endParaRPr lang="zh-CN" altLang="en-US"/>
          </a:p>
        </p:txBody>
      </p:sp>
    </p:spTree>
    <p:extLst>
      <p:ext uri="{BB962C8B-B14F-4D97-AF65-F5344CB8AC3E}">
        <p14:creationId xmlns:p14="http://schemas.microsoft.com/office/powerpoint/2010/main" val="425844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E088E2E-EFC7-4997-A35B-4A360CE25EF2}" type="datetime1">
              <a:rPr lang="zh-CN" altLang="en-US" smtClean="0"/>
              <a:t>2025/2/8</a:t>
            </a:fld>
            <a:endParaRPr lang="zh-CN" altLang="en-US"/>
          </a:p>
        </p:txBody>
      </p:sp>
      <p:sp>
        <p:nvSpPr>
          <p:cNvPr id="6" name="页脚占位符 5"/>
          <p:cNvSpPr>
            <a:spLocks noGrp="1"/>
          </p:cNvSpPr>
          <p:nvPr>
            <p:ph type="ftr" sz="quarter" idx="11"/>
          </p:nvPr>
        </p:nvSpPr>
        <p:spPr/>
        <p:txBody>
          <a:bodyPr/>
          <a:lstStyle/>
          <a:p>
            <a:r>
              <a:rPr lang="zh-CN" altLang="en-US"/>
              <a:t>哈工大（深圳）计算机</a:t>
            </a:r>
          </a:p>
        </p:txBody>
      </p:sp>
      <p:sp>
        <p:nvSpPr>
          <p:cNvPr id="7" name="灯片编号占位符 6"/>
          <p:cNvSpPr>
            <a:spLocks noGrp="1"/>
          </p:cNvSpPr>
          <p:nvPr>
            <p:ph type="sldNum" sz="quarter" idx="12"/>
          </p:nvPr>
        </p:nvSpPr>
        <p:spPr/>
        <p:txBody>
          <a:bodyPr/>
          <a:lstStyle/>
          <a:p>
            <a:fld id="{0063EC4C-CFD8-4F45-A0A2-30028C1F73DB}" type="slidenum">
              <a:rPr lang="zh-CN" altLang="en-US" smtClean="0"/>
              <a:t>‹#›</a:t>
            </a:fld>
            <a:endParaRPr lang="zh-CN" altLang="en-US"/>
          </a:p>
        </p:txBody>
      </p:sp>
    </p:spTree>
    <p:extLst>
      <p:ext uri="{BB962C8B-B14F-4D97-AF65-F5344CB8AC3E}">
        <p14:creationId xmlns:p14="http://schemas.microsoft.com/office/powerpoint/2010/main" val="1316365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7288A3B-7E6A-4AC6-A9C7-BE654DF79C74}" type="datetime1">
              <a:rPr lang="zh-CN" altLang="en-US" smtClean="0"/>
              <a:t>2025/2/8</a:t>
            </a:fld>
            <a:endParaRPr lang="zh-CN" altLang="en-US"/>
          </a:p>
        </p:txBody>
      </p:sp>
      <p:sp>
        <p:nvSpPr>
          <p:cNvPr id="5" name="页脚占位符 4"/>
          <p:cNvSpPr>
            <a:spLocks noGrp="1"/>
          </p:cNvSpPr>
          <p:nvPr>
            <p:ph type="ftr" sz="quarter" idx="11"/>
          </p:nvPr>
        </p:nvSpPr>
        <p:spPr/>
        <p:txBody>
          <a:bodyPr/>
          <a:lstStyle/>
          <a:p>
            <a:r>
              <a:rPr lang="zh-CN" altLang="en-US"/>
              <a:t>哈工大（深圳）计算机</a:t>
            </a:r>
          </a:p>
        </p:txBody>
      </p:sp>
      <p:sp>
        <p:nvSpPr>
          <p:cNvPr id="6" name="灯片编号占位符 5"/>
          <p:cNvSpPr>
            <a:spLocks noGrp="1"/>
          </p:cNvSpPr>
          <p:nvPr>
            <p:ph type="sldNum" sz="quarter" idx="12"/>
          </p:nvPr>
        </p:nvSpPr>
        <p:spPr/>
        <p:txBody>
          <a:bodyPr/>
          <a:lstStyle/>
          <a:p>
            <a:fld id="{0063EC4C-CFD8-4F45-A0A2-30028C1F73DB}" type="slidenum">
              <a:rPr lang="zh-CN" altLang="en-US" smtClean="0"/>
              <a:t>‹#›</a:t>
            </a:fld>
            <a:endParaRPr lang="zh-CN" altLang="en-US"/>
          </a:p>
        </p:txBody>
      </p:sp>
    </p:spTree>
    <p:extLst>
      <p:ext uri="{BB962C8B-B14F-4D97-AF65-F5344CB8AC3E}">
        <p14:creationId xmlns:p14="http://schemas.microsoft.com/office/powerpoint/2010/main" val="3954695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5C40078-5629-4EDA-9E4A-187B9D26247F}" type="datetime1">
              <a:rPr lang="zh-CN" altLang="en-US" smtClean="0"/>
              <a:t>2025/2/8</a:t>
            </a:fld>
            <a:endParaRPr lang="zh-CN" altLang="en-US"/>
          </a:p>
        </p:txBody>
      </p:sp>
      <p:sp>
        <p:nvSpPr>
          <p:cNvPr id="5" name="页脚占位符 4"/>
          <p:cNvSpPr>
            <a:spLocks noGrp="1"/>
          </p:cNvSpPr>
          <p:nvPr>
            <p:ph type="ftr" sz="quarter" idx="11"/>
          </p:nvPr>
        </p:nvSpPr>
        <p:spPr/>
        <p:txBody>
          <a:bodyPr/>
          <a:lstStyle/>
          <a:p>
            <a:r>
              <a:rPr lang="zh-CN" altLang="en-US"/>
              <a:t>哈工大（深圳）计算机</a:t>
            </a:r>
          </a:p>
        </p:txBody>
      </p:sp>
      <p:sp>
        <p:nvSpPr>
          <p:cNvPr id="6" name="灯片编号占位符 5"/>
          <p:cNvSpPr>
            <a:spLocks noGrp="1"/>
          </p:cNvSpPr>
          <p:nvPr>
            <p:ph type="sldNum" sz="quarter" idx="12"/>
          </p:nvPr>
        </p:nvSpPr>
        <p:spPr/>
        <p:txBody>
          <a:bodyPr/>
          <a:lstStyle/>
          <a:p>
            <a:fld id="{0063EC4C-CFD8-4F45-A0A2-30028C1F73DB}" type="slidenum">
              <a:rPr lang="zh-CN" altLang="en-US" smtClean="0"/>
              <a:t>‹#›</a:t>
            </a:fld>
            <a:endParaRPr lang="zh-CN" altLang="en-US"/>
          </a:p>
        </p:txBody>
      </p:sp>
    </p:spTree>
    <p:extLst>
      <p:ext uri="{BB962C8B-B14F-4D97-AF65-F5344CB8AC3E}">
        <p14:creationId xmlns:p14="http://schemas.microsoft.com/office/powerpoint/2010/main" val="2750846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082357-5B0F-40A6-A409-3AB04121C071}" type="datetime1">
              <a:rPr lang="zh-CN" altLang="en-US" smtClean="0"/>
              <a:t>2025/2/8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哈工大（深圳）计算机</a:t>
            </a: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63EC4C-CFD8-4F45-A0A2-30028C1F73DB}" type="slidenum">
              <a:rPr lang="zh-CN" altLang="en-US" smtClean="0"/>
              <a:t>‹#›</a:t>
            </a:fld>
            <a:endParaRPr lang="zh-CN" altLang="en-US"/>
          </a:p>
        </p:txBody>
      </p:sp>
    </p:spTree>
    <p:extLst>
      <p:ext uri="{BB962C8B-B14F-4D97-AF65-F5344CB8AC3E}">
        <p14:creationId xmlns:p14="http://schemas.microsoft.com/office/powerpoint/2010/main" val="1875591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hitsz.edu.cn/article/view/id-26348.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slide" Target="slide8.xml"/><Relationship Id="rId4" Type="http://schemas.openxmlformats.org/officeDocument/2006/relationships/slide" Target="slide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slide" Target="slide34.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hyperlink" Target="&#20808;&#24207;.swf" TargetMode="Externa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hyperlink" Target="&#21518;&#24207;.swf"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slide" Target="slide37.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6.xml"/><Relationship Id="rId1" Type="http://schemas.openxmlformats.org/officeDocument/2006/relationships/slideLayout" Target="../slideLayouts/slideLayout2.xml"/><Relationship Id="rId4" Type="http://schemas.openxmlformats.org/officeDocument/2006/relationships/hyperlink" Target="thread-binary.swf" TargetMode="External"/></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5.xml"/><Relationship Id="rId1" Type="http://schemas.openxmlformats.org/officeDocument/2006/relationships/slideLayout" Target="../slideLayouts/slideLayout2.xml"/><Relationship Id="rId4" Type="http://schemas.openxmlformats.org/officeDocument/2006/relationships/hyperlink" Target="&#26641;&#26862;&#26519;&#19982;&#20108;&#21449;&#26641;&#30340;&#20114;&#25442;.swf" TargetMode="External"/></Relationships>
</file>

<file path=ppt/slides/_rels/slide1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7.xml"/><Relationship Id="rId1" Type="http://schemas.openxmlformats.org/officeDocument/2006/relationships/slideLayout" Target="../slideLayouts/slideLayout2.xml"/><Relationship Id="rId4" Type="http://schemas.openxmlformats.org/officeDocument/2006/relationships/hyperlink" Target="&#26641;&#26862;&#26519;&#19982;&#20108;&#21449;&#26641;&#30340;&#20114;&#25442;.swf" TargetMode="External"/></Relationships>
</file>

<file path=ppt/slides/_rels/slide1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1.xml"/><Relationship Id="rId1" Type="http://schemas.openxmlformats.org/officeDocument/2006/relationships/slideLayout" Target="../slideLayouts/slideLayout2.xml"/><Relationship Id="rId4" Type="http://schemas.openxmlformats.org/officeDocument/2006/relationships/hyperlink" Target="&#26641;&#26862;&#26519;&#19982;&#20108;&#21449;&#26641;&#30340;&#20114;&#25442;.swf" TargetMode="External"/></Relationships>
</file>

<file path=ppt/slides/_rels/slide1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5.xml"/><Relationship Id="rId1" Type="http://schemas.openxmlformats.org/officeDocument/2006/relationships/slideLayout" Target="../slideLayouts/slideLayout2.xml"/><Relationship Id="rId4" Type="http://schemas.openxmlformats.org/officeDocument/2006/relationships/hyperlink" Target="&#26641;-&#20808;&#26681;.swf" TargetMode="External"/></Relationships>
</file>

<file path=ppt/slides/_rels/slide1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7.xml"/><Relationship Id="rId1" Type="http://schemas.openxmlformats.org/officeDocument/2006/relationships/slideLayout" Target="../slideLayouts/slideLayout2.xml"/><Relationship Id="rId4" Type="http://schemas.openxmlformats.org/officeDocument/2006/relationships/hyperlink" Target="&#26641;&#30340;&#21518;&#26681;.swf" TargetMode="External"/></Relationships>
</file>

<file path=ppt/slides/_rels/slide1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2.xml"/><Relationship Id="rId1" Type="http://schemas.openxmlformats.org/officeDocument/2006/relationships/slideLayout" Target="../slideLayouts/slideLayout2.xml"/><Relationship Id="rId4" Type="http://schemas.openxmlformats.org/officeDocument/2006/relationships/hyperlink" Target="&#20808;&#24207;&#36941;&#21382;&#26862;&#26519;.swf" TargetMode="External"/></Relationships>
</file>

<file path=ppt/slides/_rels/slide1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4.xml"/><Relationship Id="rId1" Type="http://schemas.openxmlformats.org/officeDocument/2006/relationships/slideLayout" Target="../slideLayouts/slideLayout2.xml"/><Relationship Id="rId4" Type="http://schemas.openxmlformats.org/officeDocument/2006/relationships/hyperlink" Target="&#20013;&#24207;&#36941;&#21382;&#26862;&#26519;.swf" TargetMode="External"/></Relationships>
</file>

<file path=ppt/slides/_rels/slide1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3.xml"/><Relationship Id="rId1" Type="http://schemas.openxmlformats.org/officeDocument/2006/relationships/slideLayout" Target="../slideLayouts/slideLayout2.xml"/><Relationship Id="rId4" Type="http://schemas.openxmlformats.org/officeDocument/2006/relationships/hyperlink" Target="&#26500;&#36896;&#21704;&#22827;&#26364;&#26641;&#31639;&#27861;&#27169;&#25311;.swf" TargetMode="External"/></Relationships>
</file>

<file path=ppt/slides/_rels/slide1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http://www.hitsz.edu.cn/UserFiles/banner/large/1498189993954.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642009"/>
            <a:ext cx="9144000" cy="3463391"/>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428968" y="1905000"/>
            <a:ext cx="8229600" cy="1143000"/>
          </a:xfrm>
        </p:spPr>
        <p:txBody>
          <a:bodyPr>
            <a:normAutofit/>
          </a:bodyPr>
          <a:lstStyle/>
          <a:p>
            <a:r>
              <a:rPr lang="zh-CN" altLang="en-US" sz="6600" b="1" dirty="0">
                <a:solidFill>
                  <a:srgbClr val="FF0000"/>
                </a:solidFill>
              </a:rPr>
              <a:t>第</a:t>
            </a:r>
            <a:r>
              <a:rPr lang="en-US" altLang="zh-CN" sz="6600" b="1" dirty="0">
                <a:solidFill>
                  <a:srgbClr val="FF0000"/>
                </a:solidFill>
              </a:rPr>
              <a:t>5</a:t>
            </a:r>
            <a:r>
              <a:rPr lang="zh-CN" altLang="en-US" sz="6600" b="1" dirty="0">
                <a:solidFill>
                  <a:srgbClr val="FF0000"/>
                </a:solidFill>
              </a:rPr>
              <a:t>章 树</a:t>
            </a:r>
          </a:p>
        </p:txBody>
      </p:sp>
      <p:sp>
        <p:nvSpPr>
          <p:cNvPr id="4" name="日期占位符 3"/>
          <p:cNvSpPr>
            <a:spLocks noGrp="1"/>
          </p:cNvSpPr>
          <p:nvPr>
            <p:ph type="dt" sz="half" idx="10"/>
          </p:nvPr>
        </p:nvSpPr>
        <p:spPr/>
        <p:txBody>
          <a:bodyPr/>
          <a:lstStyle/>
          <a:p>
            <a:fld id="{69229BBD-7DD5-494A-BDF9-47C61AAEF2B7}"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直接连接符 12"/>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1731906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FF0000"/>
                </a:solidFill>
              </a:rPr>
              <a:t>数据结构类型</a:t>
            </a:r>
          </a:p>
        </p:txBody>
      </p:sp>
      <p:sp>
        <p:nvSpPr>
          <p:cNvPr id="3" name="内容占位符 2"/>
          <p:cNvSpPr>
            <a:spLocks noGrp="1"/>
          </p:cNvSpPr>
          <p:nvPr>
            <p:ph idx="1"/>
          </p:nvPr>
        </p:nvSpPr>
        <p:spPr>
          <a:xfrm>
            <a:off x="457200" y="1295400"/>
            <a:ext cx="8229600" cy="5105400"/>
          </a:xfrm>
        </p:spPr>
        <p:txBody>
          <a:bodyPr>
            <a:normAutofit/>
          </a:bodyPr>
          <a:lstStyle/>
          <a:p>
            <a:pPr fontAlgn="base">
              <a:lnSpc>
                <a:spcPct val="200000"/>
              </a:lnSpc>
              <a:spcBef>
                <a:spcPct val="0"/>
              </a:spcBef>
              <a:spcAft>
                <a:spcPct val="0"/>
              </a:spcAft>
              <a:buFont typeface="Wingdings" panose="05000000000000000000" pitchFamily="2" charset="2"/>
              <a:buChar char="n"/>
            </a:pPr>
            <a:endParaRPr lang="zh-CN" altLang="en-US" b="1" dirty="0"/>
          </a:p>
        </p:txBody>
      </p:sp>
      <p:sp>
        <p:nvSpPr>
          <p:cNvPr id="4" name="日期占位符 3"/>
          <p:cNvSpPr>
            <a:spLocks noGrp="1"/>
          </p:cNvSpPr>
          <p:nvPr>
            <p:ph type="dt" sz="half" idx="10"/>
          </p:nvPr>
        </p:nvSpPr>
        <p:spPr/>
        <p:txBody>
          <a:bodyPr/>
          <a:lstStyle/>
          <a:p>
            <a:fld id="{1659D4FD-D2BB-4259-8DEC-D27BDBB77294}"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5" name="AutoShape 10"/>
          <p:cNvSpPr>
            <a:spLocks/>
          </p:cNvSpPr>
          <p:nvPr/>
        </p:nvSpPr>
        <p:spPr bwMode="auto">
          <a:xfrm>
            <a:off x="4926013" y="4610237"/>
            <a:ext cx="169862" cy="952363"/>
          </a:xfrm>
          <a:prstGeom prst="leftBrace">
            <a:avLst>
              <a:gd name="adj1" fmla="val 31726"/>
              <a:gd name="adj2" fmla="val 50000"/>
            </a:avLst>
          </a:prstGeom>
          <a:noFill/>
          <a:ln w="28575">
            <a:solidFill>
              <a:srgbClr val="0000FF"/>
            </a:solidFill>
            <a:round/>
            <a:headEnd/>
            <a:tailEnd/>
          </a:ln>
        </p:spPr>
        <p:txBody>
          <a:bodyPr lIns="90000" tIns="46800" rIns="90000" bIns="46800" anchor="ctr">
            <a:spAutoFit/>
          </a:bodyPr>
          <a:lstStyle/>
          <a:p>
            <a:pPr marL="273050" indent="-273050" algn="ctr" eaLnBrk="0" fontAlgn="base" hangingPunct="0">
              <a:spcBef>
                <a:spcPct val="0"/>
              </a:spcBef>
              <a:spcAft>
                <a:spcPct val="0"/>
              </a:spcAft>
            </a:pPr>
            <a:endParaRPr kumimoji="1" lang="zh-CN" altLang="zh-CN" sz="5400" b="1">
              <a:solidFill>
                <a:srgbClr val="000000"/>
              </a:solidFill>
              <a:latin typeface="Times New Roman" pitchFamily="18" charset="0"/>
            </a:endParaRPr>
          </a:p>
        </p:txBody>
      </p:sp>
      <p:grpSp>
        <p:nvGrpSpPr>
          <p:cNvPr id="16" name="Group 36"/>
          <p:cNvGrpSpPr>
            <a:grpSpLocks/>
          </p:cNvGrpSpPr>
          <p:nvPr/>
        </p:nvGrpSpPr>
        <p:grpSpPr bwMode="auto">
          <a:xfrm>
            <a:off x="4721225" y="1360487"/>
            <a:ext cx="2865438" cy="2678113"/>
            <a:chOff x="2711" y="1073"/>
            <a:chExt cx="1666" cy="1687"/>
          </a:xfrm>
        </p:grpSpPr>
        <p:sp>
          <p:nvSpPr>
            <p:cNvPr id="17" name="Rectangle 31"/>
            <p:cNvSpPr>
              <a:spLocks noChangeArrowheads="1"/>
            </p:cNvSpPr>
            <p:nvPr/>
          </p:nvSpPr>
          <p:spPr bwMode="auto">
            <a:xfrm>
              <a:off x="2993" y="1073"/>
              <a:ext cx="1384" cy="1687"/>
            </a:xfrm>
            <a:prstGeom prst="rect">
              <a:avLst/>
            </a:prstGeom>
            <a:noFill/>
            <a:ln w="9525" algn="ctr">
              <a:noFill/>
              <a:miter lim="800000"/>
              <a:headEnd/>
              <a:tailEnd/>
            </a:ln>
          </p:spPr>
          <p:txBody>
            <a:bodyPr>
              <a:spAutoFit/>
            </a:bodyPr>
            <a:lstStyle/>
            <a:p>
              <a:pPr marL="273050" indent="-273050" eaLnBrk="0" fontAlgn="base" hangingPunct="0">
                <a:spcBef>
                  <a:spcPct val="0"/>
                </a:spcBef>
                <a:spcAft>
                  <a:spcPct val="0"/>
                </a:spcAft>
                <a:buFont typeface="Wingdings" pitchFamily="2" charset="2"/>
                <a:buNone/>
              </a:pPr>
              <a:r>
                <a:rPr kumimoji="1" lang="zh-CN" altLang="en-US" sz="2800" b="1">
                  <a:solidFill>
                    <a:srgbClr val="000000"/>
                  </a:solidFill>
                  <a:latin typeface="Times New Roman" pitchFamily="18" charset="0"/>
                </a:rPr>
                <a:t>线性表</a:t>
              </a:r>
              <a:endParaRPr kumimoji="1" lang="en-US" altLang="zh-CN" sz="2800" b="1">
                <a:solidFill>
                  <a:srgbClr val="000000"/>
                </a:solidFill>
                <a:latin typeface="Times New Roman" pitchFamily="18" charset="0"/>
              </a:endParaRPr>
            </a:p>
            <a:p>
              <a:pPr marL="273050" indent="-273050" eaLnBrk="0" fontAlgn="base" hangingPunct="0">
                <a:spcBef>
                  <a:spcPct val="0"/>
                </a:spcBef>
                <a:spcAft>
                  <a:spcPct val="0"/>
                </a:spcAft>
                <a:buFont typeface="Wingdings" pitchFamily="2" charset="2"/>
                <a:buNone/>
              </a:pPr>
              <a:r>
                <a:rPr kumimoji="1" lang="zh-CN" altLang="en-US" sz="2800" b="1">
                  <a:solidFill>
                    <a:srgbClr val="000000"/>
                  </a:solidFill>
                  <a:latin typeface="Times New Roman" pitchFamily="18" charset="0"/>
                </a:rPr>
                <a:t>栈</a:t>
              </a:r>
            </a:p>
            <a:p>
              <a:pPr marL="273050" indent="-273050" eaLnBrk="0" fontAlgn="base" hangingPunct="0">
                <a:spcBef>
                  <a:spcPct val="0"/>
                </a:spcBef>
                <a:spcAft>
                  <a:spcPct val="0"/>
                </a:spcAft>
                <a:buFont typeface="Wingdings" pitchFamily="2" charset="2"/>
                <a:buNone/>
              </a:pPr>
              <a:r>
                <a:rPr kumimoji="1" lang="zh-CN" altLang="en-US" sz="2800" b="1">
                  <a:solidFill>
                    <a:srgbClr val="000000"/>
                  </a:solidFill>
                  <a:latin typeface="Times New Roman" pitchFamily="18" charset="0"/>
                </a:rPr>
                <a:t>队列</a:t>
              </a:r>
            </a:p>
            <a:p>
              <a:pPr marL="273050" indent="-273050" eaLnBrk="0" fontAlgn="base" hangingPunct="0">
                <a:spcBef>
                  <a:spcPct val="0"/>
                </a:spcBef>
                <a:spcAft>
                  <a:spcPct val="0"/>
                </a:spcAft>
                <a:buFont typeface="Wingdings" pitchFamily="2" charset="2"/>
                <a:buNone/>
              </a:pPr>
              <a:r>
                <a:rPr kumimoji="1" lang="zh-CN" altLang="en-US" sz="2800" b="1">
                  <a:solidFill>
                    <a:srgbClr val="000000"/>
                  </a:solidFill>
                  <a:latin typeface="Times New Roman" pitchFamily="18" charset="0"/>
                </a:rPr>
                <a:t>串</a:t>
              </a:r>
            </a:p>
            <a:p>
              <a:pPr marL="273050" indent="-273050" eaLnBrk="0" fontAlgn="base" hangingPunct="0">
                <a:spcBef>
                  <a:spcPct val="0"/>
                </a:spcBef>
                <a:spcAft>
                  <a:spcPct val="0"/>
                </a:spcAft>
                <a:buFont typeface="Wingdings" pitchFamily="2" charset="2"/>
                <a:buNone/>
              </a:pPr>
              <a:r>
                <a:rPr kumimoji="1" lang="zh-CN" altLang="en-US" sz="2800" b="1">
                  <a:solidFill>
                    <a:srgbClr val="000000"/>
                  </a:solidFill>
                  <a:latin typeface="Times New Roman" pitchFamily="18" charset="0"/>
                </a:rPr>
                <a:t>数组</a:t>
              </a:r>
            </a:p>
            <a:p>
              <a:pPr marL="273050" indent="-273050" eaLnBrk="0" fontAlgn="base" hangingPunct="0">
                <a:spcBef>
                  <a:spcPct val="0"/>
                </a:spcBef>
                <a:spcAft>
                  <a:spcPct val="0"/>
                </a:spcAft>
                <a:buFont typeface="Wingdings" pitchFamily="2" charset="2"/>
                <a:buNone/>
              </a:pPr>
              <a:r>
                <a:rPr kumimoji="1" lang="zh-CN" altLang="en-US" sz="2800" b="1">
                  <a:solidFill>
                    <a:srgbClr val="000000"/>
                  </a:solidFill>
                  <a:latin typeface="Times New Roman" pitchFamily="18" charset="0"/>
                </a:rPr>
                <a:t>广义表</a:t>
              </a:r>
            </a:p>
          </p:txBody>
        </p:sp>
        <p:sp>
          <p:nvSpPr>
            <p:cNvPr id="18" name="AutoShape 32"/>
            <p:cNvSpPr>
              <a:spLocks/>
            </p:cNvSpPr>
            <p:nvPr/>
          </p:nvSpPr>
          <p:spPr bwMode="auto">
            <a:xfrm>
              <a:off x="2711" y="1172"/>
              <a:ext cx="177" cy="1587"/>
            </a:xfrm>
            <a:prstGeom prst="leftBrace">
              <a:avLst>
                <a:gd name="adj1" fmla="val 69456"/>
                <a:gd name="adj2" fmla="val 50000"/>
              </a:avLst>
            </a:prstGeom>
            <a:noFill/>
            <a:ln w="28575">
              <a:solidFill>
                <a:srgbClr val="0000FF"/>
              </a:solidFill>
              <a:round/>
              <a:headEnd/>
              <a:tailEnd/>
            </a:ln>
          </p:spPr>
          <p:txBody>
            <a:bodyPr lIns="90000" tIns="46800" rIns="90000" bIns="46800" anchor="ctr">
              <a:spAutoFit/>
            </a:bodyPr>
            <a:lstStyle/>
            <a:p>
              <a:pPr marL="273050" indent="-273050" algn="ctr" eaLnBrk="0" fontAlgn="base" hangingPunct="0">
                <a:spcBef>
                  <a:spcPct val="0"/>
                </a:spcBef>
                <a:spcAft>
                  <a:spcPct val="0"/>
                </a:spcAft>
              </a:pPr>
              <a:endParaRPr kumimoji="1" lang="zh-CN" altLang="zh-CN" sz="15000" b="1">
                <a:solidFill>
                  <a:srgbClr val="000000"/>
                </a:solidFill>
                <a:latin typeface="Times New Roman" pitchFamily="18" charset="0"/>
              </a:endParaRPr>
            </a:p>
          </p:txBody>
        </p:sp>
      </p:grpSp>
      <p:grpSp>
        <p:nvGrpSpPr>
          <p:cNvPr id="19" name="Group 35"/>
          <p:cNvGrpSpPr>
            <a:grpSpLocks/>
          </p:cNvGrpSpPr>
          <p:nvPr/>
        </p:nvGrpSpPr>
        <p:grpSpPr bwMode="auto">
          <a:xfrm>
            <a:off x="409302" y="2590869"/>
            <a:ext cx="4465911" cy="2682876"/>
            <a:chOff x="238" y="1789"/>
            <a:chExt cx="2597" cy="1690"/>
          </a:xfrm>
        </p:grpSpPr>
        <p:sp>
          <p:nvSpPr>
            <p:cNvPr id="20" name="Text Box 5"/>
            <p:cNvSpPr txBox="1">
              <a:spLocks noChangeArrowheads="1"/>
            </p:cNvSpPr>
            <p:nvPr/>
          </p:nvSpPr>
          <p:spPr bwMode="auto">
            <a:xfrm>
              <a:off x="238" y="2559"/>
              <a:ext cx="945" cy="331"/>
            </a:xfrm>
            <a:prstGeom prst="rect">
              <a:avLst/>
            </a:prstGeom>
            <a:noFill/>
            <a:ln w="9525">
              <a:noFill/>
              <a:miter lim="800000"/>
              <a:headEnd/>
              <a:tailEnd/>
            </a:ln>
          </p:spPr>
          <p:txBody>
            <a:bodyPr wrap="none" lIns="90000" tIns="46800" rIns="90000" bIns="46800">
              <a:spAutoFit/>
            </a:bodyPr>
            <a:lstStyle/>
            <a:p>
              <a:pPr algn="ctr" eaLnBrk="0" fontAlgn="base" hangingPunct="0">
                <a:spcBef>
                  <a:spcPct val="0"/>
                </a:spcBef>
                <a:spcAft>
                  <a:spcPct val="0"/>
                </a:spcAft>
              </a:pPr>
              <a:r>
                <a:rPr kumimoji="1" lang="zh-CN" altLang="en-US" sz="2800" b="1">
                  <a:solidFill>
                    <a:srgbClr val="000000"/>
                  </a:solidFill>
                  <a:latin typeface="Times New Roman" pitchFamily="18" charset="0"/>
                </a:rPr>
                <a:t>数据结构</a:t>
              </a:r>
            </a:p>
          </p:txBody>
        </p:sp>
        <p:sp>
          <p:nvSpPr>
            <p:cNvPr id="21" name="AutoShape 9"/>
            <p:cNvSpPr>
              <a:spLocks/>
            </p:cNvSpPr>
            <p:nvPr/>
          </p:nvSpPr>
          <p:spPr bwMode="auto">
            <a:xfrm>
              <a:off x="1218" y="1906"/>
              <a:ext cx="285" cy="1298"/>
            </a:xfrm>
            <a:prstGeom prst="leftBrace">
              <a:avLst>
                <a:gd name="adj1" fmla="val 69481"/>
                <a:gd name="adj2" fmla="val 50000"/>
              </a:avLst>
            </a:prstGeom>
            <a:noFill/>
            <a:ln w="28575">
              <a:solidFill>
                <a:srgbClr val="0000FF"/>
              </a:solidFill>
              <a:round/>
              <a:headEnd/>
              <a:tailEnd/>
            </a:ln>
          </p:spPr>
          <p:txBody>
            <a:bodyPr wrap="square" lIns="90000" tIns="46800" rIns="90000" bIns="46800" anchor="ctr">
              <a:spAutoFit/>
            </a:bodyPr>
            <a:lstStyle/>
            <a:p>
              <a:pPr marL="273050" indent="-273050" algn="ctr" eaLnBrk="0" fontAlgn="base" hangingPunct="0">
                <a:spcBef>
                  <a:spcPct val="0"/>
                </a:spcBef>
                <a:spcAft>
                  <a:spcPct val="0"/>
                </a:spcAft>
              </a:pPr>
              <a:endParaRPr kumimoji="1" lang="zh-CN" altLang="zh-CN" sz="9600" b="1">
                <a:solidFill>
                  <a:srgbClr val="000000"/>
                </a:solidFill>
                <a:latin typeface="Times New Roman" pitchFamily="18" charset="0"/>
              </a:endParaRPr>
            </a:p>
          </p:txBody>
        </p:sp>
        <p:sp>
          <p:nvSpPr>
            <p:cNvPr id="22" name="Text Box 33"/>
            <p:cNvSpPr txBox="1">
              <a:spLocks noChangeArrowheads="1"/>
            </p:cNvSpPr>
            <p:nvPr/>
          </p:nvSpPr>
          <p:spPr bwMode="auto">
            <a:xfrm>
              <a:off x="1519" y="1789"/>
              <a:ext cx="1316" cy="331"/>
            </a:xfrm>
            <a:prstGeom prst="rect">
              <a:avLst/>
            </a:prstGeom>
            <a:noFill/>
            <a:ln w="9525">
              <a:noFill/>
              <a:miter lim="800000"/>
              <a:headEnd/>
              <a:tailEnd/>
            </a:ln>
          </p:spPr>
          <p:txBody>
            <a:bodyPr lIns="90000" tIns="46800" rIns="90000" bIns="46800">
              <a:spAutoFit/>
            </a:bodyPr>
            <a:lstStyle/>
            <a:p>
              <a:pPr algn="ctr" eaLnBrk="0" fontAlgn="base" hangingPunct="0">
                <a:spcBef>
                  <a:spcPct val="0"/>
                </a:spcBef>
                <a:spcAft>
                  <a:spcPct val="0"/>
                </a:spcAft>
              </a:pPr>
              <a:r>
                <a:rPr kumimoji="1" lang="zh-CN" altLang="en-US" sz="2800" b="1" dirty="0">
                  <a:solidFill>
                    <a:srgbClr val="000000"/>
                  </a:solidFill>
                  <a:latin typeface="Times New Roman" pitchFamily="18" charset="0"/>
                </a:rPr>
                <a:t>线性结构</a:t>
              </a:r>
            </a:p>
          </p:txBody>
        </p:sp>
        <p:sp>
          <p:nvSpPr>
            <p:cNvPr id="23" name="Text Box 34"/>
            <p:cNvSpPr txBox="1">
              <a:spLocks noChangeArrowheads="1"/>
            </p:cNvSpPr>
            <p:nvPr/>
          </p:nvSpPr>
          <p:spPr bwMode="auto">
            <a:xfrm>
              <a:off x="1503" y="2931"/>
              <a:ext cx="1154" cy="548"/>
            </a:xfrm>
            <a:prstGeom prst="rect">
              <a:avLst/>
            </a:prstGeom>
            <a:noFill/>
            <a:ln w="9525">
              <a:noFill/>
              <a:miter lim="800000"/>
              <a:headEnd/>
              <a:tailEnd/>
            </a:ln>
          </p:spPr>
          <p:txBody>
            <a:bodyPr wrap="none" lIns="90000" tIns="46800" rIns="90000" bIns="46800">
              <a:spAutoFit/>
            </a:bodyPr>
            <a:lstStyle/>
            <a:p>
              <a:pPr algn="ctr" eaLnBrk="0" fontAlgn="base" hangingPunct="0">
                <a:lnSpc>
                  <a:spcPct val="180000"/>
                </a:lnSpc>
                <a:spcBef>
                  <a:spcPct val="0"/>
                </a:spcBef>
                <a:spcAft>
                  <a:spcPct val="0"/>
                </a:spcAft>
              </a:pPr>
              <a:r>
                <a:rPr kumimoji="1" lang="zh-CN" altLang="en-US" sz="2800" b="1">
                  <a:solidFill>
                    <a:srgbClr val="000000"/>
                  </a:solidFill>
                  <a:latin typeface="Times New Roman" pitchFamily="18" charset="0"/>
                </a:rPr>
                <a:t>非线性结构</a:t>
              </a:r>
            </a:p>
          </p:txBody>
        </p:sp>
      </p:grpSp>
      <p:sp>
        <p:nvSpPr>
          <p:cNvPr id="24" name="Text Box 8"/>
          <p:cNvSpPr txBox="1">
            <a:spLocks noChangeArrowheads="1"/>
          </p:cNvSpPr>
          <p:nvPr/>
        </p:nvSpPr>
        <p:spPr bwMode="auto">
          <a:xfrm>
            <a:off x="5418384" y="4322831"/>
            <a:ext cx="542433" cy="654667"/>
          </a:xfrm>
          <a:prstGeom prst="rect">
            <a:avLst/>
          </a:prstGeom>
          <a:noFill/>
          <a:ln w="9525">
            <a:noFill/>
            <a:miter lim="800000"/>
            <a:headEnd/>
            <a:tailEnd/>
          </a:ln>
        </p:spPr>
        <p:txBody>
          <a:bodyPr wrap="none" lIns="90000" tIns="46800" rIns="90000" bIns="46800">
            <a:spAutoFit/>
          </a:bodyPr>
          <a:lstStyle/>
          <a:p>
            <a:pPr algn="ctr" eaLnBrk="0" fontAlgn="base" hangingPunct="0">
              <a:lnSpc>
                <a:spcPct val="130000"/>
              </a:lnSpc>
              <a:spcBef>
                <a:spcPct val="0"/>
              </a:spcBef>
              <a:spcAft>
                <a:spcPct val="0"/>
              </a:spcAft>
            </a:pPr>
            <a:r>
              <a:rPr kumimoji="1" lang="zh-CN" altLang="en-US" sz="2800" b="1">
                <a:solidFill>
                  <a:srgbClr val="000000"/>
                </a:solidFill>
                <a:latin typeface="Times New Roman" pitchFamily="18" charset="0"/>
              </a:rPr>
              <a:t>树</a:t>
            </a:r>
          </a:p>
        </p:txBody>
      </p:sp>
      <p:sp>
        <p:nvSpPr>
          <p:cNvPr id="25" name="Text Box 8"/>
          <p:cNvSpPr txBox="1">
            <a:spLocks noChangeArrowheads="1"/>
          </p:cNvSpPr>
          <p:nvPr/>
        </p:nvSpPr>
        <p:spPr bwMode="auto">
          <a:xfrm>
            <a:off x="5418384" y="4322831"/>
            <a:ext cx="542433" cy="1214821"/>
          </a:xfrm>
          <a:prstGeom prst="rect">
            <a:avLst/>
          </a:prstGeom>
          <a:noFill/>
          <a:ln w="9525">
            <a:noFill/>
            <a:miter lim="800000"/>
            <a:headEnd/>
            <a:tailEnd/>
          </a:ln>
        </p:spPr>
        <p:txBody>
          <a:bodyPr wrap="none" lIns="90000" tIns="46800" rIns="90000" bIns="46800">
            <a:spAutoFit/>
          </a:bodyPr>
          <a:lstStyle/>
          <a:p>
            <a:pPr algn="ctr" eaLnBrk="0" fontAlgn="base" hangingPunct="0">
              <a:lnSpc>
                <a:spcPct val="130000"/>
              </a:lnSpc>
              <a:spcBef>
                <a:spcPct val="0"/>
              </a:spcBef>
              <a:spcAft>
                <a:spcPct val="0"/>
              </a:spcAft>
            </a:pPr>
            <a:endParaRPr kumimoji="1" lang="en-US" altLang="zh-CN" sz="2800" b="1">
              <a:solidFill>
                <a:srgbClr val="000000"/>
              </a:solidFill>
              <a:latin typeface="Times New Roman" pitchFamily="18" charset="0"/>
            </a:endParaRPr>
          </a:p>
          <a:p>
            <a:pPr algn="ctr" eaLnBrk="0" fontAlgn="base" hangingPunct="0">
              <a:lnSpc>
                <a:spcPct val="130000"/>
              </a:lnSpc>
              <a:spcBef>
                <a:spcPct val="0"/>
              </a:spcBef>
              <a:spcAft>
                <a:spcPct val="0"/>
              </a:spcAft>
            </a:pPr>
            <a:r>
              <a:rPr kumimoji="1" lang="zh-CN" altLang="en-US" sz="2800" b="1">
                <a:solidFill>
                  <a:srgbClr val="000000"/>
                </a:solidFill>
                <a:latin typeface="Times New Roman" pitchFamily="18" charset="0"/>
              </a:rPr>
              <a:t>图</a:t>
            </a:r>
          </a:p>
        </p:txBody>
      </p:sp>
      <p:sp>
        <p:nvSpPr>
          <p:cNvPr id="26" name="双波形 25"/>
          <p:cNvSpPr/>
          <p:nvPr/>
        </p:nvSpPr>
        <p:spPr bwMode="auto">
          <a:xfrm>
            <a:off x="1066800" y="5594350"/>
            <a:ext cx="7143750" cy="777061"/>
          </a:xfrm>
          <a:prstGeom prst="doubleWave">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200" b="1" i="0" u="none" strike="noStrike" kern="0" cap="none" spc="0" normalizeH="0" baseline="0" noProof="0" dirty="0">
                <a:ln>
                  <a:noFill/>
                </a:ln>
                <a:solidFill>
                  <a:srgbClr val="0000FF"/>
                </a:solidFill>
                <a:effectLst/>
                <a:uLnTx/>
                <a:uFillTx/>
                <a:latin typeface="华文琥珀" pitchFamily="2" charset="-122"/>
                <a:ea typeface="华文琥珀" pitchFamily="2" charset="-122"/>
                <a:cs typeface="+mn-cs"/>
              </a:rPr>
              <a:t>本章是课程的重点</a:t>
            </a:r>
          </a:p>
        </p:txBody>
      </p:sp>
    </p:spTree>
    <p:extLst>
      <p:ext uri="{BB962C8B-B14F-4D97-AF65-F5344CB8AC3E}">
        <p14:creationId xmlns:p14="http://schemas.microsoft.com/office/powerpoint/2010/main" val="793752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8" presetClass="emph" presetSubtype="0" fill="hold" nodeType="clickEffect">
                                  <p:stCondLst>
                                    <p:cond delay="0"/>
                                  </p:stCondLst>
                                  <p:iterate type="lt">
                                    <p:tmPct val="10000"/>
                                  </p:iterate>
                                  <p:childTnLst>
                                    <p:animClr clrSpc="rgb" dir="cw">
                                      <p:cBhvr override="childStyle">
                                        <p:cTn id="6" dur="500" fill="hold"/>
                                        <p:tgtEl>
                                          <p:spTgt spid="24">
                                            <p:txEl>
                                              <p:pRg st="0" end="0"/>
                                            </p:txEl>
                                          </p:spTgt>
                                        </p:tgtEl>
                                        <p:attrNameLst>
                                          <p:attrName>style.color</p:attrName>
                                        </p:attrNameLst>
                                      </p:cBhvr>
                                      <p:to>
                                        <a:srgbClr val="FF0000"/>
                                      </p:to>
                                    </p:animClr>
                                    <p:animClr clrSpc="rgb" dir="cw">
                                      <p:cBhvr>
                                        <p:cTn id="7" dur="500" fill="hold"/>
                                        <p:tgtEl>
                                          <p:spTgt spid="24">
                                            <p:txEl>
                                              <p:pRg st="0" end="0"/>
                                            </p:txEl>
                                          </p:spTgt>
                                        </p:tgtEl>
                                        <p:attrNameLst>
                                          <p:attrName>fillcolor</p:attrName>
                                        </p:attrNameLst>
                                      </p:cBhvr>
                                      <p:to>
                                        <a:srgbClr val="FF0000"/>
                                      </p:to>
                                    </p:animClr>
                                    <p:set>
                                      <p:cBhvr>
                                        <p:cTn id="8" dur="500" fill="hold"/>
                                        <p:tgtEl>
                                          <p:spTgt spid="24">
                                            <p:txEl>
                                              <p:pRg st="0" end="0"/>
                                            </p:txEl>
                                          </p:spTgt>
                                        </p:tgtEl>
                                        <p:attrNameLst>
                                          <p:attrName>fill.type</p:attrName>
                                        </p:attrNameLst>
                                      </p:cBhvr>
                                      <p:to>
                                        <p:strVal val="solid"/>
                                      </p:to>
                                    </p:set>
                                    <p:anim to="1.5" calcmode="lin" valueType="num">
                                      <p:cBhvr override="childStyle">
                                        <p:cTn id="9" dur="500" fill="hold"/>
                                        <p:tgtEl>
                                          <p:spTgt spid="24">
                                            <p:txEl>
                                              <p:pRg st="0" end="0"/>
                                            </p:txEl>
                                          </p:spTgt>
                                        </p:tgtEl>
                                        <p:attrNameLst>
                                          <p:attrName>style.fontSize</p:attrName>
                                        </p:attrNameLst>
                                      </p:cBhvr>
                                    </p:anim>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grpId="0"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box(in)">
                                      <p:cBhvr>
                                        <p:cTn id="1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solidFill>
                  <a:srgbClr val="FF0000"/>
                </a:solidFill>
              </a:rPr>
              <a:t>本章学习要点</a:t>
            </a:r>
          </a:p>
        </p:txBody>
      </p:sp>
      <p:sp>
        <p:nvSpPr>
          <p:cNvPr id="3" name="内容占位符 2"/>
          <p:cNvSpPr>
            <a:spLocks noGrp="1"/>
          </p:cNvSpPr>
          <p:nvPr>
            <p:ph idx="1"/>
          </p:nvPr>
        </p:nvSpPr>
        <p:spPr>
          <a:xfrm>
            <a:off x="457200" y="1295400"/>
            <a:ext cx="8229600" cy="5105400"/>
          </a:xfrm>
        </p:spPr>
        <p:txBody>
          <a:bodyPr>
            <a:normAutofit/>
          </a:bodyPr>
          <a:lstStyle/>
          <a:p>
            <a:pPr fontAlgn="base">
              <a:lnSpc>
                <a:spcPct val="200000"/>
              </a:lnSpc>
              <a:spcBef>
                <a:spcPct val="0"/>
              </a:spcBef>
              <a:spcAft>
                <a:spcPct val="0"/>
              </a:spcAft>
              <a:buFont typeface="Wingdings" panose="05000000000000000000" pitchFamily="2" charset="2"/>
              <a:buChar char="n"/>
            </a:pPr>
            <a:endParaRPr lang="zh-CN" altLang="en-US" b="1" dirty="0"/>
          </a:p>
        </p:txBody>
      </p:sp>
      <p:sp>
        <p:nvSpPr>
          <p:cNvPr id="4" name="日期占位符 3"/>
          <p:cNvSpPr>
            <a:spLocks noGrp="1"/>
          </p:cNvSpPr>
          <p:nvPr>
            <p:ph type="dt" sz="half" idx="10"/>
          </p:nvPr>
        </p:nvSpPr>
        <p:spPr/>
        <p:txBody>
          <a:bodyPr/>
          <a:lstStyle/>
          <a:p>
            <a:fld id="{00DA03B1-00CB-44EC-A0B5-E55CEB56542D}"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4" name="Text Box 4"/>
          <p:cNvSpPr txBox="1">
            <a:spLocks noChangeArrowheads="1"/>
          </p:cNvSpPr>
          <p:nvPr/>
        </p:nvSpPr>
        <p:spPr bwMode="auto">
          <a:xfrm>
            <a:off x="856454" y="2624873"/>
            <a:ext cx="593729" cy="2556727"/>
          </a:xfrm>
          <a:prstGeom prst="rect">
            <a:avLst/>
          </a:prstGeom>
          <a:noFill/>
          <a:ln w="9525">
            <a:noFill/>
            <a:miter lim="800000"/>
            <a:headEnd/>
            <a:tailEnd/>
          </a:ln>
        </p:spPr>
        <p:txBody>
          <a:bodyPr wrap="none" lIns="90000" tIns="46800" rIns="90000" bIns="46800">
            <a:spAutoFit/>
          </a:bodyPr>
          <a:lstStyle/>
          <a:p>
            <a:pPr algn="ctr" fontAlgn="base">
              <a:spcBef>
                <a:spcPct val="0"/>
              </a:spcBef>
              <a:spcAft>
                <a:spcPct val="0"/>
              </a:spcAft>
            </a:pPr>
            <a:r>
              <a:rPr kumimoji="1" lang="zh-CN" altLang="en-US" sz="3200" b="1" dirty="0">
                <a:solidFill>
                  <a:srgbClr val="006600"/>
                </a:solidFill>
                <a:latin typeface="楷体_GB2312" pitchFamily="49" charset="-122"/>
                <a:ea typeface="楷体_GB2312" pitchFamily="49" charset="-122"/>
              </a:rPr>
              <a:t>树</a:t>
            </a:r>
          </a:p>
          <a:p>
            <a:pPr algn="ctr" fontAlgn="base">
              <a:spcBef>
                <a:spcPct val="0"/>
              </a:spcBef>
              <a:spcAft>
                <a:spcPct val="0"/>
              </a:spcAft>
            </a:pPr>
            <a:r>
              <a:rPr kumimoji="1" lang="zh-CN" altLang="en-US" sz="3200" b="1" dirty="0">
                <a:solidFill>
                  <a:srgbClr val="006600"/>
                </a:solidFill>
                <a:latin typeface="楷体_GB2312" pitchFamily="49" charset="-122"/>
                <a:ea typeface="楷体_GB2312" pitchFamily="49" charset="-122"/>
              </a:rPr>
              <a:t>和</a:t>
            </a:r>
          </a:p>
          <a:p>
            <a:pPr algn="ctr" fontAlgn="base">
              <a:spcBef>
                <a:spcPct val="0"/>
              </a:spcBef>
              <a:spcAft>
                <a:spcPct val="0"/>
              </a:spcAft>
            </a:pPr>
            <a:r>
              <a:rPr kumimoji="1" lang="zh-CN" altLang="en-US" sz="3200" b="1" dirty="0">
                <a:solidFill>
                  <a:srgbClr val="006600"/>
                </a:solidFill>
                <a:latin typeface="楷体_GB2312" pitchFamily="49" charset="-122"/>
                <a:ea typeface="楷体_GB2312" pitchFamily="49" charset="-122"/>
              </a:rPr>
              <a:t>二</a:t>
            </a:r>
          </a:p>
          <a:p>
            <a:pPr algn="ctr" fontAlgn="base">
              <a:spcBef>
                <a:spcPct val="0"/>
              </a:spcBef>
              <a:spcAft>
                <a:spcPct val="0"/>
              </a:spcAft>
            </a:pPr>
            <a:r>
              <a:rPr kumimoji="1" lang="zh-CN" altLang="en-US" sz="3200" b="1" dirty="0">
                <a:solidFill>
                  <a:srgbClr val="006600"/>
                </a:solidFill>
                <a:latin typeface="楷体_GB2312" pitchFamily="49" charset="-122"/>
                <a:ea typeface="楷体_GB2312" pitchFamily="49" charset="-122"/>
              </a:rPr>
              <a:t>叉</a:t>
            </a:r>
          </a:p>
          <a:p>
            <a:pPr algn="ctr" fontAlgn="base">
              <a:spcBef>
                <a:spcPct val="0"/>
              </a:spcBef>
              <a:spcAft>
                <a:spcPct val="0"/>
              </a:spcAft>
            </a:pPr>
            <a:r>
              <a:rPr kumimoji="1" lang="zh-CN" altLang="en-US" sz="3200" b="1" dirty="0">
                <a:solidFill>
                  <a:srgbClr val="006600"/>
                </a:solidFill>
                <a:latin typeface="楷体_GB2312" pitchFamily="49" charset="-122"/>
                <a:ea typeface="楷体_GB2312" pitchFamily="49" charset="-122"/>
              </a:rPr>
              <a:t>树</a:t>
            </a:r>
          </a:p>
        </p:txBody>
      </p:sp>
      <p:grpSp>
        <p:nvGrpSpPr>
          <p:cNvPr id="15" name="Group 15"/>
          <p:cNvGrpSpPr>
            <a:grpSpLocks/>
          </p:cNvGrpSpPr>
          <p:nvPr/>
        </p:nvGrpSpPr>
        <p:grpSpPr bwMode="auto">
          <a:xfrm>
            <a:off x="2064940" y="1067140"/>
            <a:ext cx="3111505" cy="1017589"/>
            <a:chOff x="1174" y="422"/>
            <a:chExt cx="1809" cy="641"/>
          </a:xfrm>
        </p:grpSpPr>
        <p:sp>
          <p:nvSpPr>
            <p:cNvPr id="16" name="Text Box 16"/>
            <p:cNvSpPr txBox="1">
              <a:spLocks noChangeArrowheads="1"/>
            </p:cNvSpPr>
            <p:nvPr/>
          </p:nvSpPr>
          <p:spPr bwMode="auto">
            <a:xfrm>
              <a:off x="1174" y="578"/>
              <a:ext cx="841" cy="331"/>
            </a:xfrm>
            <a:prstGeom prst="rect">
              <a:avLst/>
            </a:prstGeom>
            <a:noFill/>
            <a:ln w="9525">
              <a:noFill/>
              <a:miter lim="800000"/>
              <a:headEnd/>
              <a:tailEnd/>
            </a:ln>
          </p:spPr>
          <p:txBody>
            <a:bodyPr wrap="none" lIns="90000" tIns="46800" rIns="90000" bIns="4680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800" b="1" i="0" u="none" strike="noStrike" kern="0" cap="none" spc="0" normalizeH="0" baseline="0" noProof="0">
                  <a:ln>
                    <a:noFill/>
                  </a:ln>
                  <a:solidFill>
                    <a:srgbClr val="0000FF"/>
                  </a:solidFill>
                  <a:effectLst/>
                  <a:uLnTx/>
                  <a:uFillTx/>
                  <a:latin typeface="楷体_GB2312" pitchFamily="49" charset="-122"/>
                  <a:ea typeface="楷体_GB2312" pitchFamily="49" charset="-122"/>
                </a:rPr>
                <a:t>树的</a:t>
              </a:r>
              <a:r>
                <a:rPr kumimoji="1" lang="en-US" altLang="zh-CN" sz="2800" b="1" i="0" u="none" strike="noStrike" kern="0" cap="none" spc="0" normalizeH="0" baseline="0" noProof="0">
                  <a:ln>
                    <a:noFill/>
                  </a:ln>
                  <a:solidFill>
                    <a:srgbClr val="0000FF"/>
                  </a:solidFill>
                  <a:effectLst/>
                  <a:uLnTx/>
                  <a:uFillTx/>
                  <a:latin typeface="楷体_GB2312" pitchFamily="49" charset="-122"/>
                  <a:ea typeface="楷体_GB2312" pitchFamily="49" charset="-122"/>
                </a:rPr>
                <a:t>ADT</a:t>
              </a:r>
            </a:p>
          </p:txBody>
        </p:sp>
        <p:sp>
          <p:nvSpPr>
            <p:cNvPr id="17" name="Text Box 17"/>
            <p:cNvSpPr txBox="1">
              <a:spLocks noChangeArrowheads="1"/>
            </p:cNvSpPr>
            <p:nvPr/>
          </p:nvSpPr>
          <p:spPr bwMode="auto">
            <a:xfrm>
              <a:off x="2277" y="422"/>
              <a:ext cx="706" cy="641"/>
            </a:xfrm>
            <a:prstGeom prst="rect">
              <a:avLst/>
            </a:prstGeom>
            <a:noFill/>
            <a:ln w="9525">
              <a:noFill/>
              <a:miter lim="800000"/>
              <a:headEnd/>
              <a:tailEnd/>
            </a:ln>
          </p:spPr>
          <p:txBody>
            <a:bodyPr wrap="none" lIns="90000" tIns="46800" rIns="90000" bIns="4680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rPr>
                <a:t>逻辑结构</a:t>
              </a:r>
              <a:endParaRPr kumimoji="1" lang="en-US" altLang="zh-CN"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rPr>
                <a:t>存储结构</a:t>
              </a:r>
            </a:p>
          </p:txBody>
        </p:sp>
        <p:sp>
          <p:nvSpPr>
            <p:cNvPr id="18" name="AutoShape 18"/>
            <p:cNvSpPr>
              <a:spLocks/>
            </p:cNvSpPr>
            <p:nvPr/>
          </p:nvSpPr>
          <p:spPr bwMode="auto">
            <a:xfrm>
              <a:off x="1980" y="538"/>
              <a:ext cx="297" cy="431"/>
            </a:xfrm>
            <a:prstGeom prst="leftBrace">
              <a:avLst>
                <a:gd name="adj1" fmla="val 41667"/>
                <a:gd name="adj2" fmla="val 50000"/>
              </a:avLst>
            </a:prstGeom>
            <a:noFill/>
            <a:ln w="2857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19" name="Text Box 21"/>
          <p:cNvSpPr txBox="1">
            <a:spLocks noChangeArrowheads="1"/>
          </p:cNvSpPr>
          <p:nvPr/>
        </p:nvSpPr>
        <p:spPr bwMode="auto">
          <a:xfrm>
            <a:off x="1925331" y="4416425"/>
            <a:ext cx="1805600" cy="525401"/>
          </a:xfrm>
          <a:prstGeom prst="rect">
            <a:avLst/>
          </a:prstGeom>
          <a:noFill/>
          <a:ln w="9525">
            <a:noFill/>
            <a:miter lim="800000"/>
            <a:headEnd/>
            <a:tailEnd/>
          </a:ln>
        </p:spPr>
        <p:txBody>
          <a:bodyPr wrap="none" lIns="90000" tIns="46800" rIns="90000" bIns="46800">
            <a:spAutoFit/>
          </a:bodyPr>
          <a:lstStyle/>
          <a:p>
            <a:pPr algn="ctr" fontAlgn="base">
              <a:spcBef>
                <a:spcPct val="0"/>
              </a:spcBef>
              <a:spcAft>
                <a:spcPct val="0"/>
              </a:spcAft>
            </a:pPr>
            <a:r>
              <a:rPr kumimoji="1" lang="zh-CN" altLang="en-US" sz="2800" b="1">
                <a:solidFill>
                  <a:srgbClr val="0000FF"/>
                </a:solidFill>
                <a:latin typeface="楷体_GB2312" pitchFamily="49" charset="-122"/>
                <a:ea typeface="楷体_GB2312" pitchFamily="49" charset="-122"/>
              </a:rPr>
              <a:t>树和森林 </a:t>
            </a:r>
            <a:endParaRPr kumimoji="1" lang="en-US" altLang="zh-CN" sz="2800" b="1">
              <a:solidFill>
                <a:srgbClr val="0000FF"/>
              </a:solidFill>
              <a:latin typeface="楷体_GB2312" pitchFamily="49" charset="-122"/>
              <a:ea typeface="楷体_GB2312" pitchFamily="49" charset="-122"/>
            </a:endParaRPr>
          </a:p>
        </p:txBody>
      </p:sp>
      <p:sp>
        <p:nvSpPr>
          <p:cNvPr id="20" name="Text Box 25"/>
          <p:cNvSpPr txBox="1">
            <a:spLocks noChangeArrowheads="1"/>
          </p:cNvSpPr>
          <p:nvPr/>
        </p:nvSpPr>
        <p:spPr bwMode="auto">
          <a:xfrm>
            <a:off x="2016696" y="5648325"/>
            <a:ext cx="1624460" cy="525401"/>
          </a:xfrm>
          <a:prstGeom prst="rect">
            <a:avLst/>
          </a:prstGeom>
          <a:noFill/>
          <a:ln w="9525">
            <a:noFill/>
            <a:miter lim="800000"/>
            <a:headEnd/>
            <a:tailEnd/>
          </a:ln>
        </p:spPr>
        <p:txBody>
          <a:bodyPr wrap="none" lIns="90000" tIns="46800" rIns="90000" bIns="46800">
            <a:spAutoFit/>
          </a:bodyPr>
          <a:lstStyle/>
          <a:p>
            <a:pPr algn="ctr" fontAlgn="base">
              <a:spcBef>
                <a:spcPct val="0"/>
              </a:spcBef>
              <a:spcAft>
                <a:spcPct val="0"/>
              </a:spcAft>
            </a:pPr>
            <a:r>
              <a:rPr kumimoji="1" lang="zh-CN" altLang="en-US" sz="2800" b="1">
                <a:solidFill>
                  <a:srgbClr val="0000FF"/>
                </a:solidFill>
                <a:latin typeface="楷体_GB2312" pitchFamily="49" charset="-122"/>
                <a:ea typeface="楷体_GB2312" pitchFamily="49" charset="-122"/>
              </a:rPr>
              <a:t>树的应用</a:t>
            </a:r>
          </a:p>
        </p:txBody>
      </p:sp>
      <p:sp>
        <p:nvSpPr>
          <p:cNvPr id="21" name="Text Box 28"/>
          <p:cNvSpPr txBox="1">
            <a:spLocks noChangeArrowheads="1"/>
          </p:cNvSpPr>
          <p:nvPr/>
        </p:nvSpPr>
        <p:spPr bwMode="auto">
          <a:xfrm>
            <a:off x="4137656" y="5486400"/>
            <a:ext cx="1348744" cy="1017844"/>
          </a:xfrm>
          <a:prstGeom prst="rect">
            <a:avLst/>
          </a:prstGeom>
          <a:noFill/>
          <a:ln w="9525">
            <a:noFill/>
            <a:miter lim="800000"/>
            <a:headEnd/>
            <a:tailEnd/>
          </a:ln>
        </p:spPr>
        <p:txBody>
          <a:bodyPr wrap="none" lIns="90000" tIns="46800" rIns="90000" bIns="46800">
            <a:spAutoFit/>
          </a:bodyPr>
          <a:lstStyle/>
          <a:p>
            <a:pPr fontAlgn="base">
              <a:spcBef>
                <a:spcPct val="0"/>
              </a:spcBef>
              <a:spcAft>
                <a:spcPct val="0"/>
              </a:spcAft>
            </a:pPr>
            <a:r>
              <a:rPr kumimoji="1" lang="en-US" altLang="zh-CN" sz="2000" b="1" dirty="0">
                <a:solidFill>
                  <a:srgbClr val="0000FF"/>
                </a:solidFill>
                <a:latin typeface="楷体_GB2312" pitchFamily="49" charset="-122"/>
                <a:ea typeface="楷体_GB2312" pitchFamily="49" charset="-122"/>
              </a:rPr>
              <a:t>Huffman</a:t>
            </a:r>
            <a:r>
              <a:rPr kumimoji="1" lang="zh-CN" altLang="en-US" sz="2000" b="1" dirty="0">
                <a:solidFill>
                  <a:srgbClr val="0000FF"/>
                </a:solidFill>
                <a:latin typeface="楷体_GB2312" pitchFamily="49" charset="-122"/>
                <a:ea typeface="楷体_GB2312" pitchFamily="49" charset="-122"/>
              </a:rPr>
              <a:t>树</a:t>
            </a:r>
            <a:endParaRPr kumimoji="1" lang="en-US" altLang="zh-CN" sz="2000" b="1" dirty="0">
              <a:solidFill>
                <a:srgbClr val="0000FF"/>
              </a:solidFill>
              <a:latin typeface="楷体_GB2312" pitchFamily="49" charset="-122"/>
              <a:ea typeface="楷体_GB2312" pitchFamily="49" charset="-122"/>
            </a:endParaRPr>
          </a:p>
          <a:p>
            <a:pPr fontAlgn="base">
              <a:spcBef>
                <a:spcPct val="0"/>
              </a:spcBef>
              <a:spcAft>
                <a:spcPct val="0"/>
              </a:spcAft>
            </a:pPr>
            <a:endParaRPr kumimoji="1" lang="zh-CN" altLang="en-US" sz="2000" b="1" dirty="0">
              <a:solidFill>
                <a:srgbClr val="0000FF"/>
              </a:solidFill>
              <a:latin typeface="楷体_GB2312" pitchFamily="49" charset="-122"/>
              <a:ea typeface="楷体_GB2312" pitchFamily="49" charset="-122"/>
            </a:endParaRPr>
          </a:p>
          <a:p>
            <a:pPr fontAlgn="base">
              <a:spcBef>
                <a:spcPct val="0"/>
              </a:spcBef>
              <a:spcAft>
                <a:spcPct val="0"/>
              </a:spcAft>
            </a:pPr>
            <a:r>
              <a:rPr kumimoji="1" lang="zh-CN" altLang="en-US" sz="2000" b="1" dirty="0">
                <a:solidFill>
                  <a:srgbClr val="0000FF"/>
                </a:solidFill>
                <a:latin typeface="楷体_GB2312" pitchFamily="49" charset="-122"/>
                <a:ea typeface="楷体_GB2312" pitchFamily="49" charset="-122"/>
              </a:rPr>
              <a:t>判定过程</a:t>
            </a:r>
          </a:p>
        </p:txBody>
      </p:sp>
      <p:sp>
        <p:nvSpPr>
          <p:cNvPr id="22" name="AutoShape 29"/>
          <p:cNvSpPr>
            <a:spLocks/>
          </p:cNvSpPr>
          <p:nvPr/>
        </p:nvSpPr>
        <p:spPr bwMode="auto">
          <a:xfrm>
            <a:off x="3562613" y="5569091"/>
            <a:ext cx="510650" cy="736318"/>
          </a:xfrm>
          <a:prstGeom prst="leftBrace">
            <a:avLst>
              <a:gd name="adj1" fmla="val 30303"/>
              <a:gd name="adj2" fmla="val 50000"/>
            </a:avLst>
          </a:prstGeom>
          <a:noFill/>
          <a:ln w="2857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1" i="0" u="none" strike="noStrike" kern="0" cap="none" spc="0" normalizeH="0" baseline="0" noProof="0">
              <a:ln>
                <a:noFill/>
              </a:ln>
              <a:solidFill>
                <a:srgbClr val="000000"/>
              </a:solidFill>
              <a:effectLst/>
              <a:uLnTx/>
              <a:uFillTx/>
              <a:latin typeface="Times New Roman" pitchFamily="18" charset="0"/>
            </a:endParaRPr>
          </a:p>
        </p:txBody>
      </p:sp>
      <p:sp>
        <p:nvSpPr>
          <p:cNvPr id="23" name="Text Box 34"/>
          <p:cNvSpPr txBox="1">
            <a:spLocks noChangeArrowheads="1"/>
          </p:cNvSpPr>
          <p:nvPr/>
        </p:nvSpPr>
        <p:spPr bwMode="auto">
          <a:xfrm>
            <a:off x="1912077" y="3189627"/>
            <a:ext cx="1263785" cy="525401"/>
          </a:xfrm>
          <a:prstGeom prst="rect">
            <a:avLst/>
          </a:prstGeom>
          <a:noFill/>
          <a:ln w="9525">
            <a:noFill/>
            <a:miter lim="800000"/>
            <a:headEnd/>
            <a:tailEnd/>
          </a:ln>
        </p:spPr>
        <p:txBody>
          <a:bodyPr wrap="none" lIns="90000" tIns="46800" rIns="90000" bIns="46800">
            <a:spAutoFit/>
          </a:bodyPr>
          <a:lstStyle/>
          <a:p>
            <a:pPr algn="ctr" fontAlgn="base">
              <a:spcBef>
                <a:spcPct val="0"/>
              </a:spcBef>
              <a:spcAft>
                <a:spcPct val="0"/>
              </a:spcAft>
            </a:pPr>
            <a:r>
              <a:rPr kumimoji="1" lang="zh-CN" altLang="en-US" sz="2800" b="1">
                <a:solidFill>
                  <a:srgbClr val="0000FF"/>
                </a:solidFill>
                <a:latin typeface="楷体_GB2312" pitchFamily="49" charset="-122"/>
                <a:ea typeface="楷体_GB2312" pitchFamily="49" charset="-122"/>
              </a:rPr>
              <a:t>二叉树</a:t>
            </a:r>
          </a:p>
        </p:txBody>
      </p:sp>
      <p:sp>
        <p:nvSpPr>
          <p:cNvPr id="24" name="Text Box 35"/>
          <p:cNvSpPr txBox="1">
            <a:spLocks noChangeArrowheads="1"/>
          </p:cNvSpPr>
          <p:nvPr/>
        </p:nvSpPr>
        <p:spPr bwMode="auto">
          <a:xfrm>
            <a:off x="3409950" y="2173627"/>
            <a:ext cx="4206875" cy="1941173"/>
          </a:xfrm>
          <a:prstGeom prst="rect">
            <a:avLst/>
          </a:prstGeom>
          <a:noFill/>
          <a:ln w="9525">
            <a:noFill/>
            <a:miter lim="800000"/>
            <a:headEnd/>
            <a:tailEnd/>
          </a:ln>
        </p:spPr>
        <p:txBody>
          <a:bodyPr lIns="90000" tIns="46800" rIns="90000" bIns="46800">
            <a:spAutoFit/>
          </a:bodyPr>
          <a:lstStyle/>
          <a:p>
            <a:pPr fontAlgn="base">
              <a:lnSpc>
                <a:spcPct val="120000"/>
              </a:lnSpc>
              <a:spcBef>
                <a:spcPct val="0"/>
              </a:spcBef>
              <a:spcAft>
                <a:spcPct val="0"/>
              </a:spcAft>
            </a:pPr>
            <a:r>
              <a:rPr kumimoji="1" lang="zh-CN" altLang="en-US" sz="2000" b="1">
                <a:solidFill>
                  <a:srgbClr val="0000FF"/>
                </a:solidFill>
                <a:latin typeface="楷体_GB2312" pitchFamily="49" charset="-122"/>
                <a:ea typeface="楷体_GB2312" pitchFamily="49" charset="-122"/>
              </a:rPr>
              <a:t>逻辑结构</a:t>
            </a:r>
          </a:p>
          <a:p>
            <a:pPr fontAlgn="base">
              <a:lnSpc>
                <a:spcPct val="120000"/>
              </a:lnSpc>
              <a:spcBef>
                <a:spcPct val="0"/>
              </a:spcBef>
              <a:spcAft>
                <a:spcPct val="0"/>
              </a:spcAft>
            </a:pPr>
            <a:r>
              <a:rPr kumimoji="1" lang="zh-CN" altLang="en-US" sz="2000" b="1">
                <a:solidFill>
                  <a:srgbClr val="0000FF"/>
                </a:solidFill>
                <a:latin typeface="楷体_GB2312" pitchFamily="49" charset="-122"/>
                <a:ea typeface="楷体_GB2312" pitchFamily="49" charset="-122"/>
              </a:rPr>
              <a:t>存储结构</a:t>
            </a:r>
          </a:p>
          <a:p>
            <a:pPr fontAlgn="base">
              <a:lnSpc>
                <a:spcPct val="120000"/>
              </a:lnSpc>
              <a:spcBef>
                <a:spcPct val="0"/>
              </a:spcBef>
              <a:spcAft>
                <a:spcPct val="0"/>
              </a:spcAft>
            </a:pPr>
            <a:r>
              <a:rPr kumimoji="1" lang="zh-CN" altLang="en-US" sz="2000" b="1">
                <a:solidFill>
                  <a:srgbClr val="0000FF"/>
                </a:solidFill>
                <a:latin typeface="楷体_GB2312" pitchFamily="49" charset="-122"/>
                <a:ea typeface="楷体_GB2312" pitchFamily="49" charset="-122"/>
              </a:rPr>
              <a:t>基本性质</a:t>
            </a:r>
          </a:p>
          <a:p>
            <a:pPr fontAlgn="base">
              <a:lnSpc>
                <a:spcPct val="120000"/>
              </a:lnSpc>
              <a:spcBef>
                <a:spcPct val="0"/>
              </a:spcBef>
              <a:spcAft>
                <a:spcPct val="0"/>
              </a:spcAft>
            </a:pPr>
            <a:r>
              <a:rPr kumimoji="1" lang="zh-CN" altLang="en-US" sz="2000" b="1">
                <a:solidFill>
                  <a:srgbClr val="0000FF"/>
                </a:solidFill>
                <a:latin typeface="楷体_GB2312" pitchFamily="49" charset="-122"/>
                <a:ea typeface="楷体_GB2312" pitchFamily="49" charset="-122"/>
              </a:rPr>
              <a:t>遍历二叉树</a:t>
            </a:r>
          </a:p>
          <a:p>
            <a:pPr fontAlgn="base">
              <a:lnSpc>
                <a:spcPct val="120000"/>
              </a:lnSpc>
              <a:spcBef>
                <a:spcPct val="0"/>
              </a:spcBef>
              <a:spcAft>
                <a:spcPct val="0"/>
              </a:spcAft>
            </a:pPr>
            <a:r>
              <a:rPr kumimoji="1" lang="zh-CN" altLang="en-US" sz="2000" b="1">
                <a:solidFill>
                  <a:srgbClr val="0000FF"/>
                </a:solidFill>
                <a:latin typeface="楷体_GB2312" pitchFamily="49" charset="-122"/>
                <a:ea typeface="楷体_GB2312" pitchFamily="49" charset="-122"/>
              </a:rPr>
              <a:t>线索二叉树</a:t>
            </a:r>
          </a:p>
        </p:txBody>
      </p:sp>
      <p:sp>
        <p:nvSpPr>
          <p:cNvPr id="25" name="AutoShape 36"/>
          <p:cNvSpPr>
            <a:spLocks/>
          </p:cNvSpPr>
          <p:nvPr/>
        </p:nvSpPr>
        <p:spPr bwMode="auto">
          <a:xfrm>
            <a:off x="3219450" y="2295491"/>
            <a:ext cx="233363" cy="1739059"/>
          </a:xfrm>
          <a:prstGeom prst="leftBrace">
            <a:avLst>
              <a:gd name="adj1" fmla="val 130804"/>
              <a:gd name="adj2" fmla="val 50000"/>
            </a:avLst>
          </a:prstGeom>
          <a:noFill/>
          <a:ln w="28575">
            <a:solidFill>
              <a:srgbClr val="000000"/>
            </a:solidFill>
            <a:round/>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9600" b="1" i="0" u="none" strike="noStrike" kern="0" cap="none" spc="0" normalizeH="0" baseline="0" noProof="0">
              <a:ln>
                <a:noFill/>
              </a:ln>
              <a:solidFill>
                <a:srgbClr val="000000"/>
              </a:solidFill>
              <a:effectLst/>
              <a:uLnTx/>
              <a:uFillTx/>
              <a:latin typeface="Times New Roman" pitchFamily="18" charset="0"/>
            </a:endParaRPr>
          </a:p>
        </p:txBody>
      </p:sp>
      <p:sp>
        <p:nvSpPr>
          <p:cNvPr id="26" name="AutoShape 52"/>
          <p:cNvSpPr>
            <a:spLocks/>
          </p:cNvSpPr>
          <p:nvPr/>
        </p:nvSpPr>
        <p:spPr bwMode="auto">
          <a:xfrm>
            <a:off x="1568450" y="1935504"/>
            <a:ext cx="448246" cy="3964445"/>
          </a:xfrm>
          <a:prstGeom prst="leftBrace">
            <a:avLst>
              <a:gd name="adj1" fmla="val 89689"/>
              <a:gd name="adj2" fmla="val 50000"/>
            </a:avLst>
          </a:prstGeom>
          <a:noFill/>
          <a:ln w="19050" cap="rnd">
            <a:solidFill>
              <a:srgbClr val="000000"/>
            </a:solidFill>
            <a:round/>
            <a:headEnd/>
            <a:tailEnd/>
          </a:ln>
        </p:spPr>
        <p:txBody>
          <a:bodyPr wrap="squar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7500" b="1" i="0" u="none" strike="noStrike" kern="0" cap="none" spc="0" normalizeH="0" baseline="0" noProof="0">
              <a:ln>
                <a:noFill/>
              </a:ln>
              <a:solidFill>
                <a:srgbClr val="000000"/>
              </a:solidFill>
              <a:effectLst/>
              <a:uLnTx/>
              <a:uFillTx/>
              <a:latin typeface="Times New Roman" pitchFamily="18" charset="0"/>
            </a:endParaRPr>
          </a:p>
        </p:txBody>
      </p:sp>
      <p:sp>
        <p:nvSpPr>
          <p:cNvPr id="27" name="AutoShape 29"/>
          <p:cNvSpPr>
            <a:spLocks/>
          </p:cNvSpPr>
          <p:nvPr/>
        </p:nvSpPr>
        <p:spPr bwMode="auto">
          <a:xfrm>
            <a:off x="3725863" y="4382856"/>
            <a:ext cx="298450" cy="881525"/>
          </a:xfrm>
          <a:prstGeom prst="leftBrace">
            <a:avLst>
              <a:gd name="adj1" fmla="val 30344"/>
              <a:gd name="adj2" fmla="val 47319"/>
            </a:avLst>
          </a:prstGeom>
          <a:noFill/>
          <a:ln w="28575">
            <a:solidFill>
              <a:srgbClr val="000000"/>
            </a:solidFill>
            <a:round/>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4800" b="1" i="0" u="none" strike="noStrike" kern="0" cap="none" spc="0" normalizeH="0" baseline="0" noProof="0">
              <a:ln>
                <a:noFill/>
              </a:ln>
              <a:solidFill>
                <a:srgbClr val="000000"/>
              </a:solidFill>
              <a:effectLst/>
              <a:uLnTx/>
              <a:uFillTx/>
              <a:latin typeface="Times New Roman" pitchFamily="18" charset="0"/>
            </a:endParaRPr>
          </a:p>
        </p:txBody>
      </p:sp>
      <p:sp>
        <p:nvSpPr>
          <p:cNvPr id="28" name="Text Box 21"/>
          <p:cNvSpPr txBox="1">
            <a:spLocks noChangeArrowheads="1"/>
          </p:cNvSpPr>
          <p:nvPr/>
        </p:nvSpPr>
        <p:spPr bwMode="auto">
          <a:xfrm>
            <a:off x="4270433" y="4143375"/>
            <a:ext cx="1730259" cy="402291"/>
          </a:xfrm>
          <a:prstGeom prst="rect">
            <a:avLst/>
          </a:prstGeom>
          <a:noFill/>
          <a:ln w="9525">
            <a:noFill/>
            <a:miter lim="800000"/>
            <a:headEnd/>
            <a:tailEnd/>
          </a:ln>
        </p:spPr>
        <p:txBody>
          <a:bodyPr wrap="none" lIns="90000" tIns="46800" rIns="90000" bIns="46800">
            <a:spAutoFit/>
          </a:bodyPr>
          <a:lstStyle/>
          <a:p>
            <a:pPr algn="ctr" fontAlgn="base">
              <a:spcBef>
                <a:spcPct val="0"/>
              </a:spcBef>
              <a:spcAft>
                <a:spcPct val="0"/>
              </a:spcAft>
            </a:pPr>
            <a:r>
              <a:rPr kumimoji="1" lang="zh-CN" altLang="en-US" sz="2000" b="1">
                <a:solidFill>
                  <a:srgbClr val="0000FF"/>
                </a:solidFill>
                <a:latin typeface="楷体_GB2312" pitchFamily="49" charset="-122"/>
                <a:ea typeface="楷体_GB2312" pitchFamily="49" charset="-122"/>
              </a:rPr>
              <a:t>树的存储结构</a:t>
            </a:r>
          </a:p>
        </p:txBody>
      </p:sp>
      <p:sp>
        <p:nvSpPr>
          <p:cNvPr id="29" name="Text Box 21"/>
          <p:cNvSpPr txBox="1">
            <a:spLocks noChangeArrowheads="1"/>
          </p:cNvSpPr>
          <p:nvPr/>
        </p:nvSpPr>
        <p:spPr bwMode="auto">
          <a:xfrm>
            <a:off x="4290391" y="4564063"/>
            <a:ext cx="1214092" cy="402291"/>
          </a:xfrm>
          <a:prstGeom prst="rect">
            <a:avLst/>
          </a:prstGeom>
          <a:noFill/>
          <a:ln w="9525">
            <a:noFill/>
            <a:miter lim="800000"/>
            <a:headEnd/>
            <a:tailEnd/>
          </a:ln>
        </p:spPr>
        <p:txBody>
          <a:bodyPr wrap="none" lIns="90000" tIns="46800" rIns="90000" bIns="46800">
            <a:spAutoFit/>
          </a:bodyPr>
          <a:lstStyle/>
          <a:p>
            <a:pPr algn="ctr" fontAlgn="base">
              <a:spcBef>
                <a:spcPct val="0"/>
              </a:spcBef>
              <a:spcAft>
                <a:spcPct val="0"/>
              </a:spcAft>
            </a:pPr>
            <a:r>
              <a:rPr kumimoji="1" lang="zh-CN" altLang="en-US" sz="2000" b="1">
                <a:solidFill>
                  <a:srgbClr val="0000FF"/>
                </a:solidFill>
                <a:latin typeface="楷体_GB2312" pitchFamily="49" charset="-122"/>
                <a:ea typeface="楷体_GB2312" pitchFamily="49" charset="-122"/>
              </a:rPr>
              <a:t>树的遍历</a:t>
            </a:r>
          </a:p>
        </p:txBody>
      </p:sp>
      <p:sp>
        <p:nvSpPr>
          <p:cNvPr id="30" name="Text Box 21"/>
          <p:cNvSpPr txBox="1">
            <a:spLocks noChangeArrowheads="1"/>
          </p:cNvSpPr>
          <p:nvPr/>
        </p:nvSpPr>
        <p:spPr bwMode="auto">
          <a:xfrm>
            <a:off x="4267200" y="4886325"/>
            <a:ext cx="3020677" cy="402291"/>
          </a:xfrm>
          <a:prstGeom prst="rect">
            <a:avLst/>
          </a:prstGeom>
          <a:noFill/>
          <a:ln w="9525">
            <a:noFill/>
            <a:miter lim="800000"/>
            <a:headEnd/>
            <a:tailEnd/>
          </a:ln>
        </p:spPr>
        <p:txBody>
          <a:bodyPr wrap="none" lIns="90000" tIns="46800" rIns="90000" bIns="46800">
            <a:spAutoFit/>
          </a:bodyPr>
          <a:lstStyle/>
          <a:p>
            <a:pPr algn="ctr" fontAlgn="base">
              <a:spcBef>
                <a:spcPct val="0"/>
              </a:spcBef>
              <a:spcAft>
                <a:spcPct val="0"/>
              </a:spcAft>
            </a:pPr>
            <a:r>
              <a:rPr kumimoji="1" lang="zh-CN" altLang="en-US" sz="2000" b="1" dirty="0">
                <a:solidFill>
                  <a:srgbClr val="0000FF"/>
                </a:solidFill>
                <a:latin typeface="楷体_GB2312" pitchFamily="49" charset="-122"/>
                <a:ea typeface="楷体_GB2312" pitchFamily="49" charset="-122"/>
              </a:rPr>
              <a:t>树和森林与二叉树的转换</a:t>
            </a:r>
          </a:p>
        </p:txBody>
      </p:sp>
    </p:spTree>
    <p:extLst>
      <p:ext uri="{BB962C8B-B14F-4D97-AF65-F5344CB8AC3E}">
        <p14:creationId xmlns:p14="http://schemas.microsoft.com/office/powerpoint/2010/main" val="1052096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animBg="1"/>
      <p:bldP spid="23" grpId="0"/>
      <p:bldP spid="25" grpId="0" animBg="1"/>
      <p:bldP spid="27" grpId="0" animBg="1"/>
      <p:bldP spid="28" grpId="0"/>
      <p:bldP spid="29" grpId="0"/>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FF0000"/>
                </a:solidFill>
              </a:rPr>
              <a:t>本章重点与难点</a:t>
            </a:r>
          </a:p>
        </p:txBody>
      </p:sp>
      <p:sp>
        <p:nvSpPr>
          <p:cNvPr id="3" name="内容占位符 2"/>
          <p:cNvSpPr>
            <a:spLocks noGrp="1"/>
          </p:cNvSpPr>
          <p:nvPr>
            <p:ph idx="1"/>
          </p:nvPr>
        </p:nvSpPr>
        <p:spPr>
          <a:xfrm>
            <a:off x="457200" y="1295400"/>
            <a:ext cx="8229600" cy="5105400"/>
          </a:xfrm>
        </p:spPr>
        <p:txBody>
          <a:bodyPr>
            <a:normAutofit/>
          </a:bodyPr>
          <a:lstStyle/>
          <a:p>
            <a:pPr fontAlgn="base">
              <a:lnSpc>
                <a:spcPct val="150000"/>
              </a:lnSpc>
              <a:spcBef>
                <a:spcPct val="0"/>
              </a:spcBef>
              <a:spcAft>
                <a:spcPct val="0"/>
              </a:spcAft>
              <a:buFont typeface="Wingdings" panose="05000000000000000000" pitchFamily="2" charset="2"/>
              <a:buChar char="n"/>
            </a:pPr>
            <a:r>
              <a:rPr kumimoji="1" lang="zh-CN" altLang="en-US" sz="2800" b="1" dirty="0">
                <a:solidFill>
                  <a:srgbClr val="0000FF"/>
                </a:solidFill>
                <a:latin typeface="宋体" charset="-122"/>
                <a:ea typeface="宋体" charset="-122"/>
              </a:rPr>
              <a:t> 重点</a:t>
            </a:r>
            <a:r>
              <a:rPr kumimoji="1" lang="en-US" altLang="zh-CN" sz="2800" b="1" dirty="0">
                <a:solidFill>
                  <a:srgbClr val="0000FF"/>
                </a:solidFill>
                <a:latin typeface="宋体" charset="-122"/>
                <a:ea typeface="宋体" charset="-122"/>
              </a:rPr>
              <a:t>:</a:t>
            </a:r>
          </a:p>
          <a:p>
            <a:pPr marL="400050" lvl="1" indent="0" fontAlgn="base">
              <a:lnSpc>
                <a:spcPct val="150000"/>
              </a:lnSpc>
              <a:spcBef>
                <a:spcPct val="0"/>
              </a:spcBef>
              <a:spcAft>
                <a:spcPct val="0"/>
              </a:spcAft>
              <a:buNone/>
            </a:pPr>
            <a:r>
              <a:rPr kumimoji="1" lang="en-US" altLang="zh-CN" sz="2400" b="1" dirty="0">
                <a:latin typeface="宋体" charset="-122"/>
                <a:ea typeface="宋体" charset="-122"/>
              </a:rPr>
              <a:t>(1)</a:t>
            </a:r>
            <a:r>
              <a:rPr kumimoji="1" lang="zh-CN" altLang="en-US" sz="2400" b="1" dirty="0">
                <a:latin typeface="宋体" charset="-122"/>
                <a:ea typeface="宋体" charset="-122"/>
              </a:rPr>
              <a:t>二叉树的定义、存储结构、遍历及应用；</a:t>
            </a:r>
          </a:p>
          <a:p>
            <a:pPr marL="400050" lvl="1" indent="0" fontAlgn="base">
              <a:lnSpc>
                <a:spcPct val="150000"/>
              </a:lnSpc>
              <a:spcBef>
                <a:spcPct val="0"/>
              </a:spcBef>
              <a:spcAft>
                <a:spcPct val="0"/>
              </a:spcAft>
              <a:buNone/>
            </a:pPr>
            <a:r>
              <a:rPr kumimoji="1" lang="en-US" altLang="zh-CN" sz="2400" b="1" dirty="0">
                <a:latin typeface="宋体" charset="-122"/>
                <a:ea typeface="宋体" charset="-122"/>
              </a:rPr>
              <a:t>(2)</a:t>
            </a:r>
            <a:r>
              <a:rPr kumimoji="1" lang="zh-CN" altLang="en-US" sz="2400" b="1" dirty="0">
                <a:latin typeface="宋体" charset="-122"/>
                <a:ea typeface="宋体" charset="-122"/>
              </a:rPr>
              <a:t>线索二叉树的定义、存储结构及相应的操作；</a:t>
            </a:r>
          </a:p>
          <a:p>
            <a:pPr marL="400050" lvl="1" indent="0" fontAlgn="base">
              <a:lnSpc>
                <a:spcPct val="150000"/>
              </a:lnSpc>
              <a:spcBef>
                <a:spcPct val="0"/>
              </a:spcBef>
              <a:spcAft>
                <a:spcPct val="0"/>
              </a:spcAft>
              <a:buNone/>
            </a:pPr>
            <a:r>
              <a:rPr kumimoji="1" lang="en-US" altLang="zh-CN" sz="2400" b="1" dirty="0">
                <a:latin typeface="宋体" charset="-122"/>
                <a:ea typeface="宋体" charset="-122"/>
              </a:rPr>
              <a:t>(3)</a:t>
            </a:r>
            <a:r>
              <a:rPr kumimoji="1" lang="zh-CN" altLang="en-US" sz="2400" b="1" dirty="0">
                <a:latin typeface="宋体" charset="-122"/>
                <a:ea typeface="宋体" charset="-122"/>
              </a:rPr>
              <a:t>树和森林与二叉树之间的相互转化方法；</a:t>
            </a:r>
          </a:p>
          <a:p>
            <a:pPr marL="400050" lvl="1" indent="0" fontAlgn="base">
              <a:lnSpc>
                <a:spcPct val="150000"/>
              </a:lnSpc>
              <a:spcBef>
                <a:spcPct val="0"/>
              </a:spcBef>
              <a:spcAft>
                <a:spcPct val="0"/>
              </a:spcAft>
              <a:buNone/>
            </a:pPr>
            <a:r>
              <a:rPr kumimoji="1" lang="en-US" altLang="zh-CN" sz="2400" b="1" dirty="0">
                <a:latin typeface="宋体" charset="-122"/>
                <a:ea typeface="宋体" charset="-122"/>
              </a:rPr>
              <a:t>(4)</a:t>
            </a:r>
            <a:r>
              <a:rPr kumimoji="1" lang="zh-CN" altLang="en-US" sz="2400" b="1" dirty="0">
                <a:latin typeface="宋体" charset="-122"/>
                <a:ea typeface="宋体" charset="-122"/>
              </a:rPr>
              <a:t>哈夫曼树的建立方法和哈夫曼编码。</a:t>
            </a:r>
          </a:p>
          <a:p>
            <a:pPr fontAlgn="base">
              <a:lnSpc>
                <a:spcPct val="150000"/>
              </a:lnSpc>
              <a:spcBef>
                <a:spcPct val="0"/>
              </a:spcBef>
              <a:spcAft>
                <a:spcPct val="0"/>
              </a:spcAft>
              <a:buFont typeface="Wingdings" panose="05000000000000000000" pitchFamily="2" charset="2"/>
              <a:buChar char="n"/>
            </a:pPr>
            <a:r>
              <a:rPr kumimoji="1" lang="zh-CN" altLang="en-US" sz="2800" b="1" dirty="0">
                <a:solidFill>
                  <a:srgbClr val="0000FF"/>
                </a:solidFill>
                <a:latin typeface="宋体" charset="-122"/>
                <a:ea typeface="宋体" charset="-122"/>
              </a:rPr>
              <a:t> 难点</a:t>
            </a:r>
            <a:r>
              <a:rPr kumimoji="1" lang="en-US" altLang="zh-CN" sz="2800" b="1" dirty="0">
                <a:solidFill>
                  <a:srgbClr val="0000FF"/>
                </a:solidFill>
                <a:latin typeface="宋体" charset="-122"/>
                <a:ea typeface="宋体" charset="-122"/>
              </a:rPr>
              <a:t>: </a:t>
            </a:r>
          </a:p>
          <a:p>
            <a:pPr marL="400050" lvl="1" indent="0" fontAlgn="base">
              <a:lnSpc>
                <a:spcPct val="150000"/>
              </a:lnSpc>
              <a:spcBef>
                <a:spcPct val="0"/>
              </a:spcBef>
              <a:spcAft>
                <a:spcPct val="0"/>
              </a:spcAft>
              <a:buNone/>
            </a:pPr>
            <a:r>
              <a:rPr kumimoji="1" lang="zh-CN" altLang="en-US" sz="2400" b="1" dirty="0">
                <a:latin typeface="宋体" charset="-122"/>
                <a:ea typeface="宋体" charset="-122"/>
              </a:rPr>
              <a:t>（</a:t>
            </a:r>
            <a:r>
              <a:rPr kumimoji="1" lang="en-US" altLang="zh-CN" sz="2400" b="1" dirty="0">
                <a:latin typeface="宋体" charset="-122"/>
                <a:ea typeface="宋体" charset="-122"/>
              </a:rPr>
              <a:t>1</a:t>
            </a:r>
            <a:r>
              <a:rPr kumimoji="1" lang="zh-CN" altLang="en-US" sz="2400" b="1" dirty="0">
                <a:latin typeface="宋体" charset="-122"/>
                <a:ea typeface="宋体" charset="-122"/>
              </a:rPr>
              <a:t>）二叉树的构造 、应用；</a:t>
            </a:r>
          </a:p>
          <a:p>
            <a:pPr marL="400050" lvl="1" indent="0" fontAlgn="base">
              <a:lnSpc>
                <a:spcPct val="150000"/>
              </a:lnSpc>
              <a:spcBef>
                <a:spcPct val="0"/>
              </a:spcBef>
              <a:spcAft>
                <a:spcPct val="0"/>
              </a:spcAft>
              <a:buNone/>
            </a:pPr>
            <a:r>
              <a:rPr kumimoji="1" lang="zh-CN" altLang="en-US" sz="2400" b="1" dirty="0">
                <a:latin typeface="宋体" charset="-122"/>
                <a:ea typeface="宋体" charset="-122"/>
              </a:rPr>
              <a:t>（</a:t>
            </a:r>
            <a:r>
              <a:rPr kumimoji="1" lang="en-US" altLang="zh-CN" sz="2400" b="1" dirty="0">
                <a:latin typeface="宋体" charset="-122"/>
                <a:ea typeface="宋体" charset="-122"/>
              </a:rPr>
              <a:t>2</a:t>
            </a:r>
            <a:r>
              <a:rPr kumimoji="1" lang="zh-CN" altLang="en-US" sz="2400" b="1" dirty="0">
                <a:latin typeface="宋体" charset="-122"/>
                <a:ea typeface="宋体" charset="-122"/>
              </a:rPr>
              <a:t>）线索二叉树的遍历和相应的操作。 </a:t>
            </a:r>
            <a:endParaRPr lang="zh-CN" altLang="en-US" b="1" dirty="0"/>
          </a:p>
        </p:txBody>
      </p:sp>
      <p:sp>
        <p:nvSpPr>
          <p:cNvPr id="4" name="日期占位符 3"/>
          <p:cNvSpPr>
            <a:spLocks noGrp="1"/>
          </p:cNvSpPr>
          <p:nvPr>
            <p:ph type="dt" sz="half" idx="10"/>
          </p:nvPr>
        </p:nvSpPr>
        <p:spPr/>
        <p:txBody>
          <a:bodyPr/>
          <a:lstStyle/>
          <a:p>
            <a:fld id="{7060D9D2-F9F0-4865-B5E8-BB8AE30077AC}"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2895595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rgbClr val="FF0000"/>
                </a:solidFill>
              </a:rPr>
              <a:t>第五章 树</a:t>
            </a:r>
          </a:p>
        </p:txBody>
      </p:sp>
      <p:sp>
        <p:nvSpPr>
          <p:cNvPr id="3" name="内容占位符 2"/>
          <p:cNvSpPr>
            <a:spLocks noGrp="1"/>
          </p:cNvSpPr>
          <p:nvPr>
            <p:ph idx="1"/>
          </p:nvPr>
        </p:nvSpPr>
        <p:spPr>
          <a:xfrm>
            <a:off x="457200" y="1295400"/>
            <a:ext cx="8229600" cy="5105400"/>
          </a:xfrm>
        </p:spPr>
        <p:txBody>
          <a:bodyPr>
            <a:normAutofit lnSpcReduction="10000"/>
          </a:bodyPr>
          <a:lstStyle/>
          <a:p>
            <a:pPr marL="0" lvl="0" indent="0" fontAlgn="base">
              <a:lnSpc>
                <a:spcPct val="150000"/>
              </a:lnSpc>
              <a:spcBef>
                <a:spcPct val="5000"/>
              </a:spcBef>
              <a:spcAft>
                <a:spcPct val="5000"/>
              </a:spcAft>
              <a:buNone/>
            </a:pPr>
            <a:r>
              <a:rPr kumimoji="1" lang="en-US" altLang="zh-CN" b="1" dirty="0">
                <a:solidFill>
                  <a:srgbClr val="0000FF"/>
                </a:solidFill>
                <a:latin typeface="Arial" charset="0"/>
                <a:ea typeface="宋体" charset="-122"/>
              </a:rPr>
              <a:t>5.1   </a:t>
            </a:r>
            <a:r>
              <a:rPr kumimoji="1" lang="zh-CN" altLang="en-US" b="1" dirty="0">
                <a:solidFill>
                  <a:srgbClr val="0000FF"/>
                </a:solidFill>
                <a:latin typeface="Arial" charset="0"/>
                <a:ea typeface="宋体" charset="-122"/>
              </a:rPr>
              <a:t>树的有关概念</a:t>
            </a:r>
          </a:p>
          <a:p>
            <a:pPr marL="0" lvl="0" indent="0" fontAlgn="base">
              <a:lnSpc>
                <a:spcPct val="150000"/>
              </a:lnSpc>
              <a:spcBef>
                <a:spcPct val="5000"/>
              </a:spcBef>
              <a:spcAft>
                <a:spcPct val="5000"/>
              </a:spcAft>
              <a:buNone/>
            </a:pPr>
            <a:r>
              <a:rPr kumimoji="1" lang="en-US" altLang="zh-CN" b="1" dirty="0">
                <a:solidFill>
                  <a:srgbClr val="0000FF"/>
                </a:solidFill>
                <a:latin typeface="Arial" charset="0"/>
                <a:ea typeface="宋体" charset="-122"/>
              </a:rPr>
              <a:t>5.2   </a:t>
            </a:r>
            <a:r>
              <a:rPr kumimoji="1" lang="zh-CN" altLang="en-US" b="1" dirty="0">
                <a:solidFill>
                  <a:srgbClr val="0000FF"/>
                </a:solidFill>
                <a:latin typeface="Arial" charset="0"/>
                <a:ea typeface="宋体" charset="-122"/>
              </a:rPr>
              <a:t>二叉树</a:t>
            </a:r>
          </a:p>
          <a:p>
            <a:pPr marL="0" lvl="0" indent="0" fontAlgn="base">
              <a:lnSpc>
                <a:spcPct val="150000"/>
              </a:lnSpc>
              <a:spcBef>
                <a:spcPct val="5000"/>
              </a:spcBef>
              <a:spcAft>
                <a:spcPct val="5000"/>
              </a:spcAft>
              <a:buNone/>
            </a:pPr>
            <a:r>
              <a:rPr kumimoji="1" lang="en-US" altLang="zh-CN" b="1" dirty="0">
                <a:solidFill>
                  <a:srgbClr val="0000FF"/>
                </a:solidFill>
                <a:latin typeface="Arial" charset="0"/>
                <a:ea typeface="宋体" charset="-122"/>
              </a:rPr>
              <a:t>5.3   </a:t>
            </a:r>
            <a:r>
              <a:rPr kumimoji="1" lang="zh-CN" altLang="en-US" b="1" dirty="0">
                <a:solidFill>
                  <a:srgbClr val="0000FF"/>
                </a:solidFill>
                <a:latin typeface="Arial" charset="0"/>
                <a:ea typeface="宋体" charset="-122"/>
              </a:rPr>
              <a:t>二叉树的遍历</a:t>
            </a:r>
          </a:p>
          <a:p>
            <a:pPr marL="0" lvl="0" indent="0" fontAlgn="base">
              <a:lnSpc>
                <a:spcPct val="150000"/>
              </a:lnSpc>
              <a:spcBef>
                <a:spcPct val="5000"/>
              </a:spcBef>
              <a:spcAft>
                <a:spcPct val="5000"/>
              </a:spcAft>
              <a:buNone/>
            </a:pPr>
            <a:r>
              <a:rPr kumimoji="1" lang="en-US" altLang="zh-CN" b="1" dirty="0">
                <a:solidFill>
                  <a:srgbClr val="0000FF"/>
                </a:solidFill>
                <a:latin typeface="Arial" charset="0"/>
                <a:ea typeface="宋体" charset="-122"/>
              </a:rPr>
              <a:t>5.4   </a:t>
            </a:r>
            <a:r>
              <a:rPr kumimoji="1" lang="zh-CN" altLang="en-US" b="1" dirty="0">
                <a:solidFill>
                  <a:srgbClr val="0000FF"/>
                </a:solidFill>
                <a:latin typeface="Arial" charset="0"/>
                <a:ea typeface="宋体" charset="-122"/>
              </a:rPr>
              <a:t>遍历的应用</a:t>
            </a:r>
          </a:p>
          <a:p>
            <a:pPr marL="0" lvl="0" indent="0" fontAlgn="base">
              <a:lnSpc>
                <a:spcPct val="150000"/>
              </a:lnSpc>
              <a:spcBef>
                <a:spcPct val="5000"/>
              </a:spcBef>
              <a:spcAft>
                <a:spcPct val="5000"/>
              </a:spcAft>
              <a:buNone/>
            </a:pPr>
            <a:r>
              <a:rPr kumimoji="1" lang="en-US" altLang="zh-CN" b="1" dirty="0">
                <a:solidFill>
                  <a:srgbClr val="0000FF"/>
                </a:solidFill>
                <a:latin typeface="Arial" charset="0"/>
                <a:ea typeface="宋体" charset="-122"/>
              </a:rPr>
              <a:t>5.5   </a:t>
            </a:r>
            <a:r>
              <a:rPr kumimoji="1" lang="zh-CN" altLang="en-US" b="1" dirty="0">
                <a:solidFill>
                  <a:srgbClr val="0000FF"/>
                </a:solidFill>
                <a:latin typeface="Arial" charset="0"/>
                <a:ea typeface="宋体" charset="-122"/>
              </a:rPr>
              <a:t>线索二叉树</a:t>
            </a:r>
          </a:p>
          <a:p>
            <a:pPr marL="0" lvl="0" indent="0" fontAlgn="base">
              <a:lnSpc>
                <a:spcPct val="150000"/>
              </a:lnSpc>
              <a:spcBef>
                <a:spcPct val="5000"/>
              </a:spcBef>
              <a:spcAft>
                <a:spcPct val="5000"/>
              </a:spcAft>
              <a:buNone/>
            </a:pPr>
            <a:r>
              <a:rPr kumimoji="1" lang="en-US" altLang="zh-CN" b="1" dirty="0">
                <a:solidFill>
                  <a:srgbClr val="0000FF"/>
                </a:solidFill>
                <a:latin typeface="Arial" charset="0"/>
                <a:ea typeface="宋体" charset="-122"/>
              </a:rPr>
              <a:t>5.6   </a:t>
            </a:r>
            <a:r>
              <a:rPr kumimoji="1" lang="zh-CN" altLang="en-US" b="1" dirty="0">
                <a:solidFill>
                  <a:srgbClr val="0000FF"/>
                </a:solidFill>
                <a:latin typeface="Arial" charset="0"/>
                <a:ea typeface="宋体" charset="-122"/>
              </a:rPr>
              <a:t>树和森林</a:t>
            </a:r>
          </a:p>
          <a:p>
            <a:pPr marL="0" lvl="0" indent="0" fontAlgn="base">
              <a:lnSpc>
                <a:spcPct val="150000"/>
              </a:lnSpc>
              <a:spcBef>
                <a:spcPct val="5000"/>
              </a:spcBef>
              <a:spcAft>
                <a:spcPct val="5000"/>
              </a:spcAft>
              <a:buNone/>
            </a:pPr>
            <a:r>
              <a:rPr kumimoji="1" lang="en-US" altLang="zh-CN" b="1" dirty="0">
                <a:solidFill>
                  <a:srgbClr val="0000FF"/>
                </a:solidFill>
                <a:latin typeface="Arial" charset="0"/>
                <a:ea typeface="宋体" charset="-122"/>
              </a:rPr>
              <a:t>5.7   </a:t>
            </a:r>
            <a:r>
              <a:rPr kumimoji="1" lang="zh-CN" altLang="en-US" b="1" dirty="0">
                <a:solidFill>
                  <a:srgbClr val="0000FF"/>
                </a:solidFill>
                <a:latin typeface="Arial" charset="0"/>
                <a:ea typeface="宋体" charset="-122"/>
              </a:rPr>
              <a:t>树及应用</a:t>
            </a:r>
          </a:p>
        </p:txBody>
      </p:sp>
      <p:sp>
        <p:nvSpPr>
          <p:cNvPr id="4" name="日期占位符 3"/>
          <p:cNvSpPr>
            <a:spLocks noGrp="1"/>
          </p:cNvSpPr>
          <p:nvPr>
            <p:ph type="dt" sz="half" idx="10"/>
          </p:nvPr>
        </p:nvSpPr>
        <p:spPr/>
        <p:txBody>
          <a:bodyPr/>
          <a:lstStyle/>
          <a:p>
            <a:fld id="{4541D6D6-9812-4324-8E3B-ED35F030BE71}"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797558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rgbClr val="FF0000"/>
                </a:solidFill>
              </a:rPr>
              <a:t>第五章 树</a:t>
            </a:r>
          </a:p>
        </p:txBody>
      </p:sp>
      <p:sp>
        <p:nvSpPr>
          <p:cNvPr id="3" name="内容占位符 2"/>
          <p:cNvSpPr>
            <a:spLocks noGrp="1"/>
          </p:cNvSpPr>
          <p:nvPr>
            <p:ph idx="1"/>
          </p:nvPr>
        </p:nvSpPr>
        <p:spPr>
          <a:xfrm>
            <a:off x="457200" y="1295400"/>
            <a:ext cx="8229600" cy="5105400"/>
          </a:xfrm>
        </p:spPr>
        <p:txBody>
          <a:bodyPr>
            <a:normAutofit lnSpcReduction="10000"/>
          </a:bodyPr>
          <a:lstStyle/>
          <a:p>
            <a:pPr marL="0" lvl="0" indent="0" fontAlgn="base">
              <a:lnSpc>
                <a:spcPct val="150000"/>
              </a:lnSpc>
              <a:spcBef>
                <a:spcPct val="5000"/>
              </a:spcBef>
              <a:spcAft>
                <a:spcPct val="5000"/>
              </a:spcAft>
              <a:buNone/>
            </a:pPr>
            <a:r>
              <a:rPr kumimoji="1" lang="en-US" altLang="zh-CN" b="1" dirty="0">
                <a:solidFill>
                  <a:srgbClr val="0000FF"/>
                </a:solidFill>
                <a:latin typeface="Arial" charset="0"/>
                <a:ea typeface="宋体" charset="-122"/>
              </a:rPr>
              <a:t>5.1   </a:t>
            </a:r>
            <a:r>
              <a:rPr kumimoji="1" lang="zh-CN" altLang="en-US" b="1" dirty="0">
                <a:solidFill>
                  <a:srgbClr val="0000FF"/>
                </a:solidFill>
                <a:latin typeface="Arial" charset="0"/>
                <a:ea typeface="宋体" charset="-122"/>
              </a:rPr>
              <a:t>树的有关概念</a:t>
            </a:r>
          </a:p>
          <a:p>
            <a:pPr marL="0" lvl="0" indent="0" fontAlgn="base">
              <a:lnSpc>
                <a:spcPct val="150000"/>
              </a:lnSpc>
              <a:spcBef>
                <a:spcPct val="5000"/>
              </a:spcBef>
              <a:spcAft>
                <a:spcPct val="5000"/>
              </a:spcAft>
              <a:buNone/>
            </a:pPr>
            <a:r>
              <a:rPr kumimoji="1" lang="en-US" altLang="zh-CN" b="1" dirty="0">
                <a:solidFill>
                  <a:schemeClr val="bg1">
                    <a:lumMod val="65000"/>
                  </a:schemeClr>
                </a:solidFill>
                <a:latin typeface="Arial" charset="0"/>
                <a:ea typeface="宋体" charset="-122"/>
              </a:rPr>
              <a:t>5.2   </a:t>
            </a:r>
            <a:r>
              <a:rPr kumimoji="1" lang="zh-CN" altLang="en-US" b="1" dirty="0">
                <a:solidFill>
                  <a:schemeClr val="bg1">
                    <a:lumMod val="65000"/>
                  </a:schemeClr>
                </a:solidFill>
                <a:latin typeface="Arial" charset="0"/>
                <a:ea typeface="宋体" charset="-122"/>
              </a:rPr>
              <a:t>二叉树</a:t>
            </a:r>
          </a:p>
          <a:p>
            <a:pPr marL="0" lvl="0" indent="0" fontAlgn="base">
              <a:lnSpc>
                <a:spcPct val="150000"/>
              </a:lnSpc>
              <a:spcBef>
                <a:spcPct val="5000"/>
              </a:spcBef>
              <a:spcAft>
                <a:spcPct val="5000"/>
              </a:spcAft>
              <a:buNone/>
            </a:pPr>
            <a:r>
              <a:rPr kumimoji="1" lang="en-US" altLang="zh-CN" b="1" dirty="0">
                <a:solidFill>
                  <a:schemeClr val="bg1">
                    <a:lumMod val="65000"/>
                  </a:schemeClr>
                </a:solidFill>
                <a:latin typeface="Arial" charset="0"/>
                <a:ea typeface="宋体" charset="-122"/>
              </a:rPr>
              <a:t>5.3   </a:t>
            </a:r>
            <a:r>
              <a:rPr kumimoji="1" lang="zh-CN" altLang="en-US" b="1" dirty="0">
                <a:solidFill>
                  <a:schemeClr val="bg1">
                    <a:lumMod val="65000"/>
                  </a:schemeClr>
                </a:solidFill>
                <a:latin typeface="Arial" charset="0"/>
                <a:ea typeface="宋体" charset="-122"/>
              </a:rPr>
              <a:t>二叉树的遍历</a:t>
            </a:r>
          </a:p>
          <a:p>
            <a:pPr marL="0" lvl="0" indent="0" fontAlgn="base">
              <a:lnSpc>
                <a:spcPct val="150000"/>
              </a:lnSpc>
              <a:spcBef>
                <a:spcPct val="5000"/>
              </a:spcBef>
              <a:spcAft>
                <a:spcPct val="5000"/>
              </a:spcAft>
              <a:buNone/>
            </a:pPr>
            <a:r>
              <a:rPr kumimoji="1" lang="en-US" altLang="zh-CN" b="1" dirty="0">
                <a:solidFill>
                  <a:schemeClr val="bg1">
                    <a:lumMod val="65000"/>
                  </a:schemeClr>
                </a:solidFill>
                <a:latin typeface="Arial" charset="0"/>
                <a:ea typeface="宋体" charset="-122"/>
              </a:rPr>
              <a:t>5.4   </a:t>
            </a:r>
            <a:r>
              <a:rPr kumimoji="1" lang="zh-CN" altLang="en-US" b="1" dirty="0">
                <a:solidFill>
                  <a:schemeClr val="bg1">
                    <a:lumMod val="65000"/>
                  </a:schemeClr>
                </a:solidFill>
                <a:latin typeface="Arial" charset="0"/>
                <a:ea typeface="宋体" charset="-122"/>
              </a:rPr>
              <a:t>遍历的应用</a:t>
            </a:r>
          </a:p>
          <a:p>
            <a:pPr marL="0" lvl="0" indent="0" fontAlgn="base">
              <a:lnSpc>
                <a:spcPct val="150000"/>
              </a:lnSpc>
              <a:spcBef>
                <a:spcPct val="5000"/>
              </a:spcBef>
              <a:spcAft>
                <a:spcPct val="5000"/>
              </a:spcAft>
              <a:buNone/>
            </a:pPr>
            <a:r>
              <a:rPr kumimoji="1" lang="en-US" altLang="zh-CN" b="1" dirty="0">
                <a:solidFill>
                  <a:schemeClr val="bg1">
                    <a:lumMod val="65000"/>
                  </a:schemeClr>
                </a:solidFill>
                <a:latin typeface="Arial" charset="0"/>
                <a:ea typeface="宋体" charset="-122"/>
              </a:rPr>
              <a:t>5.5   </a:t>
            </a:r>
            <a:r>
              <a:rPr kumimoji="1" lang="zh-CN" altLang="en-US" b="1" dirty="0">
                <a:solidFill>
                  <a:schemeClr val="bg1">
                    <a:lumMod val="65000"/>
                  </a:schemeClr>
                </a:solidFill>
                <a:latin typeface="Arial" charset="0"/>
                <a:ea typeface="宋体" charset="-122"/>
              </a:rPr>
              <a:t>线索二叉树</a:t>
            </a:r>
          </a:p>
          <a:p>
            <a:pPr marL="0" lvl="0" indent="0" fontAlgn="base">
              <a:lnSpc>
                <a:spcPct val="150000"/>
              </a:lnSpc>
              <a:spcBef>
                <a:spcPct val="5000"/>
              </a:spcBef>
              <a:spcAft>
                <a:spcPct val="5000"/>
              </a:spcAft>
              <a:buNone/>
            </a:pPr>
            <a:r>
              <a:rPr kumimoji="1" lang="en-US" altLang="zh-CN" b="1" dirty="0">
                <a:solidFill>
                  <a:schemeClr val="bg1">
                    <a:lumMod val="65000"/>
                  </a:schemeClr>
                </a:solidFill>
                <a:latin typeface="Arial" charset="0"/>
                <a:ea typeface="宋体" charset="-122"/>
              </a:rPr>
              <a:t>5.6   </a:t>
            </a:r>
            <a:r>
              <a:rPr kumimoji="1" lang="zh-CN" altLang="en-US" b="1" dirty="0">
                <a:solidFill>
                  <a:schemeClr val="bg1">
                    <a:lumMod val="65000"/>
                  </a:schemeClr>
                </a:solidFill>
                <a:latin typeface="Arial" charset="0"/>
                <a:ea typeface="宋体" charset="-122"/>
              </a:rPr>
              <a:t>树和森林</a:t>
            </a:r>
          </a:p>
          <a:p>
            <a:pPr marL="0" lvl="0" indent="0" fontAlgn="base">
              <a:lnSpc>
                <a:spcPct val="150000"/>
              </a:lnSpc>
              <a:spcBef>
                <a:spcPct val="5000"/>
              </a:spcBef>
              <a:spcAft>
                <a:spcPct val="5000"/>
              </a:spcAft>
              <a:buNone/>
            </a:pPr>
            <a:r>
              <a:rPr kumimoji="1" lang="en-US" altLang="zh-CN" b="1" dirty="0">
                <a:solidFill>
                  <a:schemeClr val="bg1">
                    <a:lumMod val="65000"/>
                  </a:schemeClr>
                </a:solidFill>
                <a:latin typeface="Arial" charset="0"/>
                <a:ea typeface="宋体" charset="-122"/>
              </a:rPr>
              <a:t>5.7   </a:t>
            </a:r>
            <a:r>
              <a:rPr kumimoji="1" lang="zh-CN" altLang="en-US" b="1" dirty="0">
                <a:solidFill>
                  <a:schemeClr val="bg1">
                    <a:lumMod val="65000"/>
                  </a:schemeClr>
                </a:solidFill>
                <a:latin typeface="Arial" charset="0"/>
                <a:ea typeface="宋体" charset="-122"/>
              </a:rPr>
              <a:t>树及应用</a:t>
            </a:r>
          </a:p>
        </p:txBody>
      </p:sp>
      <p:sp>
        <p:nvSpPr>
          <p:cNvPr id="4" name="日期占位符 3"/>
          <p:cNvSpPr>
            <a:spLocks noGrp="1"/>
          </p:cNvSpPr>
          <p:nvPr>
            <p:ph type="dt" sz="half" idx="10"/>
          </p:nvPr>
        </p:nvSpPr>
        <p:spPr/>
        <p:txBody>
          <a:bodyPr/>
          <a:lstStyle/>
          <a:p>
            <a:fld id="{1CF26F7A-47A8-4894-A943-6C5DA238004A}"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3476148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800" b="1" dirty="0"/>
              <a:t>树的定义：</a:t>
            </a:r>
            <a:endParaRPr lang="en-US" altLang="zh-CN" sz="2800" b="1" dirty="0"/>
          </a:p>
        </p:txBody>
      </p:sp>
      <p:sp>
        <p:nvSpPr>
          <p:cNvPr id="4" name="日期占位符 3"/>
          <p:cNvSpPr>
            <a:spLocks noGrp="1"/>
          </p:cNvSpPr>
          <p:nvPr>
            <p:ph type="dt" sz="half" idx="10"/>
          </p:nvPr>
        </p:nvSpPr>
        <p:spPr/>
        <p:txBody>
          <a:bodyPr/>
          <a:lstStyle/>
          <a:p>
            <a:fld id="{A7314FC7-5D1E-43D8-90FD-555A3E0328D3}"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
          <p:cNvSpPr txBox="1">
            <a:spLocks noChangeArrowheads="1"/>
          </p:cNvSpPr>
          <p:nvPr/>
        </p:nvSpPr>
        <p:spPr bwMode="auto">
          <a:xfrm>
            <a:off x="609600" y="1803400"/>
            <a:ext cx="8534400" cy="1930400"/>
          </a:xfrm>
          <a:prstGeom prst="rect">
            <a:avLst/>
          </a:prstGeom>
          <a:noFill/>
          <a:ln w="12700" cap="rnd">
            <a:solidFill>
              <a:srgbClr val="04617B"/>
            </a:solidFill>
            <a:miter lim="800000"/>
            <a:headEnd/>
            <a:tailEnd/>
          </a:ln>
        </p:spPr>
        <p:txBody>
          <a:bodyPr wrap="square">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707F9"/>
                </a:solidFill>
                <a:effectLst/>
                <a:uLnTx/>
                <a:uFillTx/>
                <a:latin typeface="Times New Roman" pitchFamily="18" charset="0"/>
              </a:rPr>
              <a:t>树形结构是一种重要的非线性结构。树是</a:t>
            </a:r>
            <a:r>
              <a:rPr kumimoji="1" lang="en-US" altLang="zh-CN" sz="2400" b="1" i="0" u="none" strike="noStrike" kern="0" cap="none" spc="0" normalizeH="0" baseline="0" noProof="0" dirty="0">
                <a:ln>
                  <a:noFill/>
                </a:ln>
                <a:solidFill>
                  <a:srgbClr val="0707F9"/>
                </a:solidFill>
                <a:effectLst/>
                <a:uLnTx/>
                <a:uFillTx/>
                <a:latin typeface="Times New Roman" pitchFamily="18" charset="0"/>
              </a:rPr>
              <a:t>n</a:t>
            </a:r>
            <a:r>
              <a:rPr kumimoji="1" lang="zh-CN" altLang="en-US" sz="2400" b="1" i="0" u="none" strike="noStrike" kern="0" cap="none" spc="0" normalizeH="0" baseline="0" noProof="0" dirty="0">
                <a:ln>
                  <a:noFill/>
                </a:ln>
                <a:solidFill>
                  <a:srgbClr val="0707F9"/>
                </a:solidFill>
                <a:effectLst/>
                <a:uLnTx/>
                <a:uFillTx/>
                <a:latin typeface="Times New Roman" pitchFamily="18" charset="0"/>
              </a:rPr>
              <a:t>个结点的有限集合，在任一棵非空树中：</a:t>
            </a:r>
            <a:br>
              <a:rPr kumimoji="1" lang="zh-CN" altLang="en-US" sz="2400" b="1" i="0" u="none" strike="noStrike" kern="0" cap="none" spc="0" normalizeH="0" baseline="0" noProof="0" dirty="0">
                <a:ln>
                  <a:noFill/>
                </a:ln>
                <a:solidFill>
                  <a:srgbClr val="0707F9"/>
                </a:solidFill>
                <a:effectLst/>
                <a:uLnTx/>
                <a:uFillTx/>
                <a:latin typeface="Times New Roman" pitchFamily="18" charset="0"/>
              </a:rPr>
            </a:br>
            <a:r>
              <a:rPr kumimoji="1" lang="zh-CN" altLang="en-US" sz="2400" b="1" i="0" u="none" strike="noStrike" kern="0" cap="none" spc="0" normalizeH="0" baseline="0" noProof="0" dirty="0">
                <a:ln>
                  <a:noFill/>
                </a:ln>
                <a:solidFill>
                  <a:srgbClr val="0707F9"/>
                </a:solidFill>
                <a:effectLst/>
                <a:uLnTx/>
                <a:uFillTx/>
                <a:latin typeface="Times New Roman" pitchFamily="18" charset="0"/>
              </a:rPr>
              <a:t>（</a:t>
            </a:r>
            <a:r>
              <a:rPr kumimoji="1" lang="en-US" altLang="zh-CN" sz="2400" b="1" i="0" u="none" strike="noStrike" kern="0" cap="none" spc="0" normalizeH="0" baseline="0" noProof="0" dirty="0">
                <a:ln>
                  <a:noFill/>
                </a:ln>
                <a:solidFill>
                  <a:srgbClr val="0707F9"/>
                </a:solidFill>
                <a:effectLst/>
                <a:uLnTx/>
                <a:uFillTx/>
                <a:latin typeface="Times New Roman" pitchFamily="18" charset="0"/>
              </a:rPr>
              <a:t>1</a:t>
            </a:r>
            <a:r>
              <a:rPr kumimoji="1" lang="zh-CN" altLang="en-US" sz="2400" b="1" i="0" u="none" strike="noStrike" kern="0" cap="none" spc="0" normalizeH="0" baseline="0" noProof="0" dirty="0">
                <a:ln>
                  <a:noFill/>
                </a:ln>
                <a:solidFill>
                  <a:srgbClr val="0707F9"/>
                </a:solidFill>
                <a:effectLst/>
                <a:uLnTx/>
                <a:uFillTx/>
                <a:latin typeface="Times New Roman" pitchFamily="18" charset="0"/>
              </a:rPr>
              <a:t>）有且仅有一个称为</a:t>
            </a:r>
            <a:r>
              <a:rPr kumimoji="1" lang="zh-CN" altLang="en-US" sz="2400" b="1" i="0" u="none" strike="noStrike" kern="0" cap="none" spc="0" normalizeH="0" baseline="0" noProof="0" dirty="0">
                <a:ln>
                  <a:noFill/>
                </a:ln>
                <a:solidFill>
                  <a:srgbClr val="FF0000"/>
                </a:solidFill>
                <a:effectLst/>
                <a:uLnTx/>
                <a:uFillTx/>
                <a:latin typeface="Times New Roman" pitchFamily="18" charset="0"/>
              </a:rPr>
              <a:t>根的结点</a:t>
            </a:r>
            <a:r>
              <a:rPr kumimoji="1" lang="zh-CN" altLang="en-US" sz="2400" b="1" i="0" u="none" strike="noStrike" kern="0" cap="none" spc="0" normalizeH="0" baseline="0" noProof="0" dirty="0">
                <a:ln>
                  <a:noFill/>
                </a:ln>
                <a:solidFill>
                  <a:srgbClr val="0707F9"/>
                </a:solidFill>
                <a:effectLst/>
                <a:uLnTx/>
                <a:uFillTx/>
                <a:latin typeface="Times New Roman" pitchFamily="18" charset="0"/>
              </a:rPr>
              <a:t>。</a:t>
            </a:r>
            <a:br>
              <a:rPr kumimoji="1" lang="zh-CN" altLang="en-US" sz="2400" b="1" i="0" u="none" strike="noStrike" kern="0" cap="none" spc="0" normalizeH="0" baseline="0" noProof="0" dirty="0">
                <a:ln>
                  <a:noFill/>
                </a:ln>
                <a:solidFill>
                  <a:srgbClr val="0707F9"/>
                </a:solidFill>
                <a:effectLst/>
                <a:uLnTx/>
                <a:uFillTx/>
                <a:latin typeface="Times New Roman" pitchFamily="18" charset="0"/>
              </a:rPr>
            </a:br>
            <a:r>
              <a:rPr kumimoji="1" lang="zh-CN" altLang="en-US" sz="2400" b="1" i="0" u="none" strike="noStrike" kern="0" cap="none" spc="0" normalizeH="0" baseline="0" noProof="0" dirty="0">
                <a:ln>
                  <a:noFill/>
                </a:ln>
                <a:solidFill>
                  <a:srgbClr val="0707F9"/>
                </a:solidFill>
                <a:effectLst/>
                <a:uLnTx/>
                <a:uFillTx/>
                <a:latin typeface="Times New Roman" pitchFamily="18" charset="0"/>
              </a:rPr>
              <a:t>（</a:t>
            </a:r>
            <a:r>
              <a:rPr kumimoji="1" lang="en-US" altLang="zh-CN" sz="2400" b="1" i="0" u="none" strike="noStrike" kern="0" cap="none" spc="0" normalizeH="0" baseline="0" noProof="0" dirty="0">
                <a:ln>
                  <a:noFill/>
                </a:ln>
                <a:solidFill>
                  <a:srgbClr val="0707F9"/>
                </a:solidFill>
                <a:effectLst/>
                <a:uLnTx/>
                <a:uFillTx/>
                <a:latin typeface="Times New Roman" pitchFamily="18" charset="0"/>
              </a:rPr>
              <a:t>2</a:t>
            </a:r>
            <a:r>
              <a:rPr kumimoji="1" lang="zh-CN" altLang="en-US" sz="2400" b="1" i="0" u="none" strike="noStrike" kern="0" cap="none" spc="0" normalizeH="0" baseline="0" noProof="0" dirty="0">
                <a:ln>
                  <a:noFill/>
                </a:ln>
                <a:solidFill>
                  <a:srgbClr val="0707F9"/>
                </a:solidFill>
                <a:effectLst/>
                <a:uLnTx/>
                <a:uFillTx/>
                <a:latin typeface="Times New Roman" pitchFamily="18" charset="0"/>
              </a:rPr>
              <a:t>）其余结点可分为</a:t>
            </a:r>
            <a:r>
              <a:rPr kumimoji="1" lang="en-US" altLang="zh-CN" sz="2400" b="1" i="0" u="none" strike="noStrike" kern="0" cap="none" spc="0" normalizeH="0" baseline="0" noProof="0" dirty="0">
                <a:ln>
                  <a:noFill/>
                </a:ln>
                <a:solidFill>
                  <a:srgbClr val="0707F9"/>
                </a:solidFill>
                <a:effectLst/>
                <a:uLnTx/>
                <a:uFillTx/>
                <a:latin typeface="Times New Roman" pitchFamily="18" charset="0"/>
              </a:rPr>
              <a:t>m</a:t>
            </a:r>
            <a:r>
              <a:rPr kumimoji="1" lang="zh-CN" altLang="en-US" sz="2400" b="1" i="0" u="none" strike="noStrike" kern="0" cap="none" spc="0" normalizeH="0" baseline="0" noProof="0" dirty="0">
                <a:ln>
                  <a:noFill/>
                </a:ln>
                <a:solidFill>
                  <a:srgbClr val="0707F9"/>
                </a:solidFill>
                <a:effectLst/>
                <a:uLnTx/>
                <a:uFillTx/>
                <a:latin typeface="Times New Roman" pitchFamily="18" charset="0"/>
              </a:rPr>
              <a:t>个</a:t>
            </a:r>
            <a:r>
              <a:rPr kumimoji="1" lang="zh-CN" altLang="en-US" sz="2400" b="1" i="0" u="none" strike="noStrike" kern="0" cap="none" spc="0" normalizeH="0" baseline="0" noProof="0" dirty="0">
                <a:ln>
                  <a:noFill/>
                </a:ln>
                <a:solidFill>
                  <a:srgbClr val="FF0000"/>
                </a:solidFill>
                <a:effectLst/>
                <a:uLnTx/>
                <a:uFillTx/>
                <a:latin typeface="Times New Roman" pitchFamily="18" charset="0"/>
              </a:rPr>
              <a:t>互不相交的集合</a:t>
            </a:r>
            <a:r>
              <a:rPr kumimoji="1" lang="zh-CN" altLang="en-US" sz="2400" b="1" i="0" u="none" strike="noStrike" kern="0" cap="none" spc="0" normalizeH="0" baseline="0" noProof="0" dirty="0">
                <a:ln>
                  <a:noFill/>
                </a:ln>
                <a:solidFill>
                  <a:srgbClr val="0707F9"/>
                </a:solidFill>
                <a:effectLst/>
                <a:uLnTx/>
                <a:uFillTx/>
                <a:latin typeface="Times New Roman" pitchFamily="18" charset="0"/>
              </a:rPr>
              <a:t>，而且这些集合中的每一集合都本身又是一棵树，称为根的子树。</a:t>
            </a:r>
          </a:p>
        </p:txBody>
      </p:sp>
      <p:sp>
        <p:nvSpPr>
          <p:cNvPr id="14" name="Text Box 3"/>
          <p:cNvSpPr txBox="1">
            <a:spLocks noChangeArrowheads="1"/>
          </p:cNvSpPr>
          <p:nvPr/>
        </p:nvSpPr>
        <p:spPr bwMode="auto">
          <a:xfrm>
            <a:off x="425450" y="5835650"/>
            <a:ext cx="8591550" cy="469900"/>
          </a:xfrm>
          <a:prstGeom prst="rect">
            <a:avLst/>
          </a:prstGeom>
          <a:noFill/>
          <a:ln w="12700" cap="rnd">
            <a:solidFill>
              <a:srgbClr val="04617B"/>
            </a:solid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FF3300"/>
                </a:solidFill>
                <a:effectLst/>
                <a:uLnTx/>
                <a:uFillTx/>
                <a:latin typeface="Times New Roman" pitchFamily="18" charset="0"/>
              </a:rPr>
              <a:t>说明：</a:t>
            </a:r>
            <a:r>
              <a:rPr kumimoji="1" lang="zh-CN" altLang="en-US" sz="2400" b="1" i="0" u="none" strike="noStrike" kern="0" cap="none" spc="0" normalizeH="0" baseline="0" noProof="0">
                <a:ln>
                  <a:noFill/>
                </a:ln>
                <a:solidFill>
                  <a:srgbClr val="0707F9"/>
                </a:solidFill>
                <a:effectLst/>
                <a:uLnTx/>
                <a:uFillTx/>
                <a:latin typeface="Times New Roman" pitchFamily="18" charset="0"/>
              </a:rPr>
              <a:t>树是递归结构，在树的定义中又用到了树的概念 </a:t>
            </a:r>
          </a:p>
        </p:txBody>
      </p:sp>
      <p:grpSp>
        <p:nvGrpSpPr>
          <p:cNvPr id="15" name="Group 4"/>
          <p:cNvGrpSpPr>
            <a:grpSpLocks/>
          </p:cNvGrpSpPr>
          <p:nvPr/>
        </p:nvGrpSpPr>
        <p:grpSpPr bwMode="auto">
          <a:xfrm>
            <a:off x="2014538" y="3717925"/>
            <a:ext cx="4254500" cy="2073275"/>
            <a:chOff x="1728" y="2160"/>
            <a:chExt cx="2680" cy="1306"/>
          </a:xfrm>
        </p:grpSpPr>
        <p:sp>
          <p:nvSpPr>
            <p:cNvPr id="16" name="Line 5"/>
            <p:cNvSpPr>
              <a:spLocks noChangeShapeType="1"/>
            </p:cNvSpPr>
            <p:nvPr/>
          </p:nvSpPr>
          <p:spPr bwMode="auto">
            <a:xfrm>
              <a:off x="3126" y="2400"/>
              <a:ext cx="0" cy="96"/>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7" name="Line 6"/>
            <p:cNvSpPr>
              <a:spLocks noChangeShapeType="1"/>
            </p:cNvSpPr>
            <p:nvPr/>
          </p:nvSpPr>
          <p:spPr bwMode="auto">
            <a:xfrm flipH="1">
              <a:off x="2550" y="2304"/>
              <a:ext cx="432"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9" name="Line 7"/>
            <p:cNvSpPr>
              <a:spLocks noChangeShapeType="1"/>
            </p:cNvSpPr>
            <p:nvPr/>
          </p:nvSpPr>
          <p:spPr bwMode="auto">
            <a:xfrm flipH="1">
              <a:off x="2214"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0" name="Line 8"/>
            <p:cNvSpPr>
              <a:spLocks noChangeShapeType="1"/>
            </p:cNvSpPr>
            <p:nvPr/>
          </p:nvSpPr>
          <p:spPr bwMode="auto">
            <a:xfrm>
              <a:off x="2502"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1" name="Line 9"/>
            <p:cNvSpPr>
              <a:spLocks noChangeShapeType="1"/>
            </p:cNvSpPr>
            <p:nvPr/>
          </p:nvSpPr>
          <p:spPr bwMode="auto">
            <a:xfrm>
              <a:off x="3126"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2" name="Line 10"/>
            <p:cNvSpPr>
              <a:spLocks noChangeShapeType="1"/>
            </p:cNvSpPr>
            <p:nvPr/>
          </p:nvSpPr>
          <p:spPr bwMode="auto">
            <a:xfrm>
              <a:off x="3222" y="2304"/>
              <a:ext cx="528" cy="288"/>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 name="Line 11"/>
            <p:cNvSpPr>
              <a:spLocks noChangeShapeType="1"/>
            </p:cNvSpPr>
            <p:nvPr/>
          </p:nvSpPr>
          <p:spPr bwMode="auto">
            <a:xfrm flipH="1">
              <a:off x="3606"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4" name="Line 12"/>
            <p:cNvSpPr>
              <a:spLocks noChangeShapeType="1"/>
            </p:cNvSpPr>
            <p:nvPr/>
          </p:nvSpPr>
          <p:spPr bwMode="auto">
            <a:xfrm>
              <a:off x="3894"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Line 13"/>
            <p:cNvSpPr>
              <a:spLocks noChangeShapeType="1"/>
            </p:cNvSpPr>
            <p:nvPr/>
          </p:nvSpPr>
          <p:spPr bwMode="auto">
            <a:xfrm>
              <a:off x="3990"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Line 14"/>
            <p:cNvSpPr>
              <a:spLocks noChangeShapeType="1"/>
            </p:cNvSpPr>
            <p:nvPr/>
          </p:nvSpPr>
          <p:spPr bwMode="auto">
            <a:xfrm flipH="1">
              <a:off x="192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7" name="Line 15"/>
            <p:cNvSpPr>
              <a:spLocks noChangeShapeType="1"/>
            </p:cNvSpPr>
            <p:nvPr/>
          </p:nvSpPr>
          <p:spPr bwMode="auto">
            <a:xfrm>
              <a:off x="225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Line 16"/>
            <p:cNvSpPr>
              <a:spLocks noChangeShapeType="1"/>
            </p:cNvSpPr>
            <p:nvPr/>
          </p:nvSpPr>
          <p:spPr bwMode="auto">
            <a:xfrm>
              <a:off x="3552" y="3094"/>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29" name="Group 17"/>
            <p:cNvGrpSpPr>
              <a:grpSpLocks/>
            </p:cNvGrpSpPr>
            <p:nvPr/>
          </p:nvGrpSpPr>
          <p:grpSpPr bwMode="auto">
            <a:xfrm>
              <a:off x="4088" y="2856"/>
              <a:ext cx="320" cy="250"/>
              <a:chOff x="2880" y="1104"/>
              <a:chExt cx="367" cy="343"/>
            </a:xfrm>
          </p:grpSpPr>
          <p:sp>
            <p:nvSpPr>
              <p:cNvPr id="66" name="Oval 1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67" name="Text Box 1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J</a:t>
                </a:r>
              </a:p>
            </p:txBody>
          </p:sp>
        </p:grpSp>
        <p:grpSp>
          <p:nvGrpSpPr>
            <p:cNvPr id="30" name="Group 20"/>
            <p:cNvGrpSpPr>
              <a:grpSpLocks/>
            </p:cNvGrpSpPr>
            <p:nvPr/>
          </p:nvGrpSpPr>
          <p:grpSpPr bwMode="auto">
            <a:xfrm>
              <a:off x="3750" y="2858"/>
              <a:ext cx="320" cy="250"/>
              <a:chOff x="2880" y="1104"/>
              <a:chExt cx="367" cy="343"/>
            </a:xfrm>
          </p:grpSpPr>
          <p:sp>
            <p:nvSpPr>
              <p:cNvPr id="64" name="Oval 2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65" name="Text Box 2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I</a:t>
                </a:r>
              </a:p>
            </p:txBody>
          </p:sp>
        </p:grpSp>
        <p:grpSp>
          <p:nvGrpSpPr>
            <p:cNvPr id="31" name="Group 23"/>
            <p:cNvGrpSpPr>
              <a:grpSpLocks/>
            </p:cNvGrpSpPr>
            <p:nvPr/>
          </p:nvGrpSpPr>
          <p:grpSpPr bwMode="auto">
            <a:xfrm>
              <a:off x="2982" y="2160"/>
              <a:ext cx="320" cy="250"/>
              <a:chOff x="2880" y="1104"/>
              <a:chExt cx="367" cy="343"/>
            </a:xfrm>
          </p:grpSpPr>
          <p:sp>
            <p:nvSpPr>
              <p:cNvPr id="62" name="Oval 2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63" name="Text Box 2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A</a:t>
                </a:r>
              </a:p>
            </p:txBody>
          </p:sp>
        </p:grpSp>
        <p:grpSp>
          <p:nvGrpSpPr>
            <p:cNvPr id="32" name="Group 26"/>
            <p:cNvGrpSpPr>
              <a:grpSpLocks/>
            </p:cNvGrpSpPr>
            <p:nvPr/>
          </p:nvGrpSpPr>
          <p:grpSpPr bwMode="auto">
            <a:xfrm>
              <a:off x="2982" y="2497"/>
              <a:ext cx="320" cy="250"/>
              <a:chOff x="2880" y="1104"/>
              <a:chExt cx="367" cy="343"/>
            </a:xfrm>
          </p:grpSpPr>
          <p:sp>
            <p:nvSpPr>
              <p:cNvPr id="60" name="Oval 2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61" name="Text Box 2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C</a:t>
                </a:r>
              </a:p>
            </p:txBody>
          </p:sp>
        </p:grpSp>
        <p:grpSp>
          <p:nvGrpSpPr>
            <p:cNvPr id="33" name="Group 29"/>
            <p:cNvGrpSpPr>
              <a:grpSpLocks/>
            </p:cNvGrpSpPr>
            <p:nvPr/>
          </p:nvGrpSpPr>
          <p:grpSpPr bwMode="auto">
            <a:xfrm>
              <a:off x="2304" y="2497"/>
              <a:ext cx="320" cy="250"/>
              <a:chOff x="2880" y="1104"/>
              <a:chExt cx="367" cy="343"/>
            </a:xfrm>
          </p:grpSpPr>
          <p:sp>
            <p:nvSpPr>
              <p:cNvPr id="58" name="Oval 3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59" name="Text Box 3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B</a:t>
                </a:r>
              </a:p>
            </p:txBody>
          </p:sp>
        </p:grpSp>
        <p:grpSp>
          <p:nvGrpSpPr>
            <p:cNvPr id="34" name="Group 32"/>
            <p:cNvGrpSpPr>
              <a:grpSpLocks/>
            </p:cNvGrpSpPr>
            <p:nvPr/>
          </p:nvGrpSpPr>
          <p:grpSpPr bwMode="auto">
            <a:xfrm>
              <a:off x="3750" y="2497"/>
              <a:ext cx="320" cy="250"/>
              <a:chOff x="2880" y="1104"/>
              <a:chExt cx="367" cy="343"/>
            </a:xfrm>
          </p:grpSpPr>
          <p:sp>
            <p:nvSpPr>
              <p:cNvPr id="56" name="Oval 3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57" name="Text Box 3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D</a:t>
                </a:r>
              </a:p>
            </p:txBody>
          </p:sp>
        </p:grpSp>
        <p:grpSp>
          <p:nvGrpSpPr>
            <p:cNvPr id="35" name="Group 35"/>
            <p:cNvGrpSpPr>
              <a:grpSpLocks/>
            </p:cNvGrpSpPr>
            <p:nvPr/>
          </p:nvGrpSpPr>
          <p:grpSpPr bwMode="auto">
            <a:xfrm>
              <a:off x="3408" y="2858"/>
              <a:ext cx="320" cy="250"/>
              <a:chOff x="2880" y="1104"/>
              <a:chExt cx="367" cy="343"/>
            </a:xfrm>
          </p:grpSpPr>
          <p:sp>
            <p:nvSpPr>
              <p:cNvPr id="54" name="Oval 3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55" name="Text Box 3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H</a:t>
                </a:r>
              </a:p>
            </p:txBody>
          </p:sp>
        </p:grpSp>
        <p:grpSp>
          <p:nvGrpSpPr>
            <p:cNvPr id="36" name="Group 38"/>
            <p:cNvGrpSpPr>
              <a:grpSpLocks/>
            </p:cNvGrpSpPr>
            <p:nvPr/>
          </p:nvGrpSpPr>
          <p:grpSpPr bwMode="auto">
            <a:xfrm>
              <a:off x="2982" y="2858"/>
              <a:ext cx="320" cy="250"/>
              <a:chOff x="2880" y="1104"/>
              <a:chExt cx="367" cy="343"/>
            </a:xfrm>
          </p:grpSpPr>
          <p:sp>
            <p:nvSpPr>
              <p:cNvPr id="52" name="Oval 3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53" name="Text Box 40"/>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G</a:t>
                </a:r>
              </a:p>
            </p:txBody>
          </p:sp>
        </p:grpSp>
        <p:grpSp>
          <p:nvGrpSpPr>
            <p:cNvPr id="37" name="Group 41"/>
            <p:cNvGrpSpPr>
              <a:grpSpLocks/>
            </p:cNvGrpSpPr>
            <p:nvPr/>
          </p:nvGrpSpPr>
          <p:grpSpPr bwMode="auto">
            <a:xfrm>
              <a:off x="2502" y="2858"/>
              <a:ext cx="320" cy="250"/>
              <a:chOff x="2880" y="1104"/>
              <a:chExt cx="367" cy="343"/>
            </a:xfrm>
          </p:grpSpPr>
          <p:sp>
            <p:nvSpPr>
              <p:cNvPr id="50" name="Oval 4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51" name="Text Box 4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F</a:t>
                </a:r>
              </a:p>
            </p:txBody>
          </p:sp>
        </p:grpSp>
        <p:grpSp>
          <p:nvGrpSpPr>
            <p:cNvPr id="38" name="Group 44"/>
            <p:cNvGrpSpPr>
              <a:grpSpLocks/>
            </p:cNvGrpSpPr>
            <p:nvPr/>
          </p:nvGrpSpPr>
          <p:grpSpPr bwMode="auto">
            <a:xfrm>
              <a:off x="2016" y="2858"/>
              <a:ext cx="320" cy="250"/>
              <a:chOff x="2880" y="1104"/>
              <a:chExt cx="367" cy="343"/>
            </a:xfrm>
          </p:grpSpPr>
          <p:sp>
            <p:nvSpPr>
              <p:cNvPr id="48" name="Oval 4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49" name="Text Box 46"/>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E</a:t>
                </a:r>
              </a:p>
            </p:txBody>
          </p:sp>
        </p:grpSp>
        <p:grpSp>
          <p:nvGrpSpPr>
            <p:cNvPr id="39" name="Group 47"/>
            <p:cNvGrpSpPr>
              <a:grpSpLocks/>
            </p:cNvGrpSpPr>
            <p:nvPr/>
          </p:nvGrpSpPr>
          <p:grpSpPr bwMode="auto">
            <a:xfrm>
              <a:off x="1728" y="3216"/>
              <a:ext cx="320" cy="250"/>
              <a:chOff x="2880" y="1104"/>
              <a:chExt cx="367" cy="343"/>
            </a:xfrm>
          </p:grpSpPr>
          <p:sp>
            <p:nvSpPr>
              <p:cNvPr id="46" name="Oval 4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47" name="Text Box 4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K</a:t>
                </a:r>
              </a:p>
            </p:txBody>
          </p:sp>
        </p:grpSp>
        <p:grpSp>
          <p:nvGrpSpPr>
            <p:cNvPr id="40" name="Group 50"/>
            <p:cNvGrpSpPr>
              <a:grpSpLocks/>
            </p:cNvGrpSpPr>
            <p:nvPr/>
          </p:nvGrpSpPr>
          <p:grpSpPr bwMode="auto">
            <a:xfrm>
              <a:off x="2256" y="3216"/>
              <a:ext cx="320" cy="250"/>
              <a:chOff x="2880" y="1104"/>
              <a:chExt cx="367" cy="343"/>
            </a:xfrm>
          </p:grpSpPr>
          <p:sp>
            <p:nvSpPr>
              <p:cNvPr id="44" name="Oval 5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45" name="Text Box 5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L</a:t>
                </a:r>
              </a:p>
            </p:txBody>
          </p:sp>
        </p:grpSp>
        <p:grpSp>
          <p:nvGrpSpPr>
            <p:cNvPr id="41" name="Group 53"/>
            <p:cNvGrpSpPr>
              <a:grpSpLocks/>
            </p:cNvGrpSpPr>
            <p:nvPr/>
          </p:nvGrpSpPr>
          <p:grpSpPr bwMode="auto">
            <a:xfrm>
              <a:off x="3408" y="3216"/>
              <a:ext cx="320" cy="250"/>
              <a:chOff x="2880" y="1104"/>
              <a:chExt cx="367" cy="343"/>
            </a:xfrm>
          </p:grpSpPr>
          <p:sp>
            <p:nvSpPr>
              <p:cNvPr id="42" name="Oval 5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43" name="Text Box 5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M</a:t>
                </a:r>
              </a:p>
            </p:txBody>
          </p:sp>
        </p:grpSp>
      </p:grpSp>
      <p:sp>
        <p:nvSpPr>
          <p:cNvPr id="68" name="云形标注 67"/>
          <p:cNvSpPr>
            <a:spLocks noChangeArrowheads="1"/>
          </p:cNvSpPr>
          <p:nvPr/>
        </p:nvSpPr>
        <p:spPr bwMode="auto">
          <a:xfrm>
            <a:off x="4411663" y="2971800"/>
            <a:ext cx="4929187" cy="984250"/>
          </a:xfrm>
          <a:prstGeom prst="cloudCallout">
            <a:avLst>
              <a:gd name="adj1" fmla="val -20833"/>
              <a:gd name="adj2" fmla="val 62500"/>
            </a:avLst>
          </a:prstGeom>
          <a:noFill/>
          <a:ln w="12700" cap="rnd" algn="ctr">
            <a:solidFill>
              <a:srgbClr val="0000FF"/>
            </a:solidFill>
            <a:round/>
            <a:headEnd/>
            <a:tailEnd/>
          </a:ln>
        </p:spPr>
        <p:txBody>
          <a:bodyPr>
            <a:spAutoFit/>
          </a:bodyPr>
          <a:lstStyle/>
          <a:p>
            <a:pPr algn="ctr" eaLnBrk="0" fontAlgn="base" hangingPunct="0">
              <a:spcBef>
                <a:spcPct val="0"/>
              </a:spcBef>
              <a:spcAft>
                <a:spcPct val="0"/>
              </a:spcAft>
            </a:pPr>
            <a:r>
              <a:rPr kumimoji="1" lang="zh-CN" altLang="en-US" sz="3600" dirty="0">
                <a:solidFill>
                  <a:srgbClr val="0000FF"/>
                </a:solidFill>
                <a:latin typeface="华文琥珀" pitchFamily="2" charset="-122"/>
                <a:ea typeface="华文琥珀" pitchFamily="2" charset="-122"/>
              </a:rPr>
              <a:t>如何定义树？</a:t>
            </a:r>
          </a:p>
        </p:txBody>
      </p:sp>
    </p:spTree>
    <p:extLst>
      <p:ext uri="{BB962C8B-B14F-4D97-AF65-F5344CB8AC3E}">
        <p14:creationId xmlns:p14="http://schemas.microsoft.com/office/powerpoint/2010/main" val="3407115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1" nodeType="clickEffect">
                                  <p:stCondLst>
                                    <p:cond delay="0"/>
                                  </p:stCondLst>
                                  <p:childTnLst>
                                    <p:animEffect transition="out" filter="fade">
                                      <p:cBhvr>
                                        <p:cTn id="10" dur="2000"/>
                                        <p:tgtEl>
                                          <p:spTgt spid="68"/>
                                        </p:tgtEl>
                                      </p:cBhvr>
                                    </p:animEffect>
                                    <p:set>
                                      <p:cBhvr>
                                        <p:cTn id="11" dur="1" fill="hold">
                                          <p:stCondLst>
                                            <p:cond delay="1999"/>
                                          </p:stCondLst>
                                        </p:cTn>
                                        <p:tgtEl>
                                          <p:spTgt spid="68"/>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68" grpId="0" animBg="1"/>
      <p:bldP spid="68"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800" b="1" dirty="0"/>
              <a:t>树的构造性递归定义：</a:t>
            </a:r>
            <a:endParaRPr lang="en-US" altLang="zh-CN" sz="2800" b="1" dirty="0"/>
          </a:p>
          <a:p>
            <a:pPr lvl="1">
              <a:lnSpc>
                <a:spcPts val="3100"/>
              </a:lnSpc>
            </a:pPr>
            <a:r>
              <a:rPr lang="zh-CN" altLang="en-US" sz="2400" b="1" dirty="0"/>
              <a:t>一个结点</a:t>
            </a:r>
            <a:r>
              <a:rPr lang="en-US" altLang="zh-CN" sz="2400" b="1" dirty="0"/>
              <a:t>X </a:t>
            </a:r>
            <a:r>
              <a:rPr lang="zh-CN" altLang="en-US" sz="2400" b="1" dirty="0"/>
              <a:t>组成的集合</a:t>
            </a:r>
            <a:r>
              <a:rPr lang="en-US" altLang="zh-CN" sz="2400" b="1" dirty="0"/>
              <a:t>{ X }</a:t>
            </a:r>
            <a:r>
              <a:rPr lang="zh-CN" altLang="en-US" sz="2400" b="1" dirty="0"/>
              <a:t>是</a:t>
            </a:r>
            <a:r>
              <a:rPr lang="zh-CN" altLang="en-US" sz="2400" b="1" dirty="0">
                <a:solidFill>
                  <a:srgbClr val="FF0000"/>
                </a:solidFill>
              </a:rPr>
              <a:t>一棵树</a:t>
            </a:r>
            <a:r>
              <a:rPr lang="zh-CN" altLang="en-US" sz="2400" b="1" dirty="0"/>
              <a:t>，这个结点</a:t>
            </a:r>
            <a:r>
              <a:rPr lang="en-US" altLang="zh-CN" sz="2400" b="1" dirty="0"/>
              <a:t>X </a:t>
            </a:r>
            <a:r>
              <a:rPr lang="zh-CN" altLang="en-US" sz="2400" b="1" dirty="0"/>
              <a:t>称为 </a:t>
            </a:r>
            <a:r>
              <a:rPr lang="zh-CN" altLang="en-US" sz="2400" b="1" dirty="0">
                <a:solidFill>
                  <a:srgbClr val="FF0000"/>
                </a:solidFill>
              </a:rPr>
              <a:t>这棵树</a:t>
            </a:r>
            <a:r>
              <a:rPr lang="zh-CN" altLang="en-US" sz="2400" b="1" dirty="0"/>
              <a:t>的</a:t>
            </a:r>
            <a:r>
              <a:rPr lang="zh-CN" altLang="en-US" sz="2400" b="1" dirty="0">
                <a:solidFill>
                  <a:srgbClr val="FF0000"/>
                </a:solidFill>
              </a:rPr>
              <a:t>根</a:t>
            </a:r>
            <a:r>
              <a:rPr lang="zh-CN" altLang="en-US" sz="2400" b="1" dirty="0"/>
              <a:t>（</a:t>
            </a:r>
            <a:r>
              <a:rPr lang="en-US" altLang="zh-CN" sz="2400" b="1" dirty="0"/>
              <a:t>root</a:t>
            </a:r>
            <a:r>
              <a:rPr lang="zh-CN" altLang="en-US" sz="2400" b="1" dirty="0"/>
              <a:t>）。 </a:t>
            </a:r>
            <a:endParaRPr lang="en-US" altLang="zh-CN" sz="2400" b="1" dirty="0"/>
          </a:p>
          <a:p>
            <a:pPr lvl="1">
              <a:lnSpc>
                <a:spcPts val="3100"/>
              </a:lnSpc>
            </a:pPr>
            <a:r>
              <a:rPr lang="zh-CN" altLang="en-US" sz="2400" b="1" dirty="0"/>
              <a:t>假设</a:t>
            </a:r>
            <a:r>
              <a:rPr lang="en-US" altLang="zh-CN" sz="2400" b="1" dirty="0"/>
              <a:t>X </a:t>
            </a:r>
            <a:r>
              <a:rPr lang="zh-CN" altLang="en-US" sz="2400" b="1" dirty="0"/>
              <a:t>是一个结点，</a:t>
            </a:r>
            <a:r>
              <a:rPr lang="en-US" altLang="zh-CN" sz="2400" b="1" dirty="0"/>
              <a:t>T</a:t>
            </a:r>
            <a:r>
              <a:rPr lang="en-US" altLang="zh-CN" sz="2400" b="1" baseline="-25000" dirty="0"/>
              <a:t>1</a:t>
            </a:r>
            <a:r>
              <a:rPr lang="zh-CN" altLang="en-US" sz="2400" b="1" dirty="0"/>
              <a:t>，</a:t>
            </a:r>
            <a:r>
              <a:rPr lang="en-US" altLang="zh-CN" sz="2400" b="1" dirty="0"/>
              <a:t>T</a:t>
            </a:r>
            <a:r>
              <a:rPr lang="en-US" altLang="zh-CN" sz="2400" b="1" baseline="-25000" dirty="0"/>
              <a:t>2</a:t>
            </a:r>
            <a:r>
              <a:rPr lang="zh-CN" altLang="en-US" sz="2400" b="1" dirty="0"/>
              <a:t>，</a:t>
            </a:r>
            <a:r>
              <a:rPr lang="en-US" altLang="zh-CN" sz="2400" b="1" dirty="0"/>
              <a:t>…</a:t>
            </a:r>
            <a:r>
              <a:rPr lang="zh-CN" altLang="en-US" sz="2400" b="1" dirty="0"/>
              <a:t>，</a:t>
            </a:r>
            <a:r>
              <a:rPr lang="en-US" altLang="zh-CN" sz="2400" b="1" dirty="0" err="1"/>
              <a:t>T</a:t>
            </a:r>
            <a:r>
              <a:rPr lang="en-US" altLang="zh-CN" sz="2400" b="1" baseline="-25000" dirty="0" err="1"/>
              <a:t>k</a:t>
            </a:r>
            <a:r>
              <a:rPr lang="zh-CN" altLang="en-US" sz="2400" b="1" dirty="0"/>
              <a:t>是</a:t>
            </a:r>
            <a:r>
              <a:rPr lang="en-US" altLang="zh-CN" sz="2400" b="1" dirty="0"/>
              <a:t>k</a:t>
            </a:r>
            <a:r>
              <a:rPr lang="zh-CN" altLang="en-US" sz="2400" b="1" dirty="0"/>
              <a:t>棵互不相交的树，可以构造一棵新树：令</a:t>
            </a:r>
            <a:r>
              <a:rPr lang="en-US" altLang="zh-CN" sz="2400" b="1" dirty="0"/>
              <a:t>X </a:t>
            </a:r>
            <a:r>
              <a:rPr lang="zh-CN" altLang="en-US" sz="2400" b="1" dirty="0"/>
              <a:t>为根，并有</a:t>
            </a:r>
            <a:r>
              <a:rPr lang="en-US" altLang="zh-CN" sz="2400" b="1" dirty="0"/>
              <a:t>k </a:t>
            </a:r>
            <a:r>
              <a:rPr lang="zh-CN" altLang="en-US" sz="2400" b="1" dirty="0"/>
              <a:t>条边由</a:t>
            </a:r>
            <a:r>
              <a:rPr lang="en-US" altLang="zh-CN" sz="2400" b="1" dirty="0"/>
              <a:t>X </a:t>
            </a:r>
            <a:r>
              <a:rPr lang="zh-CN" altLang="en-US" sz="2400" b="1" dirty="0"/>
              <a:t>指向树</a:t>
            </a:r>
            <a:r>
              <a:rPr lang="en-US" altLang="zh-CN" sz="2400" b="1" dirty="0">
                <a:solidFill>
                  <a:prstClr val="black"/>
                </a:solidFill>
              </a:rPr>
              <a:t>T</a:t>
            </a:r>
            <a:r>
              <a:rPr lang="en-US" altLang="zh-CN" sz="2400" b="1" baseline="-25000" dirty="0">
                <a:solidFill>
                  <a:prstClr val="black"/>
                </a:solidFill>
              </a:rPr>
              <a:t>1</a:t>
            </a:r>
            <a:r>
              <a:rPr lang="zh-CN" altLang="en-US" sz="2400" b="1" dirty="0">
                <a:solidFill>
                  <a:prstClr val="black"/>
                </a:solidFill>
              </a:rPr>
              <a:t>，</a:t>
            </a:r>
            <a:r>
              <a:rPr lang="en-US" altLang="zh-CN" sz="2400" b="1" dirty="0">
                <a:solidFill>
                  <a:prstClr val="black"/>
                </a:solidFill>
              </a:rPr>
              <a:t>T</a:t>
            </a:r>
            <a:r>
              <a:rPr lang="en-US" altLang="zh-CN" sz="2400" b="1" baseline="-25000" dirty="0">
                <a:solidFill>
                  <a:prstClr val="black"/>
                </a:solidFill>
              </a:rPr>
              <a:t>2</a:t>
            </a:r>
            <a:r>
              <a:rPr lang="zh-CN" altLang="en-US" sz="2400" b="1" dirty="0">
                <a:solidFill>
                  <a:prstClr val="black"/>
                </a:solidFill>
              </a:rPr>
              <a:t>，</a:t>
            </a:r>
            <a:r>
              <a:rPr lang="en-US" altLang="zh-CN" sz="2400" b="1" dirty="0">
                <a:solidFill>
                  <a:prstClr val="black"/>
                </a:solidFill>
              </a:rPr>
              <a:t>…</a:t>
            </a:r>
            <a:r>
              <a:rPr lang="zh-CN" altLang="en-US" sz="2400" b="1" dirty="0">
                <a:solidFill>
                  <a:prstClr val="black"/>
                </a:solidFill>
              </a:rPr>
              <a:t>，</a:t>
            </a:r>
            <a:r>
              <a:rPr lang="en-US" altLang="zh-CN" sz="2400" b="1" dirty="0" err="1">
                <a:solidFill>
                  <a:prstClr val="black"/>
                </a:solidFill>
              </a:rPr>
              <a:t>T</a:t>
            </a:r>
            <a:r>
              <a:rPr lang="en-US" altLang="zh-CN" sz="2400" b="1" baseline="-25000" dirty="0" err="1">
                <a:solidFill>
                  <a:prstClr val="black"/>
                </a:solidFill>
              </a:rPr>
              <a:t>k</a:t>
            </a:r>
            <a:r>
              <a:rPr lang="en-US" altLang="zh-CN" sz="2400" b="1" baseline="-25000" dirty="0">
                <a:solidFill>
                  <a:prstClr val="black"/>
                </a:solidFill>
              </a:rPr>
              <a:t> </a:t>
            </a:r>
            <a:r>
              <a:rPr lang="zh-CN" altLang="en-US" sz="2400" b="1" dirty="0"/>
              <a:t>。这些边也叫做</a:t>
            </a:r>
            <a:r>
              <a:rPr lang="zh-CN" altLang="en-US" sz="2400" b="1" dirty="0">
                <a:solidFill>
                  <a:srgbClr val="FF0000"/>
                </a:solidFill>
              </a:rPr>
              <a:t>分支</a:t>
            </a:r>
            <a:r>
              <a:rPr lang="zh-CN" altLang="en-US" sz="2400" b="1" dirty="0"/>
              <a:t>，</a:t>
            </a:r>
            <a:r>
              <a:rPr lang="en-US" altLang="zh-CN" sz="2400" b="1" dirty="0">
                <a:solidFill>
                  <a:prstClr val="black"/>
                </a:solidFill>
              </a:rPr>
              <a:t> T</a:t>
            </a:r>
            <a:r>
              <a:rPr lang="en-US" altLang="zh-CN" sz="2400" b="1" baseline="-25000" dirty="0">
                <a:solidFill>
                  <a:prstClr val="black"/>
                </a:solidFill>
              </a:rPr>
              <a:t>1</a:t>
            </a:r>
            <a:r>
              <a:rPr lang="zh-CN" altLang="en-US" sz="2400" b="1" dirty="0">
                <a:solidFill>
                  <a:prstClr val="black"/>
                </a:solidFill>
              </a:rPr>
              <a:t>，</a:t>
            </a:r>
            <a:r>
              <a:rPr lang="en-US" altLang="zh-CN" sz="2400" b="1" dirty="0">
                <a:solidFill>
                  <a:prstClr val="black"/>
                </a:solidFill>
              </a:rPr>
              <a:t>T</a:t>
            </a:r>
            <a:r>
              <a:rPr lang="en-US" altLang="zh-CN" sz="2400" b="1" baseline="-25000" dirty="0">
                <a:solidFill>
                  <a:prstClr val="black"/>
                </a:solidFill>
              </a:rPr>
              <a:t>2</a:t>
            </a:r>
            <a:r>
              <a:rPr lang="zh-CN" altLang="en-US" sz="2400" b="1" dirty="0">
                <a:solidFill>
                  <a:prstClr val="black"/>
                </a:solidFill>
              </a:rPr>
              <a:t>，</a:t>
            </a:r>
            <a:r>
              <a:rPr lang="en-US" altLang="zh-CN" sz="2400" b="1" dirty="0">
                <a:solidFill>
                  <a:prstClr val="black"/>
                </a:solidFill>
              </a:rPr>
              <a:t>…</a:t>
            </a:r>
            <a:r>
              <a:rPr lang="zh-CN" altLang="en-US" sz="2400" b="1" dirty="0">
                <a:solidFill>
                  <a:prstClr val="black"/>
                </a:solidFill>
              </a:rPr>
              <a:t>，</a:t>
            </a:r>
            <a:r>
              <a:rPr lang="en-US" altLang="zh-CN" sz="2400" b="1" dirty="0" err="1">
                <a:solidFill>
                  <a:prstClr val="black"/>
                </a:solidFill>
              </a:rPr>
              <a:t>T</a:t>
            </a:r>
            <a:r>
              <a:rPr lang="en-US" altLang="zh-CN" sz="2400" b="1" baseline="-25000" dirty="0" err="1">
                <a:solidFill>
                  <a:prstClr val="black"/>
                </a:solidFill>
              </a:rPr>
              <a:t>k</a:t>
            </a:r>
            <a:r>
              <a:rPr lang="zh-CN" altLang="en-US" sz="2400" b="1" dirty="0"/>
              <a:t>称作根为</a:t>
            </a:r>
            <a:r>
              <a:rPr lang="en-US" altLang="zh-CN" sz="2400" b="1" dirty="0"/>
              <a:t>X</a:t>
            </a:r>
            <a:r>
              <a:rPr lang="zh-CN" altLang="en-US" sz="2400" b="1" dirty="0"/>
              <a:t>的树之</a:t>
            </a:r>
            <a:r>
              <a:rPr lang="zh-CN" altLang="en-US" sz="2400" b="1" dirty="0">
                <a:solidFill>
                  <a:srgbClr val="FF0000"/>
                </a:solidFill>
              </a:rPr>
              <a:t>子树</a:t>
            </a:r>
            <a:r>
              <a:rPr lang="zh-CN" altLang="en-US" sz="2400" b="1" dirty="0"/>
              <a:t>（</a:t>
            </a:r>
            <a:r>
              <a:rPr lang="en-US" altLang="zh-CN" sz="2400" b="1" dirty="0" err="1"/>
              <a:t>SubTree</a:t>
            </a:r>
            <a:r>
              <a:rPr lang="zh-CN" altLang="en-US" sz="2400" b="1" dirty="0"/>
              <a:t>）。 </a:t>
            </a:r>
            <a:endParaRPr lang="en-US" altLang="zh-CN" sz="2400" b="1" dirty="0"/>
          </a:p>
        </p:txBody>
      </p:sp>
      <p:sp>
        <p:nvSpPr>
          <p:cNvPr id="4" name="日期占位符 3"/>
          <p:cNvSpPr>
            <a:spLocks noGrp="1"/>
          </p:cNvSpPr>
          <p:nvPr>
            <p:ph type="dt" sz="half" idx="10"/>
          </p:nvPr>
        </p:nvSpPr>
        <p:spPr/>
        <p:txBody>
          <a:bodyPr/>
          <a:lstStyle/>
          <a:p>
            <a:fld id="{3AB1D6A9-A5A9-4064-983C-9E986241519D}"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7" name="TextBox 6"/>
          <p:cNvSpPr txBox="1"/>
          <p:nvPr/>
        </p:nvSpPr>
        <p:spPr>
          <a:xfrm>
            <a:off x="3505200" y="4495800"/>
            <a:ext cx="5181600" cy="1823576"/>
          </a:xfrm>
          <a:prstGeom prst="rect">
            <a:avLst/>
          </a:prstGeom>
          <a:noFill/>
        </p:spPr>
        <p:txBody>
          <a:bodyPr wrap="square" rtlCol="0">
            <a:spAutoFit/>
          </a:bodyPr>
          <a:lstStyle/>
          <a:p>
            <a:pPr>
              <a:lnSpc>
                <a:spcPts val="2700"/>
              </a:lnSpc>
            </a:pPr>
            <a:r>
              <a:rPr lang="zh-CN" altLang="en-US" sz="2000" b="1" dirty="0">
                <a:solidFill>
                  <a:srgbClr val="FF0000"/>
                </a:solidFill>
              </a:rPr>
              <a:t>说明</a:t>
            </a:r>
            <a:r>
              <a:rPr lang="zh-CN" altLang="en-US" sz="2000" b="1" dirty="0"/>
              <a:t>：</a:t>
            </a:r>
            <a:endParaRPr lang="en-US" altLang="zh-CN" sz="2000" b="1" dirty="0"/>
          </a:p>
          <a:p>
            <a:pPr marL="285750" indent="-285750">
              <a:lnSpc>
                <a:spcPts val="2700"/>
              </a:lnSpc>
              <a:buFont typeface="Wingdings" panose="05000000000000000000" pitchFamily="2" charset="2"/>
              <a:buChar char="ü"/>
            </a:pPr>
            <a:r>
              <a:rPr lang="zh-CN" altLang="en-US" sz="2000" b="1" dirty="0"/>
              <a:t>递归定义，但不会产生循环定义；</a:t>
            </a:r>
            <a:endParaRPr lang="en-US" altLang="zh-CN" sz="2000" b="1" dirty="0"/>
          </a:p>
          <a:p>
            <a:pPr marL="285750" indent="-285750">
              <a:lnSpc>
                <a:spcPts val="2700"/>
              </a:lnSpc>
              <a:buFont typeface="Wingdings" panose="05000000000000000000" pitchFamily="2" charset="2"/>
              <a:buChar char="ü"/>
            </a:pPr>
            <a:r>
              <a:rPr lang="zh-CN" altLang="en-US" sz="2000" b="1" dirty="0"/>
              <a:t> 构造性定义便于树型结构的建立；</a:t>
            </a:r>
          </a:p>
          <a:p>
            <a:pPr marL="285750" indent="-285750">
              <a:lnSpc>
                <a:spcPts val="2700"/>
              </a:lnSpc>
              <a:buFont typeface="Wingdings" panose="05000000000000000000" pitchFamily="2" charset="2"/>
              <a:buChar char="ü"/>
            </a:pPr>
            <a:r>
              <a:rPr lang="zh-CN" altLang="en-US" sz="2000" b="1" dirty="0"/>
              <a:t>一株树的每个结点都是这株树的某株子树的根。</a:t>
            </a:r>
          </a:p>
        </p:txBody>
      </p:sp>
      <p:pic>
        <p:nvPicPr>
          <p:cNvPr id="3073" name="Picture 1" descr="C:\Users\Haijun\AppData\Roaming\Tencent\Users\329215889\QQ\WinTemp\RichOle\6}KC82VW7P6S9%AZSYZ@}}L.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768" y="4343400"/>
            <a:ext cx="2895180" cy="1975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8092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800" b="1" dirty="0"/>
              <a:t>树的概念：</a:t>
            </a:r>
            <a:endParaRPr lang="en-US" altLang="zh-CN" sz="2800" b="1" dirty="0"/>
          </a:p>
        </p:txBody>
      </p:sp>
      <p:sp>
        <p:nvSpPr>
          <p:cNvPr id="4" name="日期占位符 3"/>
          <p:cNvSpPr>
            <a:spLocks noGrp="1"/>
          </p:cNvSpPr>
          <p:nvPr>
            <p:ph type="dt" sz="half" idx="10"/>
          </p:nvPr>
        </p:nvSpPr>
        <p:spPr/>
        <p:txBody>
          <a:bodyPr/>
          <a:lstStyle/>
          <a:p>
            <a:fld id="{D833A81A-1E2B-4607-874F-CAB7F95A2E3B}"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72" name="Text Box 62"/>
          <p:cNvSpPr txBox="1">
            <a:spLocks noChangeArrowheads="1"/>
          </p:cNvSpPr>
          <p:nvPr/>
        </p:nvSpPr>
        <p:spPr bwMode="auto">
          <a:xfrm>
            <a:off x="889000" y="2165270"/>
            <a:ext cx="7212231" cy="830997"/>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400" b="1">
                <a:solidFill>
                  <a:srgbClr val="FF3300"/>
                </a:solidFill>
                <a:latin typeface="宋体" pitchFamily="2" charset="-122"/>
              </a:rPr>
              <a:t>数据对象 </a:t>
            </a:r>
            <a:r>
              <a:rPr kumimoji="1" lang="en-US" altLang="zh-CN" sz="2400">
                <a:solidFill>
                  <a:srgbClr val="FF3300"/>
                </a:solidFill>
                <a:latin typeface="宋体" pitchFamily="2" charset="-122"/>
              </a:rPr>
              <a:t>D</a:t>
            </a:r>
            <a:r>
              <a:rPr kumimoji="1" lang="zh-CN" altLang="en-US" sz="2400">
                <a:solidFill>
                  <a:srgbClr val="FF3300"/>
                </a:solidFill>
                <a:latin typeface="宋体" pitchFamily="2" charset="-122"/>
              </a:rPr>
              <a:t>：</a:t>
            </a:r>
            <a:r>
              <a:rPr kumimoji="1" lang="en-US" altLang="zh-CN" sz="2400" b="1">
                <a:solidFill>
                  <a:srgbClr val="0000FF"/>
                </a:solidFill>
                <a:latin typeface="Times New Roman" pitchFamily="18" charset="0"/>
              </a:rPr>
              <a:t>D</a:t>
            </a:r>
            <a:r>
              <a:rPr kumimoji="1" lang="zh-CN" altLang="en-US" sz="2400" b="1">
                <a:solidFill>
                  <a:srgbClr val="0000FF"/>
                </a:solidFill>
                <a:latin typeface="Times New Roman" pitchFamily="18" charset="0"/>
              </a:rPr>
              <a:t>是具有</a:t>
            </a:r>
            <a:r>
              <a:rPr kumimoji="1" lang="zh-CN" altLang="en-US" sz="2400" b="1">
                <a:solidFill>
                  <a:srgbClr val="FF0000"/>
                </a:solidFill>
                <a:latin typeface="Times New Roman" pitchFamily="18" charset="0"/>
              </a:rPr>
              <a:t>相同特性</a:t>
            </a:r>
            <a:r>
              <a:rPr kumimoji="1" lang="zh-CN" altLang="en-US" sz="2400" b="1">
                <a:solidFill>
                  <a:srgbClr val="0000FF"/>
                </a:solidFill>
                <a:latin typeface="Times New Roman" pitchFamily="18" charset="0"/>
              </a:rPr>
              <a:t>的数据元素的集合。</a:t>
            </a:r>
            <a:endParaRPr kumimoji="1" lang="zh-CN" altLang="en-US" sz="2400">
              <a:solidFill>
                <a:srgbClr val="0000FF"/>
              </a:solidFill>
              <a:latin typeface="Times New Roman" pitchFamily="18" charset="0"/>
            </a:endParaRPr>
          </a:p>
          <a:p>
            <a:pPr fontAlgn="base">
              <a:spcBef>
                <a:spcPct val="0"/>
              </a:spcBef>
              <a:spcAft>
                <a:spcPct val="0"/>
              </a:spcAft>
            </a:pPr>
            <a:endParaRPr kumimoji="1" lang="zh-CN" altLang="en-US" sz="2400">
              <a:solidFill>
                <a:srgbClr val="FF3300"/>
              </a:solidFill>
              <a:latin typeface="宋体" pitchFamily="2" charset="-122"/>
            </a:endParaRPr>
          </a:p>
        </p:txBody>
      </p:sp>
      <p:sp>
        <p:nvSpPr>
          <p:cNvPr id="73" name="Text Box 64"/>
          <p:cNvSpPr txBox="1">
            <a:spLocks noChangeArrowheads="1"/>
          </p:cNvSpPr>
          <p:nvPr/>
        </p:nvSpPr>
        <p:spPr bwMode="auto">
          <a:xfrm>
            <a:off x="685801" y="3449557"/>
            <a:ext cx="7924800" cy="2862322"/>
          </a:xfrm>
          <a:prstGeom prst="rect">
            <a:avLst/>
          </a:prstGeom>
          <a:noFill/>
          <a:ln w="12700" cap="sq">
            <a:solidFill>
              <a:srgbClr val="336600"/>
            </a:solidFill>
            <a:miter lim="800000"/>
            <a:headEnd type="none" w="sm" len="sm"/>
            <a:tailEnd type="none" w="sm" len="sm"/>
          </a:ln>
        </p:spPr>
        <p:txBody>
          <a:bodyPr wrap="square">
            <a:spAutoFit/>
          </a:bodyPr>
          <a:lstStyle/>
          <a:p>
            <a:pPr fontAlgn="base">
              <a:lnSpc>
                <a:spcPct val="125000"/>
              </a:lnSpc>
              <a:spcBef>
                <a:spcPct val="0"/>
              </a:spcBef>
              <a:spcAft>
                <a:spcPct val="0"/>
              </a:spcAft>
            </a:pPr>
            <a:r>
              <a:rPr kumimoji="1" lang="zh-CN" altLang="en-US" sz="2400" dirty="0">
                <a:solidFill>
                  <a:srgbClr val="0000FF"/>
                </a:solidFill>
                <a:latin typeface="宋体" pitchFamily="2" charset="-122"/>
              </a:rPr>
              <a:t>   </a:t>
            </a:r>
            <a:r>
              <a:rPr kumimoji="1" lang="zh-CN" altLang="en-US" sz="2400" b="1" dirty="0">
                <a:solidFill>
                  <a:srgbClr val="0000FF"/>
                </a:solidFill>
                <a:latin typeface="宋体" pitchFamily="2" charset="-122"/>
              </a:rPr>
              <a:t>若</a:t>
            </a:r>
            <a:r>
              <a:rPr kumimoji="1" lang="en-US" altLang="zh-CN" sz="2400" b="1" dirty="0">
                <a:solidFill>
                  <a:srgbClr val="0000FF"/>
                </a:solidFill>
                <a:latin typeface="宋体" pitchFamily="2" charset="-122"/>
              </a:rPr>
              <a:t>D</a:t>
            </a:r>
            <a:r>
              <a:rPr kumimoji="1" lang="zh-CN" altLang="en-US" sz="2400" b="1" dirty="0">
                <a:solidFill>
                  <a:srgbClr val="0000FF"/>
                </a:solidFill>
                <a:latin typeface="宋体" pitchFamily="2" charset="-122"/>
              </a:rPr>
              <a:t>为空集，则称为</a:t>
            </a:r>
            <a:r>
              <a:rPr kumimoji="1" lang="zh-CN" altLang="en-US" sz="2400" b="1" dirty="0">
                <a:solidFill>
                  <a:srgbClr val="FF0000"/>
                </a:solidFill>
                <a:latin typeface="宋体" pitchFamily="2" charset="-122"/>
              </a:rPr>
              <a:t>空树</a:t>
            </a:r>
            <a:r>
              <a:rPr kumimoji="1" lang="zh-CN" altLang="en-US" sz="2400" b="1" dirty="0">
                <a:solidFill>
                  <a:srgbClr val="0000FF"/>
                </a:solidFill>
                <a:latin typeface="宋体" pitchFamily="2" charset="-122"/>
              </a:rPr>
              <a:t> 。</a:t>
            </a:r>
            <a:endParaRPr kumimoji="1" lang="en-US" altLang="zh-CN" sz="2400" b="1" dirty="0">
              <a:solidFill>
                <a:srgbClr val="0000FF"/>
              </a:solidFill>
              <a:latin typeface="宋体" pitchFamily="2" charset="-122"/>
            </a:endParaRPr>
          </a:p>
          <a:p>
            <a:pPr fontAlgn="base">
              <a:lnSpc>
                <a:spcPct val="125000"/>
              </a:lnSpc>
              <a:spcBef>
                <a:spcPct val="0"/>
              </a:spcBef>
              <a:spcAft>
                <a:spcPct val="0"/>
              </a:spcAft>
            </a:pPr>
            <a:r>
              <a:rPr kumimoji="1" lang="zh-CN" altLang="en-US" sz="2400" b="1" dirty="0">
                <a:solidFill>
                  <a:srgbClr val="0000FF"/>
                </a:solidFill>
                <a:latin typeface="宋体" pitchFamily="2" charset="-122"/>
              </a:rPr>
              <a:t>   否则</a:t>
            </a:r>
            <a:r>
              <a:rPr kumimoji="1" lang="en-US" altLang="zh-CN" sz="2400" b="1" dirty="0">
                <a:solidFill>
                  <a:srgbClr val="0000FF"/>
                </a:solidFill>
                <a:latin typeface="宋体" pitchFamily="2" charset="-122"/>
              </a:rPr>
              <a:t>:</a:t>
            </a:r>
          </a:p>
          <a:p>
            <a:pPr fontAlgn="base">
              <a:lnSpc>
                <a:spcPct val="125000"/>
              </a:lnSpc>
              <a:spcBef>
                <a:spcPct val="0"/>
              </a:spcBef>
              <a:spcAft>
                <a:spcPct val="0"/>
              </a:spcAft>
            </a:pPr>
            <a:r>
              <a:rPr kumimoji="1" lang="en-US" altLang="zh-CN" sz="2400" b="1" dirty="0">
                <a:solidFill>
                  <a:srgbClr val="0000FF"/>
                </a:solidFill>
                <a:latin typeface="宋体" pitchFamily="2" charset="-122"/>
              </a:rPr>
              <a:t>  (1) </a:t>
            </a:r>
            <a:r>
              <a:rPr kumimoji="1" lang="zh-CN" altLang="en-US" sz="2400" b="1" dirty="0">
                <a:solidFill>
                  <a:srgbClr val="0000FF"/>
                </a:solidFill>
                <a:latin typeface="宋体" pitchFamily="2" charset="-122"/>
              </a:rPr>
              <a:t>在</a:t>
            </a:r>
            <a:r>
              <a:rPr kumimoji="1" lang="en-US" altLang="zh-CN" sz="2400" b="1" dirty="0">
                <a:solidFill>
                  <a:srgbClr val="0000FF"/>
                </a:solidFill>
                <a:latin typeface="宋体" pitchFamily="2" charset="-122"/>
              </a:rPr>
              <a:t>D</a:t>
            </a:r>
            <a:r>
              <a:rPr kumimoji="1" lang="zh-CN" altLang="en-US" sz="2400" b="1" dirty="0">
                <a:solidFill>
                  <a:srgbClr val="0000FF"/>
                </a:solidFill>
                <a:latin typeface="宋体" pitchFamily="2" charset="-122"/>
              </a:rPr>
              <a:t>中存在</a:t>
            </a:r>
            <a:r>
              <a:rPr kumimoji="1" lang="zh-CN" altLang="en-US" sz="2400" b="1" dirty="0">
                <a:solidFill>
                  <a:srgbClr val="FF0000"/>
                </a:solidFill>
                <a:latin typeface="宋体" pitchFamily="2" charset="-122"/>
              </a:rPr>
              <a:t>唯一</a:t>
            </a:r>
            <a:r>
              <a:rPr kumimoji="1" lang="zh-CN" altLang="en-US" sz="2400" b="1" dirty="0">
                <a:solidFill>
                  <a:srgbClr val="0000FF"/>
                </a:solidFill>
                <a:latin typeface="宋体" pitchFamily="2" charset="-122"/>
              </a:rPr>
              <a:t>的称为</a:t>
            </a:r>
            <a:r>
              <a:rPr kumimoji="1" lang="zh-CN" altLang="en-US" sz="2400" b="1" dirty="0">
                <a:solidFill>
                  <a:srgbClr val="FF0000"/>
                </a:solidFill>
                <a:latin typeface="宋体" pitchFamily="2" charset="-122"/>
              </a:rPr>
              <a:t>根</a:t>
            </a:r>
            <a:r>
              <a:rPr kumimoji="1" lang="zh-CN" altLang="en-US" sz="2400" b="1" dirty="0">
                <a:solidFill>
                  <a:srgbClr val="0000FF"/>
                </a:solidFill>
                <a:latin typeface="宋体" pitchFamily="2" charset="-122"/>
              </a:rPr>
              <a:t>的数据元素</a:t>
            </a:r>
            <a:r>
              <a:rPr kumimoji="1" lang="en-US" altLang="zh-CN" sz="2400" b="1" dirty="0">
                <a:solidFill>
                  <a:srgbClr val="0000FF"/>
                </a:solidFill>
                <a:latin typeface="宋体" pitchFamily="2" charset="-122"/>
              </a:rPr>
              <a:t>root</a:t>
            </a:r>
            <a:r>
              <a:rPr kumimoji="1" lang="zh-CN" altLang="en-US" sz="2400" b="1" dirty="0">
                <a:solidFill>
                  <a:srgbClr val="0000FF"/>
                </a:solidFill>
                <a:latin typeface="宋体" pitchFamily="2" charset="-122"/>
              </a:rPr>
              <a:t>；</a:t>
            </a:r>
          </a:p>
          <a:p>
            <a:pPr fontAlgn="base">
              <a:lnSpc>
                <a:spcPct val="125000"/>
              </a:lnSpc>
              <a:spcBef>
                <a:spcPct val="0"/>
              </a:spcBef>
              <a:spcAft>
                <a:spcPct val="0"/>
              </a:spcAft>
            </a:pPr>
            <a:r>
              <a:rPr kumimoji="1" lang="zh-CN" altLang="en-US" sz="2400" b="1" dirty="0">
                <a:solidFill>
                  <a:srgbClr val="0000FF"/>
                </a:solidFill>
                <a:latin typeface="宋体" pitchFamily="2" charset="-122"/>
              </a:rPr>
              <a:t>  </a:t>
            </a:r>
            <a:r>
              <a:rPr kumimoji="1" lang="en-US" altLang="zh-CN" sz="2400" b="1" dirty="0">
                <a:solidFill>
                  <a:srgbClr val="0000FF"/>
                </a:solidFill>
                <a:latin typeface="宋体" pitchFamily="2" charset="-122"/>
              </a:rPr>
              <a:t>(2) </a:t>
            </a:r>
            <a:r>
              <a:rPr kumimoji="1" lang="zh-CN" altLang="en-US" sz="2400" b="1" dirty="0">
                <a:solidFill>
                  <a:srgbClr val="0000FF"/>
                </a:solidFill>
                <a:latin typeface="宋体" pitchFamily="2" charset="-122"/>
              </a:rPr>
              <a:t>当</a:t>
            </a:r>
            <a:r>
              <a:rPr kumimoji="1" lang="en-US" altLang="zh-CN" sz="2400" b="1" dirty="0">
                <a:solidFill>
                  <a:srgbClr val="0000FF"/>
                </a:solidFill>
                <a:latin typeface="宋体" pitchFamily="2" charset="-122"/>
              </a:rPr>
              <a:t>n&gt;1</a:t>
            </a:r>
            <a:r>
              <a:rPr kumimoji="1" lang="zh-CN" altLang="en-US" sz="2400" b="1" dirty="0">
                <a:solidFill>
                  <a:srgbClr val="0000FF"/>
                </a:solidFill>
                <a:latin typeface="宋体" pitchFamily="2" charset="-122"/>
              </a:rPr>
              <a:t>时，其余结点可分为</a:t>
            </a:r>
            <a:r>
              <a:rPr kumimoji="1" lang="en-US" altLang="zh-CN" sz="2400" b="1" dirty="0">
                <a:solidFill>
                  <a:srgbClr val="0000FF"/>
                </a:solidFill>
                <a:latin typeface="宋体" pitchFamily="2" charset="-122"/>
              </a:rPr>
              <a:t>m(m&gt;0)</a:t>
            </a:r>
            <a:r>
              <a:rPr kumimoji="1" lang="zh-CN" altLang="en-US" sz="2400" b="1" dirty="0">
                <a:solidFill>
                  <a:srgbClr val="0000FF"/>
                </a:solidFill>
                <a:latin typeface="宋体" pitchFamily="2" charset="-122"/>
              </a:rPr>
              <a:t>个</a:t>
            </a:r>
            <a:r>
              <a:rPr kumimoji="1" lang="zh-CN" altLang="en-US" sz="2400" b="1" dirty="0">
                <a:solidFill>
                  <a:srgbClr val="FF0000"/>
                </a:solidFill>
                <a:latin typeface="宋体" pitchFamily="2" charset="-122"/>
              </a:rPr>
              <a:t>互不相交</a:t>
            </a:r>
            <a:r>
              <a:rPr kumimoji="1" lang="zh-CN" altLang="en-US" sz="2400" b="1" dirty="0">
                <a:solidFill>
                  <a:srgbClr val="0000FF"/>
                </a:solidFill>
                <a:latin typeface="宋体" pitchFamily="2" charset="-122"/>
              </a:rPr>
              <a:t>的有限集</a:t>
            </a:r>
            <a:r>
              <a:rPr kumimoji="1" lang="en-US" altLang="zh-CN" sz="2400" b="1" dirty="0">
                <a:solidFill>
                  <a:srgbClr val="0000FF"/>
                </a:solidFill>
                <a:latin typeface="宋体" pitchFamily="2" charset="-122"/>
              </a:rPr>
              <a:t>T</a:t>
            </a:r>
            <a:r>
              <a:rPr kumimoji="1" lang="en-US" altLang="zh-CN" sz="2400" b="1" baseline="-25000" dirty="0">
                <a:solidFill>
                  <a:srgbClr val="0000FF"/>
                </a:solidFill>
                <a:latin typeface="宋体" pitchFamily="2" charset="-122"/>
              </a:rPr>
              <a:t>1</a:t>
            </a:r>
            <a:r>
              <a:rPr kumimoji="1" lang="en-US" altLang="zh-CN" sz="2400" b="1" dirty="0">
                <a:solidFill>
                  <a:srgbClr val="0000FF"/>
                </a:solidFill>
                <a:latin typeface="宋体" pitchFamily="2" charset="-122"/>
              </a:rPr>
              <a:t>, T</a:t>
            </a:r>
            <a:r>
              <a:rPr kumimoji="1" lang="en-US" altLang="zh-CN" sz="2400" b="1" baseline="-25000" dirty="0">
                <a:solidFill>
                  <a:srgbClr val="0000FF"/>
                </a:solidFill>
                <a:latin typeface="宋体" pitchFamily="2" charset="-122"/>
              </a:rPr>
              <a:t>2</a:t>
            </a:r>
            <a:r>
              <a:rPr kumimoji="1" lang="en-US" altLang="zh-CN" sz="2400" b="1" dirty="0">
                <a:solidFill>
                  <a:srgbClr val="0000FF"/>
                </a:solidFill>
                <a:latin typeface="宋体" pitchFamily="2" charset="-122"/>
              </a:rPr>
              <a:t>, …, T</a:t>
            </a:r>
            <a:r>
              <a:rPr kumimoji="1" lang="en-US" altLang="zh-CN" sz="2400" b="1" baseline="-25000" dirty="0">
                <a:solidFill>
                  <a:srgbClr val="0000FF"/>
                </a:solidFill>
                <a:latin typeface="宋体" pitchFamily="2" charset="-122"/>
              </a:rPr>
              <a:t>m</a:t>
            </a:r>
            <a:r>
              <a:rPr kumimoji="1" lang="zh-CN" altLang="en-US" sz="2400" b="1" dirty="0">
                <a:solidFill>
                  <a:srgbClr val="0000FF"/>
                </a:solidFill>
                <a:latin typeface="宋体" pitchFamily="2" charset="-122"/>
              </a:rPr>
              <a:t>，其中每一棵子树本身又是一棵符合本定义的树，称为根</a:t>
            </a:r>
            <a:r>
              <a:rPr kumimoji="1" lang="en-US" altLang="zh-CN" sz="2400" b="1" dirty="0">
                <a:solidFill>
                  <a:srgbClr val="0000FF"/>
                </a:solidFill>
                <a:latin typeface="宋体" pitchFamily="2" charset="-122"/>
              </a:rPr>
              <a:t>root</a:t>
            </a:r>
            <a:r>
              <a:rPr kumimoji="1" lang="zh-CN" altLang="en-US" sz="2400" b="1" dirty="0">
                <a:solidFill>
                  <a:srgbClr val="0000FF"/>
                </a:solidFill>
                <a:latin typeface="宋体" pitchFamily="2" charset="-122"/>
              </a:rPr>
              <a:t>的子树。</a:t>
            </a:r>
          </a:p>
        </p:txBody>
      </p:sp>
      <p:sp>
        <p:nvSpPr>
          <p:cNvPr id="74" name="Text Box 65"/>
          <p:cNvSpPr txBox="1">
            <a:spLocks noChangeArrowheads="1"/>
          </p:cNvSpPr>
          <p:nvPr/>
        </p:nvSpPr>
        <p:spPr bwMode="auto">
          <a:xfrm>
            <a:off x="717550" y="2865357"/>
            <a:ext cx="2193229" cy="46166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400">
                <a:solidFill>
                  <a:srgbClr val="FF3300"/>
                </a:solidFill>
                <a:latin typeface="宋体" pitchFamily="2" charset="-122"/>
              </a:rPr>
              <a:t> </a:t>
            </a:r>
            <a:r>
              <a:rPr kumimoji="1" lang="zh-CN" altLang="en-US" sz="2400" b="1">
                <a:solidFill>
                  <a:srgbClr val="FF3300"/>
                </a:solidFill>
                <a:latin typeface="宋体" pitchFamily="2" charset="-122"/>
              </a:rPr>
              <a:t>数据关系 </a:t>
            </a:r>
            <a:r>
              <a:rPr kumimoji="1" lang="en-US" altLang="zh-CN" sz="2400">
                <a:solidFill>
                  <a:srgbClr val="FF3300"/>
                </a:solidFill>
                <a:latin typeface="宋体" pitchFamily="2" charset="-122"/>
              </a:rPr>
              <a:t>R</a:t>
            </a:r>
            <a:r>
              <a:rPr kumimoji="1" lang="zh-CN" altLang="en-US" sz="2400">
                <a:solidFill>
                  <a:srgbClr val="FF3300"/>
                </a:solidFill>
                <a:latin typeface="宋体" pitchFamily="2" charset="-122"/>
              </a:rPr>
              <a:t>：</a:t>
            </a:r>
          </a:p>
        </p:txBody>
      </p:sp>
      <p:sp>
        <p:nvSpPr>
          <p:cNvPr id="75" name="Text Box 66"/>
          <p:cNvSpPr txBox="1">
            <a:spLocks noChangeArrowheads="1"/>
          </p:cNvSpPr>
          <p:nvPr/>
        </p:nvSpPr>
        <p:spPr bwMode="auto">
          <a:xfrm>
            <a:off x="790575" y="1785857"/>
            <a:ext cx="1584088" cy="46166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2400" b="1" dirty="0">
                <a:solidFill>
                  <a:srgbClr val="0000FF"/>
                </a:solidFill>
                <a:latin typeface="宋体" pitchFamily="2" charset="-122"/>
              </a:rPr>
              <a:t>ADT Tree{</a:t>
            </a:r>
            <a:endParaRPr kumimoji="1" lang="zh-CN" altLang="en-US" sz="2400" b="1" dirty="0">
              <a:solidFill>
                <a:srgbClr val="0000FF"/>
              </a:solidFill>
              <a:latin typeface="宋体" pitchFamily="2" charset="-122"/>
            </a:endParaRPr>
          </a:p>
        </p:txBody>
      </p:sp>
    </p:spTree>
    <p:extLst>
      <p:ext uri="{BB962C8B-B14F-4D97-AF65-F5344CB8AC3E}">
        <p14:creationId xmlns:p14="http://schemas.microsoft.com/office/powerpoint/2010/main" val="2283242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800" b="1" dirty="0"/>
              <a:t>树的概念：</a:t>
            </a:r>
            <a:endParaRPr lang="en-US" altLang="zh-CN" sz="2800" b="1" dirty="0"/>
          </a:p>
        </p:txBody>
      </p:sp>
      <p:sp>
        <p:nvSpPr>
          <p:cNvPr id="4" name="日期占位符 3"/>
          <p:cNvSpPr>
            <a:spLocks noGrp="1"/>
          </p:cNvSpPr>
          <p:nvPr>
            <p:ph type="dt" sz="half" idx="10"/>
          </p:nvPr>
        </p:nvSpPr>
        <p:spPr/>
        <p:txBody>
          <a:bodyPr/>
          <a:lstStyle/>
          <a:p>
            <a:fld id="{FA77DA6E-88D1-4239-9D9B-0412C64C331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6" name="Text Box 4"/>
          <p:cNvSpPr txBox="1">
            <a:spLocks noChangeArrowheads="1"/>
          </p:cNvSpPr>
          <p:nvPr/>
        </p:nvSpPr>
        <p:spPr bwMode="auto">
          <a:xfrm>
            <a:off x="1079500" y="3429000"/>
            <a:ext cx="2040943" cy="46166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400" b="1" dirty="0">
                <a:solidFill>
                  <a:srgbClr val="FF3300"/>
                </a:solidFill>
                <a:latin typeface="宋体" pitchFamily="2" charset="-122"/>
              </a:rPr>
              <a:t>基本操作 </a:t>
            </a:r>
            <a:r>
              <a:rPr kumimoji="1" lang="en-US" altLang="zh-CN" sz="2400" b="1" dirty="0">
                <a:solidFill>
                  <a:srgbClr val="FF3300"/>
                </a:solidFill>
                <a:latin typeface="宋体" pitchFamily="2" charset="-122"/>
              </a:rPr>
              <a:t>P</a:t>
            </a:r>
            <a:r>
              <a:rPr kumimoji="1" lang="zh-CN" altLang="en-US" sz="2400" dirty="0">
                <a:solidFill>
                  <a:srgbClr val="FF3300"/>
                </a:solidFill>
                <a:latin typeface="宋体" pitchFamily="2" charset="-122"/>
              </a:rPr>
              <a:t>：</a:t>
            </a:r>
          </a:p>
        </p:txBody>
      </p:sp>
      <p:sp>
        <p:nvSpPr>
          <p:cNvPr id="17" name="Text Box 8"/>
          <p:cNvSpPr txBox="1">
            <a:spLocks noChangeArrowheads="1"/>
          </p:cNvSpPr>
          <p:nvPr/>
        </p:nvSpPr>
        <p:spPr bwMode="auto">
          <a:xfrm>
            <a:off x="863600" y="1711325"/>
            <a:ext cx="1584088" cy="46166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2400" b="1">
                <a:solidFill>
                  <a:srgbClr val="0000FF"/>
                </a:solidFill>
                <a:latin typeface="宋体" pitchFamily="2" charset="-122"/>
              </a:rPr>
              <a:t>ADT Tree{</a:t>
            </a:r>
            <a:endParaRPr kumimoji="1" lang="zh-CN" altLang="en-US" sz="2400" b="1">
              <a:solidFill>
                <a:srgbClr val="0000FF"/>
              </a:solidFill>
              <a:latin typeface="宋体" pitchFamily="2" charset="-122"/>
            </a:endParaRPr>
          </a:p>
        </p:txBody>
      </p:sp>
      <p:sp>
        <p:nvSpPr>
          <p:cNvPr id="19" name="Text Box 9">
            <a:hlinkClick r:id="" action="ppaction://hlinkshowjump?jump=nextslide"/>
          </p:cNvPr>
          <p:cNvSpPr txBox="1">
            <a:spLocks noChangeArrowheads="1"/>
          </p:cNvSpPr>
          <p:nvPr/>
        </p:nvSpPr>
        <p:spPr bwMode="auto">
          <a:xfrm>
            <a:off x="2590800" y="3962400"/>
            <a:ext cx="3429000" cy="523220"/>
          </a:xfrm>
          <a:prstGeom prst="rect">
            <a:avLst/>
          </a:prstGeom>
          <a:noFill/>
          <a:ln w="12700" cap="sq">
            <a:noFill/>
            <a:miter lim="800000"/>
            <a:headEnd type="none" w="sm" len="sm"/>
            <a:tailEnd type="none" w="sm" len="sm"/>
          </a:ln>
        </p:spPr>
        <p:txBody>
          <a:bodyPr>
            <a:spAutoFit/>
          </a:bodyPr>
          <a:lstStyle/>
          <a:p>
            <a:pPr fontAlgn="base">
              <a:spcBef>
                <a:spcPct val="0"/>
              </a:spcBef>
              <a:spcAft>
                <a:spcPct val="0"/>
              </a:spcAft>
            </a:pPr>
            <a:r>
              <a:rPr kumimoji="1" lang="zh-CN" altLang="en-US" sz="2800" b="1" dirty="0">
                <a:solidFill>
                  <a:srgbClr val="0000FF"/>
                </a:solidFill>
                <a:latin typeface="宋体" pitchFamily="2" charset="-122"/>
              </a:rPr>
              <a:t>查  找  类</a:t>
            </a:r>
          </a:p>
        </p:txBody>
      </p:sp>
      <p:sp>
        <p:nvSpPr>
          <p:cNvPr id="20" name="Text Box 10">
            <a:hlinkClick r:id="rId4" action="ppaction://hlinksldjump"/>
          </p:cNvPr>
          <p:cNvSpPr txBox="1">
            <a:spLocks noChangeArrowheads="1"/>
          </p:cNvSpPr>
          <p:nvPr/>
        </p:nvSpPr>
        <p:spPr bwMode="auto">
          <a:xfrm>
            <a:off x="2232025" y="4572000"/>
            <a:ext cx="2353529" cy="52322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800" b="1" dirty="0">
                <a:solidFill>
                  <a:srgbClr val="0000FF"/>
                </a:solidFill>
                <a:latin typeface="宋体" pitchFamily="2" charset="-122"/>
              </a:rPr>
              <a:t>  插  入  类</a:t>
            </a:r>
          </a:p>
        </p:txBody>
      </p:sp>
      <p:sp>
        <p:nvSpPr>
          <p:cNvPr id="21" name="Text Box 11">
            <a:hlinkClick r:id="rId5" action="ppaction://hlinksldjump"/>
          </p:cNvPr>
          <p:cNvSpPr txBox="1">
            <a:spLocks noChangeArrowheads="1"/>
          </p:cNvSpPr>
          <p:nvPr/>
        </p:nvSpPr>
        <p:spPr bwMode="auto">
          <a:xfrm>
            <a:off x="2663825" y="5257800"/>
            <a:ext cx="3311525" cy="954107"/>
          </a:xfrm>
          <a:prstGeom prst="rect">
            <a:avLst/>
          </a:prstGeom>
          <a:noFill/>
          <a:ln w="12700" cap="sq">
            <a:noFill/>
            <a:miter lim="800000"/>
            <a:headEnd type="none" w="sm" len="sm"/>
            <a:tailEnd type="none" w="sm" len="sm"/>
          </a:ln>
        </p:spPr>
        <p:txBody>
          <a:bodyPr>
            <a:spAutoFit/>
          </a:bodyPr>
          <a:lstStyle/>
          <a:p>
            <a:pPr fontAlgn="base">
              <a:spcBef>
                <a:spcPct val="0"/>
              </a:spcBef>
              <a:spcAft>
                <a:spcPct val="0"/>
              </a:spcAft>
            </a:pPr>
            <a:r>
              <a:rPr kumimoji="1" lang="zh-CN" altLang="en-US" sz="2800" b="1" dirty="0">
                <a:solidFill>
                  <a:srgbClr val="0000FF"/>
                </a:solidFill>
                <a:latin typeface="宋体" pitchFamily="2" charset="-122"/>
              </a:rPr>
              <a:t>删  除  类</a:t>
            </a:r>
          </a:p>
          <a:p>
            <a:pPr fontAlgn="base">
              <a:spcBef>
                <a:spcPct val="0"/>
              </a:spcBef>
              <a:spcAft>
                <a:spcPct val="0"/>
              </a:spcAft>
            </a:pPr>
            <a:r>
              <a:rPr kumimoji="1" lang="en-US" altLang="zh-CN" sz="2800" b="1" dirty="0">
                <a:solidFill>
                  <a:srgbClr val="0000FF"/>
                </a:solidFill>
                <a:latin typeface="宋体" pitchFamily="2" charset="-122"/>
              </a:rPr>
              <a:t>            }</a:t>
            </a:r>
          </a:p>
        </p:txBody>
      </p:sp>
      <p:sp>
        <p:nvSpPr>
          <p:cNvPr id="22" name="Text Box 12"/>
          <p:cNvSpPr txBox="1">
            <a:spLocks noChangeArrowheads="1"/>
          </p:cNvSpPr>
          <p:nvPr/>
        </p:nvSpPr>
        <p:spPr bwMode="auto">
          <a:xfrm>
            <a:off x="1079500" y="2359025"/>
            <a:ext cx="2039341" cy="46166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400" b="1">
                <a:solidFill>
                  <a:srgbClr val="FF3300"/>
                </a:solidFill>
                <a:latin typeface="宋体" pitchFamily="2" charset="-122"/>
              </a:rPr>
              <a:t>数据对象 </a:t>
            </a:r>
            <a:r>
              <a:rPr kumimoji="1" lang="en-US" altLang="zh-CN" sz="2400">
                <a:solidFill>
                  <a:srgbClr val="FF3300"/>
                </a:solidFill>
                <a:latin typeface="宋体" pitchFamily="2" charset="-122"/>
              </a:rPr>
              <a:t>D</a:t>
            </a:r>
            <a:r>
              <a:rPr kumimoji="1" lang="zh-CN" altLang="en-US" sz="2400">
                <a:solidFill>
                  <a:srgbClr val="FF3300"/>
                </a:solidFill>
                <a:latin typeface="宋体" pitchFamily="2" charset="-122"/>
              </a:rPr>
              <a:t>：</a:t>
            </a:r>
          </a:p>
        </p:txBody>
      </p:sp>
      <p:sp>
        <p:nvSpPr>
          <p:cNvPr id="23" name="Text Box 13"/>
          <p:cNvSpPr txBox="1">
            <a:spLocks noChangeArrowheads="1"/>
          </p:cNvSpPr>
          <p:nvPr/>
        </p:nvSpPr>
        <p:spPr bwMode="auto">
          <a:xfrm>
            <a:off x="931863" y="2895600"/>
            <a:ext cx="2193229" cy="46166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400" dirty="0">
                <a:solidFill>
                  <a:srgbClr val="FF3300"/>
                </a:solidFill>
                <a:latin typeface="宋体" pitchFamily="2" charset="-122"/>
              </a:rPr>
              <a:t> </a:t>
            </a:r>
            <a:r>
              <a:rPr kumimoji="1" lang="zh-CN" altLang="en-US" sz="2400" b="1" dirty="0">
                <a:solidFill>
                  <a:srgbClr val="FF3300"/>
                </a:solidFill>
                <a:latin typeface="宋体" pitchFamily="2" charset="-122"/>
              </a:rPr>
              <a:t>数据关系 </a:t>
            </a:r>
            <a:r>
              <a:rPr kumimoji="1" lang="en-US" altLang="zh-CN" sz="2400" dirty="0">
                <a:solidFill>
                  <a:srgbClr val="FF3300"/>
                </a:solidFill>
                <a:latin typeface="宋体" pitchFamily="2" charset="-122"/>
              </a:rPr>
              <a:t>R</a:t>
            </a:r>
            <a:r>
              <a:rPr kumimoji="1" lang="zh-CN" altLang="en-US" sz="2400" dirty="0">
                <a:solidFill>
                  <a:srgbClr val="FF3300"/>
                </a:solidFill>
                <a:latin typeface="宋体" pitchFamily="2" charset="-122"/>
              </a:rPr>
              <a:t>：</a:t>
            </a:r>
          </a:p>
        </p:txBody>
      </p:sp>
    </p:spTree>
    <p:extLst>
      <p:ext uri="{BB962C8B-B14F-4D97-AF65-F5344CB8AC3E}">
        <p14:creationId xmlns:p14="http://schemas.microsoft.com/office/powerpoint/2010/main" val="2434694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0"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800" b="1" dirty="0"/>
              <a:t>树的概念：</a:t>
            </a:r>
            <a:endParaRPr lang="en-US" altLang="zh-CN" sz="2800" b="1" dirty="0"/>
          </a:p>
        </p:txBody>
      </p:sp>
      <p:sp>
        <p:nvSpPr>
          <p:cNvPr id="4" name="日期占位符 3"/>
          <p:cNvSpPr>
            <a:spLocks noGrp="1"/>
          </p:cNvSpPr>
          <p:nvPr>
            <p:ph type="dt" sz="half" idx="10"/>
          </p:nvPr>
        </p:nvSpPr>
        <p:spPr/>
        <p:txBody>
          <a:bodyPr/>
          <a:lstStyle/>
          <a:p>
            <a:fld id="{9159B16B-EC5D-48A1-BE97-2077D2C30BFC}"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24" name="Text Box 11"/>
          <p:cNvSpPr txBox="1">
            <a:spLocks noChangeArrowheads="1"/>
          </p:cNvSpPr>
          <p:nvPr/>
        </p:nvSpPr>
        <p:spPr bwMode="auto">
          <a:xfrm>
            <a:off x="457200" y="2667000"/>
            <a:ext cx="3805850" cy="461665"/>
          </a:xfrm>
          <a:prstGeom prst="rect">
            <a:avLst/>
          </a:prstGeom>
          <a:noFill/>
          <a:ln w="12700" cap="sq">
            <a:noFill/>
            <a:miter lim="800000"/>
            <a:headEnd type="none" w="sm" len="sm"/>
            <a:tailEnd type="none" w="sm" len="sm"/>
          </a:ln>
        </p:spPr>
        <p:txBody>
          <a:bodyPr wrap="none">
            <a:spAutoFit/>
          </a:bodyPr>
          <a:lstStyle/>
          <a:p>
            <a:pPr fontAlgn="base">
              <a:lnSpc>
                <a:spcPct val="120000"/>
              </a:lnSpc>
              <a:spcBef>
                <a:spcPct val="0"/>
              </a:spcBef>
              <a:spcAft>
                <a:spcPct val="0"/>
              </a:spcAft>
            </a:pPr>
            <a:r>
              <a:rPr kumimoji="1" lang="zh-CN" altLang="en-US" sz="2000" dirty="0">
                <a:solidFill>
                  <a:srgbClr val="0000FF"/>
                </a:solidFill>
                <a:latin typeface="宋体" pitchFamily="2" charset="-122"/>
              </a:rPr>
              <a:t>   </a:t>
            </a:r>
            <a:r>
              <a:rPr kumimoji="1" lang="en-US" altLang="zh-CN" sz="2000" b="1" dirty="0">
                <a:solidFill>
                  <a:srgbClr val="0000FF"/>
                </a:solidFill>
                <a:latin typeface="宋体" pitchFamily="2" charset="-122"/>
              </a:rPr>
              <a:t>Root(T) </a:t>
            </a:r>
            <a:r>
              <a:rPr kumimoji="1" lang="en-US" altLang="zh-CN" sz="2000" b="1" dirty="0">
                <a:solidFill>
                  <a:srgbClr val="000000"/>
                </a:solidFill>
                <a:latin typeface="宋体" pitchFamily="2" charset="-122"/>
              </a:rPr>
              <a:t>// </a:t>
            </a:r>
            <a:r>
              <a:rPr kumimoji="1" lang="zh-CN" altLang="en-US" sz="2000" b="1" dirty="0">
                <a:solidFill>
                  <a:srgbClr val="000000"/>
                </a:solidFill>
                <a:latin typeface="宋体" pitchFamily="2" charset="-122"/>
              </a:rPr>
              <a:t>求树的根结点  </a:t>
            </a:r>
          </a:p>
        </p:txBody>
      </p:sp>
      <p:sp>
        <p:nvSpPr>
          <p:cNvPr id="25" name="Text Box 12"/>
          <p:cNvSpPr txBox="1">
            <a:spLocks noChangeArrowheads="1"/>
          </p:cNvSpPr>
          <p:nvPr/>
        </p:nvSpPr>
        <p:spPr bwMode="auto">
          <a:xfrm>
            <a:off x="962025" y="1905000"/>
            <a:ext cx="1422184" cy="461665"/>
          </a:xfrm>
          <a:prstGeom prst="rect">
            <a:avLst/>
          </a:prstGeom>
          <a:noFill/>
          <a:ln w="12700" cap="sq">
            <a:solidFill>
              <a:srgbClr val="336600"/>
            </a:solidFill>
            <a:miter lim="800000"/>
            <a:headEnd type="none" w="sm" len="sm"/>
            <a:tailEnd type="none" w="sm" len="sm"/>
          </a:ln>
        </p:spPr>
        <p:txBody>
          <a:bodyPr wrap="none">
            <a:spAutoFit/>
          </a:bodyPr>
          <a:lstStyle/>
          <a:p>
            <a:pPr fontAlgn="base">
              <a:spcBef>
                <a:spcPct val="0"/>
              </a:spcBef>
              <a:spcAft>
                <a:spcPct val="0"/>
              </a:spcAft>
            </a:pPr>
            <a:r>
              <a:rPr kumimoji="1" lang="zh-CN" altLang="en-US" sz="2400" b="1">
                <a:solidFill>
                  <a:srgbClr val="FF3300"/>
                </a:solidFill>
                <a:latin typeface="宋体" pitchFamily="2" charset="-122"/>
              </a:rPr>
              <a:t>查找类：</a:t>
            </a:r>
          </a:p>
        </p:txBody>
      </p:sp>
      <p:sp>
        <p:nvSpPr>
          <p:cNvPr id="26" name="Text Box 13"/>
          <p:cNvSpPr txBox="1">
            <a:spLocks noChangeArrowheads="1"/>
          </p:cNvSpPr>
          <p:nvPr/>
        </p:nvSpPr>
        <p:spPr bwMode="auto">
          <a:xfrm>
            <a:off x="817563" y="3200400"/>
            <a:ext cx="5104282" cy="461665"/>
          </a:xfrm>
          <a:prstGeom prst="rect">
            <a:avLst/>
          </a:prstGeom>
          <a:noFill/>
          <a:ln w="12700" cap="sq">
            <a:noFill/>
            <a:miter lim="800000"/>
            <a:headEnd type="none" w="sm" len="sm"/>
            <a:tailEnd type="none" w="sm" len="sm"/>
          </a:ln>
        </p:spPr>
        <p:txBody>
          <a:bodyPr wrap="none">
            <a:spAutoFit/>
          </a:bodyPr>
          <a:lstStyle/>
          <a:p>
            <a:pPr fontAlgn="base">
              <a:lnSpc>
                <a:spcPct val="120000"/>
              </a:lnSpc>
              <a:spcBef>
                <a:spcPct val="0"/>
              </a:spcBef>
              <a:spcAft>
                <a:spcPct val="0"/>
              </a:spcAft>
            </a:pPr>
            <a:r>
              <a:rPr kumimoji="1" lang="en-US" altLang="zh-CN" sz="2000" b="1" dirty="0">
                <a:solidFill>
                  <a:srgbClr val="0000FF"/>
                </a:solidFill>
                <a:latin typeface="宋体" pitchFamily="2" charset="-122"/>
              </a:rPr>
              <a:t>Value(T, </a:t>
            </a:r>
            <a:r>
              <a:rPr kumimoji="1" lang="en-US" altLang="zh-CN" sz="2000" b="1" dirty="0" err="1">
                <a:solidFill>
                  <a:srgbClr val="0000FF"/>
                </a:solidFill>
                <a:latin typeface="宋体" pitchFamily="2" charset="-122"/>
              </a:rPr>
              <a:t>cur_e</a:t>
            </a:r>
            <a:r>
              <a:rPr kumimoji="1" lang="en-US" altLang="zh-CN" sz="2000" b="1" dirty="0">
                <a:solidFill>
                  <a:srgbClr val="0000FF"/>
                </a:solidFill>
                <a:latin typeface="宋体" pitchFamily="2" charset="-122"/>
              </a:rPr>
              <a:t>) </a:t>
            </a:r>
            <a:r>
              <a:rPr kumimoji="1" lang="en-US" altLang="zh-CN" sz="2000" b="1" dirty="0">
                <a:solidFill>
                  <a:srgbClr val="000000"/>
                </a:solidFill>
                <a:latin typeface="宋体" pitchFamily="2" charset="-122"/>
              </a:rPr>
              <a:t>// </a:t>
            </a:r>
            <a:r>
              <a:rPr kumimoji="1" lang="zh-CN" altLang="en-US" sz="2000" b="1" dirty="0">
                <a:solidFill>
                  <a:srgbClr val="000000"/>
                </a:solidFill>
                <a:latin typeface="宋体" pitchFamily="2" charset="-122"/>
              </a:rPr>
              <a:t>求当前结点的元素值 </a:t>
            </a:r>
          </a:p>
        </p:txBody>
      </p:sp>
      <p:sp>
        <p:nvSpPr>
          <p:cNvPr id="27" name="Text Box 14"/>
          <p:cNvSpPr txBox="1">
            <a:spLocks noChangeArrowheads="1"/>
          </p:cNvSpPr>
          <p:nvPr/>
        </p:nvSpPr>
        <p:spPr bwMode="auto">
          <a:xfrm>
            <a:off x="890588" y="3630452"/>
            <a:ext cx="5362365" cy="412613"/>
          </a:xfrm>
          <a:prstGeom prst="rect">
            <a:avLst/>
          </a:prstGeom>
          <a:noFill/>
          <a:ln w="12700" cap="sq">
            <a:noFill/>
            <a:miter lim="800000"/>
            <a:headEnd type="none" w="sm" len="sm"/>
            <a:tailEnd type="none" w="sm" len="sm"/>
          </a:ln>
        </p:spPr>
        <p:txBody>
          <a:bodyPr wrap="none">
            <a:spAutoFit/>
          </a:bodyPr>
          <a:lstStyle/>
          <a:p>
            <a:pPr fontAlgn="base">
              <a:lnSpc>
                <a:spcPct val="120000"/>
              </a:lnSpc>
              <a:spcBef>
                <a:spcPct val="0"/>
              </a:spcBef>
              <a:spcAft>
                <a:spcPct val="0"/>
              </a:spcAft>
            </a:pPr>
            <a:r>
              <a:rPr kumimoji="1" lang="en-US" altLang="zh-CN" sz="2000" b="1" dirty="0">
                <a:solidFill>
                  <a:srgbClr val="0000FF"/>
                </a:solidFill>
                <a:latin typeface="宋体" pitchFamily="2" charset="-122"/>
              </a:rPr>
              <a:t>Parent(T, </a:t>
            </a:r>
            <a:r>
              <a:rPr kumimoji="1" lang="en-US" altLang="zh-CN" sz="2000" b="1" dirty="0" err="1">
                <a:solidFill>
                  <a:srgbClr val="0000FF"/>
                </a:solidFill>
                <a:latin typeface="宋体" pitchFamily="2" charset="-122"/>
              </a:rPr>
              <a:t>cur_e</a:t>
            </a:r>
            <a:r>
              <a:rPr kumimoji="1" lang="en-US" altLang="zh-CN" sz="2000" b="1" dirty="0">
                <a:solidFill>
                  <a:srgbClr val="0000FF"/>
                </a:solidFill>
                <a:latin typeface="宋体" pitchFamily="2" charset="-122"/>
              </a:rPr>
              <a:t>) </a:t>
            </a:r>
            <a:r>
              <a:rPr kumimoji="1" lang="en-US" altLang="zh-CN" sz="2000" b="1" dirty="0">
                <a:solidFill>
                  <a:srgbClr val="000000"/>
                </a:solidFill>
                <a:latin typeface="宋体" pitchFamily="2" charset="-122"/>
              </a:rPr>
              <a:t>// </a:t>
            </a:r>
            <a:r>
              <a:rPr kumimoji="1" lang="zh-CN" altLang="en-US" sz="2000" b="1" dirty="0">
                <a:solidFill>
                  <a:srgbClr val="000000"/>
                </a:solidFill>
                <a:latin typeface="宋体" pitchFamily="2" charset="-122"/>
              </a:rPr>
              <a:t>求当前结点的双亲结点</a:t>
            </a:r>
          </a:p>
        </p:txBody>
      </p:sp>
      <p:sp>
        <p:nvSpPr>
          <p:cNvPr id="28" name="Text Box 15"/>
          <p:cNvSpPr txBox="1">
            <a:spLocks noChangeArrowheads="1"/>
          </p:cNvSpPr>
          <p:nvPr/>
        </p:nvSpPr>
        <p:spPr bwMode="auto">
          <a:xfrm>
            <a:off x="817563" y="4043065"/>
            <a:ext cx="5881738" cy="412613"/>
          </a:xfrm>
          <a:prstGeom prst="rect">
            <a:avLst/>
          </a:prstGeom>
          <a:noFill/>
          <a:ln w="12700" cap="sq">
            <a:noFill/>
            <a:miter lim="800000"/>
            <a:headEnd type="none" w="sm" len="sm"/>
            <a:tailEnd type="none" w="sm" len="sm"/>
          </a:ln>
        </p:spPr>
        <p:txBody>
          <a:bodyPr wrap="none">
            <a:spAutoFit/>
          </a:bodyPr>
          <a:lstStyle/>
          <a:p>
            <a:pPr fontAlgn="base">
              <a:lnSpc>
                <a:spcPct val="120000"/>
              </a:lnSpc>
              <a:spcBef>
                <a:spcPct val="0"/>
              </a:spcBef>
              <a:spcAft>
                <a:spcPct val="0"/>
              </a:spcAft>
            </a:pPr>
            <a:r>
              <a:rPr kumimoji="1" lang="en-US" altLang="zh-CN" sz="2000" b="1" dirty="0" err="1">
                <a:solidFill>
                  <a:srgbClr val="0000FF"/>
                </a:solidFill>
                <a:latin typeface="宋体" pitchFamily="2" charset="-122"/>
              </a:rPr>
              <a:t>LeftChild</a:t>
            </a:r>
            <a:r>
              <a:rPr kumimoji="1" lang="en-US" altLang="zh-CN" sz="2000" b="1" dirty="0">
                <a:solidFill>
                  <a:srgbClr val="0000FF"/>
                </a:solidFill>
                <a:latin typeface="宋体" pitchFamily="2" charset="-122"/>
              </a:rPr>
              <a:t>(T, </a:t>
            </a:r>
            <a:r>
              <a:rPr kumimoji="1" lang="en-US" altLang="zh-CN" sz="2000" b="1" dirty="0" err="1">
                <a:solidFill>
                  <a:srgbClr val="0000FF"/>
                </a:solidFill>
                <a:latin typeface="宋体" pitchFamily="2" charset="-122"/>
              </a:rPr>
              <a:t>cur_e</a:t>
            </a:r>
            <a:r>
              <a:rPr kumimoji="1" lang="en-US" altLang="zh-CN" sz="2000" b="1" dirty="0">
                <a:solidFill>
                  <a:srgbClr val="0000FF"/>
                </a:solidFill>
                <a:latin typeface="宋体" pitchFamily="2" charset="-122"/>
              </a:rPr>
              <a:t>) </a:t>
            </a:r>
            <a:r>
              <a:rPr kumimoji="1" lang="en-US" altLang="zh-CN" sz="2000" b="1" dirty="0">
                <a:solidFill>
                  <a:srgbClr val="000000"/>
                </a:solidFill>
                <a:latin typeface="宋体" pitchFamily="2" charset="-122"/>
              </a:rPr>
              <a:t>// </a:t>
            </a:r>
            <a:r>
              <a:rPr kumimoji="1" lang="zh-CN" altLang="en-US" sz="2000" b="1" dirty="0">
                <a:solidFill>
                  <a:srgbClr val="000000"/>
                </a:solidFill>
                <a:latin typeface="宋体" pitchFamily="2" charset="-122"/>
              </a:rPr>
              <a:t>求当前结点的最左孩子</a:t>
            </a:r>
            <a:r>
              <a:rPr kumimoji="1" lang="zh-CN" altLang="en-US" sz="2000" b="1" dirty="0">
                <a:solidFill>
                  <a:srgbClr val="0000FF"/>
                </a:solidFill>
                <a:latin typeface="宋体" pitchFamily="2" charset="-122"/>
              </a:rPr>
              <a:t> </a:t>
            </a:r>
          </a:p>
        </p:txBody>
      </p:sp>
      <p:sp>
        <p:nvSpPr>
          <p:cNvPr id="29" name="Text Box 16"/>
          <p:cNvSpPr txBox="1">
            <a:spLocks noChangeArrowheads="1"/>
          </p:cNvSpPr>
          <p:nvPr/>
        </p:nvSpPr>
        <p:spPr bwMode="auto">
          <a:xfrm>
            <a:off x="847725" y="4495800"/>
            <a:ext cx="6013185" cy="461665"/>
          </a:xfrm>
          <a:prstGeom prst="rect">
            <a:avLst/>
          </a:prstGeom>
          <a:noFill/>
          <a:ln w="12700" cap="sq">
            <a:noFill/>
            <a:miter lim="800000"/>
            <a:headEnd type="none" w="sm" len="sm"/>
            <a:tailEnd type="none" w="sm" len="sm"/>
          </a:ln>
        </p:spPr>
        <p:txBody>
          <a:bodyPr wrap="none">
            <a:spAutoFit/>
          </a:bodyPr>
          <a:lstStyle/>
          <a:p>
            <a:pPr fontAlgn="base">
              <a:lnSpc>
                <a:spcPct val="120000"/>
              </a:lnSpc>
              <a:spcBef>
                <a:spcPct val="0"/>
              </a:spcBef>
              <a:spcAft>
                <a:spcPct val="0"/>
              </a:spcAft>
            </a:pPr>
            <a:r>
              <a:rPr kumimoji="1" lang="en-US" altLang="zh-CN" sz="2000" b="1">
                <a:solidFill>
                  <a:srgbClr val="0000FF"/>
                </a:solidFill>
                <a:latin typeface="宋体" pitchFamily="2" charset="-122"/>
              </a:rPr>
              <a:t>RightSibling(T, cur_e)  </a:t>
            </a:r>
            <a:r>
              <a:rPr kumimoji="1" lang="en-US" altLang="zh-CN" sz="2000" b="1">
                <a:solidFill>
                  <a:srgbClr val="000000"/>
                </a:solidFill>
                <a:latin typeface="宋体" pitchFamily="2" charset="-122"/>
              </a:rPr>
              <a:t>// </a:t>
            </a:r>
            <a:r>
              <a:rPr kumimoji="1" lang="zh-CN" altLang="en-US" sz="2000" b="1">
                <a:solidFill>
                  <a:srgbClr val="000000"/>
                </a:solidFill>
                <a:latin typeface="宋体" pitchFamily="2" charset="-122"/>
              </a:rPr>
              <a:t>求当前结点的右兄弟</a:t>
            </a:r>
          </a:p>
        </p:txBody>
      </p:sp>
      <p:sp>
        <p:nvSpPr>
          <p:cNvPr id="30" name="Text Box 17"/>
          <p:cNvSpPr txBox="1">
            <a:spLocks noChangeArrowheads="1"/>
          </p:cNvSpPr>
          <p:nvPr/>
        </p:nvSpPr>
        <p:spPr bwMode="auto">
          <a:xfrm>
            <a:off x="854075" y="4905375"/>
            <a:ext cx="4586512" cy="461665"/>
          </a:xfrm>
          <a:prstGeom prst="rect">
            <a:avLst/>
          </a:prstGeom>
          <a:noFill/>
          <a:ln w="12700" cap="sq">
            <a:noFill/>
            <a:miter lim="800000"/>
            <a:headEnd type="none" w="sm" len="sm"/>
            <a:tailEnd type="none" w="sm" len="sm"/>
          </a:ln>
        </p:spPr>
        <p:txBody>
          <a:bodyPr wrap="none">
            <a:spAutoFit/>
          </a:bodyPr>
          <a:lstStyle/>
          <a:p>
            <a:pPr fontAlgn="base">
              <a:lnSpc>
                <a:spcPct val="120000"/>
              </a:lnSpc>
              <a:spcBef>
                <a:spcPct val="0"/>
              </a:spcBef>
              <a:spcAft>
                <a:spcPct val="0"/>
              </a:spcAft>
            </a:pPr>
            <a:r>
              <a:rPr kumimoji="1" lang="en-US" altLang="zh-CN" sz="2000" b="1">
                <a:solidFill>
                  <a:srgbClr val="0000FF"/>
                </a:solidFill>
                <a:latin typeface="宋体" pitchFamily="2" charset="-122"/>
              </a:rPr>
              <a:t>TreeEmpty(T)  </a:t>
            </a:r>
            <a:r>
              <a:rPr kumimoji="1" lang="en-US" altLang="zh-CN" sz="2000" b="1">
                <a:solidFill>
                  <a:srgbClr val="000000"/>
                </a:solidFill>
                <a:latin typeface="宋体" pitchFamily="2" charset="-122"/>
              </a:rPr>
              <a:t>// </a:t>
            </a:r>
            <a:r>
              <a:rPr kumimoji="1" lang="zh-CN" altLang="en-US" sz="2000" b="1">
                <a:solidFill>
                  <a:srgbClr val="000000"/>
                </a:solidFill>
                <a:latin typeface="宋体" pitchFamily="2" charset="-122"/>
              </a:rPr>
              <a:t>判定树是否为空树</a:t>
            </a:r>
            <a:r>
              <a:rPr kumimoji="1" lang="zh-CN" altLang="en-US" sz="2000" b="1">
                <a:solidFill>
                  <a:srgbClr val="0000FF"/>
                </a:solidFill>
                <a:latin typeface="宋体" pitchFamily="2" charset="-122"/>
              </a:rPr>
              <a:t> </a:t>
            </a:r>
          </a:p>
        </p:txBody>
      </p:sp>
      <p:sp>
        <p:nvSpPr>
          <p:cNvPr id="31" name="Text Box 18"/>
          <p:cNvSpPr txBox="1">
            <a:spLocks noChangeArrowheads="1"/>
          </p:cNvSpPr>
          <p:nvPr/>
        </p:nvSpPr>
        <p:spPr bwMode="auto">
          <a:xfrm>
            <a:off x="847725" y="5410200"/>
            <a:ext cx="3682418" cy="461665"/>
          </a:xfrm>
          <a:prstGeom prst="rect">
            <a:avLst/>
          </a:prstGeom>
          <a:noFill/>
          <a:ln w="12700" cap="sq">
            <a:noFill/>
            <a:miter lim="800000"/>
            <a:headEnd type="none" w="sm" len="sm"/>
            <a:tailEnd type="none" w="sm" len="sm"/>
          </a:ln>
        </p:spPr>
        <p:txBody>
          <a:bodyPr wrap="none">
            <a:spAutoFit/>
          </a:bodyPr>
          <a:lstStyle/>
          <a:p>
            <a:pPr fontAlgn="base">
              <a:lnSpc>
                <a:spcPct val="120000"/>
              </a:lnSpc>
              <a:spcBef>
                <a:spcPct val="0"/>
              </a:spcBef>
              <a:spcAft>
                <a:spcPct val="0"/>
              </a:spcAft>
            </a:pPr>
            <a:r>
              <a:rPr kumimoji="1" lang="en-US" altLang="zh-CN" sz="2000" b="1">
                <a:solidFill>
                  <a:srgbClr val="0000FF"/>
                </a:solidFill>
                <a:latin typeface="宋体" pitchFamily="2" charset="-122"/>
              </a:rPr>
              <a:t>TreeDepth(T)  </a:t>
            </a:r>
            <a:r>
              <a:rPr kumimoji="1" lang="en-US" altLang="zh-CN" sz="2000" b="1">
                <a:solidFill>
                  <a:srgbClr val="000000"/>
                </a:solidFill>
                <a:latin typeface="宋体" pitchFamily="2" charset="-122"/>
              </a:rPr>
              <a:t>// </a:t>
            </a:r>
            <a:r>
              <a:rPr kumimoji="1" lang="zh-CN" altLang="en-US" sz="2000" b="1">
                <a:solidFill>
                  <a:srgbClr val="000000"/>
                </a:solidFill>
                <a:latin typeface="宋体" pitchFamily="2" charset="-122"/>
              </a:rPr>
              <a:t>求树的深度</a:t>
            </a:r>
          </a:p>
        </p:txBody>
      </p:sp>
      <p:sp>
        <p:nvSpPr>
          <p:cNvPr id="32" name="Text Box 19"/>
          <p:cNvSpPr txBox="1">
            <a:spLocks noChangeArrowheads="1"/>
          </p:cNvSpPr>
          <p:nvPr/>
        </p:nvSpPr>
        <p:spPr bwMode="auto">
          <a:xfrm>
            <a:off x="815975" y="5852755"/>
            <a:ext cx="4725974" cy="40011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2000" b="1">
                <a:solidFill>
                  <a:srgbClr val="0000FF"/>
                </a:solidFill>
                <a:latin typeface="宋体" pitchFamily="2" charset="-122"/>
              </a:rPr>
              <a:t>TraverseTree( T, Visit() )  </a:t>
            </a:r>
            <a:r>
              <a:rPr kumimoji="1" lang="en-US" altLang="zh-CN" sz="2000" b="1">
                <a:solidFill>
                  <a:srgbClr val="000000"/>
                </a:solidFill>
                <a:latin typeface="宋体" pitchFamily="2" charset="-122"/>
              </a:rPr>
              <a:t>// </a:t>
            </a:r>
            <a:r>
              <a:rPr kumimoji="1" lang="zh-CN" altLang="zh-CN" sz="2000" b="1">
                <a:solidFill>
                  <a:srgbClr val="000000"/>
                </a:solidFill>
                <a:latin typeface="宋体" pitchFamily="2" charset="-122"/>
              </a:rPr>
              <a:t>遍历</a:t>
            </a:r>
            <a:endParaRPr kumimoji="1" lang="zh-CN" altLang="en-US" sz="2000" b="1">
              <a:solidFill>
                <a:srgbClr val="000000"/>
              </a:solidFill>
              <a:latin typeface="宋体" pitchFamily="2" charset="-122"/>
            </a:endParaRPr>
          </a:p>
        </p:txBody>
      </p:sp>
    </p:spTree>
    <p:extLst>
      <p:ext uri="{BB962C8B-B14F-4D97-AF65-F5344CB8AC3E}">
        <p14:creationId xmlns:p14="http://schemas.microsoft.com/office/powerpoint/2010/main" val="1836846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utoUpdateAnimBg="0"/>
      <p:bldP spid="26" grpId="0" autoUpdateAnimBg="0"/>
      <p:bldP spid="27" grpId="0" autoUpdateAnimBg="0"/>
      <p:bldP spid="28" grpId="0" autoUpdateAnimBg="0"/>
      <p:bldP spid="29" grpId="0" autoUpdateAnimBg="0"/>
      <p:bldP spid="30" grpId="0" autoUpdateAnimBg="0"/>
      <p:bldP spid="31" grpId="0" autoUpdateAnimBg="0"/>
      <p:bldP spid="32"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800" b="1" dirty="0"/>
              <a:t>树的概念：</a:t>
            </a:r>
            <a:endParaRPr lang="en-US" altLang="zh-CN" sz="2800" b="1" dirty="0"/>
          </a:p>
        </p:txBody>
      </p:sp>
      <p:sp>
        <p:nvSpPr>
          <p:cNvPr id="4" name="日期占位符 3"/>
          <p:cNvSpPr>
            <a:spLocks noGrp="1"/>
          </p:cNvSpPr>
          <p:nvPr>
            <p:ph type="dt" sz="half" idx="10"/>
          </p:nvPr>
        </p:nvSpPr>
        <p:spPr/>
        <p:txBody>
          <a:bodyPr/>
          <a:lstStyle/>
          <a:p>
            <a:fld id="{577AF814-AEC3-4FE7-8536-B669088782AC}"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21" name="Text Box 5"/>
          <p:cNvSpPr txBox="1">
            <a:spLocks noChangeArrowheads="1"/>
          </p:cNvSpPr>
          <p:nvPr/>
        </p:nvSpPr>
        <p:spPr bwMode="auto">
          <a:xfrm>
            <a:off x="835025" y="1914525"/>
            <a:ext cx="1625600" cy="531813"/>
          </a:xfrm>
          <a:prstGeom prst="rect">
            <a:avLst/>
          </a:prstGeom>
          <a:noFill/>
          <a:ln w="12700" cap="sq">
            <a:solidFill>
              <a:srgbClr val="336600"/>
            </a:solidFill>
            <a:miter lim="800000"/>
            <a:headEnd type="none" w="sm" len="sm"/>
            <a:tailEnd type="none" w="sm" len="sm"/>
          </a:ln>
        </p:spPr>
        <p:txBody>
          <a:bodyPr wrap="none">
            <a:spAutoFit/>
          </a:bodyPr>
          <a:lstStyle/>
          <a:p>
            <a:pPr fontAlgn="base">
              <a:spcBef>
                <a:spcPct val="0"/>
              </a:spcBef>
              <a:spcAft>
                <a:spcPct val="0"/>
              </a:spcAft>
            </a:pPr>
            <a:r>
              <a:rPr kumimoji="1" lang="zh-CN" altLang="en-US" sz="2800" b="1">
                <a:solidFill>
                  <a:srgbClr val="FF3300"/>
                </a:solidFill>
                <a:latin typeface="宋体" pitchFamily="2" charset="-122"/>
              </a:rPr>
              <a:t>插入类：</a:t>
            </a:r>
          </a:p>
        </p:txBody>
      </p:sp>
      <p:sp>
        <p:nvSpPr>
          <p:cNvPr id="22" name="Text Box 14"/>
          <p:cNvSpPr txBox="1">
            <a:spLocks noChangeArrowheads="1"/>
          </p:cNvSpPr>
          <p:nvPr/>
        </p:nvSpPr>
        <p:spPr bwMode="auto">
          <a:xfrm>
            <a:off x="481013" y="2630488"/>
            <a:ext cx="5303837" cy="604837"/>
          </a:xfrm>
          <a:prstGeom prst="rect">
            <a:avLst/>
          </a:prstGeom>
          <a:noFill/>
          <a:ln w="12700" cap="sq">
            <a:noFill/>
            <a:miter lim="800000"/>
            <a:headEnd type="none" w="sm" len="sm"/>
            <a:tailEnd type="none" w="sm" len="sm"/>
          </a:ln>
        </p:spPr>
        <p:txBody>
          <a:bodyPr wrap="none">
            <a:spAutoFit/>
          </a:bodyPr>
          <a:lstStyle/>
          <a:p>
            <a:pPr fontAlgn="base">
              <a:lnSpc>
                <a:spcPct val="120000"/>
              </a:lnSpc>
              <a:spcBef>
                <a:spcPct val="0"/>
              </a:spcBef>
              <a:spcAft>
                <a:spcPct val="0"/>
              </a:spcAft>
            </a:pPr>
            <a:r>
              <a:rPr kumimoji="1" lang="en-US" altLang="zh-CN" sz="2800" b="1">
                <a:solidFill>
                  <a:srgbClr val="0000FF"/>
                </a:solidFill>
                <a:latin typeface="宋体" pitchFamily="2" charset="-122"/>
              </a:rPr>
              <a:t>InitTree(&amp;T)  </a:t>
            </a:r>
            <a:r>
              <a:rPr kumimoji="1" lang="en-US" altLang="zh-CN" sz="2400" b="1">
                <a:solidFill>
                  <a:srgbClr val="000000"/>
                </a:solidFill>
                <a:latin typeface="宋体" pitchFamily="2" charset="-122"/>
              </a:rPr>
              <a:t>// </a:t>
            </a:r>
            <a:r>
              <a:rPr kumimoji="1" lang="zh-CN" altLang="en-US" sz="2400" b="1">
                <a:solidFill>
                  <a:srgbClr val="000000"/>
                </a:solidFill>
                <a:latin typeface="宋体" pitchFamily="2" charset="-122"/>
              </a:rPr>
              <a:t>初始化置空树  </a:t>
            </a:r>
          </a:p>
        </p:txBody>
      </p:sp>
      <p:sp>
        <p:nvSpPr>
          <p:cNvPr id="23" name="Text Box 16"/>
          <p:cNvSpPr txBox="1">
            <a:spLocks noChangeArrowheads="1"/>
          </p:cNvSpPr>
          <p:nvPr/>
        </p:nvSpPr>
        <p:spPr bwMode="auto">
          <a:xfrm>
            <a:off x="433388" y="3441700"/>
            <a:ext cx="7686675" cy="519113"/>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2800" b="1">
                <a:solidFill>
                  <a:srgbClr val="0000FF"/>
                </a:solidFill>
                <a:latin typeface="宋体" pitchFamily="2" charset="-122"/>
              </a:rPr>
              <a:t>CreateTree(&amp;T, definition)   </a:t>
            </a:r>
            <a:r>
              <a:rPr kumimoji="1" lang="en-US" altLang="zh-CN" sz="2400" b="1">
                <a:solidFill>
                  <a:srgbClr val="000000"/>
                </a:solidFill>
                <a:latin typeface="宋体" pitchFamily="2" charset="-122"/>
              </a:rPr>
              <a:t>// </a:t>
            </a:r>
            <a:r>
              <a:rPr kumimoji="1" lang="zh-CN" altLang="en-US" sz="2400" b="1">
                <a:solidFill>
                  <a:srgbClr val="000000"/>
                </a:solidFill>
                <a:latin typeface="宋体" pitchFamily="2" charset="-122"/>
              </a:rPr>
              <a:t>按定义构造树</a:t>
            </a:r>
          </a:p>
        </p:txBody>
      </p:sp>
      <p:sp>
        <p:nvSpPr>
          <p:cNvPr id="33" name="Text Box 17"/>
          <p:cNvSpPr txBox="1">
            <a:spLocks noChangeArrowheads="1"/>
          </p:cNvSpPr>
          <p:nvPr/>
        </p:nvSpPr>
        <p:spPr bwMode="auto">
          <a:xfrm>
            <a:off x="471488" y="4318000"/>
            <a:ext cx="7634287" cy="519113"/>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2800" b="1">
                <a:solidFill>
                  <a:srgbClr val="0000FF"/>
                </a:solidFill>
                <a:latin typeface="宋体" pitchFamily="2" charset="-122"/>
              </a:rPr>
              <a:t>Assign(T, cur_e, value)    </a:t>
            </a:r>
            <a:r>
              <a:rPr kumimoji="1" lang="en-US" altLang="zh-CN" sz="2400" b="1">
                <a:solidFill>
                  <a:srgbClr val="000000"/>
                </a:solidFill>
                <a:latin typeface="宋体" pitchFamily="2" charset="-122"/>
              </a:rPr>
              <a:t>// </a:t>
            </a:r>
            <a:r>
              <a:rPr kumimoji="1" lang="zh-CN" altLang="en-US" sz="2400" b="1">
                <a:solidFill>
                  <a:srgbClr val="000000"/>
                </a:solidFill>
                <a:latin typeface="宋体" pitchFamily="2" charset="-122"/>
              </a:rPr>
              <a:t>给当前结点赋值</a:t>
            </a:r>
          </a:p>
        </p:txBody>
      </p:sp>
      <p:sp>
        <p:nvSpPr>
          <p:cNvPr id="34" name="Text Box 18"/>
          <p:cNvSpPr txBox="1">
            <a:spLocks noChangeArrowheads="1"/>
          </p:cNvSpPr>
          <p:nvPr/>
        </p:nvSpPr>
        <p:spPr bwMode="auto">
          <a:xfrm>
            <a:off x="457200" y="5207000"/>
            <a:ext cx="8915400" cy="1117600"/>
          </a:xfrm>
          <a:prstGeom prst="rect">
            <a:avLst/>
          </a:prstGeom>
          <a:noFill/>
          <a:ln w="12700" cap="sq">
            <a:noFill/>
            <a:miter lim="800000"/>
            <a:headEnd type="none" w="sm" len="sm"/>
            <a:tailEnd type="none" w="sm" len="sm"/>
          </a:ln>
        </p:spPr>
        <p:txBody>
          <a:bodyPr>
            <a:spAutoFit/>
          </a:bodyPr>
          <a:lstStyle/>
          <a:p>
            <a:pPr fontAlgn="base">
              <a:lnSpc>
                <a:spcPct val="120000"/>
              </a:lnSpc>
              <a:spcBef>
                <a:spcPct val="0"/>
              </a:spcBef>
              <a:spcAft>
                <a:spcPct val="0"/>
              </a:spcAft>
            </a:pPr>
            <a:r>
              <a:rPr kumimoji="1" lang="en-US" altLang="zh-CN" sz="2800" b="1">
                <a:solidFill>
                  <a:srgbClr val="0000FF"/>
                </a:solidFill>
                <a:latin typeface="宋体" pitchFamily="2" charset="-122"/>
              </a:rPr>
              <a:t>InsertChild(&amp;T, &amp;p, i, c) </a:t>
            </a:r>
          </a:p>
          <a:p>
            <a:pPr fontAlgn="base">
              <a:lnSpc>
                <a:spcPct val="0"/>
              </a:lnSpc>
              <a:spcBef>
                <a:spcPct val="0"/>
              </a:spcBef>
              <a:spcAft>
                <a:spcPct val="0"/>
              </a:spcAft>
            </a:pPr>
            <a:r>
              <a:rPr kumimoji="1" lang="en-US" altLang="zh-CN" sz="2800" b="1">
                <a:solidFill>
                  <a:srgbClr val="0000FF"/>
                </a:solidFill>
                <a:latin typeface="宋体" pitchFamily="2" charset="-122"/>
              </a:rPr>
              <a:t>               </a:t>
            </a:r>
          </a:p>
          <a:p>
            <a:pPr fontAlgn="base">
              <a:lnSpc>
                <a:spcPct val="120000"/>
              </a:lnSpc>
              <a:spcBef>
                <a:spcPct val="0"/>
              </a:spcBef>
              <a:spcAft>
                <a:spcPct val="0"/>
              </a:spcAft>
            </a:pPr>
            <a:r>
              <a:rPr kumimoji="1" lang="en-US" altLang="zh-CN" sz="2800" b="1">
                <a:solidFill>
                  <a:srgbClr val="0000FF"/>
                </a:solidFill>
                <a:latin typeface="宋体" pitchFamily="2" charset="-122"/>
              </a:rPr>
              <a:t>          </a:t>
            </a:r>
            <a:r>
              <a:rPr kumimoji="1" lang="en-US" altLang="zh-CN" sz="2400" b="1">
                <a:solidFill>
                  <a:srgbClr val="000000"/>
                </a:solidFill>
                <a:latin typeface="宋体" pitchFamily="2" charset="-122"/>
              </a:rPr>
              <a:t>// </a:t>
            </a:r>
            <a:r>
              <a:rPr kumimoji="1" lang="zh-CN" altLang="en-US" sz="2400" b="1">
                <a:solidFill>
                  <a:srgbClr val="000000"/>
                </a:solidFill>
                <a:latin typeface="宋体" pitchFamily="2" charset="-122"/>
              </a:rPr>
              <a:t>将以</a:t>
            </a:r>
            <a:r>
              <a:rPr kumimoji="1" lang="en-US" altLang="zh-CN" sz="2400" b="1">
                <a:solidFill>
                  <a:srgbClr val="000000"/>
                </a:solidFill>
                <a:latin typeface="宋体" pitchFamily="2" charset="-122"/>
              </a:rPr>
              <a:t>c</a:t>
            </a:r>
            <a:r>
              <a:rPr kumimoji="1" lang="zh-CN" altLang="en-US" sz="2400" b="1">
                <a:solidFill>
                  <a:srgbClr val="000000"/>
                </a:solidFill>
                <a:latin typeface="宋体" pitchFamily="2" charset="-122"/>
              </a:rPr>
              <a:t>为根的树插入为结点</a:t>
            </a:r>
            <a:r>
              <a:rPr kumimoji="1" lang="en-US" altLang="zh-CN" sz="2400" b="1">
                <a:solidFill>
                  <a:srgbClr val="000000"/>
                </a:solidFill>
                <a:latin typeface="宋体" pitchFamily="2" charset="-122"/>
              </a:rPr>
              <a:t>p</a:t>
            </a:r>
            <a:r>
              <a:rPr kumimoji="1" lang="zh-CN" altLang="en-US" sz="2400" b="1">
                <a:solidFill>
                  <a:srgbClr val="000000"/>
                </a:solidFill>
                <a:latin typeface="宋体" pitchFamily="2" charset="-122"/>
              </a:rPr>
              <a:t>的第</a:t>
            </a:r>
            <a:r>
              <a:rPr kumimoji="1" lang="en-US" altLang="zh-CN" sz="2400" b="1">
                <a:solidFill>
                  <a:srgbClr val="000000"/>
                </a:solidFill>
                <a:latin typeface="宋体" pitchFamily="2" charset="-122"/>
              </a:rPr>
              <a:t>i</a:t>
            </a:r>
            <a:r>
              <a:rPr kumimoji="1" lang="zh-CN" altLang="en-US" sz="2400" b="1">
                <a:solidFill>
                  <a:srgbClr val="000000"/>
                </a:solidFill>
                <a:latin typeface="宋体" pitchFamily="2" charset="-122"/>
              </a:rPr>
              <a:t>棵子树</a:t>
            </a:r>
          </a:p>
        </p:txBody>
      </p:sp>
    </p:spTree>
    <p:extLst>
      <p:ext uri="{BB962C8B-B14F-4D97-AF65-F5344CB8AC3E}">
        <p14:creationId xmlns:p14="http://schemas.microsoft.com/office/powerpoint/2010/main" val="2248280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utoUpdateAnimBg="0"/>
      <p:bldP spid="23" grpId="0" autoUpdateAnimBg="0"/>
      <p:bldP spid="33" grpId="0" autoUpdateAnimBg="0"/>
      <p:bldP spid="34"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800" b="1" dirty="0"/>
              <a:t>树的概念：</a:t>
            </a:r>
            <a:endParaRPr lang="en-US" altLang="zh-CN" sz="2800" b="1" dirty="0"/>
          </a:p>
        </p:txBody>
      </p:sp>
      <p:sp>
        <p:nvSpPr>
          <p:cNvPr id="4" name="日期占位符 3"/>
          <p:cNvSpPr>
            <a:spLocks noGrp="1"/>
          </p:cNvSpPr>
          <p:nvPr>
            <p:ph type="dt" sz="half" idx="10"/>
          </p:nvPr>
        </p:nvSpPr>
        <p:spPr/>
        <p:txBody>
          <a:bodyPr/>
          <a:lstStyle/>
          <a:p>
            <a:fld id="{C4F0D212-EB63-4D84-BC75-9891A172B514}"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7" name="Text Box 4"/>
          <p:cNvSpPr txBox="1">
            <a:spLocks noChangeArrowheads="1"/>
          </p:cNvSpPr>
          <p:nvPr/>
        </p:nvSpPr>
        <p:spPr bwMode="auto">
          <a:xfrm>
            <a:off x="874712" y="1817687"/>
            <a:ext cx="1625600" cy="531813"/>
          </a:xfrm>
          <a:prstGeom prst="rect">
            <a:avLst/>
          </a:prstGeom>
          <a:noFill/>
          <a:ln w="12700" cap="sq">
            <a:solidFill>
              <a:srgbClr val="336600"/>
            </a:solidFill>
            <a:miter lim="800000"/>
            <a:headEnd type="none" w="sm" len="sm"/>
            <a:tailEnd type="none" w="sm" len="sm"/>
          </a:ln>
        </p:spPr>
        <p:txBody>
          <a:bodyPr wrap="none">
            <a:spAutoFit/>
          </a:bodyPr>
          <a:lstStyle/>
          <a:p>
            <a:pPr fontAlgn="base">
              <a:spcBef>
                <a:spcPct val="0"/>
              </a:spcBef>
              <a:spcAft>
                <a:spcPct val="0"/>
              </a:spcAft>
            </a:pPr>
            <a:r>
              <a:rPr kumimoji="1" lang="zh-CN" altLang="en-US" sz="2800" b="1">
                <a:solidFill>
                  <a:srgbClr val="FF3300"/>
                </a:solidFill>
                <a:latin typeface="Times New Roman" pitchFamily="18" charset="0"/>
              </a:rPr>
              <a:t>删除类：</a:t>
            </a:r>
          </a:p>
        </p:txBody>
      </p:sp>
      <p:sp>
        <p:nvSpPr>
          <p:cNvPr id="19" name="Text Box 11"/>
          <p:cNvSpPr txBox="1">
            <a:spLocks noChangeArrowheads="1"/>
          </p:cNvSpPr>
          <p:nvPr/>
        </p:nvSpPr>
        <p:spPr bwMode="auto">
          <a:xfrm>
            <a:off x="855662" y="2803525"/>
            <a:ext cx="5229225" cy="625475"/>
          </a:xfrm>
          <a:prstGeom prst="rect">
            <a:avLst/>
          </a:prstGeom>
          <a:noFill/>
          <a:ln w="12700" cap="sq">
            <a:noFill/>
            <a:miter lim="800000"/>
            <a:headEnd type="none" w="sm" len="sm"/>
            <a:tailEnd type="none" w="sm" len="sm"/>
          </a:ln>
        </p:spPr>
        <p:txBody>
          <a:bodyPr wrap="none">
            <a:spAutoFit/>
          </a:bodyPr>
          <a:lstStyle/>
          <a:p>
            <a:pPr fontAlgn="base">
              <a:lnSpc>
                <a:spcPct val="125000"/>
              </a:lnSpc>
              <a:spcBef>
                <a:spcPct val="0"/>
              </a:spcBef>
              <a:spcAft>
                <a:spcPct val="0"/>
              </a:spcAft>
            </a:pPr>
            <a:r>
              <a:rPr kumimoji="1" lang="zh-CN" altLang="en-US" sz="2800" b="1">
                <a:solidFill>
                  <a:srgbClr val="0000FF"/>
                </a:solidFill>
                <a:latin typeface="宋体" pitchFamily="2" charset="-122"/>
              </a:rPr>
              <a:t> </a:t>
            </a:r>
            <a:r>
              <a:rPr kumimoji="1" lang="en-US" altLang="zh-CN" sz="2800" b="1">
                <a:solidFill>
                  <a:srgbClr val="0000FF"/>
                </a:solidFill>
                <a:latin typeface="宋体" pitchFamily="2" charset="-122"/>
              </a:rPr>
              <a:t>ClearTree(&amp;T)   </a:t>
            </a:r>
            <a:r>
              <a:rPr kumimoji="1" lang="en-US" altLang="zh-CN" sz="2400" b="1">
                <a:solidFill>
                  <a:srgbClr val="000000"/>
                </a:solidFill>
                <a:latin typeface="宋体" pitchFamily="2" charset="-122"/>
              </a:rPr>
              <a:t>// </a:t>
            </a:r>
            <a:r>
              <a:rPr kumimoji="1" lang="zh-CN" altLang="en-US" sz="2400" b="1">
                <a:solidFill>
                  <a:srgbClr val="000000"/>
                </a:solidFill>
                <a:latin typeface="宋体" pitchFamily="2" charset="-122"/>
              </a:rPr>
              <a:t>将树清空  </a:t>
            </a:r>
          </a:p>
        </p:txBody>
      </p:sp>
      <p:sp>
        <p:nvSpPr>
          <p:cNvPr id="20" name="Text Box 12"/>
          <p:cNvSpPr txBox="1">
            <a:spLocks noChangeArrowheads="1"/>
          </p:cNvSpPr>
          <p:nvPr/>
        </p:nvSpPr>
        <p:spPr bwMode="auto">
          <a:xfrm>
            <a:off x="903287" y="4032250"/>
            <a:ext cx="5534025" cy="604837"/>
          </a:xfrm>
          <a:prstGeom prst="rect">
            <a:avLst/>
          </a:prstGeom>
          <a:noFill/>
          <a:ln w="12700" cap="sq">
            <a:noFill/>
            <a:miter lim="800000"/>
            <a:headEnd type="none" w="sm" len="sm"/>
            <a:tailEnd type="none" w="sm" len="sm"/>
          </a:ln>
        </p:spPr>
        <p:txBody>
          <a:bodyPr wrap="none">
            <a:spAutoFit/>
          </a:bodyPr>
          <a:lstStyle/>
          <a:p>
            <a:pPr fontAlgn="base">
              <a:lnSpc>
                <a:spcPct val="120000"/>
              </a:lnSpc>
              <a:spcBef>
                <a:spcPct val="0"/>
              </a:spcBef>
              <a:spcAft>
                <a:spcPct val="0"/>
              </a:spcAft>
            </a:pPr>
            <a:r>
              <a:rPr kumimoji="1" lang="en-US" altLang="zh-CN" sz="2800" b="1">
                <a:solidFill>
                  <a:srgbClr val="0000FF"/>
                </a:solidFill>
                <a:latin typeface="宋体" pitchFamily="2" charset="-122"/>
              </a:rPr>
              <a:t>DestroyTree(&amp;T)  </a:t>
            </a:r>
            <a:r>
              <a:rPr kumimoji="1" lang="en-US" altLang="zh-CN" sz="2400" b="1">
                <a:solidFill>
                  <a:srgbClr val="000000"/>
                </a:solidFill>
                <a:latin typeface="宋体" pitchFamily="2" charset="-122"/>
              </a:rPr>
              <a:t>// </a:t>
            </a:r>
            <a:r>
              <a:rPr kumimoji="1" lang="zh-CN" altLang="en-US" sz="2400" b="1">
                <a:solidFill>
                  <a:srgbClr val="000000"/>
                </a:solidFill>
                <a:latin typeface="宋体" pitchFamily="2" charset="-122"/>
              </a:rPr>
              <a:t>销毁树的结构</a:t>
            </a:r>
          </a:p>
        </p:txBody>
      </p:sp>
      <p:sp>
        <p:nvSpPr>
          <p:cNvPr id="24" name="Text Box 13"/>
          <p:cNvSpPr txBox="1">
            <a:spLocks noChangeArrowheads="1"/>
          </p:cNvSpPr>
          <p:nvPr/>
        </p:nvSpPr>
        <p:spPr bwMode="auto">
          <a:xfrm>
            <a:off x="885825" y="5241925"/>
            <a:ext cx="6581775" cy="1158875"/>
          </a:xfrm>
          <a:prstGeom prst="rect">
            <a:avLst/>
          </a:prstGeom>
          <a:noFill/>
          <a:ln w="12700" cap="sq">
            <a:noFill/>
            <a:miter lim="800000"/>
            <a:headEnd type="none" w="sm" len="sm"/>
            <a:tailEnd type="none" w="sm" len="sm"/>
          </a:ln>
        </p:spPr>
        <p:txBody>
          <a:bodyPr wrap="none">
            <a:spAutoFit/>
          </a:bodyPr>
          <a:lstStyle/>
          <a:p>
            <a:pPr fontAlgn="base">
              <a:lnSpc>
                <a:spcPct val="125000"/>
              </a:lnSpc>
              <a:spcBef>
                <a:spcPct val="0"/>
              </a:spcBef>
              <a:spcAft>
                <a:spcPct val="0"/>
              </a:spcAft>
            </a:pPr>
            <a:r>
              <a:rPr kumimoji="1" lang="en-US" altLang="zh-CN" sz="2800" b="1">
                <a:solidFill>
                  <a:srgbClr val="0000FF"/>
                </a:solidFill>
                <a:latin typeface="宋体" pitchFamily="2" charset="-122"/>
              </a:rPr>
              <a:t>DeleteChild(&amp;T, &amp;p, i) </a:t>
            </a:r>
          </a:p>
          <a:p>
            <a:pPr fontAlgn="base">
              <a:lnSpc>
                <a:spcPct val="125000"/>
              </a:lnSpc>
              <a:spcBef>
                <a:spcPct val="0"/>
              </a:spcBef>
              <a:spcAft>
                <a:spcPct val="0"/>
              </a:spcAft>
            </a:pPr>
            <a:r>
              <a:rPr kumimoji="1" lang="en-US" altLang="zh-CN" sz="2800" b="1">
                <a:solidFill>
                  <a:srgbClr val="0000FF"/>
                </a:solidFill>
                <a:latin typeface="宋体" pitchFamily="2" charset="-122"/>
              </a:rPr>
              <a:t>                </a:t>
            </a:r>
            <a:r>
              <a:rPr kumimoji="1" lang="en-US" altLang="zh-CN" sz="2400" b="1">
                <a:solidFill>
                  <a:srgbClr val="000000"/>
                </a:solidFill>
                <a:latin typeface="宋体" pitchFamily="2" charset="-122"/>
              </a:rPr>
              <a:t>// </a:t>
            </a:r>
            <a:r>
              <a:rPr kumimoji="1" lang="zh-CN" altLang="en-US" sz="2400" b="1">
                <a:solidFill>
                  <a:srgbClr val="000000"/>
                </a:solidFill>
                <a:latin typeface="宋体" pitchFamily="2" charset="-122"/>
              </a:rPr>
              <a:t>删除结点</a:t>
            </a:r>
            <a:r>
              <a:rPr kumimoji="1" lang="en-US" altLang="zh-CN" sz="2400" b="1">
                <a:solidFill>
                  <a:srgbClr val="000000"/>
                </a:solidFill>
                <a:latin typeface="宋体" pitchFamily="2" charset="-122"/>
              </a:rPr>
              <a:t>p</a:t>
            </a:r>
            <a:r>
              <a:rPr kumimoji="1" lang="zh-CN" altLang="en-US" sz="2400" b="1">
                <a:solidFill>
                  <a:srgbClr val="000000"/>
                </a:solidFill>
                <a:latin typeface="宋体" pitchFamily="2" charset="-122"/>
              </a:rPr>
              <a:t>的第</a:t>
            </a:r>
            <a:r>
              <a:rPr kumimoji="1" lang="en-US" altLang="zh-CN" sz="2400" b="1">
                <a:solidFill>
                  <a:srgbClr val="000000"/>
                </a:solidFill>
                <a:latin typeface="宋体" pitchFamily="2" charset="-122"/>
              </a:rPr>
              <a:t>i</a:t>
            </a:r>
            <a:r>
              <a:rPr kumimoji="1" lang="zh-CN" altLang="en-US" sz="2400" b="1">
                <a:solidFill>
                  <a:srgbClr val="000000"/>
                </a:solidFill>
                <a:latin typeface="宋体" pitchFamily="2" charset="-122"/>
              </a:rPr>
              <a:t>棵子树</a:t>
            </a:r>
          </a:p>
        </p:txBody>
      </p:sp>
    </p:spTree>
    <p:extLst>
      <p:ext uri="{BB962C8B-B14F-4D97-AF65-F5344CB8AC3E}">
        <p14:creationId xmlns:p14="http://schemas.microsoft.com/office/powerpoint/2010/main" val="99874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0" grpId="0" autoUpdateAnimBg="0"/>
      <p:bldP spid="24"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800" b="1" dirty="0"/>
              <a:t>树的概念：</a:t>
            </a:r>
            <a:endParaRPr lang="en-US" altLang="zh-CN" sz="2800" b="1" dirty="0"/>
          </a:p>
        </p:txBody>
      </p:sp>
      <p:sp>
        <p:nvSpPr>
          <p:cNvPr id="4" name="日期占位符 3"/>
          <p:cNvSpPr>
            <a:spLocks noGrp="1"/>
          </p:cNvSpPr>
          <p:nvPr>
            <p:ph type="dt" sz="half" idx="10"/>
          </p:nvPr>
        </p:nvSpPr>
        <p:spPr/>
        <p:txBody>
          <a:bodyPr/>
          <a:lstStyle/>
          <a:p>
            <a:fld id="{93D9E3BD-C908-4EC6-9468-353F676183FB}"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6" name="Text Box 3"/>
          <p:cNvSpPr txBox="1">
            <a:spLocks noChangeArrowheads="1"/>
          </p:cNvSpPr>
          <p:nvPr/>
        </p:nvSpPr>
        <p:spPr bwMode="auto">
          <a:xfrm>
            <a:off x="560388" y="1893888"/>
            <a:ext cx="9178925" cy="2678112"/>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400" b="1" dirty="0">
                <a:solidFill>
                  <a:srgbClr val="0707F9"/>
                </a:solidFill>
                <a:latin typeface="隶书" pitchFamily="49" charset="-122"/>
                <a:ea typeface="隶书" pitchFamily="49" charset="-122"/>
              </a:rPr>
              <a:t>例如：集合 </a:t>
            </a:r>
            <a:r>
              <a:rPr kumimoji="1" lang="en-US" altLang="zh-CN" sz="2400" b="1" dirty="0">
                <a:solidFill>
                  <a:srgbClr val="0707F9"/>
                </a:solidFill>
                <a:latin typeface="隶书" pitchFamily="49" charset="-122"/>
                <a:ea typeface="隶书" pitchFamily="49" charset="-122"/>
              </a:rPr>
              <a:t>T={A, B, C, D, E, F, G, H, I, J</a:t>
            </a:r>
            <a:r>
              <a:rPr kumimoji="1" lang="zh-CN" altLang="en-US" sz="2400" b="1" dirty="0">
                <a:solidFill>
                  <a:srgbClr val="0707F9"/>
                </a:solidFill>
                <a:latin typeface="隶书" pitchFamily="49" charset="-122"/>
                <a:ea typeface="隶书" pitchFamily="49" charset="-122"/>
              </a:rPr>
              <a:t>，</a:t>
            </a:r>
            <a:r>
              <a:rPr kumimoji="1" lang="en-US" altLang="zh-CN" sz="2400" b="1" dirty="0">
                <a:solidFill>
                  <a:srgbClr val="0707F9"/>
                </a:solidFill>
                <a:latin typeface="隶书" pitchFamily="49" charset="-122"/>
                <a:ea typeface="隶书" pitchFamily="49" charset="-122"/>
              </a:rPr>
              <a:t>K</a:t>
            </a:r>
            <a:r>
              <a:rPr kumimoji="1" lang="zh-CN" altLang="en-US" sz="2400" b="1" dirty="0">
                <a:solidFill>
                  <a:srgbClr val="0707F9"/>
                </a:solidFill>
                <a:latin typeface="隶书" pitchFamily="49" charset="-122"/>
                <a:ea typeface="隶书" pitchFamily="49" charset="-122"/>
              </a:rPr>
              <a:t>，</a:t>
            </a:r>
            <a:r>
              <a:rPr kumimoji="1" lang="en-US" altLang="zh-CN" sz="2400" b="1" dirty="0">
                <a:solidFill>
                  <a:srgbClr val="0707F9"/>
                </a:solidFill>
                <a:latin typeface="隶书" pitchFamily="49" charset="-122"/>
                <a:ea typeface="隶书" pitchFamily="49" charset="-122"/>
              </a:rPr>
              <a:t>L</a:t>
            </a:r>
            <a:r>
              <a:rPr kumimoji="1" lang="zh-CN" altLang="en-US" sz="2400" b="1" dirty="0">
                <a:solidFill>
                  <a:srgbClr val="0707F9"/>
                </a:solidFill>
                <a:latin typeface="隶书" pitchFamily="49" charset="-122"/>
                <a:ea typeface="隶书" pitchFamily="49" charset="-122"/>
              </a:rPr>
              <a:t>，</a:t>
            </a:r>
            <a:r>
              <a:rPr kumimoji="1" lang="en-US" altLang="zh-CN" sz="2400" b="1" dirty="0">
                <a:solidFill>
                  <a:srgbClr val="0707F9"/>
                </a:solidFill>
                <a:latin typeface="隶书" pitchFamily="49" charset="-122"/>
                <a:ea typeface="隶书" pitchFamily="49" charset="-122"/>
              </a:rPr>
              <a:t>M}</a:t>
            </a:r>
          </a:p>
          <a:p>
            <a:pPr eaLnBrk="0" fontAlgn="base" hangingPunct="0">
              <a:spcBef>
                <a:spcPct val="50000"/>
              </a:spcBef>
              <a:spcAft>
                <a:spcPct val="0"/>
              </a:spcAft>
            </a:pPr>
            <a:r>
              <a:rPr kumimoji="1" lang="en-US" altLang="zh-CN" sz="2400" b="1" dirty="0">
                <a:solidFill>
                  <a:srgbClr val="0707F9"/>
                </a:solidFill>
                <a:latin typeface="隶书" pitchFamily="49" charset="-122"/>
                <a:ea typeface="隶书" pitchFamily="49" charset="-122"/>
              </a:rPr>
              <a:t>A</a:t>
            </a:r>
            <a:r>
              <a:rPr kumimoji="1" lang="zh-CN" altLang="en-US" sz="2400" b="1" dirty="0">
                <a:solidFill>
                  <a:srgbClr val="0707F9"/>
                </a:solidFill>
                <a:latin typeface="宋体" pitchFamily="2" charset="-122"/>
              </a:rPr>
              <a:t>是根，其余结点可以划分为</a:t>
            </a:r>
            <a:r>
              <a:rPr kumimoji="1" lang="en-US" altLang="zh-CN" sz="2400" b="1" dirty="0">
                <a:solidFill>
                  <a:srgbClr val="0707F9"/>
                </a:solidFill>
                <a:latin typeface="宋体" pitchFamily="2" charset="-122"/>
              </a:rPr>
              <a:t>3</a:t>
            </a:r>
            <a:r>
              <a:rPr kumimoji="1" lang="zh-CN" altLang="en-US" sz="2400" b="1" dirty="0">
                <a:solidFill>
                  <a:srgbClr val="0707F9"/>
                </a:solidFill>
                <a:latin typeface="宋体" pitchFamily="2" charset="-122"/>
              </a:rPr>
              <a:t>个</a:t>
            </a:r>
            <a:r>
              <a:rPr kumimoji="1" lang="zh-CN" altLang="en-US" sz="2400" b="1" dirty="0">
                <a:solidFill>
                  <a:srgbClr val="FF0000"/>
                </a:solidFill>
                <a:latin typeface="Times New Roman" pitchFamily="18" charset="0"/>
              </a:rPr>
              <a:t>互不相交的集合</a:t>
            </a:r>
            <a:r>
              <a:rPr kumimoji="1" lang="zh-CN" altLang="en-US" sz="2400" b="1" dirty="0">
                <a:solidFill>
                  <a:srgbClr val="0707F9"/>
                </a:solidFill>
                <a:latin typeface="Times New Roman" pitchFamily="18" charset="0"/>
              </a:rPr>
              <a:t>：</a:t>
            </a:r>
          </a:p>
          <a:p>
            <a:pPr eaLnBrk="0" fontAlgn="base" hangingPunct="0">
              <a:spcBef>
                <a:spcPct val="50000"/>
              </a:spcBef>
              <a:spcAft>
                <a:spcPct val="0"/>
              </a:spcAft>
            </a:pPr>
            <a:r>
              <a:rPr kumimoji="1" lang="zh-CN" altLang="en-US" sz="2400" b="1" dirty="0">
                <a:solidFill>
                  <a:srgbClr val="0707F9"/>
                </a:solidFill>
                <a:latin typeface="Times New Roman" pitchFamily="18" charset="0"/>
              </a:rPr>
              <a:t> </a:t>
            </a:r>
            <a:r>
              <a:rPr kumimoji="1" lang="en-US" altLang="zh-CN" sz="2400" b="1" dirty="0">
                <a:solidFill>
                  <a:srgbClr val="0707F9"/>
                </a:solidFill>
                <a:latin typeface="隶书" pitchFamily="49" charset="-122"/>
                <a:ea typeface="隶书" pitchFamily="49" charset="-122"/>
              </a:rPr>
              <a:t>T1={B, E, F</a:t>
            </a:r>
            <a:r>
              <a:rPr kumimoji="1" lang="zh-CN" altLang="en-US" sz="2400" b="1" dirty="0">
                <a:solidFill>
                  <a:srgbClr val="0707F9"/>
                </a:solidFill>
                <a:latin typeface="隶书" pitchFamily="49" charset="-122"/>
                <a:ea typeface="隶书" pitchFamily="49" charset="-122"/>
              </a:rPr>
              <a:t>，</a:t>
            </a:r>
            <a:r>
              <a:rPr kumimoji="1" lang="en-US" altLang="zh-CN" sz="2400" b="1" dirty="0">
                <a:solidFill>
                  <a:srgbClr val="0707F9"/>
                </a:solidFill>
                <a:latin typeface="隶书" pitchFamily="49" charset="-122"/>
                <a:ea typeface="隶书" pitchFamily="49" charset="-122"/>
              </a:rPr>
              <a:t>K</a:t>
            </a:r>
            <a:r>
              <a:rPr kumimoji="1" lang="zh-CN" altLang="en-US" sz="2400" b="1" dirty="0">
                <a:solidFill>
                  <a:srgbClr val="0707F9"/>
                </a:solidFill>
                <a:latin typeface="隶书" pitchFamily="49" charset="-122"/>
                <a:ea typeface="隶书" pitchFamily="49" charset="-122"/>
              </a:rPr>
              <a:t>，</a:t>
            </a:r>
            <a:r>
              <a:rPr kumimoji="1" lang="en-US" altLang="zh-CN" sz="2400" b="1" dirty="0">
                <a:solidFill>
                  <a:srgbClr val="0707F9"/>
                </a:solidFill>
                <a:latin typeface="隶书" pitchFamily="49" charset="-122"/>
                <a:ea typeface="隶书" pitchFamily="49" charset="-122"/>
              </a:rPr>
              <a:t>L} ,  T2={C, G} ,  T3={D, H, I, J</a:t>
            </a:r>
            <a:r>
              <a:rPr kumimoji="1" lang="zh-CN" altLang="en-US" sz="2400" b="1" dirty="0">
                <a:solidFill>
                  <a:srgbClr val="0707F9"/>
                </a:solidFill>
                <a:latin typeface="隶书" pitchFamily="49" charset="-122"/>
                <a:ea typeface="隶书" pitchFamily="49" charset="-122"/>
              </a:rPr>
              <a:t>，</a:t>
            </a:r>
            <a:r>
              <a:rPr kumimoji="1" lang="en-US" altLang="zh-CN" sz="2400" b="1" dirty="0">
                <a:solidFill>
                  <a:srgbClr val="0707F9"/>
                </a:solidFill>
                <a:latin typeface="隶书" pitchFamily="49" charset="-122"/>
                <a:ea typeface="隶书" pitchFamily="49" charset="-122"/>
              </a:rPr>
              <a:t>M}</a:t>
            </a:r>
          </a:p>
          <a:p>
            <a:pPr eaLnBrk="0" fontAlgn="base" hangingPunct="0">
              <a:spcBef>
                <a:spcPct val="50000"/>
              </a:spcBef>
              <a:spcAft>
                <a:spcPct val="0"/>
              </a:spcAft>
            </a:pPr>
            <a:r>
              <a:rPr kumimoji="1" lang="zh-CN" altLang="en-US" sz="2400" b="1" dirty="0">
                <a:solidFill>
                  <a:srgbClr val="0707F9"/>
                </a:solidFill>
                <a:latin typeface="Times New Roman" pitchFamily="18" charset="0"/>
              </a:rPr>
              <a:t>这些集合中的每一集合都本身又是</a:t>
            </a:r>
            <a:r>
              <a:rPr kumimoji="1" lang="zh-CN" altLang="en-US" sz="2400" b="1" dirty="0">
                <a:solidFill>
                  <a:srgbClr val="FF0000"/>
                </a:solidFill>
                <a:latin typeface="Times New Roman" pitchFamily="18" charset="0"/>
              </a:rPr>
              <a:t>一棵树</a:t>
            </a:r>
            <a:r>
              <a:rPr kumimoji="1" lang="zh-CN" altLang="en-US" sz="2400" b="1" dirty="0">
                <a:solidFill>
                  <a:srgbClr val="0707F9"/>
                </a:solidFill>
                <a:latin typeface="Times New Roman" pitchFamily="18" charset="0"/>
              </a:rPr>
              <a:t>，它们是</a:t>
            </a:r>
            <a:r>
              <a:rPr kumimoji="1" lang="en-US" altLang="zh-CN" sz="2400" b="1" dirty="0">
                <a:solidFill>
                  <a:srgbClr val="0707F9"/>
                </a:solidFill>
                <a:latin typeface="Times New Roman" pitchFamily="18" charset="0"/>
              </a:rPr>
              <a:t>A</a:t>
            </a:r>
            <a:r>
              <a:rPr kumimoji="1" lang="zh-CN" altLang="en-US" sz="2400" b="1" dirty="0">
                <a:solidFill>
                  <a:srgbClr val="0707F9"/>
                </a:solidFill>
                <a:latin typeface="Times New Roman" pitchFamily="18" charset="0"/>
              </a:rPr>
              <a:t>的</a:t>
            </a:r>
            <a:r>
              <a:rPr kumimoji="1" lang="zh-CN" altLang="en-US" sz="2400" b="1" dirty="0">
                <a:solidFill>
                  <a:srgbClr val="FF0000"/>
                </a:solidFill>
                <a:latin typeface="Times New Roman" pitchFamily="18" charset="0"/>
              </a:rPr>
              <a:t>子树</a:t>
            </a:r>
            <a:r>
              <a:rPr kumimoji="1" lang="zh-CN" altLang="en-US" sz="2400" b="1" dirty="0">
                <a:solidFill>
                  <a:srgbClr val="0707F9"/>
                </a:solidFill>
                <a:latin typeface="Times New Roman" pitchFamily="18" charset="0"/>
              </a:rPr>
              <a:t>。</a:t>
            </a:r>
          </a:p>
          <a:p>
            <a:pPr eaLnBrk="0" fontAlgn="base" hangingPunct="0">
              <a:spcBef>
                <a:spcPct val="50000"/>
              </a:spcBef>
              <a:spcAft>
                <a:spcPct val="0"/>
              </a:spcAft>
            </a:pPr>
            <a:endParaRPr kumimoji="1" lang="zh-CN" altLang="en-US" sz="2400" b="1" dirty="0">
              <a:solidFill>
                <a:srgbClr val="0707F9"/>
              </a:solidFill>
              <a:latin typeface="Times New Roman" pitchFamily="18" charset="0"/>
            </a:endParaRPr>
          </a:p>
        </p:txBody>
      </p:sp>
      <p:grpSp>
        <p:nvGrpSpPr>
          <p:cNvPr id="21" name="Group 57"/>
          <p:cNvGrpSpPr>
            <a:grpSpLocks/>
          </p:cNvGrpSpPr>
          <p:nvPr/>
        </p:nvGrpSpPr>
        <p:grpSpPr bwMode="auto">
          <a:xfrm>
            <a:off x="3368675" y="4175125"/>
            <a:ext cx="4254500" cy="2073275"/>
            <a:chOff x="1728" y="2160"/>
            <a:chExt cx="2680" cy="1306"/>
          </a:xfrm>
        </p:grpSpPr>
        <p:sp>
          <p:nvSpPr>
            <p:cNvPr id="22" name="Line 58"/>
            <p:cNvSpPr>
              <a:spLocks noChangeShapeType="1"/>
            </p:cNvSpPr>
            <p:nvPr/>
          </p:nvSpPr>
          <p:spPr bwMode="auto">
            <a:xfrm>
              <a:off x="3126" y="2400"/>
              <a:ext cx="0" cy="96"/>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 name="Line 59"/>
            <p:cNvSpPr>
              <a:spLocks noChangeShapeType="1"/>
            </p:cNvSpPr>
            <p:nvPr/>
          </p:nvSpPr>
          <p:spPr bwMode="auto">
            <a:xfrm flipH="1">
              <a:off x="2550" y="2304"/>
              <a:ext cx="432"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Line 60"/>
            <p:cNvSpPr>
              <a:spLocks noChangeShapeType="1"/>
            </p:cNvSpPr>
            <p:nvPr/>
          </p:nvSpPr>
          <p:spPr bwMode="auto">
            <a:xfrm flipH="1">
              <a:off x="2214"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Line 61"/>
            <p:cNvSpPr>
              <a:spLocks noChangeShapeType="1"/>
            </p:cNvSpPr>
            <p:nvPr/>
          </p:nvSpPr>
          <p:spPr bwMode="auto">
            <a:xfrm>
              <a:off x="2502"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7" name="Line 62"/>
            <p:cNvSpPr>
              <a:spLocks noChangeShapeType="1"/>
            </p:cNvSpPr>
            <p:nvPr/>
          </p:nvSpPr>
          <p:spPr bwMode="auto">
            <a:xfrm>
              <a:off x="3126"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Line 63"/>
            <p:cNvSpPr>
              <a:spLocks noChangeShapeType="1"/>
            </p:cNvSpPr>
            <p:nvPr/>
          </p:nvSpPr>
          <p:spPr bwMode="auto">
            <a:xfrm>
              <a:off x="3222" y="2304"/>
              <a:ext cx="528" cy="288"/>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Line 64"/>
            <p:cNvSpPr>
              <a:spLocks noChangeShapeType="1"/>
            </p:cNvSpPr>
            <p:nvPr/>
          </p:nvSpPr>
          <p:spPr bwMode="auto">
            <a:xfrm flipH="1">
              <a:off x="3606"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0" name="Line 65"/>
            <p:cNvSpPr>
              <a:spLocks noChangeShapeType="1"/>
            </p:cNvSpPr>
            <p:nvPr/>
          </p:nvSpPr>
          <p:spPr bwMode="auto">
            <a:xfrm>
              <a:off x="3894"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1" name="Line 66"/>
            <p:cNvSpPr>
              <a:spLocks noChangeShapeType="1"/>
            </p:cNvSpPr>
            <p:nvPr/>
          </p:nvSpPr>
          <p:spPr bwMode="auto">
            <a:xfrm>
              <a:off x="3990"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2" name="Line 67"/>
            <p:cNvSpPr>
              <a:spLocks noChangeShapeType="1"/>
            </p:cNvSpPr>
            <p:nvPr/>
          </p:nvSpPr>
          <p:spPr bwMode="auto">
            <a:xfrm flipH="1">
              <a:off x="192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3" name="Line 68"/>
            <p:cNvSpPr>
              <a:spLocks noChangeShapeType="1"/>
            </p:cNvSpPr>
            <p:nvPr/>
          </p:nvSpPr>
          <p:spPr bwMode="auto">
            <a:xfrm>
              <a:off x="225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4" name="Line 69"/>
            <p:cNvSpPr>
              <a:spLocks noChangeShapeType="1"/>
            </p:cNvSpPr>
            <p:nvPr/>
          </p:nvSpPr>
          <p:spPr bwMode="auto">
            <a:xfrm>
              <a:off x="3552" y="3094"/>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35" name="Group 70"/>
            <p:cNvGrpSpPr>
              <a:grpSpLocks/>
            </p:cNvGrpSpPr>
            <p:nvPr/>
          </p:nvGrpSpPr>
          <p:grpSpPr bwMode="auto">
            <a:xfrm>
              <a:off x="4088" y="2856"/>
              <a:ext cx="320" cy="250"/>
              <a:chOff x="2880" y="1104"/>
              <a:chExt cx="367" cy="343"/>
            </a:xfrm>
          </p:grpSpPr>
          <p:sp>
            <p:nvSpPr>
              <p:cNvPr id="72" name="Oval 7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73" name="Text Box 7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J</a:t>
                </a:r>
              </a:p>
            </p:txBody>
          </p:sp>
        </p:grpSp>
        <p:grpSp>
          <p:nvGrpSpPr>
            <p:cNvPr id="36" name="Group 73"/>
            <p:cNvGrpSpPr>
              <a:grpSpLocks/>
            </p:cNvGrpSpPr>
            <p:nvPr/>
          </p:nvGrpSpPr>
          <p:grpSpPr bwMode="auto">
            <a:xfrm>
              <a:off x="3750" y="2858"/>
              <a:ext cx="320" cy="250"/>
              <a:chOff x="2880" y="1104"/>
              <a:chExt cx="367" cy="343"/>
            </a:xfrm>
          </p:grpSpPr>
          <p:sp>
            <p:nvSpPr>
              <p:cNvPr id="70" name="Oval 7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71" name="Text Box 7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I</a:t>
                </a:r>
              </a:p>
            </p:txBody>
          </p:sp>
        </p:grpSp>
        <p:grpSp>
          <p:nvGrpSpPr>
            <p:cNvPr id="37" name="Group 76"/>
            <p:cNvGrpSpPr>
              <a:grpSpLocks/>
            </p:cNvGrpSpPr>
            <p:nvPr/>
          </p:nvGrpSpPr>
          <p:grpSpPr bwMode="auto">
            <a:xfrm>
              <a:off x="2982" y="2160"/>
              <a:ext cx="320" cy="250"/>
              <a:chOff x="2880" y="1104"/>
              <a:chExt cx="367" cy="343"/>
            </a:xfrm>
          </p:grpSpPr>
          <p:sp>
            <p:nvSpPr>
              <p:cNvPr id="68" name="Oval 7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69" name="Text Box 7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A</a:t>
                </a:r>
              </a:p>
            </p:txBody>
          </p:sp>
        </p:grpSp>
        <p:grpSp>
          <p:nvGrpSpPr>
            <p:cNvPr id="38" name="Group 79"/>
            <p:cNvGrpSpPr>
              <a:grpSpLocks/>
            </p:cNvGrpSpPr>
            <p:nvPr/>
          </p:nvGrpSpPr>
          <p:grpSpPr bwMode="auto">
            <a:xfrm>
              <a:off x="2982" y="2497"/>
              <a:ext cx="320" cy="250"/>
              <a:chOff x="2880" y="1104"/>
              <a:chExt cx="367" cy="343"/>
            </a:xfrm>
          </p:grpSpPr>
          <p:sp>
            <p:nvSpPr>
              <p:cNvPr id="66" name="Oval 8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67" name="Text Box 8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C</a:t>
                </a:r>
              </a:p>
            </p:txBody>
          </p:sp>
        </p:grpSp>
        <p:grpSp>
          <p:nvGrpSpPr>
            <p:cNvPr id="39" name="Group 82"/>
            <p:cNvGrpSpPr>
              <a:grpSpLocks/>
            </p:cNvGrpSpPr>
            <p:nvPr/>
          </p:nvGrpSpPr>
          <p:grpSpPr bwMode="auto">
            <a:xfrm>
              <a:off x="2304" y="2497"/>
              <a:ext cx="320" cy="250"/>
              <a:chOff x="2880" y="1104"/>
              <a:chExt cx="367" cy="343"/>
            </a:xfrm>
          </p:grpSpPr>
          <p:sp>
            <p:nvSpPr>
              <p:cNvPr id="64" name="Oval 8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65" name="Text Box 8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B</a:t>
                </a:r>
              </a:p>
            </p:txBody>
          </p:sp>
        </p:grpSp>
        <p:grpSp>
          <p:nvGrpSpPr>
            <p:cNvPr id="40" name="Group 85"/>
            <p:cNvGrpSpPr>
              <a:grpSpLocks/>
            </p:cNvGrpSpPr>
            <p:nvPr/>
          </p:nvGrpSpPr>
          <p:grpSpPr bwMode="auto">
            <a:xfrm>
              <a:off x="3750" y="2497"/>
              <a:ext cx="320" cy="250"/>
              <a:chOff x="2880" y="1104"/>
              <a:chExt cx="367" cy="343"/>
            </a:xfrm>
          </p:grpSpPr>
          <p:sp>
            <p:nvSpPr>
              <p:cNvPr id="62" name="Oval 8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63" name="Text Box 8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D</a:t>
                </a:r>
              </a:p>
            </p:txBody>
          </p:sp>
        </p:grpSp>
        <p:grpSp>
          <p:nvGrpSpPr>
            <p:cNvPr id="41" name="Group 88"/>
            <p:cNvGrpSpPr>
              <a:grpSpLocks/>
            </p:cNvGrpSpPr>
            <p:nvPr/>
          </p:nvGrpSpPr>
          <p:grpSpPr bwMode="auto">
            <a:xfrm>
              <a:off x="3408" y="2858"/>
              <a:ext cx="320" cy="250"/>
              <a:chOff x="2880" y="1104"/>
              <a:chExt cx="367" cy="343"/>
            </a:xfrm>
          </p:grpSpPr>
          <p:sp>
            <p:nvSpPr>
              <p:cNvPr id="60" name="Oval 8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61" name="Text Box 90"/>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H</a:t>
                </a:r>
              </a:p>
            </p:txBody>
          </p:sp>
        </p:grpSp>
        <p:grpSp>
          <p:nvGrpSpPr>
            <p:cNvPr id="42" name="Group 91"/>
            <p:cNvGrpSpPr>
              <a:grpSpLocks/>
            </p:cNvGrpSpPr>
            <p:nvPr/>
          </p:nvGrpSpPr>
          <p:grpSpPr bwMode="auto">
            <a:xfrm>
              <a:off x="2982" y="2858"/>
              <a:ext cx="320" cy="250"/>
              <a:chOff x="2880" y="1104"/>
              <a:chExt cx="367" cy="343"/>
            </a:xfrm>
          </p:grpSpPr>
          <p:sp>
            <p:nvSpPr>
              <p:cNvPr id="58" name="Oval 9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59" name="Text Box 9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G</a:t>
                </a:r>
              </a:p>
            </p:txBody>
          </p:sp>
        </p:grpSp>
        <p:grpSp>
          <p:nvGrpSpPr>
            <p:cNvPr id="43" name="Group 94"/>
            <p:cNvGrpSpPr>
              <a:grpSpLocks/>
            </p:cNvGrpSpPr>
            <p:nvPr/>
          </p:nvGrpSpPr>
          <p:grpSpPr bwMode="auto">
            <a:xfrm>
              <a:off x="2502" y="2858"/>
              <a:ext cx="320" cy="250"/>
              <a:chOff x="2880" y="1104"/>
              <a:chExt cx="367" cy="343"/>
            </a:xfrm>
          </p:grpSpPr>
          <p:sp>
            <p:nvSpPr>
              <p:cNvPr id="56" name="Oval 9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57" name="Text Box 96"/>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F</a:t>
                </a:r>
              </a:p>
            </p:txBody>
          </p:sp>
        </p:grpSp>
        <p:grpSp>
          <p:nvGrpSpPr>
            <p:cNvPr id="44" name="Group 97"/>
            <p:cNvGrpSpPr>
              <a:grpSpLocks/>
            </p:cNvGrpSpPr>
            <p:nvPr/>
          </p:nvGrpSpPr>
          <p:grpSpPr bwMode="auto">
            <a:xfrm>
              <a:off x="2016" y="2858"/>
              <a:ext cx="320" cy="250"/>
              <a:chOff x="2880" y="1104"/>
              <a:chExt cx="367" cy="343"/>
            </a:xfrm>
          </p:grpSpPr>
          <p:sp>
            <p:nvSpPr>
              <p:cNvPr id="54" name="Oval 9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55" name="Text Box 9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E</a:t>
                </a:r>
              </a:p>
            </p:txBody>
          </p:sp>
        </p:grpSp>
        <p:grpSp>
          <p:nvGrpSpPr>
            <p:cNvPr id="45" name="Group 100"/>
            <p:cNvGrpSpPr>
              <a:grpSpLocks/>
            </p:cNvGrpSpPr>
            <p:nvPr/>
          </p:nvGrpSpPr>
          <p:grpSpPr bwMode="auto">
            <a:xfrm>
              <a:off x="1728" y="3216"/>
              <a:ext cx="320" cy="250"/>
              <a:chOff x="2880" y="1104"/>
              <a:chExt cx="367" cy="343"/>
            </a:xfrm>
          </p:grpSpPr>
          <p:sp>
            <p:nvSpPr>
              <p:cNvPr id="52" name="Oval 10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53" name="Text Box 10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K</a:t>
                </a:r>
              </a:p>
            </p:txBody>
          </p:sp>
        </p:grpSp>
        <p:grpSp>
          <p:nvGrpSpPr>
            <p:cNvPr id="46" name="Group 103"/>
            <p:cNvGrpSpPr>
              <a:grpSpLocks/>
            </p:cNvGrpSpPr>
            <p:nvPr/>
          </p:nvGrpSpPr>
          <p:grpSpPr bwMode="auto">
            <a:xfrm>
              <a:off x="2256" y="3216"/>
              <a:ext cx="320" cy="250"/>
              <a:chOff x="2880" y="1104"/>
              <a:chExt cx="367" cy="343"/>
            </a:xfrm>
          </p:grpSpPr>
          <p:sp>
            <p:nvSpPr>
              <p:cNvPr id="50" name="Oval 10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51" name="Text Box 10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L</a:t>
                </a:r>
              </a:p>
            </p:txBody>
          </p:sp>
        </p:grpSp>
        <p:grpSp>
          <p:nvGrpSpPr>
            <p:cNvPr id="47" name="Group 106"/>
            <p:cNvGrpSpPr>
              <a:grpSpLocks/>
            </p:cNvGrpSpPr>
            <p:nvPr/>
          </p:nvGrpSpPr>
          <p:grpSpPr bwMode="auto">
            <a:xfrm>
              <a:off x="3408" y="3216"/>
              <a:ext cx="320" cy="250"/>
              <a:chOff x="2880" y="1104"/>
              <a:chExt cx="367" cy="343"/>
            </a:xfrm>
          </p:grpSpPr>
          <p:sp>
            <p:nvSpPr>
              <p:cNvPr id="48" name="Oval 10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49" name="Text Box 10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M</a:t>
                </a:r>
              </a:p>
            </p:txBody>
          </p:sp>
        </p:grpSp>
      </p:grpSp>
    </p:spTree>
    <p:extLst>
      <p:ext uri="{BB962C8B-B14F-4D97-AF65-F5344CB8AC3E}">
        <p14:creationId xmlns:p14="http://schemas.microsoft.com/office/powerpoint/2010/main" val="2881414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800" b="1" dirty="0"/>
              <a:t>树的逻辑结构特点：</a:t>
            </a:r>
            <a:endParaRPr lang="en-US" altLang="zh-CN" sz="2800" b="1" dirty="0"/>
          </a:p>
          <a:p>
            <a:pPr lvl="1">
              <a:lnSpc>
                <a:spcPts val="3100"/>
              </a:lnSpc>
            </a:pPr>
            <a:r>
              <a:rPr lang="zh-CN" altLang="en-US" sz="2400" b="1" dirty="0"/>
              <a:t>树是一种分枝结构，树中只有根结点没有前驱；其余结点有零个或多个后继；</a:t>
            </a:r>
          </a:p>
          <a:p>
            <a:pPr lvl="1">
              <a:lnSpc>
                <a:spcPts val="3100"/>
              </a:lnSpc>
            </a:pPr>
            <a:r>
              <a:rPr lang="zh-CN" altLang="en-US" sz="2400" b="1" dirty="0"/>
              <a:t>除根外，其余结点都</a:t>
            </a:r>
            <a:r>
              <a:rPr lang="zh-CN" altLang="en-US" sz="2400" b="1" dirty="0">
                <a:solidFill>
                  <a:srgbClr val="FF0000"/>
                </a:solidFill>
              </a:rPr>
              <a:t>有且仅一个</a:t>
            </a:r>
            <a:r>
              <a:rPr lang="zh-CN" altLang="en-US" sz="2400" b="1" dirty="0"/>
              <a:t>前驱；都存在</a:t>
            </a:r>
            <a:r>
              <a:rPr lang="zh-CN" altLang="en-US" sz="2400" b="1" dirty="0">
                <a:solidFill>
                  <a:srgbClr val="FF0000"/>
                </a:solidFill>
              </a:rPr>
              <a:t>唯一</a:t>
            </a:r>
            <a:r>
              <a:rPr lang="zh-CN" altLang="en-US" sz="2400" b="1" dirty="0"/>
              <a:t>一条从根到该结点的路径。</a:t>
            </a:r>
          </a:p>
          <a:p>
            <a:pPr lvl="1">
              <a:lnSpc>
                <a:spcPts val="3100"/>
              </a:lnSpc>
            </a:pPr>
            <a:endParaRPr lang="en-US" altLang="zh-CN" sz="2400" b="1" dirty="0"/>
          </a:p>
        </p:txBody>
      </p:sp>
      <p:sp>
        <p:nvSpPr>
          <p:cNvPr id="4" name="日期占位符 3"/>
          <p:cNvSpPr>
            <a:spLocks noGrp="1"/>
          </p:cNvSpPr>
          <p:nvPr>
            <p:ph type="dt" sz="half" idx="10"/>
          </p:nvPr>
        </p:nvSpPr>
        <p:spPr/>
        <p:txBody>
          <a:bodyPr/>
          <a:lstStyle/>
          <a:p>
            <a:fld id="{E8E26838-454B-4C9B-96BB-11F174C719DE}"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21" name="Group 57"/>
          <p:cNvGrpSpPr>
            <a:grpSpLocks/>
          </p:cNvGrpSpPr>
          <p:nvPr/>
        </p:nvGrpSpPr>
        <p:grpSpPr bwMode="auto">
          <a:xfrm>
            <a:off x="3368675" y="4175125"/>
            <a:ext cx="4254500" cy="2073275"/>
            <a:chOff x="1728" y="2160"/>
            <a:chExt cx="2680" cy="1306"/>
          </a:xfrm>
        </p:grpSpPr>
        <p:sp>
          <p:nvSpPr>
            <p:cNvPr id="22" name="Line 58"/>
            <p:cNvSpPr>
              <a:spLocks noChangeShapeType="1"/>
            </p:cNvSpPr>
            <p:nvPr/>
          </p:nvSpPr>
          <p:spPr bwMode="auto">
            <a:xfrm>
              <a:off x="3126" y="2400"/>
              <a:ext cx="0" cy="96"/>
            </a:xfrm>
            <a:prstGeom prst="line">
              <a:avLst/>
            </a:prstGeom>
            <a:no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3200" b="1" kern="0">
                <a:solidFill>
                  <a:srgbClr val="000000"/>
                </a:solidFill>
                <a:latin typeface="Times New Roman" pitchFamily="18" charset="0"/>
              </a:endParaRPr>
            </a:p>
          </p:txBody>
        </p:sp>
        <p:sp>
          <p:nvSpPr>
            <p:cNvPr id="23" name="Line 59"/>
            <p:cNvSpPr>
              <a:spLocks noChangeShapeType="1"/>
            </p:cNvSpPr>
            <p:nvPr/>
          </p:nvSpPr>
          <p:spPr bwMode="auto">
            <a:xfrm flipH="1">
              <a:off x="2550" y="2304"/>
              <a:ext cx="432" cy="240"/>
            </a:xfrm>
            <a:prstGeom prst="line">
              <a:avLst/>
            </a:prstGeom>
            <a:no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3200" b="1" kern="0">
                <a:solidFill>
                  <a:srgbClr val="000000"/>
                </a:solidFill>
                <a:latin typeface="Times New Roman" pitchFamily="18" charset="0"/>
              </a:endParaRPr>
            </a:p>
          </p:txBody>
        </p:sp>
        <p:sp>
          <p:nvSpPr>
            <p:cNvPr id="25" name="Line 60"/>
            <p:cNvSpPr>
              <a:spLocks noChangeShapeType="1"/>
            </p:cNvSpPr>
            <p:nvPr/>
          </p:nvSpPr>
          <p:spPr bwMode="auto">
            <a:xfrm flipH="1">
              <a:off x="2214" y="2688"/>
              <a:ext cx="144" cy="192"/>
            </a:xfrm>
            <a:prstGeom prst="line">
              <a:avLst/>
            </a:prstGeom>
            <a:no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3200" b="1" kern="0">
                <a:solidFill>
                  <a:srgbClr val="000000"/>
                </a:solidFill>
                <a:latin typeface="Times New Roman" pitchFamily="18" charset="0"/>
              </a:endParaRPr>
            </a:p>
          </p:txBody>
        </p:sp>
        <p:sp>
          <p:nvSpPr>
            <p:cNvPr id="26" name="Line 61"/>
            <p:cNvSpPr>
              <a:spLocks noChangeShapeType="1"/>
            </p:cNvSpPr>
            <p:nvPr/>
          </p:nvSpPr>
          <p:spPr bwMode="auto">
            <a:xfrm>
              <a:off x="2502" y="2688"/>
              <a:ext cx="144" cy="192"/>
            </a:xfrm>
            <a:prstGeom prst="line">
              <a:avLst/>
            </a:prstGeom>
            <a:no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3200" b="1" kern="0">
                <a:solidFill>
                  <a:srgbClr val="000000"/>
                </a:solidFill>
                <a:latin typeface="Times New Roman" pitchFamily="18" charset="0"/>
              </a:endParaRPr>
            </a:p>
          </p:txBody>
        </p:sp>
        <p:sp>
          <p:nvSpPr>
            <p:cNvPr id="27" name="Line 62"/>
            <p:cNvSpPr>
              <a:spLocks noChangeShapeType="1"/>
            </p:cNvSpPr>
            <p:nvPr/>
          </p:nvSpPr>
          <p:spPr bwMode="auto">
            <a:xfrm>
              <a:off x="3126" y="2736"/>
              <a:ext cx="0" cy="144"/>
            </a:xfrm>
            <a:prstGeom prst="line">
              <a:avLst/>
            </a:prstGeom>
            <a:no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3200" b="1" kern="0">
                <a:solidFill>
                  <a:srgbClr val="000000"/>
                </a:solidFill>
                <a:latin typeface="Times New Roman" pitchFamily="18" charset="0"/>
              </a:endParaRPr>
            </a:p>
          </p:txBody>
        </p:sp>
        <p:sp>
          <p:nvSpPr>
            <p:cNvPr id="28" name="Line 63"/>
            <p:cNvSpPr>
              <a:spLocks noChangeShapeType="1"/>
            </p:cNvSpPr>
            <p:nvPr/>
          </p:nvSpPr>
          <p:spPr bwMode="auto">
            <a:xfrm>
              <a:off x="3222" y="2304"/>
              <a:ext cx="528" cy="288"/>
            </a:xfrm>
            <a:prstGeom prst="line">
              <a:avLst/>
            </a:prstGeom>
            <a:no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3200" b="1" kern="0">
                <a:solidFill>
                  <a:srgbClr val="000000"/>
                </a:solidFill>
                <a:latin typeface="Times New Roman" pitchFamily="18" charset="0"/>
              </a:endParaRPr>
            </a:p>
          </p:txBody>
        </p:sp>
        <p:sp>
          <p:nvSpPr>
            <p:cNvPr id="29" name="Line 64"/>
            <p:cNvSpPr>
              <a:spLocks noChangeShapeType="1"/>
            </p:cNvSpPr>
            <p:nvPr/>
          </p:nvSpPr>
          <p:spPr bwMode="auto">
            <a:xfrm flipH="1">
              <a:off x="3606" y="2688"/>
              <a:ext cx="192" cy="192"/>
            </a:xfrm>
            <a:prstGeom prst="line">
              <a:avLst/>
            </a:prstGeom>
            <a:no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3200" b="1" kern="0">
                <a:solidFill>
                  <a:srgbClr val="000000"/>
                </a:solidFill>
                <a:latin typeface="Times New Roman" pitchFamily="18" charset="0"/>
              </a:endParaRPr>
            </a:p>
          </p:txBody>
        </p:sp>
        <p:sp>
          <p:nvSpPr>
            <p:cNvPr id="30" name="Line 65"/>
            <p:cNvSpPr>
              <a:spLocks noChangeShapeType="1"/>
            </p:cNvSpPr>
            <p:nvPr/>
          </p:nvSpPr>
          <p:spPr bwMode="auto">
            <a:xfrm>
              <a:off x="3894" y="2736"/>
              <a:ext cx="0" cy="144"/>
            </a:xfrm>
            <a:prstGeom prst="line">
              <a:avLst/>
            </a:prstGeom>
            <a:no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3200" b="1" kern="0">
                <a:solidFill>
                  <a:srgbClr val="000000"/>
                </a:solidFill>
                <a:latin typeface="Times New Roman" pitchFamily="18" charset="0"/>
              </a:endParaRPr>
            </a:p>
          </p:txBody>
        </p:sp>
        <p:sp>
          <p:nvSpPr>
            <p:cNvPr id="31" name="Line 66"/>
            <p:cNvSpPr>
              <a:spLocks noChangeShapeType="1"/>
            </p:cNvSpPr>
            <p:nvPr/>
          </p:nvSpPr>
          <p:spPr bwMode="auto">
            <a:xfrm>
              <a:off x="3990" y="2688"/>
              <a:ext cx="192" cy="192"/>
            </a:xfrm>
            <a:prstGeom prst="line">
              <a:avLst/>
            </a:prstGeom>
            <a:no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3200" b="1" kern="0">
                <a:solidFill>
                  <a:srgbClr val="000000"/>
                </a:solidFill>
                <a:latin typeface="Times New Roman" pitchFamily="18" charset="0"/>
              </a:endParaRPr>
            </a:p>
          </p:txBody>
        </p:sp>
        <p:sp>
          <p:nvSpPr>
            <p:cNvPr id="32" name="Line 67"/>
            <p:cNvSpPr>
              <a:spLocks noChangeShapeType="1"/>
            </p:cNvSpPr>
            <p:nvPr/>
          </p:nvSpPr>
          <p:spPr bwMode="auto">
            <a:xfrm flipH="1">
              <a:off x="1926" y="3046"/>
              <a:ext cx="144" cy="192"/>
            </a:xfrm>
            <a:prstGeom prst="line">
              <a:avLst/>
            </a:prstGeom>
            <a:no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3200" b="1" kern="0">
                <a:solidFill>
                  <a:srgbClr val="000000"/>
                </a:solidFill>
                <a:latin typeface="Times New Roman" pitchFamily="18" charset="0"/>
              </a:endParaRPr>
            </a:p>
          </p:txBody>
        </p:sp>
        <p:sp>
          <p:nvSpPr>
            <p:cNvPr id="33" name="Line 68"/>
            <p:cNvSpPr>
              <a:spLocks noChangeShapeType="1"/>
            </p:cNvSpPr>
            <p:nvPr/>
          </p:nvSpPr>
          <p:spPr bwMode="auto">
            <a:xfrm>
              <a:off x="2256" y="3046"/>
              <a:ext cx="144" cy="192"/>
            </a:xfrm>
            <a:prstGeom prst="line">
              <a:avLst/>
            </a:prstGeom>
            <a:no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3200" b="1" kern="0">
                <a:solidFill>
                  <a:srgbClr val="000000"/>
                </a:solidFill>
                <a:latin typeface="Times New Roman" pitchFamily="18" charset="0"/>
              </a:endParaRPr>
            </a:p>
          </p:txBody>
        </p:sp>
        <p:sp>
          <p:nvSpPr>
            <p:cNvPr id="34" name="Line 69"/>
            <p:cNvSpPr>
              <a:spLocks noChangeShapeType="1"/>
            </p:cNvSpPr>
            <p:nvPr/>
          </p:nvSpPr>
          <p:spPr bwMode="auto">
            <a:xfrm>
              <a:off x="3552" y="3094"/>
              <a:ext cx="0" cy="144"/>
            </a:xfrm>
            <a:prstGeom prst="line">
              <a:avLst/>
            </a:prstGeom>
            <a:no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3200" b="1" kern="0">
                <a:solidFill>
                  <a:srgbClr val="000000"/>
                </a:solidFill>
                <a:latin typeface="Times New Roman" pitchFamily="18" charset="0"/>
              </a:endParaRPr>
            </a:p>
          </p:txBody>
        </p:sp>
        <p:grpSp>
          <p:nvGrpSpPr>
            <p:cNvPr id="35" name="Group 70"/>
            <p:cNvGrpSpPr>
              <a:grpSpLocks/>
            </p:cNvGrpSpPr>
            <p:nvPr/>
          </p:nvGrpSpPr>
          <p:grpSpPr bwMode="auto">
            <a:xfrm>
              <a:off x="4088" y="2856"/>
              <a:ext cx="320" cy="250"/>
              <a:chOff x="2880" y="1104"/>
              <a:chExt cx="367" cy="343"/>
            </a:xfrm>
          </p:grpSpPr>
          <p:sp>
            <p:nvSpPr>
              <p:cNvPr id="72" name="Oval 7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kern="0">
                  <a:solidFill>
                    <a:srgbClr val="0707F9"/>
                  </a:solidFill>
                  <a:latin typeface="隶书" pitchFamily="49" charset="-122"/>
                  <a:ea typeface="隶书" pitchFamily="49" charset="-122"/>
                </a:endParaRPr>
              </a:p>
            </p:txBody>
          </p:sp>
          <p:sp>
            <p:nvSpPr>
              <p:cNvPr id="73" name="Text Box 7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kern="0">
                    <a:solidFill>
                      <a:srgbClr val="0707F9"/>
                    </a:solidFill>
                    <a:latin typeface="隶书" pitchFamily="49" charset="-122"/>
                    <a:ea typeface="隶书" pitchFamily="49" charset="-122"/>
                  </a:rPr>
                  <a:t>J</a:t>
                </a:r>
              </a:p>
            </p:txBody>
          </p:sp>
        </p:grpSp>
        <p:grpSp>
          <p:nvGrpSpPr>
            <p:cNvPr id="36" name="Group 73"/>
            <p:cNvGrpSpPr>
              <a:grpSpLocks/>
            </p:cNvGrpSpPr>
            <p:nvPr/>
          </p:nvGrpSpPr>
          <p:grpSpPr bwMode="auto">
            <a:xfrm>
              <a:off x="3750" y="2858"/>
              <a:ext cx="320" cy="250"/>
              <a:chOff x="2880" y="1104"/>
              <a:chExt cx="367" cy="343"/>
            </a:xfrm>
          </p:grpSpPr>
          <p:sp>
            <p:nvSpPr>
              <p:cNvPr id="70" name="Oval 7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kern="0">
                  <a:solidFill>
                    <a:srgbClr val="0707F9"/>
                  </a:solidFill>
                  <a:latin typeface="隶书" pitchFamily="49" charset="-122"/>
                  <a:ea typeface="隶书" pitchFamily="49" charset="-122"/>
                </a:endParaRPr>
              </a:p>
            </p:txBody>
          </p:sp>
          <p:sp>
            <p:nvSpPr>
              <p:cNvPr id="71" name="Text Box 7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kern="0">
                    <a:solidFill>
                      <a:srgbClr val="0707F9"/>
                    </a:solidFill>
                    <a:latin typeface="隶书" pitchFamily="49" charset="-122"/>
                    <a:ea typeface="隶书" pitchFamily="49" charset="-122"/>
                  </a:rPr>
                  <a:t>I</a:t>
                </a:r>
              </a:p>
            </p:txBody>
          </p:sp>
        </p:grpSp>
        <p:grpSp>
          <p:nvGrpSpPr>
            <p:cNvPr id="37" name="Group 76"/>
            <p:cNvGrpSpPr>
              <a:grpSpLocks/>
            </p:cNvGrpSpPr>
            <p:nvPr/>
          </p:nvGrpSpPr>
          <p:grpSpPr bwMode="auto">
            <a:xfrm>
              <a:off x="2982" y="2160"/>
              <a:ext cx="320" cy="250"/>
              <a:chOff x="2880" y="1104"/>
              <a:chExt cx="367" cy="343"/>
            </a:xfrm>
          </p:grpSpPr>
          <p:sp>
            <p:nvSpPr>
              <p:cNvPr id="68" name="Oval 7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kern="0">
                  <a:solidFill>
                    <a:srgbClr val="0707F9"/>
                  </a:solidFill>
                  <a:latin typeface="隶书" pitchFamily="49" charset="-122"/>
                  <a:ea typeface="隶书" pitchFamily="49" charset="-122"/>
                </a:endParaRPr>
              </a:p>
            </p:txBody>
          </p:sp>
          <p:sp>
            <p:nvSpPr>
              <p:cNvPr id="69" name="Text Box 7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kern="0">
                    <a:solidFill>
                      <a:srgbClr val="0707F9"/>
                    </a:solidFill>
                    <a:latin typeface="隶书" pitchFamily="49" charset="-122"/>
                    <a:ea typeface="隶书" pitchFamily="49" charset="-122"/>
                  </a:rPr>
                  <a:t>A</a:t>
                </a:r>
              </a:p>
            </p:txBody>
          </p:sp>
        </p:grpSp>
        <p:grpSp>
          <p:nvGrpSpPr>
            <p:cNvPr id="38" name="Group 79"/>
            <p:cNvGrpSpPr>
              <a:grpSpLocks/>
            </p:cNvGrpSpPr>
            <p:nvPr/>
          </p:nvGrpSpPr>
          <p:grpSpPr bwMode="auto">
            <a:xfrm>
              <a:off x="2982" y="2497"/>
              <a:ext cx="320" cy="250"/>
              <a:chOff x="2880" y="1104"/>
              <a:chExt cx="367" cy="343"/>
            </a:xfrm>
          </p:grpSpPr>
          <p:sp>
            <p:nvSpPr>
              <p:cNvPr id="66" name="Oval 8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kern="0">
                  <a:solidFill>
                    <a:srgbClr val="0707F9"/>
                  </a:solidFill>
                  <a:latin typeface="隶书" pitchFamily="49" charset="-122"/>
                  <a:ea typeface="隶书" pitchFamily="49" charset="-122"/>
                </a:endParaRPr>
              </a:p>
            </p:txBody>
          </p:sp>
          <p:sp>
            <p:nvSpPr>
              <p:cNvPr id="67" name="Text Box 8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kern="0">
                    <a:solidFill>
                      <a:srgbClr val="0707F9"/>
                    </a:solidFill>
                    <a:latin typeface="隶书" pitchFamily="49" charset="-122"/>
                    <a:ea typeface="隶书" pitchFamily="49" charset="-122"/>
                  </a:rPr>
                  <a:t>C</a:t>
                </a:r>
              </a:p>
            </p:txBody>
          </p:sp>
        </p:grpSp>
        <p:grpSp>
          <p:nvGrpSpPr>
            <p:cNvPr id="39" name="Group 82"/>
            <p:cNvGrpSpPr>
              <a:grpSpLocks/>
            </p:cNvGrpSpPr>
            <p:nvPr/>
          </p:nvGrpSpPr>
          <p:grpSpPr bwMode="auto">
            <a:xfrm>
              <a:off x="2304" y="2497"/>
              <a:ext cx="320" cy="250"/>
              <a:chOff x="2880" y="1104"/>
              <a:chExt cx="367" cy="343"/>
            </a:xfrm>
          </p:grpSpPr>
          <p:sp>
            <p:nvSpPr>
              <p:cNvPr id="64" name="Oval 8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kern="0">
                  <a:solidFill>
                    <a:srgbClr val="0707F9"/>
                  </a:solidFill>
                  <a:latin typeface="隶书" pitchFamily="49" charset="-122"/>
                  <a:ea typeface="隶书" pitchFamily="49" charset="-122"/>
                </a:endParaRPr>
              </a:p>
            </p:txBody>
          </p:sp>
          <p:sp>
            <p:nvSpPr>
              <p:cNvPr id="65" name="Text Box 8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kern="0">
                    <a:solidFill>
                      <a:srgbClr val="0707F9"/>
                    </a:solidFill>
                    <a:latin typeface="隶书" pitchFamily="49" charset="-122"/>
                    <a:ea typeface="隶书" pitchFamily="49" charset="-122"/>
                  </a:rPr>
                  <a:t>B</a:t>
                </a:r>
              </a:p>
            </p:txBody>
          </p:sp>
        </p:grpSp>
        <p:grpSp>
          <p:nvGrpSpPr>
            <p:cNvPr id="40" name="Group 85"/>
            <p:cNvGrpSpPr>
              <a:grpSpLocks/>
            </p:cNvGrpSpPr>
            <p:nvPr/>
          </p:nvGrpSpPr>
          <p:grpSpPr bwMode="auto">
            <a:xfrm>
              <a:off x="3750" y="2497"/>
              <a:ext cx="320" cy="250"/>
              <a:chOff x="2880" y="1104"/>
              <a:chExt cx="367" cy="343"/>
            </a:xfrm>
          </p:grpSpPr>
          <p:sp>
            <p:nvSpPr>
              <p:cNvPr id="62" name="Oval 8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kern="0">
                  <a:solidFill>
                    <a:srgbClr val="0707F9"/>
                  </a:solidFill>
                  <a:latin typeface="隶书" pitchFamily="49" charset="-122"/>
                  <a:ea typeface="隶书" pitchFamily="49" charset="-122"/>
                </a:endParaRPr>
              </a:p>
            </p:txBody>
          </p:sp>
          <p:sp>
            <p:nvSpPr>
              <p:cNvPr id="63" name="Text Box 8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kern="0">
                    <a:solidFill>
                      <a:srgbClr val="0707F9"/>
                    </a:solidFill>
                    <a:latin typeface="隶书" pitchFamily="49" charset="-122"/>
                    <a:ea typeface="隶书" pitchFamily="49" charset="-122"/>
                  </a:rPr>
                  <a:t>D</a:t>
                </a:r>
              </a:p>
            </p:txBody>
          </p:sp>
        </p:grpSp>
        <p:grpSp>
          <p:nvGrpSpPr>
            <p:cNvPr id="41" name="Group 88"/>
            <p:cNvGrpSpPr>
              <a:grpSpLocks/>
            </p:cNvGrpSpPr>
            <p:nvPr/>
          </p:nvGrpSpPr>
          <p:grpSpPr bwMode="auto">
            <a:xfrm>
              <a:off x="3408" y="2858"/>
              <a:ext cx="320" cy="250"/>
              <a:chOff x="2880" y="1104"/>
              <a:chExt cx="367" cy="343"/>
            </a:xfrm>
          </p:grpSpPr>
          <p:sp>
            <p:nvSpPr>
              <p:cNvPr id="60" name="Oval 8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kern="0">
                  <a:solidFill>
                    <a:srgbClr val="0707F9"/>
                  </a:solidFill>
                  <a:latin typeface="隶书" pitchFamily="49" charset="-122"/>
                  <a:ea typeface="隶书" pitchFamily="49" charset="-122"/>
                </a:endParaRPr>
              </a:p>
            </p:txBody>
          </p:sp>
          <p:sp>
            <p:nvSpPr>
              <p:cNvPr id="61" name="Text Box 90"/>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kern="0">
                    <a:solidFill>
                      <a:srgbClr val="0707F9"/>
                    </a:solidFill>
                    <a:latin typeface="隶书" pitchFamily="49" charset="-122"/>
                    <a:ea typeface="隶书" pitchFamily="49" charset="-122"/>
                  </a:rPr>
                  <a:t>H</a:t>
                </a:r>
              </a:p>
            </p:txBody>
          </p:sp>
        </p:grpSp>
        <p:grpSp>
          <p:nvGrpSpPr>
            <p:cNvPr id="42" name="Group 91"/>
            <p:cNvGrpSpPr>
              <a:grpSpLocks/>
            </p:cNvGrpSpPr>
            <p:nvPr/>
          </p:nvGrpSpPr>
          <p:grpSpPr bwMode="auto">
            <a:xfrm>
              <a:off x="2982" y="2858"/>
              <a:ext cx="320" cy="250"/>
              <a:chOff x="2880" y="1104"/>
              <a:chExt cx="367" cy="343"/>
            </a:xfrm>
          </p:grpSpPr>
          <p:sp>
            <p:nvSpPr>
              <p:cNvPr id="58" name="Oval 9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kern="0">
                  <a:solidFill>
                    <a:srgbClr val="0707F9"/>
                  </a:solidFill>
                  <a:latin typeface="隶书" pitchFamily="49" charset="-122"/>
                  <a:ea typeface="隶书" pitchFamily="49" charset="-122"/>
                </a:endParaRPr>
              </a:p>
            </p:txBody>
          </p:sp>
          <p:sp>
            <p:nvSpPr>
              <p:cNvPr id="59" name="Text Box 9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kern="0">
                    <a:solidFill>
                      <a:srgbClr val="0707F9"/>
                    </a:solidFill>
                    <a:latin typeface="隶书" pitchFamily="49" charset="-122"/>
                    <a:ea typeface="隶书" pitchFamily="49" charset="-122"/>
                  </a:rPr>
                  <a:t>G</a:t>
                </a:r>
              </a:p>
            </p:txBody>
          </p:sp>
        </p:grpSp>
        <p:grpSp>
          <p:nvGrpSpPr>
            <p:cNvPr id="43" name="Group 94"/>
            <p:cNvGrpSpPr>
              <a:grpSpLocks/>
            </p:cNvGrpSpPr>
            <p:nvPr/>
          </p:nvGrpSpPr>
          <p:grpSpPr bwMode="auto">
            <a:xfrm>
              <a:off x="2502" y="2858"/>
              <a:ext cx="320" cy="250"/>
              <a:chOff x="2880" y="1104"/>
              <a:chExt cx="367" cy="343"/>
            </a:xfrm>
          </p:grpSpPr>
          <p:sp>
            <p:nvSpPr>
              <p:cNvPr id="56" name="Oval 9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kern="0">
                  <a:solidFill>
                    <a:srgbClr val="0707F9"/>
                  </a:solidFill>
                  <a:latin typeface="隶书" pitchFamily="49" charset="-122"/>
                  <a:ea typeface="隶书" pitchFamily="49" charset="-122"/>
                </a:endParaRPr>
              </a:p>
            </p:txBody>
          </p:sp>
          <p:sp>
            <p:nvSpPr>
              <p:cNvPr id="57" name="Text Box 96"/>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kern="0">
                    <a:solidFill>
                      <a:srgbClr val="0707F9"/>
                    </a:solidFill>
                    <a:latin typeface="隶书" pitchFamily="49" charset="-122"/>
                    <a:ea typeface="隶书" pitchFamily="49" charset="-122"/>
                  </a:rPr>
                  <a:t>F</a:t>
                </a:r>
              </a:p>
            </p:txBody>
          </p:sp>
        </p:grpSp>
        <p:grpSp>
          <p:nvGrpSpPr>
            <p:cNvPr id="44" name="Group 97"/>
            <p:cNvGrpSpPr>
              <a:grpSpLocks/>
            </p:cNvGrpSpPr>
            <p:nvPr/>
          </p:nvGrpSpPr>
          <p:grpSpPr bwMode="auto">
            <a:xfrm>
              <a:off x="2016" y="2858"/>
              <a:ext cx="320" cy="250"/>
              <a:chOff x="2880" y="1104"/>
              <a:chExt cx="367" cy="343"/>
            </a:xfrm>
          </p:grpSpPr>
          <p:sp>
            <p:nvSpPr>
              <p:cNvPr id="54" name="Oval 9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kern="0">
                  <a:solidFill>
                    <a:srgbClr val="0707F9"/>
                  </a:solidFill>
                  <a:latin typeface="隶书" pitchFamily="49" charset="-122"/>
                  <a:ea typeface="隶书" pitchFamily="49" charset="-122"/>
                </a:endParaRPr>
              </a:p>
            </p:txBody>
          </p:sp>
          <p:sp>
            <p:nvSpPr>
              <p:cNvPr id="55" name="Text Box 9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kern="0">
                    <a:solidFill>
                      <a:srgbClr val="0707F9"/>
                    </a:solidFill>
                    <a:latin typeface="隶书" pitchFamily="49" charset="-122"/>
                    <a:ea typeface="隶书" pitchFamily="49" charset="-122"/>
                  </a:rPr>
                  <a:t>E</a:t>
                </a:r>
              </a:p>
            </p:txBody>
          </p:sp>
        </p:grpSp>
        <p:grpSp>
          <p:nvGrpSpPr>
            <p:cNvPr id="45" name="Group 100"/>
            <p:cNvGrpSpPr>
              <a:grpSpLocks/>
            </p:cNvGrpSpPr>
            <p:nvPr/>
          </p:nvGrpSpPr>
          <p:grpSpPr bwMode="auto">
            <a:xfrm>
              <a:off x="1728" y="3216"/>
              <a:ext cx="320" cy="250"/>
              <a:chOff x="2880" y="1104"/>
              <a:chExt cx="367" cy="343"/>
            </a:xfrm>
          </p:grpSpPr>
          <p:sp>
            <p:nvSpPr>
              <p:cNvPr id="52" name="Oval 10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kern="0">
                  <a:solidFill>
                    <a:srgbClr val="0707F9"/>
                  </a:solidFill>
                  <a:latin typeface="隶书" pitchFamily="49" charset="-122"/>
                  <a:ea typeface="隶书" pitchFamily="49" charset="-122"/>
                </a:endParaRPr>
              </a:p>
            </p:txBody>
          </p:sp>
          <p:sp>
            <p:nvSpPr>
              <p:cNvPr id="53" name="Text Box 10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kern="0">
                    <a:solidFill>
                      <a:srgbClr val="0707F9"/>
                    </a:solidFill>
                    <a:latin typeface="隶书" pitchFamily="49" charset="-122"/>
                    <a:ea typeface="隶书" pitchFamily="49" charset="-122"/>
                  </a:rPr>
                  <a:t>K</a:t>
                </a:r>
              </a:p>
            </p:txBody>
          </p:sp>
        </p:grpSp>
        <p:grpSp>
          <p:nvGrpSpPr>
            <p:cNvPr id="46" name="Group 103"/>
            <p:cNvGrpSpPr>
              <a:grpSpLocks/>
            </p:cNvGrpSpPr>
            <p:nvPr/>
          </p:nvGrpSpPr>
          <p:grpSpPr bwMode="auto">
            <a:xfrm>
              <a:off x="2256" y="3216"/>
              <a:ext cx="320" cy="250"/>
              <a:chOff x="2880" y="1104"/>
              <a:chExt cx="367" cy="343"/>
            </a:xfrm>
          </p:grpSpPr>
          <p:sp>
            <p:nvSpPr>
              <p:cNvPr id="50" name="Oval 10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kern="0">
                  <a:solidFill>
                    <a:srgbClr val="0707F9"/>
                  </a:solidFill>
                  <a:latin typeface="隶书" pitchFamily="49" charset="-122"/>
                  <a:ea typeface="隶书" pitchFamily="49" charset="-122"/>
                </a:endParaRPr>
              </a:p>
            </p:txBody>
          </p:sp>
          <p:sp>
            <p:nvSpPr>
              <p:cNvPr id="51" name="Text Box 10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kern="0">
                    <a:solidFill>
                      <a:srgbClr val="0707F9"/>
                    </a:solidFill>
                    <a:latin typeface="隶书" pitchFamily="49" charset="-122"/>
                    <a:ea typeface="隶书" pitchFamily="49" charset="-122"/>
                  </a:rPr>
                  <a:t>L</a:t>
                </a:r>
              </a:p>
            </p:txBody>
          </p:sp>
        </p:grpSp>
        <p:grpSp>
          <p:nvGrpSpPr>
            <p:cNvPr id="47" name="Group 106"/>
            <p:cNvGrpSpPr>
              <a:grpSpLocks/>
            </p:cNvGrpSpPr>
            <p:nvPr/>
          </p:nvGrpSpPr>
          <p:grpSpPr bwMode="auto">
            <a:xfrm>
              <a:off x="3408" y="3216"/>
              <a:ext cx="320" cy="250"/>
              <a:chOff x="2880" y="1104"/>
              <a:chExt cx="367" cy="343"/>
            </a:xfrm>
          </p:grpSpPr>
          <p:sp>
            <p:nvSpPr>
              <p:cNvPr id="48" name="Oval 10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kern="0">
                  <a:solidFill>
                    <a:srgbClr val="0707F9"/>
                  </a:solidFill>
                  <a:latin typeface="隶书" pitchFamily="49" charset="-122"/>
                  <a:ea typeface="隶书" pitchFamily="49" charset="-122"/>
                </a:endParaRPr>
              </a:p>
            </p:txBody>
          </p:sp>
          <p:sp>
            <p:nvSpPr>
              <p:cNvPr id="49" name="Text Box 10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kern="0">
                    <a:solidFill>
                      <a:srgbClr val="0707F9"/>
                    </a:solidFill>
                    <a:latin typeface="隶书" pitchFamily="49" charset="-122"/>
                    <a:ea typeface="隶书" pitchFamily="49" charset="-122"/>
                  </a:rPr>
                  <a:t>M</a:t>
                </a:r>
              </a:p>
            </p:txBody>
          </p:sp>
        </p:grpSp>
      </p:grpSp>
    </p:spTree>
    <p:extLst>
      <p:ext uri="{BB962C8B-B14F-4D97-AF65-F5344CB8AC3E}">
        <p14:creationId xmlns:p14="http://schemas.microsoft.com/office/powerpoint/2010/main" val="942110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lvl="1">
              <a:lnSpc>
                <a:spcPts val="3100"/>
              </a:lnSpc>
            </a:pPr>
            <a:endParaRPr lang="en-US" altLang="zh-CN" sz="2400" b="1" dirty="0"/>
          </a:p>
        </p:txBody>
      </p:sp>
      <p:sp>
        <p:nvSpPr>
          <p:cNvPr id="4" name="日期占位符 3"/>
          <p:cNvSpPr>
            <a:spLocks noGrp="1"/>
          </p:cNvSpPr>
          <p:nvPr>
            <p:ph type="dt" sz="half" idx="10"/>
          </p:nvPr>
        </p:nvSpPr>
        <p:spPr/>
        <p:txBody>
          <a:bodyPr/>
          <a:lstStyle/>
          <a:p>
            <a:fld id="{91272378-6A09-4608-9130-38B6CB05A76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74" name="WordArt 57"/>
          <p:cNvSpPr>
            <a:spLocks noChangeArrowheads="1" noChangeShapeType="1" noTextEdit="1"/>
          </p:cNvSpPr>
          <p:nvPr/>
        </p:nvSpPr>
        <p:spPr bwMode="auto">
          <a:xfrm>
            <a:off x="4302125" y="1524000"/>
            <a:ext cx="155575" cy="4753710"/>
          </a:xfrm>
          <a:prstGeom prst="rect">
            <a:avLst/>
          </a:prstGeom>
        </p:spPr>
        <p:txBody>
          <a:bodyPr wrap="none" fromWordArt="1">
            <a:prstTxWarp prst="textPlain">
              <a:avLst>
                <a:gd name="adj" fmla="val 50000"/>
              </a:avLst>
            </a:prstTxWarp>
          </a:bodyPr>
          <a:lstStyle/>
          <a:p>
            <a:pPr algn="ctr" eaLnBrk="0" fontAlgn="base" hangingPunct="0">
              <a:spcBef>
                <a:spcPct val="0"/>
              </a:spcBef>
              <a:spcAft>
                <a:spcPct val="0"/>
              </a:spcAft>
            </a:pPr>
            <a:r>
              <a:rPr kumimoji="1" lang="zh-CN" altLang="en-US" sz="3200" b="1" kern="10" dirty="0">
                <a:ln w="12700" cap="sq">
                  <a:solidFill>
                    <a:srgbClr val="3333CC"/>
                  </a:solidFill>
                  <a:round/>
                  <a:headEnd type="none" w="sm" len="sm"/>
                  <a:tailEnd type="none" w="sm" len="sm"/>
                </a:ln>
                <a:solidFill>
                  <a:srgbClr val="B2B2B2">
                    <a:alpha val="50195"/>
                  </a:srgbClr>
                </a:solidFill>
                <a:effectLst>
                  <a:outerShdw dist="45791" dir="2021404" algn="ctr" rotWithShape="0">
                    <a:srgbClr val="9999FF"/>
                  </a:outerShdw>
                </a:effectLst>
                <a:latin typeface="宋体"/>
              </a:rPr>
              <a:t>***************************</a:t>
            </a:r>
          </a:p>
        </p:txBody>
      </p:sp>
      <p:sp>
        <p:nvSpPr>
          <p:cNvPr id="75" name="Text Box 58"/>
          <p:cNvSpPr txBox="1">
            <a:spLocks noChangeArrowheads="1"/>
          </p:cNvSpPr>
          <p:nvPr/>
        </p:nvSpPr>
        <p:spPr bwMode="auto">
          <a:xfrm>
            <a:off x="1066800" y="1748135"/>
            <a:ext cx="1627369" cy="52322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800" b="1">
                <a:solidFill>
                  <a:srgbClr val="FF3300"/>
                </a:solidFill>
                <a:latin typeface="Times New Roman" pitchFamily="18" charset="0"/>
                <a:ea typeface="隶书" pitchFamily="49" charset="-122"/>
              </a:rPr>
              <a:t>线性结构</a:t>
            </a:r>
          </a:p>
        </p:txBody>
      </p:sp>
      <p:sp>
        <p:nvSpPr>
          <p:cNvPr id="76" name="Rectangle 59"/>
          <p:cNvSpPr>
            <a:spLocks noChangeArrowheads="1"/>
          </p:cNvSpPr>
          <p:nvPr/>
        </p:nvSpPr>
        <p:spPr bwMode="auto">
          <a:xfrm>
            <a:off x="5192712" y="1708448"/>
            <a:ext cx="2707793" cy="52322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800" b="1">
                <a:solidFill>
                  <a:srgbClr val="FF3300"/>
                </a:solidFill>
                <a:latin typeface="Times New Roman" pitchFamily="18" charset="0"/>
                <a:ea typeface="隶书" pitchFamily="49" charset="-122"/>
              </a:rPr>
              <a:t>非线形结构</a:t>
            </a:r>
            <a:r>
              <a:rPr kumimoji="1" lang="en-US" altLang="zh-CN" sz="2800" b="1">
                <a:solidFill>
                  <a:srgbClr val="FF3300"/>
                </a:solidFill>
                <a:latin typeface="Times New Roman" pitchFamily="18" charset="0"/>
                <a:ea typeface="隶书" pitchFamily="49" charset="-122"/>
              </a:rPr>
              <a:t>—</a:t>
            </a:r>
            <a:r>
              <a:rPr kumimoji="1" lang="zh-CN" altLang="en-US" sz="2800" b="1">
                <a:solidFill>
                  <a:srgbClr val="FF3300"/>
                </a:solidFill>
                <a:latin typeface="Times New Roman" pitchFamily="18" charset="0"/>
                <a:ea typeface="隶书" pitchFamily="49" charset="-122"/>
              </a:rPr>
              <a:t>树</a:t>
            </a:r>
          </a:p>
        </p:txBody>
      </p:sp>
      <p:sp>
        <p:nvSpPr>
          <p:cNvPr id="77" name="Text Box 60"/>
          <p:cNvSpPr txBox="1">
            <a:spLocks noChangeArrowheads="1"/>
          </p:cNvSpPr>
          <p:nvPr/>
        </p:nvSpPr>
        <p:spPr bwMode="auto">
          <a:xfrm>
            <a:off x="674688" y="2955925"/>
            <a:ext cx="2350323" cy="830997"/>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400" b="1">
                <a:solidFill>
                  <a:srgbClr val="0000FF"/>
                </a:solidFill>
                <a:latin typeface="宋体" pitchFamily="2" charset="-122"/>
              </a:rPr>
              <a:t>第一个数据元素</a:t>
            </a:r>
          </a:p>
          <a:p>
            <a:pPr fontAlgn="base">
              <a:spcBef>
                <a:spcPct val="0"/>
              </a:spcBef>
              <a:spcAft>
                <a:spcPct val="0"/>
              </a:spcAft>
            </a:pPr>
            <a:r>
              <a:rPr kumimoji="1" lang="zh-CN" altLang="en-US" sz="2400" b="1">
                <a:solidFill>
                  <a:srgbClr val="0000FF"/>
                </a:solidFill>
                <a:latin typeface="宋体" pitchFamily="2" charset="-122"/>
              </a:rPr>
              <a:t>  </a:t>
            </a:r>
            <a:r>
              <a:rPr kumimoji="1" lang="en-US" altLang="zh-CN" sz="2400" b="1">
                <a:solidFill>
                  <a:srgbClr val="0000FF"/>
                </a:solidFill>
                <a:latin typeface="宋体" pitchFamily="2" charset="-122"/>
              </a:rPr>
              <a:t>(</a:t>
            </a:r>
            <a:r>
              <a:rPr kumimoji="1" lang="zh-CN" altLang="en-US" sz="2400" b="1">
                <a:solidFill>
                  <a:srgbClr val="0000FF"/>
                </a:solidFill>
                <a:latin typeface="宋体" pitchFamily="2" charset="-122"/>
              </a:rPr>
              <a:t>无前驱</a:t>
            </a:r>
            <a:r>
              <a:rPr kumimoji="1" lang="en-US" altLang="zh-CN" sz="2400" b="1">
                <a:solidFill>
                  <a:srgbClr val="0000FF"/>
                </a:solidFill>
                <a:latin typeface="宋体" pitchFamily="2" charset="-122"/>
              </a:rPr>
              <a:t>)</a:t>
            </a:r>
            <a:endParaRPr kumimoji="1" lang="en-US" altLang="zh-CN" sz="2400">
              <a:solidFill>
                <a:srgbClr val="0000FF"/>
              </a:solidFill>
              <a:latin typeface="宋体" pitchFamily="2" charset="-122"/>
            </a:endParaRPr>
          </a:p>
        </p:txBody>
      </p:sp>
      <p:sp>
        <p:nvSpPr>
          <p:cNvPr id="78" name="Text Box 61"/>
          <p:cNvSpPr txBox="1">
            <a:spLocks noChangeArrowheads="1"/>
          </p:cNvSpPr>
          <p:nvPr/>
        </p:nvSpPr>
        <p:spPr bwMode="auto">
          <a:xfrm>
            <a:off x="5665788" y="2895600"/>
            <a:ext cx="1423788" cy="830997"/>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400">
                <a:solidFill>
                  <a:srgbClr val="0000FF"/>
                </a:solidFill>
                <a:latin typeface="宋体" pitchFamily="2" charset="-122"/>
              </a:rPr>
              <a:t> </a:t>
            </a:r>
            <a:r>
              <a:rPr kumimoji="1" lang="zh-CN" altLang="en-US" sz="2400" b="1">
                <a:solidFill>
                  <a:srgbClr val="0000FF"/>
                </a:solidFill>
                <a:latin typeface="宋体" pitchFamily="2" charset="-122"/>
              </a:rPr>
              <a:t>根结点</a:t>
            </a:r>
          </a:p>
          <a:p>
            <a:pPr fontAlgn="base">
              <a:spcBef>
                <a:spcPct val="0"/>
              </a:spcBef>
              <a:spcAft>
                <a:spcPct val="0"/>
              </a:spcAft>
            </a:pPr>
            <a:r>
              <a:rPr kumimoji="1" lang="en-US" altLang="zh-CN" sz="2400" b="1">
                <a:solidFill>
                  <a:srgbClr val="0000FF"/>
                </a:solidFill>
                <a:latin typeface="宋体" pitchFamily="2" charset="-122"/>
              </a:rPr>
              <a:t>(</a:t>
            </a:r>
            <a:r>
              <a:rPr kumimoji="1" lang="zh-CN" altLang="en-US" sz="2400" b="1">
                <a:solidFill>
                  <a:srgbClr val="0000FF"/>
                </a:solidFill>
                <a:latin typeface="宋体" pitchFamily="2" charset="-122"/>
              </a:rPr>
              <a:t>无前驱</a:t>
            </a:r>
            <a:r>
              <a:rPr kumimoji="1" lang="en-US" altLang="zh-CN" sz="2400" b="1">
                <a:solidFill>
                  <a:srgbClr val="0000FF"/>
                </a:solidFill>
                <a:latin typeface="宋体" pitchFamily="2" charset="-122"/>
              </a:rPr>
              <a:t>)</a:t>
            </a:r>
            <a:endParaRPr kumimoji="1" lang="en-US" altLang="zh-CN" sz="2400">
              <a:solidFill>
                <a:srgbClr val="0000FF"/>
              </a:solidFill>
              <a:latin typeface="宋体" pitchFamily="2" charset="-122"/>
            </a:endParaRPr>
          </a:p>
        </p:txBody>
      </p:sp>
      <p:sp>
        <p:nvSpPr>
          <p:cNvPr id="79" name="Text Box 62"/>
          <p:cNvSpPr txBox="1">
            <a:spLocks noChangeArrowheads="1"/>
          </p:cNvSpPr>
          <p:nvPr/>
        </p:nvSpPr>
        <p:spPr bwMode="auto">
          <a:xfrm>
            <a:off x="461963" y="4274403"/>
            <a:ext cx="2659702" cy="830997"/>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400" b="1" dirty="0">
                <a:solidFill>
                  <a:srgbClr val="0000FF"/>
                </a:solidFill>
                <a:latin typeface="宋体" pitchFamily="2" charset="-122"/>
              </a:rPr>
              <a:t>最后一个数据元素</a:t>
            </a:r>
          </a:p>
          <a:p>
            <a:pPr fontAlgn="base">
              <a:spcBef>
                <a:spcPct val="0"/>
              </a:spcBef>
              <a:spcAft>
                <a:spcPct val="0"/>
              </a:spcAft>
            </a:pPr>
            <a:r>
              <a:rPr kumimoji="1" lang="zh-CN" altLang="en-US" sz="2400" b="1" dirty="0">
                <a:solidFill>
                  <a:srgbClr val="0000FF"/>
                </a:solidFill>
                <a:latin typeface="宋体" pitchFamily="2" charset="-122"/>
              </a:rPr>
              <a:t>   </a:t>
            </a:r>
            <a:r>
              <a:rPr kumimoji="1" lang="en-US" altLang="zh-CN" sz="2400" b="1" dirty="0">
                <a:solidFill>
                  <a:srgbClr val="0000FF"/>
                </a:solidFill>
                <a:latin typeface="宋体" pitchFamily="2" charset="-122"/>
              </a:rPr>
              <a:t>(</a:t>
            </a:r>
            <a:r>
              <a:rPr kumimoji="1" lang="zh-CN" altLang="en-US" sz="2400" b="1" dirty="0">
                <a:solidFill>
                  <a:srgbClr val="0000FF"/>
                </a:solidFill>
                <a:latin typeface="宋体" pitchFamily="2" charset="-122"/>
              </a:rPr>
              <a:t>无后继</a:t>
            </a:r>
            <a:r>
              <a:rPr kumimoji="1" lang="en-US" altLang="zh-CN" sz="2400" b="1" dirty="0">
                <a:solidFill>
                  <a:srgbClr val="0000FF"/>
                </a:solidFill>
                <a:latin typeface="宋体" pitchFamily="2" charset="-122"/>
              </a:rPr>
              <a:t>)</a:t>
            </a:r>
            <a:endParaRPr kumimoji="1" lang="en-US" altLang="zh-CN" sz="2400" dirty="0">
              <a:solidFill>
                <a:srgbClr val="0000FF"/>
              </a:solidFill>
              <a:latin typeface="宋体" pitchFamily="2" charset="-122"/>
            </a:endParaRPr>
          </a:p>
        </p:txBody>
      </p:sp>
      <p:sp>
        <p:nvSpPr>
          <p:cNvPr id="80" name="Text Box 63"/>
          <p:cNvSpPr txBox="1">
            <a:spLocks noChangeArrowheads="1"/>
          </p:cNvSpPr>
          <p:nvPr/>
        </p:nvSpPr>
        <p:spPr bwMode="auto">
          <a:xfrm>
            <a:off x="5583238" y="4274403"/>
            <a:ext cx="2040943" cy="830997"/>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400" b="1">
                <a:solidFill>
                  <a:srgbClr val="0000FF"/>
                </a:solidFill>
                <a:latin typeface="宋体" pitchFamily="2" charset="-122"/>
              </a:rPr>
              <a:t>多个叶子结点</a:t>
            </a:r>
          </a:p>
          <a:p>
            <a:pPr fontAlgn="base">
              <a:spcBef>
                <a:spcPct val="0"/>
              </a:spcBef>
              <a:spcAft>
                <a:spcPct val="0"/>
              </a:spcAft>
            </a:pPr>
            <a:r>
              <a:rPr kumimoji="1" lang="zh-CN" altLang="en-US" sz="2400" b="1">
                <a:solidFill>
                  <a:srgbClr val="0000FF"/>
                </a:solidFill>
                <a:latin typeface="宋体" pitchFamily="2" charset="-122"/>
              </a:rPr>
              <a:t>   </a:t>
            </a:r>
            <a:r>
              <a:rPr kumimoji="1" lang="en-US" altLang="zh-CN" sz="2400" b="1">
                <a:solidFill>
                  <a:srgbClr val="0000FF"/>
                </a:solidFill>
                <a:latin typeface="宋体" pitchFamily="2" charset="-122"/>
              </a:rPr>
              <a:t>(</a:t>
            </a:r>
            <a:r>
              <a:rPr kumimoji="1" lang="zh-CN" altLang="en-US" sz="2400" b="1">
                <a:solidFill>
                  <a:srgbClr val="0000FF"/>
                </a:solidFill>
                <a:latin typeface="宋体" pitchFamily="2" charset="-122"/>
              </a:rPr>
              <a:t>无后继</a:t>
            </a:r>
            <a:r>
              <a:rPr kumimoji="1" lang="en-US" altLang="zh-CN" sz="2400" b="1">
                <a:solidFill>
                  <a:srgbClr val="0000FF"/>
                </a:solidFill>
                <a:latin typeface="宋体" pitchFamily="2" charset="-122"/>
              </a:rPr>
              <a:t>)</a:t>
            </a:r>
          </a:p>
        </p:txBody>
      </p:sp>
      <p:sp>
        <p:nvSpPr>
          <p:cNvPr id="81" name="Text Box 64"/>
          <p:cNvSpPr txBox="1">
            <a:spLocks noChangeArrowheads="1"/>
          </p:cNvSpPr>
          <p:nvPr/>
        </p:nvSpPr>
        <p:spPr bwMode="auto">
          <a:xfrm>
            <a:off x="368300" y="5446713"/>
            <a:ext cx="4089400" cy="830997"/>
          </a:xfrm>
          <a:prstGeom prst="rect">
            <a:avLst/>
          </a:prstGeom>
          <a:noFill/>
          <a:ln w="12700" cap="sq">
            <a:noFill/>
            <a:miter lim="800000"/>
            <a:headEnd type="none" w="sm" len="sm"/>
            <a:tailEnd type="none" w="sm" len="sm"/>
          </a:ln>
        </p:spPr>
        <p:txBody>
          <a:bodyPr>
            <a:spAutoFit/>
          </a:bodyPr>
          <a:lstStyle/>
          <a:p>
            <a:pPr fontAlgn="base">
              <a:spcBef>
                <a:spcPct val="0"/>
              </a:spcBef>
              <a:spcAft>
                <a:spcPct val="0"/>
              </a:spcAft>
            </a:pPr>
            <a:r>
              <a:rPr kumimoji="1" lang="zh-CN" altLang="en-US" sz="2400" b="1">
                <a:solidFill>
                  <a:srgbClr val="0000FF"/>
                </a:solidFill>
                <a:latin typeface="宋体" pitchFamily="2" charset="-122"/>
              </a:rPr>
              <a:t>   其它数据元素</a:t>
            </a:r>
          </a:p>
          <a:p>
            <a:pPr fontAlgn="base">
              <a:spcBef>
                <a:spcPct val="0"/>
              </a:spcBef>
              <a:spcAft>
                <a:spcPct val="0"/>
              </a:spcAft>
            </a:pPr>
            <a:r>
              <a:rPr kumimoji="1" lang="en-US" altLang="zh-CN" sz="2400" b="1">
                <a:solidFill>
                  <a:srgbClr val="0000FF"/>
                </a:solidFill>
                <a:latin typeface="宋体" pitchFamily="2" charset="-122"/>
              </a:rPr>
              <a:t>(</a:t>
            </a:r>
            <a:r>
              <a:rPr kumimoji="1" lang="zh-CN" altLang="en-US" sz="2400" b="1">
                <a:solidFill>
                  <a:srgbClr val="0000FF"/>
                </a:solidFill>
                <a:latin typeface="宋体" pitchFamily="2" charset="-122"/>
              </a:rPr>
              <a:t>一个前驱、一个后继</a:t>
            </a:r>
            <a:r>
              <a:rPr kumimoji="1" lang="en-US" altLang="zh-CN" sz="2400" b="1">
                <a:solidFill>
                  <a:srgbClr val="0000FF"/>
                </a:solidFill>
                <a:latin typeface="宋体" pitchFamily="2" charset="-122"/>
              </a:rPr>
              <a:t>)</a:t>
            </a:r>
            <a:endParaRPr kumimoji="1" lang="en-US" altLang="zh-CN" sz="2400">
              <a:solidFill>
                <a:srgbClr val="0000FF"/>
              </a:solidFill>
              <a:latin typeface="宋体" pitchFamily="2" charset="-122"/>
            </a:endParaRPr>
          </a:p>
        </p:txBody>
      </p:sp>
      <p:sp>
        <p:nvSpPr>
          <p:cNvPr id="82" name="Text Box 65"/>
          <p:cNvSpPr txBox="1">
            <a:spLocks noChangeArrowheads="1"/>
          </p:cNvSpPr>
          <p:nvPr/>
        </p:nvSpPr>
        <p:spPr bwMode="auto">
          <a:xfrm>
            <a:off x="5408613" y="5462588"/>
            <a:ext cx="3811587" cy="830997"/>
          </a:xfrm>
          <a:prstGeom prst="rect">
            <a:avLst/>
          </a:prstGeom>
          <a:noFill/>
          <a:ln w="12700" cap="sq">
            <a:noFill/>
            <a:miter lim="800000"/>
            <a:headEnd type="none" w="sm" len="sm"/>
            <a:tailEnd type="none" w="sm" len="sm"/>
          </a:ln>
        </p:spPr>
        <p:txBody>
          <a:bodyPr>
            <a:spAutoFit/>
          </a:bodyPr>
          <a:lstStyle/>
          <a:p>
            <a:pPr fontAlgn="base">
              <a:spcBef>
                <a:spcPct val="0"/>
              </a:spcBef>
              <a:spcAft>
                <a:spcPct val="0"/>
              </a:spcAft>
            </a:pPr>
            <a:r>
              <a:rPr kumimoji="1" lang="zh-CN" altLang="en-US" sz="2400" b="1">
                <a:solidFill>
                  <a:srgbClr val="0000FF"/>
                </a:solidFill>
                <a:latin typeface="宋体" pitchFamily="2" charset="-122"/>
              </a:rPr>
              <a:t>   其它数据元素</a:t>
            </a:r>
          </a:p>
          <a:p>
            <a:pPr fontAlgn="base">
              <a:spcBef>
                <a:spcPct val="0"/>
              </a:spcBef>
              <a:spcAft>
                <a:spcPct val="0"/>
              </a:spcAft>
            </a:pPr>
            <a:r>
              <a:rPr kumimoji="1" lang="en-US" altLang="zh-CN" sz="2400" b="1">
                <a:solidFill>
                  <a:srgbClr val="0000FF"/>
                </a:solidFill>
                <a:latin typeface="宋体" pitchFamily="2" charset="-122"/>
              </a:rPr>
              <a:t>(</a:t>
            </a:r>
            <a:r>
              <a:rPr kumimoji="1" lang="zh-CN" altLang="en-US" sz="2400" b="1">
                <a:solidFill>
                  <a:srgbClr val="0000FF"/>
                </a:solidFill>
                <a:latin typeface="宋体" pitchFamily="2" charset="-122"/>
              </a:rPr>
              <a:t>一个前驱、多个后继</a:t>
            </a:r>
            <a:r>
              <a:rPr kumimoji="1" lang="en-US" altLang="zh-CN" sz="2400" b="1">
                <a:solidFill>
                  <a:srgbClr val="0000FF"/>
                </a:solidFill>
                <a:latin typeface="宋体" pitchFamily="2" charset="-122"/>
              </a:rPr>
              <a:t>)</a:t>
            </a:r>
            <a:endParaRPr kumimoji="1" lang="en-US" altLang="zh-CN" sz="2400">
              <a:solidFill>
                <a:srgbClr val="0000FF"/>
              </a:solidFill>
              <a:latin typeface="宋体" pitchFamily="2" charset="-122"/>
            </a:endParaRPr>
          </a:p>
        </p:txBody>
      </p:sp>
    </p:spTree>
    <p:extLst>
      <p:ext uri="{BB962C8B-B14F-4D97-AF65-F5344CB8AC3E}">
        <p14:creationId xmlns:p14="http://schemas.microsoft.com/office/powerpoint/2010/main" val="3002780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utoUpdateAnimBg="0"/>
      <p:bldP spid="78" grpId="0" autoUpdateAnimBg="0"/>
      <p:bldP spid="79" grpId="0" autoUpdateAnimBg="0"/>
      <p:bldP spid="80" grpId="0" autoUpdateAnimBg="0"/>
      <p:bldP spid="81" grpId="0" autoUpdateAnimBg="0"/>
      <p:bldP spid="82"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800" b="1" dirty="0"/>
              <a:t>树的应用：</a:t>
            </a:r>
            <a:endParaRPr lang="en-US" altLang="zh-CN" sz="2800" b="1" dirty="0"/>
          </a:p>
          <a:p>
            <a:pPr marL="457200" lvl="1" indent="0">
              <a:lnSpc>
                <a:spcPts val="3100"/>
              </a:lnSpc>
              <a:buNone/>
            </a:pPr>
            <a:r>
              <a:rPr lang="en-US" altLang="zh-CN" sz="2400" b="1" dirty="0"/>
              <a:t>1</a:t>
            </a:r>
            <a:r>
              <a:rPr lang="zh-CN" altLang="en-US" sz="2400" b="1" dirty="0"/>
              <a:t>）树可表示具有分枝结构关系的对象</a:t>
            </a:r>
            <a:endParaRPr lang="en-US" altLang="zh-CN" sz="2400" b="1" dirty="0"/>
          </a:p>
        </p:txBody>
      </p:sp>
      <p:sp>
        <p:nvSpPr>
          <p:cNvPr id="4" name="日期占位符 3"/>
          <p:cNvSpPr>
            <a:spLocks noGrp="1"/>
          </p:cNvSpPr>
          <p:nvPr>
            <p:ph type="dt" sz="half" idx="10"/>
          </p:nvPr>
        </p:nvSpPr>
        <p:spPr/>
        <p:txBody>
          <a:bodyPr/>
          <a:lstStyle/>
          <a:p>
            <a:fld id="{59A98E94-E4B7-4933-ACB5-B699736A2FC0}"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75" name="Text Box 5"/>
          <p:cNvSpPr txBox="1">
            <a:spLocks noChangeArrowheads="1"/>
          </p:cNvSpPr>
          <p:nvPr/>
        </p:nvSpPr>
        <p:spPr bwMode="auto">
          <a:xfrm>
            <a:off x="1431925" y="2590800"/>
            <a:ext cx="5045075" cy="45720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400" b="1" dirty="0">
                <a:solidFill>
                  <a:srgbClr val="000000"/>
                </a:solidFill>
                <a:latin typeface="Times New Roman" pitchFamily="18" charset="0"/>
              </a:rPr>
              <a:t>   单位行政机构的组织关系</a:t>
            </a:r>
          </a:p>
        </p:txBody>
      </p:sp>
      <p:grpSp>
        <p:nvGrpSpPr>
          <p:cNvPr id="76" name="Group 60"/>
          <p:cNvGrpSpPr>
            <a:grpSpLocks/>
          </p:cNvGrpSpPr>
          <p:nvPr/>
        </p:nvGrpSpPr>
        <p:grpSpPr bwMode="auto">
          <a:xfrm>
            <a:off x="2720975" y="3794125"/>
            <a:ext cx="4254500" cy="2073275"/>
            <a:chOff x="1728" y="2160"/>
            <a:chExt cx="2680" cy="1306"/>
          </a:xfrm>
        </p:grpSpPr>
        <p:sp>
          <p:nvSpPr>
            <p:cNvPr id="77" name="Line 61"/>
            <p:cNvSpPr>
              <a:spLocks noChangeShapeType="1"/>
            </p:cNvSpPr>
            <p:nvPr/>
          </p:nvSpPr>
          <p:spPr bwMode="auto">
            <a:xfrm>
              <a:off x="3126" y="2400"/>
              <a:ext cx="0" cy="96"/>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8" name="Line 62"/>
            <p:cNvSpPr>
              <a:spLocks noChangeShapeType="1"/>
            </p:cNvSpPr>
            <p:nvPr/>
          </p:nvSpPr>
          <p:spPr bwMode="auto">
            <a:xfrm flipH="1">
              <a:off x="2550" y="2304"/>
              <a:ext cx="432"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9" name="Line 63"/>
            <p:cNvSpPr>
              <a:spLocks noChangeShapeType="1"/>
            </p:cNvSpPr>
            <p:nvPr/>
          </p:nvSpPr>
          <p:spPr bwMode="auto">
            <a:xfrm flipH="1">
              <a:off x="2214"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0" name="Line 64"/>
            <p:cNvSpPr>
              <a:spLocks noChangeShapeType="1"/>
            </p:cNvSpPr>
            <p:nvPr/>
          </p:nvSpPr>
          <p:spPr bwMode="auto">
            <a:xfrm>
              <a:off x="2502"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1" name="Line 65"/>
            <p:cNvSpPr>
              <a:spLocks noChangeShapeType="1"/>
            </p:cNvSpPr>
            <p:nvPr/>
          </p:nvSpPr>
          <p:spPr bwMode="auto">
            <a:xfrm>
              <a:off x="3126"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2" name="Line 66"/>
            <p:cNvSpPr>
              <a:spLocks noChangeShapeType="1"/>
            </p:cNvSpPr>
            <p:nvPr/>
          </p:nvSpPr>
          <p:spPr bwMode="auto">
            <a:xfrm>
              <a:off x="3222" y="2304"/>
              <a:ext cx="528" cy="288"/>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3" name="Line 67"/>
            <p:cNvSpPr>
              <a:spLocks noChangeShapeType="1"/>
            </p:cNvSpPr>
            <p:nvPr/>
          </p:nvSpPr>
          <p:spPr bwMode="auto">
            <a:xfrm flipH="1">
              <a:off x="3606"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4" name="Line 68"/>
            <p:cNvSpPr>
              <a:spLocks noChangeShapeType="1"/>
            </p:cNvSpPr>
            <p:nvPr/>
          </p:nvSpPr>
          <p:spPr bwMode="auto">
            <a:xfrm>
              <a:off x="3894"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5" name="Line 69"/>
            <p:cNvSpPr>
              <a:spLocks noChangeShapeType="1"/>
            </p:cNvSpPr>
            <p:nvPr/>
          </p:nvSpPr>
          <p:spPr bwMode="auto">
            <a:xfrm>
              <a:off x="3990"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6" name="Line 70"/>
            <p:cNvSpPr>
              <a:spLocks noChangeShapeType="1"/>
            </p:cNvSpPr>
            <p:nvPr/>
          </p:nvSpPr>
          <p:spPr bwMode="auto">
            <a:xfrm flipH="1">
              <a:off x="192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7" name="Line 71"/>
            <p:cNvSpPr>
              <a:spLocks noChangeShapeType="1"/>
            </p:cNvSpPr>
            <p:nvPr/>
          </p:nvSpPr>
          <p:spPr bwMode="auto">
            <a:xfrm>
              <a:off x="225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8" name="Line 72"/>
            <p:cNvSpPr>
              <a:spLocks noChangeShapeType="1"/>
            </p:cNvSpPr>
            <p:nvPr/>
          </p:nvSpPr>
          <p:spPr bwMode="auto">
            <a:xfrm>
              <a:off x="3552" y="3094"/>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89" name="Group 73"/>
            <p:cNvGrpSpPr>
              <a:grpSpLocks/>
            </p:cNvGrpSpPr>
            <p:nvPr/>
          </p:nvGrpSpPr>
          <p:grpSpPr bwMode="auto">
            <a:xfrm>
              <a:off x="4088" y="2856"/>
              <a:ext cx="320" cy="250"/>
              <a:chOff x="2880" y="1104"/>
              <a:chExt cx="367" cy="343"/>
            </a:xfrm>
          </p:grpSpPr>
          <p:sp>
            <p:nvSpPr>
              <p:cNvPr id="126" name="Oval 7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27" name="Text Box 7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J</a:t>
                </a:r>
              </a:p>
            </p:txBody>
          </p:sp>
        </p:grpSp>
        <p:grpSp>
          <p:nvGrpSpPr>
            <p:cNvPr id="90" name="Group 76"/>
            <p:cNvGrpSpPr>
              <a:grpSpLocks/>
            </p:cNvGrpSpPr>
            <p:nvPr/>
          </p:nvGrpSpPr>
          <p:grpSpPr bwMode="auto">
            <a:xfrm>
              <a:off x="3750" y="2858"/>
              <a:ext cx="320" cy="250"/>
              <a:chOff x="2880" y="1104"/>
              <a:chExt cx="367" cy="343"/>
            </a:xfrm>
          </p:grpSpPr>
          <p:sp>
            <p:nvSpPr>
              <p:cNvPr id="124" name="Oval 7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25" name="Text Box 7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I</a:t>
                </a:r>
              </a:p>
            </p:txBody>
          </p:sp>
        </p:grpSp>
        <p:grpSp>
          <p:nvGrpSpPr>
            <p:cNvPr id="91" name="Group 79"/>
            <p:cNvGrpSpPr>
              <a:grpSpLocks/>
            </p:cNvGrpSpPr>
            <p:nvPr/>
          </p:nvGrpSpPr>
          <p:grpSpPr bwMode="auto">
            <a:xfrm>
              <a:off x="2982" y="2160"/>
              <a:ext cx="320" cy="250"/>
              <a:chOff x="2880" y="1104"/>
              <a:chExt cx="367" cy="343"/>
            </a:xfrm>
          </p:grpSpPr>
          <p:sp>
            <p:nvSpPr>
              <p:cNvPr id="122" name="Oval 8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23" name="Text Box 8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A</a:t>
                </a:r>
              </a:p>
            </p:txBody>
          </p:sp>
        </p:grpSp>
        <p:grpSp>
          <p:nvGrpSpPr>
            <p:cNvPr id="92" name="Group 82"/>
            <p:cNvGrpSpPr>
              <a:grpSpLocks/>
            </p:cNvGrpSpPr>
            <p:nvPr/>
          </p:nvGrpSpPr>
          <p:grpSpPr bwMode="auto">
            <a:xfrm>
              <a:off x="2982" y="2497"/>
              <a:ext cx="320" cy="250"/>
              <a:chOff x="2880" y="1104"/>
              <a:chExt cx="367" cy="343"/>
            </a:xfrm>
          </p:grpSpPr>
          <p:sp>
            <p:nvSpPr>
              <p:cNvPr id="120" name="Oval 8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21" name="Text Box 8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C</a:t>
                </a:r>
              </a:p>
            </p:txBody>
          </p:sp>
        </p:grpSp>
        <p:grpSp>
          <p:nvGrpSpPr>
            <p:cNvPr id="93" name="Group 85"/>
            <p:cNvGrpSpPr>
              <a:grpSpLocks/>
            </p:cNvGrpSpPr>
            <p:nvPr/>
          </p:nvGrpSpPr>
          <p:grpSpPr bwMode="auto">
            <a:xfrm>
              <a:off x="2304" y="2497"/>
              <a:ext cx="320" cy="250"/>
              <a:chOff x="2880" y="1104"/>
              <a:chExt cx="367" cy="343"/>
            </a:xfrm>
          </p:grpSpPr>
          <p:sp>
            <p:nvSpPr>
              <p:cNvPr id="118" name="Oval 8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19" name="Text Box 8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B</a:t>
                </a:r>
              </a:p>
            </p:txBody>
          </p:sp>
        </p:grpSp>
        <p:grpSp>
          <p:nvGrpSpPr>
            <p:cNvPr id="94" name="Group 88"/>
            <p:cNvGrpSpPr>
              <a:grpSpLocks/>
            </p:cNvGrpSpPr>
            <p:nvPr/>
          </p:nvGrpSpPr>
          <p:grpSpPr bwMode="auto">
            <a:xfrm>
              <a:off x="3750" y="2497"/>
              <a:ext cx="320" cy="250"/>
              <a:chOff x="2880" y="1104"/>
              <a:chExt cx="367" cy="343"/>
            </a:xfrm>
          </p:grpSpPr>
          <p:sp>
            <p:nvSpPr>
              <p:cNvPr id="116" name="Oval 8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17" name="Text Box 90"/>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D</a:t>
                </a:r>
              </a:p>
            </p:txBody>
          </p:sp>
        </p:grpSp>
        <p:grpSp>
          <p:nvGrpSpPr>
            <p:cNvPr id="95" name="Group 91"/>
            <p:cNvGrpSpPr>
              <a:grpSpLocks/>
            </p:cNvGrpSpPr>
            <p:nvPr/>
          </p:nvGrpSpPr>
          <p:grpSpPr bwMode="auto">
            <a:xfrm>
              <a:off x="3408" y="2858"/>
              <a:ext cx="320" cy="250"/>
              <a:chOff x="2880" y="1104"/>
              <a:chExt cx="367" cy="343"/>
            </a:xfrm>
          </p:grpSpPr>
          <p:sp>
            <p:nvSpPr>
              <p:cNvPr id="114" name="Oval 9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15" name="Text Box 9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H</a:t>
                </a:r>
              </a:p>
            </p:txBody>
          </p:sp>
        </p:grpSp>
        <p:grpSp>
          <p:nvGrpSpPr>
            <p:cNvPr id="96" name="Group 94"/>
            <p:cNvGrpSpPr>
              <a:grpSpLocks/>
            </p:cNvGrpSpPr>
            <p:nvPr/>
          </p:nvGrpSpPr>
          <p:grpSpPr bwMode="auto">
            <a:xfrm>
              <a:off x="2982" y="2858"/>
              <a:ext cx="320" cy="250"/>
              <a:chOff x="2880" y="1104"/>
              <a:chExt cx="367" cy="343"/>
            </a:xfrm>
          </p:grpSpPr>
          <p:sp>
            <p:nvSpPr>
              <p:cNvPr id="112" name="Oval 9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13" name="Text Box 96"/>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G</a:t>
                </a:r>
              </a:p>
            </p:txBody>
          </p:sp>
        </p:grpSp>
        <p:grpSp>
          <p:nvGrpSpPr>
            <p:cNvPr id="97" name="Group 97"/>
            <p:cNvGrpSpPr>
              <a:grpSpLocks/>
            </p:cNvGrpSpPr>
            <p:nvPr/>
          </p:nvGrpSpPr>
          <p:grpSpPr bwMode="auto">
            <a:xfrm>
              <a:off x="2502" y="2858"/>
              <a:ext cx="320" cy="250"/>
              <a:chOff x="2880" y="1104"/>
              <a:chExt cx="367" cy="343"/>
            </a:xfrm>
          </p:grpSpPr>
          <p:sp>
            <p:nvSpPr>
              <p:cNvPr id="110" name="Oval 9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11" name="Text Box 9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F</a:t>
                </a:r>
              </a:p>
            </p:txBody>
          </p:sp>
        </p:grpSp>
        <p:grpSp>
          <p:nvGrpSpPr>
            <p:cNvPr id="98" name="Group 100"/>
            <p:cNvGrpSpPr>
              <a:grpSpLocks/>
            </p:cNvGrpSpPr>
            <p:nvPr/>
          </p:nvGrpSpPr>
          <p:grpSpPr bwMode="auto">
            <a:xfrm>
              <a:off x="2016" y="2858"/>
              <a:ext cx="320" cy="250"/>
              <a:chOff x="2880" y="1104"/>
              <a:chExt cx="367" cy="343"/>
            </a:xfrm>
          </p:grpSpPr>
          <p:sp>
            <p:nvSpPr>
              <p:cNvPr id="108" name="Oval 10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09" name="Text Box 10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E</a:t>
                </a:r>
              </a:p>
            </p:txBody>
          </p:sp>
        </p:grpSp>
        <p:grpSp>
          <p:nvGrpSpPr>
            <p:cNvPr id="99" name="Group 103"/>
            <p:cNvGrpSpPr>
              <a:grpSpLocks/>
            </p:cNvGrpSpPr>
            <p:nvPr/>
          </p:nvGrpSpPr>
          <p:grpSpPr bwMode="auto">
            <a:xfrm>
              <a:off x="1728" y="3216"/>
              <a:ext cx="320" cy="250"/>
              <a:chOff x="2880" y="1104"/>
              <a:chExt cx="367" cy="343"/>
            </a:xfrm>
          </p:grpSpPr>
          <p:sp>
            <p:nvSpPr>
              <p:cNvPr id="106" name="Oval 10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07" name="Text Box 10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K</a:t>
                </a:r>
              </a:p>
            </p:txBody>
          </p:sp>
        </p:grpSp>
        <p:grpSp>
          <p:nvGrpSpPr>
            <p:cNvPr id="100" name="Group 106"/>
            <p:cNvGrpSpPr>
              <a:grpSpLocks/>
            </p:cNvGrpSpPr>
            <p:nvPr/>
          </p:nvGrpSpPr>
          <p:grpSpPr bwMode="auto">
            <a:xfrm>
              <a:off x="2256" y="3216"/>
              <a:ext cx="320" cy="250"/>
              <a:chOff x="2880" y="1104"/>
              <a:chExt cx="367" cy="343"/>
            </a:xfrm>
          </p:grpSpPr>
          <p:sp>
            <p:nvSpPr>
              <p:cNvPr id="104" name="Oval 10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05" name="Text Box 10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L</a:t>
                </a:r>
              </a:p>
            </p:txBody>
          </p:sp>
        </p:grpSp>
        <p:grpSp>
          <p:nvGrpSpPr>
            <p:cNvPr id="101" name="Group 109"/>
            <p:cNvGrpSpPr>
              <a:grpSpLocks/>
            </p:cNvGrpSpPr>
            <p:nvPr/>
          </p:nvGrpSpPr>
          <p:grpSpPr bwMode="auto">
            <a:xfrm>
              <a:off x="3408" y="3216"/>
              <a:ext cx="320" cy="250"/>
              <a:chOff x="2880" y="1104"/>
              <a:chExt cx="367" cy="343"/>
            </a:xfrm>
          </p:grpSpPr>
          <p:sp>
            <p:nvSpPr>
              <p:cNvPr id="102" name="Oval 11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03" name="Text Box 11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M</a:t>
                </a:r>
              </a:p>
            </p:txBody>
          </p:sp>
        </p:grpSp>
      </p:grpSp>
      <p:sp>
        <p:nvSpPr>
          <p:cNvPr id="128" name="Oval 113"/>
          <p:cNvSpPr>
            <a:spLocks noChangeArrowheads="1"/>
          </p:cNvSpPr>
          <p:nvPr/>
        </p:nvSpPr>
        <p:spPr bwMode="auto">
          <a:xfrm>
            <a:off x="533400" y="2590800"/>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a:solidFill>
                  <a:srgbClr val="000000"/>
                </a:solidFill>
                <a:latin typeface="Times New Roman" pitchFamily="18" charset="0"/>
              </a:rPr>
              <a:t>例</a:t>
            </a:r>
          </a:p>
        </p:txBody>
      </p:sp>
    </p:spTree>
    <p:extLst>
      <p:ext uri="{BB962C8B-B14F-4D97-AF65-F5344CB8AC3E}">
        <p14:creationId xmlns:p14="http://schemas.microsoft.com/office/powerpoint/2010/main" val="2704632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800" b="1" dirty="0"/>
              <a:t>树的应用：</a:t>
            </a:r>
            <a:endParaRPr lang="en-US" altLang="zh-CN" sz="2800" b="1" dirty="0"/>
          </a:p>
          <a:p>
            <a:pPr marL="457200" lvl="1" indent="0">
              <a:lnSpc>
                <a:spcPts val="3100"/>
              </a:lnSpc>
              <a:buNone/>
            </a:pPr>
            <a:r>
              <a:rPr lang="en-US" altLang="zh-CN" sz="2400" b="1" dirty="0"/>
              <a:t>2</a:t>
            </a:r>
            <a:r>
              <a:rPr lang="zh-CN" altLang="en-US" sz="2400" b="1" dirty="0"/>
              <a:t>）树是常用的数据组织形式</a:t>
            </a:r>
            <a:endParaRPr lang="en-US" altLang="zh-CN" sz="2400" b="1" dirty="0"/>
          </a:p>
          <a:p>
            <a:pPr lvl="2">
              <a:lnSpc>
                <a:spcPts val="3100"/>
              </a:lnSpc>
            </a:pPr>
            <a:r>
              <a:rPr lang="zh-CN" altLang="en-US" sz="2000" b="1" dirty="0"/>
              <a:t>有些应用中数据元素之间并不存在分支结构关系，但是为了便于管理和使用数据，将它们用树的形式来组织。</a:t>
            </a:r>
            <a:endParaRPr lang="en-US" altLang="zh-CN" sz="2000" b="1" dirty="0"/>
          </a:p>
        </p:txBody>
      </p:sp>
      <p:sp>
        <p:nvSpPr>
          <p:cNvPr id="4" name="日期占位符 3"/>
          <p:cNvSpPr>
            <a:spLocks noGrp="1"/>
          </p:cNvSpPr>
          <p:nvPr>
            <p:ph type="dt" sz="half" idx="10"/>
          </p:nvPr>
        </p:nvSpPr>
        <p:spPr/>
        <p:txBody>
          <a:bodyPr/>
          <a:lstStyle/>
          <a:p>
            <a:fld id="{F5B752DA-4F67-41F9-B52B-1F9C1BAA851C}"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66" name="Group 3"/>
          <p:cNvGrpSpPr>
            <a:grpSpLocks/>
          </p:cNvGrpSpPr>
          <p:nvPr/>
        </p:nvGrpSpPr>
        <p:grpSpPr bwMode="auto">
          <a:xfrm>
            <a:off x="992188" y="3522663"/>
            <a:ext cx="8458200" cy="2725737"/>
            <a:chOff x="576" y="2461"/>
            <a:chExt cx="4918" cy="1717"/>
          </a:xfrm>
        </p:grpSpPr>
        <p:sp>
          <p:nvSpPr>
            <p:cNvPr id="67" name="Text Box 4"/>
            <p:cNvSpPr txBox="1">
              <a:spLocks noChangeArrowheads="1"/>
            </p:cNvSpPr>
            <p:nvPr/>
          </p:nvSpPr>
          <p:spPr bwMode="auto">
            <a:xfrm>
              <a:off x="2653" y="2461"/>
              <a:ext cx="576" cy="289"/>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707F9"/>
                  </a:solidFill>
                  <a:effectLst/>
                  <a:uLnTx/>
                  <a:uFillTx/>
                  <a:latin typeface="隶书" pitchFamily="49" charset="-122"/>
                  <a:ea typeface="隶书" pitchFamily="49" charset="-122"/>
                </a:rPr>
                <a:t>C</a:t>
              </a:r>
            </a:p>
          </p:txBody>
        </p:sp>
        <p:grpSp>
          <p:nvGrpSpPr>
            <p:cNvPr id="68" name="Group 5"/>
            <p:cNvGrpSpPr>
              <a:grpSpLocks/>
            </p:cNvGrpSpPr>
            <p:nvPr/>
          </p:nvGrpSpPr>
          <p:grpSpPr bwMode="auto">
            <a:xfrm>
              <a:off x="576" y="2675"/>
              <a:ext cx="4918" cy="1503"/>
              <a:chOff x="576" y="2675"/>
              <a:chExt cx="4918" cy="1503"/>
            </a:xfrm>
          </p:grpSpPr>
          <p:sp>
            <p:nvSpPr>
              <p:cNvPr id="69" name="Text Box 6"/>
              <p:cNvSpPr txBox="1">
                <a:spLocks noChangeArrowheads="1"/>
              </p:cNvSpPr>
              <p:nvPr/>
            </p:nvSpPr>
            <p:spPr bwMode="auto">
              <a:xfrm>
                <a:off x="1418" y="3170"/>
                <a:ext cx="4076" cy="28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707F9"/>
                    </a:solidFill>
                    <a:effectLst/>
                    <a:uLnTx/>
                    <a:uFillTx/>
                    <a:latin typeface="宋体" pitchFamily="2" charset="-122"/>
                  </a:rPr>
                  <a:t>文件夹</a:t>
                </a:r>
                <a:r>
                  <a:rPr kumimoji="1" lang="en-US" altLang="zh-CN" sz="2400" b="1" i="0" u="none" strike="noStrike" kern="0" cap="none" spc="0" normalizeH="0" baseline="0" noProof="0">
                    <a:ln>
                      <a:noFill/>
                    </a:ln>
                    <a:solidFill>
                      <a:srgbClr val="0707F9"/>
                    </a:solidFill>
                    <a:effectLst/>
                    <a:uLnTx/>
                    <a:uFillTx/>
                    <a:latin typeface="宋体" pitchFamily="2" charset="-122"/>
                  </a:rPr>
                  <a:t>1  </a:t>
                </a:r>
                <a:r>
                  <a:rPr kumimoji="1" lang="zh-CN" altLang="en-US" sz="2400" b="1" i="0" u="none" strike="noStrike" kern="0" cap="none" spc="0" normalizeH="0" baseline="0" noProof="0">
                    <a:ln>
                      <a:noFill/>
                    </a:ln>
                    <a:solidFill>
                      <a:srgbClr val="0707F9"/>
                    </a:solidFill>
                    <a:effectLst/>
                    <a:uLnTx/>
                    <a:uFillTx/>
                    <a:latin typeface="宋体" pitchFamily="2" charset="-122"/>
                  </a:rPr>
                  <a:t>文件夹</a:t>
                </a:r>
                <a:r>
                  <a:rPr kumimoji="1" lang="en-US" altLang="zh-CN" sz="2400" b="1" i="0" u="none" strike="noStrike" kern="0" cap="none" spc="0" normalizeH="0" baseline="0" noProof="0">
                    <a:ln>
                      <a:noFill/>
                    </a:ln>
                    <a:solidFill>
                      <a:srgbClr val="0707F9"/>
                    </a:solidFill>
                    <a:effectLst/>
                    <a:uLnTx/>
                    <a:uFillTx/>
                    <a:latin typeface="宋体" pitchFamily="2" charset="-122"/>
                  </a:rPr>
                  <a:t>n   </a:t>
                </a:r>
                <a:r>
                  <a:rPr kumimoji="1" lang="zh-CN" altLang="en-US" sz="2400" b="1" i="0" u="none" strike="noStrike" kern="0" cap="none" spc="0" normalizeH="0" baseline="0" noProof="0">
                    <a:ln>
                      <a:noFill/>
                    </a:ln>
                    <a:solidFill>
                      <a:srgbClr val="0707F9"/>
                    </a:solidFill>
                    <a:effectLst/>
                    <a:uLnTx/>
                    <a:uFillTx/>
                    <a:latin typeface="宋体" pitchFamily="2" charset="-122"/>
                  </a:rPr>
                  <a:t>文件</a:t>
                </a:r>
                <a:r>
                  <a:rPr kumimoji="1" lang="en-US" altLang="zh-CN" sz="2400" b="1" i="0" u="none" strike="noStrike" kern="0" cap="none" spc="0" normalizeH="0" baseline="0" noProof="0">
                    <a:ln>
                      <a:noFill/>
                    </a:ln>
                    <a:solidFill>
                      <a:srgbClr val="0707F9"/>
                    </a:solidFill>
                    <a:effectLst/>
                    <a:uLnTx/>
                    <a:uFillTx/>
                    <a:latin typeface="宋体" pitchFamily="2" charset="-122"/>
                  </a:rPr>
                  <a:t>1  </a:t>
                </a:r>
                <a:r>
                  <a:rPr kumimoji="1" lang="zh-CN" altLang="en-US" sz="2400" b="1" i="0" u="none" strike="noStrike" kern="0" cap="none" spc="0" normalizeH="0" baseline="0" noProof="0">
                    <a:ln>
                      <a:noFill/>
                    </a:ln>
                    <a:solidFill>
                      <a:srgbClr val="0707F9"/>
                    </a:solidFill>
                    <a:effectLst/>
                    <a:uLnTx/>
                    <a:uFillTx/>
                    <a:latin typeface="宋体" pitchFamily="2" charset="-122"/>
                  </a:rPr>
                  <a:t>文件</a:t>
                </a:r>
                <a:r>
                  <a:rPr kumimoji="1" lang="en-US" altLang="zh-CN" sz="2400" b="1" i="0" u="none" strike="noStrike" kern="0" cap="none" spc="0" normalizeH="0" baseline="0" noProof="0">
                    <a:ln>
                      <a:noFill/>
                    </a:ln>
                    <a:solidFill>
                      <a:srgbClr val="0707F9"/>
                    </a:solidFill>
                    <a:effectLst/>
                    <a:uLnTx/>
                    <a:uFillTx/>
                    <a:latin typeface="宋体" pitchFamily="2" charset="-122"/>
                  </a:rPr>
                  <a:t>2</a:t>
                </a:r>
              </a:p>
            </p:txBody>
          </p:sp>
          <p:sp>
            <p:nvSpPr>
              <p:cNvPr id="70" name="Text Box 7"/>
              <p:cNvSpPr txBox="1">
                <a:spLocks noChangeArrowheads="1"/>
              </p:cNvSpPr>
              <p:nvPr/>
            </p:nvSpPr>
            <p:spPr bwMode="auto">
              <a:xfrm>
                <a:off x="576" y="3947"/>
                <a:ext cx="4076" cy="23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1800" b="1" i="0" u="none" strike="noStrike" kern="0" cap="none" spc="0" normalizeH="0" baseline="0" noProof="0">
                    <a:ln>
                      <a:noFill/>
                    </a:ln>
                    <a:solidFill>
                      <a:srgbClr val="0707F9"/>
                    </a:solidFill>
                    <a:effectLst/>
                    <a:uLnTx/>
                    <a:uFillTx/>
                    <a:latin typeface="宋体" pitchFamily="2" charset="-122"/>
                  </a:rPr>
                  <a:t>文件夹</a:t>
                </a:r>
                <a:r>
                  <a:rPr kumimoji="1" lang="en-US" altLang="zh-CN" sz="1800" b="1" i="0" u="none" strike="noStrike" kern="0" cap="none" spc="0" normalizeH="0" baseline="0" noProof="0">
                    <a:ln>
                      <a:noFill/>
                    </a:ln>
                    <a:solidFill>
                      <a:srgbClr val="0707F9"/>
                    </a:solidFill>
                    <a:effectLst/>
                    <a:uLnTx/>
                    <a:uFillTx/>
                    <a:latin typeface="宋体" pitchFamily="2" charset="-122"/>
                  </a:rPr>
                  <a:t>11 </a:t>
                </a:r>
                <a:r>
                  <a:rPr kumimoji="1" lang="zh-CN" altLang="en-US" sz="1800" b="1" i="0" u="none" strike="noStrike" kern="0" cap="none" spc="0" normalizeH="0" baseline="0" noProof="0">
                    <a:ln>
                      <a:noFill/>
                    </a:ln>
                    <a:solidFill>
                      <a:srgbClr val="0707F9"/>
                    </a:solidFill>
                    <a:effectLst/>
                    <a:uLnTx/>
                    <a:uFillTx/>
                    <a:latin typeface="宋体" pitchFamily="2" charset="-122"/>
                  </a:rPr>
                  <a:t>文件夹</a:t>
                </a:r>
                <a:r>
                  <a:rPr kumimoji="1" lang="en-US" altLang="zh-CN" sz="1800" b="1" i="0" u="none" strike="noStrike" kern="0" cap="none" spc="0" normalizeH="0" baseline="0" noProof="0">
                    <a:ln>
                      <a:noFill/>
                    </a:ln>
                    <a:solidFill>
                      <a:srgbClr val="0707F9"/>
                    </a:solidFill>
                    <a:effectLst/>
                    <a:uLnTx/>
                    <a:uFillTx/>
                    <a:latin typeface="宋体" pitchFamily="2" charset="-122"/>
                  </a:rPr>
                  <a:t>12  </a:t>
                </a:r>
                <a:r>
                  <a:rPr kumimoji="1" lang="zh-CN" altLang="en-US" sz="1800" b="1" i="0" u="none" strike="noStrike" kern="0" cap="none" spc="0" normalizeH="0" baseline="0" noProof="0">
                    <a:ln>
                      <a:noFill/>
                    </a:ln>
                    <a:solidFill>
                      <a:srgbClr val="0707F9"/>
                    </a:solidFill>
                    <a:effectLst/>
                    <a:uLnTx/>
                    <a:uFillTx/>
                    <a:latin typeface="宋体" pitchFamily="2" charset="-122"/>
                  </a:rPr>
                  <a:t>文件</a:t>
                </a:r>
                <a:r>
                  <a:rPr kumimoji="1" lang="en-US" altLang="zh-CN" sz="1800" b="1" i="0" u="none" strike="noStrike" kern="0" cap="none" spc="0" normalizeH="0" baseline="0" noProof="0">
                    <a:ln>
                      <a:noFill/>
                    </a:ln>
                    <a:solidFill>
                      <a:srgbClr val="0707F9"/>
                    </a:solidFill>
                    <a:effectLst/>
                    <a:uLnTx/>
                    <a:uFillTx/>
                    <a:latin typeface="宋体" pitchFamily="2" charset="-122"/>
                  </a:rPr>
                  <a:t>11 </a:t>
                </a:r>
                <a:r>
                  <a:rPr kumimoji="1" lang="zh-CN" altLang="en-US" sz="1800" b="1" i="0" u="none" strike="noStrike" kern="0" cap="none" spc="0" normalizeH="0" baseline="0" noProof="0">
                    <a:ln>
                      <a:noFill/>
                    </a:ln>
                    <a:solidFill>
                      <a:srgbClr val="0707F9"/>
                    </a:solidFill>
                    <a:effectLst/>
                    <a:uLnTx/>
                    <a:uFillTx/>
                    <a:latin typeface="宋体" pitchFamily="2" charset="-122"/>
                  </a:rPr>
                  <a:t>文件</a:t>
                </a:r>
                <a:r>
                  <a:rPr kumimoji="1" lang="en-US" altLang="zh-CN" sz="1800" b="1" i="0" u="none" strike="noStrike" kern="0" cap="none" spc="0" normalizeH="0" baseline="0" noProof="0">
                    <a:ln>
                      <a:noFill/>
                    </a:ln>
                    <a:solidFill>
                      <a:srgbClr val="0707F9"/>
                    </a:solidFill>
                    <a:effectLst/>
                    <a:uLnTx/>
                    <a:uFillTx/>
                    <a:latin typeface="宋体" pitchFamily="2" charset="-122"/>
                  </a:rPr>
                  <a:t>12</a:t>
                </a:r>
              </a:p>
            </p:txBody>
          </p:sp>
          <p:grpSp>
            <p:nvGrpSpPr>
              <p:cNvPr id="71" name="Group 8"/>
              <p:cNvGrpSpPr>
                <a:grpSpLocks/>
              </p:cNvGrpSpPr>
              <p:nvPr/>
            </p:nvGrpSpPr>
            <p:grpSpPr bwMode="auto">
              <a:xfrm>
                <a:off x="1639" y="2675"/>
                <a:ext cx="2570" cy="495"/>
                <a:chOff x="1392" y="2592"/>
                <a:chExt cx="2784" cy="336"/>
              </a:xfrm>
            </p:grpSpPr>
            <p:sp>
              <p:nvSpPr>
                <p:cNvPr id="133" name="Line 9"/>
                <p:cNvSpPr>
                  <a:spLocks noChangeShapeType="1"/>
                </p:cNvSpPr>
                <p:nvPr/>
              </p:nvSpPr>
              <p:spPr bwMode="auto">
                <a:xfrm>
                  <a:off x="1392" y="2736"/>
                  <a:ext cx="0" cy="192"/>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34" name="Line 10"/>
                <p:cNvSpPr>
                  <a:spLocks noChangeShapeType="1"/>
                </p:cNvSpPr>
                <p:nvPr/>
              </p:nvSpPr>
              <p:spPr bwMode="auto">
                <a:xfrm>
                  <a:off x="1392" y="2736"/>
                  <a:ext cx="2784" cy="0"/>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35" name="Line 11"/>
                <p:cNvSpPr>
                  <a:spLocks noChangeShapeType="1"/>
                </p:cNvSpPr>
                <p:nvPr/>
              </p:nvSpPr>
              <p:spPr bwMode="auto">
                <a:xfrm>
                  <a:off x="4176" y="2736"/>
                  <a:ext cx="0" cy="144"/>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36" name="Line 12"/>
                <p:cNvSpPr>
                  <a:spLocks noChangeShapeType="1"/>
                </p:cNvSpPr>
                <p:nvPr/>
              </p:nvSpPr>
              <p:spPr bwMode="auto">
                <a:xfrm>
                  <a:off x="3456" y="2736"/>
                  <a:ext cx="0" cy="144"/>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37" name="Line 13"/>
                <p:cNvSpPr>
                  <a:spLocks noChangeShapeType="1"/>
                </p:cNvSpPr>
                <p:nvPr/>
              </p:nvSpPr>
              <p:spPr bwMode="auto">
                <a:xfrm>
                  <a:off x="2640" y="2736"/>
                  <a:ext cx="0" cy="144"/>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38" name="Line 14"/>
                <p:cNvSpPr>
                  <a:spLocks noChangeShapeType="1"/>
                </p:cNvSpPr>
                <p:nvPr/>
              </p:nvSpPr>
              <p:spPr bwMode="auto">
                <a:xfrm>
                  <a:off x="2832" y="2592"/>
                  <a:ext cx="0" cy="144"/>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grpSp>
            <p:nvGrpSpPr>
              <p:cNvPr id="72" name="Group 15"/>
              <p:cNvGrpSpPr>
                <a:grpSpLocks/>
              </p:cNvGrpSpPr>
              <p:nvPr/>
            </p:nvGrpSpPr>
            <p:grpSpPr bwMode="auto">
              <a:xfrm>
                <a:off x="1103" y="3430"/>
                <a:ext cx="1550" cy="424"/>
                <a:chOff x="432" y="3120"/>
                <a:chExt cx="1680" cy="288"/>
              </a:xfrm>
            </p:grpSpPr>
            <p:sp>
              <p:nvSpPr>
                <p:cNvPr id="73" name="Line 16"/>
                <p:cNvSpPr>
                  <a:spLocks noChangeShapeType="1"/>
                </p:cNvSpPr>
                <p:nvPr/>
              </p:nvSpPr>
              <p:spPr bwMode="auto">
                <a:xfrm>
                  <a:off x="432" y="3264"/>
                  <a:ext cx="1680" cy="0"/>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4" name="Line 17"/>
                <p:cNvSpPr>
                  <a:spLocks noChangeShapeType="1"/>
                </p:cNvSpPr>
                <p:nvPr/>
              </p:nvSpPr>
              <p:spPr bwMode="auto">
                <a:xfrm>
                  <a:off x="1152" y="3120"/>
                  <a:ext cx="0" cy="144"/>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29" name="Line 18"/>
                <p:cNvSpPr>
                  <a:spLocks noChangeShapeType="1"/>
                </p:cNvSpPr>
                <p:nvPr/>
              </p:nvSpPr>
              <p:spPr bwMode="auto">
                <a:xfrm>
                  <a:off x="2112" y="3264"/>
                  <a:ext cx="0" cy="144"/>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30" name="Line 19"/>
                <p:cNvSpPr>
                  <a:spLocks noChangeShapeType="1"/>
                </p:cNvSpPr>
                <p:nvPr/>
              </p:nvSpPr>
              <p:spPr bwMode="auto">
                <a:xfrm>
                  <a:off x="432" y="3264"/>
                  <a:ext cx="0" cy="144"/>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31" name="Line 20"/>
                <p:cNvSpPr>
                  <a:spLocks noChangeShapeType="1"/>
                </p:cNvSpPr>
                <p:nvPr/>
              </p:nvSpPr>
              <p:spPr bwMode="auto">
                <a:xfrm>
                  <a:off x="1584" y="3264"/>
                  <a:ext cx="0" cy="144"/>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32" name="Line 21"/>
                <p:cNvSpPr>
                  <a:spLocks noChangeShapeType="1"/>
                </p:cNvSpPr>
                <p:nvPr/>
              </p:nvSpPr>
              <p:spPr bwMode="auto">
                <a:xfrm>
                  <a:off x="960" y="3264"/>
                  <a:ext cx="0" cy="144"/>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grpSp>
      </p:grpSp>
      <p:sp>
        <p:nvSpPr>
          <p:cNvPr id="139" name="Text Box 24"/>
          <p:cNvSpPr txBox="1">
            <a:spLocks noChangeArrowheads="1"/>
          </p:cNvSpPr>
          <p:nvPr/>
        </p:nvSpPr>
        <p:spPr bwMode="auto">
          <a:xfrm>
            <a:off x="1" y="3055203"/>
            <a:ext cx="9296400" cy="830997"/>
          </a:xfrm>
          <a:prstGeom prst="rect">
            <a:avLst/>
          </a:prstGeom>
          <a:noFill/>
          <a:ln w="12700" cap="rnd">
            <a:noFill/>
            <a:miter lim="800000"/>
            <a:headEnd/>
            <a:tailEnd/>
          </a:ln>
        </p:spPr>
        <p:txBody>
          <a:bodyPr wrap="square">
            <a:spAutoFit/>
          </a:bodyPr>
          <a:lstStyle/>
          <a:p>
            <a:pPr eaLnBrk="0" fontAlgn="base" hangingPunct="0">
              <a:lnSpc>
                <a:spcPct val="120000"/>
              </a:lnSpc>
              <a:spcBef>
                <a:spcPct val="50000"/>
              </a:spcBef>
              <a:spcAft>
                <a:spcPct val="0"/>
              </a:spcAft>
            </a:pPr>
            <a:r>
              <a:rPr kumimoji="1" lang="zh-CN" altLang="en-US" sz="2000" b="1" dirty="0">
                <a:solidFill>
                  <a:srgbClr val="FF0000"/>
                </a:solidFill>
                <a:latin typeface="Times New Roman" pitchFamily="18" charset="0"/>
              </a:rPr>
              <a:t>                  计算机的文件系统</a:t>
            </a:r>
            <a:r>
              <a:rPr kumimoji="1" lang="zh-CN" altLang="en-US" sz="2000" b="1" dirty="0">
                <a:solidFill>
                  <a:srgbClr val="000000"/>
                </a:solidFill>
                <a:latin typeface="Times New Roman" pitchFamily="18" charset="0"/>
              </a:rPr>
              <a:t>： 不论是</a:t>
            </a:r>
            <a:r>
              <a:rPr kumimoji="1" lang="en-US" altLang="zh-CN" sz="2000" b="1" dirty="0">
                <a:solidFill>
                  <a:srgbClr val="000000"/>
                </a:solidFill>
                <a:latin typeface="Times New Roman" pitchFamily="18" charset="0"/>
              </a:rPr>
              <a:t>DOS</a:t>
            </a:r>
            <a:r>
              <a:rPr kumimoji="1" lang="zh-CN" altLang="en-US" sz="2000" b="1" dirty="0">
                <a:solidFill>
                  <a:srgbClr val="000000"/>
                </a:solidFill>
                <a:latin typeface="Times New Roman" pitchFamily="18" charset="0"/>
              </a:rPr>
              <a:t>文件系统还是</a:t>
            </a:r>
            <a:r>
              <a:rPr kumimoji="1" lang="en-US" altLang="zh-CN" sz="2000" b="1" dirty="0">
                <a:solidFill>
                  <a:srgbClr val="000000"/>
                </a:solidFill>
                <a:latin typeface="Times New Roman" pitchFamily="18" charset="0"/>
              </a:rPr>
              <a:t>window</a:t>
            </a:r>
            <a:r>
              <a:rPr kumimoji="1" lang="zh-CN" altLang="en-US" sz="2000" b="1" dirty="0">
                <a:solidFill>
                  <a:srgbClr val="000000"/>
                </a:solidFill>
                <a:latin typeface="Times New Roman" pitchFamily="18" charset="0"/>
              </a:rPr>
              <a:t>文件系统，所有的文件是用树的形式来组织的。</a:t>
            </a:r>
            <a:endParaRPr kumimoji="1" lang="zh-CN" altLang="en-US" sz="2000" b="1" dirty="0">
              <a:solidFill>
                <a:srgbClr val="000000"/>
              </a:solidFill>
              <a:latin typeface="隶书" pitchFamily="49" charset="-122"/>
              <a:ea typeface="隶书" pitchFamily="49" charset="-122"/>
            </a:endParaRPr>
          </a:p>
        </p:txBody>
      </p:sp>
      <p:sp>
        <p:nvSpPr>
          <p:cNvPr id="140" name="Oval 25"/>
          <p:cNvSpPr>
            <a:spLocks noChangeArrowheads="1"/>
          </p:cNvSpPr>
          <p:nvPr/>
        </p:nvSpPr>
        <p:spPr bwMode="auto">
          <a:xfrm>
            <a:off x="0" y="3048000"/>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400" b="1">
                <a:solidFill>
                  <a:srgbClr val="000000"/>
                </a:solidFill>
                <a:latin typeface="Times New Roman" pitchFamily="18" charset="0"/>
              </a:rPr>
              <a:t>例</a:t>
            </a:r>
          </a:p>
        </p:txBody>
      </p:sp>
    </p:spTree>
    <p:extLst>
      <p:ext uri="{BB962C8B-B14F-4D97-AF65-F5344CB8AC3E}">
        <p14:creationId xmlns:p14="http://schemas.microsoft.com/office/powerpoint/2010/main" val="2481866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0"/>
      <p:bldP spid="14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800" b="1" dirty="0"/>
              <a:t>树的表示：</a:t>
            </a:r>
            <a:endParaRPr lang="en-US" altLang="zh-CN" sz="2800" b="1" dirty="0"/>
          </a:p>
        </p:txBody>
      </p:sp>
      <p:sp>
        <p:nvSpPr>
          <p:cNvPr id="4" name="日期占位符 3"/>
          <p:cNvSpPr>
            <a:spLocks noGrp="1"/>
          </p:cNvSpPr>
          <p:nvPr>
            <p:ph type="dt" sz="half" idx="10"/>
          </p:nvPr>
        </p:nvSpPr>
        <p:spPr/>
        <p:txBody>
          <a:bodyPr/>
          <a:lstStyle/>
          <a:p>
            <a:fld id="{0A4A431F-BD01-4D10-B48D-DAC61D026331}"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33" name="Rectangle 3"/>
          <p:cNvSpPr>
            <a:spLocks noChangeArrowheads="1"/>
          </p:cNvSpPr>
          <p:nvPr/>
        </p:nvSpPr>
        <p:spPr bwMode="auto">
          <a:xfrm>
            <a:off x="395287" y="1681162"/>
            <a:ext cx="2863850" cy="519113"/>
          </a:xfrm>
          <a:prstGeom prst="rect">
            <a:avLst/>
          </a:prstGeom>
          <a:noFill/>
          <a:ln w="12700" cap="rnd">
            <a:noFill/>
            <a:miter lim="800000"/>
            <a:headEnd/>
            <a:tailEnd/>
          </a:ln>
        </p:spPr>
        <p:txBody>
          <a:bodyPr wrap="none">
            <a:spAutoFit/>
          </a:bodyPr>
          <a:lstStyle/>
          <a:p>
            <a:pPr algn="ctr" eaLnBrk="0" fontAlgn="base" hangingPunct="0">
              <a:spcBef>
                <a:spcPct val="0"/>
              </a:spcBef>
              <a:spcAft>
                <a:spcPct val="0"/>
              </a:spcAft>
            </a:pPr>
            <a:r>
              <a:rPr kumimoji="1" lang="zh-CN" altLang="en-US" sz="2800" b="1">
                <a:solidFill>
                  <a:srgbClr val="0707F9"/>
                </a:solidFill>
                <a:latin typeface="宋体" pitchFamily="2" charset="-122"/>
              </a:rPr>
              <a:t>（</a:t>
            </a:r>
            <a:r>
              <a:rPr kumimoji="1" lang="en-US" altLang="zh-CN" sz="2800" b="1">
                <a:solidFill>
                  <a:srgbClr val="0707F9"/>
                </a:solidFill>
                <a:latin typeface="宋体" pitchFamily="2" charset="-122"/>
              </a:rPr>
              <a:t>1</a:t>
            </a:r>
            <a:r>
              <a:rPr kumimoji="1" lang="zh-CN" altLang="en-US" sz="2800" b="1">
                <a:solidFill>
                  <a:srgbClr val="0707F9"/>
                </a:solidFill>
                <a:latin typeface="宋体" pitchFamily="2" charset="-122"/>
              </a:rPr>
              <a:t>）树形表示法</a:t>
            </a:r>
          </a:p>
        </p:txBody>
      </p:sp>
      <p:grpSp>
        <p:nvGrpSpPr>
          <p:cNvPr id="34" name="Group 4"/>
          <p:cNvGrpSpPr>
            <a:grpSpLocks/>
          </p:cNvGrpSpPr>
          <p:nvPr/>
        </p:nvGrpSpPr>
        <p:grpSpPr bwMode="auto">
          <a:xfrm>
            <a:off x="5410200" y="2209800"/>
            <a:ext cx="3708400" cy="4487863"/>
            <a:chOff x="336" y="1584"/>
            <a:chExt cx="2304" cy="2757"/>
          </a:xfrm>
        </p:grpSpPr>
        <p:sp>
          <p:nvSpPr>
            <p:cNvPr id="35" name="Rectangle 5"/>
            <p:cNvSpPr>
              <a:spLocks noChangeArrowheads="1"/>
            </p:cNvSpPr>
            <p:nvPr/>
          </p:nvSpPr>
          <p:spPr bwMode="auto">
            <a:xfrm>
              <a:off x="336" y="1584"/>
              <a:ext cx="2304" cy="2736"/>
            </a:xfrm>
            <a:prstGeom prst="rect">
              <a:avLst/>
            </a:prstGeom>
            <a:solidFill>
              <a:srgbClr val="99CCFF"/>
            </a:solidFill>
            <a:ln w="12700" cap="rnd">
              <a:noFill/>
              <a:miter lim="800000"/>
              <a:headEnd/>
              <a:tailEnd/>
            </a:ln>
          </p:spPr>
          <p:txBody>
            <a:bodyPr wrap="none" anchor="ctr"/>
            <a:lstStyle/>
            <a:p>
              <a:pPr algn="ctr" eaLnBrk="0" fontAlgn="base" hangingPunct="0">
                <a:spcBef>
                  <a:spcPct val="0"/>
                </a:spcBef>
                <a:spcAft>
                  <a:spcPct val="0"/>
                </a:spcAft>
              </a:pPr>
              <a:endParaRPr kumimoji="1" lang="zh-CN" altLang="en-US" sz="2800">
                <a:solidFill>
                  <a:srgbClr val="0707F9"/>
                </a:solidFill>
                <a:latin typeface="隶书" pitchFamily="49" charset="-122"/>
                <a:ea typeface="隶书" pitchFamily="49" charset="-122"/>
              </a:endParaRPr>
            </a:p>
          </p:txBody>
        </p:sp>
        <p:sp>
          <p:nvSpPr>
            <p:cNvPr id="36" name="Rectangle 6"/>
            <p:cNvSpPr>
              <a:spLocks noChangeArrowheads="1"/>
            </p:cNvSpPr>
            <p:nvPr/>
          </p:nvSpPr>
          <p:spPr bwMode="auto">
            <a:xfrm>
              <a:off x="576" y="1700"/>
              <a:ext cx="1968" cy="117"/>
            </a:xfrm>
            <a:prstGeom prst="rect">
              <a:avLst/>
            </a:prstGeom>
            <a:solidFill>
              <a:srgbClr val="CC3300"/>
            </a:solidFill>
            <a:ln w="12700" cap="rnd">
              <a:no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37" name="Rectangle 7"/>
            <p:cNvSpPr>
              <a:spLocks noChangeArrowheads="1"/>
            </p:cNvSpPr>
            <p:nvPr/>
          </p:nvSpPr>
          <p:spPr bwMode="auto">
            <a:xfrm>
              <a:off x="864" y="1875"/>
              <a:ext cx="1680" cy="116"/>
            </a:xfrm>
            <a:prstGeom prst="rect">
              <a:avLst/>
            </a:prstGeom>
            <a:solidFill>
              <a:srgbClr val="CC3300"/>
            </a:solidFill>
            <a:ln w="12700" cap="rnd">
              <a:no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38" name="Rectangle 8"/>
            <p:cNvSpPr>
              <a:spLocks noChangeArrowheads="1"/>
            </p:cNvSpPr>
            <p:nvPr/>
          </p:nvSpPr>
          <p:spPr bwMode="auto">
            <a:xfrm>
              <a:off x="1200" y="2050"/>
              <a:ext cx="1344" cy="116"/>
            </a:xfrm>
            <a:prstGeom prst="rect">
              <a:avLst/>
            </a:prstGeom>
            <a:solidFill>
              <a:srgbClr val="CC3300"/>
            </a:solidFill>
            <a:ln w="12700" cap="rnd">
              <a:no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39" name="Rectangle 9"/>
            <p:cNvSpPr>
              <a:spLocks noChangeArrowheads="1"/>
            </p:cNvSpPr>
            <p:nvPr/>
          </p:nvSpPr>
          <p:spPr bwMode="auto">
            <a:xfrm flipV="1">
              <a:off x="1440" y="2224"/>
              <a:ext cx="1104" cy="117"/>
            </a:xfrm>
            <a:prstGeom prst="rect">
              <a:avLst/>
            </a:prstGeom>
            <a:solidFill>
              <a:srgbClr val="CC3300"/>
            </a:solidFill>
            <a:ln w="12700" cap="rnd">
              <a:no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40" name="Rectangle 10"/>
            <p:cNvSpPr>
              <a:spLocks noChangeArrowheads="1"/>
            </p:cNvSpPr>
            <p:nvPr/>
          </p:nvSpPr>
          <p:spPr bwMode="auto">
            <a:xfrm>
              <a:off x="1440" y="2399"/>
              <a:ext cx="1104" cy="116"/>
            </a:xfrm>
            <a:prstGeom prst="rect">
              <a:avLst/>
            </a:prstGeom>
            <a:solidFill>
              <a:srgbClr val="CC3300"/>
            </a:solidFill>
            <a:ln w="12700" cap="rnd">
              <a:no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41" name="Rectangle 11"/>
            <p:cNvSpPr>
              <a:spLocks noChangeArrowheads="1"/>
            </p:cNvSpPr>
            <p:nvPr/>
          </p:nvSpPr>
          <p:spPr bwMode="auto">
            <a:xfrm>
              <a:off x="1200" y="2632"/>
              <a:ext cx="1344" cy="116"/>
            </a:xfrm>
            <a:prstGeom prst="rect">
              <a:avLst/>
            </a:prstGeom>
            <a:solidFill>
              <a:srgbClr val="CC3300"/>
            </a:solidFill>
            <a:ln w="12700" cap="rnd">
              <a:no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42" name="Rectangle 12"/>
            <p:cNvSpPr>
              <a:spLocks noChangeArrowheads="1"/>
            </p:cNvSpPr>
            <p:nvPr/>
          </p:nvSpPr>
          <p:spPr bwMode="auto">
            <a:xfrm>
              <a:off x="912" y="2865"/>
              <a:ext cx="1632" cy="116"/>
            </a:xfrm>
            <a:prstGeom prst="rect">
              <a:avLst/>
            </a:prstGeom>
            <a:solidFill>
              <a:srgbClr val="CC3300"/>
            </a:solidFill>
            <a:ln w="12700" cap="rnd">
              <a:no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43" name="Rectangle 13"/>
            <p:cNvSpPr>
              <a:spLocks noChangeArrowheads="1"/>
            </p:cNvSpPr>
            <p:nvPr/>
          </p:nvSpPr>
          <p:spPr bwMode="auto">
            <a:xfrm>
              <a:off x="816" y="3272"/>
              <a:ext cx="1728" cy="117"/>
            </a:xfrm>
            <a:prstGeom prst="rect">
              <a:avLst/>
            </a:prstGeom>
            <a:solidFill>
              <a:srgbClr val="CC3300"/>
            </a:solidFill>
            <a:ln w="12700" cap="rnd">
              <a:no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44" name="Rectangle 14"/>
            <p:cNvSpPr>
              <a:spLocks noChangeArrowheads="1"/>
            </p:cNvSpPr>
            <p:nvPr/>
          </p:nvSpPr>
          <p:spPr bwMode="auto">
            <a:xfrm>
              <a:off x="1152" y="4080"/>
              <a:ext cx="1392" cy="99"/>
            </a:xfrm>
            <a:prstGeom prst="rect">
              <a:avLst/>
            </a:prstGeom>
            <a:solidFill>
              <a:srgbClr val="CC3300"/>
            </a:solidFill>
            <a:ln w="12700" cap="rnd">
              <a:no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45" name="Rectangle 15"/>
            <p:cNvSpPr>
              <a:spLocks noChangeArrowheads="1"/>
            </p:cNvSpPr>
            <p:nvPr/>
          </p:nvSpPr>
          <p:spPr bwMode="auto">
            <a:xfrm>
              <a:off x="1200" y="3039"/>
              <a:ext cx="1344" cy="117"/>
            </a:xfrm>
            <a:prstGeom prst="rect">
              <a:avLst/>
            </a:prstGeom>
            <a:solidFill>
              <a:srgbClr val="CC3300"/>
            </a:solidFill>
            <a:ln w="12700" cap="rnd">
              <a:no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46" name="Rectangle 16"/>
            <p:cNvSpPr>
              <a:spLocks noChangeArrowheads="1"/>
            </p:cNvSpPr>
            <p:nvPr/>
          </p:nvSpPr>
          <p:spPr bwMode="auto">
            <a:xfrm>
              <a:off x="1248" y="3505"/>
              <a:ext cx="1296" cy="95"/>
            </a:xfrm>
            <a:prstGeom prst="rect">
              <a:avLst/>
            </a:prstGeom>
            <a:solidFill>
              <a:srgbClr val="CC3300"/>
            </a:solidFill>
            <a:ln w="12700" cap="rnd">
              <a:no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47" name="Rectangle 17"/>
            <p:cNvSpPr>
              <a:spLocks noChangeArrowheads="1"/>
            </p:cNvSpPr>
            <p:nvPr/>
          </p:nvSpPr>
          <p:spPr bwMode="auto">
            <a:xfrm>
              <a:off x="1488" y="3648"/>
              <a:ext cx="1056" cy="144"/>
            </a:xfrm>
            <a:prstGeom prst="rect">
              <a:avLst/>
            </a:prstGeom>
            <a:solidFill>
              <a:srgbClr val="CC3300"/>
            </a:solidFill>
            <a:ln w="12700" cap="rnd">
              <a:no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48" name="Rectangle 18"/>
            <p:cNvSpPr>
              <a:spLocks noChangeArrowheads="1"/>
            </p:cNvSpPr>
            <p:nvPr/>
          </p:nvSpPr>
          <p:spPr bwMode="auto">
            <a:xfrm>
              <a:off x="1152" y="3888"/>
              <a:ext cx="1392" cy="83"/>
            </a:xfrm>
            <a:prstGeom prst="rect">
              <a:avLst/>
            </a:prstGeom>
            <a:solidFill>
              <a:srgbClr val="CC3300"/>
            </a:solidFill>
            <a:ln w="12700" cap="rnd">
              <a:no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49" name="Rectangle 19"/>
            <p:cNvSpPr>
              <a:spLocks noChangeArrowheads="1"/>
            </p:cNvSpPr>
            <p:nvPr/>
          </p:nvSpPr>
          <p:spPr bwMode="auto">
            <a:xfrm>
              <a:off x="336" y="1584"/>
              <a:ext cx="324" cy="356"/>
            </a:xfrm>
            <a:prstGeom prst="rect">
              <a:avLst/>
            </a:prstGeom>
            <a:noFill/>
            <a:ln w="12700" cap="rnd">
              <a:noFill/>
              <a:miter lim="800000"/>
              <a:headEnd/>
              <a:tailEnd/>
            </a:ln>
          </p:spPr>
          <p:txBody>
            <a:bodyPr>
              <a:spAutoFit/>
            </a:bodyPr>
            <a:lstStyle/>
            <a:p>
              <a:pPr algn="ctr" eaLnBrk="0" fontAlgn="base" hangingPunct="0">
                <a:spcBef>
                  <a:spcPct val="0"/>
                </a:spcBef>
                <a:spcAft>
                  <a:spcPct val="0"/>
                </a:spcAft>
              </a:pPr>
              <a:r>
                <a:rPr kumimoji="1" lang="en-US" altLang="zh-CN" sz="2400">
                  <a:solidFill>
                    <a:srgbClr val="0707F9"/>
                  </a:solidFill>
                  <a:latin typeface="隶书" pitchFamily="49" charset="-122"/>
                  <a:ea typeface="隶书" pitchFamily="49" charset="-122"/>
                </a:rPr>
                <a:t>A</a:t>
              </a:r>
            </a:p>
          </p:txBody>
        </p:sp>
        <p:sp>
          <p:nvSpPr>
            <p:cNvPr id="50" name="Rectangle 20"/>
            <p:cNvSpPr>
              <a:spLocks noChangeArrowheads="1"/>
            </p:cNvSpPr>
            <p:nvPr/>
          </p:nvSpPr>
          <p:spPr bwMode="auto">
            <a:xfrm>
              <a:off x="624" y="1775"/>
              <a:ext cx="324" cy="356"/>
            </a:xfrm>
            <a:prstGeom prst="rect">
              <a:avLst/>
            </a:prstGeom>
            <a:noFill/>
            <a:ln w="12700" cap="rnd">
              <a:noFill/>
              <a:miter lim="800000"/>
              <a:headEnd/>
              <a:tailEnd/>
            </a:ln>
          </p:spPr>
          <p:txBody>
            <a:bodyPr>
              <a:spAutoFit/>
            </a:bodyPr>
            <a:lstStyle/>
            <a:p>
              <a:pPr algn="ctr" eaLnBrk="0" fontAlgn="base" hangingPunct="0">
                <a:spcBef>
                  <a:spcPct val="0"/>
                </a:spcBef>
                <a:spcAft>
                  <a:spcPct val="0"/>
                </a:spcAft>
              </a:pPr>
              <a:r>
                <a:rPr kumimoji="1" lang="en-US" altLang="zh-CN" sz="2400">
                  <a:solidFill>
                    <a:srgbClr val="0707F9"/>
                  </a:solidFill>
                  <a:latin typeface="隶书" pitchFamily="49" charset="-122"/>
                  <a:ea typeface="隶书" pitchFamily="49" charset="-122"/>
                </a:rPr>
                <a:t>B</a:t>
              </a:r>
            </a:p>
          </p:txBody>
        </p:sp>
        <p:sp>
          <p:nvSpPr>
            <p:cNvPr id="51" name="Rectangle 21"/>
            <p:cNvSpPr>
              <a:spLocks noChangeArrowheads="1"/>
            </p:cNvSpPr>
            <p:nvPr/>
          </p:nvSpPr>
          <p:spPr bwMode="auto">
            <a:xfrm>
              <a:off x="912" y="1969"/>
              <a:ext cx="324" cy="356"/>
            </a:xfrm>
            <a:prstGeom prst="rect">
              <a:avLst/>
            </a:prstGeom>
            <a:noFill/>
            <a:ln w="12700" cap="rnd">
              <a:noFill/>
              <a:miter lim="800000"/>
              <a:headEnd/>
              <a:tailEnd/>
            </a:ln>
          </p:spPr>
          <p:txBody>
            <a:bodyPr>
              <a:spAutoFit/>
            </a:bodyPr>
            <a:lstStyle/>
            <a:p>
              <a:pPr algn="ctr" eaLnBrk="0" fontAlgn="base" hangingPunct="0">
                <a:spcBef>
                  <a:spcPct val="0"/>
                </a:spcBef>
                <a:spcAft>
                  <a:spcPct val="0"/>
                </a:spcAft>
              </a:pPr>
              <a:r>
                <a:rPr kumimoji="1" lang="en-US" altLang="zh-CN" sz="2400">
                  <a:solidFill>
                    <a:srgbClr val="0707F9"/>
                  </a:solidFill>
                  <a:latin typeface="隶书" pitchFamily="49" charset="-122"/>
                  <a:ea typeface="隶书" pitchFamily="49" charset="-122"/>
                </a:rPr>
                <a:t>E</a:t>
              </a:r>
            </a:p>
          </p:txBody>
        </p:sp>
        <p:sp>
          <p:nvSpPr>
            <p:cNvPr id="52" name="Rectangle 22"/>
            <p:cNvSpPr>
              <a:spLocks noChangeArrowheads="1"/>
            </p:cNvSpPr>
            <p:nvPr/>
          </p:nvSpPr>
          <p:spPr bwMode="auto">
            <a:xfrm>
              <a:off x="1200" y="2111"/>
              <a:ext cx="324" cy="356"/>
            </a:xfrm>
            <a:prstGeom prst="rect">
              <a:avLst/>
            </a:prstGeom>
            <a:noFill/>
            <a:ln w="12700" cap="rnd">
              <a:noFill/>
              <a:miter lim="800000"/>
              <a:headEnd/>
              <a:tailEnd/>
            </a:ln>
          </p:spPr>
          <p:txBody>
            <a:bodyPr>
              <a:spAutoFit/>
            </a:bodyPr>
            <a:lstStyle/>
            <a:p>
              <a:pPr algn="ctr" eaLnBrk="0" fontAlgn="base" hangingPunct="0">
                <a:spcBef>
                  <a:spcPct val="0"/>
                </a:spcBef>
                <a:spcAft>
                  <a:spcPct val="0"/>
                </a:spcAft>
              </a:pPr>
              <a:r>
                <a:rPr kumimoji="1" lang="en-US" altLang="zh-CN" sz="2400">
                  <a:solidFill>
                    <a:srgbClr val="0707F9"/>
                  </a:solidFill>
                  <a:latin typeface="隶书" pitchFamily="49" charset="-122"/>
                  <a:ea typeface="隶书" pitchFamily="49" charset="-122"/>
                </a:rPr>
                <a:t>K</a:t>
              </a:r>
            </a:p>
          </p:txBody>
        </p:sp>
        <p:sp>
          <p:nvSpPr>
            <p:cNvPr id="53" name="Rectangle 23"/>
            <p:cNvSpPr>
              <a:spLocks noChangeArrowheads="1"/>
            </p:cNvSpPr>
            <p:nvPr/>
          </p:nvSpPr>
          <p:spPr bwMode="auto">
            <a:xfrm>
              <a:off x="1200" y="2304"/>
              <a:ext cx="324" cy="356"/>
            </a:xfrm>
            <a:prstGeom prst="rect">
              <a:avLst/>
            </a:prstGeom>
            <a:noFill/>
            <a:ln w="12700" cap="rnd">
              <a:noFill/>
              <a:miter lim="800000"/>
              <a:headEnd/>
              <a:tailEnd/>
            </a:ln>
          </p:spPr>
          <p:txBody>
            <a:bodyPr>
              <a:spAutoFit/>
            </a:bodyPr>
            <a:lstStyle/>
            <a:p>
              <a:pPr algn="ctr" eaLnBrk="0" fontAlgn="base" hangingPunct="0">
                <a:spcBef>
                  <a:spcPct val="0"/>
                </a:spcBef>
                <a:spcAft>
                  <a:spcPct val="0"/>
                </a:spcAft>
              </a:pPr>
              <a:r>
                <a:rPr kumimoji="1" lang="en-US" altLang="zh-CN" sz="2400">
                  <a:solidFill>
                    <a:srgbClr val="0707F9"/>
                  </a:solidFill>
                  <a:latin typeface="隶书" pitchFamily="49" charset="-122"/>
                  <a:ea typeface="隶书" pitchFamily="49" charset="-122"/>
                </a:rPr>
                <a:t>L</a:t>
              </a:r>
            </a:p>
          </p:txBody>
        </p:sp>
        <p:sp>
          <p:nvSpPr>
            <p:cNvPr id="54" name="Rectangle 24"/>
            <p:cNvSpPr>
              <a:spLocks noChangeArrowheads="1"/>
            </p:cNvSpPr>
            <p:nvPr/>
          </p:nvSpPr>
          <p:spPr bwMode="auto">
            <a:xfrm>
              <a:off x="960" y="2496"/>
              <a:ext cx="324" cy="355"/>
            </a:xfrm>
            <a:prstGeom prst="rect">
              <a:avLst/>
            </a:prstGeom>
            <a:noFill/>
            <a:ln w="12700" cap="rnd">
              <a:noFill/>
              <a:miter lim="800000"/>
              <a:headEnd/>
              <a:tailEnd/>
            </a:ln>
          </p:spPr>
          <p:txBody>
            <a:bodyPr>
              <a:spAutoFit/>
            </a:bodyPr>
            <a:lstStyle/>
            <a:p>
              <a:pPr algn="ctr" eaLnBrk="0" fontAlgn="base" hangingPunct="0">
                <a:spcBef>
                  <a:spcPct val="0"/>
                </a:spcBef>
                <a:spcAft>
                  <a:spcPct val="0"/>
                </a:spcAft>
              </a:pPr>
              <a:r>
                <a:rPr kumimoji="1" lang="en-US" altLang="zh-CN" sz="2400">
                  <a:solidFill>
                    <a:srgbClr val="0707F9"/>
                  </a:solidFill>
                  <a:latin typeface="隶书" pitchFamily="49" charset="-122"/>
                  <a:ea typeface="隶书" pitchFamily="49" charset="-122"/>
                </a:rPr>
                <a:t>F</a:t>
              </a:r>
            </a:p>
          </p:txBody>
        </p:sp>
        <p:sp>
          <p:nvSpPr>
            <p:cNvPr id="55" name="Rectangle 25"/>
            <p:cNvSpPr>
              <a:spLocks noChangeArrowheads="1"/>
            </p:cNvSpPr>
            <p:nvPr/>
          </p:nvSpPr>
          <p:spPr bwMode="auto">
            <a:xfrm>
              <a:off x="576" y="2737"/>
              <a:ext cx="324" cy="355"/>
            </a:xfrm>
            <a:prstGeom prst="rect">
              <a:avLst/>
            </a:prstGeom>
            <a:noFill/>
            <a:ln w="12700" cap="rnd">
              <a:noFill/>
              <a:miter lim="800000"/>
              <a:headEnd/>
              <a:tailEnd/>
            </a:ln>
          </p:spPr>
          <p:txBody>
            <a:bodyPr>
              <a:spAutoFit/>
            </a:bodyPr>
            <a:lstStyle/>
            <a:p>
              <a:pPr algn="ctr" eaLnBrk="0" fontAlgn="base" hangingPunct="0">
                <a:spcBef>
                  <a:spcPct val="0"/>
                </a:spcBef>
                <a:spcAft>
                  <a:spcPct val="0"/>
                </a:spcAft>
              </a:pPr>
              <a:r>
                <a:rPr kumimoji="1" lang="en-US" altLang="zh-CN" sz="2400">
                  <a:solidFill>
                    <a:srgbClr val="0707F9"/>
                  </a:solidFill>
                  <a:latin typeface="隶书" pitchFamily="49" charset="-122"/>
                  <a:ea typeface="隶书" pitchFamily="49" charset="-122"/>
                </a:rPr>
                <a:t>C</a:t>
              </a:r>
            </a:p>
          </p:txBody>
        </p:sp>
        <p:sp>
          <p:nvSpPr>
            <p:cNvPr id="56" name="Rectangle 26"/>
            <p:cNvSpPr>
              <a:spLocks noChangeArrowheads="1"/>
            </p:cNvSpPr>
            <p:nvPr/>
          </p:nvSpPr>
          <p:spPr bwMode="auto">
            <a:xfrm>
              <a:off x="960" y="2927"/>
              <a:ext cx="324" cy="356"/>
            </a:xfrm>
            <a:prstGeom prst="rect">
              <a:avLst/>
            </a:prstGeom>
            <a:noFill/>
            <a:ln w="12700" cap="rnd">
              <a:noFill/>
              <a:miter lim="800000"/>
              <a:headEnd/>
              <a:tailEnd/>
            </a:ln>
          </p:spPr>
          <p:txBody>
            <a:bodyPr>
              <a:spAutoFit/>
            </a:bodyPr>
            <a:lstStyle/>
            <a:p>
              <a:pPr algn="ctr" eaLnBrk="0" fontAlgn="base" hangingPunct="0">
                <a:spcBef>
                  <a:spcPct val="0"/>
                </a:spcBef>
                <a:spcAft>
                  <a:spcPct val="0"/>
                </a:spcAft>
              </a:pPr>
              <a:r>
                <a:rPr kumimoji="1" lang="en-US" altLang="zh-CN" sz="2400">
                  <a:solidFill>
                    <a:srgbClr val="0707F9"/>
                  </a:solidFill>
                  <a:latin typeface="隶书" pitchFamily="49" charset="-122"/>
                  <a:ea typeface="隶书" pitchFamily="49" charset="-122"/>
                </a:rPr>
                <a:t>G</a:t>
              </a:r>
            </a:p>
          </p:txBody>
        </p:sp>
        <p:sp>
          <p:nvSpPr>
            <p:cNvPr id="57" name="Rectangle 27"/>
            <p:cNvSpPr>
              <a:spLocks noChangeArrowheads="1"/>
            </p:cNvSpPr>
            <p:nvPr/>
          </p:nvSpPr>
          <p:spPr bwMode="auto">
            <a:xfrm>
              <a:off x="480" y="3168"/>
              <a:ext cx="324" cy="355"/>
            </a:xfrm>
            <a:prstGeom prst="rect">
              <a:avLst/>
            </a:prstGeom>
            <a:noFill/>
            <a:ln w="12700" cap="rnd">
              <a:noFill/>
              <a:miter lim="800000"/>
              <a:headEnd/>
              <a:tailEnd/>
            </a:ln>
          </p:spPr>
          <p:txBody>
            <a:bodyPr>
              <a:spAutoFit/>
            </a:bodyPr>
            <a:lstStyle/>
            <a:p>
              <a:pPr algn="ctr" eaLnBrk="0" fontAlgn="base" hangingPunct="0">
                <a:spcBef>
                  <a:spcPct val="0"/>
                </a:spcBef>
                <a:spcAft>
                  <a:spcPct val="0"/>
                </a:spcAft>
              </a:pPr>
              <a:r>
                <a:rPr kumimoji="1" lang="en-US" altLang="zh-CN" sz="2400">
                  <a:solidFill>
                    <a:srgbClr val="0707F9"/>
                  </a:solidFill>
                  <a:latin typeface="隶书" pitchFamily="49" charset="-122"/>
                  <a:ea typeface="隶书" pitchFamily="49" charset="-122"/>
                </a:rPr>
                <a:t>D</a:t>
              </a:r>
            </a:p>
          </p:txBody>
        </p:sp>
        <p:sp>
          <p:nvSpPr>
            <p:cNvPr id="58" name="Rectangle 28"/>
            <p:cNvSpPr>
              <a:spLocks noChangeArrowheads="1"/>
            </p:cNvSpPr>
            <p:nvPr/>
          </p:nvSpPr>
          <p:spPr bwMode="auto">
            <a:xfrm>
              <a:off x="960" y="3409"/>
              <a:ext cx="324" cy="355"/>
            </a:xfrm>
            <a:prstGeom prst="rect">
              <a:avLst/>
            </a:prstGeom>
            <a:noFill/>
            <a:ln w="12700" cap="rnd">
              <a:noFill/>
              <a:miter lim="800000"/>
              <a:headEnd/>
              <a:tailEnd/>
            </a:ln>
          </p:spPr>
          <p:txBody>
            <a:bodyPr>
              <a:spAutoFit/>
            </a:bodyPr>
            <a:lstStyle/>
            <a:p>
              <a:pPr algn="ctr" eaLnBrk="0" fontAlgn="base" hangingPunct="0">
                <a:spcBef>
                  <a:spcPct val="0"/>
                </a:spcBef>
                <a:spcAft>
                  <a:spcPct val="0"/>
                </a:spcAft>
              </a:pPr>
              <a:r>
                <a:rPr kumimoji="1" lang="en-US" altLang="zh-CN" sz="2400">
                  <a:solidFill>
                    <a:srgbClr val="0707F9"/>
                  </a:solidFill>
                  <a:latin typeface="隶书" pitchFamily="49" charset="-122"/>
                  <a:ea typeface="隶书" pitchFamily="49" charset="-122"/>
                </a:rPr>
                <a:t>H</a:t>
              </a:r>
            </a:p>
          </p:txBody>
        </p:sp>
        <p:sp>
          <p:nvSpPr>
            <p:cNvPr id="59" name="Rectangle 29"/>
            <p:cNvSpPr>
              <a:spLocks noChangeArrowheads="1"/>
            </p:cNvSpPr>
            <p:nvPr/>
          </p:nvSpPr>
          <p:spPr bwMode="auto">
            <a:xfrm>
              <a:off x="1200" y="3552"/>
              <a:ext cx="324" cy="356"/>
            </a:xfrm>
            <a:prstGeom prst="rect">
              <a:avLst/>
            </a:prstGeom>
            <a:noFill/>
            <a:ln w="12700" cap="rnd">
              <a:noFill/>
              <a:miter lim="800000"/>
              <a:headEnd/>
              <a:tailEnd/>
            </a:ln>
          </p:spPr>
          <p:txBody>
            <a:bodyPr>
              <a:spAutoFit/>
            </a:bodyPr>
            <a:lstStyle/>
            <a:p>
              <a:pPr algn="ctr" eaLnBrk="0" fontAlgn="base" hangingPunct="0">
                <a:spcBef>
                  <a:spcPct val="0"/>
                </a:spcBef>
                <a:spcAft>
                  <a:spcPct val="0"/>
                </a:spcAft>
              </a:pPr>
              <a:r>
                <a:rPr kumimoji="1" lang="en-US" altLang="zh-CN" sz="2400">
                  <a:solidFill>
                    <a:srgbClr val="0707F9"/>
                  </a:solidFill>
                  <a:latin typeface="隶书" pitchFamily="49" charset="-122"/>
                  <a:ea typeface="隶书" pitchFamily="49" charset="-122"/>
                </a:rPr>
                <a:t>M</a:t>
              </a:r>
            </a:p>
          </p:txBody>
        </p:sp>
        <p:sp>
          <p:nvSpPr>
            <p:cNvPr id="60" name="Rectangle 30"/>
            <p:cNvSpPr>
              <a:spLocks noChangeArrowheads="1"/>
            </p:cNvSpPr>
            <p:nvPr/>
          </p:nvSpPr>
          <p:spPr bwMode="auto">
            <a:xfrm>
              <a:off x="864" y="4032"/>
              <a:ext cx="324" cy="309"/>
            </a:xfrm>
            <a:prstGeom prst="rect">
              <a:avLst/>
            </a:prstGeom>
            <a:noFill/>
            <a:ln w="12700" cap="rnd">
              <a:noFill/>
              <a:miter lim="800000"/>
              <a:headEnd/>
              <a:tailEnd/>
            </a:ln>
          </p:spPr>
          <p:txBody>
            <a:bodyPr>
              <a:spAutoFit/>
            </a:bodyPr>
            <a:lstStyle/>
            <a:p>
              <a:pPr algn="ctr" eaLnBrk="0" fontAlgn="base" hangingPunct="0">
                <a:spcBef>
                  <a:spcPct val="0"/>
                </a:spcBef>
                <a:spcAft>
                  <a:spcPct val="0"/>
                </a:spcAft>
              </a:pPr>
              <a:r>
                <a:rPr kumimoji="1" lang="en-US" altLang="zh-CN" sz="2000">
                  <a:solidFill>
                    <a:srgbClr val="0707F9"/>
                  </a:solidFill>
                  <a:latin typeface="隶书" pitchFamily="49" charset="-122"/>
                  <a:ea typeface="隶书" pitchFamily="49" charset="-122"/>
                </a:rPr>
                <a:t>J</a:t>
              </a:r>
            </a:p>
          </p:txBody>
        </p:sp>
        <p:sp>
          <p:nvSpPr>
            <p:cNvPr id="61" name="Rectangle 31"/>
            <p:cNvSpPr>
              <a:spLocks noChangeArrowheads="1"/>
            </p:cNvSpPr>
            <p:nvPr/>
          </p:nvSpPr>
          <p:spPr bwMode="auto">
            <a:xfrm>
              <a:off x="864" y="3744"/>
              <a:ext cx="324" cy="355"/>
            </a:xfrm>
            <a:prstGeom prst="rect">
              <a:avLst/>
            </a:prstGeom>
            <a:noFill/>
            <a:ln w="12700" cap="rnd">
              <a:noFill/>
              <a:miter lim="800000"/>
              <a:headEnd/>
              <a:tailEnd/>
            </a:ln>
          </p:spPr>
          <p:txBody>
            <a:bodyPr>
              <a:spAutoFit/>
            </a:bodyPr>
            <a:lstStyle/>
            <a:p>
              <a:pPr algn="ctr" eaLnBrk="0" fontAlgn="base" hangingPunct="0">
                <a:spcBef>
                  <a:spcPct val="0"/>
                </a:spcBef>
                <a:spcAft>
                  <a:spcPct val="0"/>
                </a:spcAft>
              </a:pPr>
              <a:r>
                <a:rPr kumimoji="1" lang="en-US" altLang="zh-CN" sz="2400">
                  <a:solidFill>
                    <a:srgbClr val="0707F9"/>
                  </a:solidFill>
                  <a:latin typeface="隶书" pitchFamily="49" charset="-122"/>
                  <a:ea typeface="隶书" pitchFamily="49" charset="-122"/>
                </a:rPr>
                <a:t>I</a:t>
              </a:r>
            </a:p>
          </p:txBody>
        </p:sp>
      </p:grpSp>
      <p:sp>
        <p:nvSpPr>
          <p:cNvPr id="62" name="Rectangle 32"/>
          <p:cNvSpPr>
            <a:spLocks noChangeArrowheads="1"/>
          </p:cNvSpPr>
          <p:nvPr/>
        </p:nvSpPr>
        <p:spPr bwMode="auto">
          <a:xfrm>
            <a:off x="5737225" y="1641475"/>
            <a:ext cx="2863850" cy="946150"/>
          </a:xfrm>
          <a:prstGeom prst="rect">
            <a:avLst/>
          </a:prstGeom>
          <a:noFill/>
          <a:ln w="12700" cap="rnd">
            <a:noFill/>
            <a:miter lim="800000"/>
            <a:headEnd/>
            <a:tailEnd/>
          </a:ln>
        </p:spPr>
        <p:txBody>
          <a:bodyPr wrap="none">
            <a:spAutoFit/>
          </a:bodyPr>
          <a:lstStyle/>
          <a:p>
            <a:pPr algn="ctr" eaLnBrk="0" fontAlgn="base" hangingPunct="0">
              <a:spcBef>
                <a:spcPct val="0"/>
              </a:spcBef>
              <a:spcAft>
                <a:spcPct val="0"/>
              </a:spcAft>
            </a:pPr>
            <a:r>
              <a:rPr kumimoji="1" lang="zh-CN" altLang="en-US" sz="2800" b="1">
                <a:solidFill>
                  <a:srgbClr val="0707F9"/>
                </a:solidFill>
                <a:latin typeface="宋体" pitchFamily="2" charset="-122"/>
              </a:rPr>
              <a:t>（</a:t>
            </a:r>
            <a:r>
              <a:rPr kumimoji="1" lang="en-US" altLang="zh-CN" sz="2800" b="1">
                <a:solidFill>
                  <a:srgbClr val="0707F9"/>
                </a:solidFill>
                <a:latin typeface="宋体" pitchFamily="2" charset="-122"/>
              </a:rPr>
              <a:t>2</a:t>
            </a:r>
            <a:r>
              <a:rPr kumimoji="1" lang="zh-CN" altLang="en-US" sz="2800" b="1">
                <a:solidFill>
                  <a:srgbClr val="0707F9"/>
                </a:solidFill>
                <a:latin typeface="宋体" pitchFamily="2" charset="-122"/>
              </a:rPr>
              <a:t>）凹入表示法</a:t>
            </a:r>
            <a:br>
              <a:rPr kumimoji="1" lang="zh-CN" altLang="en-US" sz="2800" b="1">
                <a:solidFill>
                  <a:srgbClr val="0707F9"/>
                </a:solidFill>
                <a:latin typeface="宋体" pitchFamily="2" charset="-122"/>
              </a:rPr>
            </a:br>
            <a:endParaRPr kumimoji="1" lang="zh-CN" altLang="en-US" sz="2800" b="1">
              <a:solidFill>
                <a:srgbClr val="0707F9"/>
              </a:solidFill>
              <a:latin typeface="宋体" pitchFamily="2" charset="-122"/>
            </a:endParaRPr>
          </a:p>
        </p:txBody>
      </p:sp>
      <p:grpSp>
        <p:nvGrpSpPr>
          <p:cNvPr id="63" name="Group 86"/>
          <p:cNvGrpSpPr>
            <a:grpSpLocks/>
          </p:cNvGrpSpPr>
          <p:nvPr/>
        </p:nvGrpSpPr>
        <p:grpSpPr bwMode="auto">
          <a:xfrm>
            <a:off x="152400" y="2971800"/>
            <a:ext cx="4254500" cy="2073275"/>
            <a:chOff x="1728" y="2160"/>
            <a:chExt cx="2680" cy="1306"/>
          </a:xfrm>
        </p:grpSpPr>
        <p:sp>
          <p:nvSpPr>
            <p:cNvPr id="64" name="Line 87"/>
            <p:cNvSpPr>
              <a:spLocks noChangeShapeType="1"/>
            </p:cNvSpPr>
            <p:nvPr/>
          </p:nvSpPr>
          <p:spPr bwMode="auto">
            <a:xfrm>
              <a:off x="3126" y="2400"/>
              <a:ext cx="0" cy="96"/>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5" name="Line 88"/>
            <p:cNvSpPr>
              <a:spLocks noChangeShapeType="1"/>
            </p:cNvSpPr>
            <p:nvPr/>
          </p:nvSpPr>
          <p:spPr bwMode="auto">
            <a:xfrm flipH="1">
              <a:off x="2550" y="2304"/>
              <a:ext cx="432"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5" name="Line 89"/>
            <p:cNvSpPr>
              <a:spLocks noChangeShapeType="1"/>
            </p:cNvSpPr>
            <p:nvPr/>
          </p:nvSpPr>
          <p:spPr bwMode="auto">
            <a:xfrm flipH="1">
              <a:off x="2214"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6" name="Line 90"/>
            <p:cNvSpPr>
              <a:spLocks noChangeShapeType="1"/>
            </p:cNvSpPr>
            <p:nvPr/>
          </p:nvSpPr>
          <p:spPr bwMode="auto">
            <a:xfrm>
              <a:off x="2502"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7" name="Line 91"/>
            <p:cNvSpPr>
              <a:spLocks noChangeShapeType="1"/>
            </p:cNvSpPr>
            <p:nvPr/>
          </p:nvSpPr>
          <p:spPr bwMode="auto">
            <a:xfrm>
              <a:off x="3126"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8" name="Line 92"/>
            <p:cNvSpPr>
              <a:spLocks noChangeShapeType="1"/>
            </p:cNvSpPr>
            <p:nvPr/>
          </p:nvSpPr>
          <p:spPr bwMode="auto">
            <a:xfrm>
              <a:off x="3222" y="2304"/>
              <a:ext cx="528" cy="288"/>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9" name="Line 93"/>
            <p:cNvSpPr>
              <a:spLocks noChangeShapeType="1"/>
            </p:cNvSpPr>
            <p:nvPr/>
          </p:nvSpPr>
          <p:spPr bwMode="auto">
            <a:xfrm flipH="1">
              <a:off x="3606"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0" name="Line 94"/>
            <p:cNvSpPr>
              <a:spLocks noChangeShapeType="1"/>
            </p:cNvSpPr>
            <p:nvPr/>
          </p:nvSpPr>
          <p:spPr bwMode="auto">
            <a:xfrm>
              <a:off x="3894"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1" name="Line 95"/>
            <p:cNvSpPr>
              <a:spLocks noChangeShapeType="1"/>
            </p:cNvSpPr>
            <p:nvPr/>
          </p:nvSpPr>
          <p:spPr bwMode="auto">
            <a:xfrm>
              <a:off x="3990"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2" name="Line 96"/>
            <p:cNvSpPr>
              <a:spLocks noChangeShapeType="1"/>
            </p:cNvSpPr>
            <p:nvPr/>
          </p:nvSpPr>
          <p:spPr bwMode="auto">
            <a:xfrm flipH="1">
              <a:off x="192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3" name="Line 97"/>
            <p:cNvSpPr>
              <a:spLocks noChangeShapeType="1"/>
            </p:cNvSpPr>
            <p:nvPr/>
          </p:nvSpPr>
          <p:spPr bwMode="auto">
            <a:xfrm>
              <a:off x="225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4" name="Line 98"/>
            <p:cNvSpPr>
              <a:spLocks noChangeShapeType="1"/>
            </p:cNvSpPr>
            <p:nvPr/>
          </p:nvSpPr>
          <p:spPr bwMode="auto">
            <a:xfrm>
              <a:off x="3552" y="3094"/>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85" name="Group 99"/>
            <p:cNvGrpSpPr>
              <a:grpSpLocks/>
            </p:cNvGrpSpPr>
            <p:nvPr/>
          </p:nvGrpSpPr>
          <p:grpSpPr bwMode="auto">
            <a:xfrm>
              <a:off x="4088" y="2856"/>
              <a:ext cx="320" cy="250"/>
              <a:chOff x="2880" y="1104"/>
              <a:chExt cx="367" cy="343"/>
            </a:xfrm>
          </p:grpSpPr>
          <p:sp>
            <p:nvSpPr>
              <p:cNvPr id="122" name="Oval 10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23" name="Text Box 10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J</a:t>
                </a:r>
              </a:p>
            </p:txBody>
          </p:sp>
        </p:grpSp>
        <p:grpSp>
          <p:nvGrpSpPr>
            <p:cNvPr id="86" name="Group 102"/>
            <p:cNvGrpSpPr>
              <a:grpSpLocks/>
            </p:cNvGrpSpPr>
            <p:nvPr/>
          </p:nvGrpSpPr>
          <p:grpSpPr bwMode="auto">
            <a:xfrm>
              <a:off x="3750" y="2858"/>
              <a:ext cx="320" cy="250"/>
              <a:chOff x="2880" y="1104"/>
              <a:chExt cx="367" cy="343"/>
            </a:xfrm>
          </p:grpSpPr>
          <p:sp>
            <p:nvSpPr>
              <p:cNvPr id="120" name="Oval 10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21" name="Text Box 10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I</a:t>
                </a:r>
              </a:p>
            </p:txBody>
          </p:sp>
        </p:grpSp>
        <p:grpSp>
          <p:nvGrpSpPr>
            <p:cNvPr id="87" name="Group 105"/>
            <p:cNvGrpSpPr>
              <a:grpSpLocks/>
            </p:cNvGrpSpPr>
            <p:nvPr/>
          </p:nvGrpSpPr>
          <p:grpSpPr bwMode="auto">
            <a:xfrm>
              <a:off x="2982" y="2160"/>
              <a:ext cx="320" cy="250"/>
              <a:chOff x="2880" y="1104"/>
              <a:chExt cx="367" cy="343"/>
            </a:xfrm>
          </p:grpSpPr>
          <p:sp>
            <p:nvSpPr>
              <p:cNvPr id="118" name="Oval 10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19" name="Text Box 10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A</a:t>
                </a:r>
              </a:p>
            </p:txBody>
          </p:sp>
        </p:grpSp>
        <p:grpSp>
          <p:nvGrpSpPr>
            <p:cNvPr id="88" name="Group 108"/>
            <p:cNvGrpSpPr>
              <a:grpSpLocks/>
            </p:cNvGrpSpPr>
            <p:nvPr/>
          </p:nvGrpSpPr>
          <p:grpSpPr bwMode="auto">
            <a:xfrm>
              <a:off x="2982" y="2497"/>
              <a:ext cx="320" cy="250"/>
              <a:chOff x="2880" y="1104"/>
              <a:chExt cx="367" cy="343"/>
            </a:xfrm>
          </p:grpSpPr>
          <p:sp>
            <p:nvSpPr>
              <p:cNvPr id="116" name="Oval 10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17" name="Text Box 110"/>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C</a:t>
                </a:r>
              </a:p>
            </p:txBody>
          </p:sp>
        </p:grpSp>
        <p:grpSp>
          <p:nvGrpSpPr>
            <p:cNvPr id="89" name="Group 111"/>
            <p:cNvGrpSpPr>
              <a:grpSpLocks/>
            </p:cNvGrpSpPr>
            <p:nvPr/>
          </p:nvGrpSpPr>
          <p:grpSpPr bwMode="auto">
            <a:xfrm>
              <a:off x="2304" y="2497"/>
              <a:ext cx="320" cy="250"/>
              <a:chOff x="2880" y="1104"/>
              <a:chExt cx="367" cy="343"/>
            </a:xfrm>
          </p:grpSpPr>
          <p:sp>
            <p:nvSpPr>
              <p:cNvPr id="114" name="Oval 11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15" name="Text Box 11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B</a:t>
                </a:r>
              </a:p>
            </p:txBody>
          </p:sp>
        </p:grpSp>
        <p:grpSp>
          <p:nvGrpSpPr>
            <p:cNvPr id="90" name="Group 114"/>
            <p:cNvGrpSpPr>
              <a:grpSpLocks/>
            </p:cNvGrpSpPr>
            <p:nvPr/>
          </p:nvGrpSpPr>
          <p:grpSpPr bwMode="auto">
            <a:xfrm>
              <a:off x="3750" y="2497"/>
              <a:ext cx="320" cy="250"/>
              <a:chOff x="2880" y="1104"/>
              <a:chExt cx="367" cy="343"/>
            </a:xfrm>
          </p:grpSpPr>
          <p:sp>
            <p:nvSpPr>
              <p:cNvPr id="112" name="Oval 11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13" name="Text Box 116"/>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D</a:t>
                </a:r>
              </a:p>
            </p:txBody>
          </p:sp>
        </p:grpSp>
        <p:grpSp>
          <p:nvGrpSpPr>
            <p:cNvPr id="91" name="Group 117"/>
            <p:cNvGrpSpPr>
              <a:grpSpLocks/>
            </p:cNvGrpSpPr>
            <p:nvPr/>
          </p:nvGrpSpPr>
          <p:grpSpPr bwMode="auto">
            <a:xfrm>
              <a:off x="3408" y="2858"/>
              <a:ext cx="320" cy="250"/>
              <a:chOff x="2880" y="1104"/>
              <a:chExt cx="367" cy="343"/>
            </a:xfrm>
          </p:grpSpPr>
          <p:sp>
            <p:nvSpPr>
              <p:cNvPr id="110" name="Oval 11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11" name="Text Box 11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H</a:t>
                </a:r>
              </a:p>
            </p:txBody>
          </p:sp>
        </p:grpSp>
        <p:grpSp>
          <p:nvGrpSpPr>
            <p:cNvPr id="92" name="Group 120"/>
            <p:cNvGrpSpPr>
              <a:grpSpLocks/>
            </p:cNvGrpSpPr>
            <p:nvPr/>
          </p:nvGrpSpPr>
          <p:grpSpPr bwMode="auto">
            <a:xfrm>
              <a:off x="2982" y="2858"/>
              <a:ext cx="320" cy="250"/>
              <a:chOff x="2880" y="1104"/>
              <a:chExt cx="367" cy="343"/>
            </a:xfrm>
          </p:grpSpPr>
          <p:sp>
            <p:nvSpPr>
              <p:cNvPr id="108" name="Oval 12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09" name="Text Box 12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G</a:t>
                </a:r>
              </a:p>
            </p:txBody>
          </p:sp>
        </p:grpSp>
        <p:grpSp>
          <p:nvGrpSpPr>
            <p:cNvPr id="93" name="Group 123"/>
            <p:cNvGrpSpPr>
              <a:grpSpLocks/>
            </p:cNvGrpSpPr>
            <p:nvPr/>
          </p:nvGrpSpPr>
          <p:grpSpPr bwMode="auto">
            <a:xfrm>
              <a:off x="2502" y="2858"/>
              <a:ext cx="320" cy="250"/>
              <a:chOff x="2880" y="1104"/>
              <a:chExt cx="367" cy="343"/>
            </a:xfrm>
          </p:grpSpPr>
          <p:sp>
            <p:nvSpPr>
              <p:cNvPr id="106" name="Oval 12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07" name="Text Box 12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F</a:t>
                </a:r>
              </a:p>
            </p:txBody>
          </p:sp>
        </p:grpSp>
        <p:grpSp>
          <p:nvGrpSpPr>
            <p:cNvPr id="94" name="Group 126"/>
            <p:cNvGrpSpPr>
              <a:grpSpLocks/>
            </p:cNvGrpSpPr>
            <p:nvPr/>
          </p:nvGrpSpPr>
          <p:grpSpPr bwMode="auto">
            <a:xfrm>
              <a:off x="2016" y="2858"/>
              <a:ext cx="320" cy="250"/>
              <a:chOff x="2880" y="1104"/>
              <a:chExt cx="367" cy="343"/>
            </a:xfrm>
          </p:grpSpPr>
          <p:sp>
            <p:nvSpPr>
              <p:cNvPr id="104" name="Oval 12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05" name="Text Box 12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E</a:t>
                </a:r>
              </a:p>
            </p:txBody>
          </p:sp>
        </p:grpSp>
        <p:grpSp>
          <p:nvGrpSpPr>
            <p:cNvPr id="95" name="Group 129"/>
            <p:cNvGrpSpPr>
              <a:grpSpLocks/>
            </p:cNvGrpSpPr>
            <p:nvPr/>
          </p:nvGrpSpPr>
          <p:grpSpPr bwMode="auto">
            <a:xfrm>
              <a:off x="1728" y="3216"/>
              <a:ext cx="320" cy="250"/>
              <a:chOff x="2880" y="1104"/>
              <a:chExt cx="367" cy="343"/>
            </a:xfrm>
          </p:grpSpPr>
          <p:sp>
            <p:nvSpPr>
              <p:cNvPr id="102" name="Oval 13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03" name="Text Box 13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K</a:t>
                </a:r>
              </a:p>
            </p:txBody>
          </p:sp>
        </p:grpSp>
        <p:grpSp>
          <p:nvGrpSpPr>
            <p:cNvPr id="96" name="Group 132"/>
            <p:cNvGrpSpPr>
              <a:grpSpLocks/>
            </p:cNvGrpSpPr>
            <p:nvPr/>
          </p:nvGrpSpPr>
          <p:grpSpPr bwMode="auto">
            <a:xfrm>
              <a:off x="2256" y="3216"/>
              <a:ext cx="320" cy="250"/>
              <a:chOff x="2880" y="1104"/>
              <a:chExt cx="367" cy="343"/>
            </a:xfrm>
          </p:grpSpPr>
          <p:sp>
            <p:nvSpPr>
              <p:cNvPr id="100" name="Oval 13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01" name="Text Box 13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L</a:t>
                </a:r>
              </a:p>
            </p:txBody>
          </p:sp>
        </p:grpSp>
        <p:grpSp>
          <p:nvGrpSpPr>
            <p:cNvPr id="97" name="Group 135"/>
            <p:cNvGrpSpPr>
              <a:grpSpLocks/>
            </p:cNvGrpSpPr>
            <p:nvPr/>
          </p:nvGrpSpPr>
          <p:grpSpPr bwMode="auto">
            <a:xfrm>
              <a:off x="3408" y="3216"/>
              <a:ext cx="320" cy="250"/>
              <a:chOff x="2880" y="1104"/>
              <a:chExt cx="367" cy="343"/>
            </a:xfrm>
          </p:grpSpPr>
          <p:sp>
            <p:nvSpPr>
              <p:cNvPr id="98" name="Oval 13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99" name="Text Box 13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M</a:t>
                </a:r>
              </a:p>
            </p:txBody>
          </p:sp>
        </p:grpSp>
      </p:grpSp>
    </p:spTree>
    <p:extLst>
      <p:ext uri="{BB962C8B-B14F-4D97-AF65-F5344CB8AC3E}">
        <p14:creationId xmlns:p14="http://schemas.microsoft.com/office/powerpoint/2010/main" val="956405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800" b="1" dirty="0"/>
              <a:t>树的表示：</a:t>
            </a:r>
            <a:endParaRPr lang="en-US" altLang="zh-CN" sz="2800" b="1" dirty="0"/>
          </a:p>
        </p:txBody>
      </p:sp>
      <p:sp>
        <p:nvSpPr>
          <p:cNvPr id="4" name="日期占位符 3"/>
          <p:cNvSpPr>
            <a:spLocks noGrp="1"/>
          </p:cNvSpPr>
          <p:nvPr>
            <p:ph type="dt" sz="half" idx="10"/>
          </p:nvPr>
        </p:nvSpPr>
        <p:spPr/>
        <p:txBody>
          <a:bodyPr/>
          <a:lstStyle/>
          <a:p>
            <a:fld id="{D2830655-C467-49FA-8FDC-4B547C6B96E9}"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20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24" name="Rectangle 4"/>
          <p:cNvSpPr>
            <a:spLocks noChangeArrowheads="1"/>
          </p:cNvSpPr>
          <p:nvPr/>
        </p:nvSpPr>
        <p:spPr bwMode="auto">
          <a:xfrm>
            <a:off x="663094" y="1824335"/>
            <a:ext cx="4826962" cy="461665"/>
          </a:xfrm>
          <a:prstGeom prst="rect">
            <a:avLst/>
          </a:prstGeom>
          <a:noFill/>
          <a:ln w="12700" cap="rnd">
            <a:noFill/>
            <a:miter lim="800000"/>
            <a:headEnd/>
            <a:tailEnd/>
          </a:ln>
        </p:spPr>
        <p:txBody>
          <a:bodyPr wrap="none">
            <a:spAutoFit/>
          </a:bodyPr>
          <a:lstStyle/>
          <a:p>
            <a:pPr algn="ctr" eaLnBrk="0" fontAlgn="base" hangingPunct="0">
              <a:spcBef>
                <a:spcPct val="0"/>
              </a:spcBef>
              <a:spcAft>
                <a:spcPct val="0"/>
              </a:spcAft>
            </a:pPr>
            <a:r>
              <a:rPr kumimoji="1" lang="zh-CN" altLang="en-US" sz="2400" b="1" dirty="0">
                <a:solidFill>
                  <a:srgbClr val="0707F9"/>
                </a:solidFill>
                <a:latin typeface="宋体" pitchFamily="2" charset="-122"/>
              </a:rPr>
              <a:t>（</a:t>
            </a:r>
            <a:r>
              <a:rPr kumimoji="1" lang="en-US" altLang="zh-CN" sz="2400" b="1" dirty="0">
                <a:solidFill>
                  <a:srgbClr val="0707F9"/>
                </a:solidFill>
                <a:latin typeface="宋体" pitchFamily="2" charset="-122"/>
              </a:rPr>
              <a:t>3</a:t>
            </a:r>
            <a:r>
              <a:rPr kumimoji="1" lang="zh-CN" altLang="en-US" sz="2400" b="1" dirty="0">
                <a:solidFill>
                  <a:srgbClr val="0707F9"/>
                </a:solidFill>
                <a:latin typeface="宋体" pitchFamily="2" charset="-122"/>
              </a:rPr>
              <a:t>）嵌套集合表示法 （文氏图）</a:t>
            </a:r>
          </a:p>
        </p:txBody>
      </p:sp>
      <p:grpSp>
        <p:nvGrpSpPr>
          <p:cNvPr id="125" name="Group 136"/>
          <p:cNvGrpSpPr>
            <a:grpSpLocks/>
          </p:cNvGrpSpPr>
          <p:nvPr/>
        </p:nvGrpSpPr>
        <p:grpSpPr bwMode="auto">
          <a:xfrm>
            <a:off x="838200" y="2438400"/>
            <a:ext cx="4003674" cy="3810000"/>
            <a:chOff x="417" y="1344"/>
            <a:chExt cx="2703" cy="2631"/>
          </a:xfrm>
        </p:grpSpPr>
        <p:sp>
          <p:nvSpPr>
            <p:cNvPr id="126" name="Oval 2"/>
            <p:cNvSpPr>
              <a:spLocks noChangeArrowheads="1"/>
            </p:cNvSpPr>
            <p:nvPr/>
          </p:nvSpPr>
          <p:spPr bwMode="auto">
            <a:xfrm>
              <a:off x="417" y="1344"/>
              <a:ext cx="2703" cy="2631"/>
            </a:xfrm>
            <a:prstGeom prst="ellipse">
              <a:avLst/>
            </a:prstGeom>
            <a:solidFill>
              <a:srgbClr val="DBF5F9"/>
            </a:solidFill>
            <a:ln w="952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6600CC"/>
                </a:solidFill>
                <a:effectLst/>
                <a:uLnTx/>
                <a:uFillTx/>
                <a:latin typeface="Times New Roman" pitchFamily="18" charset="0"/>
                <a:ea typeface="楷体_GB2312" pitchFamily="49" charset="-122"/>
              </a:endParaRPr>
            </a:p>
          </p:txBody>
        </p:sp>
        <p:sp>
          <p:nvSpPr>
            <p:cNvPr id="127" name="Oval 5"/>
            <p:cNvSpPr>
              <a:spLocks noChangeArrowheads="1"/>
            </p:cNvSpPr>
            <p:nvPr/>
          </p:nvSpPr>
          <p:spPr bwMode="auto">
            <a:xfrm>
              <a:off x="614" y="1964"/>
              <a:ext cx="1096" cy="1602"/>
            </a:xfrm>
            <a:prstGeom prst="ellipse">
              <a:avLst/>
            </a:prstGeom>
            <a:solidFill>
              <a:srgbClr val="ADE7F1"/>
            </a:solidFill>
            <a:ln w="12700" cap="rnd">
              <a:no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707F9"/>
                </a:solidFill>
                <a:effectLst/>
                <a:uLnTx/>
                <a:uFillTx/>
                <a:latin typeface="Times New Roman" pitchFamily="18" charset="0"/>
                <a:ea typeface="楷体_GB2312" pitchFamily="49" charset="-122"/>
              </a:endParaRPr>
            </a:p>
          </p:txBody>
        </p:sp>
        <p:sp>
          <p:nvSpPr>
            <p:cNvPr id="128" name="Oval 6"/>
            <p:cNvSpPr>
              <a:spLocks noChangeArrowheads="1"/>
            </p:cNvSpPr>
            <p:nvPr/>
          </p:nvSpPr>
          <p:spPr bwMode="auto">
            <a:xfrm>
              <a:off x="1653" y="3067"/>
              <a:ext cx="632" cy="656"/>
            </a:xfrm>
            <a:prstGeom prst="ellipse">
              <a:avLst/>
            </a:prstGeom>
            <a:solidFill>
              <a:srgbClr val="ADE7F1"/>
            </a:solidFill>
            <a:ln w="12700" cap="rnd">
              <a:no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707F9"/>
                </a:solidFill>
                <a:effectLst/>
                <a:uLnTx/>
                <a:uFillTx/>
                <a:latin typeface="Times New Roman" pitchFamily="18" charset="0"/>
                <a:ea typeface="楷体_GB2312" pitchFamily="49" charset="-122"/>
              </a:endParaRPr>
            </a:p>
          </p:txBody>
        </p:sp>
        <p:sp>
          <p:nvSpPr>
            <p:cNvPr id="129" name="Oval 7"/>
            <p:cNvSpPr>
              <a:spLocks noChangeArrowheads="1"/>
            </p:cNvSpPr>
            <p:nvPr/>
          </p:nvSpPr>
          <p:spPr bwMode="auto">
            <a:xfrm>
              <a:off x="1793" y="3396"/>
              <a:ext cx="295" cy="306"/>
            </a:xfrm>
            <a:prstGeom prst="ellipse">
              <a:avLst/>
            </a:prstGeom>
            <a:solidFill>
              <a:srgbClr val="E2D700"/>
            </a:solidFill>
            <a:ln w="12700" cap="rnd">
              <a:no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707F9"/>
                </a:solidFill>
                <a:effectLst/>
                <a:uLnTx/>
                <a:uFillTx/>
                <a:latin typeface="Times New Roman" pitchFamily="18" charset="0"/>
                <a:ea typeface="楷体_GB2312" pitchFamily="49" charset="-122"/>
              </a:endParaRPr>
            </a:p>
          </p:txBody>
        </p:sp>
        <p:sp>
          <p:nvSpPr>
            <p:cNvPr id="130" name="Oval 8"/>
            <p:cNvSpPr>
              <a:spLocks noChangeArrowheads="1"/>
            </p:cNvSpPr>
            <p:nvPr/>
          </p:nvSpPr>
          <p:spPr bwMode="auto">
            <a:xfrm>
              <a:off x="657" y="2095"/>
              <a:ext cx="758" cy="874"/>
            </a:xfrm>
            <a:prstGeom prst="ellipse">
              <a:avLst/>
            </a:prstGeom>
            <a:solidFill>
              <a:srgbClr val="66FF66"/>
            </a:solidFill>
            <a:ln w="12700" cap="rnd">
              <a:no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707F9"/>
                </a:solidFill>
                <a:effectLst/>
                <a:uLnTx/>
                <a:uFillTx/>
                <a:latin typeface="Times New Roman" pitchFamily="18" charset="0"/>
                <a:ea typeface="楷体_GB2312" pitchFamily="49" charset="-122"/>
              </a:endParaRPr>
            </a:p>
          </p:txBody>
        </p:sp>
        <p:sp>
          <p:nvSpPr>
            <p:cNvPr id="131" name="Oval 9"/>
            <p:cNvSpPr>
              <a:spLocks noChangeArrowheads="1"/>
            </p:cNvSpPr>
            <p:nvPr/>
          </p:nvSpPr>
          <p:spPr bwMode="auto">
            <a:xfrm>
              <a:off x="657" y="2313"/>
              <a:ext cx="372" cy="356"/>
            </a:xfrm>
            <a:prstGeom prst="ellipse">
              <a:avLst/>
            </a:prstGeom>
            <a:solidFill>
              <a:srgbClr val="E2D700"/>
            </a:solidFill>
            <a:ln w="12700" cap="rnd">
              <a:no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707F9"/>
                </a:solidFill>
                <a:effectLst/>
                <a:uLnTx/>
                <a:uFillTx/>
                <a:latin typeface="Times New Roman" pitchFamily="18" charset="0"/>
                <a:ea typeface="楷体_GB2312" pitchFamily="49" charset="-122"/>
              </a:endParaRPr>
            </a:p>
          </p:txBody>
        </p:sp>
        <p:sp>
          <p:nvSpPr>
            <p:cNvPr id="132" name="Oval 10"/>
            <p:cNvSpPr>
              <a:spLocks noChangeArrowheads="1"/>
            </p:cNvSpPr>
            <p:nvPr/>
          </p:nvSpPr>
          <p:spPr bwMode="auto">
            <a:xfrm>
              <a:off x="1077" y="2401"/>
              <a:ext cx="338" cy="350"/>
            </a:xfrm>
            <a:prstGeom prst="ellipse">
              <a:avLst/>
            </a:prstGeom>
            <a:solidFill>
              <a:srgbClr val="E2D700"/>
            </a:solidFill>
            <a:ln w="12700" cap="rnd">
              <a:no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707F9"/>
                </a:solidFill>
                <a:effectLst/>
                <a:uLnTx/>
                <a:uFillTx/>
                <a:latin typeface="Times New Roman" pitchFamily="18" charset="0"/>
                <a:ea typeface="楷体_GB2312" pitchFamily="49" charset="-122"/>
              </a:endParaRPr>
            </a:p>
          </p:txBody>
        </p:sp>
        <p:sp>
          <p:nvSpPr>
            <p:cNvPr id="133" name="Oval 11"/>
            <p:cNvSpPr>
              <a:spLocks noChangeArrowheads="1"/>
            </p:cNvSpPr>
            <p:nvPr/>
          </p:nvSpPr>
          <p:spPr bwMode="auto">
            <a:xfrm>
              <a:off x="958" y="3022"/>
              <a:ext cx="393" cy="363"/>
            </a:xfrm>
            <a:prstGeom prst="ellipse">
              <a:avLst/>
            </a:prstGeom>
            <a:solidFill>
              <a:srgbClr val="66FF66"/>
            </a:solidFill>
            <a:ln w="12700" cap="rnd">
              <a:no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707F9"/>
                </a:solidFill>
                <a:effectLst/>
                <a:uLnTx/>
                <a:uFillTx/>
                <a:latin typeface="Times New Roman" pitchFamily="18" charset="0"/>
                <a:ea typeface="楷体_GB2312" pitchFamily="49" charset="-122"/>
              </a:endParaRPr>
            </a:p>
          </p:txBody>
        </p:sp>
        <p:sp>
          <p:nvSpPr>
            <p:cNvPr id="134" name="Oval 12"/>
            <p:cNvSpPr>
              <a:spLocks noChangeArrowheads="1"/>
            </p:cNvSpPr>
            <p:nvPr/>
          </p:nvSpPr>
          <p:spPr bwMode="auto">
            <a:xfrm>
              <a:off x="1752" y="1964"/>
              <a:ext cx="1178" cy="1224"/>
            </a:xfrm>
            <a:prstGeom prst="ellipse">
              <a:avLst/>
            </a:prstGeom>
            <a:solidFill>
              <a:srgbClr val="ADE7F1"/>
            </a:solidFill>
            <a:ln w="12700" cap="rnd">
              <a:no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707F9"/>
                </a:solidFill>
                <a:effectLst/>
                <a:uLnTx/>
                <a:uFillTx/>
                <a:latin typeface="Times New Roman" pitchFamily="18" charset="0"/>
                <a:ea typeface="楷体_GB2312" pitchFamily="49" charset="-122"/>
              </a:endParaRPr>
            </a:p>
          </p:txBody>
        </p:sp>
        <p:sp>
          <p:nvSpPr>
            <p:cNvPr id="135" name="Oval 13"/>
            <p:cNvSpPr>
              <a:spLocks noChangeArrowheads="1"/>
            </p:cNvSpPr>
            <p:nvPr/>
          </p:nvSpPr>
          <p:spPr bwMode="auto">
            <a:xfrm>
              <a:off x="1752" y="2226"/>
              <a:ext cx="674" cy="656"/>
            </a:xfrm>
            <a:prstGeom prst="ellipse">
              <a:avLst/>
            </a:prstGeom>
            <a:solidFill>
              <a:srgbClr val="66FF66"/>
            </a:solidFill>
            <a:ln w="12700" cap="rnd">
              <a:no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707F9"/>
                </a:solidFill>
                <a:effectLst/>
                <a:uLnTx/>
                <a:uFillTx/>
                <a:latin typeface="Times New Roman" pitchFamily="18" charset="0"/>
                <a:ea typeface="楷体_GB2312" pitchFamily="49" charset="-122"/>
              </a:endParaRPr>
            </a:p>
          </p:txBody>
        </p:sp>
        <p:sp>
          <p:nvSpPr>
            <p:cNvPr id="136" name="Oval 14"/>
            <p:cNvSpPr>
              <a:spLocks noChangeArrowheads="1"/>
            </p:cNvSpPr>
            <p:nvPr/>
          </p:nvSpPr>
          <p:spPr bwMode="auto">
            <a:xfrm>
              <a:off x="1793" y="2357"/>
              <a:ext cx="379" cy="394"/>
            </a:xfrm>
            <a:prstGeom prst="ellipse">
              <a:avLst/>
            </a:prstGeom>
            <a:solidFill>
              <a:srgbClr val="E2D700"/>
            </a:solidFill>
            <a:ln w="12700" cap="rnd">
              <a:no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707F9"/>
                </a:solidFill>
                <a:effectLst/>
                <a:uLnTx/>
                <a:uFillTx/>
                <a:latin typeface="Times New Roman" pitchFamily="18" charset="0"/>
                <a:ea typeface="楷体_GB2312" pitchFamily="49" charset="-122"/>
              </a:endParaRPr>
            </a:p>
          </p:txBody>
        </p:sp>
        <p:sp>
          <p:nvSpPr>
            <p:cNvPr id="137" name="Oval 15"/>
            <p:cNvSpPr>
              <a:spLocks noChangeArrowheads="1"/>
            </p:cNvSpPr>
            <p:nvPr/>
          </p:nvSpPr>
          <p:spPr bwMode="auto">
            <a:xfrm>
              <a:off x="2426" y="2139"/>
              <a:ext cx="420" cy="524"/>
            </a:xfrm>
            <a:prstGeom prst="ellipse">
              <a:avLst/>
            </a:prstGeom>
            <a:solidFill>
              <a:srgbClr val="66FF66"/>
            </a:solidFill>
            <a:ln w="12700" cap="rnd">
              <a:no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707F9"/>
                </a:solidFill>
                <a:effectLst/>
                <a:uLnTx/>
                <a:uFillTx/>
                <a:latin typeface="Times New Roman" pitchFamily="18" charset="0"/>
                <a:ea typeface="楷体_GB2312" pitchFamily="49" charset="-122"/>
              </a:endParaRPr>
            </a:p>
          </p:txBody>
        </p:sp>
        <p:sp>
          <p:nvSpPr>
            <p:cNvPr id="138" name="Oval 16"/>
            <p:cNvSpPr>
              <a:spLocks noChangeArrowheads="1"/>
            </p:cNvSpPr>
            <p:nvPr/>
          </p:nvSpPr>
          <p:spPr bwMode="auto">
            <a:xfrm>
              <a:off x="2341" y="2663"/>
              <a:ext cx="422" cy="437"/>
            </a:xfrm>
            <a:prstGeom prst="ellipse">
              <a:avLst/>
            </a:prstGeom>
            <a:solidFill>
              <a:srgbClr val="66FF66"/>
            </a:solidFill>
            <a:ln w="12700" cap="rnd">
              <a:no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707F9"/>
                </a:solidFill>
                <a:effectLst/>
                <a:uLnTx/>
                <a:uFillTx/>
                <a:latin typeface="Times New Roman" pitchFamily="18" charset="0"/>
                <a:ea typeface="楷体_GB2312" pitchFamily="49" charset="-122"/>
              </a:endParaRPr>
            </a:p>
          </p:txBody>
        </p:sp>
        <p:sp>
          <p:nvSpPr>
            <p:cNvPr id="139" name="Text Box 17"/>
            <p:cNvSpPr txBox="1">
              <a:spLocks noChangeArrowheads="1"/>
            </p:cNvSpPr>
            <p:nvPr/>
          </p:nvSpPr>
          <p:spPr bwMode="auto">
            <a:xfrm>
              <a:off x="1584" y="1570"/>
              <a:ext cx="324" cy="36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3200" b="0" i="0" u="none" strike="noStrike" kern="0" cap="none" spc="0" normalizeH="0" baseline="0" noProof="0">
                  <a:ln>
                    <a:noFill/>
                  </a:ln>
                  <a:solidFill>
                    <a:srgbClr val="0707F9"/>
                  </a:solidFill>
                  <a:effectLst/>
                  <a:uLnTx/>
                  <a:uFillTx/>
                  <a:latin typeface="隶书" pitchFamily="49" charset="-122"/>
                  <a:ea typeface="隶书" pitchFamily="49" charset="-122"/>
                </a:rPr>
                <a:t>A</a:t>
              </a:r>
            </a:p>
          </p:txBody>
        </p:sp>
        <p:sp>
          <p:nvSpPr>
            <p:cNvPr id="140" name="Text Box 18"/>
            <p:cNvSpPr txBox="1">
              <a:spLocks noChangeArrowheads="1"/>
            </p:cNvSpPr>
            <p:nvPr/>
          </p:nvSpPr>
          <p:spPr bwMode="auto">
            <a:xfrm>
              <a:off x="951" y="2051"/>
              <a:ext cx="295" cy="36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3200" b="0" i="0" u="none" strike="noStrike" kern="0" cap="none" spc="0" normalizeH="0" baseline="0" noProof="0">
                  <a:ln>
                    <a:noFill/>
                  </a:ln>
                  <a:solidFill>
                    <a:srgbClr val="0707F9"/>
                  </a:solidFill>
                  <a:effectLst/>
                  <a:uLnTx/>
                  <a:uFillTx/>
                  <a:latin typeface="隶书" pitchFamily="49" charset="-122"/>
                  <a:ea typeface="隶书" pitchFamily="49" charset="-122"/>
                </a:rPr>
                <a:t>E</a:t>
              </a:r>
            </a:p>
          </p:txBody>
        </p:sp>
        <p:sp>
          <p:nvSpPr>
            <p:cNvPr id="141" name="Text Box 19"/>
            <p:cNvSpPr txBox="1">
              <a:spLocks noChangeArrowheads="1"/>
            </p:cNvSpPr>
            <p:nvPr/>
          </p:nvSpPr>
          <p:spPr bwMode="auto">
            <a:xfrm>
              <a:off x="2257" y="1964"/>
              <a:ext cx="294" cy="36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3200" b="0" i="0" u="none" strike="noStrike" kern="0" cap="none" spc="0" normalizeH="0" baseline="0" noProof="0">
                  <a:ln>
                    <a:noFill/>
                  </a:ln>
                  <a:solidFill>
                    <a:srgbClr val="0707F9"/>
                  </a:solidFill>
                  <a:effectLst/>
                  <a:uLnTx/>
                  <a:uFillTx/>
                  <a:latin typeface="隶书" pitchFamily="49" charset="-122"/>
                  <a:ea typeface="隶书" pitchFamily="49" charset="-122"/>
                </a:rPr>
                <a:t>D</a:t>
              </a:r>
            </a:p>
          </p:txBody>
        </p:sp>
        <p:sp>
          <p:nvSpPr>
            <p:cNvPr id="142" name="Text Box 20"/>
            <p:cNvSpPr txBox="1">
              <a:spLocks noChangeArrowheads="1"/>
            </p:cNvSpPr>
            <p:nvPr/>
          </p:nvSpPr>
          <p:spPr bwMode="auto">
            <a:xfrm>
              <a:off x="2172" y="2357"/>
              <a:ext cx="296" cy="36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3200" b="0" i="0" u="none" strike="noStrike" kern="0" cap="none" spc="0" normalizeH="0" baseline="0" noProof="0">
                  <a:ln>
                    <a:noFill/>
                  </a:ln>
                  <a:solidFill>
                    <a:srgbClr val="0707F9"/>
                  </a:solidFill>
                  <a:effectLst/>
                  <a:uLnTx/>
                  <a:uFillTx/>
                  <a:latin typeface="隶书" pitchFamily="49" charset="-122"/>
                  <a:ea typeface="隶书" pitchFamily="49" charset="-122"/>
                </a:rPr>
                <a:t>H</a:t>
              </a:r>
            </a:p>
          </p:txBody>
        </p:sp>
        <p:sp>
          <p:nvSpPr>
            <p:cNvPr id="143" name="Text Box 21"/>
            <p:cNvSpPr txBox="1">
              <a:spLocks noChangeArrowheads="1"/>
            </p:cNvSpPr>
            <p:nvPr/>
          </p:nvSpPr>
          <p:spPr bwMode="auto">
            <a:xfrm>
              <a:off x="2468" y="2139"/>
              <a:ext cx="295" cy="36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3200" b="0" i="0" u="none" strike="noStrike" kern="0" cap="none" spc="0" normalizeH="0" baseline="0" noProof="0">
                  <a:ln>
                    <a:noFill/>
                  </a:ln>
                  <a:solidFill>
                    <a:srgbClr val="0707F9"/>
                  </a:solidFill>
                  <a:effectLst/>
                  <a:uLnTx/>
                  <a:uFillTx/>
                  <a:latin typeface="隶书" pitchFamily="49" charset="-122"/>
                  <a:ea typeface="隶书" pitchFamily="49" charset="-122"/>
                </a:rPr>
                <a:t>J</a:t>
              </a:r>
            </a:p>
          </p:txBody>
        </p:sp>
        <p:sp>
          <p:nvSpPr>
            <p:cNvPr id="144" name="Text Box 22"/>
            <p:cNvSpPr txBox="1">
              <a:spLocks noChangeArrowheads="1"/>
            </p:cNvSpPr>
            <p:nvPr/>
          </p:nvSpPr>
          <p:spPr bwMode="auto">
            <a:xfrm>
              <a:off x="2426" y="2707"/>
              <a:ext cx="293" cy="330"/>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800" b="0" i="0" u="none" strike="noStrike" kern="0" cap="none" spc="0" normalizeH="0" baseline="0" noProof="0">
                  <a:ln>
                    <a:noFill/>
                  </a:ln>
                  <a:solidFill>
                    <a:srgbClr val="0707F9"/>
                  </a:solidFill>
                  <a:effectLst/>
                  <a:uLnTx/>
                  <a:uFillTx/>
                  <a:latin typeface="隶书" pitchFamily="49" charset="-122"/>
                  <a:ea typeface="隶书" pitchFamily="49" charset="-122"/>
                </a:rPr>
                <a:t>I</a:t>
              </a:r>
            </a:p>
          </p:txBody>
        </p:sp>
        <p:sp>
          <p:nvSpPr>
            <p:cNvPr id="145" name="Text Box 23"/>
            <p:cNvSpPr txBox="1">
              <a:spLocks noChangeArrowheads="1"/>
            </p:cNvSpPr>
            <p:nvPr/>
          </p:nvSpPr>
          <p:spPr bwMode="auto">
            <a:xfrm>
              <a:off x="712" y="2261"/>
              <a:ext cx="182" cy="36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3200" b="0" i="0" u="none" strike="noStrike" kern="0" cap="none" spc="0" normalizeH="0" baseline="0" noProof="0">
                  <a:ln>
                    <a:noFill/>
                  </a:ln>
                  <a:solidFill>
                    <a:srgbClr val="0707F9"/>
                  </a:solidFill>
                  <a:effectLst/>
                  <a:uLnTx/>
                  <a:uFillTx/>
                  <a:latin typeface="隶书" pitchFamily="49" charset="-122"/>
                  <a:ea typeface="隶书" pitchFamily="49" charset="-122"/>
                </a:rPr>
                <a:t>K</a:t>
              </a:r>
            </a:p>
          </p:txBody>
        </p:sp>
        <p:sp>
          <p:nvSpPr>
            <p:cNvPr id="146" name="Text Box 24"/>
            <p:cNvSpPr txBox="1">
              <a:spLocks noChangeArrowheads="1"/>
            </p:cNvSpPr>
            <p:nvPr/>
          </p:nvSpPr>
          <p:spPr bwMode="auto">
            <a:xfrm>
              <a:off x="1119" y="2341"/>
              <a:ext cx="296" cy="36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3200" b="0" i="0" u="none" strike="noStrike" kern="0" cap="none" spc="0" normalizeH="0" baseline="0" noProof="0">
                  <a:ln>
                    <a:noFill/>
                  </a:ln>
                  <a:solidFill>
                    <a:srgbClr val="0707F9"/>
                  </a:solidFill>
                  <a:effectLst/>
                  <a:uLnTx/>
                  <a:uFillTx/>
                  <a:latin typeface="隶书" pitchFamily="49" charset="-122"/>
                  <a:ea typeface="隶书" pitchFamily="49" charset="-122"/>
                </a:rPr>
                <a:t>L</a:t>
              </a:r>
            </a:p>
          </p:txBody>
        </p:sp>
        <p:sp>
          <p:nvSpPr>
            <p:cNvPr id="147" name="Text Box 25"/>
            <p:cNvSpPr txBox="1">
              <a:spLocks noChangeArrowheads="1"/>
            </p:cNvSpPr>
            <p:nvPr/>
          </p:nvSpPr>
          <p:spPr bwMode="auto">
            <a:xfrm>
              <a:off x="1835" y="2401"/>
              <a:ext cx="337" cy="330"/>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800" b="0" i="0" u="none" strike="noStrike" kern="0" cap="none" spc="0" normalizeH="0" baseline="0" noProof="0">
                  <a:ln>
                    <a:noFill/>
                  </a:ln>
                  <a:solidFill>
                    <a:srgbClr val="0707F9"/>
                  </a:solidFill>
                  <a:effectLst/>
                  <a:uLnTx/>
                  <a:uFillTx/>
                  <a:latin typeface="隶书" pitchFamily="49" charset="-122"/>
                  <a:ea typeface="隶书" pitchFamily="49" charset="-122"/>
                </a:rPr>
                <a:t>M</a:t>
              </a:r>
            </a:p>
          </p:txBody>
        </p:sp>
        <p:sp>
          <p:nvSpPr>
            <p:cNvPr id="148" name="Text Box 26"/>
            <p:cNvSpPr txBox="1">
              <a:spLocks noChangeArrowheads="1"/>
            </p:cNvSpPr>
            <p:nvPr/>
          </p:nvSpPr>
          <p:spPr bwMode="auto">
            <a:xfrm>
              <a:off x="1008" y="2976"/>
              <a:ext cx="294" cy="36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3200" b="0" i="0" u="none" strike="noStrike" kern="0" cap="none" spc="0" normalizeH="0" baseline="0" noProof="0">
                  <a:ln>
                    <a:noFill/>
                  </a:ln>
                  <a:solidFill>
                    <a:srgbClr val="0707F9"/>
                  </a:solidFill>
                  <a:effectLst/>
                  <a:uLnTx/>
                  <a:uFillTx/>
                  <a:latin typeface="隶书" pitchFamily="49" charset="-122"/>
                  <a:ea typeface="隶书" pitchFamily="49" charset="-122"/>
                </a:rPr>
                <a:t>F</a:t>
              </a:r>
            </a:p>
          </p:txBody>
        </p:sp>
        <p:sp>
          <p:nvSpPr>
            <p:cNvPr id="149" name="Text Box 27"/>
            <p:cNvSpPr txBox="1">
              <a:spLocks noChangeArrowheads="1"/>
            </p:cNvSpPr>
            <p:nvPr/>
          </p:nvSpPr>
          <p:spPr bwMode="auto">
            <a:xfrm>
              <a:off x="1569" y="3298"/>
              <a:ext cx="765" cy="36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3200" b="0" i="0" u="none" strike="noStrike" kern="0" cap="none" spc="0" normalizeH="0" baseline="0" noProof="0">
                  <a:ln>
                    <a:noFill/>
                  </a:ln>
                  <a:solidFill>
                    <a:srgbClr val="0707F9"/>
                  </a:solidFill>
                  <a:effectLst/>
                  <a:uLnTx/>
                  <a:uFillTx/>
                  <a:latin typeface="隶书" pitchFamily="49" charset="-122"/>
                  <a:ea typeface="隶书" pitchFamily="49" charset="-122"/>
                </a:rPr>
                <a:t>G</a:t>
              </a:r>
            </a:p>
          </p:txBody>
        </p:sp>
        <p:sp>
          <p:nvSpPr>
            <p:cNvPr id="150" name="Text Box 28"/>
            <p:cNvSpPr txBox="1">
              <a:spLocks noChangeArrowheads="1"/>
            </p:cNvSpPr>
            <p:nvPr/>
          </p:nvSpPr>
          <p:spPr bwMode="auto">
            <a:xfrm>
              <a:off x="1843" y="2976"/>
              <a:ext cx="294" cy="36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3200" b="0" i="0" u="none" strike="noStrike" kern="0" cap="none" spc="0" normalizeH="0" baseline="0" noProof="0">
                  <a:ln>
                    <a:noFill/>
                  </a:ln>
                  <a:solidFill>
                    <a:srgbClr val="0707F9"/>
                  </a:solidFill>
                  <a:effectLst/>
                  <a:uLnTx/>
                  <a:uFillTx/>
                  <a:latin typeface="隶书" pitchFamily="49" charset="-122"/>
                  <a:ea typeface="隶书" pitchFamily="49" charset="-122"/>
                </a:rPr>
                <a:t>C</a:t>
              </a:r>
            </a:p>
          </p:txBody>
        </p:sp>
        <p:sp>
          <p:nvSpPr>
            <p:cNvPr id="151" name="Text Box 29"/>
            <p:cNvSpPr txBox="1">
              <a:spLocks noChangeArrowheads="1"/>
            </p:cNvSpPr>
            <p:nvPr/>
          </p:nvSpPr>
          <p:spPr bwMode="auto">
            <a:xfrm>
              <a:off x="1391" y="2170"/>
              <a:ext cx="296" cy="36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3200" b="0" i="0" u="none" strike="noStrike" kern="0" cap="none" spc="0" normalizeH="0" baseline="0" noProof="0">
                  <a:ln>
                    <a:noFill/>
                  </a:ln>
                  <a:solidFill>
                    <a:srgbClr val="0707F9"/>
                  </a:solidFill>
                  <a:effectLst/>
                  <a:uLnTx/>
                  <a:uFillTx/>
                  <a:latin typeface="隶书" pitchFamily="49" charset="-122"/>
                  <a:ea typeface="隶书" pitchFamily="49" charset="-122"/>
                </a:rPr>
                <a:t>B</a:t>
              </a:r>
            </a:p>
          </p:txBody>
        </p:sp>
      </p:grpSp>
      <p:grpSp>
        <p:nvGrpSpPr>
          <p:cNvPr id="152" name="Group 84"/>
          <p:cNvGrpSpPr>
            <a:grpSpLocks/>
          </p:cNvGrpSpPr>
          <p:nvPr/>
        </p:nvGrpSpPr>
        <p:grpSpPr bwMode="auto">
          <a:xfrm>
            <a:off x="4953000" y="3079751"/>
            <a:ext cx="4254500" cy="2065338"/>
            <a:chOff x="1728" y="2160"/>
            <a:chExt cx="2680" cy="1301"/>
          </a:xfrm>
        </p:grpSpPr>
        <p:sp>
          <p:nvSpPr>
            <p:cNvPr id="153" name="Line 85"/>
            <p:cNvSpPr>
              <a:spLocks noChangeShapeType="1"/>
            </p:cNvSpPr>
            <p:nvPr/>
          </p:nvSpPr>
          <p:spPr bwMode="auto">
            <a:xfrm>
              <a:off x="3126" y="2400"/>
              <a:ext cx="0" cy="96"/>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54" name="Line 86"/>
            <p:cNvSpPr>
              <a:spLocks noChangeShapeType="1"/>
            </p:cNvSpPr>
            <p:nvPr/>
          </p:nvSpPr>
          <p:spPr bwMode="auto">
            <a:xfrm flipH="1">
              <a:off x="2550" y="2304"/>
              <a:ext cx="432"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55" name="Line 87"/>
            <p:cNvSpPr>
              <a:spLocks noChangeShapeType="1"/>
            </p:cNvSpPr>
            <p:nvPr/>
          </p:nvSpPr>
          <p:spPr bwMode="auto">
            <a:xfrm flipH="1">
              <a:off x="2214"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56" name="Line 88"/>
            <p:cNvSpPr>
              <a:spLocks noChangeShapeType="1"/>
            </p:cNvSpPr>
            <p:nvPr/>
          </p:nvSpPr>
          <p:spPr bwMode="auto">
            <a:xfrm>
              <a:off x="2502"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57" name="Line 89"/>
            <p:cNvSpPr>
              <a:spLocks noChangeShapeType="1"/>
            </p:cNvSpPr>
            <p:nvPr/>
          </p:nvSpPr>
          <p:spPr bwMode="auto">
            <a:xfrm>
              <a:off x="3126"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58" name="Line 90"/>
            <p:cNvSpPr>
              <a:spLocks noChangeShapeType="1"/>
            </p:cNvSpPr>
            <p:nvPr/>
          </p:nvSpPr>
          <p:spPr bwMode="auto">
            <a:xfrm>
              <a:off x="3222" y="2304"/>
              <a:ext cx="528" cy="288"/>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59" name="Line 91"/>
            <p:cNvSpPr>
              <a:spLocks noChangeShapeType="1"/>
            </p:cNvSpPr>
            <p:nvPr/>
          </p:nvSpPr>
          <p:spPr bwMode="auto">
            <a:xfrm flipH="1">
              <a:off x="3606"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60" name="Line 92"/>
            <p:cNvSpPr>
              <a:spLocks noChangeShapeType="1"/>
            </p:cNvSpPr>
            <p:nvPr/>
          </p:nvSpPr>
          <p:spPr bwMode="auto">
            <a:xfrm>
              <a:off x="3894"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61" name="Line 93"/>
            <p:cNvSpPr>
              <a:spLocks noChangeShapeType="1"/>
            </p:cNvSpPr>
            <p:nvPr/>
          </p:nvSpPr>
          <p:spPr bwMode="auto">
            <a:xfrm>
              <a:off x="3990"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62" name="Line 94"/>
            <p:cNvSpPr>
              <a:spLocks noChangeShapeType="1"/>
            </p:cNvSpPr>
            <p:nvPr/>
          </p:nvSpPr>
          <p:spPr bwMode="auto">
            <a:xfrm flipH="1">
              <a:off x="192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63" name="Line 95"/>
            <p:cNvSpPr>
              <a:spLocks noChangeShapeType="1"/>
            </p:cNvSpPr>
            <p:nvPr/>
          </p:nvSpPr>
          <p:spPr bwMode="auto">
            <a:xfrm>
              <a:off x="225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64" name="Line 96"/>
            <p:cNvSpPr>
              <a:spLocks noChangeShapeType="1"/>
            </p:cNvSpPr>
            <p:nvPr/>
          </p:nvSpPr>
          <p:spPr bwMode="auto">
            <a:xfrm>
              <a:off x="3552" y="3094"/>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grpSp>
          <p:nvGrpSpPr>
            <p:cNvPr id="165" name="Group 97"/>
            <p:cNvGrpSpPr>
              <a:grpSpLocks/>
            </p:cNvGrpSpPr>
            <p:nvPr/>
          </p:nvGrpSpPr>
          <p:grpSpPr bwMode="auto">
            <a:xfrm>
              <a:off x="4088" y="2856"/>
              <a:ext cx="320" cy="245"/>
              <a:chOff x="2880" y="1104"/>
              <a:chExt cx="367" cy="336"/>
            </a:xfrm>
          </p:grpSpPr>
          <p:sp>
            <p:nvSpPr>
              <p:cNvPr id="202" name="Oval 9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03" name="Text Box 99"/>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J</a:t>
                </a:r>
              </a:p>
            </p:txBody>
          </p:sp>
        </p:grpSp>
        <p:grpSp>
          <p:nvGrpSpPr>
            <p:cNvPr id="166" name="Group 100"/>
            <p:cNvGrpSpPr>
              <a:grpSpLocks/>
            </p:cNvGrpSpPr>
            <p:nvPr/>
          </p:nvGrpSpPr>
          <p:grpSpPr bwMode="auto">
            <a:xfrm>
              <a:off x="3750" y="2858"/>
              <a:ext cx="320" cy="245"/>
              <a:chOff x="2880" y="1104"/>
              <a:chExt cx="367" cy="336"/>
            </a:xfrm>
          </p:grpSpPr>
          <p:sp>
            <p:nvSpPr>
              <p:cNvPr id="200" name="Oval 10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01" name="Text Box 102"/>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I</a:t>
                </a:r>
              </a:p>
            </p:txBody>
          </p:sp>
        </p:grpSp>
        <p:grpSp>
          <p:nvGrpSpPr>
            <p:cNvPr id="167" name="Group 103"/>
            <p:cNvGrpSpPr>
              <a:grpSpLocks/>
            </p:cNvGrpSpPr>
            <p:nvPr/>
          </p:nvGrpSpPr>
          <p:grpSpPr bwMode="auto">
            <a:xfrm>
              <a:off x="2982" y="2160"/>
              <a:ext cx="320" cy="245"/>
              <a:chOff x="2880" y="1104"/>
              <a:chExt cx="367" cy="336"/>
            </a:xfrm>
          </p:grpSpPr>
          <p:sp>
            <p:nvSpPr>
              <p:cNvPr id="198" name="Oval 10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99" name="Text Box 105"/>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A</a:t>
                </a:r>
              </a:p>
            </p:txBody>
          </p:sp>
        </p:grpSp>
        <p:grpSp>
          <p:nvGrpSpPr>
            <p:cNvPr id="168" name="Group 106"/>
            <p:cNvGrpSpPr>
              <a:grpSpLocks/>
            </p:cNvGrpSpPr>
            <p:nvPr/>
          </p:nvGrpSpPr>
          <p:grpSpPr bwMode="auto">
            <a:xfrm>
              <a:off x="2982" y="2497"/>
              <a:ext cx="320" cy="245"/>
              <a:chOff x="2880" y="1104"/>
              <a:chExt cx="367" cy="336"/>
            </a:xfrm>
          </p:grpSpPr>
          <p:sp>
            <p:nvSpPr>
              <p:cNvPr id="196" name="Oval 10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97" name="Text Box 108"/>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C</a:t>
                </a:r>
              </a:p>
            </p:txBody>
          </p:sp>
        </p:grpSp>
        <p:grpSp>
          <p:nvGrpSpPr>
            <p:cNvPr id="169" name="Group 109"/>
            <p:cNvGrpSpPr>
              <a:grpSpLocks/>
            </p:cNvGrpSpPr>
            <p:nvPr/>
          </p:nvGrpSpPr>
          <p:grpSpPr bwMode="auto">
            <a:xfrm>
              <a:off x="2304" y="2497"/>
              <a:ext cx="320" cy="245"/>
              <a:chOff x="2880" y="1104"/>
              <a:chExt cx="367" cy="336"/>
            </a:xfrm>
          </p:grpSpPr>
          <p:sp>
            <p:nvSpPr>
              <p:cNvPr id="194" name="Oval 11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95" name="Text Box 111"/>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B</a:t>
                </a:r>
              </a:p>
            </p:txBody>
          </p:sp>
        </p:grpSp>
        <p:grpSp>
          <p:nvGrpSpPr>
            <p:cNvPr id="170" name="Group 112"/>
            <p:cNvGrpSpPr>
              <a:grpSpLocks/>
            </p:cNvGrpSpPr>
            <p:nvPr/>
          </p:nvGrpSpPr>
          <p:grpSpPr bwMode="auto">
            <a:xfrm>
              <a:off x="3750" y="2497"/>
              <a:ext cx="320" cy="245"/>
              <a:chOff x="2880" y="1104"/>
              <a:chExt cx="367" cy="336"/>
            </a:xfrm>
          </p:grpSpPr>
          <p:sp>
            <p:nvSpPr>
              <p:cNvPr id="192" name="Oval 11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93" name="Text Box 114"/>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D</a:t>
                </a:r>
              </a:p>
            </p:txBody>
          </p:sp>
        </p:grpSp>
        <p:grpSp>
          <p:nvGrpSpPr>
            <p:cNvPr id="171" name="Group 115"/>
            <p:cNvGrpSpPr>
              <a:grpSpLocks/>
            </p:cNvGrpSpPr>
            <p:nvPr/>
          </p:nvGrpSpPr>
          <p:grpSpPr bwMode="auto">
            <a:xfrm>
              <a:off x="3408" y="2858"/>
              <a:ext cx="320" cy="245"/>
              <a:chOff x="2880" y="1104"/>
              <a:chExt cx="367" cy="336"/>
            </a:xfrm>
          </p:grpSpPr>
          <p:sp>
            <p:nvSpPr>
              <p:cNvPr id="190" name="Oval 11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91" name="Text Box 117"/>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H</a:t>
                </a:r>
              </a:p>
            </p:txBody>
          </p:sp>
        </p:grpSp>
        <p:grpSp>
          <p:nvGrpSpPr>
            <p:cNvPr id="172" name="Group 118"/>
            <p:cNvGrpSpPr>
              <a:grpSpLocks/>
            </p:cNvGrpSpPr>
            <p:nvPr/>
          </p:nvGrpSpPr>
          <p:grpSpPr bwMode="auto">
            <a:xfrm>
              <a:off x="2982" y="2858"/>
              <a:ext cx="320" cy="245"/>
              <a:chOff x="2880" y="1104"/>
              <a:chExt cx="367" cy="336"/>
            </a:xfrm>
          </p:grpSpPr>
          <p:sp>
            <p:nvSpPr>
              <p:cNvPr id="188" name="Oval 11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89" name="Text Box 120"/>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G</a:t>
                </a:r>
              </a:p>
            </p:txBody>
          </p:sp>
        </p:grpSp>
        <p:grpSp>
          <p:nvGrpSpPr>
            <p:cNvPr id="173" name="Group 121"/>
            <p:cNvGrpSpPr>
              <a:grpSpLocks/>
            </p:cNvGrpSpPr>
            <p:nvPr/>
          </p:nvGrpSpPr>
          <p:grpSpPr bwMode="auto">
            <a:xfrm>
              <a:off x="2502" y="2858"/>
              <a:ext cx="320" cy="245"/>
              <a:chOff x="2880" y="1104"/>
              <a:chExt cx="367" cy="336"/>
            </a:xfrm>
          </p:grpSpPr>
          <p:sp>
            <p:nvSpPr>
              <p:cNvPr id="186" name="Oval 12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87" name="Text Box 123"/>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F</a:t>
                </a:r>
              </a:p>
            </p:txBody>
          </p:sp>
        </p:grpSp>
        <p:grpSp>
          <p:nvGrpSpPr>
            <p:cNvPr id="174" name="Group 124"/>
            <p:cNvGrpSpPr>
              <a:grpSpLocks/>
            </p:cNvGrpSpPr>
            <p:nvPr/>
          </p:nvGrpSpPr>
          <p:grpSpPr bwMode="auto">
            <a:xfrm>
              <a:off x="2016" y="2858"/>
              <a:ext cx="320" cy="245"/>
              <a:chOff x="2880" y="1104"/>
              <a:chExt cx="367" cy="336"/>
            </a:xfrm>
          </p:grpSpPr>
          <p:sp>
            <p:nvSpPr>
              <p:cNvPr id="184" name="Oval 12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85" name="Text Box 126"/>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E</a:t>
                </a:r>
              </a:p>
            </p:txBody>
          </p:sp>
        </p:grpSp>
        <p:grpSp>
          <p:nvGrpSpPr>
            <p:cNvPr id="175" name="Group 127"/>
            <p:cNvGrpSpPr>
              <a:grpSpLocks/>
            </p:cNvGrpSpPr>
            <p:nvPr/>
          </p:nvGrpSpPr>
          <p:grpSpPr bwMode="auto">
            <a:xfrm>
              <a:off x="1728" y="3216"/>
              <a:ext cx="320" cy="245"/>
              <a:chOff x="2880" y="1104"/>
              <a:chExt cx="367" cy="336"/>
            </a:xfrm>
          </p:grpSpPr>
          <p:sp>
            <p:nvSpPr>
              <p:cNvPr id="182" name="Oval 12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83" name="Text Box 129"/>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K</a:t>
                </a:r>
              </a:p>
            </p:txBody>
          </p:sp>
        </p:grpSp>
        <p:grpSp>
          <p:nvGrpSpPr>
            <p:cNvPr id="176" name="Group 130"/>
            <p:cNvGrpSpPr>
              <a:grpSpLocks/>
            </p:cNvGrpSpPr>
            <p:nvPr/>
          </p:nvGrpSpPr>
          <p:grpSpPr bwMode="auto">
            <a:xfrm>
              <a:off x="2256" y="3216"/>
              <a:ext cx="320" cy="245"/>
              <a:chOff x="2880" y="1104"/>
              <a:chExt cx="367" cy="336"/>
            </a:xfrm>
          </p:grpSpPr>
          <p:sp>
            <p:nvSpPr>
              <p:cNvPr id="180" name="Oval 13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81" name="Text Box 132"/>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L</a:t>
                </a:r>
              </a:p>
            </p:txBody>
          </p:sp>
        </p:grpSp>
        <p:grpSp>
          <p:nvGrpSpPr>
            <p:cNvPr id="177" name="Group 133"/>
            <p:cNvGrpSpPr>
              <a:grpSpLocks/>
            </p:cNvGrpSpPr>
            <p:nvPr/>
          </p:nvGrpSpPr>
          <p:grpSpPr bwMode="auto">
            <a:xfrm>
              <a:off x="3408" y="3216"/>
              <a:ext cx="320" cy="245"/>
              <a:chOff x="2880" y="1104"/>
              <a:chExt cx="367" cy="336"/>
            </a:xfrm>
          </p:grpSpPr>
          <p:sp>
            <p:nvSpPr>
              <p:cNvPr id="178" name="Oval 13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79" name="Text Box 135"/>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M</a:t>
                </a:r>
              </a:p>
            </p:txBody>
          </p:sp>
        </p:grpSp>
      </p:grpSp>
    </p:spTree>
    <p:extLst>
      <p:ext uri="{BB962C8B-B14F-4D97-AF65-F5344CB8AC3E}">
        <p14:creationId xmlns:p14="http://schemas.microsoft.com/office/powerpoint/2010/main" val="4233554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800" b="1" dirty="0"/>
              <a:t>树的表示：</a:t>
            </a:r>
            <a:endParaRPr lang="en-US" altLang="zh-CN" sz="2800" b="1" dirty="0"/>
          </a:p>
        </p:txBody>
      </p:sp>
      <p:sp>
        <p:nvSpPr>
          <p:cNvPr id="4" name="日期占位符 3"/>
          <p:cNvSpPr>
            <a:spLocks noGrp="1"/>
          </p:cNvSpPr>
          <p:nvPr>
            <p:ph type="dt" sz="half" idx="10"/>
          </p:nvPr>
        </p:nvSpPr>
        <p:spPr/>
        <p:txBody>
          <a:bodyPr/>
          <a:lstStyle/>
          <a:p>
            <a:fld id="{1959B1BA-7124-4069-A27F-01B68B730C9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21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92" name="Text Box 3"/>
          <p:cNvSpPr txBox="1">
            <a:spLocks noChangeArrowheads="1"/>
          </p:cNvSpPr>
          <p:nvPr/>
        </p:nvSpPr>
        <p:spPr bwMode="auto">
          <a:xfrm>
            <a:off x="271463" y="1943098"/>
            <a:ext cx="5683250" cy="535531"/>
          </a:xfrm>
          <a:prstGeom prst="rect">
            <a:avLst/>
          </a:prstGeom>
          <a:noFill/>
          <a:ln w="12700" cap="rnd">
            <a:noFill/>
            <a:miter lim="800000"/>
            <a:headEnd/>
            <a:tailEnd/>
          </a:ln>
        </p:spPr>
        <p:txBody>
          <a:bodyPr>
            <a:spAutoFit/>
          </a:bodyPr>
          <a:lstStyle/>
          <a:p>
            <a:pPr eaLnBrk="0" fontAlgn="base" hangingPunct="0">
              <a:lnSpc>
                <a:spcPct val="120000"/>
              </a:lnSpc>
              <a:spcBef>
                <a:spcPct val="50000"/>
              </a:spcBef>
              <a:spcAft>
                <a:spcPct val="0"/>
              </a:spcAft>
            </a:pPr>
            <a:r>
              <a:rPr kumimoji="1" lang="zh-CN" altLang="en-US" sz="2800" b="1">
                <a:solidFill>
                  <a:srgbClr val="0707F9"/>
                </a:solidFill>
                <a:latin typeface="宋体" pitchFamily="2" charset="-122"/>
              </a:rPr>
              <a:t>（</a:t>
            </a:r>
            <a:r>
              <a:rPr kumimoji="1" lang="en-US" altLang="zh-CN" sz="2800" b="1">
                <a:solidFill>
                  <a:srgbClr val="0707F9"/>
                </a:solidFill>
                <a:latin typeface="宋体" pitchFamily="2" charset="-122"/>
              </a:rPr>
              <a:t>4</a:t>
            </a:r>
            <a:r>
              <a:rPr kumimoji="1" lang="zh-CN" altLang="en-US" sz="2800" b="1">
                <a:solidFill>
                  <a:srgbClr val="0707F9"/>
                </a:solidFill>
                <a:latin typeface="宋体" pitchFamily="2" charset="-122"/>
              </a:rPr>
              <a:t>）广义表表示法</a:t>
            </a:r>
          </a:p>
        </p:txBody>
      </p:sp>
      <p:sp>
        <p:nvSpPr>
          <p:cNvPr id="93" name="Text Box 58"/>
          <p:cNvSpPr txBox="1">
            <a:spLocks noChangeArrowheads="1"/>
          </p:cNvSpPr>
          <p:nvPr/>
        </p:nvSpPr>
        <p:spPr bwMode="auto">
          <a:xfrm>
            <a:off x="2114550" y="3216273"/>
            <a:ext cx="5459413" cy="52322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kumimoji="1" lang="en-US" altLang="zh-CN" sz="2800" b="1">
                <a:solidFill>
                  <a:srgbClr val="000066"/>
                </a:solidFill>
                <a:latin typeface="隶书" pitchFamily="49" charset="-122"/>
                <a:ea typeface="隶书" pitchFamily="49" charset="-122"/>
              </a:rPr>
              <a:t>(A</a:t>
            </a:r>
            <a:r>
              <a:rPr kumimoji="1" lang="zh-CN" altLang="en-US" sz="2800" b="1">
                <a:solidFill>
                  <a:srgbClr val="000000"/>
                </a:solidFill>
                <a:latin typeface="隶书" pitchFamily="49" charset="-122"/>
                <a:ea typeface="隶书" pitchFamily="49" charset="-122"/>
              </a:rPr>
              <a:t>）第一层</a:t>
            </a:r>
          </a:p>
        </p:txBody>
      </p:sp>
      <p:sp>
        <p:nvSpPr>
          <p:cNvPr id="94" name="Text Box 60"/>
          <p:cNvSpPr txBox="1">
            <a:spLocks noChangeArrowheads="1"/>
          </p:cNvSpPr>
          <p:nvPr/>
        </p:nvSpPr>
        <p:spPr bwMode="auto">
          <a:xfrm>
            <a:off x="762000" y="4297361"/>
            <a:ext cx="9906000" cy="52322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kumimoji="1" lang="en-US" altLang="zh-CN" sz="2800" b="1" dirty="0">
                <a:solidFill>
                  <a:srgbClr val="000000"/>
                </a:solidFill>
                <a:latin typeface="隶书" pitchFamily="49" charset="-122"/>
                <a:ea typeface="隶书" pitchFamily="49" charset="-122"/>
              </a:rPr>
              <a:t>(A(</a:t>
            </a:r>
            <a:r>
              <a:rPr kumimoji="1" lang="en-US" altLang="zh-CN" sz="2800" b="1" dirty="0">
                <a:solidFill>
                  <a:srgbClr val="0707F9"/>
                </a:solidFill>
                <a:latin typeface="隶书" pitchFamily="49" charset="-122"/>
                <a:ea typeface="隶书" pitchFamily="49" charset="-122"/>
              </a:rPr>
              <a:t>B</a:t>
            </a:r>
            <a:r>
              <a:rPr kumimoji="1" lang="en-US" altLang="zh-CN" sz="2800" b="1" dirty="0">
                <a:solidFill>
                  <a:srgbClr val="000000"/>
                </a:solidFill>
                <a:latin typeface="隶书" pitchFamily="49" charset="-122"/>
                <a:ea typeface="隶书" pitchFamily="49" charset="-122"/>
              </a:rPr>
              <a:t>(</a:t>
            </a:r>
            <a:r>
              <a:rPr kumimoji="1" lang="en-US" altLang="zh-CN" sz="2800" b="1" dirty="0">
                <a:solidFill>
                  <a:srgbClr val="336600"/>
                </a:solidFill>
                <a:latin typeface="隶书" pitchFamily="49" charset="-122"/>
                <a:ea typeface="隶书" pitchFamily="49" charset="-122"/>
              </a:rPr>
              <a:t>E,F</a:t>
            </a:r>
            <a:r>
              <a:rPr kumimoji="1" lang="en-US" altLang="zh-CN" sz="2800" b="1" dirty="0">
                <a:solidFill>
                  <a:srgbClr val="000000"/>
                </a:solidFill>
                <a:latin typeface="隶书" pitchFamily="49" charset="-122"/>
                <a:ea typeface="隶书" pitchFamily="49" charset="-122"/>
              </a:rPr>
              <a:t>), </a:t>
            </a:r>
            <a:r>
              <a:rPr kumimoji="1" lang="en-US" altLang="zh-CN" sz="2800" b="1" dirty="0">
                <a:solidFill>
                  <a:srgbClr val="0707F9"/>
                </a:solidFill>
                <a:latin typeface="隶书" pitchFamily="49" charset="-122"/>
                <a:ea typeface="隶书" pitchFamily="49" charset="-122"/>
              </a:rPr>
              <a:t>C</a:t>
            </a:r>
            <a:r>
              <a:rPr kumimoji="1" lang="en-US" altLang="zh-CN" sz="2800" b="1" dirty="0">
                <a:solidFill>
                  <a:srgbClr val="000000"/>
                </a:solidFill>
                <a:latin typeface="隶书" pitchFamily="49" charset="-122"/>
                <a:ea typeface="隶书" pitchFamily="49" charset="-122"/>
              </a:rPr>
              <a:t>(</a:t>
            </a:r>
            <a:r>
              <a:rPr kumimoji="1" lang="en-US" altLang="zh-CN" sz="2800" b="1" dirty="0">
                <a:solidFill>
                  <a:srgbClr val="336600"/>
                </a:solidFill>
                <a:latin typeface="隶书" pitchFamily="49" charset="-122"/>
                <a:ea typeface="隶书" pitchFamily="49" charset="-122"/>
              </a:rPr>
              <a:t>G</a:t>
            </a:r>
            <a:r>
              <a:rPr kumimoji="1" lang="en-US" altLang="zh-CN" sz="2800" b="1" dirty="0">
                <a:solidFill>
                  <a:srgbClr val="000000"/>
                </a:solidFill>
                <a:latin typeface="隶书" pitchFamily="49" charset="-122"/>
                <a:ea typeface="隶书" pitchFamily="49" charset="-122"/>
              </a:rPr>
              <a:t>), </a:t>
            </a:r>
            <a:r>
              <a:rPr kumimoji="1" lang="en-US" altLang="zh-CN" sz="2800" b="1" dirty="0">
                <a:solidFill>
                  <a:srgbClr val="0707F9"/>
                </a:solidFill>
                <a:latin typeface="隶书" pitchFamily="49" charset="-122"/>
                <a:ea typeface="隶书" pitchFamily="49" charset="-122"/>
              </a:rPr>
              <a:t>D</a:t>
            </a:r>
            <a:r>
              <a:rPr kumimoji="1" lang="en-US" altLang="zh-CN" sz="2800" b="1" dirty="0">
                <a:solidFill>
                  <a:srgbClr val="000000"/>
                </a:solidFill>
                <a:latin typeface="隶书" pitchFamily="49" charset="-122"/>
                <a:ea typeface="隶书" pitchFamily="49" charset="-122"/>
              </a:rPr>
              <a:t>(</a:t>
            </a:r>
            <a:r>
              <a:rPr kumimoji="1" lang="en-US" altLang="zh-CN" sz="2800" b="1" dirty="0">
                <a:solidFill>
                  <a:srgbClr val="336600"/>
                </a:solidFill>
                <a:latin typeface="隶书" pitchFamily="49" charset="-122"/>
                <a:ea typeface="隶书" pitchFamily="49" charset="-122"/>
              </a:rPr>
              <a:t>H,I,J</a:t>
            </a:r>
            <a:r>
              <a:rPr kumimoji="1" lang="en-US" altLang="zh-CN" sz="2800" b="1" dirty="0">
                <a:solidFill>
                  <a:srgbClr val="000000"/>
                </a:solidFill>
                <a:latin typeface="隶书" pitchFamily="49" charset="-122"/>
                <a:ea typeface="隶书" pitchFamily="49" charset="-122"/>
              </a:rPr>
              <a:t>))) </a:t>
            </a:r>
            <a:r>
              <a:rPr kumimoji="1" lang="zh-CN" altLang="en-US" sz="2800" b="1" dirty="0">
                <a:solidFill>
                  <a:srgbClr val="000000"/>
                </a:solidFill>
                <a:latin typeface="隶书" pitchFamily="49" charset="-122"/>
                <a:ea typeface="隶书" pitchFamily="49" charset="-122"/>
              </a:rPr>
              <a:t>第三层</a:t>
            </a:r>
            <a:endParaRPr kumimoji="1" lang="zh-CN" altLang="en-US" sz="2800" b="1" dirty="0">
              <a:solidFill>
                <a:srgbClr val="0707F9"/>
              </a:solidFill>
              <a:latin typeface="隶书" pitchFamily="49" charset="-122"/>
              <a:ea typeface="隶书" pitchFamily="49" charset="-122"/>
            </a:endParaRPr>
          </a:p>
        </p:txBody>
      </p:sp>
      <p:sp>
        <p:nvSpPr>
          <p:cNvPr id="95" name="Text Box 61"/>
          <p:cNvSpPr txBox="1">
            <a:spLocks noChangeArrowheads="1"/>
          </p:cNvSpPr>
          <p:nvPr/>
        </p:nvSpPr>
        <p:spPr bwMode="auto">
          <a:xfrm>
            <a:off x="217487" y="4873623"/>
            <a:ext cx="9906000" cy="52322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kumimoji="1" lang="en-US" altLang="zh-CN" sz="2800" b="1" dirty="0">
                <a:solidFill>
                  <a:srgbClr val="000000"/>
                </a:solidFill>
                <a:latin typeface="隶书" pitchFamily="49" charset="-122"/>
                <a:ea typeface="隶书" pitchFamily="49" charset="-122"/>
              </a:rPr>
              <a:t>(A(</a:t>
            </a:r>
            <a:r>
              <a:rPr kumimoji="1" lang="en-US" altLang="zh-CN" sz="2800" b="1" dirty="0">
                <a:solidFill>
                  <a:srgbClr val="0707F9"/>
                </a:solidFill>
                <a:latin typeface="隶书" pitchFamily="49" charset="-122"/>
                <a:ea typeface="隶书" pitchFamily="49" charset="-122"/>
              </a:rPr>
              <a:t>B</a:t>
            </a:r>
            <a:r>
              <a:rPr kumimoji="1" lang="en-US" altLang="zh-CN" sz="2800" b="1" dirty="0">
                <a:solidFill>
                  <a:srgbClr val="000000"/>
                </a:solidFill>
                <a:latin typeface="隶书" pitchFamily="49" charset="-122"/>
                <a:ea typeface="隶书" pitchFamily="49" charset="-122"/>
              </a:rPr>
              <a:t>(</a:t>
            </a:r>
            <a:r>
              <a:rPr kumimoji="1" lang="en-US" altLang="zh-CN" sz="2800" b="1" dirty="0">
                <a:solidFill>
                  <a:srgbClr val="336600"/>
                </a:solidFill>
                <a:latin typeface="隶书" pitchFamily="49" charset="-122"/>
                <a:ea typeface="隶书" pitchFamily="49" charset="-122"/>
              </a:rPr>
              <a:t>E(</a:t>
            </a:r>
            <a:r>
              <a:rPr kumimoji="1" lang="en-US" altLang="zh-CN" sz="2800" b="1" dirty="0">
                <a:solidFill>
                  <a:srgbClr val="6600CC"/>
                </a:solidFill>
                <a:latin typeface="隶书" pitchFamily="49" charset="-122"/>
                <a:ea typeface="隶书" pitchFamily="49" charset="-122"/>
              </a:rPr>
              <a:t>K,L</a:t>
            </a:r>
            <a:r>
              <a:rPr kumimoji="1" lang="en-US" altLang="zh-CN" sz="2800" b="1" dirty="0">
                <a:solidFill>
                  <a:srgbClr val="336600"/>
                </a:solidFill>
                <a:latin typeface="隶书" pitchFamily="49" charset="-122"/>
                <a:ea typeface="隶书" pitchFamily="49" charset="-122"/>
              </a:rPr>
              <a:t>),F</a:t>
            </a:r>
            <a:r>
              <a:rPr kumimoji="1" lang="en-US" altLang="zh-CN" sz="2800" b="1" dirty="0">
                <a:solidFill>
                  <a:srgbClr val="000000"/>
                </a:solidFill>
                <a:latin typeface="隶书" pitchFamily="49" charset="-122"/>
                <a:ea typeface="隶书" pitchFamily="49" charset="-122"/>
              </a:rPr>
              <a:t>), </a:t>
            </a:r>
            <a:r>
              <a:rPr kumimoji="1" lang="en-US" altLang="zh-CN" sz="2800" b="1" dirty="0">
                <a:solidFill>
                  <a:srgbClr val="0707F9"/>
                </a:solidFill>
                <a:latin typeface="隶书" pitchFamily="49" charset="-122"/>
                <a:ea typeface="隶书" pitchFamily="49" charset="-122"/>
              </a:rPr>
              <a:t>C</a:t>
            </a:r>
            <a:r>
              <a:rPr kumimoji="1" lang="en-US" altLang="zh-CN" sz="2800" b="1" dirty="0">
                <a:solidFill>
                  <a:srgbClr val="000000"/>
                </a:solidFill>
                <a:latin typeface="隶书" pitchFamily="49" charset="-122"/>
                <a:ea typeface="隶书" pitchFamily="49" charset="-122"/>
              </a:rPr>
              <a:t>(</a:t>
            </a:r>
            <a:r>
              <a:rPr kumimoji="1" lang="en-US" altLang="zh-CN" sz="2800" b="1" dirty="0">
                <a:solidFill>
                  <a:srgbClr val="336600"/>
                </a:solidFill>
                <a:latin typeface="隶书" pitchFamily="49" charset="-122"/>
                <a:ea typeface="隶书" pitchFamily="49" charset="-122"/>
              </a:rPr>
              <a:t>G</a:t>
            </a:r>
            <a:r>
              <a:rPr kumimoji="1" lang="en-US" altLang="zh-CN" sz="2800" b="1" dirty="0">
                <a:solidFill>
                  <a:srgbClr val="000000"/>
                </a:solidFill>
                <a:latin typeface="隶书" pitchFamily="49" charset="-122"/>
                <a:ea typeface="隶书" pitchFamily="49" charset="-122"/>
              </a:rPr>
              <a:t>), </a:t>
            </a:r>
            <a:r>
              <a:rPr kumimoji="1" lang="en-US" altLang="zh-CN" sz="2800" b="1" dirty="0">
                <a:solidFill>
                  <a:srgbClr val="0707F9"/>
                </a:solidFill>
                <a:latin typeface="隶书" pitchFamily="49" charset="-122"/>
                <a:ea typeface="隶书" pitchFamily="49" charset="-122"/>
              </a:rPr>
              <a:t>D</a:t>
            </a:r>
            <a:r>
              <a:rPr kumimoji="1" lang="en-US" altLang="zh-CN" sz="2800" b="1" dirty="0">
                <a:solidFill>
                  <a:srgbClr val="000000"/>
                </a:solidFill>
                <a:latin typeface="隶书" pitchFamily="49" charset="-122"/>
                <a:ea typeface="隶书" pitchFamily="49" charset="-122"/>
              </a:rPr>
              <a:t>(</a:t>
            </a:r>
            <a:r>
              <a:rPr kumimoji="1" lang="en-US" altLang="zh-CN" sz="2800" b="1" dirty="0">
                <a:solidFill>
                  <a:srgbClr val="336600"/>
                </a:solidFill>
                <a:latin typeface="隶书" pitchFamily="49" charset="-122"/>
                <a:ea typeface="隶书" pitchFamily="49" charset="-122"/>
              </a:rPr>
              <a:t>H(</a:t>
            </a:r>
            <a:r>
              <a:rPr kumimoji="1" lang="en-US" altLang="zh-CN" sz="2800" b="1" dirty="0">
                <a:solidFill>
                  <a:srgbClr val="6600CC"/>
                </a:solidFill>
                <a:latin typeface="隶书" pitchFamily="49" charset="-122"/>
                <a:ea typeface="隶书" pitchFamily="49" charset="-122"/>
              </a:rPr>
              <a:t>M</a:t>
            </a:r>
            <a:r>
              <a:rPr kumimoji="1" lang="en-US" altLang="zh-CN" sz="2800" b="1" dirty="0">
                <a:solidFill>
                  <a:srgbClr val="336600"/>
                </a:solidFill>
                <a:latin typeface="隶书" pitchFamily="49" charset="-122"/>
                <a:ea typeface="隶书" pitchFamily="49" charset="-122"/>
              </a:rPr>
              <a:t>),I,J</a:t>
            </a:r>
            <a:r>
              <a:rPr kumimoji="1" lang="en-US" altLang="zh-CN" sz="2800" b="1" dirty="0">
                <a:solidFill>
                  <a:srgbClr val="000000"/>
                </a:solidFill>
                <a:latin typeface="隶书" pitchFamily="49" charset="-122"/>
                <a:ea typeface="隶书" pitchFamily="49" charset="-122"/>
              </a:rPr>
              <a:t>)))  </a:t>
            </a:r>
            <a:r>
              <a:rPr kumimoji="1" lang="zh-CN" altLang="en-US" sz="2800" b="1" dirty="0">
                <a:solidFill>
                  <a:srgbClr val="000000"/>
                </a:solidFill>
                <a:latin typeface="隶书" pitchFamily="49" charset="-122"/>
                <a:ea typeface="隶书" pitchFamily="49" charset="-122"/>
              </a:rPr>
              <a:t>第四层</a:t>
            </a:r>
            <a:endParaRPr kumimoji="1" lang="zh-CN" altLang="en-US" sz="2800" b="1" dirty="0">
              <a:solidFill>
                <a:srgbClr val="0707F9"/>
              </a:solidFill>
              <a:latin typeface="隶书" pitchFamily="49" charset="-122"/>
              <a:ea typeface="隶书" pitchFamily="49" charset="-122"/>
            </a:endParaRPr>
          </a:p>
        </p:txBody>
      </p:sp>
      <p:grpSp>
        <p:nvGrpSpPr>
          <p:cNvPr id="96" name="Group 62"/>
          <p:cNvGrpSpPr>
            <a:grpSpLocks/>
          </p:cNvGrpSpPr>
          <p:nvPr/>
        </p:nvGrpSpPr>
        <p:grpSpPr bwMode="auto">
          <a:xfrm>
            <a:off x="4876800" y="1295400"/>
            <a:ext cx="4254500" cy="2076451"/>
            <a:chOff x="1728" y="2159"/>
            <a:chExt cx="2680" cy="1308"/>
          </a:xfrm>
        </p:grpSpPr>
        <p:sp>
          <p:nvSpPr>
            <p:cNvPr id="97" name="Line 63"/>
            <p:cNvSpPr>
              <a:spLocks noChangeShapeType="1"/>
            </p:cNvSpPr>
            <p:nvPr/>
          </p:nvSpPr>
          <p:spPr bwMode="auto">
            <a:xfrm>
              <a:off x="3126" y="2400"/>
              <a:ext cx="0" cy="96"/>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8" name="Line 64"/>
            <p:cNvSpPr>
              <a:spLocks noChangeShapeType="1"/>
            </p:cNvSpPr>
            <p:nvPr/>
          </p:nvSpPr>
          <p:spPr bwMode="auto">
            <a:xfrm flipH="1">
              <a:off x="2550" y="2304"/>
              <a:ext cx="432"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9" name="Line 65"/>
            <p:cNvSpPr>
              <a:spLocks noChangeShapeType="1"/>
            </p:cNvSpPr>
            <p:nvPr/>
          </p:nvSpPr>
          <p:spPr bwMode="auto">
            <a:xfrm flipH="1">
              <a:off x="2214"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0" name="Line 66"/>
            <p:cNvSpPr>
              <a:spLocks noChangeShapeType="1"/>
            </p:cNvSpPr>
            <p:nvPr/>
          </p:nvSpPr>
          <p:spPr bwMode="auto">
            <a:xfrm>
              <a:off x="2502"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1" name="Line 67"/>
            <p:cNvSpPr>
              <a:spLocks noChangeShapeType="1"/>
            </p:cNvSpPr>
            <p:nvPr/>
          </p:nvSpPr>
          <p:spPr bwMode="auto">
            <a:xfrm>
              <a:off x="3126"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2" name="Line 68"/>
            <p:cNvSpPr>
              <a:spLocks noChangeShapeType="1"/>
            </p:cNvSpPr>
            <p:nvPr/>
          </p:nvSpPr>
          <p:spPr bwMode="auto">
            <a:xfrm>
              <a:off x="3222" y="2304"/>
              <a:ext cx="528" cy="288"/>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3" name="Line 69"/>
            <p:cNvSpPr>
              <a:spLocks noChangeShapeType="1"/>
            </p:cNvSpPr>
            <p:nvPr/>
          </p:nvSpPr>
          <p:spPr bwMode="auto">
            <a:xfrm flipH="1">
              <a:off x="3606"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4" name="Line 70"/>
            <p:cNvSpPr>
              <a:spLocks noChangeShapeType="1"/>
            </p:cNvSpPr>
            <p:nvPr/>
          </p:nvSpPr>
          <p:spPr bwMode="auto">
            <a:xfrm>
              <a:off x="3894"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5" name="Line 71"/>
            <p:cNvSpPr>
              <a:spLocks noChangeShapeType="1"/>
            </p:cNvSpPr>
            <p:nvPr/>
          </p:nvSpPr>
          <p:spPr bwMode="auto">
            <a:xfrm>
              <a:off x="3990"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6" name="Line 72"/>
            <p:cNvSpPr>
              <a:spLocks noChangeShapeType="1"/>
            </p:cNvSpPr>
            <p:nvPr/>
          </p:nvSpPr>
          <p:spPr bwMode="auto">
            <a:xfrm flipH="1">
              <a:off x="192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7" name="Line 73"/>
            <p:cNvSpPr>
              <a:spLocks noChangeShapeType="1"/>
            </p:cNvSpPr>
            <p:nvPr/>
          </p:nvSpPr>
          <p:spPr bwMode="auto">
            <a:xfrm>
              <a:off x="225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8" name="Line 74"/>
            <p:cNvSpPr>
              <a:spLocks noChangeShapeType="1"/>
            </p:cNvSpPr>
            <p:nvPr/>
          </p:nvSpPr>
          <p:spPr bwMode="auto">
            <a:xfrm>
              <a:off x="3552" y="3094"/>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109" name="Group 75"/>
            <p:cNvGrpSpPr>
              <a:grpSpLocks/>
            </p:cNvGrpSpPr>
            <p:nvPr/>
          </p:nvGrpSpPr>
          <p:grpSpPr bwMode="auto">
            <a:xfrm>
              <a:off x="4088" y="2855"/>
              <a:ext cx="320" cy="252"/>
              <a:chOff x="2880" y="1104"/>
              <a:chExt cx="367" cy="346"/>
            </a:xfrm>
          </p:grpSpPr>
          <p:sp>
            <p:nvSpPr>
              <p:cNvPr id="226" name="Oval 7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27" name="Text Box 77"/>
              <p:cNvSpPr txBox="1">
                <a:spLocks noChangeArrowheads="1"/>
              </p:cNvSpPr>
              <p:nvPr/>
            </p:nvSpPr>
            <p:spPr bwMode="auto">
              <a:xfrm>
                <a:off x="2928" y="1104"/>
                <a:ext cx="319" cy="34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J</a:t>
                </a:r>
              </a:p>
            </p:txBody>
          </p:sp>
        </p:grpSp>
        <p:grpSp>
          <p:nvGrpSpPr>
            <p:cNvPr id="110" name="Group 78"/>
            <p:cNvGrpSpPr>
              <a:grpSpLocks/>
            </p:cNvGrpSpPr>
            <p:nvPr/>
          </p:nvGrpSpPr>
          <p:grpSpPr bwMode="auto">
            <a:xfrm>
              <a:off x="3750" y="2857"/>
              <a:ext cx="320" cy="252"/>
              <a:chOff x="2880" y="1104"/>
              <a:chExt cx="367" cy="346"/>
            </a:xfrm>
          </p:grpSpPr>
          <p:sp>
            <p:nvSpPr>
              <p:cNvPr id="224" name="Oval 7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25" name="Text Box 80"/>
              <p:cNvSpPr txBox="1">
                <a:spLocks noChangeArrowheads="1"/>
              </p:cNvSpPr>
              <p:nvPr/>
            </p:nvSpPr>
            <p:spPr bwMode="auto">
              <a:xfrm>
                <a:off x="2928" y="1104"/>
                <a:ext cx="319" cy="34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I</a:t>
                </a:r>
              </a:p>
            </p:txBody>
          </p:sp>
        </p:grpSp>
        <p:grpSp>
          <p:nvGrpSpPr>
            <p:cNvPr id="111" name="Group 81"/>
            <p:cNvGrpSpPr>
              <a:grpSpLocks/>
            </p:cNvGrpSpPr>
            <p:nvPr/>
          </p:nvGrpSpPr>
          <p:grpSpPr bwMode="auto">
            <a:xfrm>
              <a:off x="2982" y="2159"/>
              <a:ext cx="320" cy="252"/>
              <a:chOff x="2880" y="1104"/>
              <a:chExt cx="367" cy="346"/>
            </a:xfrm>
          </p:grpSpPr>
          <p:sp>
            <p:nvSpPr>
              <p:cNvPr id="222" name="Oval 8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23" name="Text Box 83"/>
              <p:cNvSpPr txBox="1">
                <a:spLocks noChangeArrowheads="1"/>
              </p:cNvSpPr>
              <p:nvPr/>
            </p:nvSpPr>
            <p:spPr bwMode="auto">
              <a:xfrm>
                <a:off x="2928" y="1104"/>
                <a:ext cx="319" cy="34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dirty="0">
                    <a:ln>
                      <a:noFill/>
                    </a:ln>
                    <a:solidFill>
                      <a:srgbClr val="0707F9"/>
                    </a:solidFill>
                    <a:effectLst/>
                    <a:uLnTx/>
                    <a:uFillTx/>
                    <a:latin typeface="隶书" pitchFamily="49" charset="-122"/>
                    <a:ea typeface="隶书" pitchFamily="49" charset="-122"/>
                  </a:rPr>
                  <a:t>A</a:t>
                </a:r>
              </a:p>
            </p:txBody>
          </p:sp>
        </p:grpSp>
        <p:grpSp>
          <p:nvGrpSpPr>
            <p:cNvPr id="112" name="Group 84"/>
            <p:cNvGrpSpPr>
              <a:grpSpLocks/>
            </p:cNvGrpSpPr>
            <p:nvPr/>
          </p:nvGrpSpPr>
          <p:grpSpPr bwMode="auto">
            <a:xfrm>
              <a:off x="2982" y="2496"/>
              <a:ext cx="320" cy="252"/>
              <a:chOff x="2880" y="1104"/>
              <a:chExt cx="367" cy="346"/>
            </a:xfrm>
          </p:grpSpPr>
          <p:sp>
            <p:nvSpPr>
              <p:cNvPr id="220" name="Oval 8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21" name="Text Box 86"/>
              <p:cNvSpPr txBox="1">
                <a:spLocks noChangeArrowheads="1"/>
              </p:cNvSpPr>
              <p:nvPr/>
            </p:nvSpPr>
            <p:spPr bwMode="auto">
              <a:xfrm>
                <a:off x="2928" y="1104"/>
                <a:ext cx="319" cy="34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C</a:t>
                </a:r>
              </a:p>
            </p:txBody>
          </p:sp>
        </p:grpSp>
        <p:grpSp>
          <p:nvGrpSpPr>
            <p:cNvPr id="113" name="Group 87"/>
            <p:cNvGrpSpPr>
              <a:grpSpLocks/>
            </p:cNvGrpSpPr>
            <p:nvPr/>
          </p:nvGrpSpPr>
          <p:grpSpPr bwMode="auto">
            <a:xfrm>
              <a:off x="2304" y="2496"/>
              <a:ext cx="320" cy="252"/>
              <a:chOff x="2880" y="1104"/>
              <a:chExt cx="367" cy="346"/>
            </a:xfrm>
          </p:grpSpPr>
          <p:sp>
            <p:nvSpPr>
              <p:cNvPr id="218" name="Oval 8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19" name="Text Box 89"/>
              <p:cNvSpPr txBox="1">
                <a:spLocks noChangeArrowheads="1"/>
              </p:cNvSpPr>
              <p:nvPr/>
            </p:nvSpPr>
            <p:spPr bwMode="auto">
              <a:xfrm>
                <a:off x="2928" y="1104"/>
                <a:ext cx="319" cy="34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B</a:t>
                </a:r>
              </a:p>
            </p:txBody>
          </p:sp>
        </p:grpSp>
        <p:grpSp>
          <p:nvGrpSpPr>
            <p:cNvPr id="114" name="Group 90"/>
            <p:cNvGrpSpPr>
              <a:grpSpLocks/>
            </p:cNvGrpSpPr>
            <p:nvPr/>
          </p:nvGrpSpPr>
          <p:grpSpPr bwMode="auto">
            <a:xfrm>
              <a:off x="3750" y="2496"/>
              <a:ext cx="320" cy="252"/>
              <a:chOff x="2880" y="1104"/>
              <a:chExt cx="367" cy="346"/>
            </a:xfrm>
          </p:grpSpPr>
          <p:sp>
            <p:nvSpPr>
              <p:cNvPr id="216" name="Oval 9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17" name="Text Box 92"/>
              <p:cNvSpPr txBox="1">
                <a:spLocks noChangeArrowheads="1"/>
              </p:cNvSpPr>
              <p:nvPr/>
            </p:nvSpPr>
            <p:spPr bwMode="auto">
              <a:xfrm>
                <a:off x="2928" y="1104"/>
                <a:ext cx="319" cy="34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D</a:t>
                </a:r>
              </a:p>
            </p:txBody>
          </p:sp>
        </p:grpSp>
        <p:grpSp>
          <p:nvGrpSpPr>
            <p:cNvPr id="115" name="Group 93"/>
            <p:cNvGrpSpPr>
              <a:grpSpLocks/>
            </p:cNvGrpSpPr>
            <p:nvPr/>
          </p:nvGrpSpPr>
          <p:grpSpPr bwMode="auto">
            <a:xfrm>
              <a:off x="3408" y="2857"/>
              <a:ext cx="320" cy="252"/>
              <a:chOff x="2880" y="1104"/>
              <a:chExt cx="367" cy="346"/>
            </a:xfrm>
          </p:grpSpPr>
          <p:sp>
            <p:nvSpPr>
              <p:cNvPr id="214" name="Oval 9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15" name="Text Box 95"/>
              <p:cNvSpPr txBox="1">
                <a:spLocks noChangeArrowheads="1"/>
              </p:cNvSpPr>
              <p:nvPr/>
            </p:nvSpPr>
            <p:spPr bwMode="auto">
              <a:xfrm>
                <a:off x="2928" y="1104"/>
                <a:ext cx="319" cy="34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H</a:t>
                </a:r>
              </a:p>
            </p:txBody>
          </p:sp>
        </p:grpSp>
        <p:grpSp>
          <p:nvGrpSpPr>
            <p:cNvPr id="116" name="Group 96"/>
            <p:cNvGrpSpPr>
              <a:grpSpLocks/>
            </p:cNvGrpSpPr>
            <p:nvPr/>
          </p:nvGrpSpPr>
          <p:grpSpPr bwMode="auto">
            <a:xfrm>
              <a:off x="2982" y="2857"/>
              <a:ext cx="320" cy="252"/>
              <a:chOff x="2880" y="1104"/>
              <a:chExt cx="367" cy="346"/>
            </a:xfrm>
          </p:grpSpPr>
          <p:sp>
            <p:nvSpPr>
              <p:cNvPr id="212" name="Oval 9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13" name="Text Box 98"/>
              <p:cNvSpPr txBox="1">
                <a:spLocks noChangeArrowheads="1"/>
              </p:cNvSpPr>
              <p:nvPr/>
            </p:nvSpPr>
            <p:spPr bwMode="auto">
              <a:xfrm>
                <a:off x="2928" y="1104"/>
                <a:ext cx="319" cy="34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G</a:t>
                </a:r>
              </a:p>
            </p:txBody>
          </p:sp>
        </p:grpSp>
        <p:grpSp>
          <p:nvGrpSpPr>
            <p:cNvPr id="117" name="Group 99"/>
            <p:cNvGrpSpPr>
              <a:grpSpLocks/>
            </p:cNvGrpSpPr>
            <p:nvPr/>
          </p:nvGrpSpPr>
          <p:grpSpPr bwMode="auto">
            <a:xfrm>
              <a:off x="2502" y="2857"/>
              <a:ext cx="320" cy="252"/>
              <a:chOff x="2880" y="1104"/>
              <a:chExt cx="367" cy="346"/>
            </a:xfrm>
          </p:grpSpPr>
          <p:sp>
            <p:nvSpPr>
              <p:cNvPr id="210" name="Oval 10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11" name="Text Box 101"/>
              <p:cNvSpPr txBox="1">
                <a:spLocks noChangeArrowheads="1"/>
              </p:cNvSpPr>
              <p:nvPr/>
            </p:nvSpPr>
            <p:spPr bwMode="auto">
              <a:xfrm>
                <a:off x="2928" y="1104"/>
                <a:ext cx="319" cy="34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F</a:t>
                </a:r>
              </a:p>
            </p:txBody>
          </p:sp>
        </p:grpSp>
        <p:grpSp>
          <p:nvGrpSpPr>
            <p:cNvPr id="118" name="Group 102"/>
            <p:cNvGrpSpPr>
              <a:grpSpLocks/>
            </p:cNvGrpSpPr>
            <p:nvPr/>
          </p:nvGrpSpPr>
          <p:grpSpPr bwMode="auto">
            <a:xfrm>
              <a:off x="2016" y="2857"/>
              <a:ext cx="320" cy="252"/>
              <a:chOff x="2880" y="1104"/>
              <a:chExt cx="367" cy="346"/>
            </a:xfrm>
          </p:grpSpPr>
          <p:sp>
            <p:nvSpPr>
              <p:cNvPr id="208" name="Oval 10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09" name="Text Box 104"/>
              <p:cNvSpPr txBox="1">
                <a:spLocks noChangeArrowheads="1"/>
              </p:cNvSpPr>
              <p:nvPr/>
            </p:nvSpPr>
            <p:spPr bwMode="auto">
              <a:xfrm>
                <a:off x="2928" y="1104"/>
                <a:ext cx="319" cy="34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E</a:t>
                </a:r>
              </a:p>
            </p:txBody>
          </p:sp>
        </p:grpSp>
        <p:grpSp>
          <p:nvGrpSpPr>
            <p:cNvPr id="119" name="Group 105"/>
            <p:cNvGrpSpPr>
              <a:grpSpLocks/>
            </p:cNvGrpSpPr>
            <p:nvPr/>
          </p:nvGrpSpPr>
          <p:grpSpPr bwMode="auto">
            <a:xfrm>
              <a:off x="1728" y="3215"/>
              <a:ext cx="320" cy="252"/>
              <a:chOff x="2880" y="1104"/>
              <a:chExt cx="367" cy="346"/>
            </a:xfrm>
          </p:grpSpPr>
          <p:sp>
            <p:nvSpPr>
              <p:cNvPr id="206" name="Oval 10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07" name="Text Box 107"/>
              <p:cNvSpPr txBox="1">
                <a:spLocks noChangeArrowheads="1"/>
              </p:cNvSpPr>
              <p:nvPr/>
            </p:nvSpPr>
            <p:spPr bwMode="auto">
              <a:xfrm>
                <a:off x="2928" y="1104"/>
                <a:ext cx="319" cy="34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K</a:t>
                </a:r>
              </a:p>
            </p:txBody>
          </p:sp>
        </p:grpSp>
        <p:grpSp>
          <p:nvGrpSpPr>
            <p:cNvPr id="120" name="Group 108"/>
            <p:cNvGrpSpPr>
              <a:grpSpLocks/>
            </p:cNvGrpSpPr>
            <p:nvPr/>
          </p:nvGrpSpPr>
          <p:grpSpPr bwMode="auto">
            <a:xfrm>
              <a:off x="2256" y="3215"/>
              <a:ext cx="320" cy="252"/>
              <a:chOff x="2880" y="1104"/>
              <a:chExt cx="367" cy="346"/>
            </a:xfrm>
          </p:grpSpPr>
          <p:sp>
            <p:nvSpPr>
              <p:cNvPr id="204" name="Oval 10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05" name="Text Box 110"/>
              <p:cNvSpPr txBox="1">
                <a:spLocks noChangeArrowheads="1"/>
              </p:cNvSpPr>
              <p:nvPr/>
            </p:nvSpPr>
            <p:spPr bwMode="auto">
              <a:xfrm>
                <a:off x="2928" y="1104"/>
                <a:ext cx="319" cy="34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L</a:t>
                </a:r>
              </a:p>
            </p:txBody>
          </p:sp>
        </p:grpSp>
        <p:grpSp>
          <p:nvGrpSpPr>
            <p:cNvPr id="121" name="Group 111"/>
            <p:cNvGrpSpPr>
              <a:grpSpLocks/>
            </p:cNvGrpSpPr>
            <p:nvPr/>
          </p:nvGrpSpPr>
          <p:grpSpPr bwMode="auto">
            <a:xfrm>
              <a:off x="3408" y="3215"/>
              <a:ext cx="320" cy="252"/>
              <a:chOff x="2880" y="1104"/>
              <a:chExt cx="367" cy="346"/>
            </a:xfrm>
          </p:grpSpPr>
          <p:sp>
            <p:nvSpPr>
              <p:cNvPr id="122" name="Oval 11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23" name="Text Box 113"/>
              <p:cNvSpPr txBox="1">
                <a:spLocks noChangeArrowheads="1"/>
              </p:cNvSpPr>
              <p:nvPr/>
            </p:nvSpPr>
            <p:spPr bwMode="auto">
              <a:xfrm>
                <a:off x="2928" y="1104"/>
                <a:ext cx="319" cy="34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M</a:t>
                </a:r>
              </a:p>
            </p:txBody>
          </p:sp>
        </p:grpSp>
      </p:grpSp>
      <p:sp>
        <p:nvSpPr>
          <p:cNvPr id="228" name="双波形 227"/>
          <p:cNvSpPr>
            <a:spLocks noChangeArrowheads="1"/>
          </p:cNvSpPr>
          <p:nvPr/>
        </p:nvSpPr>
        <p:spPr bwMode="auto">
          <a:xfrm>
            <a:off x="533400" y="5638800"/>
            <a:ext cx="8143875" cy="777061"/>
          </a:xfrm>
          <a:prstGeom prst="doubleWave">
            <a:avLst>
              <a:gd name="adj1" fmla="val 6250"/>
              <a:gd name="adj2" fmla="val 157"/>
            </a:avLst>
          </a:prstGeom>
          <a:noFill/>
          <a:ln w="12700" cap="rnd" algn="ctr">
            <a:solidFill>
              <a:srgbClr val="0000FF"/>
            </a:solidFill>
            <a:round/>
            <a:headEnd/>
            <a:tailEnd/>
          </a:ln>
        </p:spPr>
        <p:txBody>
          <a:bodyPr>
            <a:spAutoFit/>
          </a:bodyPr>
          <a:lstStyle/>
          <a:p>
            <a:pPr algn="ctr" eaLnBrk="0" fontAlgn="base" hangingPunct="0">
              <a:spcBef>
                <a:spcPct val="0"/>
              </a:spcBef>
              <a:spcAft>
                <a:spcPct val="0"/>
              </a:spcAft>
            </a:pPr>
            <a:r>
              <a:rPr kumimoji="1" lang="zh-CN" altLang="en-US" sz="3200" b="1">
                <a:solidFill>
                  <a:srgbClr val="0000FF"/>
                </a:solidFill>
                <a:latin typeface="华文隶书" pitchFamily="2" charset="-122"/>
                <a:ea typeface="华文隶书" pitchFamily="2" charset="-122"/>
              </a:rPr>
              <a:t>表示方法的多样化说明树结构应用的重要性</a:t>
            </a:r>
          </a:p>
        </p:txBody>
      </p:sp>
    </p:spTree>
    <p:extLst>
      <p:ext uri="{BB962C8B-B14F-4D97-AF65-F5344CB8AC3E}">
        <p14:creationId xmlns:p14="http://schemas.microsoft.com/office/powerpoint/2010/main" val="1395333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p:bldP spid="94" grpId="0"/>
      <p:bldP spid="95" grpId="0"/>
      <p:bldP spid="22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r>
              <a:rPr lang="zh-CN" altLang="en-US" sz="2800" b="1" dirty="0"/>
              <a:t>树的有关术语：</a:t>
            </a:r>
            <a:endParaRPr lang="en-US" altLang="zh-CN" sz="2800" b="1" dirty="0"/>
          </a:p>
        </p:txBody>
      </p:sp>
      <p:sp>
        <p:nvSpPr>
          <p:cNvPr id="4" name="日期占位符 3"/>
          <p:cNvSpPr>
            <a:spLocks noGrp="1"/>
          </p:cNvSpPr>
          <p:nvPr>
            <p:ph type="dt" sz="half" idx="10"/>
          </p:nvPr>
        </p:nvSpPr>
        <p:spPr/>
        <p:txBody>
          <a:bodyPr/>
          <a:lstStyle/>
          <a:p>
            <a:fld id="{75AFFE9E-700D-4D86-9868-CB5EC116735C}"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22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92" name="Text Box 2"/>
          <p:cNvSpPr txBox="1">
            <a:spLocks noChangeArrowheads="1"/>
          </p:cNvSpPr>
          <p:nvPr/>
        </p:nvSpPr>
        <p:spPr bwMode="auto">
          <a:xfrm>
            <a:off x="849313" y="1600200"/>
            <a:ext cx="7456487" cy="1759456"/>
          </a:xfrm>
          <a:prstGeom prst="rect">
            <a:avLst/>
          </a:prstGeom>
          <a:noFill/>
          <a:ln w="12700" cap="rnd">
            <a:solidFill>
              <a:srgbClr val="336600"/>
            </a:solidFill>
            <a:miter lim="800000"/>
            <a:headEnd/>
            <a:tailEnd/>
          </a:ln>
        </p:spPr>
        <p:txBody>
          <a:bodyPr wrap="square">
            <a:spAutoFit/>
          </a:bodyPr>
          <a:lstStyle/>
          <a:p>
            <a:pPr marL="457200" indent="-457200" eaLnBrk="0" fontAlgn="base" hangingPunct="0">
              <a:lnSpc>
                <a:spcPts val="2600"/>
              </a:lnSpc>
              <a:spcBef>
                <a:spcPct val="0"/>
              </a:spcBef>
              <a:spcAft>
                <a:spcPct val="0"/>
              </a:spcAft>
              <a:buFontTx/>
              <a:buBlip>
                <a:blip r:embed="rId4"/>
              </a:buBlip>
            </a:pPr>
            <a:r>
              <a:rPr kumimoji="1" lang="zh-CN" altLang="en-US" sz="2400" b="1" dirty="0">
                <a:solidFill>
                  <a:srgbClr val="FF0000"/>
                </a:solidFill>
                <a:latin typeface="Times New Roman" pitchFamily="18" charset="0"/>
              </a:rPr>
              <a:t>结点层</a:t>
            </a:r>
            <a:r>
              <a:rPr kumimoji="1" lang="zh-CN" altLang="en-US" sz="2400" b="1" dirty="0">
                <a:solidFill>
                  <a:srgbClr val="0707F9"/>
                </a:solidFill>
                <a:latin typeface="Times New Roman" pitchFamily="18" charset="0"/>
              </a:rPr>
              <a:t>：根结点的层定义为</a:t>
            </a:r>
            <a:r>
              <a:rPr kumimoji="1" lang="en-US" altLang="zh-CN" sz="2400" b="1" dirty="0">
                <a:solidFill>
                  <a:srgbClr val="0707F9"/>
                </a:solidFill>
                <a:latin typeface="Times New Roman" pitchFamily="18" charset="0"/>
              </a:rPr>
              <a:t>1</a:t>
            </a:r>
            <a:r>
              <a:rPr kumimoji="1" lang="zh-CN" altLang="en-US" sz="2400" b="1" dirty="0">
                <a:solidFill>
                  <a:srgbClr val="0707F9"/>
                </a:solidFill>
                <a:latin typeface="Times New Roman" pitchFamily="18" charset="0"/>
              </a:rPr>
              <a:t>，其它依此类推；</a:t>
            </a:r>
          </a:p>
          <a:p>
            <a:pPr marL="457200" indent="-457200" eaLnBrk="0" fontAlgn="base" hangingPunct="0">
              <a:lnSpc>
                <a:spcPts val="2600"/>
              </a:lnSpc>
              <a:spcBef>
                <a:spcPct val="0"/>
              </a:spcBef>
              <a:spcAft>
                <a:spcPct val="0"/>
              </a:spcAft>
              <a:buFontTx/>
              <a:buBlip>
                <a:blip r:embed="rId4"/>
              </a:buBlip>
            </a:pPr>
            <a:r>
              <a:rPr kumimoji="1" lang="zh-CN" altLang="en-US" sz="2400" b="1" dirty="0">
                <a:solidFill>
                  <a:srgbClr val="FF0000"/>
                </a:solidFill>
                <a:latin typeface="Times New Roman" pitchFamily="18" charset="0"/>
              </a:rPr>
              <a:t>树的深度</a:t>
            </a:r>
            <a:r>
              <a:rPr kumimoji="1" lang="zh-CN" altLang="en-US" sz="2400" b="1" dirty="0">
                <a:solidFill>
                  <a:srgbClr val="0707F9"/>
                </a:solidFill>
                <a:latin typeface="Times New Roman" pitchFamily="18" charset="0"/>
              </a:rPr>
              <a:t>：树中最大的结点层；</a:t>
            </a:r>
          </a:p>
          <a:p>
            <a:pPr marL="457200" indent="-457200" eaLnBrk="0" fontAlgn="base" hangingPunct="0">
              <a:lnSpc>
                <a:spcPts val="2600"/>
              </a:lnSpc>
              <a:spcBef>
                <a:spcPct val="0"/>
              </a:spcBef>
              <a:spcAft>
                <a:spcPct val="0"/>
              </a:spcAft>
              <a:buFontTx/>
              <a:buBlip>
                <a:blip r:embed="rId4"/>
              </a:buBlip>
            </a:pPr>
            <a:r>
              <a:rPr kumimoji="1" lang="zh-CN" altLang="en-US" sz="2400" b="1" dirty="0">
                <a:solidFill>
                  <a:srgbClr val="FF0000"/>
                </a:solidFill>
                <a:latin typeface="Times New Roman" pitchFamily="18" charset="0"/>
              </a:rPr>
              <a:t>结点的度</a:t>
            </a:r>
            <a:r>
              <a:rPr kumimoji="1" lang="zh-CN" altLang="en-US" sz="2400" b="1" dirty="0">
                <a:solidFill>
                  <a:srgbClr val="0707F9"/>
                </a:solidFill>
                <a:latin typeface="Times New Roman" pitchFamily="18" charset="0"/>
              </a:rPr>
              <a:t>：结点子树的个数；</a:t>
            </a:r>
          </a:p>
          <a:p>
            <a:pPr marL="457200" indent="-457200" eaLnBrk="0" fontAlgn="base" hangingPunct="0">
              <a:lnSpc>
                <a:spcPts val="2600"/>
              </a:lnSpc>
              <a:spcBef>
                <a:spcPct val="0"/>
              </a:spcBef>
              <a:spcAft>
                <a:spcPct val="0"/>
              </a:spcAft>
              <a:buFontTx/>
              <a:buBlip>
                <a:blip r:embed="rId4"/>
              </a:buBlip>
            </a:pPr>
            <a:r>
              <a:rPr kumimoji="1" lang="zh-CN" altLang="en-US" sz="2400" b="1" dirty="0">
                <a:solidFill>
                  <a:srgbClr val="FF0000"/>
                </a:solidFill>
                <a:latin typeface="Times New Roman" pitchFamily="18" charset="0"/>
              </a:rPr>
              <a:t>树的度</a:t>
            </a:r>
            <a:r>
              <a:rPr kumimoji="1" lang="zh-CN" altLang="en-US" sz="2400" b="1" dirty="0">
                <a:solidFill>
                  <a:srgbClr val="0707F9"/>
                </a:solidFill>
                <a:latin typeface="Times New Roman" pitchFamily="18" charset="0"/>
              </a:rPr>
              <a:t>： 树中最大的结点度；</a:t>
            </a:r>
          </a:p>
          <a:p>
            <a:pPr marL="457200" indent="-457200" eaLnBrk="0" fontAlgn="base" hangingPunct="0">
              <a:lnSpc>
                <a:spcPts val="2600"/>
              </a:lnSpc>
              <a:spcBef>
                <a:spcPct val="0"/>
              </a:spcBef>
              <a:spcAft>
                <a:spcPct val="0"/>
              </a:spcAft>
              <a:buFontTx/>
              <a:buBlip>
                <a:blip r:embed="rId4"/>
              </a:buBlip>
            </a:pPr>
            <a:r>
              <a:rPr kumimoji="1" lang="zh-CN" altLang="en-US" sz="2400" b="1" dirty="0">
                <a:solidFill>
                  <a:srgbClr val="FF0000"/>
                </a:solidFill>
                <a:latin typeface="Times New Roman" pitchFamily="18" charset="0"/>
              </a:rPr>
              <a:t>叶子结点</a:t>
            </a:r>
            <a:r>
              <a:rPr kumimoji="1" lang="zh-CN" altLang="en-US" sz="2400" b="1" dirty="0">
                <a:solidFill>
                  <a:srgbClr val="0707F9"/>
                </a:solidFill>
                <a:latin typeface="Times New Roman" pitchFamily="18" charset="0"/>
              </a:rPr>
              <a:t>：也叫终端结点，是度为 </a:t>
            </a:r>
            <a:r>
              <a:rPr kumimoji="1" lang="en-US" altLang="zh-CN" sz="2400" b="1" dirty="0">
                <a:solidFill>
                  <a:srgbClr val="0707F9"/>
                </a:solidFill>
                <a:latin typeface="Times New Roman" pitchFamily="18" charset="0"/>
              </a:rPr>
              <a:t>0 </a:t>
            </a:r>
            <a:r>
              <a:rPr kumimoji="1" lang="zh-CN" altLang="en-US" sz="2400" b="1" dirty="0">
                <a:solidFill>
                  <a:srgbClr val="0707F9"/>
                </a:solidFill>
                <a:latin typeface="Times New Roman" pitchFamily="18" charset="0"/>
              </a:rPr>
              <a:t>的结点；</a:t>
            </a:r>
            <a:endParaRPr kumimoji="1" lang="zh-CN" altLang="en-US" sz="2000" dirty="0">
              <a:solidFill>
                <a:srgbClr val="0707F9"/>
              </a:solidFill>
              <a:latin typeface="Times New Roman" pitchFamily="18" charset="0"/>
            </a:endParaRPr>
          </a:p>
        </p:txBody>
      </p:sp>
      <p:sp>
        <p:nvSpPr>
          <p:cNvPr id="93" name="Text Box 4"/>
          <p:cNvSpPr txBox="1">
            <a:spLocks noChangeArrowheads="1"/>
          </p:cNvSpPr>
          <p:nvPr/>
        </p:nvSpPr>
        <p:spPr bwMode="auto">
          <a:xfrm>
            <a:off x="457200" y="4022725"/>
            <a:ext cx="2311400" cy="1014413"/>
          </a:xfrm>
          <a:prstGeom prst="rect">
            <a:avLst/>
          </a:prstGeom>
          <a:noFill/>
          <a:ln w="9525">
            <a:solidFill>
              <a:srgbClr val="0707F9"/>
            </a:solidFill>
            <a:miter lim="800000"/>
            <a:headEnd/>
            <a:tailEnd/>
          </a:ln>
        </p:spPr>
        <p:txBody>
          <a:bodyPr>
            <a:spAutoFit/>
          </a:bodyPr>
          <a:lstStyle/>
          <a:p>
            <a:pPr fontAlgn="base">
              <a:spcBef>
                <a:spcPct val="50000"/>
              </a:spcBef>
              <a:spcAft>
                <a:spcPct val="0"/>
              </a:spcAft>
            </a:pPr>
            <a:r>
              <a:rPr kumimoji="1" lang="zh-CN" altLang="en-US" sz="2400" b="1" dirty="0">
                <a:solidFill>
                  <a:srgbClr val="000000"/>
                </a:solidFill>
                <a:latin typeface="Times New Roman" pitchFamily="18" charset="0"/>
              </a:rPr>
              <a:t>树的度为</a:t>
            </a:r>
            <a:r>
              <a:rPr kumimoji="1" lang="en-US" altLang="zh-CN" sz="2400" b="1" dirty="0">
                <a:solidFill>
                  <a:srgbClr val="FF0000"/>
                </a:solidFill>
                <a:latin typeface="Times New Roman" pitchFamily="18" charset="0"/>
              </a:rPr>
              <a:t>3</a:t>
            </a:r>
          </a:p>
          <a:p>
            <a:pPr fontAlgn="base">
              <a:spcBef>
                <a:spcPct val="50000"/>
              </a:spcBef>
              <a:spcAft>
                <a:spcPct val="0"/>
              </a:spcAft>
            </a:pPr>
            <a:r>
              <a:rPr kumimoji="1" lang="zh-CN" altLang="en-US" sz="2400" b="1" dirty="0">
                <a:solidFill>
                  <a:srgbClr val="000000"/>
                </a:solidFill>
                <a:latin typeface="Times New Roman" pitchFamily="18" charset="0"/>
              </a:rPr>
              <a:t>树的深度为</a:t>
            </a:r>
            <a:r>
              <a:rPr kumimoji="1" lang="en-US" altLang="zh-CN" sz="2400" b="1" dirty="0">
                <a:solidFill>
                  <a:srgbClr val="FF0000"/>
                </a:solidFill>
                <a:latin typeface="Times New Roman" pitchFamily="18" charset="0"/>
              </a:rPr>
              <a:t>4</a:t>
            </a:r>
          </a:p>
        </p:txBody>
      </p:sp>
      <p:grpSp>
        <p:nvGrpSpPr>
          <p:cNvPr id="94" name="Group 5"/>
          <p:cNvGrpSpPr>
            <a:grpSpLocks/>
          </p:cNvGrpSpPr>
          <p:nvPr/>
        </p:nvGrpSpPr>
        <p:grpSpPr bwMode="auto">
          <a:xfrm>
            <a:off x="2611438" y="3733800"/>
            <a:ext cx="6413500" cy="2454275"/>
            <a:chOff x="1620" y="2795"/>
            <a:chExt cx="4040" cy="1546"/>
          </a:xfrm>
        </p:grpSpPr>
        <p:grpSp>
          <p:nvGrpSpPr>
            <p:cNvPr id="95" name="Group 6"/>
            <p:cNvGrpSpPr>
              <a:grpSpLocks/>
            </p:cNvGrpSpPr>
            <p:nvPr/>
          </p:nvGrpSpPr>
          <p:grpSpPr bwMode="auto">
            <a:xfrm>
              <a:off x="3060" y="2795"/>
              <a:ext cx="2600" cy="1546"/>
              <a:chOff x="1655" y="2791"/>
              <a:chExt cx="2400" cy="1546"/>
            </a:xfrm>
          </p:grpSpPr>
          <p:sp>
            <p:nvSpPr>
              <p:cNvPr id="228" name="Line 7"/>
              <p:cNvSpPr>
                <a:spLocks noChangeShapeType="1"/>
              </p:cNvSpPr>
              <p:nvPr/>
            </p:nvSpPr>
            <p:spPr bwMode="auto">
              <a:xfrm>
                <a:off x="1655" y="2900"/>
                <a:ext cx="1632" cy="0"/>
              </a:xfrm>
              <a:prstGeom prst="line">
                <a:avLst/>
              </a:prstGeom>
              <a:noFill/>
              <a:ln w="9525">
                <a:solidFill>
                  <a:srgbClr val="000000"/>
                </a:solidFill>
                <a:prstDash val="sysDot"/>
                <a:round/>
                <a:headEnd/>
                <a:tailEnd/>
              </a:ln>
            </p:spPr>
            <p:txBody>
              <a:bodyPr wrap="none"/>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29" name="Line 8"/>
              <p:cNvSpPr>
                <a:spLocks noChangeShapeType="1"/>
              </p:cNvSpPr>
              <p:nvPr/>
            </p:nvSpPr>
            <p:spPr bwMode="auto">
              <a:xfrm>
                <a:off x="2327" y="3284"/>
                <a:ext cx="960" cy="0"/>
              </a:xfrm>
              <a:prstGeom prst="line">
                <a:avLst/>
              </a:prstGeom>
              <a:noFill/>
              <a:ln w="9525">
                <a:solidFill>
                  <a:srgbClr val="000000"/>
                </a:solidFill>
                <a:prstDash val="sysDot"/>
                <a:round/>
                <a:headEnd/>
                <a:tailEnd/>
              </a:ln>
            </p:spPr>
            <p:txBody>
              <a:bodyPr wrap="none"/>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0" name="Line 9"/>
              <p:cNvSpPr>
                <a:spLocks noChangeShapeType="1"/>
              </p:cNvSpPr>
              <p:nvPr/>
            </p:nvSpPr>
            <p:spPr bwMode="auto">
              <a:xfrm>
                <a:off x="2711" y="3764"/>
                <a:ext cx="576" cy="0"/>
              </a:xfrm>
              <a:prstGeom prst="line">
                <a:avLst/>
              </a:prstGeom>
              <a:noFill/>
              <a:ln w="9525">
                <a:solidFill>
                  <a:srgbClr val="000000"/>
                </a:solidFill>
                <a:prstDash val="sysDot"/>
                <a:round/>
                <a:headEnd/>
                <a:tailEnd/>
              </a:ln>
            </p:spPr>
            <p:txBody>
              <a:bodyPr wrap="none"/>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1" name="Line 10"/>
              <p:cNvSpPr>
                <a:spLocks noChangeShapeType="1"/>
              </p:cNvSpPr>
              <p:nvPr/>
            </p:nvSpPr>
            <p:spPr bwMode="auto">
              <a:xfrm>
                <a:off x="2087" y="4100"/>
                <a:ext cx="1200" cy="0"/>
              </a:xfrm>
              <a:prstGeom prst="line">
                <a:avLst/>
              </a:prstGeom>
              <a:noFill/>
              <a:ln w="9525">
                <a:solidFill>
                  <a:srgbClr val="000000"/>
                </a:solidFill>
                <a:prstDash val="sysDot"/>
                <a:round/>
                <a:headEnd/>
                <a:tailEnd/>
              </a:ln>
            </p:spPr>
            <p:txBody>
              <a:bodyPr wrap="none"/>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2" name="Text Box 11"/>
              <p:cNvSpPr txBox="1">
                <a:spLocks noChangeArrowheads="1"/>
              </p:cNvSpPr>
              <p:nvPr/>
            </p:nvSpPr>
            <p:spPr bwMode="auto">
              <a:xfrm>
                <a:off x="3383" y="2791"/>
                <a:ext cx="672" cy="250"/>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rPr>
                  <a:t>第</a:t>
                </a:r>
                <a:r>
                  <a:rPr kumimoji="1" lang="en-US" altLang="zh-CN" sz="2000" b="1" i="0" u="none" strike="noStrike" kern="0" cap="none" spc="0" normalizeH="0" baseline="0" noProof="0">
                    <a:ln>
                      <a:noFill/>
                    </a:ln>
                    <a:solidFill>
                      <a:srgbClr val="000000"/>
                    </a:solidFill>
                    <a:effectLst/>
                    <a:uLnTx/>
                    <a:uFillTx/>
                    <a:latin typeface="Times New Roman" pitchFamily="18" charset="0"/>
                  </a:rPr>
                  <a:t>1</a:t>
                </a:r>
                <a:r>
                  <a:rPr kumimoji="1" lang="zh-CN" altLang="en-US" sz="2000" b="1" i="0" u="none" strike="noStrike" kern="0" cap="none" spc="0" normalizeH="0" baseline="0" noProof="0">
                    <a:ln>
                      <a:noFill/>
                    </a:ln>
                    <a:solidFill>
                      <a:srgbClr val="000000"/>
                    </a:solidFill>
                    <a:effectLst/>
                    <a:uLnTx/>
                    <a:uFillTx/>
                    <a:latin typeface="Times New Roman" pitchFamily="18" charset="0"/>
                  </a:rPr>
                  <a:t>层</a:t>
                </a:r>
              </a:p>
            </p:txBody>
          </p:sp>
          <p:sp>
            <p:nvSpPr>
              <p:cNvPr id="233" name="Text Box 12"/>
              <p:cNvSpPr txBox="1">
                <a:spLocks noChangeArrowheads="1"/>
              </p:cNvSpPr>
              <p:nvPr/>
            </p:nvSpPr>
            <p:spPr bwMode="auto">
              <a:xfrm>
                <a:off x="3383" y="3655"/>
                <a:ext cx="672" cy="250"/>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rPr>
                  <a:t>第</a:t>
                </a:r>
                <a:r>
                  <a:rPr kumimoji="1" lang="en-US" altLang="zh-CN" sz="2000" b="1" i="0" u="none" strike="noStrike" kern="0" cap="none" spc="0" normalizeH="0" baseline="0" noProof="0">
                    <a:ln>
                      <a:noFill/>
                    </a:ln>
                    <a:solidFill>
                      <a:srgbClr val="000000"/>
                    </a:solidFill>
                    <a:effectLst/>
                    <a:uLnTx/>
                    <a:uFillTx/>
                    <a:latin typeface="Times New Roman" pitchFamily="18" charset="0"/>
                  </a:rPr>
                  <a:t>3</a:t>
                </a:r>
                <a:r>
                  <a:rPr kumimoji="1" lang="zh-CN" altLang="en-US" sz="2000" b="1" i="0" u="none" strike="noStrike" kern="0" cap="none" spc="0" normalizeH="0" baseline="0" noProof="0">
                    <a:ln>
                      <a:noFill/>
                    </a:ln>
                    <a:solidFill>
                      <a:srgbClr val="000000"/>
                    </a:solidFill>
                    <a:effectLst/>
                    <a:uLnTx/>
                    <a:uFillTx/>
                    <a:latin typeface="Times New Roman" pitchFamily="18" charset="0"/>
                  </a:rPr>
                  <a:t>层</a:t>
                </a:r>
              </a:p>
            </p:txBody>
          </p:sp>
          <p:sp>
            <p:nvSpPr>
              <p:cNvPr id="234" name="Text Box 13"/>
              <p:cNvSpPr txBox="1">
                <a:spLocks noChangeArrowheads="1"/>
              </p:cNvSpPr>
              <p:nvPr/>
            </p:nvSpPr>
            <p:spPr bwMode="auto">
              <a:xfrm>
                <a:off x="3383" y="3223"/>
                <a:ext cx="672" cy="250"/>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rPr>
                  <a:t>第</a:t>
                </a:r>
                <a:r>
                  <a:rPr kumimoji="1" lang="en-US" altLang="zh-CN" sz="2000" b="1" i="0" u="none" strike="noStrike" kern="0" cap="none" spc="0" normalizeH="0" baseline="0" noProof="0">
                    <a:ln>
                      <a:noFill/>
                    </a:ln>
                    <a:solidFill>
                      <a:srgbClr val="000000"/>
                    </a:solidFill>
                    <a:effectLst/>
                    <a:uLnTx/>
                    <a:uFillTx/>
                    <a:latin typeface="Times New Roman" pitchFamily="18" charset="0"/>
                  </a:rPr>
                  <a:t>2</a:t>
                </a:r>
                <a:r>
                  <a:rPr kumimoji="1" lang="zh-CN" altLang="en-US" sz="2000" b="1" i="0" u="none" strike="noStrike" kern="0" cap="none" spc="0" normalizeH="0" baseline="0" noProof="0">
                    <a:ln>
                      <a:noFill/>
                    </a:ln>
                    <a:solidFill>
                      <a:srgbClr val="000000"/>
                    </a:solidFill>
                    <a:effectLst/>
                    <a:uLnTx/>
                    <a:uFillTx/>
                    <a:latin typeface="Times New Roman" pitchFamily="18" charset="0"/>
                  </a:rPr>
                  <a:t>层</a:t>
                </a:r>
              </a:p>
            </p:txBody>
          </p:sp>
          <p:sp>
            <p:nvSpPr>
              <p:cNvPr id="235" name="Text Box 14"/>
              <p:cNvSpPr txBox="1">
                <a:spLocks noChangeArrowheads="1"/>
              </p:cNvSpPr>
              <p:nvPr/>
            </p:nvSpPr>
            <p:spPr bwMode="auto">
              <a:xfrm>
                <a:off x="3383" y="4087"/>
                <a:ext cx="672" cy="250"/>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rPr>
                  <a:t>第</a:t>
                </a:r>
                <a:r>
                  <a:rPr kumimoji="1" lang="en-US" altLang="zh-CN" sz="2000" b="1" i="0" u="none" strike="noStrike" kern="0" cap="none" spc="0" normalizeH="0" baseline="0" noProof="0">
                    <a:ln>
                      <a:noFill/>
                    </a:ln>
                    <a:solidFill>
                      <a:srgbClr val="000000"/>
                    </a:solidFill>
                    <a:effectLst/>
                    <a:uLnTx/>
                    <a:uFillTx/>
                    <a:latin typeface="Times New Roman" pitchFamily="18" charset="0"/>
                  </a:rPr>
                  <a:t>4</a:t>
                </a:r>
                <a:r>
                  <a:rPr kumimoji="1" lang="zh-CN" altLang="en-US" sz="2000" b="1" i="0" u="none" strike="noStrike" kern="0" cap="none" spc="0" normalizeH="0" baseline="0" noProof="0">
                    <a:ln>
                      <a:noFill/>
                    </a:ln>
                    <a:solidFill>
                      <a:srgbClr val="000000"/>
                    </a:solidFill>
                    <a:effectLst/>
                    <a:uLnTx/>
                    <a:uFillTx/>
                    <a:latin typeface="Times New Roman" pitchFamily="18" charset="0"/>
                  </a:rPr>
                  <a:t>层</a:t>
                </a:r>
              </a:p>
            </p:txBody>
          </p:sp>
        </p:grpSp>
        <p:grpSp>
          <p:nvGrpSpPr>
            <p:cNvPr id="96" name="Group 15"/>
            <p:cNvGrpSpPr>
              <a:grpSpLocks/>
            </p:cNvGrpSpPr>
            <p:nvPr/>
          </p:nvGrpSpPr>
          <p:grpSpPr bwMode="auto">
            <a:xfrm>
              <a:off x="1620" y="2844"/>
              <a:ext cx="2680" cy="1306"/>
              <a:chOff x="1728" y="2160"/>
              <a:chExt cx="2680" cy="1306"/>
            </a:xfrm>
          </p:grpSpPr>
          <p:sp>
            <p:nvSpPr>
              <p:cNvPr id="97" name="Line 16"/>
              <p:cNvSpPr>
                <a:spLocks noChangeShapeType="1"/>
              </p:cNvSpPr>
              <p:nvPr/>
            </p:nvSpPr>
            <p:spPr bwMode="auto">
              <a:xfrm>
                <a:off x="3126" y="2400"/>
                <a:ext cx="0" cy="96"/>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8" name="Line 17"/>
              <p:cNvSpPr>
                <a:spLocks noChangeShapeType="1"/>
              </p:cNvSpPr>
              <p:nvPr/>
            </p:nvSpPr>
            <p:spPr bwMode="auto">
              <a:xfrm flipH="1">
                <a:off x="2550" y="2304"/>
                <a:ext cx="432"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9" name="Line 18"/>
              <p:cNvSpPr>
                <a:spLocks noChangeShapeType="1"/>
              </p:cNvSpPr>
              <p:nvPr/>
            </p:nvSpPr>
            <p:spPr bwMode="auto">
              <a:xfrm flipH="1">
                <a:off x="2214"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0" name="Line 19"/>
              <p:cNvSpPr>
                <a:spLocks noChangeShapeType="1"/>
              </p:cNvSpPr>
              <p:nvPr/>
            </p:nvSpPr>
            <p:spPr bwMode="auto">
              <a:xfrm>
                <a:off x="2502"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1" name="Line 20"/>
              <p:cNvSpPr>
                <a:spLocks noChangeShapeType="1"/>
              </p:cNvSpPr>
              <p:nvPr/>
            </p:nvSpPr>
            <p:spPr bwMode="auto">
              <a:xfrm>
                <a:off x="3126"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2" name="Line 21"/>
              <p:cNvSpPr>
                <a:spLocks noChangeShapeType="1"/>
              </p:cNvSpPr>
              <p:nvPr/>
            </p:nvSpPr>
            <p:spPr bwMode="auto">
              <a:xfrm>
                <a:off x="3222" y="2304"/>
                <a:ext cx="528" cy="288"/>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3" name="Line 22"/>
              <p:cNvSpPr>
                <a:spLocks noChangeShapeType="1"/>
              </p:cNvSpPr>
              <p:nvPr/>
            </p:nvSpPr>
            <p:spPr bwMode="auto">
              <a:xfrm flipH="1">
                <a:off x="3606"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4" name="Line 23"/>
              <p:cNvSpPr>
                <a:spLocks noChangeShapeType="1"/>
              </p:cNvSpPr>
              <p:nvPr/>
            </p:nvSpPr>
            <p:spPr bwMode="auto">
              <a:xfrm>
                <a:off x="3894"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5" name="Line 24"/>
              <p:cNvSpPr>
                <a:spLocks noChangeShapeType="1"/>
              </p:cNvSpPr>
              <p:nvPr/>
            </p:nvSpPr>
            <p:spPr bwMode="auto">
              <a:xfrm>
                <a:off x="3990"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6" name="Line 25"/>
              <p:cNvSpPr>
                <a:spLocks noChangeShapeType="1"/>
              </p:cNvSpPr>
              <p:nvPr/>
            </p:nvSpPr>
            <p:spPr bwMode="auto">
              <a:xfrm flipH="1">
                <a:off x="192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7" name="Line 26"/>
              <p:cNvSpPr>
                <a:spLocks noChangeShapeType="1"/>
              </p:cNvSpPr>
              <p:nvPr/>
            </p:nvSpPr>
            <p:spPr bwMode="auto">
              <a:xfrm>
                <a:off x="225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8" name="Line 27"/>
              <p:cNvSpPr>
                <a:spLocks noChangeShapeType="1"/>
              </p:cNvSpPr>
              <p:nvPr/>
            </p:nvSpPr>
            <p:spPr bwMode="auto">
              <a:xfrm>
                <a:off x="3552" y="3094"/>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109" name="Group 28"/>
              <p:cNvGrpSpPr>
                <a:grpSpLocks/>
              </p:cNvGrpSpPr>
              <p:nvPr/>
            </p:nvGrpSpPr>
            <p:grpSpPr bwMode="auto">
              <a:xfrm>
                <a:off x="4088" y="2856"/>
                <a:ext cx="320" cy="250"/>
                <a:chOff x="2880" y="1104"/>
                <a:chExt cx="367" cy="343"/>
              </a:xfrm>
            </p:grpSpPr>
            <p:sp>
              <p:nvSpPr>
                <p:cNvPr id="226" name="Oval 2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27" name="Text Box 30"/>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J</a:t>
                  </a:r>
                </a:p>
              </p:txBody>
            </p:sp>
          </p:grpSp>
          <p:grpSp>
            <p:nvGrpSpPr>
              <p:cNvPr id="110" name="Group 31"/>
              <p:cNvGrpSpPr>
                <a:grpSpLocks/>
              </p:cNvGrpSpPr>
              <p:nvPr/>
            </p:nvGrpSpPr>
            <p:grpSpPr bwMode="auto">
              <a:xfrm>
                <a:off x="3750" y="2858"/>
                <a:ext cx="320" cy="250"/>
                <a:chOff x="2880" y="1104"/>
                <a:chExt cx="367" cy="343"/>
              </a:xfrm>
            </p:grpSpPr>
            <p:sp>
              <p:nvSpPr>
                <p:cNvPr id="224" name="Oval 3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25" name="Text Box 3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I</a:t>
                  </a:r>
                </a:p>
              </p:txBody>
            </p:sp>
          </p:grpSp>
          <p:grpSp>
            <p:nvGrpSpPr>
              <p:cNvPr id="111" name="Group 34"/>
              <p:cNvGrpSpPr>
                <a:grpSpLocks/>
              </p:cNvGrpSpPr>
              <p:nvPr/>
            </p:nvGrpSpPr>
            <p:grpSpPr bwMode="auto">
              <a:xfrm>
                <a:off x="2982" y="2160"/>
                <a:ext cx="320" cy="250"/>
                <a:chOff x="2880" y="1104"/>
                <a:chExt cx="367" cy="343"/>
              </a:xfrm>
            </p:grpSpPr>
            <p:sp>
              <p:nvSpPr>
                <p:cNvPr id="222" name="Oval 3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23" name="Text Box 36"/>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A</a:t>
                  </a:r>
                </a:p>
              </p:txBody>
            </p:sp>
          </p:grpSp>
          <p:grpSp>
            <p:nvGrpSpPr>
              <p:cNvPr id="112" name="Group 37"/>
              <p:cNvGrpSpPr>
                <a:grpSpLocks/>
              </p:cNvGrpSpPr>
              <p:nvPr/>
            </p:nvGrpSpPr>
            <p:grpSpPr bwMode="auto">
              <a:xfrm>
                <a:off x="2982" y="2497"/>
                <a:ext cx="320" cy="250"/>
                <a:chOff x="2880" y="1104"/>
                <a:chExt cx="367" cy="343"/>
              </a:xfrm>
            </p:grpSpPr>
            <p:sp>
              <p:nvSpPr>
                <p:cNvPr id="220" name="Oval 3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21" name="Text Box 3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C</a:t>
                  </a:r>
                </a:p>
              </p:txBody>
            </p:sp>
          </p:grpSp>
          <p:grpSp>
            <p:nvGrpSpPr>
              <p:cNvPr id="113" name="Group 40"/>
              <p:cNvGrpSpPr>
                <a:grpSpLocks/>
              </p:cNvGrpSpPr>
              <p:nvPr/>
            </p:nvGrpSpPr>
            <p:grpSpPr bwMode="auto">
              <a:xfrm>
                <a:off x="2304" y="2497"/>
                <a:ext cx="320" cy="250"/>
                <a:chOff x="2880" y="1104"/>
                <a:chExt cx="367" cy="343"/>
              </a:xfrm>
            </p:grpSpPr>
            <p:sp>
              <p:nvSpPr>
                <p:cNvPr id="218" name="Oval 4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19" name="Text Box 4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B</a:t>
                  </a:r>
                </a:p>
              </p:txBody>
            </p:sp>
          </p:grpSp>
          <p:grpSp>
            <p:nvGrpSpPr>
              <p:cNvPr id="114" name="Group 43"/>
              <p:cNvGrpSpPr>
                <a:grpSpLocks/>
              </p:cNvGrpSpPr>
              <p:nvPr/>
            </p:nvGrpSpPr>
            <p:grpSpPr bwMode="auto">
              <a:xfrm>
                <a:off x="3750" y="2497"/>
                <a:ext cx="320" cy="250"/>
                <a:chOff x="2880" y="1104"/>
                <a:chExt cx="367" cy="343"/>
              </a:xfrm>
            </p:grpSpPr>
            <p:sp>
              <p:nvSpPr>
                <p:cNvPr id="216" name="Oval 4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17" name="Text Box 4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D</a:t>
                  </a:r>
                </a:p>
              </p:txBody>
            </p:sp>
          </p:grpSp>
          <p:grpSp>
            <p:nvGrpSpPr>
              <p:cNvPr id="115" name="Group 46"/>
              <p:cNvGrpSpPr>
                <a:grpSpLocks/>
              </p:cNvGrpSpPr>
              <p:nvPr/>
            </p:nvGrpSpPr>
            <p:grpSpPr bwMode="auto">
              <a:xfrm>
                <a:off x="3408" y="2858"/>
                <a:ext cx="320" cy="250"/>
                <a:chOff x="2880" y="1104"/>
                <a:chExt cx="367" cy="343"/>
              </a:xfrm>
            </p:grpSpPr>
            <p:sp>
              <p:nvSpPr>
                <p:cNvPr id="214" name="Oval 4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15" name="Text Box 4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H</a:t>
                  </a:r>
                </a:p>
              </p:txBody>
            </p:sp>
          </p:grpSp>
          <p:grpSp>
            <p:nvGrpSpPr>
              <p:cNvPr id="116" name="Group 49"/>
              <p:cNvGrpSpPr>
                <a:grpSpLocks/>
              </p:cNvGrpSpPr>
              <p:nvPr/>
            </p:nvGrpSpPr>
            <p:grpSpPr bwMode="auto">
              <a:xfrm>
                <a:off x="2982" y="2858"/>
                <a:ext cx="320" cy="250"/>
                <a:chOff x="2880" y="1104"/>
                <a:chExt cx="367" cy="343"/>
              </a:xfrm>
            </p:grpSpPr>
            <p:sp>
              <p:nvSpPr>
                <p:cNvPr id="212" name="Oval 5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13" name="Text Box 5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G</a:t>
                  </a:r>
                </a:p>
              </p:txBody>
            </p:sp>
          </p:grpSp>
          <p:grpSp>
            <p:nvGrpSpPr>
              <p:cNvPr id="117" name="Group 52"/>
              <p:cNvGrpSpPr>
                <a:grpSpLocks/>
              </p:cNvGrpSpPr>
              <p:nvPr/>
            </p:nvGrpSpPr>
            <p:grpSpPr bwMode="auto">
              <a:xfrm>
                <a:off x="2502" y="2858"/>
                <a:ext cx="320" cy="250"/>
                <a:chOff x="2880" y="1104"/>
                <a:chExt cx="367" cy="343"/>
              </a:xfrm>
            </p:grpSpPr>
            <p:sp>
              <p:nvSpPr>
                <p:cNvPr id="210" name="Oval 5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11" name="Text Box 5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F</a:t>
                  </a:r>
                </a:p>
              </p:txBody>
            </p:sp>
          </p:grpSp>
          <p:grpSp>
            <p:nvGrpSpPr>
              <p:cNvPr id="118" name="Group 55"/>
              <p:cNvGrpSpPr>
                <a:grpSpLocks/>
              </p:cNvGrpSpPr>
              <p:nvPr/>
            </p:nvGrpSpPr>
            <p:grpSpPr bwMode="auto">
              <a:xfrm>
                <a:off x="2016" y="2858"/>
                <a:ext cx="320" cy="250"/>
                <a:chOff x="2880" y="1104"/>
                <a:chExt cx="367" cy="343"/>
              </a:xfrm>
            </p:grpSpPr>
            <p:sp>
              <p:nvSpPr>
                <p:cNvPr id="208" name="Oval 5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09" name="Text Box 5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E</a:t>
                  </a:r>
                </a:p>
              </p:txBody>
            </p:sp>
          </p:grpSp>
          <p:grpSp>
            <p:nvGrpSpPr>
              <p:cNvPr id="119" name="Group 58"/>
              <p:cNvGrpSpPr>
                <a:grpSpLocks/>
              </p:cNvGrpSpPr>
              <p:nvPr/>
            </p:nvGrpSpPr>
            <p:grpSpPr bwMode="auto">
              <a:xfrm>
                <a:off x="1728" y="3216"/>
                <a:ext cx="320" cy="250"/>
                <a:chOff x="2880" y="1104"/>
                <a:chExt cx="367" cy="343"/>
              </a:xfrm>
            </p:grpSpPr>
            <p:sp>
              <p:nvSpPr>
                <p:cNvPr id="206" name="Oval 5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07" name="Text Box 60"/>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K</a:t>
                  </a:r>
                </a:p>
              </p:txBody>
            </p:sp>
          </p:grpSp>
          <p:grpSp>
            <p:nvGrpSpPr>
              <p:cNvPr id="120" name="Group 61"/>
              <p:cNvGrpSpPr>
                <a:grpSpLocks/>
              </p:cNvGrpSpPr>
              <p:nvPr/>
            </p:nvGrpSpPr>
            <p:grpSpPr bwMode="auto">
              <a:xfrm>
                <a:off x="2256" y="3216"/>
                <a:ext cx="320" cy="250"/>
                <a:chOff x="2880" y="1104"/>
                <a:chExt cx="367" cy="343"/>
              </a:xfrm>
            </p:grpSpPr>
            <p:sp>
              <p:nvSpPr>
                <p:cNvPr id="204" name="Oval 6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05" name="Text Box 6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L</a:t>
                  </a:r>
                </a:p>
              </p:txBody>
            </p:sp>
          </p:grpSp>
          <p:grpSp>
            <p:nvGrpSpPr>
              <p:cNvPr id="121" name="Group 64"/>
              <p:cNvGrpSpPr>
                <a:grpSpLocks/>
              </p:cNvGrpSpPr>
              <p:nvPr/>
            </p:nvGrpSpPr>
            <p:grpSpPr bwMode="auto">
              <a:xfrm>
                <a:off x="3408" y="3216"/>
                <a:ext cx="320" cy="250"/>
                <a:chOff x="2880" y="1104"/>
                <a:chExt cx="367" cy="343"/>
              </a:xfrm>
            </p:grpSpPr>
            <p:sp>
              <p:nvSpPr>
                <p:cNvPr id="122" name="Oval 6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23" name="Text Box 66"/>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隶书" pitchFamily="49" charset="-122"/>
                      <a:ea typeface="隶书" pitchFamily="49" charset="-122"/>
                    </a:rPr>
                    <a:t>M</a:t>
                  </a:r>
                </a:p>
              </p:txBody>
            </p:sp>
          </p:grpSp>
        </p:grpSp>
      </p:grpSp>
    </p:spTree>
    <p:extLst>
      <p:ext uri="{BB962C8B-B14F-4D97-AF65-F5344CB8AC3E}">
        <p14:creationId xmlns:p14="http://schemas.microsoft.com/office/powerpoint/2010/main" val="3063242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5.1  </a:t>
            </a:r>
            <a:r>
              <a:rPr kumimoji="1" lang="zh-CN" altLang="en-US" sz="3200" b="1" dirty="0">
                <a:latin typeface="Arial" charset="0"/>
                <a:ea typeface="宋体" charset="-122"/>
                <a:cs typeface="+mn-cs"/>
              </a:rPr>
              <a:t>树的有关概念</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r>
              <a:rPr lang="zh-CN" altLang="en-US" sz="2800" b="1" dirty="0"/>
              <a:t>树的有关术语：</a:t>
            </a:r>
            <a:endParaRPr lang="en-US" altLang="zh-CN" sz="2800" b="1" dirty="0"/>
          </a:p>
        </p:txBody>
      </p:sp>
      <p:sp>
        <p:nvSpPr>
          <p:cNvPr id="4" name="日期占位符 3"/>
          <p:cNvSpPr>
            <a:spLocks noGrp="1"/>
          </p:cNvSpPr>
          <p:nvPr>
            <p:ph type="dt" sz="half" idx="10"/>
          </p:nvPr>
        </p:nvSpPr>
        <p:spPr/>
        <p:txBody>
          <a:bodyPr/>
          <a:lstStyle/>
          <a:p>
            <a:fld id="{E90954C7-CD78-4709-8CCA-1B9C9F698FD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23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76" name="Text Box 2"/>
          <p:cNvSpPr txBox="1">
            <a:spLocks noChangeArrowheads="1"/>
          </p:cNvSpPr>
          <p:nvPr/>
        </p:nvSpPr>
        <p:spPr bwMode="auto">
          <a:xfrm>
            <a:off x="457200" y="1662052"/>
            <a:ext cx="9361487" cy="1785104"/>
          </a:xfrm>
          <a:prstGeom prst="rect">
            <a:avLst/>
          </a:prstGeom>
          <a:noFill/>
          <a:ln w="12700" cap="rnd">
            <a:noFill/>
            <a:miter lim="800000"/>
            <a:headEnd/>
            <a:tailEnd/>
          </a:ln>
        </p:spPr>
        <p:txBody>
          <a:bodyPr>
            <a:spAutoFit/>
          </a:bodyPr>
          <a:lstStyle/>
          <a:p>
            <a:pPr marL="457200" indent="-457200" eaLnBrk="0" fontAlgn="base" hangingPunct="0">
              <a:spcBef>
                <a:spcPct val="50000"/>
              </a:spcBef>
              <a:spcAft>
                <a:spcPct val="0"/>
              </a:spcAft>
              <a:buFontTx/>
              <a:buBlip>
                <a:blip r:embed="rId4"/>
              </a:buBlip>
            </a:pPr>
            <a:r>
              <a:rPr kumimoji="1" lang="zh-CN" altLang="en-US" sz="2000" b="1" dirty="0">
                <a:solidFill>
                  <a:srgbClr val="FF3300"/>
                </a:solidFill>
                <a:latin typeface="Times New Roman" pitchFamily="18" charset="0"/>
              </a:rPr>
              <a:t>分枝结点：</a:t>
            </a:r>
            <a:r>
              <a:rPr kumimoji="1" lang="zh-CN" altLang="en-US" sz="2000" b="1" dirty="0">
                <a:solidFill>
                  <a:srgbClr val="0707F9"/>
                </a:solidFill>
                <a:latin typeface="Times New Roman" pitchFamily="18" charset="0"/>
              </a:rPr>
              <a:t>度不为</a:t>
            </a:r>
            <a:r>
              <a:rPr kumimoji="1" lang="en-US" altLang="zh-CN" sz="2000" b="1" dirty="0">
                <a:solidFill>
                  <a:srgbClr val="0707F9"/>
                </a:solidFill>
                <a:latin typeface="Times New Roman" pitchFamily="18" charset="0"/>
              </a:rPr>
              <a:t>0</a:t>
            </a:r>
            <a:r>
              <a:rPr kumimoji="1" lang="zh-CN" altLang="en-US" sz="2000" b="1" dirty="0">
                <a:solidFill>
                  <a:srgbClr val="0707F9"/>
                </a:solidFill>
                <a:latin typeface="Times New Roman" pitchFamily="18" charset="0"/>
              </a:rPr>
              <a:t>的结点；</a:t>
            </a:r>
          </a:p>
          <a:p>
            <a:pPr marL="457200" indent="-457200" eaLnBrk="0" fontAlgn="base" hangingPunct="0">
              <a:spcBef>
                <a:spcPct val="50000"/>
              </a:spcBef>
              <a:spcAft>
                <a:spcPct val="0"/>
              </a:spcAft>
              <a:buFontTx/>
              <a:buBlip>
                <a:blip r:embed="rId4"/>
              </a:buBlip>
            </a:pPr>
            <a:r>
              <a:rPr kumimoji="1" lang="zh-CN" altLang="en-US" sz="2000" b="1" dirty="0">
                <a:solidFill>
                  <a:srgbClr val="FF3300"/>
                </a:solidFill>
                <a:latin typeface="Times New Roman" pitchFamily="18" charset="0"/>
              </a:rPr>
              <a:t>有序树：</a:t>
            </a:r>
            <a:r>
              <a:rPr kumimoji="1" lang="zh-CN" altLang="en-US" sz="2000" b="1" dirty="0">
                <a:solidFill>
                  <a:srgbClr val="0707F9"/>
                </a:solidFill>
                <a:latin typeface="Times New Roman" pitchFamily="18" charset="0"/>
              </a:rPr>
              <a:t>子树有序的树，如：家族树；</a:t>
            </a:r>
          </a:p>
          <a:p>
            <a:pPr marL="457200" indent="-457200" eaLnBrk="0" fontAlgn="base" hangingPunct="0">
              <a:spcBef>
                <a:spcPct val="50000"/>
              </a:spcBef>
              <a:spcAft>
                <a:spcPct val="0"/>
              </a:spcAft>
              <a:buFontTx/>
              <a:buBlip>
                <a:blip r:embed="rId4"/>
              </a:buBlip>
            </a:pPr>
            <a:r>
              <a:rPr kumimoji="1" lang="zh-CN" altLang="en-US" sz="2000" b="1" dirty="0">
                <a:solidFill>
                  <a:srgbClr val="FF3300"/>
                </a:solidFill>
                <a:latin typeface="Times New Roman" pitchFamily="18" charset="0"/>
              </a:rPr>
              <a:t>无序树：</a:t>
            </a:r>
            <a:r>
              <a:rPr kumimoji="1" lang="zh-CN" altLang="en-US" sz="2000" b="1" dirty="0">
                <a:solidFill>
                  <a:srgbClr val="0707F9"/>
                </a:solidFill>
                <a:latin typeface="Times New Roman" pitchFamily="18" charset="0"/>
              </a:rPr>
              <a:t>不考虑子树的顺序；</a:t>
            </a:r>
          </a:p>
          <a:p>
            <a:pPr marL="457200" indent="-457200" eaLnBrk="0" fontAlgn="base" hangingPunct="0">
              <a:spcBef>
                <a:spcPct val="50000"/>
              </a:spcBef>
              <a:spcAft>
                <a:spcPct val="0"/>
              </a:spcAft>
              <a:buFontTx/>
              <a:buBlip>
                <a:blip r:embed="rId4"/>
              </a:buBlip>
            </a:pPr>
            <a:r>
              <a:rPr kumimoji="1" lang="zh-CN" altLang="en-US" sz="2000" b="1" dirty="0">
                <a:solidFill>
                  <a:srgbClr val="FF3300"/>
                </a:solidFill>
                <a:latin typeface="Times New Roman" pitchFamily="18" charset="0"/>
              </a:rPr>
              <a:t>森林：</a:t>
            </a:r>
            <a:r>
              <a:rPr kumimoji="1" lang="zh-CN" altLang="en-US" sz="2000" b="1" dirty="0">
                <a:solidFill>
                  <a:srgbClr val="0707F9"/>
                </a:solidFill>
                <a:latin typeface="Times New Roman" pitchFamily="18" charset="0"/>
              </a:rPr>
              <a:t>互不相交的树集合。</a:t>
            </a:r>
            <a:endParaRPr kumimoji="1" lang="zh-CN" altLang="en-US" dirty="0">
              <a:solidFill>
                <a:srgbClr val="0707F9"/>
              </a:solidFill>
              <a:latin typeface="Times New Roman" pitchFamily="18" charset="0"/>
            </a:endParaRPr>
          </a:p>
        </p:txBody>
      </p:sp>
      <p:grpSp>
        <p:nvGrpSpPr>
          <p:cNvPr id="77" name="Group 62"/>
          <p:cNvGrpSpPr>
            <a:grpSpLocks/>
          </p:cNvGrpSpPr>
          <p:nvPr/>
        </p:nvGrpSpPr>
        <p:grpSpPr bwMode="auto">
          <a:xfrm>
            <a:off x="4953000" y="1371600"/>
            <a:ext cx="4254500" cy="2065338"/>
            <a:chOff x="1728" y="2160"/>
            <a:chExt cx="2680" cy="1301"/>
          </a:xfrm>
        </p:grpSpPr>
        <p:sp>
          <p:nvSpPr>
            <p:cNvPr id="78" name="Line 63"/>
            <p:cNvSpPr>
              <a:spLocks noChangeShapeType="1"/>
            </p:cNvSpPr>
            <p:nvPr/>
          </p:nvSpPr>
          <p:spPr bwMode="auto">
            <a:xfrm>
              <a:off x="3126" y="2400"/>
              <a:ext cx="0" cy="96"/>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79" name="Line 64"/>
            <p:cNvSpPr>
              <a:spLocks noChangeShapeType="1"/>
            </p:cNvSpPr>
            <p:nvPr/>
          </p:nvSpPr>
          <p:spPr bwMode="auto">
            <a:xfrm flipH="1">
              <a:off x="2550" y="2304"/>
              <a:ext cx="432"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80" name="Line 65"/>
            <p:cNvSpPr>
              <a:spLocks noChangeShapeType="1"/>
            </p:cNvSpPr>
            <p:nvPr/>
          </p:nvSpPr>
          <p:spPr bwMode="auto">
            <a:xfrm flipH="1">
              <a:off x="2214"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81" name="Line 66"/>
            <p:cNvSpPr>
              <a:spLocks noChangeShapeType="1"/>
            </p:cNvSpPr>
            <p:nvPr/>
          </p:nvSpPr>
          <p:spPr bwMode="auto">
            <a:xfrm>
              <a:off x="2502"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82" name="Line 67"/>
            <p:cNvSpPr>
              <a:spLocks noChangeShapeType="1"/>
            </p:cNvSpPr>
            <p:nvPr/>
          </p:nvSpPr>
          <p:spPr bwMode="auto">
            <a:xfrm>
              <a:off x="3126"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83" name="Line 68"/>
            <p:cNvSpPr>
              <a:spLocks noChangeShapeType="1"/>
            </p:cNvSpPr>
            <p:nvPr/>
          </p:nvSpPr>
          <p:spPr bwMode="auto">
            <a:xfrm>
              <a:off x="3222" y="2304"/>
              <a:ext cx="528" cy="288"/>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84" name="Line 69"/>
            <p:cNvSpPr>
              <a:spLocks noChangeShapeType="1"/>
            </p:cNvSpPr>
            <p:nvPr/>
          </p:nvSpPr>
          <p:spPr bwMode="auto">
            <a:xfrm flipH="1">
              <a:off x="3606"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85" name="Line 70"/>
            <p:cNvSpPr>
              <a:spLocks noChangeShapeType="1"/>
            </p:cNvSpPr>
            <p:nvPr/>
          </p:nvSpPr>
          <p:spPr bwMode="auto">
            <a:xfrm>
              <a:off x="3894"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86" name="Line 71"/>
            <p:cNvSpPr>
              <a:spLocks noChangeShapeType="1"/>
            </p:cNvSpPr>
            <p:nvPr/>
          </p:nvSpPr>
          <p:spPr bwMode="auto">
            <a:xfrm>
              <a:off x="3990"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87" name="Line 72"/>
            <p:cNvSpPr>
              <a:spLocks noChangeShapeType="1"/>
            </p:cNvSpPr>
            <p:nvPr/>
          </p:nvSpPr>
          <p:spPr bwMode="auto">
            <a:xfrm flipH="1">
              <a:off x="192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88" name="Line 73"/>
            <p:cNvSpPr>
              <a:spLocks noChangeShapeType="1"/>
            </p:cNvSpPr>
            <p:nvPr/>
          </p:nvSpPr>
          <p:spPr bwMode="auto">
            <a:xfrm>
              <a:off x="225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89" name="Line 74"/>
            <p:cNvSpPr>
              <a:spLocks noChangeShapeType="1"/>
            </p:cNvSpPr>
            <p:nvPr/>
          </p:nvSpPr>
          <p:spPr bwMode="auto">
            <a:xfrm>
              <a:off x="3552" y="3094"/>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grpSp>
          <p:nvGrpSpPr>
            <p:cNvPr id="90" name="Group 75"/>
            <p:cNvGrpSpPr>
              <a:grpSpLocks/>
            </p:cNvGrpSpPr>
            <p:nvPr/>
          </p:nvGrpSpPr>
          <p:grpSpPr bwMode="auto">
            <a:xfrm>
              <a:off x="4088" y="2856"/>
              <a:ext cx="320" cy="245"/>
              <a:chOff x="2880" y="1104"/>
              <a:chExt cx="367" cy="336"/>
            </a:xfrm>
          </p:grpSpPr>
          <p:sp>
            <p:nvSpPr>
              <p:cNvPr id="159" name="Oval 7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60" name="Text Box 77"/>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J</a:t>
                </a:r>
              </a:p>
            </p:txBody>
          </p:sp>
        </p:grpSp>
        <p:grpSp>
          <p:nvGrpSpPr>
            <p:cNvPr id="91" name="Group 78"/>
            <p:cNvGrpSpPr>
              <a:grpSpLocks/>
            </p:cNvGrpSpPr>
            <p:nvPr/>
          </p:nvGrpSpPr>
          <p:grpSpPr bwMode="auto">
            <a:xfrm>
              <a:off x="3750" y="2858"/>
              <a:ext cx="320" cy="245"/>
              <a:chOff x="2880" y="1104"/>
              <a:chExt cx="367" cy="336"/>
            </a:xfrm>
          </p:grpSpPr>
          <p:sp>
            <p:nvSpPr>
              <p:cNvPr id="157" name="Oval 7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58" name="Text Box 80"/>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I</a:t>
                </a:r>
              </a:p>
            </p:txBody>
          </p:sp>
        </p:grpSp>
        <p:grpSp>
          <p:nvGrpSpPr>
            <p:cNvPr id="124" name="Group 81"/>
            <p:cNvGrpSpPr>
              <a:grpSpLocks/>
            </p:cNvGrpSpPr>
            <p:nvPr/>
          </p:nvGrpSpPr>
          <p:grpSpPr bwMode="auto">
            <a:xfrm>
              <a:off x="2982" y="2160"/>
              <a:ext cx="320" cy="245"/>
              <a:chOff x="2880" y="1104"/>
              <a:chExt cx="367" cy="336"/>
            </a:xfrm>
          </p:grpSpPr>
          <p:sp>
            <p:nvSpPr>
              <p:cNvPr id="155" name="Oval 8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56" name="Text Box 83"/>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A</a:t>
                </a:r>
              </a:p>
            </p:txBody>
          </p:sp>
        </p:grpSp>
        <p:grpSp>
          <p:nvGrpSpPr>
            <p:cNvPr id="125" name="Group 84"/>
            <p:cNvGrpSpPr>
              <a:grpSpLocks/>
            </p:cNvGrpSpPr>
            <p:nvPr/>
          </p:nvGrpSpPr>
          <p:grpSpPr bwMode="auto">
            <a:xfrm>
              <a:off x="2982" y="2497"/>
              <a:ext cx="320" cy="245"/>
              <a:chOff x="2880" y="1104"/>
              <a:chExt cx="367" cy="336"/>
            </a:xfrm>
          </p:grpSpPr>
          <p:sp>
            <p:nvSpPr>
              <p:cNvPr id="153" name="Oval 8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54" name="Text Box 86"/>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C</a:t>
                </a:r>
              </a:p>
            </p:txBody>
          </p:sp>
        </p:grpSp>
        <p:grpSp>
          <p:nvGrpSpPr>
            <p:cNvPr id="126" name="Group 87"/>
            <p:cNvGrpSpPr>
              <a:grpSpLocks/>
            </p:cNvGrpSpPr>
            <p:nvPr/>
          </p:nvGrpSpPr>
          <p:grpSpPr bwMode="auto">
            <a:xfrm>
              <a:off x="2304" y="2497"/>
              <a:ext cx="320" cy="245"/>
              <a:chOff x="2880" y="1104"/>
              <a:chExt cx="367" cy="336"/>
            </a:xfrm>
          </p:grpSpPr>
          <p:sp>
            <p:nvSpPr>
              <p:cNvPr id="151" name="Oval 8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52" name="Text Box 89"/>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B</a:t>
                </a:r>
              </a:p>
            </p:txBody>
          </p:sp>
        </p:grpSp>
        <p:grpSp>
          <p:nvGrpSpPr>
            <p:cNvPr id="127" name="Group 90"/>
            <p:cNvGrpSpPr>
              <a:grpSpLocks/>
            </p:cNvGrpSpPr>
            <p:nvPr/>
          </p:nvGrpSpPr>
          <p:grpSpPr bwMode="auto">
            <a:xfrm>
              <a:off x="3750" y="2497"/>
              <a:ext cx="320" cy="245"/>
              <a:chOff x="2880" y="1104"/>
              <a:chExt cx="367" cy="336"/>
            </a:xfrm>
          </p:grpSpPr>
          <p:sp>
            <p:nvSpPr>
              <p:cNvPr id="149" name="Oval 9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50" name="Text Box 92"/>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D</a:t>
                </a:r>
              </a:p>
            </p:txBody>
          </p:sp>
        </p:grpSp>
        <p:grpSp>
          <p:nvGrpSpPr>
            <p:cNvPr id="128" name="Group 93"/>
            <p:cNvGrpSpPr>
              <a:grpSpLocks/>
            </p:cNvGrpSpPr>
            <p:nvPr/>
          </p:nvGrpSpPr>
          <p:grpSpPr bwMode="auto">
            <a:xfrm>
              <a:off x="3408" y="2858"/>
              <a:ext cx="320" cy="245"/>
              <a:chOff x="2880" y="1104"/>
              <a:chExt cx="367" cy="336"/>
            </a:xfrm>
          </p:grpSpPr>
          <p:sp>
            <p:nvSpPr>
              <p:cNvPr id="147" name="Oval 9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48" name="Text Box 95"/>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H</a:t>
                </a:r>
              </a:p>
            </p:txBody>
          </p:sp>
        </p:grpSp>
        <p:grpSp>
          <p:nvGrpSpPr>
            <p:cNvPr id="129" name="Group 96"/>
            <p:cNvGrpSpPr>
              <a:grpSpLocks/>
            </p:cNvGrpSpPr>
            <p:nvPr/>
          </p:nvGrpSpPr>
          <p:grpSpPr bwMode="auto">
            <a:xfrm>
              <a:off x="2982" y="2858"/>
              <a:ext cx="320" cy="245"/>
              <a:chOff x="2880" y="1104"/>
              <a:chExt cx="367" cy="336"/>
            </a:xfrm>
          </p:grpSpPr>
          <p:sp>
            <p:nvSpPr>
              <p:cNvPr id="145" name="Oval 9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46" name="Text Box 98"/>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G</a:t>
                </a:r>
              </a:p>
            </p:txBody>
          </p:sp>
        </p:grpSp>
        <p:grpSp>
          <p:nvGrpSpPr>
            <p:cNvPr id="130" name="Group 99"/>
            <p:cNvGrpSpPr>
              <a:grpSpLocks/>
            </p:cNvGrpSpPr>
            <p:nvPr/>
          </p:nvGrpSpPr>
          <p:grpSpPr bwMode="auto">
            <a:xfrm>
              <a:off x="2502" y="2858"/>
              <a:ext cx="320" cy="245"/>
              <a:chOff x="2880" y="1104"/>
              <a:chExt cx="367" cy="336"/>
            </a:xfrm>
          </p:grpSpPr>
          <p:sp>
            <p:nvSpPr>
              <p:cNvPr id="143" name="Oval 10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44" name="Text Box 101"/>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F</a:t>
                </a:r>
              </a:p>
            </p:txBody>
          </p:sp>
        </p:grpSp>
        <p:grpSp>
          <p:nvGrpSpPr>
            <p:cNvPr id="131" name="Group 102"/>
            <p:cNvGrpSpPr>
              <a:grpSpLocks/>
            </p:cNvGrpSpPr>
            <p:nvPr/>
          </p:nvGrpSpPr>
          <p:grpSpPr bwMode="auto">
            <a:xfrm>
              <a:off x="2016" y="2858"/>
              <a:ext cx="320" cy="245"/>
              <a:chOff x="2880" y="1104"/>
              <a:chExt cx="367" cy="336"/>
            </a:xfrm>
          </p:grpSpPr>
          <p:sp>
            <p:nvSpPr>
              <p:cNvPr id="141" name="Oval 10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42" name="Text Box 104"/>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E</a:t>
                </a:r>
              </a:p>
            </p:txBody>
          </p:sp>
        </p:grpSp>
        <p:grpSp>
          <p:nvGrpSpPr>
            <p:cNvPr id="132" name="Group 105"/>
            <p:cNvGrpSpPr>
              <a:grpSpLocks/>
            </p:cNvGrpSpPr>
            <p:nvPr/>
          </p:nvGrpSpPr>
          <p:grpSpPr bwMode="auto">
            <a:xfrm>
              <a:off x="1728" y="3216"/>
              <a:ext cx="320" cy="245"/>
              <a:chOff x="2880" y="1104"/>
              <a:chExt cx="367" cy="336"/>
            </a:xfrm>
          </p:grpSpPr>
          <p:sp>
            <p:nvSpPr>
              <p:cNvPr id="139" name="Oval 10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40" name="Text Box 107"/>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K</a:t>
                </a:r>
              </a:p>
            </p:txBody>
          </p:sp>
        </p:grpSp>
        <p:grpSp>
          <p:nvGrpSpPr>
            <p:cNvPr id="133" name="Group 108"/>
            <p:cNvGrpSpPr>
              <a:grpSpLocks/>
            </p:cNvGrpSpPr>
            <p:nvPr/>
          </p:nvGrpSpPr>
          <p:grpSpPr bwMode="auto">
            <a:xfrm>
              <a:off x="2256" y="3216"/>
              <a:ext cx="320" cy="245"/>
              <a:chOff x="2880" y="1104"/>
              <a:chExt cx="367" cy="336"/>
            </a:xfrm>
          </p:grpSpPr>
          <p:sp>
            <p:nvSpPr>
              <p:cNvPr id="137" name="Oval 10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38" name="Text Box 110"/>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L</a:t>
                </a:r>
              </a:p>
            </p:txBody>
          </p:sp>
        </p:grpSp>
        <p:grpSp>
          <p:nvGrpSpPr>
            <p:cNvPr id="134" name="Group 111"/>
            <p:cNvGrpSpPr>
              <a:grpSpLocks/>
            </p:cNvGrpSpPr>
            <p:nvPr/>
          </p:nvGrpSpPr>
          <p:grpSpPr bwMode="auto">
            <a:xfrm>
              <a:off x="3408" y="3216"/>
              <a:ext cx="320" cy="245"/>
              <a:chOff x="2880" y="1104"/>
              <a:chExt cx="367" cy="336"/>
            </a:xfrm>
          </p:grpSpPr>
          <p:sp>
            <p:nvSpPr>
              <p:cNvPr id="135" name="Oval 11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36" name="Text Box 113"/>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M</a:t>
                </a:r>
              </a:p>
            </p:txBody>
          </p:sp>
        </p:grpSp>
      </p:grpSp>
      <p:sp>
        <p:nvSpPr>
          <p:cNvPr id="161" name="TextBox 110"/>
          <p:cNvSpPr txBox="1">
            <a:spLocks noChangeArrowheads="1"/>
          </p:cNvSpPr>
          <p:nvPr/>
        </p:nvSpPr>
        <p:spPr bwMode="auto">
          <a:xfrm>
            <a:off x="6778625" y="3729037"/>
            <a:ext cx="571500" cy="400110"/>
          </a:xfrm>
          <a:prstGeom prst="rect">
            <a:avLst/>
          </a:prstGeom>
          <a:noFill/>
          <a:ln w="9525">
            <a:noFill/>
            <a:miter lim="800000"/>
            <a:headEnd/>
            <a:tailEnd/>
          </a:ln>
        </p:spPr>
        <p:txBody>
          <a:bodyPr>
            <a:spAutoFit/>
          </a:bodyPr>
          <a:lstStyle/>
          <a:p>
            <a:pPr algn="ctr" eaLnBrk="0" fontAlgn="base" hangingPunct="0">
              <a:spcBef>
                <a:spcPct val="0"/>
              </a:spcBef>
              <a:spcAft>
                <a:spcPct val="0"/>
              </a:spcAft>
            </a:pPr>
            <a:r>
              <a:rPr kumimoji="1" lang="zh-CN" altLang="en-US" sz="2000" b="1">
                <a:solidFill>
                  <a:srgbClr val="000000"/>
                </a:solidFill>
                <a:latin typeface="Times New Roman" pitchFamily="18" charset="0"/>
              </a:rPr>
              <a:t>树</a:t>
            </a:r>
          </a:p>
        </p:txBody>
      </p:sp>
      <p:sp>
        <p:nvSpPr>
          <p:cNvPr id="162" name="Text Box 2"/>
          <p:cNvSpPr txBox="1">
            <a:spLocks noChangeArrowheads="1"/>
          </p:cNvSpPr>
          <p:nvPr/>
        </p:nvSpPr>
        <p:spPr bwMode="auto">
          <a:xfrm>
            <a:off x="463550" y="3702050"/>
            <a:ext cx="6394450" cy="1787477"/>
          </a:xfrm>
          <a:prstGeom prst="rect">
            <a:avLst/>
          </a:prstGeom>
          <a:noFill/>
          <a:ln w="12700" cap="rnd">
            <a:noFill/>
            <a:miter lim="800000"/>
            <a:headEnd/>
            <a:tailEnd/>
          </a:ln>
        </p:spPr>
        <p:txBody>
          <a:bodyPr>
            <a:spAutoFit/>
          </a:bodyPr>
          <a:lstStyle/>
          <a:p>
            <a:pPr marL="457200" indent="-457200" eaLnBrk="0" fontAlgn="base" hangingPunct="0">
              <a:lnSpc>
                <a:spcPct val="115000"/>
              </a:lnSpc>
              <a:spcBef>
                <a:spcPct val="50000"/>
              </a:spcBef>
              <a:spcAft>
                <a:spcPct val="0"/>
              </a:spcAft>
              <a:buFont typeface="Wingdings" panose="05000000000000000000" pitchFamily="2" charset="2"/>
              <a:buChar char="l"/>
            </a:pPr>
            <a:r>
              <a:rPr kumimoji="1" lang="zh-CN" altLang="en-US" sz="2000" b="1" dirty="0">
                <a:solidFill>
                  <a:srgbClr val="FF3300"/>
                </a:solidFill>
                <a:latin typeface="Times New Roman" pitchFamily="18" charset="0"/>
              </a:rPr>
              <a:t>树和森林的关系：</a:t>
            </a:r>
            <a:endParaRPr kumimoji="1" lang="en-US" altLang="zh-CN" sz="2000" b="1" dirty="0">
              <a:solidFill>
                <a:srgbClr val="FF3300"/>
              </a:solidFill>
              <a:latin typeface="Times New Roman" pitchFamily="18" charset="0"/>
            </a:endParaRPr>
          </a:p>
          <a:p>
            <a:pPr marL="457200" indent="-457200" eaLnBrk="0" fontAlgn="base" hangingPunct="0">
              <a:lnSpc>
                <a:spcPct val="115000"/>
              </a:lnSpc>
              <a:spcBef>
                <a:spcPct val="50000"/>
              </a:spcBef>
              <a:spcAft>
                <a:spcPct val="0"/>
              </a:spcAft>
            </a:pPr>
            <a:r>
              <a:rPr kumimoji="1" lang="zh-CN" altLang="en-US" sz="2000" b="1" dirty="0">
                <a:solidFill>
                  <a:srgbClr val="0707F9"/>
                </a:solidFill>
                <a:latin typeface="Times New Roman" pitchFamily="18" charset="0"/>
              </a:rPr>
              <a:t>（</a:t>
            </a:r>
            <a:r>
              <a:rPr kumimoji="1" lang="en-US" altLang="zh-CN" sz="2000" b="1" dirty="0">
                <a:solidFill>
                  <a:srgbClr val="0707F9"/>
                </a:solidFill>
                <a:latin typeface="Times New Roman" pitchFamily="18" charset="0"/>
              </a:rPr>
              <a:t>1</a:t>
            </a:r>
            <a:r>
              <a:rPr kumimoji="1" lang="zh-CN" altLang="en-US" sz="2000" b="1" dirty="0">
                <a:solidFill>
                  <a:srgbClr val="0707F9"/>
                </a:solidFill>
                <a:latin typeface="Times New Roman" pitchFamily="18" charset="0"/>
              </a:rPr>
              <a:t>）一棵树去掉根  ，其子树构成一个森林；</a:t>
            </a:r>
            <a:endParaRPr kumimoji="1" lang="en-US" altLang="zh-CN" sz="2000" b="1" dirty="0">
              <a:solidFill>
                <a:srgbClr val="0707F9"/>
              </a:solidFill>
              <a:latin typeface="Times New Roman" pitchFamily="18" charset="0"/>
            </a:endParaRPr>
          </a:p>
          <a:p>
            <a:pPr marL="457200" indent="-457200" eaLnBrk="0" fontAlgn="base" hangingPunct="0">
              <a:lnSpc>
                <a:spcPct val="115000"/>
              </a:lnSpc>
              <a:spcBef>
                <a:spcPct val="50000"/>
              </a:spcBef>
              <a:spcAft>
                <a:spcPct val="0"/>
              </a:spcAft>
            </a:pPr>
            <a:r>
              <a:rPr kumimoji="1" lang="zh-CN" altLang="en-US" sz="2000" b="1" dirty="0">
                <a:solidFill>
                  <a:srgbClr val="0707F9"/>
                </a:solidFill>
                <a:latin typeface="Times New Roman" pitchFamily="18" charset="0"/>
              </a:rPr>
              <a:t>（</a:t>
            </a:r>
            <a:r>
              <a:rPr kumimoji="1" lang="en-US" altLang="zh-CN" sz="2000" b="1" dirty="0">
                <a:solidFill>
                  <a:srgbClr val="0707F9"/>
                </a:solidFill>
                <a:latin typeface="Times New Roman" pitchFamily="18" charset="0"/>
              </a:rPr>
              <a:t>2</a:t>
            </a:r>
            <a:r>
              <a:rPr kumimoji="1" lang="zh-CN" altLang="en-US" sz="2000" b="1" dirty="0">
                <a:solidFill>
                  <a:srgbClr val="0707F9"/>
                </a:solidFill>
                <a:latin typeface="Times New Roman" pitchFamily="18" charset="0"/>
              </a:rPr>
              <a:t>）一个森林增加一个根结点成为树。</a:t>
            </a:r>
            <a:br>
              <a:rPr kumimoji="1" lang="zh-CN" altLang="en-US" dirty="0">
                <a:solidFill>
                  <a:srgbClr val="0707F9"/>
                </a:solidFill>
                <a:latin typeface="Times New Roman" pitchFamily="18" charset="0"/>
              </a:rPr>
            </a:br>
            <a:endParaRPr kumimoji="1" lang="zh-CN" altLang="en-US" dirty="0">
              <a:solidFill>
                <a:srgbClr val="0707F9"/>
              </a:solidFill>
              <a:latin typeface="Times New Roman" pitchFamily="18" charset="0"/>
            </a:endParaRPr>
          </a:p>
        </p:txBody>
      </p:sp>
      <p:grpSp>
        <p:nvGrpSpPr>
          <p:cNvPr id="163" name="Group 62"/>
          <p:cNvGrpSpPr>
            <a:grpSpLocks/>
          </p:cNvGrpSpPr>
          <p:nvPr/>
        </p:nvGrpSpPr>
        <p:grpSpPr bwMode="auto">
          <a:xfrm>
            <a:off x="4953000" y="4495801"/>
            <a:ext cx="4254500" cy="1530350"/>
            <a:chOff x="1728" y="2497"/>
            <a:chExt cx="2680" cy="964"/>
          </a:xfrm>
        </p:grpSpPr>
        <p:sp>
          <p:nvSpPr>
            <p:cNvPr id="164" name="Line 65"/>
            <p:cNvSpPr>
              <a:spLocks noChangeShapeType="1"/>
            </p:cNvSpPr>
            <p:nvPr/>
          </p:nvSpPr>
          <p:spPr bwMode="auto">
            <a:xfrm flipH="1">
              <a:off x="2214"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65" name="Line 66"/>
            <p:cNvSpPr>
              <a:spLocks noChangeShapeType="1"/>
            </p:cNvSpPr>
            <p:nvPr/>
          </p:nvSpPr>
          <p:spPr bwMode="auto">
            <a:xfrm>
              <a:off x="2502" y="2688"/>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66" name="Line 67"/>
            <p:cNvSpPr>
              <a:spLocks noChangeShapeType="1"/>
            </p:cNvSpPr>
            <p:nvPr/>
          </p:nvSpPr>
          <p:spPr bwMode="auto">
            <a:xfrm>
              <a:off x="3126"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67" name="Line 69"/>
            <p:cNvSpPr>
              <a:spLocks noChangeShapeType="1"/>
            </p:cNvSpPr>
            <p:nvPr/>
          </p:nvSpPr>
          <p:spPr bwMode="auto">
            <a:xfrm flipH="1">
              <a:off x="3606"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68" name="Line 70"/>
            <p:cNvSpPr>
              <a:spLocks noChangeShapeType="1"/>
            </p:cNvSpPr>
            <p:nvPr/>
          </p:nvSpPr>
          <p:spPr bwMode="auto">
            <a:xfrm>
              <a:off x="3894" y="2736"/>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69" name="Line 71"/>
            <p:cNvSpPr>
              <a:spLocks noChangeShapeType="1"/>
            </p:cNvSpPr>
            <p:nvPr/>
          </p:nvSpPr>
          <p:spPr bwMode="auto">
            <a:xfrm>
              <a:off x="3990" y="2688"/>
              <a:ext cx="192"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70" name="Line 72"/>
            <p:cNvSpPr>
              <a:spLocks noChangeShapeType="1"/>
            </p:cNvSpPr>
            <p:nvPr/>
          </p:nvSpPr>
          <p:spPr bwMode="auto">
            <a:xfrm flipH="1">
              <a:off x="192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71" name="Line 73"/>
            <p:cNvSpPr>
              <a:spLocks noChangeShapeType="1"/>
            </p:cNvSpPr>
            <p:nvPr/>
          </p:nvSpPr>
          <p:spPr bwMode="auto">
            <a:xfrm>
              <a:off x="2256" y="3046"/>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72" name="Line 74"/>
            <p:cNvSpPr>
              <a:spLocks noChangeShapeType="1"/>
            </p:cNvSpPr>
            <p:nvPr/>
          </p:nvSpPr>
          <p:spPr bwMode="auto">
            <a:xfrm>
              <a:off x="3552" y="3094"/>
              <a:ext cx="0"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grpSp>
          <p:nvGrpSpPr>
            <p:cNvPr id="173" name="Group 75"/>
            <p:cNvGrpSpPr>
              <a:grpSpLocks/>
            </p:cNvGrpSpPr>
            <p:nvPr/>
          </p:nvGrpSpPr>
          <p:grpSpPr bwMode="auto">
            <a:xfrm>
              <a:off x="4088" y="2856"/>
              <a:ext cx="320" cy="245"/>
              <a:chOff x="2880" y="1104"/>
              <a:chExt cx="367" cy="336"/>
            </a:xfrm>
          </p:grpSpPr>
          <p:sp>
            <p:nvSpPr>
              <p:cNvPr id="239" name="Oval 7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40" name="Text Box 77"/>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J</a:t>
                </a:r>
              </a:p>
            </p:txBody>
          </p:sp>
        </p:grpSp>
        <p:grpSp>
          <p:nvGrpSpPr>
            <p:cNvPr id="174" name="Group 78"/>
            <p:cNvGrpSpPr>
              <a:grpSpLocks/>
            </p:cNvGrpSpPr>
            <p:nvPr/>
          </p:nvGrpSpPr>
          <p:grpSpPr bwMode="auto">
            <a:xfrm>
              <a:off x="3750" y="2858"/>
              <a:ext cx="320" cy="245"/>
              <a:chOff x="2880" y="1104"/>
              <a:chExt cx="367" cy="336"/>
            </a:xfrm>
          </p:grpSpPr>
          <p:sp>
            <p:nvSpPr>
              <p:cNvPr id="237" name="Oval 7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38" name="Text Box 80"/>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I</a:t>
                </a:r>
              </a:p>
            </p:txBody>
          </p:sp>
        </p:grpSp>
        <p:grpSp>
          <p:nvGrpSpPr>
            <p:cNvPr id="175" name="Group 84"/>
            <p:cNvGrpSpPr>
              <a:grpSpLocks/>
            </p:cNvGrpSpPr>
            <p:nvPr/>
          </p:nvGrpSpPr>
          <p:grpSpPr bwMode="auto">
            <a:xfrm>
              <a:off x="2982" y="2497"/>
              <a:ext cx="320" cy="245"/>
              <a:chOff x="2880" y="1104"/>
              <a:chExt cx="367" cy="336"/>
            </a:xfrm>
          </p:grpSpPr>
          <p:sp>
            <p:nvSpPr>
              <p:cNvPr id="203" name="Oval 8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36" name="Text Box 86"/>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C</a:t>
                </a:r>
              </a:p>
            </p:txBody>
          </p:sp>
        </p:grpSp>
        <p:grpSp>
          <p:nvGrpSpPr>
            <p:cNvPr id="176" name="Group 87"/>
            <p:cNvGrpSpPr>
              <a:grpSpLocks/>
            </p:cNvGrpSpPr>
            <p:nvPr/>
          </p:nvGrpSpPr>
          <p:grpSpPr bwMode="auto">
            <a:xfrm>
              <a:off x="2304" y="2497"/>
              <a:ext cx="320" cy="245"/>
              <a:chOff x="2880" y="1104"/>
              <a:chExt cx="367" cy="336"/>
            </a:xfrm>
          </p:grpSpPr>
          <p:sp>
            <p:nvSpPr>
              <p:cNvPr id="201" name="Oval 8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02" name="Text Box 89"/>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B</a:t>
                </a:r>
              </a:p>
            </p:txBody>
          </p:sp>
        </p:grpSp>
        <p:grpSp>
          <p:nvGrpSpPr>
            <p:cNvPr id="177" name="Group 90"/>
            <p:cNvGrpSpPr>
              <a:grpSpLocks/>
            </p:cNvGrpSpPr>
            <p:nvPr/>
          </p:nvGrpSpPr>
          <p:grpSpPr bwMode="auto">
            <a:xfrm>
              <a:off x="3750" y="2497"/>
              <a:ext cx="320" cy="245"/>
              <a:chOff x="2880" y="1104"/>
              <a:chExt cx="367" cy="336"/>
            </a:xfrm>
          </p:grpSpPr>
          <p:sp>
            <p:nvSpPr>
              <p:cNvPr id="199" name="Oval 9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200" name="Text Box 92"/>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D</a:t>
                </a:r>
              </a:p>
            </p:txBody>
          </p:sp>
        </p:grpSp>
        <p:grpSp>
          <p:nvGrpSpPr>
            <p:cNvPr id="178" name="Group 93"/>
            <p:cNvGrpSpPr>
              <a:grpSpLocks/>
            </p:cNvGrpSpPr>
            <p:nvPr/>
          </p:nvGrpSpPr>
          <p:grpSpPr bwMode="auto">
            <a:xfrm>
              <a:off x="3408" y="2858"/>
              <a:ext cx="320" cy="245"/>
              <a:chOff x="2880" y="1104"/>
              <a:chExt cx="367" cy="336"/>
            </a:xfrm>
          </p:grpSpPr>
          <p:sp>
            <p:nvSpPr>
              <p:cNvPr id="197" name="Oval 9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98" name="Text Box 95"/>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H</a:t>
                </a:r>
              </a:p>
            </p:txBody>
          </p:sp>
        </p:grpSp>
        <p:grpSp>
          <p:nvGrpSpPr>
            <p:cNvPr id="179" name="Group 96"/>
            <p:cNvGrpSpPr>
              <a:grpSpLocks/>
            </p:cNvGrpSpPr>
            <p:nvPr/>
          </p:nvGrpSpPr>
          <p:grpSpPr bwMode="auto">
            <a:xfrm>
              <a:off x="2982" y="2858"/>
              <a:ext cx="320" cy="245"/>
              <a:chOff x="2880" y="1104"/>
              <a:chExt cx="367" cy="336"/>
            </a:xfrm>
          </p:grpSpPr>
          <p:sp>
            <p:nvSpPr>
              <p:cNvPr id="195" name="Oval 9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96" name="Text Box 98"/>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G</a:t>
                </a:r>
              </a:p>
            </p:txBody>
          </p:sp>
        </p:grpSp>
        <p:grpSp>
          <p:nvGrpSpPr>
            <p:cNvPr id="180" name="Group 99"/>
            <p:cNvGrpSpPr>
              <a:grpSpLocks/>
            </p:cNvGrpSpPr>
            <p:nvPr/>
          </p:nvGrpSpPr>
          <p:grpSpPr bwMode="auto">
            <a:xfrm>
              <a:off x="2502" y="2858"/>
              <a:ext cx="320" cy="245"/>
              <a:chOff x="2880" y="1104"/>
              <a:chExt cx="367" cy="336"/>
            </a:xfrm>
          </p:grpSpPr>
          <p:sp>
            <p:nvSpPr>
              <p:cNvPr id="193" name="Oval 10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94" name="Text Box 101"/>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F</a:t>
                </a:r>
              </a:p>
            </p:txBody>
          </p:sp>
        </p:grpSp>
        <p:grpSp>
          <p:nvGrpSpPr>
            <p:cNvPr id="181" name="Group 102"/>
            <p:cNvGrpSpPr>
              <a:grpSpLocks/>
            </p:cNvGrpSpPr>
            <p:nvPr/>
          </p:nvGrpSpPr>
          <p:grpSpPr bwMode="auto">
            <a:xfrm>
              <a:off x="2016" y="2858"/>
              <a:ext cx="320" cy="245"/>
              <a:chOff x="2880" y="1104"/>
              <a:chExt cx="367" cy="336"/>
            </a:xfrm>
          </p:grpSpPr>
          <p:sp>
            <p:nvSpPr>
              <p:cNvPr id="191" name="Oval 10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92" name="Text Box 104"/>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E</a:t>
                </a:r>
              </a:p>
            </p:txBody>
          </p:sp>
        </p:grpSp>
        <p:grpSp>
          <p:nvGrpSpPr>
            <p:cNvPr id="182" name="Group 105"/>
            <p:cNvGrpSpPr>
              <a:grpSpLocks/>
            </p:cNvGrpSpPr>
            <p:nvPr/>
          </p:nvGrpSpPr>
          <p:grpSpPr bwMode="auto">
            <a:xfrm>
              <a:off x="1728" y="3216"/>
              <a:ext cx="320" cy="245"/>
              <a:chOff x="2880" y="1104"/>
              <a:chExt cx="367" cy="336"/>
            </a:xfrm>
          </p:grpSpPr>
          <p:sp>
            <p:nvSpPr>
              <p:cNvPr id="189" name="Oval 10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90" name="Text Box 107"/>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K</a:t>
                </a:r>
              </a:p>
            </p:txBody>
          </p:sp>
        </p:grpSp>
        <p:grpSp>
          <p:nvGrpSpPr>
            <p:cNvPr id="183" name="Group 108"/>
            <p:cNvGrpSpPr>
              <a:grpSpLocks/>
            </p:cNvGrpSpPr>
            <p:nvPr/>
          </p:nvGrpSpPr>
          <p:grpSpPr bwMode="auto">
            <a:xfrm>
              <a:off x="2256" y="3216"/>
              <a:ext cx="320" cy="245"/>
              <a:chOff x="2880" y="1104"/>
              <a:chExt cx="367" cy="336"/>
            </a:xfrm>
          </p:grpSpPr>
          <p:sp>
            <p:nvSpPr>
              <p:cNvPr id="187" name="Oval 10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88" name="Text Box 110"/>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L</a:t>
                </a:r>
              </a:p>
            </p:txBody>
          </p:sp>
        </p:grpSp>
        <p:grpSp>
          <p:nvGrpSpPr>
            <p:cNvPr id="184" name="Group 111"/>
            <p:cNvGrpSpPr>
              <a:grpSpLocks/>
            </p:cNvGrpSpPr>
            <p:nvPr/>
          </p:nvGrpSpPr>
          <p:grpSpPr bwMode="auto">
            <a:xfrm>
              <a:off x="3408" y="3216"/>
              <a:ext cx="320" cy="245"/>
              <a:chOff x="2880" y="1104"/>
              <a:chExt cx="367" cy="336"/>
            </a:xfrm>
          </p:grpSpPr>
          <p:sp>
            <p:nvSpPr>
              <p:cNvPr id="185" name="Oval 11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b="1" i="0" u="none" strike="noStrike" kern="0" cap="none" spc="0" normalizeH="0" baseline="0" noProof="0">
                  <a:ln>
                    <a:noFill/>
                  </a:ln>
                  <a:solidFill>
                    <a:srgbClr val="0707F9"/>
                  </a:solidFill>
                  <a:effectLst/>
                  <a:uLnTx/>
                  <a:uFillTx/>
                  <a:latin typeface="隶书" pitchFamily="49" charset="-122"/>
                  <a:ea typeface="隶书" pitchFamily="49" charset="-122"/>
                </a:endParaRPr>
              </a:p>
            </p:txBody>
          </p:sp>
          <p:sp>
            <p:nvSpPr>
              <p:cNvPr id="186" name="Text Box 113"/>
              <p:cNvSpPr txBox="1">
                <a:spLocks noChangeArrowheads="1"/>
              </p:cNvSpPr>
              <p:nvPr/>
            </p:nvSpPr>
            <p:spPr bwMode="auto">
              <a:xfrm>
                <a:off x="2928" y="1104"/>
                <a:ext cx="319" cy="3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b="1" i="0" u="none" strike="noStrike" kern="0" cap="none" spc="0" normalizeH="0" baseline="0" noProof="0">
                    <a:ln>
                      <a:noFill/>
                    </a:ln>
                    <a:solidFill>
                      <a:srgbClr val="0707F9"/>
                    </a:solidFill>
                    <a:effectLst/>
                    <a:uLnTx/>
                    <a:uFillTx/>
                    <a:latin typeface="隶书" pitchFamily="49" charset="-122"/>
                    <a:ea typeface="隶书" pitchFamily="49" charset="-122"/>
                  </a:rPr>
                  <a:t>M</a:t>
                </a:r>
              </a:p>
            </p:txBody>
          </p:sp>
        </p:grpSp>
      </p:grpSp>
      <p:sp>
        <p:nvSpPr>
          <p:cNvPr id="241" name="TextBox 240"/>
          <p:cNvSpPr txBox="1">
            <a:spLocks noChangeArrowheads="1"/>
          </p:cNvSpPr>
          <p:nvPr/>
        </p:nvSpPr>
        <p:spPr bwMode="auto">
          <a:xfrm>
            <a:off x="6524625" y="5891212"/>
            <a:ext cx="1276350" cy="400110"/>
          </a:xfrm>
          <a:prstGeom prst="rect">
            <a:avLst/>
          </a:prstGeom>
          <a:noFill/>
          <a:ln w="9525">
            <a:noFill/>
            <a:miter lim="800000"/>
            <a:headEnd/>
            <a:tailEnd/>
          </a:ln>
        </p:spPr>
        <p:txBody>
          <a:bodyPr>
            <a:spAutoFit/>
          </a:bodyPr>
          <a:lstStyle/>
          <a:p>
            <a:pPr algn="ctr" eaLnBrk="0" fontAlgn="base" hangingPunct="0">
              <a:spcBef>
                <a:spcPct val="0"/>
              </a:spcBef>
              <a:spcAft>
                <a:spcPct val="0"/>
              </a:spcAft>
            </a:pPr>
            <a:r>
              <a:rPr kumimoji="1" lang="zh-CN" altLang="en-US" sz="2000" b="1">
                <a:solidFill>
                  <a:srgbClr val="000000"/>
                </a:solidFill>
                <a:latin typeface="Times New Roman" pitchFamily="18" charset="0"/>
              </a:rPr>
              <a:t>森林</a:t>
            </a:r>
          </a:p>
        </p:txBody>
      </p:sp>
    </p:spTree>
    <p:extLst>
      <p:ext uri="{BB962C8B-B14F-4D97-AF65-F5344CB8AC3E}">
        <p14:creationId xmlns:p14="http://schemas.microsoft.com/office/powerpoint/2010/main" val="3131040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 grpId="0"/>
      <p:bldP spid="24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  </a:t>
            </a:r>
            <a:r>
              <a:rPr kumimoji="1" lang="zh-CN" altLang="en-US" sz="3200" b="1" dirty="0">
                <a:latin typeface="Arial" charset="0"/>
                <a:ea typeface="宋体" charset="-122"/>
                <a:cs typeface="+mn-cs"/>
              </a:rPr>
              <a:t>二叉树</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endParaRPr lang="en-US" altLang="zh-CN" sz="2800" b="1" dirty="0"/>
          </a:p>
        </p:txBody>
      </p:sp>
      <p:sp>
        <p:nvSpPr>
          <p:cNvPr id="4" name="日期占位符 3"/>
          <p:cNvSpPr>
            <a:spLocks noGrp="1"/>
          </p:cNvSpPr>
          <p:nvPr>
            <p:ph type="dt" sz="half" idx="10"/>
          </p:nvPr>
        </p:nvSpPr>
        <p:spPr/>
        <p:txBody>
          <a:bodyPr/>
          <a:lstStyle/>
          <a:p>
            <a:fld id="{DFF5C93D-6F24-4F6A-A1E8-28DD97B84EB6}"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24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76" name="Text Box 3"/>
          <p:cNvSpPr txBox="1">
            <a:spLocks noChangeArrowheads="1"/>
          </p:cNvSpPr>
          <p:nvPr/>
        </p:nvSpPr>
        <p:spPr bwMode="auto">
          <a:xfrm>
            <a:off x="609600" y="1484312"/>
            <a:ext cx="7848600" cy="1754326"/>
          </a:xfrm>
          <a:prstGeom prst="rect">
            <a:avLst/>
          </a:prstGeom>
          <a:noFill/>
          <a:ln w="12700" cap="rnd">
            <a:solidFill>
              <a:srgbClr val="04617B"/>
            </a:solidFill>
            <a:miter lim="800000"/>
            <a:headEnd/>
            <a:tailEnd/>
          </a:ln>
        </p:spPr>
        <p:txBody>
          <a:bodyPr wrap="square">
            <a:spAutoFit/>
          </a:bodyPr>
          <a:lstStyle/>
          <a:p>
            <a:pPr marL="0" marR="0" lvl="0" indent="0" defTabSz="914400" eaLnBrk="0" fontAlgn="base" latinLnBrk="0" hangingPunct="0">
              <a:lnSpc>
                <a:spcPct val="15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707F9"/>
                </a:solidFill>
                <a:effectLst/>
                <a:uLnTx/>
                <a:uFillTx/>
                <a:latin typeface="Times New Roman" pitchFamily="18" charset="0"/>
              </a:rPr>
              <a:t>       树是一种分枝结构的对象，在树的概念中，对每一个结点孩子的个数没有限制，因此树的形态多种多样，本节我们主要讨论另一种树型结构</a:t>
            </a:r>
            <a:r>
              <a:rPr kumimoji="1" lang="en-US" altLang="zh-CN" sz="2400" b="1" i="0" u="none" strike="noStrike" kern="0" cap="none" spc="0" normalizeH="0" baseline="0" noProof="0" dirty="0">
                <a:ln>
                  <a:noFill/>
                </a:ln>
                <a:solidFill>
                  <a:srgbClr val="0707F9"/>
                </a:solidFill>
                <a:effectLst/>
                <a:uLnTx/>
                <a:uFillTx/>
                <a:latin typeface="Times New Roman" pitchFamily="18" charset="0"/>
              </a:rPr>
              <a:t>——</a:t>
            </a:r>
            <a:r>
              <a:rPr kumimoji="1" lang="zh-CN" altLang="en-US" sz="2400" b="1" i="0" u="none" strike="noStrike" kern="0" cap="none" spc="0" normalizeH="0" baseline="0" noProof="0" dirty="0">
                <a:ln>
                  <a:noFill/>
                </a:ln>
                <a:solidFill>
                  <a:srgbClr val="FF0000"/>
                </a:solidFill>
                <a:effectLst/>
                <a:uLnTx/>
                <a:uFillTx/>
                <a:latin typeface="Times New Roman" pitchFamily="18" charset="0"/>
              </a:rPr>
              <a:t>二叉树</a:t>
            </a:r>
            <a:r>
              <a:rPr kumimoji="1" lang="zh-CN" altLang="en-US" sz="2400" b="1" i="0" u="none" strike="noStrike" kern="0" cap="none" spc="0" normalizeH="0" baseline="0" noProof="0" dirty="0">
                <a:ln>
                  <a:noFill/>
                </a:ln>
                <a:solidFill>
                  <a:srgbClr val="0707F9"/>
                </a:solidFill>
                <a:effectLst/>
                <a:uLnTx/>
                <a:uFillTx/>
                <a:latin typeface="Times New Roman" pitchFamily="18" charset="0"/>
              </a:rPr>
              <a:t>。</a:t>
            </a:r>
          </a:p>
        </p:txBody>
      </p:sp>
      <p:grpSp>
        <p:nvGrpSpPr>
          <p:cNvPr id="77" name="Group 39"/>
          <p:cNvGrpSpPr>
            <a:grpSpLocks/>
          </p:cNvGrpSpPr>
          <p:nvPr/>
        </p:nvGrpSpPr>
        <p:grpSpPr bwMode="auto">
          <a:xfrm>
            <a:off x="2820987" y="4067175"/>
            <a:ext cx="3124200" cy="2105025"/>
            <a:chOff x="798" y="764"/>
            <a:chExt cx="1816" cy="1326"/>
          </a:xfrm>
        </p:grpSpPr>
        <p:grpSp>
          <p:nvGrpSpPr>
            <p:cNvPr id="78" name="Group 40"/>
            <p:cNvGrpSpPr>
              <a:grpSpLocks/>
            </p:cNvGrpSpPr>
            <p:nvPr/>
          </p:nvGrpSpPr>
          <p:grpSpPr bwMode="auto">
            <a:xfrm>
              <a:off x="1486" y="764"/>
              <a:ext cx="377" cy="288"/>
              <a:chOff x="309" y="2496"/>
              <a:chExt cx="577" cy="440"/>
            </a:xfrm>
          </p:grpSpPr>
          <p:sp>
            <p:nvSpPr>
              <p:cNvPr id="135" name="Oval 41"/>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136" name="Text Box 42"/>
              <p:cNvSpPr txBox="1">
                <a:spLocks noChangeArrowheads="1"/>
              </p:cNvSpPr>
              <p:nvPr/>
            </p:nvSpPr>
            <p:spPr bwMode="auto">
              <a:xfrm>
                <a:off x="309" y="2496"/>
                <a:ext cx="577"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A</a:t>
                </a:r>
                <a:endParaRPr lang="en-US" altLang="zh-CN" sz="3600" b="1">
                  <a:solidFill>
                    <a:srgbClr val="0707F9"/>
                  </a:solidFill>
                  <a:latin typeface="黑体" pitchFamily="2" charset="-122"/>
                  <a:ea typeface="黑体" pitchFamily="2" charset="-122"/>
                </a:endParaRPr>
              </a:p>
            </p:txBody>
          </p:sp>
        </p:grpSp>
        <p:grpSp>
          <p:nvGrpSpPr>
            <p:cNvPr id="79" name="Group 43"/>
            <p:cNvGrpSpPr>
              <a:grpSpLocks/>
            </p:cNvGrpSpPr>
            <p:nvPr/>
          </p:nvGrpSpPr>
          <p:grpSpPr bwMode="auto">
            <a:xfrm>
              <a:off x="2238" y="1392"/>
              <a:ext cx="376" cy="288"/>
              <a:chOff x="4320" y="2591"/>
              <a:chExt cx="576" cy="439"/>
            </a:xfrm>
          </p:grpSpPr>
          <p:sp>
            <p:nvSpPr>
              <p:cNvPr id="133" name="Oval 44"/>
              <p:cNvSpPr>
                <a:spLocks noChangeArrowheads="1"/>
              </p:cNvSpPr>
              <p:nvPr/>
            </p:nvSpPr>
            <p:spPr bwMode="auto">
              <a:xfrm>
                <a:off x="4404" y="2675"/>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134" name="Text Box 45"/>
              <p:cNvSpPr txBox="1">
                <a:spLocks noChangeArrowheads="1"/>
              </p:cNvSpPr>
              <p:nvPr/>
            </p:nvSpPr>
            <p:spPr bwMode="auto">
              <a:xfrm>
                <a:off x="4320" y="2591"/>
                <a:ext cx="576" cy="43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F</a:t>
                </a:r>
                <a:endParaRPr lang="en-US" altLang="zh-CN" sz="2400" b="1">
                  <a:solidFill>
                    <a:srgbClr val="0707F9"/>
                  </a:solidFill>
                  <a:latin typeface="黑体" pitchFamily="2" charset="-122"/>
                  <a:ea typeface="黑体" pitchFamily="2" charset="-122"/>
                </a:endParaRPr>
              </a:p>
            </p:txBody>
          </p:sp>
        </p:grpSp>
        <p:grpSp>
          <p:nvGrpSpPr>
            <p:cNvPr id="80" name="Group 46"/>
            <p:cNvGrpSpPr>
              <a:grpSpLocks/>
            </p:cNvGrpSpPr>
            <p:nvPr/>
          </p:nvGrpSpPr>
          <p:grpSpPr bwMode="auto">
            <a:xfrm>
              <a:off x="1079" y="1802"/>
              <a:ext cx="377" cy="288"/>
              <a:chOff x="309" y="2497"/>
              <a:chExt cx="578" cy="439"/>
            </a:xfrm>
          </p:grpSpPr>
          <p:sp>
            <p:nvSpPr>
              <p:cNvPr id="131" name="Oval 47"/>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132" name="Text Box 48"/>
              <p:cNvSpPr txBox="1">
                <a:spLocks noChangeArrowheads="1"/>
              </p:cNvSpPr>
              <p:nvPr/>
            </p:nvSpPr>
            <p:spPr bwMode="auto">
              <a:xfrm>
                <a:off x="309" y="2497"/>
                <a:ext cx="578" cy="43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G</a:t>
                </a:r>
                <a:endParaRPr lang="en-US" altLang="zh-CN" sz="3600" b="1">
                  <a:solidFill>
                    <a:srgbClr val="0707F9"/>
                  </a:solidFill>
                  <a:latin typeface="黑体" pitchFamily="2" charset="-122"/>
                  <a:ea typeface="黑体" pitchFamily="2" charset="-122"/>
                </a:endParaRPr>
              </a:p>
            </p:txBody>
          </p:sp>
        </p:grpSp>
        <p:grpSp>
          <p:nvGrpSpPr>
            <p:cNvPr id="81" name="Group 49"/>
            <p:cNvGrpSpPr>
              <a:grpSpLocks/>
            </p:cNvGrpSpPr>
            <p:nvPr/>
          </p:nvGrpSpPr>
          <p:grpSpPr bwMode="auto">
            <a:xfrm>
              <a:off x="1330" y="1455"/>
              <a:ext cx="376" cy="288"/>
              <a:chOff x="310" y="2495"/>
              <a:chExt cx="576" cy="439"/>
            </a:xfrm>
          </p:grpSpPr>
          <p:sp>
            <p:nvSpPr>
              <p:cNvPr id="129" name="Oval 50"/>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130" name="Text Box 51"/>
              <p:cNvSpPr txBox="1">
                <a:spLocks noChangeArrowheads="1"/>
              </p:cNvSpPr>
              <p:nvPr/>
            </p:nvSpPr>
            <p:spPr bwMode="auto">
              <a:xfrm>
                <a:off x="310" y="2495"/>
                <a:ext cx="576" cy="43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E</a:t>
                </a:r>
                <a:endParaRPr lang="en-US" altLang="zh-CN" sz="3600" b="1">
                  <a:solidFill>
                    <a:srgbClr val="0707F9"/>
                  </a:solidFill>
                  <a:latin typeface="黑体" pitchFamily="2" charset="-122"/>
                  <a:ea typeface="黑体" pitchFamily="2" charset="-122"/>
                </a:endParaRPr>
              </a:p>
            </p:txBody>
          </p:sp>
        </p:grpSp>
        <p:grpSp>
          <p:nvGrpSpPr>
            <p:cNvPr id="82" name="Group 52"/>
            <p:cNvGrpSpPr>
              <a:grpSpLocks/>
            </p:cNvGrpSpPr>
            <p:nvPr/>
          </p:nvGrpSpPr>
          <p:grpSpPr bwMode="auto">
            <a:xfrm>
              <a:off x="798" y="1455"/>
              <a:ext cx="375" cy="288"/>
              <a:chOff x="310" y="2495"/>
              <a:chExt cx="576" cy="440"/>
            </a:xfrm>
          </p:grpSpPr>
          <p:sp>
            <p:nvSpPr>
              <p:cNvPr id="127" name="Oval 53"/>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128" name="Text Box 54"/>
              <p:cNvSpPr txBox="1">
                <a:spLocks noChangeArrowheads="1"/>
              </p:cNvSpPr>
              <p:nvPr/>
            </p:nvSpPr>
            <p:spPr bwMode="auto">
              <a:xfrm>
                <a:off x="310" y="2495"/>
                <a:ext cx="576"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D</a:t>
                </a:r>
                <a:endParaRPr lang="en-US" altLang="zh-CN" sz="3600" b="1">
                  <a:solidFill>
                    <a:srgbClr val="0707F9"/>
                  </a:solidFill>
                  <a:latin typeface="黑体" pitchFamily="2" charset="-122"/>
                  <a:ea typeface="黑体" pitchFamily="2" charset="-122"/>
                </a:endParaRPr>
              </a:p>
            </p:txBody>
          </p:sp>
        </p:grpSp>
        <p:grpSp>
          <p:nvGrpSpPr>
            <p:cNvPr id="83" name="Group 55"/>
            <p:cNvGrpSpPr>
              <a:grpSpLocks/>
            </p:cNvGrpSpPr>
            <p:nvPr/>
          </p:nvGrpSpPr>
          <p:grpSpPr bwMode="auto">
            <a:xfrm>
              <a:off x="1926" y="1078"/>
              <a:ext cx="375" cy="288"/>
              <a:chOff x="311" y="2495"/>
              <a:chExt cx="575" cy="440"/>
            </a:xfrm>
          </p:grpSpPr>
          <p:sp>
            <p:nvSpPr>
              <p:cNvPr id="125" name="Oval 56"/>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126" name="Text Box 57"/>
              <p:cNvSpPr txBox="1">
                <a:spLocks noChangeArrowheads="1"/>
              </p:cNvSpPr>
              <p:nvPr/>
            </p:nvSpPr>
            <p:spPr bwMode="auto">
              <a:xfrm>
                <a:off x="311" y="2495"/>
                <a:ext cx="575"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C</a:t>
                </a:r>
                <a:endParaRPr lang="en-US" altLang="zh-CN" sz="2400" b="1">
                  <a:solidFill>
                    <a:srgbClr val="0707F9"/>
                  </a:solidFill>
                  <a:latin typeface="黑体" pitchFamily="2" charset="-122"/>
                  <a:ea typeface="黑体" pitchFamily="2" charset="-122"/>
                </a:endParaRPr>
              </a:p>
            </p:txBody>
          </p:sp>
        </p:grpSp>
        <p:grpSp>
          <p:nvGrpSpPr>
            <p:cNvPr id="84" name="Group 58"/>
            <p:cNvGrpSpPr>
              <a:grpSpLocks/>
            </p:cNvGrpSpPr>
            <p:nvPr/>
          </p:nvGrpSpPr>
          <p:grpSpPr bwMode="auto">
            <a:xfrm>
              <a:off x="1079" y="1110"/>
              <a:ext cx="377" cy="288"/>
              <a:chOff x="309" y="2496"/>
              <a:chExt cx="578" cy="440"/>
            </a:xfrm>
          </p:grpSpPr>
          <p:sp>
            <p:nvSpPr>
              <p:cNvPr id="91" name="Oval 59"/>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124" name="Text Box 60"/>
              <p:cNvSpPr txBox="1">
                <a:spLocks noChangeArrowheads="1"/>
              </p:cNvSpPr>
              <p:nvPr/>
            </p:nvSpPr>
            <p:spPr bwMode="auto">
              <a:xfrm>
                <a:off x="309" y="2496"/>
                <a:ext cx="578"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B</a:t>
                </a:r>
                <a:endParaRPr lang="en-US" altLang="zh-CN" sz="2400" b="1">
                  <a:solidFill>
                    <a:srgbClr val="0707F9"/>
                  </a:solidFill>
                  <a:latin typeface="黑体" pitchFamily="2" charset="-122"/>
                  <a:ea typeface="黑体" pitchFamily="2" charset="-122"/>
                </a:endParaRPr>
              </a:p>
            </p:txBody>
          </p:sp>
        </p:grpSp>
        <p:sp>
          <p:nvSpPr>
            <p:cNvPr id="85" name="Line 61"/>
            <p:cNvSpPr>
              <a:spLocks noChangeShapeType="1"/>
            </p:cNvSpPr>
            <p:nvPr/>
          </p:nvSpPr>
          <p:spPr bwMode="auto">
            <a:xfrm flipH="1">
              <a:off x="1299" y="984"/>
              <a:ext cx="251" cy="189"/>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6" name="Line 62"/>
            <p:cNvSpPr>
              <a:spLocks noChangeShapeType="1"/>
            </p:cNvSpPr>
            <p:nvPr/>
          </p:nvSpPr>
          <p:spPr bwMode="auto">
            <a:xfrm>
              <a:off x="1738" y="984"/>
              <a:ext cx="250" cy="18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7" name="Line 63"/>
            <p:cNvSpPr>
              <a:spLocks noChangeShapeType="1"/>
            </p:cNvSpPr>
            <p:nvPr/>
          </p:nvSpPr>
          <p:spPr bwMode="auto">
            <a:xfrm>
              <a:off x="1331" y="1362"/>
              <a:ext cx="156"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8" name="Line 64"/>
            <p:cNvSpPr>
              <a:spLocks noChangeShapeType="1"/>
            </p:cNvSpPr>
            <p:nvPr/>
          </p:nvSpPr>
          <p:spPr bwMode="auto">
            <a:xfrm flipH="1">
              <a:off x="1268" y="1708"/>
              <a:ext cx="159"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9" name="Line 65"/>
            <p:cNvSpPr>
              <a:spLocks noChangeShapeType="1"/>
            </p:cNvSpPr>
            <p:nvPr/>
          </p:nvSpPr>
          <p:spPr bwMode="auto">
            <a:xfrm flipH="1">
              <a:off x="986" y="1362"/>
              <a:ext cx="159"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0" name="Line 66"/>
            <p:cNvSpPr>
              <a:spLocks noChangeShapeType="1"/>
            </p:cNvSpPr>
            <p:nvPr/>
          </p:nvSpPr>
          <p:spPr bwMode="auto">
            <a:xfrm>
              <a:off x="2176" y="1299"/>
              <a:ext cx="157"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spTree>
    <p:extLst>
      <p:ext uri="{BB962C8B-B14F-4D97-AF65-F5344CB8AC3E}">
        <p14:creationId xmlns:p14="http://schemas.microsoft.com/office/powerpoint/2010/main" val="525879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  </a:t>
            </a:r>
            <a:r>
              <a:rPr kumimoji="1" lang="zh-CN" altLang="en-US" sz="3200" b="1" dirty="0">
                <a:latin typeface="Arial" charset="0"/>
                <a:ea typeface="宋体" charset="-122"/>
                <a:cs typeface="+mn-cs"/>
              </a:rPr>
              <a:t>二叉树</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endParaRPr lang="en-US" altLang="zh-CN" sz="2800" b="1" dirty="0"/>
          </a:p>
        </p:txBody>
      </p:sp>
      <p:sp>
        <p:nvSpPr>
          <p:cNvPr id="4" name="日期占位符 3"/>
          <p:cNvSpPr>
            <a:spLocks noGrp="1"/>
          </p:cNvSpPr>
          <p:nvPr>
            <p:ph type="dt" sz="half" idx="10"/>
          </p:nvPr>
        </p:nvSpPr>
        <p:spPr/>
        <p:txBody>
          <a:bodyPr/>
          <a:lstStyle/>
          <a:p>
            <a:fld id="{27E9C94E-96CF-455F-8C6A-1DF5D8D5F0E2}"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25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41" name="Rectangle 2"/>
          <p:cNvSpPr>
            <a:spLocks noChangeArrowheads="1"/>
          </p:cNvSpPr>
          <p:nvPr/>
        </p:nvSpPr>
        <p:spPr bwMode="auto">
          <a:xfrm>
            <a:off x="1754188" y="2082984"/>
            <a:ext cx="6143625" cy="2870016"/>
          </a:xfrm>
          <a:prstGeom prst="rect">
            <a:avLst/>
          </a:prstGeom>
          <a:noFill/>
          <a:ln w="38100" cmpd="dbl">
            <a:solidFill>
              <a:srgbClr val="0707F9"/>
            </a:solidFill>
            <a:miter lim="800000"/>
            <a:headEnd/>
            <a:tailEnd/>
          </a:ln>
        </p:spPr>
        <p:txBody>
          <a:bodyPr>
            <a:spAutoFit/>
          </a:bodyPr>
          <a:lstStyle/>
          <a:p>
            <a:pPr fontAlgn="base">
              <a:lnSpc>
                <a:spcPct val="200000"/>
              </a:lnSpc>
              <a:spcBef>
                <a:spcPct val="0"/>
              </a:spcBef>
              <a:spcAft>
                <a:spcPct val="0"/>
              </a:spcAft>
            </a:pPr>
            <a:r>
              <a:rPr kumimoji="1" lang="zh-CN" altLang="en-US" sz="3200" dirty="0">
                <a:solidFill>
                  <a:srgbClr val="0707F9"/>
                </a:solidFill>
                <a:latin typeface="宋体" pitchFamily="2" charset="-122"/>
              </a:rPr>
              <a:t> </a:t>
            </a:r>
            <a:r>
              <a:rPr kumimoji="1" lang="en-US" altLang="zh-CN" sz="3200" b="1" dirty="0">
                <a:solidFill>
                  <a:srgbClr val="0707F9"/>
                </a:solidFill>
                <a:latin typeface="宋体" pitchFamily="2" charset="-122"/>
              </a:rPr>
              <a:t>5.2.1 </a:t>
            </a:r>
            <a:r>
              <a:rPr kumimoji="1" lang="zh-CN" altLang="en-US" sz="3200" b="1" dirty="0">
                <a:solidFill>
                  <a:srgbClr val="0707F9"/>
                </a:solidFill>
                <a:latin typeface="宋体" pitchFamily="2" charset="-122"/>
              </a:rPr>
              <a:t>二叉树的概念</a:t>
            </a:r>
          </a:p>
          <a:p>
            <a:pPr fontAlgn="base">
              <a:lnSpc>
                <a:spcPct val="200000"/>
              </a:lnSpc>
              <a:spcBef>
                <a:spcPct val="0"/>
              </a:spcBef>
              <a:spcAft>
                <a:spcPct val="0"/>
              </a:spcAft>
            </a:pPr>
            <a:r>
              <a:rPr kumimoji="1" lang="en-US" altLang="zh-CN" sz="3200" b="1" dirty="0">
                <a:solidFill>
                  <a:srgbClr val="0707F9"/>
                </a:solidFill>
                <a:latin typeface="宋体" pitchFamily="2" charset="-122"/>
              </a:rPr>
              <a:t> 5.2.2 </a:t>
            </a:r>
            <a:r>
              <a:rPr kumimoji="1" lang="zh-CN" altLang="en-US" sz="3200" b="1" dirty="0">
                <a:solidFill>
                  <a:srgbClr val="0707F9"/>
                </a:solidFill>
                <a:latin typeface="宋体" pitchFamily="2" charset="-122"/>
              </a:rPr>
              <a:t>二叉树的性质</a:t>
            </a:r>
          </a:p>
          <a:p>
            <a:pPr fontAlgn="base">
              <a:lnSpc>
                <a:spcPct val="200000"/>
              </a:lnSpc>
              <a:spcBef>
                <a:spcPct val="0"/>
              </a:spcBef>
              <a:spcAft>
                <a:spcPct val="0"/>
              </a:spcAft>
            </a:pPr>
            <a:r>
              <a:rPr kumimoji="1" lang="en-US" altLang="zh-CN" sz="3200" b="1" dirty="0">
                <a:solidFill>
                  <a:srgbClr val="0707F9"/>
                </a:solidFill>
                <a:latin typeface="宋体" pitchFamily="2" charset="-122"/>
              </a:rPr>
              <a:t> 5.2.3 </a:t>
            </a:r>
            <a:r>
              <a:rPr kumimoji="1" lang="zh-CN" altLang="en-US" sz="3200" b="1" dirty="0">
                <a:solidFill>
                  <a:srgbClr val="0707F9"/>
                </a:solidFill>
                <a:latin typeface="宋体" pitchFamily="2" charset="-122"/>
              </a:rPr>
              <a:t>二叉树的存储结构</a:t>
            </a:r>
          </a:p>
        </p:txBody>
      </p:sp>
    </p:spTree>
    <p:extLst>
      <p:ext uri="{BB962C8B-B14F-4D97-AF65-F5344CB8AC3E}">
        <p14:creationId xmlns:p14="http://schemas.microsoft.com/office/powerpoint/2010/main" val="3642100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5.2.1  </a:t>
            </a:r>
            <a:r>
              <a:rPr kumimoji="1" lang="zh-CN" altLang="en-US" sz="3200" b="1" dirty="0">
                <a:latin typeface="Arial" charset="0"/>
                <a:ea typeface="宋体" charset="-122"/>
                <a:cs typeface="+mn-cs"/>
              </a:rPr>
              <a:t>二叉树的概念</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r>
              <a:rPr lang="zh-CN" altLang="en-US" sz="2800" b="1" dirty="0">
                <a:solidFill>
                  <a:srgbClr val="FF0000"/>
                </a:solidFill>
              </a:rPr>
              <a:t>概念</a:t>
            </a:r>
            <a:r>
              <a:rPr lang="zh-CN" altLang="en-US" sz="2800" b="1" dirty="0"/>
              <a:t>：</a:t>
            </a:r>
            <a:r>
              <a:rPr lang="zh-CN" altLang="en-US" sz="2800" b="1" dirty="0">
                <a:solidFill>
                  <a:srgbClr val="FF0000"/>
                </a:solidFill>
              </a:rPr>
              <a:t>二叉树</a:t>
            </a:r>
            <a:r>
              <a:rPr lang="zh-CN" altLang="en-US" sz="2800" b="1" dirty="0"/>
              <a:t>或为空树，或由根及两颗</a:t>
            </a:r>
            <a:r>
              <a:rPr lang="zh-CN" altLang="en-US" sz="2800" b="1" dirty="0">
                <a:solidFill>
                  <a:srgbClr val="FF0000"/>
                </a:solidFill>
              </a:rPr>
              <a:t>不相交的左、右子树</a:t>
            </a:r>
            <a:r>
              <a:rPr lang="zh-CN" altLang="en-US" sz="2800" b="1" dirty="0"/>
              <a:t>构成，并且</a:t>
            </a:r>
            <a:r>
              <a:rPr lang="zh-CN" altLang="en-US" sz="2800" b="1" dirty="0">
                <a:solidFill>
                  <a:srgbClr val="FF0000"/>
                </a:solidFill>
              </a:rPr>
              <a:t>左、右子树</a:t>
            </a:r>
            <a:r>
              <a:rPr lang="zh-CN" altLang="en-US" sz="2800" b="1" dirty="0"/>
              <a:t>本身也是二叉树。</a:t>
            </a:r>
          </a:p>
          <a:p>
            <a:pPr>
              <a:lnSpc>
                <a:spcPts val="3100"/>
              </a:lnSpc>
            </a:pPr>
            <a:r>
              <a:rPr lang="zh-CN" altLang="en-US" sz="2800" b="1" dirty="0">
                <a:solidFill>
                  <a:srgbClr val="FF0000"/>
                </a:solidFill>
              </a:rPr>
              <a:t>特点</a:t>
            </a:r>
            <a:r>
              <a:rPr lang="zh-CN" altLang="en-US" sz="2800" b="1" dirty="0"/>
              <a:t>：</a:t>
            </a:r>
          </a:p>
          <a:p>
            <a:pPr lvl="1">
              <a:lnSpc>
                <a:spcPts val="3100"/>
              </a:lnSpc>
            </a:pPr>
            <a:r>
              <a:rPr lang="zh-CN" altLang="en-US" sz="2400" b="1" dirty="0"/>
              <a:t>二叉树中每个结点最多有两棵子树；即</a:t>
            </a:r>
            <a:r>
              <a:rPr lang="zh-CN" altLang="en-US" sz="2400" b="1" dirty="0">
                <a:solidFill>
                  <a:srgbClr val="FF0000"/>
                </a:solidFill>
              </a:rPr>
              <a:t>二叉树每个结点度小于等于</a:t>
            </a:r>
            <a:r>
              <a:rPr lang="en-US" altLang="zh-CN" sz="2400" b="1" dirty="0">
                <a:solidFill>
                  <a:srgbClr val="FF0000"/>
                </a:solidFill>
              </a:rPr>
              <a:t>2</a:t>
            </a:r>
            <a:r>
              <a:rPr lang="en-US" altLang="zh-CN" sz="2400" b="1" dirty="0"/>
              <a:t>;</a:t>
            </a:r>
          </a:p>
          <a:p>
            <a:pPr lvl="1">
              <a:lnSpc>
                <a:spcPts val="3100"/>
              </a:lnSpc>
            </a:pPr>
            <a:r>
              <a:rPr lang="zh-CN" altLang="en-US" sz="2400" b="1" dirty="0"/>
              <a:t>左、右子树不能颠倒</a:t>
            </a:r>
            <a:r>
              <a:rPr lang="en-US" altLang="zh-CN" sz="2400" b="1" dirty="0"/>
              <a:t>——</a:t>
            </a:r>
            <a:r>
              <a:rPr lang="zh-CN" altLang="en-US" sz="2400" b="1" dirty="0">
                <a:solidFill>
                  <a:srgbClr val="FF0000"/>
                </a:solidFill>
              </a:rPr>
              <a:t>有序树</a:t>
            </a:r>
            <a:r>
              <a:rPr lang="en-US" altLang="zh-CN" sz="2400" b="1" dirty="0"/>
              <a:t>;</a:t>
            </a:r>
          </a:p>
          <a:p>
            <a:pPr lvl="1">
              <a:lnSpc>
                <a:spcPts val="3100"/>
              </a:lnSpc>
            </a:pPr>
            <a:r>
              <a:rPr lang="zh-CN" altLang="en-US" sz="2400" b="1" dirty="0"/>
              <a:t>二叉树是</a:t>
            </a:r>
            <a:r>
              <a:rPr lang="zh-CN" altLang="en-US" sz="2400" b="1" dirty="0">
                <a:solidFill>
                  <a:srgbClr val="FF0000"/>
                </a:solidFill>
              </a:rPr>
              <a:t>递归结构</a:t>
            </a:r>
            <a:r>
              <a:rPr lang="zh-CN" altLang="en-US" sz="2400" b="1" dirty="0"/>
              <a:t>，在二叉树的定义中又用到了二叉树的概念</a:t>
            </a:r>
            <a:r>
              <a:rPr lang="en-US" altLang="zh-CN" sz="2400" b="1" dirty="0"/>
              <a:t>;</a:t>
            </a:r>
          </a:p>
          <a:p>
            <a:pPr>
              <a:lnSpc>
                <a:spcPts val="3100"/>
              </a:lnSpc>
            </a:pPr>
            <a:endParaRPr lang="en-US" altLang="zh-CN" sz="2800" b="1" dirty="0"/>
          </a:p>
        </p:txBody>
      </p:sp>
      <p:sp>
        <p:nvSpPr>
          <p:cNvPr id="4" name="日期占位符 3"/>
          <p:cNvSpPr>
            <a:spLocks noGrp="1"/>
          </p:cNvSpPr>
          <p:nvPr>
            <p:ph type="dt" sz="half" idx="10"/>
          </p:nvPr>
        </p:nvSpPr>
        <p:spPr/>
        <p:txBody>
          <a:bodyPr/>
          <a:lstStyle/>
          <a:p>
            <a:fld id="{7CB7E33A-3752-44F1-8BC8-2DF3B3AE3D5D}"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26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13" name="Group 4"/>
          <p:cNvGrpSpPr>
            <a:grpSpLocks/>
          </p:cNvGrpSpPr>
          <p:nvPr/>
        </p:nvGrpSpPr>
        <p:grpSpPr bwMode="auto">
          <a:xfrm>
            <a:off x="5886450" y="4708525"/>
            <a:ext cx="3124200" cy="2105025"/>
            <a:chOff x="798" y="764"/>
            <a:chExt cx="1816" cy="1326"/>
          </a:xfrm>
        </p:grpSpPr>
        <p:grpSp>
          <p:nvGrpSpPr>
            <p:cNvPr id="14" name="Group 5"/>
            <p:cNvGrpSpPr>
              <a:grpSpLocks/>
            </p:cNvGrpSpPr>
            <p:nvPr/>
          </p:nvGrpSpPr>
          <p:grpSpPr bwMode="auto">
            <a:xfrm>
              <a:off x="1486" y="764"/>
              <a:ext cx="377" cy="288"/>
              <a:chOff x="309" y="2496"/>
              <a:chExt cx="577" cy="440"/>
            </a:xfrm>
          </p:grpSpPr>
          <p:sp>
            <p:nvSpPr>
              <p:cNvPr id="40" name="Oval 6"/>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42" name="Text Box 7"/>
              <p:cNvSpPr txBox="1">
                <a:spLocks noChangeArrowheads="1"/>
              </p:cNvSpPr>
              <p:nvPr/>
            </p:nvSpPr>
            <p:spPr bwMode="auto">
              <a:xfrm>
                <a:off x="309" y="2496"/>
                <a:ext cx="577"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dirty="0">
                    <a:solidFill>
                      <a:srgbClr val="0707F9"/>
                    </a:solidFill>
                    <a:latin typeface="隶书" pitchFamily="49" charset="-122"/>
                    <a:ea typeface="隶书" pitchFamily="49" charset="-122"/>
                  </a:rPr>
                  <a:t> </a:t>
                </a:r>
                <a:r>
                  <a:rPr lang="en-US" altLang="zh-CN" sz="2400" b="1" dirty="0">
                    <a:solidFill>
                      <a:srgbClr val="0707F9"/>
                    </a:solidFill>
                    <a:latin typeface="隶书" pitchFamily="49" charset="-122"/>
                    <a:ea typeface="隶书" pitchFamily="49" charset="-122"/>
                  </a:rPr>
                  <a:t>A</a:t>
                </a:r>
                <a:endParaRPr lang="en-US" altLang="zh-CN" sz="3600" b="1" dirty="0">
                  <a:solidFill>
                    <a:srgbClr val="0707F9"/>
                  </a:solidFill>
                  <a:latin typeface="黑体" pitchFamily="2" charset="-122"/>
                  <a:ea typeface="黑体" pitchFamily="2" charset="-122"/>
                </a:endParaRPr>
              </a:p>
            </p:txBody>
          </p:sp>
        </p:grpSp>
        <p:grpSp>
          <p:nvGrpSpPr>
            <p:cNvPr id="15" name="Group 8"/>
            <p:cNvGrpSpPr>
              <a:grpSpLocks/>
            </p:cNvGrpSpPr>
            <p:nvPr/>
          </p:nvGrpSpPr>
          <p:grpSpPr bwMode="auto">
            <a:xfrm>
              <a:off x="2238" y="1392"/>
              <a:ext cx="376" cy="288"/>
              <a:chOff x="4320" y="2591"/>
              <a:chExt cx="576" cy="439"/>
            </a:xfrm>
          </p:grpSpPr>
          <p:sp>
            <p:nvSpPr>
              <p:cNvPr id="38" name="Oval 9"/>
              <p:cNvSpPr>
                <a:spLocks noChangeArrowheads="1"/>
              </p:cNvSpPr>
              <p:nvPr/>
            </p:nvSpPr>
            <p:spPr bwMode="auto">
              <a:xfrm>
                <a:off x="4404" y="2675"/>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39" name="Text Box 10"/>
              <p:cNvSpPr txBox="1">
                <a:spLocks noChangeArrowheads="1"/>
              </p:cNvSpPr>
              <p:nvPr/>
            </p:nvSpPr>
            <p:spPr bwMode="auto">
              <a:xfrm>
                <a:off x="4320" y="2591"/>
                <a:ext cx="576" cy="43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F</a:t>
                </a:r>
                <a:endParaRPr lang="en-US" altLang="zh-CN" sz="2400" b="1">
                  <a:solidFill>
                    <a:srgbClr val="0707F9"/>
                  </a:solidFill>
                  <a:latin typeface="黑体" pitchFamily="2" charset="-122"/>
                  <a:ea typeface="黑体" pitchFamily="2" charset="-122"/>
                </a:endParaRPr>
              </a:p>
            </p:txBody>
          </p:sp>
        </p:grpSp>
        <p:grpSp>
          <p:nvGrpSpPr>
            <p:cNvPr id="16" name="Group 11"/>
            <p:cNvGrpSpPr>
              <a:grpSpLocks/>
            </p:cNvGrpSpPr>
            <p:nvPr/>
          </p:nvGrpSpPr>
          <p:grpSpPr bwMode="auto">
            <a:xfrm>
              <a:off x="1079" y="1802"/>
              <a:ext cx="377" cy="288"/>
              <a:chOff x="309" y="2497"/>
              <a:chExt cx="578" cy="439"/>
            </a:xfrm>
          </p:grpSpPr>
          <p:sp>
            <p:nvSpPr>
              <p:cNvPr id="36" name="Oval 12"/>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37" name="Text Box 13"/>
              <p:cNvSpPr txBox="1">
                <a:spLocks noChangeArrowheads="1"/>
              </p:cNvSpPr>
              <p:nvPr/>
            </p:nvSpPr>
            <p:spPr bwMode="auto">
              <a:xfrm>
                <a:off x="309" y="2497"/>
                <a:ext cx="578" cy="43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G</a:t>
                </a:r>
                <a:endParaRPr lang="en-US" altLang="zh-CN" sz="3600" b="1">
                  <a:solidFill>
                    <a:srgbClr val="0707F9"/>
                  </a:solidFill>
                  <a:latin typeface="黑体" pitchFamily="2" charset="-122"/>
                  <a:ea typeface="黑体" pitchFamily="2" charset="-122"/>
                </a:endParaRPr>
              </a:p>
            </p:txBody>
          </p:sp>
        </p:grpSp>
        <p:grpSp>
          <p:nvGrpSpPr>
            <p:cNvPr id="17" name="Group 14"/>
            <p:cNvGrpSpPr>
              <a:grpSpLocks/>
            </p:cNvGrpSpPr>
            <p:nvPr/>
          </p:nvGrpSpPr>
          <p:grpSpPr bwMode="auto">
            <a:xfrm>
              <a:off x="1330" y="1455"/>
              <a:ext cx="376" cy="288"/>
              <a:chOff x="310" y="2495"/>
              <a:chExt cx="576" cy="439"/>
            </a:xfrm>
          </p:grpSpPr>
          <p:sp>
            <p:nvSpPr>
              <p:cNvPr id="34" name="Oval 15"/>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35" name="Text Box 16"/>
              <p:cNvSpPr txBox="1">
                <a:spLocks noChangeArrowheads="1"/>
              </p:cNvSpPr>
              <p:nvPr/>
            </p:nvSpPr>
            <p:spPr bwMode="auto">
              <a:xfrm>
                <a:off x="310" y="2495"/>
                <a:ext cx="576" cy="43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E</a:t>
                </a:r>
                <a:endParaRPr lang="en-US" altLang="zh-CN" sz="3600" b="1">
                  <a:solidFill>
                    <a:srgbClr val="0707F9"/>
                  </a:solidFill>
                  <a:latin typeface="黑体" pitchFamily="2" charset="-122"/>
                  <a:ea typeface="黑体" pitchFamily="2" charset="-122"/>
                </a:endParaRPr>
              </a:p>
            </p:txBody>
          </p:sp>
        </p:grpSp>
        <p:grpSp>
          <p:nvGrpSpPr>
            <p:cNvPr id="19" name="Group 17"/>
            <p:cNvGrpSpPr>
              <a:grpSpLocks/>
            </p:cNvGrpSpPr>
            <p:nvPr/>
          </p:nvGrpSpPr>
          <p:grpSpPr bwMode="auto">
            <a:xfrm>
              <a:off x="798" y="1455"/>
              <a:ext cx="375" cy="288"/>
              <a:chOff x="310" y="2495"/>
              <a:chExt cx="576" cy="440"/>
            </a:xfrm>
          </p:grpSpPr>
          <p:sp>
            <p:nvSpPr>
              <p:cNvPr id="32" name="Oval 18"/>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33" name="Text Box 19"/>
              <p:cNvSpPr txBox="1">
                <a:spLocks noChangeArrowheads="1"/>
              </p:cNvSpPr>
              <p:nvPr/>
            </p:nvSpPr>
            <p:spPr bwMode="auto">
              <a:xfrm>
                <a:off x="310" y="2495"/>
                <a:ext cx="576"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D</a:t>
                </a:r>
                <a:endParaRPr lang="en-US" altLang="zh-CN" sz="3600" b="1">
                  <a:solidFill>
                    <a:srgbClr val="0707F9"/>
                  </a:solidFill>
                  <a:latin typeface="黑体" pitchFamily="2" charset="-122"/>
                  <a:ea typeface="黑体" pitchFamily="2" charset="-122"/>
                </a:endParaRPr>
              </a:p>
            </p:txBody>
          </p:sp>
        </p:grpSp>
        <p:grpSp>
          <p:nvGrpSpPr>
            <p:cNvPr id="20" name="Group 20"/>
            <p:cNvGrpSpPr>
              <a:grpSpLocks/>
            </p:cNvGrpSpPr>
            <p:nvPr/>
          </p:nvGrpSpPr>
          <p:grpSpPr bwMode="auto">
            <a:xfrm>
              <a:off x="1926" y="1078"/>
              <a:ext cx="375" cy="288"/>
              <a:chOff x="311" y="2495"/>
              <a:chExt cx="575" cy="440"/>
            </a:xfrm>
          </p:grpSpPr>
          <p:sp>
            <p:nvSpPr>
              <p:cNvPr id="30" name="Oval 21"/>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31" name="Text Box 22"/>
              <p:cNvSpPr txBox="1">
                <a:spLocks noChangeArrowheads="1"/>
              </p:cNvSpPr>
              <p:nvPr/>
            </p:nvSpPr>
            <p:spPr bwMode="auto">
              <a:xfrm>
                <a:off x="311" y="2495"/>
                <a:ext cx="575"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C</a:t>
                </a:r>
                <a:endParaRPr lang="en-US" altLang="zh-CN" sz="2400" b="1">
                  <a:solidFill>
                    <a:srgbClr val="0707F9"/>
                  </a:solidFill>
                  <a:latin typeface="黑体" pitchFamily="2" charset="-122"/>
                  <a:ea typeface="黑体" pitchFamily="2" charset="-122"/>
                </a:endParaRPr>
              </a:p>
            </p:txBody>
          </p:sp>
        </p:grpSp>
        <p:grpSp>
          <p:nvGrpSpPr>
            <p:cNvPr id="21" name="Group 23"/>
            <p:cNvGrpSpPr>
              <a:grpSpLocks/>
            </p:cNvGrpSpPr>
            <p:nvPr/>
          </p:nvGrpSpPr>
          <p:grpSpPr bwMode="auto">
            <a:xfrm>
              <a:off x="1079" y="1110"/>
              <a:ext cx="377" cy="288"/>
              <a:chOff x="309" y="2496"/>
              <a:chExt cx="578" cy="440"/>
            </a:xfrm>
          </p:grpSpPr>
          <p:sp>
            <p:nvSpPr>
              <p:cNvPr id="28" name="Oval 24"/>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29" name="Text Box 25"/>
              <p:cNvSpPr txBox="1">
                <a:spLocks noChangeArrowheads="1"/>
              </p:cNvSpPr>
              <p:nvPr/>
            </p:nvSpPr>
            <p:spPr bwMode="auto">
              <a:xfrm>
                <a:off x="309" y="2496"/>
                <a:ext cx="578"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B</a:t>
                </a:r>
                <a:endParaRPr lang="en-US" altLang="zh-CN" sz="2400" b="1">
                  <a:solidFill>
                    <a:srgbClr val="0707F9"/>
                  </a:solidFill>
                  <a:latin typeface="黑体" pitchFamily="2" charset="-122"/>
                  <a:ea typeface="黑体" pitchFamily="2" charset="-122"/>
                </a:endParaRPr>
              </a:p>
            </p:txBody>
          </p:sp>
        </p:grpSp>
        <p:sp>
          <p:nvSpPr>
            <p:cNvPr id="22" name="Line 26"/>
            <p:cNvSpPr>
              <a:spLocks noChangeShapeType="1"/>
            </p:cNvSpPr>
            <p:nvPr/>
          </p:nvSpPr>
          <p:spPr bwMode="auto">
            <a:xfrm flipH="1">
              <a:off x="1299" y="984"/>
              <a:ext cx="251" cy="189"/>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3" name="Line 27"/>
            <p:cNvSpPr>
              <a:spLocks noChangeShapeType="1"/>
            </p:cNvSpPr>
            <p:nvPr/>
          </p:nvSpPr>
          <p:spPr bwMode="auto">
            <a:xfrm>
              <a:off x="1738" y="984"/>
              <a:ext cx="250" cy="18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4" name="Line 28"/>
            <p:cNvSpPr>
              <a:spLocks noChangeShapeType="1"/>
            </p:cNvSpPr>
            <p:nvPr/>
          </p:nvSpPr>
          <p:spPr bwMode="auto">
            <a:xfrm>
              <a:off x="1331" y="1362"/>
              <a:ext cx="156"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5" name="Line 29"/>
            <p:cNvSpPr>
              <a:spLocks noChangeShapeType="1"/>
            </p:cNvSpPr>
            <p:nvPr/>
          </p:nvSpPr>
          <p:spPr bwMode="auto">
            <a:xfrm flipH="1">
              <a:off x="1268" y="1708"/>
              <a:ext cx="159"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6" name="Line 30"/>
            <p:cNvSpPr>
              <a:spLocks noChangeShapeType="1"/>
            </p:cNvSpPr>
            <p:nvPr/>
          </p:nvSpPr>
          <p:spPr bwMode="auto">
            <a:xfrm flipH="1">
              <a:off x="986" y="1362"/>
              <a:ext cx="159"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7" name="Line 31"/>
            <p:cNvSpPr>
              <a:spLocks noChangeShapeType="1"/>
            </p:cNvSpPr>
            <p:nvPr/>
          </p:nvSpPr>
          <p:spPr bwMode="auto">
            <a:xfrm>
              <a:off x="2176" y="1299"/>
              <a:ext cx="157"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spTree>
    <p:extLst>
      <p:ext uri="{BB962C8B-B14F-4D97-AF65-F5344CB8AC3E}">
        <p14:creationId xmlns:p14="http://schemas.microsoft.com/office/powerpoint/2010/main" val="2732892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5.2.1  </a:t>
            </a:r>
            <a:r>
              <a:rPr kumimoji="1" lang="zh-CN" altLang="en-US" sz="3200" b="1" dirty="0">
                <a:latin typeface="Arial" charset="0"/>
                <a:ea typeface="宋体" charset="-122"/>
                <a:cs typeface="+mn-cs"/>
              </a:rPr>
              <a:t>二叉树的概念</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endParaRPr lang="en-US" altLang="zh-CN" sz="2800" b="1" dirty="0"/>
          </a:p>
        </p:txBody>
      </p:sp>
      <p:sp>
        <p:nvSpPr>
          <p:cNvPr id="4" name="日期占位符 3"/>
          <p:cNvSpPr>
            <a:spLocks noGrp="1"/>
          </p:cNvSpPr>
          <p:nvPr>
            <p:ph type="dt" sz="half" idx="10"/>
          </p:nvPr>
        </p:nvSpPr>
        <p:spPr/>
        <p:txBody>
          <a:bodyPr/>
          <a:lstStyle/>
          <a:p>
            <a:fld id="{E9DF49C5-CC9B-4D65-87D1-5DF2D239B320}"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27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41" name="Group 2"/>
          <p:cNvGrpSpPr>
            <a:grpSpLocks/>
          </p:cNvGrpSpPr>
          <p:nvPr/>
        </p:nvGrpSpPr>
        <p:grpSpPr bwMode="auto">
          <a:xfrm>
            <a:off x="1373188" y="1724025"/>
            <a:ext cx="3122612" cy="2105025"/>
            <a:chOff x="798" y="764"/>
            <a:chExt cx="1816" cy="1326"/>
          </a:xfrm>
        </p:grpSpPr>
        <p:grpSp>
          <p:nvGrpSpPr>
            <p:cNvPr id="43" name="Group 3"/>
            <p:cNvGrpSpPr>
              <a:grpSpLocks/>
            </p:cNvGrpSpPr>
            <p:nvPr/>
          </p:nvGrpSpPr>
          <p:grpSpPr bwMode="auto">
            <a:xfrm>
              <a:off x="1486" y="764"/>
              <a:ext cx="377" cy="288"/>
              <a:chOff x="309" y="2496"/>
              <a:chExt cx="577" cy="440"/>
            </a:xfrm>
          </p:grpSpPr>
          <p:sp>
            <p:nvSpPr>
              <p:cNvPr id="68" name="Oval 4"/>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69" name="Text Box 5"/>
              <p:cNvSpPr txBox="1">
                <a:spLocks noChangeArrowheads="1"/>
              </p:cNvSpPr>
              <p:nvPr/>
            </p:nvSpPr>
            <p:spPr bwMode="auto">
              <a:xfrm>
                <a:off x="309" y="2496"/>
                <a:ext cx="577"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A</a:t>
                </a:r>
                <a:endParaRPr lang="en-US" altLang="zh-CN" sz="3600" b="1">
                  <a:solidFill>
                    <a:srgbClr val="0707F9"/>
                  </a:solidFill>
                  <a:latin typeface="黑体" pitchFamily="2" charset="-122"/>
                  <a:ea typeface="黑体" pitchFamily="2" charset="-122"/>
                </a:endParaRPr>
              </a:p>
            </p:txBody>
          </p:sp>
        </p:grpSp>
        <p:grpSp>
          <p:nvGrpSpPr>
            <p:cNvPr id="44" name="Group 6"/>
            <p:cNvGrpSpPr>
              <a:grpSpLocks/>
            </p:cNvGrpSpPr>
            <p:nvPr/>
          </p:nvGrpSpPr>
          <p:grpSpPr bwMode="auto">
            <a:xfrm>
              <a:off x="2238" y="1392"/>
              <a:ext cx="376" cy="288"/>
              <a:chOff x="4320" y="2591"/>
              <a:chExt cx="576" cy="439"/>
            </a:xfrm>
          </p:grpSpPr>
          <p:sp>
            <p:nvSpPr>
              <p:cNvPr id="66" name="Oval 7"/>
              <p:cNvSpPr>
                <a:spLocks noChangeArrowheads="1"/>
              </p:cNvSpPr>
              <p:nvPr/>
            </p:nvSpPr>
            <p:spPr bwMode="auto">
              <a:xfrm>
                <a:off x="4404" y="2675"/>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67" name="Text Box 8"/>
              <p:cNvSpPr txBox="1">
                <a:spLocks noChangeArrowheads="1"/>
              </p:cNvSpPr>
              <p:nvPr/>
            </p:nvSpPr>
            <p:spPr bwMode="auto">
              <a:xfrm>
                <a:off x="4320" y="2591"/>
                <a:ext cx="576" cy="43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F</a:t>
                </a:r>
                <a:endParaRPr lang="en-US" altLang="zh-CN" sz="2400" b="1">
                  <a:solidFill>
                    <a:srgbClr val="0707F9"/>
                  </a:solidFill>
                  <a:latin typeface="黑体" pitchFamily="2" charset="-122"/>
                  <a:ea typeface="黑体" pitchFamily="2" charset="-122"/>
                </a:endParaRPr>
              </a:p>
            </p:txBody>
          </p:sp>
        </p:grpSp>
        <p:grpSp>
          <p:nvGrpSpPr>
            <p:cNvPr id="45" name="Group 9"/>
            <p:cNvGrpSpPr>
              <a:grpSpLocks/>
            </p:cNvGrpSpPr>
            <p:nvPr/>
          </p:nvGrpSpPr>
          <p:grpSpPr bwMode="auto">
            <a:xfrm>
              <a:off x="1079" y="1802"/>
              <a:ext cx="377" cy="288"/>
              <a:chOff x="309" y="2497"/>
              <a:chExt cx="578" cy="439"/>
            </a:xfrm>
          </p:grpSpPr>
          <p:sp>
            <p:nvSpPr>
              <p:cNvPr id="64" name="Oval 10"/>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65" name="Text Box 11"/>
              <p:cNvSpPr txBox="1">
                <a:spLocks noChangeArrowheads="1"/>
              </p:cNvSpPr>
              <p:nvPr/>
            </p:nvSpPr>
            <p:spPr bwMode="auto">
              <a:xfrm>
                <a:off x="309" y="2497"/>
                <a:ext cx="578" cy="43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G</a:t>
                </a:r>
                <a:endParaRPr lang="en-US" altLang="zh-CN" sz="3600" b="1">
                  <a:solidFill>
                    <a:srgbClr val="0707F9"/>
                  </a:solidFill>
                  <a:latin typeface="黑体" pitchFamily="2" charset="-122"/>
                  <a:ea typeface="黑体" pitchFamily="2" charset="-122"/>
                </a:endParaRPr>
              </a:p>
            </p:txBody>
          </p:sp>
        </p:grpSp>
        <p:grpSp>
          <p:nvGrpSpPr>
            <p:cNvPr id="46" name="Group 12"/>
            <p:cNvGrpSpPr>
              <a:grpSpLocks/>
            </p:cNvGrpSpPr>
            <p:nvPr/>
          </p:nvGrpSpPr>
          <p:grpSpPr bwMode="auto">
            <a:xfrm>
              <a:off x="1330" y="1455"/>
              <a:ext cx="376" cy="288"/>
              <a:chOff x="310" y="2495"/>
              <a:chExt cx="576" cy="439"/>
            </a:xfrm>
          </p:grpSpPr>
          <p:sp>
            <p:nvSpPr>
              <p:cNvPr id="62" name="Oval 13"/>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63" name="Text Box 14"/>
              <p:cNvSpPr txBox="1">
                <a:spLocks noChangeArrowheads="1"/>
              </p:cNvSpPr>
              <p:nvPr/>
            </p:nvSpPr>
            <p:spPr bwMode="auto">
              <a:xfrm>
                <a:off x="310" y="2495"/>
                <a:ext cx="576" cy="43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E</a:t>
                </a:r>
                <a:endParaRPr lang="en-US" altLang="zh-CN" sz="3600" b="1">
                  <a:solidFill>
                    <a:srgbClr val="0707F9"/>
                  </a:solidFill>
                  <a:latin typeface="黑体" pitchFamily="2" charset="-122"/>
                  <a:ea typeface="黑体" pitchFamily="2" charset="-122"/>
                </a:endParaRPr>
              </a:p>
            </p:txBody>
          </p:sp>
        </p:grpSp>
        <p:grpSp>
          <p:nvGrpSpPr>
            <p:cNvPr id="47" name="Group 15"/>
            <p:cNvGrpSpPr>
              <a:grpSpLocks/>
            </p:cNvGrpSpPr>
            <p:nvPr/>
          </p:nvGrpSpPr>
          <p:grpSpPr bwMode="auto">
            <a:xfrm>
              <a:off x="798" y="1455"/>
              <a:ext cx="375" cy="288"/>
              <a:chOff x="310" y="2495"/>
              <a:chExt cx="576" cy="440"/>
            </a:xfrm>
          </p:grpSpPr>
          <p:sp>
            <p:nvSpPr>
              <p:cNvPr id="60" name="Oval 16"/>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61" name="Text Box 17"/>
              <p:cNvSpPr txBox="1">
                <a:spLocks noChangeArrowheads="1"/>
              </p:cNvSpPr>
              <p:nvPr/>
            </p:nvSpPr>
            <p:spPr bwMode="auto">
              <a:xfrm>
                <a:off x="310" y="2495"/>
                <a:ext cx="576"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D</a:t>
                </a:r>
                <a:endParaRPr lang="en-US" altLang="zh-CN" sz="3600" b="1">
                  <a:solidFill>
                    <a:srgbClr val="0707F9"/>
                  </a:solidFill>
                  <a:latin typeface="黑体" pitchFamily="2" charset="-122"/>
                  <a:ea typeface="黑体" pitchFamily="2" charset="-122"/>
                </a:endParaRPr>
              </a:p>
            </p:txBody>
          </p:sp>
        </p:grpSp>
        <p:grpSp>
          <p:nvGrpSpPr>
            <p:cNvPr id="48" name="Group 18"/>
            <p:cNvGrpSpPr>
              <a:grpSpLocks/>
            </p:cNvGrpSpPr>
            <p:nvPr/>
          </p:nvGrpSpPr>
          <p:grpSpPr bwMode="auto">
            <a:xfrm>
              <a:off x="1926" y="1078"/>
              <a:ext cx="375" cy="288"/>
              <a:chOff x="311" y="2495"/>
              <a:chExt cx="575" cy="440"/>
            </a:xfrm>
          </p:grpSpPr>
          <p:sp>
            <p:nvSpPr>
              <p:cNvPr id="58" name="Oval 19"/>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59" name="Text Box 20"/>
              <p:cNvSpPr txBox="1">
                <a:spLocks noChangeArrowheads="1"/>
              </p:cNvSpPr>
              <p:nvPr/>
            </p:nvSpPr>
            <p:spPr bwMode="auto">
              <a:xfrm>
                <a:off x="311" y="2495"/>
                <a:ext cx="575"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C</a:t>
                </a:r>
                <a:endParaRPr lang="en-US" altLang="zh-CN" sz="2400" b="1">
                  <a:solidFill>
                    <a:srgbClr val="0707F9"/>
                  </a:solidFill>
                  <a:latin typeface="黑体" pitchFamily="2" charset="-122"/>
                  <a:ea typeface="黑体" pitchFamily="2" charset="-122"/>
                </a:endParaRPr>
              </a:p>
            </p:txBody>
          </p:sp>
        </p:grpSp>
        <p:grpSp>
          <p:nvGrpSpPr>
            <p:cNvPr id="49" name="Group 21"/>
            <p:cNvGrpSpPr>
              <a:grpSpLocks/>
            </p:cNvGrpSpPr>
            <p:nvPr/>
          </p:nvGrpSpPr>
          <p:grpSpPr bwMode="auto">
            <a:xfrm>
              <a:off x="1079" y="1110"/>
              <a:ext cx="377" cy="288"/>
              <a:chOff x="309" y="2496"/>
              <a:chExt cx="578" cy="440"/>
            </a:xfrm>
          </p:grpSpPr>
          <p:sp>
            <p:nvSpPr>
              <p:cNvPr id="56" name="Oval 22"/>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57" name="Text Box 23"/>
              <p:cNvSpPr txBox="1">
                <a:spLocks noChangeArrowheads="1"/>
              </p:cNvSpPr>
              <p:nvPr/>
            </p:nvSpPr>
            <p:spPr bwMode="auto">
              <a:xfrm>
                <a:off x="309" y="2496"/>
                <a:ext cx="578"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B</a:t>
                </a:r>
                <a:endParaRPr lang="en-US" altLang="zh-CN" sz="2400" b="1">
                  <a:solidFill>
                    <a:srgbClr val="0707F9"/>
                  </a:solidFill>
                  <a:latin typeface="黑体" pitchFamily="2" charset="-122"/>
                  <a:ea typeface="黑体" pitchFamily="2" charset="-122"/>
                </a:endParaRPr>
              </a:p>
            </p:txBody>
          </p:sp>
        </p:grpSp>
        <p:sp>
          <p:nvSpPr>
            <p:cNvPr id="50" name="Line 24"/>
            <p:cNvSpPr>
              <a:spLocks noChangeShapeType="1"/>
            </p:cNvSpPr>
            <p:nvPr/>
          </p:nvSpPr>
          <p:spPr bwMode="auto">
            <a:xfrm flipH="1">
              <a:off x="1299" y="984"/>
              <a:ext cx="251" cy="189"/>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51" name="Line 25"/>
            <p:cNvSpPr>
              <a:spLocks noChangeShapeType="1"/>
            </p:cNvSpPr>
            <p:nvPr/>
          </p:nvSpPr>
          <p:spPr bwMode="auto">
            <a:xfrm>
              <a:off x="1738" y="984"/>
              <a:ext cx="250" cy="18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52" name="Line 26"/>
            <p:cNvSpPr>
              <a:spLocks noChangeShapeType="1"/>
            </p:cNvSpPr>
            <p:nvPr/>
          </p:nvSpPr>
          <p:spPr bwMode="auto">
            <a:xfrm>
              <a:off x="1331" y="1362"/>
              <a:ext cx="156"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53" name="Line 27"/>
            <p:cNvSpPr>
              <a:spLocks noChangeShapeType="1"/>
            </p:cNvSpPr>
            <p:nvPr/>
          </p:nvSpPr>
          <p:spPr bwMode="auto">
            <a:xfrm flipH="1">
              <a:off x="1268" y="1708"/>
              <a:ext cx="159"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54" name="Line 28"/>
            <p:cNvSpPr>
              <a:spLocks noChangeShapeType="1"/>
            </p:cNvSpPr>
            <p:nvPr/>
          </p:nvSpPr>
          <p:spPr bwMode="auto">
            <a:xfrm flipH="1">
              <a:off x="986" y="1362"/>
              <a:ext cx="159"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55" name="Line 29"/>
            <p:cNvSpPr>
              <a:spLocks noChangeShapeType="1"/>
            </p:cNvSpPr>
            <p:nvPr/>
          </p:nvSpPr>
          <p:spPr bwMode="auto">
            <a:xfrm>
              <a:off x="2176" y="1299"/>
              <a:ext cx="157"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sp>
        <p:nvSpPr>
          <p:cNvPr id="70" name="Text Box 30"/>
          <p:cNvSpPr txBox="1">
            <a:spLocks noChangeArrowheads="1"/>
          </p:cNvSpPr>
          <p:nvPr/>
        </p:nvSpPr>
        <p:spPr bwMode="auto">
          <a:xfrm>
            <a:off x="2000250" y="3940175"/>
            <a:ext cx="1752600" cy="457200"/>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r>
              <a:rPr kumimoji="1" lang="en-US" altLang="zh-CN" sz="2400">
                <a:solidFill>
                  <a:srgbClr val="000000"/>
                </a:solidFill>
                <a:latin typeface="隶书" pitchFamily="49" charset="-122"/>
                <a:ea typeface="隶书" pitchFamily="49" charset="-122"/>
              </a:rPr>
              <a:t>(a)</a:t>
            </a:r>
          </a:p>
        </p:txBody>
      </p:sp>
      <p:grpSp>
        <p:nvGrpSpPr>
          <p:cNvPr id="71" name="Group 31"/>
          <p:cNvGrpSpPr>
            <a:grpSpLocks/>
          </p:cNvGrpSpPr>
          <p:nvPr/>
        </p:nvGrpSpPr>
        <p:grpSpPr bwMode="auto">
          <a:xfrm>
            <a:off x="5257800" y="1724025"/>
            <a:ext cx="3009900" cy="2089150"/>
            <a:chOff x="3057" y="764"/>
            <a:chExt cx="1750" cy="1316"/>
          </a:xfrm>
        </p:grpSpPr>
        <p:grpSp>
          <p:nvGrpSpPr>
            <p:cNvPr id="72" name="Group 32"/>
            <p:cNvGrpSpPr>
              <a:grpSpLocks/>
            </p:cNvGrpSpPr>
            <p:nvPr/>
          </p:nvGrpSpPr>
          <p:grpSpPr bwMode="auto">
            <a:xfrm>
              <a:off x="3057" y="1436"/>
              <a:ext cx="376" cy="288"/>
              <a:chOff x="4320" y="2591"/>
              <a:chExt cx="576" cy="439"/>
            </a:xfrm>
          </p:grpSpPr>
          <p:sp>
            <p:nvSpPr>
              <p:cNvPr id="97" name="Oval 33"/>
              <p:cNvSpPr>
                <a:spLocks noChangeArrowheads="1"/>
              </p:cNvSpPr>
              <p:nvPr/>
            </p:nvSpPr>
            <p:spPr bwMode="auto">
              <a:xfrm>
                <a:off x="4404" y="2675"/>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98" name="Text Box 34"/>
              <p:cNvSpPr txBox="1">
                <a:spLocks noChangeArrowheads="1"/>
              </p:cNvSpPr>
              <p:nvPr/>
            </p:nvSpPr>
            <p:spPr bwMode="auto">
              <a:xfrm>
                <a:off x="4320" y="2591"/>
                <a:ext cx="576" cy="43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F</a:t>
                </a:r>
                <a:endParaRPr lang="en-US" altLang="zh-CN" sz="2400" b="1">
                  <a:solidFill>
                    <a:srgbClr val="0707F9"/>
                  </a:solidFill>
                  <a:latin typeface="黑体" pitchFamily="2" charset="-122"/>
                  <a:ea typeface="黑体" pitchFamily="2" charset="-122"/>
                </a:endParaRPr>
              </a:p>
            </p:txBody>
          </p:sp>
        </p:grpSp>
        <p:grpSp>
          <p:nvGrpSpPr>
            <p:cNvPr id="73" name="Group 35"/>
            <p:cNvGrpSpPr>
              <a:grpSpLocks/>
            </p:cNvGrpSpPr>
            <p:nvPr/>
          </p:nvGrpSpPr>
          <p:grpSpPr bwMode="auto">
            <a:xfrm>
              <a:off x="3746" y="764"/>
              <a:ext cx="376" cy="288"/>
              <a:chOff x="309" y="2496"/>
              <a:chExt cx="577" cy="440"/>
            </a:xfrm>
          </p:grpSpPr>
          <p:sp>
            <p:nvSpPr>
              <p:cNvPr id="95" name="Oval 36"/>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96" name="Text Box 37"/>
              <p:cNvSpPr txBox="1">
                <a:spLocks noChangeArrowheads="1"/>
              </p:cNvSpPr>
              <p:nvPr/>
            </p:nvSpPr>
            <p:spPr bwMode="auto">
              <a:xfrm>
                <a:off x="309" y="2496"/>
                <a:ext cx="577"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A</a:t>
                </a:r>
                <a:endParaRPr lang="en-US" altLang="zh-CN" sz="3600" b="1">
                  <a:solidFill>
                    <a:srgbClr val="0707F9"/>
                  </a:solidFill>
                  <a:latin typeface="黑体" pitchFamily="2" charset="-122"/>
                  <a:ea typeface="黑体" pitchFamily="2" charset="-122"/>
                </a:endParaRPr>
              </a:p>
            </p:txBody>
          </p:sp>
        </p:grpSp>
        <p:sp>
          <p:nvSpPr>
            <p:cNvPr id="74" name="Line 38"/>
            <p:cNvSpPr>
              <a:spLocks noChangeShapeType="1"/>
            </p:cNvSpPr>
            <p:nvPr/>
          </p:nvSpPr>
          <p:spPr bwMode="auto">
            <a:xfrm flipH="1">
              <a:off x="3558" y="984"/>
              <a:ext cx="252" cy="189"/>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75" name="Line 39"/>
            <p:cNvSpPr>
              <a:spLocks noChangeShapeType="1"/>
            </p:cNvSpPr>
            <p:nvPr/>
          </p:nvSpPr>
          <p:spPr bwMode="auto">
            <a:xfrm>
              <a:off x="3997" y="984"/>
              <a:ext cx="251" cy="18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76" name="Group 40"/>
            <p:cNvGrpSpPr>
              <a:grpSpLocks/>
            </p:cNvGrpSpPr>
            <p:nvPr/>
          </p:nvGrpSpPr>
          <p:grpSpPr bwMode="auto">
            <a:xfrm>
              <a:off x="4181" y="1792"/>
              <a:ext cx="376" cy="288"/>
              <a:chOff x="309" y="2497"/>
              <a:chExt cx="578" cy="439"/>
            </a:xfrm>
          </p:grpSpPr>
          <p:sp>
            <p:nvSpPr>
              <p:cNvPr id="93" name="Oval 41"/>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94" name="Text Box 42"/>
              <p:cNvSpPr txBox="1">
                <a:spLocks noChangeArrowheads="1"/>
              </p:cNvSpPr>
              <p:nvPr/>
            </p:nvSpPr>
            <p:spPr bwMode="auto">
              <a:xfrm>
                <a:off x="309" y="2497"/>
                <a:ext cx="578" cy="43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G</a:t>
                </a:r>
                <a:endParaRPr lang="en-US" altLang="zh-CN" sz="3600" b="1">
                  <a:solidFill>
                    <a:srgbClr val="0707F9"/>
                  </a:solidFill>
                  <a:latin typeface="黑体" pitchFamily="2" charset="-122"/>
                  <a:ea typeface="黑体" pitchFamily="2" charset="-122"/>
                </a:endParaRPr>
              </a:p>
            </p:txBody>
          </p:sp>
        </p:grpSp>
        <p:grpSp>
          <p:nvGrpSpPr>
            <p:cNvPr id="77" name="Group 43"/>
            <p:cNvGrpSpPr>
              <a:grpSpLocks/>
            </p:cNvGrpSpPr>
            <p:nvPr/>
          </p:nvGrpSpPr>
          <p:grpSpPr bwMode="auto">
            <a:xfrm>
              <a:off x="4432" y="1445"/>
              <a:ext cx="375" cy="288"/>
              <a:chOff x="310" y="2495"/>
              <a:chExt cx="576" cy="439"/>
            </a:xfrm>
          </p:grpSpPr>
          <p:sp>
            <p:nvSpPr>
              <p:cNvPr id="91" name="Oval 44"/>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92" name="Text Box 45"/>
              <p:cNvSpPr txBox="1">
                <a:spLocks noChangeArrowheads="1"/>
              </p:cNvSpPr>
              <p:nvPr/>
            </p:nvSpPr>
            <p:spPr bwMode="auto">
              <a:xfrm>
                <a:off x="310" y="2495"/>
                <a:ext cx="576" cy="43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E</a:t>
                </a:r>
                <a:endParaRPr lang="en-US" altLang="zh-CN" sz="3600" b="1">
                  <a:solidFill>
                    <a:srgbClr val="0707F9"/>
                  </a:solidFill>
                  <a:latin typeface="黑体" pitchFamily="2" charset="-122"/>
                  <a:ea typeface="黑体" pitchFamily="2" charset="-122"/>
                </a:endParaRPr>
              </a:p>
            </p:txBody>
          </p:sp>
        </p:grpSp>
        <p:grpSp>
          <p:nvGrpSpPr>
            <p:cNvPr id="78" name="Group 46"/>
            <p:cNvGrpSpPr>
              <a:grpSpLocks/>
            </p:cNvGrpSpPr>
            <p:nvPr/>
          </p:nvGrpSpPr>
          <p:grpSpPr bwMode="auto">
            <a:xfrm>
              <a:off x="3899" y="1445"/>
              <a:ext cx="376" cy="288"/>
              <a:chOff x="310" y="2495"/>
              <a:chExt cx="576" cy="440"/>
            </a:xfrm>
          </p:grpSpPr>
          <p:sp>
            <p:nvSpPr>
              <p:cNvPr id="89" name="Oval 47"/>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90" name="Text Box 48"/>
              <p:cNvSpPr txBox="1">
                <a:spLocks noChangeArrowheads="1"/>
              </p:cNvSpPr>
              <p:nvPr/>
            </p:nvSpPr>
            <p:spPr bwMode="auto">
              <a:xfrm>
                <a:off x="310" y="2495"/>
                <a:ext cx="576"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D</a:t>
                </a:r>
                <a:endParaRPr lang="en-US" altLang="zh-CN" sz="3600" b="1">
                  <a:solidFill>
                    <a:srgbClr val="0707F9"/>
                  </a:solidFill>
                  <a:latin typeface="黑体" pitchFamily="2" charset="-122"/>
                  <a:ea typeface="黑体" pitchFamily="2" charset="-122"/>
                </a:endParaRPr>
              </a:p>
            </p:txBody>
          </p:sp>
        </p:grpSp>
        <p:grpSp>
          <p:nvGrpSpPr>
            <p:cNvPr id="79" name="Group 49"/>
            <p:cNvGrpSpPr>
              <a:grpSpLocks/>
            </p:cNvGrpSpPr>
            <p:nvPr/>
          </p:nvGrpSpPr>
          <p:grpSpPr bwMode="auto">
            <a:xfrm>
              <a:off x="4181" y="1100"/>
              <a:ext cx="376" cy="288"/>
              <a:chOff x="309" y="2496"/>
              <a:chExt cx="578" cy="440"/>
            </a:xfrm>
          </p:grpSpPr>
          <p:sp>
            <p:nvSpPr>
              <p:cNvPr id="87" name="Oval 50"/>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88" name="Text Box 51"/>
              <p:cNvSpPr txBox="1">
                <a:spLocks noChangeArrowheads="1"/>
              </p:cNvSpPr>
              <p:nvPr/>
            </p:nvSpPr>
            <p:spPr bwMode="auto">
              <a:xfrm>
                <a:off x="309" y="2496"/>
                <a:ext cx="578"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B</a:t>
                </a:r>
                <a:endParaRPr lang="en-US" altLang="zh-CN" sz="2400" b="1">
                  <a:solidFill>
                    <a:srgbClr val="0707F9"/>
                  </a:solidFill>
                  <a:latin typeface="黑体" pitchFamily="2" charset="-122"/>
                  <a:ea typeface="黑体" pitchFamily="2" charset="-122"/>
                </a:endParaRPr>
              </a:p>
            </p:txBody>
          </p:sp>
        </p:grpSp>
        <p:sp>
          <p:nvSpPr>
            <p:cNvPr id="80" name="Line 52"/>
            <p:cNvSpPr>
              <a:spLocks noChangeShapeType="1"/>
            </p:cNvSpPr>
            <p:nvPr/>
          </p:nvSpPr>
          <p:spPr bwMode="auto">
            <a:xfrm>
              <a:off x="4432" y="1352"/>
              <a:ext cx="157"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1" name="Line 53"/>
            <p:cNvSpPr>
              <a:spLocks noChangeShapeType="1"/>
            </p:cNvSpPr>
            <p:nvPr/>
          </p:nvSpPr>
          <p:spPr bwMode="auto">
            <a:xfrm flipH="1">
              <a:off x="4369" y="1698"/>
              <a:ext cx="159"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2" name="Line 54"/>
            <p:cNvSpPr>
              <a:spLocks noChangeShapeType="1"/>
            </p:cNvSpPr>
            <p:nvPr/>
          </p:nvSpPr>
          <p:spPr bwMode="auto">
            <a:xfrm flipH="1">
              <a:off x="4087" y="1352"/>
              <a:ext cx="159" cy="157"/>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3" name="Line 55"/>
            <p:cNvSpPr>
              <a:spLocks noChangeShapeType="1"/>
            </p:cNvSpPr>
            <p:nvPr/>
          </p:nvSpPr>
          <p:spPr bwMode="auto">
            <a:xfrm flipH="1">
              <a:off x="3234" y="1340"/>
              <a:ext cx="162" cy="192"/>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84" name="Group 56"/>
            <p:cNvGrpSpPr>
              <a:grpSpLocks/>
            </p:cNvGrpSpPr>
            <p:nvPr/>
          </p:nvGrpSpPr>
          <p:grpSpPr bwMode="auto">
            <a:xfrm>
              <a:off x="3323" y="1100"/>
              <a:ext cx="376" cy="288"/>
              <a:chOff x="311" y="2495"/>
              <a:chExt cx="575" cy="440"/>
            </a:xfrm>
          </p:grpSpPr>
          <p:sp>
            <p:nvSpPr>
              <p:cNvPr id="85" name="Oval 57"/>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86" name="Text Box 58"/>
              <p:cNvSpPr txBox="1">
                <a:spLocks noChangeArrowheads="1"/>
              </p:cNvSpPr>
              <p:nvPr/>
            </p:nvSpPr>
            <p:spPr bwMode="auto">
              <a:xfrm>
                <a:off x="311" y="2495"/>
                <a:ext cx="575" cy="440"/>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隶书" pitchFamily="49" charset="-122"/>
                    <a:ea typeface="隶书" pitchFamily="49" charset="-122"/>
                  </a:rPr>
                  <a:t> </a:t>
                </a:r>
                <a:r>
                  <a:rPr lang="en-US" altLang="zh-CN" sz="2400" b="1">
                    <a:solidFill>
                      <a:srgbClr val="0707F9"/>
                    </a:solidFill>
                    <a:latin typeface="隶书" pitchFamily="49" charset="-122"/>
                    <a:ea typeface="隶书" pitchFamily="49" charset="-122"/>
                  </a:rPr>
                  <a:t>C</a:t>
                </a:r>
                <a:endParaRPr lang="en-US" altLang="zh-CN" sz="2400" b="1">
                  <a:solidFill>
                    <a:srgbClr val="0707F9"/>
                  </a:solidFill>
                  <a:latin typeface="黑体" pitchFamily="2" charset="-122"/>
                  <a:ea typeface="黑体" pitchFamily="2" charset="-122"/>
                </a:endParaRPr>
              </a:p>
            </p:txBody>
          </p:sp>
        </p:grpSp>
      </p:grpSp>
      <p:sp>
        <p:nvSpPr>
          <p:cNvPr id="99" name="Text Box 59"/>
          <p:cNvSpPr txBox="1">
            <a:spLocks noChangeArrowheads="1"/>
          </p:cNvSpPr>
          <p:nvPr/>
        </p:nvSpPr>
        <p:spPr bwMode="auto">
          <a:xfrm>
            <a:off x="5889625" y="4011613"/>
            <a:ext cx="1752600" cy="457200"/>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r>
              <a:rPr kumimoji="1" lang="en-US" altLang="zh-CN" sz="2400">
                <a:solidFill>
                  <a:srgbClr val="000000"/>
                </a:solidFill>
                <a:latin typeface="隶书" pitchFamily="49" charset="-122"/>
                <a:ea typeface="隶书" pitchFamily="49" charset="-122"/>
              </a:rPr>
              <a:t>(b)</a:t>
            </a:r>
          </a:p>
        </p:txBody>
      </p:sp>
      <p:sp>
        <p:nvSpPr>
          <p:cNvPr id="100" name="AutoShape 60"/>
          <p:cNvSpPr>
            <a:spLocks noChangeArrowheads="1"/>
          </p:cNvSpPr>
          <p:nvPr/>
        </p:nvSpPr>
        <p:spPr bwMode="auto">
          <a:xfrm>
            <a:off x="762000" y="4706938"/>
            <a:ext cx="7777162" cy="1008062"/>
          </a:xfrm>
          <a:prstGeom prst="cloudCallout">
            <a:avLst>
              <a:gd name="adj1" fmla="val -45264"/>
              <a:gd name="adj2" fmla="val 160079"/>
            </a:avLst>
          </a:prstGeom>
          <a:solidFill>
            <a:srgbClr val="FFFFFF"/>
          </a:solidFill>
          <a:ln w="25400" cap="flat" cmpd="sng" algn="ctr">
            <a:solidFill>
              <a:srgbClr val="009DD9"/>
            </a:solidFill>
            <a:prstDash val="solid"/>
            <a:headEnd/>
            <a:tailEnd/>
          </a:ln>
          <a:effec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0707F9"/>
                </a:solidFill>
                <a:effectLst/>
                <a:uLnTx/>
                <a:uFillTx/>
                <a:latin typeface="隶书" pitchFamily="49" charset="-122"/>
                <a:ea typeface="隶书" pitchFamily="49" charset="-122"/>
                <a:cs typeface="+mn-cs"/>
              </a:rPr>
              <a:t>二叉树是有左右之分的</a:t>
            </a:r>
          </a:p>
        </p:txBody>
      </p:sp>
    </p:spTree>
    <p:extLst>
      <p:ext uri="{BB962C8B-B14F-4D97-AF65-F5344CB8AC3E}">
        <p14:creationId xmlns:p14="http://schemas.microsoft.com/office/powerpoint/2010/main" val="51667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P spid="10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5.2.1  </a:t>
            </a:r>
            <a:r>
              <a:rPr kumimoji="1" lang="zh-CN" altLang="en-US" sz="3200" b="1" dirty="0">
                <a:latin typeface="Arial" charset="0"/>
                <a:ea typeface="宋体" charset="-122"/>
                <a:cs typeface="+mn-cs"/>
              </a:rPr>
              <a:t>二叉树的概念</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r>
              <a:rPr lang="zh-CN" altLang="en-US" sz="2800" b="1" dirty="0"/>
              <a:t>二叉树的基本形态</a:t>
            </a:r>
            <a:endParaRPr lang="en-US" altLang="zh-CN" sz="2800" b="1" dirty="0"/>
          </a:p>
        </p:txBody>
      </p:sp>
      <p:sp>
        <p:nvSpPr>
          <p:cNvPr id="4" name="日期占位符 3"/>
          <p:cNvSpPr>
            <a:spLocks noGrp="1"/>
          </p:cNvSpPr>
          <p:nvPr>
            <p:ph type="dt" sz="half" idx="10"/>
          </p:nvPr>
        </p:nvSpPr>
        <p:spPr/>
        <p:txBody>
          <a:bodyPr/>
          <a:lstStyle/>
          <a:p>
            <a:fld id="{C9614C26-E32E-47F5-8F1D-3858D1ACC20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28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useBgFill="1">
        <p:nvSpPr>
          <p:cNvPr id="101" name="Oval 3"/>
          <p:cNvSpPr>
            <a:spLocks noChangeArrowheads="1"/>
          </p:cNvSpPr>
          <p:nvPr/>
        </p:nvSpPr>
        <p:spPr bwMode="auto">
          <a:xfrm>
            <a:off x="3354388" y="2057400"/>
            <a:ext cx="608012" cy="533400"/>
          </a:xfrm>
          <a:prstGeom prst="ellipse">
            <a:avLst/>
          </a:prstGeom>
          <a:ln w="38100" cap="rnd">
            <a:solidFill>
              <a:srgbClr val="04617B"/>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srgbClr val="6600CC"/>
              </a:solidFill>
              <a:effectLst/>
              <a:uLnTx/>
              <a:uFillTx/>
              <a:latin typeface="Times New Roman" pitchFamily="18" charset="0"/>
              <a:ea typeface="楷体_GB2312" pitchFamily="49" charset="-122"/>
            </a:endParaRPr>
          </a:p>
        </p:txBody>
      </p:sp>
      <p:sp>
        <p:nvSpPr>
          <p:cNvPr id="102" name="Text Box 4"/>
          <p:cNvSpPr txBox="1">
            <a:spLocks noChangeArrowheads="1"/>
          </p:cNvSpPr>
          <p:nvPr/>
        </p:nvSpPr>
        <p:spPr bwMode="auto">
          <a:xfrm>
            <a:off x="1028700" y="1981200"/>
            <a:ext cx="2133600" cy="584775"/>
          </a:xfrm>
          <a:prstGeom prst="rect">
            <a:avLst/>
          </a:prstGeom>
          <a:noFill/>
          <a:ln w="12700" cap="rnd">
            <a:noFill/>
            <a:miter lim="800000"/>
            <a:headEnd/>
            <a:tailEnd/>
          </a:ln>
        </p:spPr>
        <p:txBody>
          <a:bodyPr>
            <a:spAutoFit/>
          </a:bodyPr>
          <a:lstStyle/>
          <a:p>
            <a:pPr algn="just" eaLnBrk="0" fontAlgn="base" hangingPunct="0">
              <a:spcBef>
                <a:spcPct val="50000"/>
              </a:spcBef>
              <a:spcAft>
                <a:spcPct val="0"/>
              </a:spcAft>
            </a:pPr>
            <a:r>
              <a:rPr kumimoji="1" lang="en-US" altLang="zh-CN" sz="3200" b="1">
                <a:solidFill>
                  <a:srgbClr val="0707F9"/>
                </a:solidFill>
                <a:latin typeface="隶书" pitchFamily="49" charset="-122"/>
                <a:ea typeface="黑体" pitchFamily="2" charset="-122"/>
              </a:rPr>
              <a:t>φ</a:t>
            </a:r>
          </a:p>
        </p:txBody>
      </p:sp>
      <p:sp>
        <p:nvSpPr>
          <p:cNvPr id="103" name="Text Box 5"/>
          <p:cNvSpPr txBox="1">
            <a:spLocks noChangeArrowheads="1"/>
          </p:cNvSpPr>
          <p:nvPr/>
        </p:nvSpPr>
        <p:spPr bwMode="auto">
          <a:xfrm>
            <a:off x="639926" y="3068638"/>
            <a:ext cx="1082348" cy="400110"/>
          </a:xfrm>
          <a:prstGeom prst="rect">
            <a:avLst/>
          </a:prstGeom>
          <a:noFill/>
          <a:ln w="12700" cap="rnd">
            <a:noFill/>
            <a:miter lim="800000"/>
            <a:headEnd/>
            <a:tailEnd/>
          </a:ln>
        </p:spPr>
        <p:txBody>
          <a:bodyPr wrap="none">
            <a:spAutoFit/>
          </a:bodyPr>
          <a:lstStyle/>
          <a:p>
            <a:pPr algn="ctr" eaLnBrk="0" fontAlgn="base" hangingPunct="0">
              <a:spcBef>
                <a:spcPct val="0"/>
              </a:spcBef>
              <a:spcAft>
                <a:spcPct val="0"/>
              </a:spcAft>
            </a:pPr>
            <a:r>
              <a:rPr kumimoji="1" lang="en-US" altLang="zh-CN" sz="2000" b="1">
                <a:solidFill>
                  <a:srgbClr val="0707F9"/>
                </a:solidFill>
                <a:latin typeface="宋体" pitchFamily="2" charset="-122"/>
              </a:rPr>
              <a:t>(a)</a:t>
            </a:r>
            <a:r>
              <a:rPr kumimoji="1" lang="zh-CN" altLang="en-US" sz="2000" b="1">
                <a:solidFill>
                  <a:srgbClr val="0707F9"/>
                </a:solidFill>
                <a:latin typeface="宋体" pitchFamily="2" charset="-122"/>
              </a:rPr>
              <a:t>空树</a:t>
            </a:r>
          </a:p>
        </p:txBody>
      </p:sp>
      <p:sp>
        <p:nvSpPr>
          <p:cNvPr id="104" name="Text Box 6"/>
          <p:cNvSpPr txBox="1">
            <a:spLocks noChangeArrowheads="1"/>
          </p:cNvSpPr>
          <p:nvPr/>
        </p:nvSpPr>
        <p:spPr bwMode="auto">
          <a:xfrm>
            <a:off x="3153286" y="3124200"/>
            <a:ext cx="1338828" cy="400110"/>
          </a:xfrm>
          <a:prstGeom prst="rect">
            <a:avLst/>
          </a:prstGeom>
          <a:noFill/>
          <a:ln w="12700" cap="rnd">
            <a:noFill/>
            <a:miter lim="800000"/>
            <a:headEnd/>
            <a:tailEnd/>
          </a:ln>
        </p:spPr>
        <p:txBody>
          <a:bodyPr wrap="none">
            <a:spAutoFit/>
          </a:bodyPr>
          <a:lstStyle/>
          <a:p>
            <a:pPr algn="ctr" eaLnBrk="0" fontAlgn="base" hangingPunct="0">
              <a:spcBef>
                <a:spcPct val="0"/>
              </a:spcBef>
              <a:spcAft>
                <a:spcPct val="0"/>
              </a:spcAft>
            </a:pPr>
            <a:r>
              <a:rPr kumimoji="1" lang="en-US" altLang="zh-CN" sz="2000" b="1">
                <a:solidFill>
                  <a:srgbClr val="0707F9"/>
                </a:solidFill>
                <a:latin typeface="宋体" pitchFamily="2" charset="-122"/>
              </a:rPr>
              <a:t>(b)</a:t>
            </a:r>
            <a:r>
              <a:rPr kumimoji="1" lang="zh-CN" altLang="en-US" sz="2000" b="1">
                <a:solidFill>
                  <a:srgbClr val="0707F9"/>
                </a:solidFill>
                <a:latin typeface="宋体" pitchFamily="2" charset="-122"/>
              </a:rPr>
              <a:t>仅有根</a:t>
            </a:r>
          </a:p>
        </p:txBody>
      </p:sp>
      <p:grpSp>
        <p:nvGrpSpPr>
          <p:cNvPr id="105" name="Group 7"/>
          <p:cNvGrpSpPr>
            <a:grpSpLocks/>
          </p:cNvGrpSpPr>
          <p:nvPr/>
        </p:nvGrpSpPr>
        <p:grpSpPr bwMode="auto">
          <a:xfrm>
            <a:off x="5638800" y="1524000"/>
            <a:ext cx="3008162" cy="2035175"/>
            <a:chOff x="3279" y="432"/>
            <a:chExt cx="1749" cy="1282"/>
          </a:xfrm>
        </p:grpSpPr>
        <p:sp useBgFill="1">
          <p:nvSpPr>
            <p:cNvPr id="106" name="Oval 8"/>
            <p:cNvSpPr>
              <a:spLocks noChangeArrowheads="1"/>
            </p:cNvSpPr>
            <p:nvPr/>
          </p:nvSpPr>
          <p:spPr bwMode="auto">
            <a:xfrm>
              <a:off x="4092" y="432"/>
              <a:ext cx="250" cy="238"/>
            </a:xfrm>
            <a:prstGeom prst="ellipse">
              <a:avLst/>
            </a:prstGeom>
            <a:ln w="38100" cap="rnd">
              <a:solidFill>
                <a:srgbClr val="04617B"/>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srgbClr val="6600CC"/>
                </a:solidFill>
                <a:effectLst/>
                <a:uLnTx/>
                <a:uFillTx/>
                <a:latin typeface="Times New Roman" pitchFamily="18" charset="0"/>
                <a:ea typeface="楷体_GB2312" pitchFamily="49" charset="-122"/>
              </a:endParaRPr>
            </a:p>
          </p:txBody>
        </p:sp>
        <p:sp>
          <p:nvSpPr>
            <p:cNvPr id="107" name="Freeform 9"/>
            <p:cNvSpPr>
              <a:spLocks/>
            </p:cNvSpPr>
            <p:nvPr/>
          </p:nvSpPr>
          <p:spPr bwMode="auto">
            <a:xfrm rot="-4604877">
              <a:off x="3083" y="968"/>
              <a:ext cx="942" cy="550"/>
            </a:xfrm>
            <a:custGeom>
              <a:avLst/>
              <a:gdLst>
                <a:gd name="T0" fmla="*/ 11 w 1330"/>
                <a:gd name="T1" fmla="*/ 2 h 844"/>
                <a:gd name="T2" fmla="*/ 4 w 1330"/>
                <a:gd name="T3" fmla="*/ 2 h 844"/>
                <a:gd name="T4" fmla="*/ 1 w 1330"/>
                <a:gd name="T5" fmla="*/ 1 h 844"/>
                <a:gd name="T6" fmla="*/ 2 w 1330"/>
                <a:gd name="T7" fmla="*/ 0 h 844"/>
                <a:gd name="T8" fmla="*/ 7 w 1330"/>
                <a:gd name="T9" fmla="*/ 1 h 844"/>
                <a:gd name="T10" fmla="*/ 11 w 1330"/>
                <a:gd name="T11" fmla="*/ 2 h 844"/>
                <a:gd name="T12" fmla="*/ 11 w 1330"/>
                <a:gd name="T13" fmla="*/ 2 h 844"/>
                <a:gd name="T14" fmla="*/ 0 60000 65536"/>
                <a:gd name="T15" fmla="*/ 0 60000 65536"/>
                <a:gd name="T16" fmla="*/ 0 60000 65536"/>
                <a:gd name="T17" fmla="*/ 0 60000 65536"/>
                <a:gd name="T18" fmla="*/ 0 60000 65536"/>
                <a:gd name="T19" fmla="*/ 0 60000 65536"/>
                <a:gd name="T20" fmla="*/ 0 60000 65536"/>
                <a:gd name="T21" fmla="*/ 0 w 1330"/>
                <a:gd name="T22" fmla="*/ 0 h 844"/>
                <a:gd name="T23" fmla="*/ 1330 w 1330"/>
                <a:gd name="T24" fmla="*/ 844 h 8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30" h="844">
                  <a:moveTo>
                    <a:pt x="1304" y="844"/>
                  </a:moveTo>
                  <a:cubicBezTo>
                    <a:pt x="1179" y="817"/>
                    <a:pt x="790" y="766"/>
                    <a:pt x="580" y="670"/>
                  </a:cubicBezTo>
                  <a:cubicBezTo>
                    <a:pt x="370" y="574"/>
                    <a:pt x="120" y="401"/>
                    <a:pt x="60" y="289"/>
                  </a:cubicBezTo>
                  <a:cubicBezTo>
                    <a:pt x="0" y="177"/>
                    <a:pt x="85" y="4"/>
                    <a:pt x="219" y="0"/>
                  </a:cubicBezTo>
                  <a:cubicBezTo>
                    <a:pt x="355" y="0"/>
                    <a:pt x="677" y="130"/>
                    <a:pt x="862" y="268"/>
                  </a:cubicBezTo>
                  <a:cubicBezTo>
                    <a:pt x="1047" y="406"/>
                    <a:pt x="1256" y="735"/>
                    <a:pt x="1330" y="831"/>
                  </a:cubicBezTo>
                  <a:cubicBezTo>
                    <a:pt x="1330" y="831"/>
                    <a:pt x="1304" y="844"/>
                    <a:pt x="1304" y="844"/>
                  </a:cubicBezTo>
                  <a:close/>
                </a:path>
              </a:pathLst>
            </a:custGeom>
            <a:noFill/>
            <a:ln w="38100" cap="rnd">
              <a:solidFill>
                <a:srgbClr val="04617B"/>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8" name="Line 10"/>
            <p:cNvSpPr>
              <a:spLocks noChangeShapeType="1"/>
            </p:cNvSpPr>
            <p:nvPr/>
          </p:nvSpPr>
          <p:spPr bwMode="auto">
            <a:xfrm flipH="1">
              <a:off x="3905" y="636"/>
              <a:ext cx="218" cy="238"/>
            </a:xfrm>
            <a:prstGeom prst="line">
              <a:avLst/>
            </a:prstGeom>
            <a:noFill/>
            <a:ln w="38100" cap="rnd">
              <a:solidFill>
                <a:srgbClr val="04617B"/>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09" name="Text Box 11"/>
            <p:cNvSpPr txBox="1">
              <a:spLocks noChangeArrowheads="1"/>
            </p:cNvSpPr>
            <p:nvPr/>
          </p:nvSpPr>
          <p:spPr bwMode="auto">
            <a:xfrm>
              <a:off x="4026" y="1440"/>
              <a:ext cx="1002" cy="252"/>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707F9"/>
                  </a:solidFill>
                  <a:effectLst/>
                  <a:uLnTx/>
                  <a:uFillTx/>
                  <a:latin typeface="宋体" pitchFamily="2" charset="-122"/>
                </a:rPr>
                <a:t>(c) </a:t>
              </a:r>
              <a:r>
                <a:rPr kumimoji="1" lang="zh-CN" altLang="en-US" sz="2000" b="1" i="0" u="none" strike="noStrike" kern="0" cap="none" spc="0" normalizeH="0" baseline="0" noProof="0">
                  <a:ln>
                    <a:noFill/>
                  </a:ln>
                  <a:solidFill>
                    <a:srgbClr val="0707F9"/>
                  </a:solidFill>
                  <a:effectLst/>
                  <a:uLnTx/>
                  <a:uFillTx/>
                  <a:latin typeface="宋体" pitchFamily="2" charset="-122"/>
                </a:rPr>
                <a:t>右子树空</a:t>
              </a:r>
            </a:p>
          </p:txBody>
        </p:sp>
      </p:grpSp>
      <p:grpSp>
        <p:nvGrpSpPr>
          <p:cNvPr id="110" name="Group 12"/>
          <p:cNvGrpSpPr>
            <a:grpSpLocks/>
          </p:cNvGrpSpPr>
          <p:nvPr/>
        </p:nvGrpSpPr>
        <p:grpSpPr bwMode="auto">
          <a:xfrm>
            <a:off x="1133607" y="3562350"/>
            <a:ext cx="2371593" cy="2705100"/>
            <a:chOff x="548" y="1921"/>
            <a:chExt cx="1379" cy="1704"/>
          </a:xfrm>
        </p:grpSpPr>
        <p:grpSp>
          <p:nvGrpSpPr>
            <p:cNvPr id="111" name="Group 13"/>
            <p:cNvGrpSpPr>
              <a:grpSpLocks/>
            </p:cNvGrpSpPr>
            <p:nvPr/>
          </p:nvGrpSpPr>
          <p:grpSpPr bwMode="auto">
            <a:xfrm>
              <a:off x="554" y="1921"/>
              <a:ext cx="1373" cy="1325"/>
              <a:chOff x="2293" y="1824"/>
              <a:chExt cx="1373" cy="1325"/>
            </a:xfrm>
          </p:grpSpPr>
          <p:sp useBgFill="1">
            <p:nvSpPr>
              <p:cNvPr id="113" name="Oval 14"/>
              <p:cNvSpPr>
                <a:spLocks noChangeArrowheads="1"/>
              </p:cNvSpPr>
              <p:nvPr/>
            </p:nvSpPr>
            <p:spPr bwMode="auto">
              <a:xfrm rot="-5644679">
                <a:off x="2269" y="1848"/>
                <a:ext cx="325" cy="277"/>
              </a:xfrm>
              <a:prstGeom prst="ellipse">
                <a:avLst/>
              </a:prstGeom>
              <a:ln w="38100" cap="rnd">
                <a:solidFill>
                  <a:srgbClr val="04617B"/>
                </a:solidFill>
                <a:round/>
                <a:headEnd/>
                <a:tailEnd/>
              </a:ln>
            </p:spPr>
            <p:txBody>
              <a:bodyPr vert="eaVert"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srgbClr val="6600CC"/>
                  </a:solidFill>
                  <a:effectLst/>
                  <a:uLnTx/>
                  <a:uFillTx/>
                  <a:latin typeface="Times New Roman" pitchFamily="18" charset="0"/>
                  <a:ea typeface="楷体_GB2312" pitchFamily="49" charset="-122"/>
                </a:endParaRPr>
              </a:p>
            </p:txBody>
          </p:sp>
          <p:sp>
            <p:nvSpPr>
              <p:cNvPr id="114" name="Freeform 15"/>
              <p:cNvSpPr>
                <a:spLocks/>
              </p:cNvSpPr>
              <p:nvPr/>
            </p:nvSpPr>
            <p:spPr bwMode="auto">
              <a:xfrm rot="-10249557">
                <a:off x="2704" y="2434"/>
                <a:ext cx="962" cy="715"/>
              </a:xfrm>
              <a:custGeom>
                <a:avLst/>
                <a:gdLst>
                  <a:gd name="T0" fmla="*/ 14 w 1330"/>
                  <a:gd name="T1" fmla="*/ 82 h 844"/>
                  <a:gd name="T2" fmla="*/ 7 w 1330"/>
                  <a:gd name="T3" fmla="*/ 65 h 844"/>
                  <a:gd name="T4" fmla="*/ 1 w 1330"/>
                  <a:gd name="T5" fmla="*/ 29 h 844"/>
                  <a:gd name="T6" fmla="*/ 3 w 1330"/>
                  <a:gd name="T7" fmla="*/ 0 h 844"/>
                  <a:gd name="T8" fmla="*/ 9 w 1330"/>
                  <a:gd name="T9" fmla="*/ 25 h 844"/>
                  <a:gd name="T10" fmla="*/ 14 w 1330"/>
                  <a:gd name="T11" fmla="*/ 82 h 844"/>
                  <a:gd name="T12" fmla="*/ 14 w 1330"/>
                  <a:gd name="T13" fmla="*/ 82 h 844"/>
                  <a:gd name="T14" fmla="*/ 0 60000 65536"/>
                  <a:gd name="T15" fmla="*/ 0 60000 65536"/>
                  <a:gd name="T16" fmla="*/ 0 60000 65536"/>
                  <a:gd name="T17" fmla="*/ 0 60000 65536"/>
                  <a:gd name="T18" fmla="*/ 0 60000 65536"/>
                  <a:gd name="T19" fmla="*/ 0 60000 65536"/>
                  <a:gd name="T20" fmla="*/ 0 60000 65536"/>
                  <a:gd name="T21" fmla="*/ 0 w 1330"/>
                  <a:gd name="T22" fmla="*/ 0 h 844"/>
                  <a:gd name="T23" fmla="*/ 1330 w 1330"/>
                  <a:gd name="T24" fmla="*/ 844 h 8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30" h="844">
                    <a:moveTo>
                      <a:pt x="1304" y="844"/>
                    </a:moveTo>
                    <a:cubicBezTo>
                      <a:pt x="1179" y="817"/>
                      <a:pt x="790" y="766"/>
                      <a:pt x="580" y="670"/>
                    </a:cubicBezTo>
                    <a:cubicBezTo>
                      <a:pt x="370" y="574"/>
                      <a:pt x="120" y="401"/>
                      <a:pt x="60" y="289"/>
                    </a:cubicBezTo>
                    <a:cubicBezTo>
                      <a:pt x="0" y="177"/>
                      <a:pt x="85" y="4"/>
                      <a:pt x="219" y="0"/>
                    </a:cubicBezTo>
                    <a:cubicBezTo>
                      <a:pt x="355" y="0"/>
                      <a:pt x="677" y="130"/>
                      <a:pt x="862" y="268"/>
                    </a:cubicBezTo>
                    <a:cubicBezTo>
                      <a:pt x="1047" y="406"/>
                      <a:pt x="1256" y="735"/>
                      <a:pt x="1330" y="831"/>
                    </a:cubicBezTo>
                    <a:cubicBezTo>
                      <a:pt x="1330" y="831"/>
                      <a:pt x="1304" y="844"/>
                      <a:pt x="1304" y="844"/>
                    </a:cubicBezTo>
                    <a:close/>
                  </a:path>
                </a:pathLst>
              </a:custGeom>
              <a:noFill/>
              <a:ln w="38100" cap="rnd">
                <a:solidFill>
                  <a:srgbClr val="04617B"/>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5" name="Line 16"/>
              <p:cNvSpPr>
                <a:spLocks noChangeShapeType="1"/>
              </p:cNvSpPr>
              <p:nvPr/>
            </p:nvSpPr>
            <p:spPr bwMode="auto">
              <a:xfrm rot="15955321" flipH="1">
                <a:off x="2510" y="2115"/>
                <a:ext cx="284" cy="243"/>
              </a:xfrm>
              <a:prstGeom prst="line">
                <a:avLst/>
              </a:prstGeom>
              <a:noFill/>
              <a:ln w="38100" cap="rnd">
                <a:solidFill>
                  <a:srgbClr val="04617B"/>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grpSp>
        <p:sp>
          <p:nvSpPr>
            <p:cNvPr id="112" name="Text Box 17"/>
            <p:cNvSpPr txBox="1">
              <a:spLocks noChangeArrowheads="1"/>
            </p:cNvSpPr>
            <p:nvPr/>
          </p:nvSpPr>
          <p:spPr bwMode="auto">
            <a:xfrm>
              <a:off x="548" y="3373"/>
              <a:ext cx="1002" cy="252"/>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0707F9"/>
                  </a:solidFill>
                  <a:effectLst/>
                  <a:uLnTx/>
                  <a:uFillTx/>
                  <a:latin typeface="宋体" pitchFamily="2" charset="-122"/>
                </a:rPr>
                <a:t>(d) </a:t>
              </a:r>
              <a:r>
                <a:rPr kumimoji="1" lang="zh-CN" altLang="en-US" sz="2000" b="1" i="0" u="none" strike="noStrike" kern="0" cap="none" spc="0" normalizeH="0" baseline="0" noProof="0" dirty="0">
                  <a:ln>
                    <a:noFill/>
                  </a:ln>
                  <a:solidFill>
                    <a:srgbClr val="0707F9"/>
                  </a:solidFill>
                  <a:effectLst/>
                  <a:uLnTx/>
                  <a:uFillTx/>
                  <a:latin typeface="宋体" pitchFamily="2" charset="-122"/>
                </a:rPr>
                <a:t>左子树空</a:t>
              </a:r>
            </a:p>
          </p:txBody>
        </p:sp>
      </p:grpSp>
      <p:grpSp>
        <p:nvGrpSpPr>
          <p:cNvPr id="116" name="Group 18"/>
          <p:cNvGrpSpPr>
            <a:grpSpLocks/>
          </p:cNvGrpSpPr>
          <p:nvPr/>
        </p:nvGrpSpPr>
        <p:grpSpPr bwMode="auto">
          <a:xfrm>
            <a:off x="4881563" y="3790950"/>
            <a:ext cx="3581400" cy="2476500"/>
            <a:chOff x="443" y="1824"/>
            <a:chExt cx="2083" cy="1560"/>
          </a:xfrm>
        </p:grpSpPr>
        <p:sp>
          <p:nvSpPr>
            <p:cNvPr id="117" name="Freeform 19"/>
            <p:cNvSpPr>
              <a:spLocks/>
            </p:cNvSpPr>
            <p:nvPr/>
          </p:nvSpPr>
          <p:spPr bwMode="auto">
            <a:xfrm rot="-10110463">
              <a:off x="1590" y="2429"/>
              <a:ext cx="936" cy="710"/>
            </a:xfrm>
            <a:custGeom>
              <a:avLst/>
              <a:gdLst>
                <a:gd name="T0" fmla="*/ 9 w 1330"/>
                <a:gd name="T1" fmla="*/ 75 h 844"/>
                <a:gd name="T2" fmla="*/ 4 w 1330"/>
                <a:gd name="T3" fmla="*/ 60 h 844"/>
                <a:gd name="T4" fmla="*/ 1 w 1330"/>
                <a:gd name="T5" fmla="*/ 25 h 844"/>
                <a:gd name="T6" fmla="*/ 1 w 1330"/>
                <a:gd name="T7" fmla="*/ 0 h 844"/>
                <a:gd name="T8" fmla="*/ 6 w 1330"/>
                <a:gd name="T9" fmla="*/ 24 h 844"/>
                <a:gd name="T10" fmla="*/ 9 w 1330"/>
                <a:gd name="T11" fmla="*/ 73 h 844"/>
                <a:gd name="T12" fmla="*/ 9 w 1330"/>
                <a:gd name="T13" fmla="*/ 75 h 844"/>
                <a:gd name="T14" fmla="*/ 0 60000 65536"/>
                <a:gd name="T15" fmla="*/ 0 60000 65536"/>
                <a:gd name="T16" fmla="*/ 0 60000 65536"/>
                <a:gd name="T17" fmla="*/ 0 60000 65536"/>
                <a:gd name="T18" fmla="*/ 0 60000 65536"/>
                <a:gd name="T19" fmla="*/ 0 60000 65536"/>
                <a:gd name="T20" fmla="*/ 0 60000 65536"/>
                <a:gd name="T21" fmla="*/ 0 w 1330"/>
                <a:gd name="T22" fmla="*/ 0 h 844"/>
                <a:gd name="T23" fmla="*/ 1330 w 1330"/>
                <a:gd name="T24" fmla="*/ 844 h 8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30" h="844">
                  <a:moveTo>
                    <a:pt x="1304" y="844"/>
                  </a:moveTo>
                  <a:cubicBezTo>
                    <a:pt x="1179" y="817"/>
                    <a:pt x="790" y="766"/>
                    <a:pt x="580" y="670"/>
                  </a:cubicBezTo>
                  <a:cubicBezTo>
                    <a:pt x="370" y="574"/>
                    <a:pt x="120" y="401"/>
                    <a:pt x="60" y="289"/>
                  </a:cubicBezTo>
                  <a:cubicBezTo>
                    <a:pt x="0" y="177"/>
                    <a:pt x="85" y="4"/>
                    <a:pt x="219" y="0"/>
                  </a:cubicBezTo>
                  <a:cubicBezTo>
                    <a:pt x="355" y="0"/>
                    <a:pt x="677" y="130"/>
                    <a:pt x="862" y="268"/>
                  </a:cubicBezTo>
                  <a:cubicBezTo>
                    <a:pt x="1047" y="406"/>
                    <a:pt x="1256" y="735"/>
                    <a:pt x="1330" y="831"/>
                  </a:cubicBezTo>
                  <a:cubicBezTo>
                    <a:pt x="1330" y="831"/>
                    <a:pt x="1304" y="844"/>
                    <a:pt x="1304" y="844"/>
                  </a:cubicBezTo>
                  <a:close/>
                </a:path>
              </a:pathLst>
            </a:custGeom>
            <a:noFill/>
            <a:ln w="38100" cap="rnd">
              <a:solidFill>
                <a:srgbClr val="04617B"/>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8" name="Freeform 20"/>
            <p:cNvSpPr>
              <a:spLocks/>
            </p:cNvSpPr>
            <p:nvPr/>
          </p:nvSpPr>
          <p:spPr bwMode="auto">
            <a:xfrm rot="-4604877">
              <a:off x="181" y="2490"/>
              <a:ext cx="1118" cy="594"/>
            </a:xfrm>
            <a:custGeom>
              <a:avLst/>
              <a:gdLst>
                <a:gd name="T0" fmla="*/ 113 w 1330"/>
                <a:gd name="T1" fmla="*/ 6 h 844"/>
                <a:gd name="T2" fmla="*/ 51 w 1330"/>
                <a:gd name="T3" fmla="*/ 5 h 844"/>
                <a:gd name="T4" fmla="*/ 5 w 1330"/>
                <a:gd name="T5" fmla="*/ 2 h 844"/>
                <a:gd name="T6" fmla="*/ 20 w 1330"/>
                <a:gd name="T7" fmla="*/ 0 h 844"/>
                <a:gd name="T8" fmla="*/ 76 w 1330"/>
                <a:gd name="T9" fmla="*/ 2 h 844"/>
                <a:gd name="T10" fmla="*/ 118 w 1330"/>
                <a:gd name="T11" fmla="*/ 6 h 844"/>
                <a:gd name="T12" fmla="*/ 113 w 1330"/>
                <a:gd name="T13" fmla="*/ 6 h 844"/>
                <a:gd name="T14" fmla="*/ 0 60000 65536"/>
                <a:gd name="T15" fmla="*/ 0 60000 65536"/>
                <a:gd name="T16" fmla="*/ 0 60000 65536"/>
                <a:gd name="T17" fmla="*/ 0 60000 65536"/>
                <a:gd name="T18" fmla="*/ 0 60000 65536"/>
                <a:gd name="T19" fmla="*/ 0 60000 65536"/>
                <a:gd name="T20" fmla="*/ 0 60000 65536"/>
                <a:gd name="T21" fmla="*/ 0 w 1330"/>
                <a:gd name="T22" fmla="*/ 0 h 844"/>
                <a:gd name="T23" fmla="*/ 1330 w 1330"/>
                <a:gd name="T24" fmla="*/ 844 h 8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30" h="844">
                  <a:moveTo>
                    <a:pt x="1304" y="844"/>
                  </a:moveTo>
                  <a:cubicBezTo>
                    <a:pt x="1179" y="817"/>
                    <a:pt x="790" y="766"/>
                    <a:pt x="580" y="670"/>
                  </a:cubicBezTo>
                  <a:cubicBezTo>
                    <a:pt x="370" y="574"/>
                    <a:pt x="120" y="401"/>
                    <a:pt x="60" y="289"/>
                  </a:cubicBezTo>
                  <a:cubicBezTo>
                    <a:pt x="0" y="177"/>
                    <a:pt x="85" y="4"/>
                    <a:pt x="219" y="0"/>
                  </a:cubicBezTo>
                  <a:cubicBezTo>
                    <a:pt x="355" y="0"/>
                    <a:pt x="677" y="130"/>
                    <a:pt x="862" y="268"/>
                  </a:cubicBezTo>
                  <a:cubicBezTo>
                    <a:pt x="1047" y="406"/>
                    <a:pt x="1256" y="735"/>
                    <a:pt x="1330" y="831"/>
                  </a:cubicBezTo>
                  <a:cubicBezTo>
                    <a:pt x="1330" y="831"/>
                    <a:pt x="1304" y="844"/>
                    <a:pt x="1304" y="844"/>
                  </a:cubicBezTo>
                  <a:close/>
                </a:path>
              </a:pathLst>
            </a:custGeom>
            <a:noFill/>
            <a:ln w="38100" cap="rnd">
              <a:solidFill>
                <a:srgbClr val="04617B"/>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useBgFill="1">
          <p:nvSpPr>
            <p:cNvPr id="119" name="Oval 21"/>
            <p:cNvSpPr>
              <a:spLocks noChangeArrowheads="1"/>
            </p:cNvSpPr>
            <p:nvPr/>
          </p:nvSpPr>
          <p:spPr bwMode="auto">
            <a:xfrm>
              <a:off x="1253" y="1824"/>
              <a:ext cx="270" cy="283"/>
            </a:xfrm>
            <a:prstGeom prst="ellipse">
              <a:avLst/>
            </a:prstGeom>
            <a:ln w="38100" cap="rnd">
              <a:solidFill>
                <a:srgbClr val="04617B"/>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srgbClr val="6600CC"/>
                </a:solidFill>
                <a:effectLst/>
                <a:uLnTx/>
                <a:uFillTx/>
                <a:latin typeface="Times New Roman" pitchFamily="18" charset="0"/>
                <a:ea typeface="楷体_GB2312" pitchFamily="49" charset="-122"/>
              </a:endParaRPr>
            </a:p>
          </p:txBody>
        </p:sp>
        <p:sp>
          <p:nvSpPr>
            <p:cNvPr id="120" name="Line 22"/>
            <p:cNvSpPr>
              <a:spLocks noChangeShapeType="1"/>
            </p:cNvSpPr>
            <p:nvPr/>
          </p:nvSpPr>
          <p:spPr bwMode="auto">
            <a:xfrm flipH="1">
              <a:off x="1118" y="2066"/>
              <a:ext cx="203" cy="283"/>
            </a:xfrm>
            <a:prstGeom prst="line">
              <a:avLst/>
            </a:prstGeom>
            <a:noFill/>
            <a:ln w="38100" cap="rnd">
              <a:solidFill>
                <a:srgbClr val="04617B"/>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21" name="Line 23"/>
            <p:cNvSpPr>
              <a:spLocks noChangeShapeType="1"/>
            </p:cNvSpPr>
            <p:nvPr/>
          </p:nvSpPr>
          <p:spPr bwMode="auto">
            <a:xfrm>
              <a:off x="1489" y="2066"/>
              <a:ext cx="169" cy="283"/>
            </a:xfrm>
            <a:prstGeom prst="line">
              <a:avLst/>
            </a:prstGeom>
            <a:noFill/>
            <a:ln w="38100" cap="rnd">
              <a:solidFill>
                <a:srgbClr val="04617B"/>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22" name="Text Box 24"/>
            <p:cNvSpPr txBox="1">
              <a:spLocks noChangeArrowheads="1"/>
            </p:cNvSpPr>
            <p:nvPr/>
          </p:nvSpPr>
          <p:spPr bwMode="auto">
            <a:xfrm>
              <a:off x="745" y="3132"/>
              <a:ext cx="1450" cy="252"/>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0707F9"/>
                  </a:solidFill>
                  <a:effectLst/>
                  <a:uLnTx/>
                  <a:uFillTx/>
                  <a:latin typeface="宋体" pitchFamily="2" charset="-122"/>
                </a:rPr>
                <a:t>(e) </a:t>
              </a:r>
              <a:r>
                <a:rPr kumimoji="1" lang="zh-CN" altLang="en-US" sz="2000" b="1" i="0" u="none" strike="noStrike" kern="0" cap="none" spc="0" normalizeH="0" baseline="0" noProof="0" dirty="0">
                  <a:ln>
                    <a:noFill/>
                  </a:ln>
                  <a:solidFill>
                    <a:srgbClr val="0707F9"/>
                  </a:solidFill>
                  <a:effectLst/>
                  <a:uLnTx/>
                  <a:uFillTx/>
                  <a:latin typeface="宋体" pitchFamily="2" charset="-122"/>
                </a:rPr>
                <a:t>左、右子树均在</a:t>
              </a:r>
            </a:p>
          </p:txBody>
        </p:sp>
      </p:grpSp>
    </p:spTree>
    <p:extLst>
      <p:ext uri="{BB962C8B-B14F-4D97-AF65-F5344CB8AC3E}">
        <p14:creationId xmlns:p14="http://schemas.microsoft.com/office/powerpoint/2010/main" val="2978502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5.2.2  </a:t>
            </a:r>
            <a:r>
              <a:rPr kumimoji="1" lang="zh-CN" altLang="en-US" sz="3200" b="1" dirty="0">
                <a:latin typeface="Arial" charset="0"/>
                <a:ea typeface="宋体" charset="-122"/>
                <a:cs typeface="+mn-cs"/>
              </a:rPr>
              <a:t>二叉树的性质</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endParaRPr lang="en-US" altLang="zh-CN" sz="2800" b="1" dirty="0"/>
          </a:p>
        </p:txBody>
      </p:sp>
      <p:sp>
        <p:nvSpPr>
          <p:cNvPr id="4" name="日期占位符 3"/>
          <p:cNvSpPr>
            <a:spLocks noGrp="1"/>
          </p:cNvSpPr>
          <p:nvPr>
            <p:ph type="dt" sz="half" idx="10"/>
          </p:nvPr>
        </p:nvSpPr>
        <p:spPr/>
        <p:txBody>
          <a:bodyPr/>
          <a:lstStyle/>
          <a:p>
            <a:fld id="{69508FC0-3312-4799-A50F-37E2FD26D52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29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01" name="Text Box 2"/>
          <p:cNvSpPr txBox="1">
            <a:spLocks noChangeArrowheads="1"/>
          </p:cNvSpPr>
          <p:nvPr/>
        </p:nvSpPr>
        <p:spPr bwMode="auto">
          <a:xfrm>
            <a:off x="304800" y="3286542"/>
            <a:ext cx="8915400" cy="2123658"/>
          </a:xfrm>
          <a:prstGeom prst="rect">
            <a:avLst/>
          </a:prstGeom>
          <a:noFill/>
          <a:ln w="9525">
            <a:noFill/>
            <a:miter lim="800000"/>
            <a:headEnd/>
            <a:tailEnd/>
          </a:ln>
        </p:spPr>
        <p:txBody>
          <a:bodyPr>
            <a:spAutoFit/>
          </a:bodyPr>
          <a:lstStyle/>
          <a:p>
            <a:pPr fontAlgn="base">
              <a:spcBef>
                <a:spcPct val="50000"/>
              </a:spcBef>
              <a:spcAft>
                <a:spcPct val="0"/>
              </a:spcAft>
            </a:pPr>
            <a:endParaRPr kumimoji="1" lang="zh-CN" altLang="en-US" sz="2400" b="1">
              <a:solidFill>
                <a:srgbClr val="FF0000"/>
              </a:solidFill>
              <a:latin typeface="宋体" pitchFamily="2" charset="-122"/>
            </a:endParaRPr>
          </a:p>
          <a:p>
            <a:pPr fontAlgn="base">
              <a:spcBef>
                <a:spcPct val="50000"/>
              </a:spcBef>
              <a:spcAft>
                <a:spcPct val="0"/>
              </a:spcAft>
            </a:pPr>
            <a:r>
              <a:rPr kumimoji="1" lang="zh-CN" altLang="en-US" sz="2400" b="1">
                <a:solidFill>
                  <a:srgbClr val="0707F9"/>
                </a:solidFill>
                <a:latin typeface="宋体" pitchFamily="2" charset="-122"/>
              </a:rPr>
              <a:t>证明：最多结点数为各层结点个数相加，即</a:t>
            </a:r>
          </a:p>
          <a:p>
            <a:pPr fontAlgn="base">
              <a:spcBef>
                <a:spcPct val="50000"/>
              </a:spcBef>
              <a:spcAft>
                <a:spcPct val="0"/>
              </a:spcAft>
            </a:pPr>
            <a:r>
              <a:rPr kumimoji="1" lang="zh-CN" altLang="en-US" sz="2400" b="1">
                <a:solidFill>
                  <a:srgbClr val="0707F9"/>
                </a:solidFill>
                <a:latin typeface="宋体" pitchFamily="2" charset="-122"/>
              </a:rPr>
              <a:t>     </a:t>
            </a:r>
            <a:r>
              <a:rPr kumimoji="1" lang="en-US" altLang="zh-CN" sz="2400" b="1">
                <a:solidFill>
                  <a:srgbClr val="0707F9"/>
                </a:solidFill>
                <a:latin typeface="宋体" pitchFamily="2" charset="-122"/>
              </a:rPr>
              <a:t>1+2+4+…+2</a:t>
            </a:r>
            <a:r>
              <a:rPr kumimoji="1" lang="en-US" altLang="zh-CN" sz="2400" b="1" baseline="30000">
                <a:solidFill>
                  <a:srgbClr val="0707F9"/>
                </a:solidFill>
                <a:latin typeface="宋体" pitchFamily="2" charset="-122"/>
              </a:rPr>
              <a:t>k-1</a:t>
            </a:r>
            <a:r>
              <a:rPr kumimoji="1" lang="en-US" altLang="zh-CN" sz="2400" b="1">
                <a:solidFill>
                  <a:srgbClr val="0707F9"/>
                </a:solidFill>
                <a:latin typeface="宋体" pitchFamily="2" charset="-122"/>
              </a:rPr>
              <a:t>=2</a:t>
            </a:r>
            <a:r>
              <a:rPr kumimoji="1" lang="en-US" altLang="zh-CN" sz="2400" b="1" baseline="30000">
                <a:solidFill>
                  <a:srgbClr val="0707F9"/>
                </a:solidFill>
                <a:latin typeface="宋体" pitchFamily="2" charset="-122"/>
              </a:rPr>
              <a:t>k</a:t>
            </a:r>
            <a:r>
              <a:rPr kumimoji="1" lang="en-US" altLang="zh-CN" sz="2400" b="1">
                <a:solidFill>
                  <a:srgbClr val="0707F9"/>
                </a:solidFill>
                <a:latin typeface="宋体" pitchFamily="2" charset="-122"/>
              </a:rPr>
              <a:t>-1</a:t>
            </a:r>
          </a:p>
          <a:p>
            <a:pPr fontAlgn="base">
              <a:spcBef>
                <a:spcPct val="50000"/>
              </a:spcBef>
              <a:spcAft>
                <a:spcPct val="0"/>
              </a:spcAft>
            </a:pPr>
            <a:endParaRPr kumimoji="1" lang="zh-CN" altLang="en-US" sz="2400" b="1">
              <a:solidFill>
                <a:srgbClr val="0707F9"/>
              </a:solidFill>
              <a:latin typeface="宋体" pitchFamily="2" charset="-122"/>
            </a:endParaRPr>
          </a:p>
        </p:txBody>
      </p:sp>
      <p:sp>
        <p:nvSpPr>
          <p:cNvPr id="102" name="Text Box 3"/>
          <p:cNvSpPr txBox="1">
            <a:spLocks noChangeArrowheads="1"/>
          </p:cNvSpPr>
          <p:nvPr/>
        </p:nvSpPr>
        <p:spPr bwMode="auto">
          <a:xfrm>
            <a:off x="304800" y="3286542"/>
            <a:ext cx="8915400" cy="461665"/>
          </a:xfrm>
          <a:prstGeom prst="rect">
            <a:avLst/>
          </a:prstGeom>
          <a:noFill/>
          <a:ln w="9525">
            <a:noFill/>
            <a:miter lim="800000"/>
            <a:headEnd/>
            <a:tailEnd/>
          </a:ln>
          <a:effectLst/>
        </p:spPr>
        <p:txBody>
          <a:bodyPr>
            <a:spAutoFit/>
          </a:bodyPr>
          <a:lstStyle/>
          <a:p>
            <a:pPr fontAlgn="base">
              <a:spcBef>
                <a:spcPct val="50000"/>
              </a:spcBef>
              <a:spcAft>
                <a:spcPct val="0"/>
              </a:spcAft>
              <a:defRPr/>
            </a:pPr>
            <a:r>
              <a:rPr kumimoji="1" lang="zh-CN" altLang="en-US" sz="2400" b="1" dirty="0">
                <a:solidFill>
                  <a:srgbClr val="FF0000"/>
                </a:solidFill>
                <a:latin typeface="宋体" pitchFamily="2" charset="-122"/>
              </a:rPr>
              <a:t>性质</a:t>
            </a:r>
            <a:r>
              <a:rPr kumimoji="1" lang="en-US" altLang="zh-CN" sz="2400" b="1" dirty="0">
                <a:solidFill>
                  <a:srgbClr val="FF0000"/>
                </a:solidFill>
                <a:latin typeface="宋体" pitchFamily="2" charset="-122"/>
              </a:rPr>
              <a:t>2</a:t>
            </a:r>
            <a:r>
              <a:rPr kumimoji="1" lang="en-US" altLang="zh-CN" sz="2400" b="1" dirty="0">
                <a:solidFill>
                  <a:srgbClr val="000000"/>
                </a:solidFill>
                <a:latin typeface="宋体" pitchFamily="2" charset="-122"/>
              </a:rPr>
              <a:t>  </a:t>
            </a:r>
            <a:r>
              <a:rPr kumimoji="1" lang="zh-CN" altLang="en-US" sz="2400" b="1" dirty="0">
                <a:solidFill>
                  <a:srgbClr val="000000"/>
                </a:solidFill>
                <a:latin typeface="宋体" pitchFamily="2" charset="-122"/>
              </a:rPr>
              <a:t>深度为</a:t>
            </a:r>
            <a:r>
              <a:rPr kumimoji="1" lang="en-US" altLang="zh-CN" sz="2400" b="1" dirty="0">
                <a:solidFill>
                  <a:srgbClr val="000000"/>
                </a:solidFill>
                <a:latin typeface="宋体" pitchFamily="2" charset="-122"/>
              </a:rPr>
              <a:t>k</a:t>
            </a:r>
            <a:r>
              <a:rPr kumimoji="1" lang="zh-CN" altLang="en-US" sz="2400" b="1" dirty="0">
                <a:solidFill>
                  <a:srgbClr val="000000"/>
                </a:solidFill>
                <a:latin typeface="宋体" pitchFamily="2" charset="-122"/>
              </a:rPr>
              <a:t>的二叉树</a:t>
            </a:r>
            <a:r>
              <a:rPr kumimoji="1" lang="zh-CN" altLang="en-US" sz="2400" b="1" dirty="0">
                <a:solidFill>
                  <a:srgbClr val="FF0000"/>
                </a:solidFill>
                <a:effectLst>
                  <a:outerShdw blurRad="38100" dist="38100" dir="2700000" algn="tl">
                    <a:srgbClr val="000000"/>
                  </a:outerShdw>
                </a:effectLst>
                <a:latin typeface="宋体" pitchFamily="2" charset="-122"/>
              </a:rPr>
              <a:t>最多</a:t>
            </a:r>
            <a:r>
              <a:rPr kumimoji="1" lang="zh-CN" altLang="en-US" sz="2400" b="1" dirty="0">
                <a:solidFill>
                  <a:srgbClr val="000000"/>
                </a:solidFill>
                <a:latin typeface="宋体" pitchFamily="2" charset="-122"/>
              </a:rPr>
              <a:t>有</a:t>
            </a:r>
            <a:r>
              <a:rPr kumimoji="1" lang="en-US" altLang="zh-CN" sz="2400" b="1" dirty="0">
                <a:solidFill>
                  <a:srgbClr val="000000"/>
                </a:solidFill>
                <a:effectLst>
                  <a:outerShdw blurRad="38100" dist="38100" dir="2700000" algn="tl">
                    <a:srgbClr val="FFFFFF"/>
                  </a:outerShdw>
                </a:effectLst>
                <a:latin typeface="宋体" pitchFamily="2" charset="-122"/>
              </a:rPr>
              <a:t>2</a:t>
            </a:r>
            <a:r>
              <a:rPr kumimoji="1" lang="en-US" altLang="zh-CN" sz="2400" b="1" baseline="30000" dirty="0">
                <a:solidFill>
                  <a:srgbClr val="000000"/>
                </a:solidFill>
                <a:effectLst>
                  <a:outerShdw blurRad="38100" dist="38100" dir="2700000" algn="tl">
                    <a:srgbClr val="FFFFFF"/>
                  </a:outerShdw>
                </a:effectLst>
                <a:latin typeface="宋体" pitchFamily="2" charset="-122"/>
              </a:rPr>
              <a:t>k</a:t>
            </a:r>
            <a:r>
              <a:rPr kumimoji="1" lang="en-US" altLang="zh-CN" sz="2400" b="1" dirty="0">
                <a:solidFill>
                  <a:srgbClr val="000000"/>
                </a:solidFill>
                <a:effectLst>
                  <a:outerShdw blurRad="38100" dist="38100" dir="2700000" algn="tl">
                    <a:srgbClr val="FFFFFF"/>
                  </a:outerShdw>
                </a:effectLst>
                <a:latin typeface="宋体" pitchFamily="2" charset="-122"/>
              </a:rPr>
              <a:t>-1</a:t>
            </a:r>
            <a:r>
              <a:rPr kumimoji="1" lang="zh-CN" altLang="en-US" sz="2400" b="1" dirty="0">
                <a:solidFill>
                  <a:srgbClr val="000000"/>
                </a:solidFill>
                <a:latin typeface="宋体" pitchFamily="2" charset="-122"/>
              </a:rPr>
              <a:t>个结点。</a:t>
            </a:r>
            <a:endParaRPr kumimoji="1" lang="zh-CN" altLang="en-US" sz="2400" b="1" dirty="0">
              <a:solidFill>
                <a:srgbClr val="0707F9"/>
              </a:solidFill>
              <a:latin typeface="宋体" pitchFamily="2" charset="-122"/>
            </a:endParaRPr>
          </a:p>
        </p:txBody>
      </p:sp>
      <p:sp>
        <p:nvSpPr>
          <p:cNvPr id="103" name="Text Box 4"/>
          <p:cNvSpPr txBox="1">
            <a:spLocks noChangeArrowheads="1"/>
          </p:cNvSpPr>
          <p:nvPr/>
        </p:nvSpPr>
        <p:spPr bwMode="auto">
          <a:xfrm>
            <a:off x="304800" y="1447800"/>
            <a:ext cx="9477375" cy="461665"/>
          </a:xfrm>
          <a:prstGeom prst="rect">
            <a:avLst/>
          </a:prstGeom>
          <a:noFill/>
          <a:ln w="9525">
            <a:noFill/>
            <a:miter lim="800000"/>
            <a:headEnd/>
            <a:tailEnd/>
          </a:ln>
          <a:effectLst/>
        </p:spPr>
        <p:txBody>
          <a:bodyPr>
            <a:spAutoFit/>
          </a:bodyPr>
          <a:lstStyle/>
          <a:p>
            <a:pPr fontAlgn="base">
              <a:spcBef>
                <a:spcPct val="50000"/>
              </a:spcBef>
              <a:spcAft>
                <a:spcPct val="0"/>
              </a:spcAft>
              <a:defRPr/>
            </a:pPr>
            <a:r>
              <a:rPr kumimoji="1" lang="zh-CN" altLang="en-US" sz="2400" b="1" dirty="0">
                <a:solidFill>
                  <a:srgbClr val="FF0000"/>
                </a:solidFill>
                <a:latin typeface="宋体" pitchFamily="2" charset="-122"/>
              </a:rPr>
              <a:t>性质</a:t>
            </a:r>
            <a:r>
              <a:rPr kumimoji="1" lang="en-US" altLang="zh-CN" sz="2400" b="1" dirty="0">
                <a:solidFill>
                  <a:srgbClr val="FF0000"/>
                </a:solidFill>
                <a:latin typeface="宋体" pitchFamily="2" charset="-122"/>
              </a:rPr>
              <a:t>1</a:t>
            </a:r>
            <a:r>
              <a:rPr kumimoji="1" lang="en-US" altLang="zh-CN" sz="2400" b="1" dirty="0">
                <a:solidFill>
                  <a:srgbClr val="000000"/>
                </a:solidFill>
                <a:latin typeface="宋体" pitchFamily="2" charset="-122"/>
              </a:rPr>
              <a:t>  </a:t>
            </a:r>
            <a:r>
              <a:rPr kumimoji="1" lang="zh-CN" altLang="en-US" sz="2400" b="1" dirty="0">
                <a:solidFill>
                  <a:srgbClr val="000000"/>
                </a:solidFill>
                <a:latin typeface="宋体" pitchFamily="2" charset="-122"/>
              </a:rPr>
              <a:t>在二叉树的第</a:t>
            </a:r>
            <a:r>
              <a:rPr kumimoji="1" lang="en-US" altLang="zh-CN" sz="2400" b="1" dirty="0" err="1">
                <a:solidFill>
                  <a:srgbClr val="000000"/>
                </a:solidFill>
                <a:latin typeface="宋体" pitchFamily="2" charset="-122"/>
              </a:rPr>
              <a:t>i</a:t>
            </a:r>
            <a:r>
              <a:rPr kumimoji="1" lang="en-US" altLang="zh-CN" sz="2400" b="1" dirty="0">
                <a:solidFill>
                  <a:srgbClr val="000000"/>
                </a:solidFill>
                <a:latin typeface="宋体" pitchFamily="2" charset="-122"/>
              </a:rPr>
              <a:t>(i≥1)</a:t>
            </a:r>
            <a:r>
              <a:rPr kumimoji="1" lang="zh-CN" altLang="en-US" sz="2400" b="1" dirty="0">
                <a:solidFill>
                  <a:srgbClr val="000000"/>
                </a:solidFill>
                <a:latin typeface="宋体" pitchFamily="2" charset="-122"/>
              </a:rPr>
              <a:t>层上</a:t>
            </a:r>
            <a:r>
              <a:rPr kumimoji="1" lang="zh-CN" altLang="en-US" sz="2400" b="1" dirty="0">
                <a:solidFill>
                  <a:srgbClr val="FF0000"/>
                </a:solidFill>
                <a:effectLst>
                  <a:outerShdw blurRad="38100" dist="38100" dir="2700000" algn="tl">
                    <a:srgbClr val="000000"/>
                  </a:outerShdw>
                </a:effectLst>
                <a:latin typeface="宋体" pitchFamily="2" charset="-122"/>
              </a:rPr>
              <a:t>至多</a:t>
            </a:r>
            <a:r>
              <a:rPr kumimoji="1" lang="zh-CN" altLang="en-US" sz="2400" b="1" dirty="0">
                <a:solidFill>
                  <a:srgbClr val="000000"/>
                </a:solidFill>
                <a:latin typeface="宋体" pitchFamily="2" charset="-122"/>
              </a:rPr>
              <a:t>有</a:t>
            </a:r>
            <a:r>
              <a:rPr kumimoji="1" lang="en-US" altLang="zh-CN" sz="2400" b="1" dirty="0">
                <a:solidFill>
                  <a:srgbClr val="000000"/>
                </a:solidFill>
                <a:effectLst>
                  <a:outerShdw blurRad="38100" dist="38100" dir="2700000" algn="tl">
                    <a:srgbClr val="FFFFFF"/>
                  </a:outerShdw>
                </a:effectLst>
                <a:latin typeface="宋体" pitchFamily="2" charset="-122"/>
              </a:rPr>
              <a:t>2</a:t>
            </a:r>
            <a:r>
              <a:rPr kumimoji="1" lang="en-US" altLang="zh-CN" sz="2400" b="1" baseline="30000" dirty="0">
                <a:solidFill>
                  <a:srgbClr val="000000"/>
                </a:solidFill>
                <a:effectLst>
                  <a:outerShdw blurRad="38100" dist="38100" dir="2700000" algn="tl">
                    <a:srgbClr val="FFFFFF"/>
                  </a:outerShdw>
                </a:effectLst>
                <a:latin typeface="宋体" pitchFamily="2" charset="-122"/>
              </a:rPr>
              <a:t>i-1</a:t>
            </a:r>
            <a:r>
              <a:rPr kumimoji="1" lang="zh-CN" altLang="en-US" sz="2400" b="1" dirty="0">
                <a:solidFill>
                  <a:srgbClr val="000000"/>
                </a:solidFill>
                <a:latin typeface="宋体" pitchFamily="2" charset="-122"/>
              </a:rPr>
              <a:t>个结点。</a:t>
            </a:r>
            <a:r>
              <a:rPr kumimoji="1" lang="zh-CN" altLang="en-US" sz="2400" b="1" dirty="0">
                <a:solidFill>
                  <a:srgbClr val="FFFF00"/>
                </a:solidFill>
                <a:latin typeface="宋体" pitchFamily="2" charset="-122"/>
              </a:rPr>
              <a:t>     </a:t>
            </a:r>
            <a:endParaRPr kumimoji="1" lang="zh-CN" altLang="en-US" sz="2400" b="1" dirty="0">
              <a:solidFill>
                <a:srgbClr val="0707F9"/>
              </a:solidFill>
              <a:latin typeface="宋体" pitchFamily="2" charset="-122"/>
            </a:endParaRPr>
          </a:p>
        </p:txBody>
      </p:sp>
      <p:sp>
        <p:nvSpPr>
          <p:cNvPr id="104" name="Text Box 6"/>
          <p:cNvSpPr txBox="1">
            <a:spLocks noChangeArrowheads="1"/>
          </p:cNvSpPr>
          <p:nvPr/>
        </p:nvSpPr>
        <p:spPr bwMode="auto">
          <a:xfrm>
            <a:off x="152400" y="2133600"/>
            <a:ext cx="9477375" cy="101566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400" b="1" dirty="0">
                <a:solidFill>
                  <a:srgbClr val="0707F9"/>
                </a:solidFill>
                <a:latin typeface="宋体" pitchFamily="2" charset="-122"/>
              </a:rPr>
              <a:t> 证明：用数学归纳法就可以证明。</a:t>
            </a:r>
          </a:p>
          <a:p>
            <a:pPr fontAlgn="base">
              <a:spcBef>
                <a:spcPct val="50000"/>
              </a:spcBef>
              <a:spcAft>
                <a:spcPct val="0"/>
              </a:spcAft>
            </a:pPr>
            <a:endParaRPr kumimoji="1" lang="zh-CN" altLang="en-US" sz="2400" b="1" dirty="0">
              <a:solidFill>
                <a:srgbClr val="0707F9"/>
              </a:solidFill>
              <a:latin typeface="宋体" pitchFamily="2" charset="-122"/>
            </a:endParaRPr>
          </a:p>
        </p:txBody>
      </p:sp>
      <p:grpSp>
        <p:nvGrpSpPr>
          <p:cNvPr id="105" name="Group 7"/>
          <p:cNvGrpSpPr>
            <a:grpSpLocks/>
          </p:cNvGrpSpPr>
          <p:nvPr/>
        </p:nvGrpSpPr>
        <p:grpSpPr bwMode="auto">
          <a:xfrm>
            <a:off x="6638925" y="4397375"/>
            <a:ext cx="2630488" cy="2211387"/>
            <a:chOff x="4184" y="1200"/>
            <a:chExt cx="1096" cy="1056"/>
          </a:xfrm>
        </p:grpSpPr>
        <p:sp>
          <p:nvSpPr>
            <p:cNvPr id="106" name="Oval 8"/>
            <p:cNvSpPr>
              <a:spLocks noChangeArrowheads="1"/>
            </p:cNvSpPr>
            <p:nvPr/>
          </p:nvSpPr>
          <p:spPr bwMode="auto">
            <a:xfrm>
              <a:off x="4712" y="120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A</a:t>
              </a:r>
            </a:p>
          </p:txBody>
        </p:sp>
        <p:sp>
          <p:nvSpPr>
            <p:cNvPr id="107" name="Oval 9"/>
            <p:cNvSpPr>
              <a:spLocks noChangeArrowheads="1"/>
            </p:cNvSpPr>
            <p:nvPr/>
          </p:nvSpPr>
          <p:spPr bwMode="auto">
            <a:xfrm>
              <a:off x="4509" y="1448"/>
              <a:ext cx="136" cy="136"/>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B</a:t>
              </a:r>
            </a:p>
          </p:txBody>
        </p:sp>
        <p:sp>
          <p:nvSpPr>
            <p:cNvPr id="108" name="Oval 10"/>
            <p:cNvSpPr>
              <a:spLocks noChangeArrowheads="1"/>
            </p:cNvSpPr>
            <p:nvPr/>
          </p:nvSpPr>
          <p:spPr bwMode="auto">
            <a:xfrm>
              <a:off x="4896" y="1448"/>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C</a:t>
              </a:r>
            </a:p>
          </p:txBody>
        </p:sp>
        <p:sp>
          <p:nvSpPr>
            <p:cNvPr id="109" name="Oval 11"/>
            <p:cNvSpPr>
              <a:spLocks noChangeArrowheads="1"/>
            </p:cNvSpPr>
            <p:nvPr/>
          </p:nvSpPr>
          <p:spPr bwMode="auto">
            <a:xfrm>
              <a:off x="4328" y="1784"/>
              <a:ext cx="136" cy="136"/>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D</a:t>
              </a:r>
            </a:p>
          </p:txBody>
        </p:sp>
        <p:sp>
          <p:nvSpPr>
            <p:cNvPr id="110" name="Oval 12"/>
            <p:cNvSpPr>
              <a:spLocks noChangeArrowheads="1"/>
            </p:cNvSpPr>
            <p:nvPr/>
          </p:nvSpPr>
          <p:spPr bwMode="auto">
            <a:xfrm>
              <a:off x="4656" y="1784"/>
              <a:ext cx="136" cy="136"/>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E</a:t>
              </a:r>
            </a:p>
          </p:txBody>
        </p:sp>
        <p:sp>
          <p:nvSpPr>
            <p:cNvPr id="111" name="Oval 13"/>
            <p:cNvSpPr>
              <a:spLocks noChangeArrowheads="1"/>
            </p:cNvSpPr>
            <p:nvPr/>
          </p:nvSpPr>
          <p:spPr bwMode="auto">
            <a:xfrm>
              <a:off x="4848" y="1784"/>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F</a:t>
              </a:r>
            </a:p>
          </p:txBody>
        </p:sp>
        <p:sp>
          <p:nvSpPr>
            <p:cNvPr id="112" name="Oval 14"/>
            <p:cNvSpPr>
              <a:spLocks noChangeArrowheads="1"/>
            </p:cNvSpPr>
            <p:nvPr/>
          </p:nvSpPr>
          <p:spPr bwMode="auto">
            <a:xfrm>
              <a:off x="5144" y="1776"/>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G</a:t>
              </a:r>
            </a:p>
          </p:txBody>
        </p:sp>
        <p:sp>
          <p:nvSpPr>
            <p:cNvPr id="113" name="Oval 15"/>
            <p:cNvSpPr>
              <a:spLocks noChangeArrowheads="1"/>
            </p:cNvSpPr>
            <p:nvPr/>
          </p:nvSpPr>
          <p:spPr bwMode="auto">
            <a:xfrm>
              <a:off x="4416" y="212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I</a:t>
              </a:r>
            </a:p>
          </p:txBody>
        </p:sp>
        <p:sp>
          <p:nvSpPr>
            <p:cNvPr id="114" name="Oval 16"/>
            <p:cNvSpPr>
              <a:spLocks noChangeArrowheads="1"/>
            </p:cNvSpPr>
            <p:nvPr/>
          </p:nvSpPr>
          <p:spPr bwMode="auto">
            <a:xfrm>
              <a:off x="4184" y="212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H</a:t>
              </a:r>
            </a:p>
          </p:txBody>
        </p:sp>
        <p:sp>
          <p:nvSpPr>
            <p:cNvPr id="115" name="Line 17"/>
            <p:cNvSpPr>
              <a:spLocks noChangeShapeType="1"/>
            </p:cNvSpPr>
            <p:nvPr/>
          </p:nvSpPr>
          <p:spPr bwMode="auto">
            <a:xfrm flipH="1">
              <a:off x="4608" y="1344"/>
              <a:ext cx="144" cy="96"/>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16" name="Line 18"/>
            <p:cNvSpPr>
              <a:spLocks noChangeShapeType="1"/>
            </p:cNvSpPr>
            <p:nvPr/>
          </p:nvSpPr>
          <p:spPr bwMode="auto">
            <a:xfrm>
              <a:off x="4800" y="1344"/>
              <a:ext cx="144" cy="96"/>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17" name="Line 19"/>
            <p:cNvSpPr>
              <a:spLocks noChangeShapeType="1"/>
            </p:cNvSpPr>
            <p:nvPr/>
          </p:nvSpPr>
          <p:spPr bwMode="auto">
            <a:xfrm flipH="1">
              <a:off x="4416" y="1584"/>
              <a:ext cx="144"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18" name="Line 20"/>
            <p:cNvSpPr>
              <a:spLocks noChangeShapeType="1"/>
            </p:cNvSpPr>
            <p:nvPr/>
          </p:nvSpPr>
          <p:spPr bwMode="auto">
            <a:xfrm>
              <a:off x="4608" y="1584"/>
              <a:ext cx="96"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19" name="Line 21"/>
            <p:cNvSpPr>
              <a:spLocks noChangeShapeType="1"/>
            </p:cNvSpPr>
            <p:nvPr/>
          </p:nvSpPr>
          <p:spPr bwMode="auto">
            <a:xfrm flipH="1">
              <a:off x="4896" y="1584"/>
              <a:ext cx="48"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20" name="Line 22"/>
            <p:cNvSpPr>
              <a:spLocks noChangeShapeType="1"/>
            </p:cNvSpPr>
            <p:nvPr/>
          </p:nvSpPr>
          <p:spPr bwMode="auto">
            <a:xfrm>
              <a:off x="4992" y="1584"/>
              <a:ext cx="192"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21" name="Line 23"/>
            <p:cNvSpPr>
              <a:spLocks noChangeShapeType="1"/>
            </p:cNvSpPr>
            <p:nvPr/>
          </p:nvSpPr>
          <p:spPr bwMode="auto">
            <a:xfrm flipH="1">
              <a:off x="4272" y="1920"/>
              <a:ext cx="96"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22" name="Line 24"/>
            <p:cNvSpPr>
              <a:spLocks noChangeShapeType="1"/>
            </p:cNvSpPr>
            <p:nvPr/>
          </p:nvSpPr>
          <p:spPr bwMode="auto">
            <a:xfrm>
              <a:off x="4416" y="1920"/>
              <a:ext cx="48" cy="240"/>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123" name="Oval 25"/>
            <p:cNvSpPr>
              <a:spLocks noChangeArrowheads="1"/>
            </p:cNvSpPr>
            <p:nvPr/>
          </p:nvSpPr>
          <p:spPr bwMode="auto">
            <a:xfrm>
              <a:off x="4568" y="212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J</a:t>
              </a:r>
            </a:p>
          </p:txBody>
        </p:sp>
        <p:sp>
          <p:nvSpPr>
            <p:cNvPr id="124" name="Line 26"/>
            <p:cNvSpPr>
              <a:spLocks noChangeShapeType="1"/>
            </p:cNvSpPr>
            <p:nvPr/>
          </p:nvSpPr>
          <p:spPr bwMode="auto">
            <a:xfrm flipH="1">
              <a:off x="4656" y="1920"/>
              <a:ext cx="56" cy="240"/>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grpSp>
      <p:sp>
        <p:nvSpPr>
          <p:cNvPr id="125" name="Text Box 27"/>
          <p:cNvSpPr txBox="1">
            <a:spLocks noChangeArrowheads="1"/>
          </p:cNvSpPr>
          <p:nvPr/>
        </p:nvSpPr>
        <p:spPr bwMode="auto">
          <a:xfrm>
            <a:off x="4732338" y="5468937"/>
            <a:ext cx="3673475" cy="1015663"/>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400" b="1">
                <a:solidFill>
                  <a:srgbClr val="FF0000"/>
                </a:solidFill>
                <a:latin typeface="宋体" pitchFamily="2" charset="-122"/>
              </a:rPr>
              <a:t> </a:t>
            </a:r>
            <a:r>
              <a:rPr kumimoji="1" lang="en-US" altLang="zh-CN" sz="2400" b="1">
                <a:solidFill>
                  <a:srgbClr val="FF0000"/>
                </a:solidFill>
                <a:latin typeface="宋体" pitchFamily="2" charset="-122"/>
              </a:rPr>
              <a:t>k</a:t>
            </a:r>
            <a:r>
              <a:rPr kumimoji="1" lang="zh-CN" altLang="en-US" sz="2400" b="1">
                <a:solidFill>
                  <a:srgbClr val="FF0000"/>
                </a:solidFill>
                <a:latin typeface="宋体" pitchFamily="2" charset="-122"/>
              </a:rPr>
              <a:t>层二叉树</a:t>
            </a:r>
          </a:p>
          <a:p>
            <a:pPr fontAlgn="base">
              <a:spcBef>
                <a:spcPct val="50000"/>
              </a:spcBef>
              <a:spcAft>
                <a:spcPct val="0"/>
              </a:spcAft>
            </a:pPr>
            <a:endParaRPr kumimoji="1" lang="zh-CN" altLang="en-US" sz="2400" b="1">
              <a:solidFill>
                <a:srgbClr val="FF0000"/>
              </a:solidFill>
              <a:latin typeface="宋体" pitchFamily="2" charset="-122"/>
            </a:endParaRPr>
          </a:p>
        </p:txBody>
      </p:sp>
    </p:spTree>
    <p:extLst>
      <p:ext uri="{BB962C8B-B14F-4D97-AF65-F5344CB8AC3E}">
        <p14:creationId xmlns:p14="http://schemas.microsoft.com/office/powerpoint/2010/main" val="1798976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4" grpId="0"/>
      <p:bldP spid="12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5.2.2  </a:t>
            </a:r>
            <a:r>
              <a:rPr kumimoji="1" lang="zh-CN" altLang="en-US" sz="3200" b="1" dirty="0">
                <a:latin typeface="Arial" charset="0"/>
                <a:ea typeface="宋体" charset="-122"/>
                <a:cs typeface="+mn-cs"/>
              </a:rPr>
              <a:t>二叉树的性质</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r>
              <a:rPr lang="zh-CN" altLang="en-US" sz="2800" b="1" dirty="0"/>
              <a:t>两种特殊的二叉树</a:t>
            </a:r>
            <a:endParaRPr lang="en-US" altLang="zh-CN" sz="2800" b="1" dirty="0"/>
          </a:p>
        </p:txBody>
      </p:sp>
      <p:sp>
        <p:nvSpPr>
          <p:cNvPr id="4" name="日期占位符 3"/>
          <p:cNvSpPr>
            <a:spLocks noGrp="1"/>
          </p:cNvSpPr>
          <p:nvPr>
            <p:ph type="dt" sz="half" idx="10"/>
          </p:nvPr>
        </p:nvSpPr>
        <p:spPr/>
        <p:txBody>
          <a:bodyPr/>
          <a:lstStyle/>
          <a:p>
            <a:fld id="{060B3832-16D2-450D-988F-BC0175D4CB8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30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37" name="Group 3"/>
          <p:cNvGrpSpPr>
            <a:grpSpLocks/>
          </p:cNvGrpSpPr>
          <p:nvPr/>
        </p:nvGrpSpPr>
        <p:grpSpPr bwMode="auto">
          <a:xfrm>
            <a:off x="57150" y="2819400"/>
            <a:ext cx="3390900" cy="3018419"/>
            <a:chOff x="624" y="1296"/>
            <a:chExt cx="2544" cy="2196"/>
          </a:xfrm>
        </p:grpSpPr>
        <p:grpSp>
          <p:nvGrpSpPr>
            <p:cNvPr id="38" name="Group 4"/>
            <p:cNvGrpSpPr>
              <a:grpSpLocks/>
            </p:cNvGrpSpPr>
            <p:nvPr/>
          </p:nvGrpSpPr>
          <p:grpSpPr bwMode="auto">
            <a:xfrm>
              <a:off x="1569" y="1296"/>
              <a:ext cx="515" cy="355"/>
              <a:chOff x="310" y="2496"/>
              <a:chExt cx="576" cy="400"/>
            </a:xfrm>
          </p:grpSpPr>
          <p:sp>
            <p:nvSpPr>
              <p:cNvPr id="65" name="Oval 5"/>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66" name="Text Box 6"/>
              <p:cNvSpPr txBox="1">
                <a:spLocks noChangeArrowheads="1"/>
              </p:cNvSpPr>
              <p:nvPr/>
            </p:nvSpPr>
            <p:spPr bwMode="auto">
              <a:xfrm>
                <a:off x="310" y="2496"/>
                <a:ext cx="576" cy="32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DBF5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A</a:t>
                </a:r>
              </a:p>
            </p:txBody>
          </p:sp>
        </p:grpSp>
        <p:grpSp>
          <p:nvGrpSpPr>
            <p:cNvPr id="39" name="Group 7"/>
            <p:cNvGrpSpPr>
              <a:grpSpLocks/>
            </p:cNvGrpSpPr>
            <p:nvPr/>
          </p:nvGrpSpPr>
          <p:grpSpPr bwMode="auto">
            <a:xfrm>
              <a:off x="2557" y="2233"/>
              <a:ext cx="515" cy="355"/>
              <a:chOff x="4320" y="2592"/>
              <a:chExt cx="576" cy="400"/>
            </a:xfrm>
          </p:grpSpPr>
          <p:sp>
            <p:nvSpPr>
              <p:cNvPr id="63" name="Oval 8"/>
              <p:cNvSpPr>
                <a:spLocks noChangeArrowheads="1"/>
              </p:cNvSpPr>
              <p:nvPr/>
            </p:nvSpPr>
            <p:spPr bwMode="auto">
              <a:xfrm>
                <a:off x="4404" y="2675"/>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64" name="Text Box 9"/>
              <p:cNvSpPr txBox="1">
                <a:spLocks noChangeArrowheads="1"/>
              </p:cNvSpPr>
              <p:nvPr/>
            </p:nvSpPr>
            <p:spPr bwMode="auto">
              <a:xfrm>
                <a:off x="4320" y="2592"/>
                <a:ext cx="576" cy="32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G</a:t>
                </a:r>
              </a:p>
            </p:txBody>
          </p:sp>
        </p:grpSp>
        <p:grpSp>
          <p:nvGrpSpPr>
            <p:cNvPr id="40" name="Group 10"/>
            <p:cNvGrpSpPr>
              <a:grpSpLocks/>
            </p:cNvGrpSpPr>
            <p:nvPr/>
          </p:nvGrpSpPr>
          <p:grpSpPr bwMode="auto">
            <a:xfrm>
              <a:off x="1784" y="2230"/>
              <a:ext cx="515" cy="355"/>
              <a:chOff x="310" y="2496"/>
              <a:chExt cx="576" cy="400"/>
            </a:xfrm>
          </p:grpSpPr>
          <p:sp>
            <p:nvSpPr>
              <p:cNvPr id="61" name="Oval 11"/>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62" name="Text Box 12"/>
              <p:cNvSpPr txBox="1">
                <a:spLocks noChangeArrowheads="1"/>
              </p:cNvSpPr>
              <p:nvPr/>
            </p:nvSpPr>
            <p:spPr bwMode="auto">
              <a:xfrm>
                <a:off x="310" y="2496"/>
                <a:ext cx="576" cy="32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F</a:t>
                </a:r>
              </a:p>
            </p:txBody>
          </p:sp>
        </p:grpSp>
        <p:grpSp>
          <p:nvGrpSpPr>
            <p:cNvPr id="41" name="Group 13"/>
            <p:cNvGrpSpPr>
              <a:grpSpLocks/>
            </p:cNvGrpSpPr>
            <p:nvPr/>
          </p:nvGrpSpPr>
          <p:grpSpPr bwMode="auto">
            <a:xfrm>
              <a:off x="1353" y="2233"/>
              <a:ext cx="516" cy="355"/>
              <a:chOff x="309" y="2496"/>
              <a:chExt cx="577" cy="400"/>
            </a:xfrm>
          </p:grpSpPr>
          <p:sp>
            <p:nvSpPr>
              <p:cNvPr id="59" name="Oval 14"/>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60" name="Text Box 15"/>
              <p:cNvSpPr txBox="1">
                <a:spLocks noChangeArrowheads="1"/>
              </p:cNvSpPr>
              <p:nvPr/>
            </p:nvSpPr>
            <p:spPr bwMode="auto">
              <a:xfrm>
                <a:off x="309" y="2496"/>
                <a:ext cx="577" cy="32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E</a:t>
                </a:r>
              </a:p>
            </p:txBody>
          </p:sp>
        </p:grpSp>
        <p:grpSp>
          <p:nvGrpSpPr>
            <p:cNvPr id="42" name="Group 16"/>
            <p:cNvGrpSpPr>
              <a:grpSpLocks/>
            </p:cNvGrpSpPr>
            <p:nvPr/>
          </p:nvGrpSpPr>
          <p:grpSpPr bwMode="auto">
            <a:xfrm>
              <a:off x="624" y="2233"/>
              <a:ext cx="515" cy="355"/>
              <a:chOff x="310" y="2496"/>
              <a:chExt cx="576" cy="400"/>
            </a:xfrm>
          </p:grpSpPr>
          <p:sp>
            <p:nvSpPr>
              <p:cNvPr id="57" name="Oval 17"/>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58" name="Text Box 18"/>
              <p:cNvSpPr txBox="1">
                <a:spLocks noChangeArrowheads="1"/>
              </p:cNvSpPr>
              <p:nvPr/>
            </p:nvSpPr>
            <p:spPr bwMode="auto">
              <a:xfrm>
                <a:off x="310" y="2496"/>
                <a:ext cx="576" cy="32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D</a:t>
                </a:r>
              </a:p>
            </p:txBody>
          </p:sp>
        </p:grpSp>
        <p:grpSp>
          <p:nvGrpSpPr>
            <p:cNvPr id="43" name="Group 19"/>
            <p:cNvGrpSpPr>
              <a:grpSpLocks/>
            </p:cNvGrpSpPr>
            <p:nvPr/>
          </p:nvGrpSpPr>
          <p:grpSpPr bwMode="auto">
            <a:xfrm>
              <a:off x="2169" y="1722"/>
              <a:ext cx="516" cy="355"/>
              <a:chOff x="309" y="2496"/>
              <a:chExt cx="577" cy="400"/>
            </a:xfrm>
          </p:grpSpPr>
          <p:sp>
            <p:nvSpPr>
              <p:cNvPr id="55" name="Oval 20"/>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56" name="Text Box 21"/>
              <p:cNvSpPr txBox="1">
                <a:spLocks noChangeArrowheads="1"/>
              </p:cNvSpPr>
              <p:nvPr/>
            </p:nvSpPr>
            <p:spPr bwMode="auto">
              <a:xfrm>
                <a:off x="309" y="2496"/>
                <a:ext cx="577" cy="32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C</a:t>
                </a:r>
              </a:p>
            </p:txBody>
          </p:sp>
        </p:grpSp>
        <p:grpSp>
          <p:nvGrpSpPr>
            <p:cNvPr id="44" name="Group 22"/>
            <p:cNvGrpSpPr>
              <a:grpSpLocks/>
            </p:cNvGrpSpPr>
            <p:nvPr/>
          </p:nvGrpSpPr>
          <p:grpSpPr bwMode="auto">
            <a:xfrm>
              <a:off x="1011" y="1765"/>
              <a:ext cx="517" cy="354"/>
              <a:chOff x="310" y="2496"/>
              <a:chExt cx="577" cy="400"/>
            </a:xfrm>
          </p:grpSpPr>
          <p:sp>
            <p:nvSpPr>
              <p:cNvPr id="53" name="Oval 23"/>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54" name="Text Box 24"/>
              <p:cNvSpPr txBox="1">
                <a:spLocks noChangeArrowheads="1"/>
              </p:cNvSpPr>
              <p:nvPr/>
            </p:nvSpPr>
            <p:spPr bwMode="auto">
              <a:xfrm>
                <a:off x="310" y="2496"/>
                <a:ext cx="577" cy="32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B</a:t>
                </a:r>
              </a:p>
            </p:txBody>
          </p:sp>
        </p:grpSp>
        <p:grpSp>
          <p:nvGrpSpPr>
            <p:cNvPr id="45" name="Group 25"/>
            <p:cNvGrpSpPr>
              <a:grpSpLocks/>
            </p:cNvGrpSpPr>
            <p:nvPr/>
          </p:nvGrpSpPr>
          <p:grpSpPr bwMode="auto">
            <a:xfrm>
              <a:off x="882" y="1594"/>
              <a:ext cx="1849" cy="724"/>
              <a:chOff x="2640" y="2208"/>
              <a:chExt cx="2067" cy="816"/>
            </a:xfrm>
          </p:grpSpPr>
          <p:sp>
            <p:nvSpPr>
              <p:cNvPr id="47" name="Line 26"/>
              <p:cNvSpPr>
                <a:spLocks noChangeShapeType="1"/>
              </p:cNvSpPr>
              <p:nvPr/>
            </p:nvSpPr>
            <p:spPr bwMode="auto">
              <a:xfrm flipH="1">
                <a:off x="3120" y="2208"/>
                <a:ext cx="384" cy="288"/>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48" name="Line 27"/>
              <p:cNvSpPr>
                <a:spLocks noChangeShapeType="1"/>
              </p:cNvSpPr>
              <p:nvPr/>
            </p:nvSpPr>
            <p:spPr bwMode="auto">
              <a:xfrm>
                <a:off x="3792" y="2208"/>
                <a:ext cx="384" cy="286"/>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49" name="Line 28"/>
              <p:cNvSpPr>
                <a:spLocks noChangeShapeType="1"/>
              </p:cNvSpPr>
              <p:nvPr/>
            </p:nvSpPr>
            <p:spPr bwMode="auto">
              <a:xfrm>
                <a:off x="3168" y="2784"/>
                <a:ext cx="240" cy="240"/>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50" name="Line 29"/>
              <p:cNvSpPr>
                <a:spLocks noChangeShapeType="1"/>
              </p:cNvSpPr>
              <p:nvPr/>
            </p:nvSpPr>
            <p:spPr bwMode="auto">
              <a:xfrm flipH="1">
                <a:off x="3936" y="2736"/>
                <a:ext cx="243" cy="240"/>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51" name="Line 30"/>
              <p:cNvSpPr>
                <a:spLocks noChangeShapeType="1"/>
              </p:cNvSpPr>
              <p:nvPr/>
            </p:nvSpPr>
            <p:spPr bwMode="auto">
              <a:xfrm flipH="1">
                <a:off x="2640" y="2784"/>
                <a:ext cx="243" cy="240"/>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52" name="Line 31"/>
              <p:cNvSpPr>
                <a:spLocks noChangeShapeType="1"/>
              </p:cNvSpPr>
              <p:nvPr/>
            </p:nvSpPr>
            <p:spPr bwMode="auto">
              <a:xfrm>
                <a:off x="4464" y="2736"/>
                <a:ext cx="243" cy="240"/>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grpSp>
        <p:sp>
          <p:nvSpPr>
            <p:cNvPr id="46" name="Text Box 32"/>
            <p:cNvSpPr txBox="1">
              <a:spLocks noChangeArrowheads="1"/>
            </p:cNvSpPr>
            <p:nvPr/>
          </p:nvSpPr>
          <p:spPr bwMode="auto">
            <a:xfrm>
              <a:off x="865" y="2932"/>
              <a:ext cx="2303" cy="560"/>
            </a:xfrm>
            <a:prstGeom prst="rect">
              <a:avLst/>
            </a:prstGeom>
            <a:noFill/>
            <a:ln w="12700" cap="rnd">
              <a:noFill/>
              <a:miter lim="800000"/>
              <a:headEnd/>
              <a:tailEnd/>
            </a:ln>
          </p:spPr>
          <p:txBody>
            <a:bodyPr>
              <a:spAutoFit/>
            </a:bodyPr>
            <a:lstStyle/>
            <a:p>
              <a:pPr algn="ctr" eaLnBrk="0" fontAlgn="base" hangingPunct="0">
                <a:spcBef>
                  <a:spcPct val="20000"/>
                </a:spcBef>
                <a:spcAft>
                  <a:spcPct val="0"/>
                </a:spcAft>
              </a:pPr>
              <a:r>
                <a:rPr kumimoji="1" lang="en-US" altLang="zh-CN" sz="2000" b="1" dirty="0">
                  <a:solidFill>
                    <a:srgbClr val="0707F9"/>
                  </a:solidFill>
                  <a:latin typeface="宋体" pitchFamily="2" charset="-122"/>
                </a:rPr>
                <a:t>(a)</a:t>
              </a:r>
            </a:p>
            <a:p>
              <a:pPr algn="ctr" eaLnBrk="0" fontAlgn="base" hangingPunct="0">
                <a:spcBef>
                  <a:spcPct val="20000"/>
                </a:spcBef>
                <a:spcAft>
                  <a:spcPct val="0"/>
                </a:spcAft>
              </a:pPr>
              <a:r>
                <a:rPr kumimoji="1" lang="en-US" altLang="zh-CN" sz="2000" b="1" dirty="0">
                  <a:solidFill>
                    <a:srgbClr val="0707F9"/>
                  </a:solidFill>
                  <a:latin typeface="宋体" pitchFamily="2" charset="-122"/>
                </a:rPr>
                <a:t>K=3</a:t>
              </a:r>
              <a:r>
                <a:rPr kumimoji="1" lang="zh-CN" altLang="en-US" sz="2000" b="1" dirty="0">
                  <a:solidFill>
                    <a:srgbClr val="0707F9"/>
                  </a:solidFill>
                  <a:latin typeface="宋体" pitchFamily="2" charset="-122"/>
                </a:rPr>
                <a:t>的满二叉树</a:t>
              </a:r>
              <a:endParaRPr kumimoji="1" lang="zh-CN" altLang="en-US" sz="2000" b="1" dirty="0">
                <a:solidFill>
                  <a:srgbClr val="0707F9"/>
                </a:solidFill>
                <a:latin typeface="隶书" pitchFamily="49" charset="-122"/>
                <a:ea typeface="隶书" pitchFamily="49" charset="-122"/>
              </a:endParaRPr>
            </a:p>
          </p:txBody>
        </p:sp>
      </p:grpSp>
      <p:sp>
        <p:nvSpPr>
          <p:cNvPr id="67" name="Text Box 33"/>
          <p:cNvSpPr txBox="1">
            <a:spLocks noChangeArrowheads="1"/>
          </p:cNvSpPr>
          <p:nvPr/>
        </p:nvSpPr>
        <p:spPr bwMode="auto">
          <a:xfrm>
            <a:off x="304800" y="1692414"/>
            <a:ext cx="8650272" cy="400110"/>
          </a:xfrm>
          <a:prstGeom prst="rect">
            <a:avLst/>
          </a:prstGeom>
          <a:noFill/>
          <a:ln w="12700" cap="rnd">
            <a:solidFill>
              <a:srgbClr val="0707F9"/>
            </a:solidFill>
            <a:miter lim="800000"/>
            <a:headEnd/>
            <a:tailEnd/>
          </a:ln>
        </p:spPr>
        <p:txBody>
          <a:bodyPr wrap="square">
            <a:spAutoFit/>
          </a:bodyPr>
          <a:lstStyle/>
          <a:p>
            <a:pPr eaLnBrk="0" fontAlgn="base" hangingPunct="0">
              <a:spcBef>
                <a:spcPct val="30000"/>
              </a:spcBef>
              <a:spcAft>
                <a:spcPct val="0"/>
              </a:spcAft>
              <a:buFont typeface="Wingdings" pitchFamily="2" charset="2"/>
              <a:buNone/>
            </a:pPr>
            <a:r>
              <a:rPr kumimoji="1" lang="zh-CN" altLang="en-US" sz="2000" b="1">
                <a:solidFill>
                  <a:srgbClr val="FF0000"/>
                </a:solidFill>
                <a:latin typeface="宋体" pitchFamily="2" charset="-122"/>
              </a:rPr>
              <a:t>满二叉树：</a:t>
            </a:r>
            <a:r>
              <a:rPr kumimoji="1" lang="zh-CN" altLang="en-US" sz="2000" b="1">
                <a:solidFill>
                  <a:srgbClr val="0707F9"/>
                </a:solidFill>
                <a:latin typeface="宋体" pitchFamily="2" charset="-122"/>
              </a:rPr>
              <a:t>如果深度为</a:t>
            </a:r>
            <a:r>
              <a:rPr kumimoji="1" lang="en-US" altLang="zh-CN" sz="2000" b="1">
                <a:solidFill>
                  <a:srgbClr val="0707F9"/>
                </a:solidFill>
                <a:latin typeface="宋体" pitchFamily="2" charset="-122"/>
              </a:rPr>
              <a:t>k</a:t>
            </a:r>
            <a:r>
              <a:rPr kumimoji="1" lang="zh-CN" altLang="en-US" sz="2000" b="1">
                <a:solidFill>
                  <a:srgbClr val="0707F9"/>
                </a:solidFill>
                <a:latin typeface="宋体" pitchFamily="2" charset="-122"/>
              </a:rPr>
              <a:t>的二叉树，有</a:t>
            </a:r>
            <a:r>
              <a:rPr kumimoji="1" lang="en-US" altLang="zh-CN" sz="2000" b="1">
                <a:solidFill>
                  <a:srgbClr val="0707F9"/>
                </a:solidFill>
                <a:latin typeface="宋体" pitchFamily="2" charset="-122"/>
              </a:rPr>
              <a:t>2</a:t>
            </a:r>
            <a:r>
              <a:rPr kumimoji="1" lang="en-US" altLang="zh-CN" sz="2000" b="1" baseline="30000">
                <a:solidFill>
                  <a:srgbClr val="0707F9"/>
                </a:solidFill>
                <a:latin typeface="宋体" pitchFamily="2" charset="-122"/>
              </a:rPr>
              <a:t>k</a:t>
            </a:r>
            <a:r>
              <a:rPr kumimoji="1" lang="en-US" altLang="zh-CN" sz="2000" b="1">
                <a:solidFill>
                  <a:srgbClr val="0707F9"/>
                </a:solidFill>
                <a:latin typeface="宋体" pitchFamily="2" charset="-122"/>
              </a:rPr>
              <a:t>-1</a:t>
            </a:r>
            <a:r>
              <a:rPr kumimoji="1" lang="zh-CN" altLang="en-US" sz="2000" b="1">
                <a:solidFill>
                  <a:srgbClr val="0707F9"/>
                </a:solidFill>
                <a:latin typeface="宋体" pitchFamily="2" charset="-122"/>
              </a:rPr>
              <a:t>个结点则称为满二叉树；</a:t>
            </a:r>
          </a:p>
        </p:txBody>
      </p:sp>
      <p:sp>
        <p:nvSpPr>
          <p:cNvPr id="68" name="Text Box 35"/>
          <p:cNvSpPr txBox="1">
            <a:spLocks noChangeArrowheads="1"/>
          </p:cNvSpPr>
          <p:nvPr/>
        </p:nvSpPr>
        <p:spPr bwMode="auto">
          <a:xfrm>
            <a:off x="273050" y="2209800"/>
            <a:ext cx="8679715" cy="707886"/>
          </a:xfrm>
          <a:prstGeom prst="rect">
            <a:avLst/>
          </a:prstGeom>
          <a:noFill/>
          <a:ln w="12700" cap="rnd">
            <a:solidFill>
              <a:srgbClr val="0707F9"/>
            </a:solidFill>
            <a:miter lim="800000"/>
            <a:headEnd/>
            <a:tailEnd/>
          </a:ln>
        </p:spPr>
        <p:txBody>
          <a:bodyPr wrap="square">
            <a:spAutoFit/>
          </a:bodyPr>
          <a:lstStyle/>
          <a:p>
            <a:pPr eaLnBrk="0" fontAlgn="base" hangingPunct="0">
              <a:spcBef>
                <a:spcPct val="0"/>
              </a:spcBef>
              <a:spcAft>
                <a:spcPct val="0"/>
              </a:spcAft>
            </a:pPr>
            <a:r>
              <a:rPr kumimoji="1" lang="zh-CN" altLang="en-US" sz="2000" dirty="0">
                <a:solidFill>
                  <a:srgbClr val="FF0000"/>
                </a:solidFill>
                <a:latin typeface="Times New Roman" pitchFamily="18" charset="0"/>
                <a:ea typeface="黑体" pitchFamily="2" charset="-122"/>
              </a:rPr>
              <a:t>完全二叉树</a:t>
            </a:r>
            <a:r>
              <a:rPr kumimoji="1" lang="zh-CN" altLang="en-US" sz="2000" dirty="0">
                <a:solidFill>
                  <a:srgbClr val="0707F9"/>
                </a:solidFill>
                <a:latin typeface="Times New Roman" pitchFamily="18" charset="0"/>
                <a:ea typeface="黑体" pitchFamily="2" charset="-122"/>
              </a:rPr>
              <a:t>：</a:t>
            </a:r>
            <a:r>
              <a:rPr kumimoji="1" lang="zh-CN" altLang="en-US" sz="2000" b="1" dirty="0">
                <a:solidFill>
                  <a:srgbClr val="0707F9"/>
                </a:solidFill>
                <a:latin typeface="宋体" pitchFamily="2" charset="-122"/>
              </a:rPr>
              <a:t>二叉树中所含的 </a:t>
            </a:r>
            <a:r>
              <a:rPr kumimoji="1" lang="en-US" altLang="zh-CN" sz="2000" b="1" dirty="0">
                <a:solidFill>
                  <a:srgbClr val="0707F9"/>
                </a:solidFill>
                <a:latin typeface="宋体" pitchFamily="2" charset="-122"/>
              </a:rPr>
              <a:t>n </a:t>
            </a:r>
            <a:r>
              <a:rPr kumimoji="1" lang="zh-CN" altLang="en-US" sz="2000" b="1" dirty="0">
                <a:solidFill>
                  <a:srgbClr val="0707F9"/>
                </a:solidFill>
                <a:latin typeface="宋体" pitchFamily="2" charset="-122"/>
              </a:rPr>
              <a:t>个结点和满二叉树中编号为</a:t>
            </a:r>
            <a:r>
              <a:rPr kumimoji="1" lang="en-US" altLang="zh-CN" sz="2000" b="1" dirty="0">
                <a:solidFill>
                  <a:srgbClr val="0707F9"/>
                </a:solidFill>
                <a:latin typeface="宋体" pitchFamily="2" charset="-122"/>
              </a:rPr>
              <a:t>1</a:t>
            </a:r>
            <a:r>
              <a:rPr kumimoji="1" lang="zh-CN" altLang="en-US" sz="2000" b="1" dirty="0">
                <a:solidFill>
                  <a:srgbClr val="0707F9"/>
                </a:solidFill>
                <a:latin typeface="宋体" pitchFamily="2" charset="-122"/>
              </a:rPr>
              <a:t>至</a:t>
            </a:r>
            <a:r>
              <a:rPr kumimoji="1" lang="en-US" altLang="zh-CN" sz="2000" b="1" dirty="0">
                <a:solidFill>
                  <a:srgbClr val="0707F9"/>
                </a:solidFill>
                <a:latin typeface="宋体" pitchFamily="2" charset="-122"/>
              </a:rPr>
              <a:t>n</a:t>
            </a:r>
            <a:r>
              <a:rPr kumimoji="1" lang="zh-CN" altLang="en-US" sz="2000" b="1" dirty="0">
                <a:solidFill>
                  <a:srgbClr val="0707F9"/>
                </a:solidFill>
                <a:latin typeface="宋体" pitchFamily="2" charset="-122"/>
              </a:rPr>
              <a:t>的</a:t>
            </a:r>
          </a:p>
          <a:p>
            <a:pPr eaLnBrk="0" fontAlgn="base" hangingPunct="0">
              <a:spcBef>
                <a:spcPct val="0"/>
              </a:spcBef>
              <a:spcAft>
                <a:spcPct val="0"/>
              </a:spcAft>
            </a:pPr>
            <a:r>
              <a:rPr kumimoji="1" lang="zh-CN" altLang="en-US" sz="2000" b="1" dirty="0">
                <a:solidFill>
                  <a:srgbClr val="0707F9"/>
                </a:solidFill>
                <a:latin typeface="宋体" pitchFamily="2" charset="-122"/>
              </a:rPr>
              <a:t>            结点</a:t>
            </a:r>
            <a:r>
              <a:rPr kumimoji="1" lang="zh-CN" altLang="en-US" sz="2000" b="1" dirty="0">
                <a:solidFill>
                  <a:srgbClr val="FF3300"/>
                </a:solidFill>
                <a:latin typeface="宋体" pitchFamily="2" charset="-122"/>
              </a:rPr>
              <a:t>一一对应</a:t>
            </a:r>
            <a:r>
              <a:rPr kumimoji="1" lang="zh-CN" altLang="en-US" sz="2000" b="1" dirty="0">
                <a:solidFill>
                  <a:srgbClr val="0707F9"/>
                </a:solidFill>
                <a:latin typeface="宋体" pitchFamily="2" charset="-122"/>
              </a:rPr>
              <a:t>。</a:t>
            </a:r>
            <a:endParaRPr kumimoji="1" lang="zh-CN" altLang="en-US" sz="2000" dirty="0">
              <a:solidFill>
                <a:srgbClr val="0707F9"/>
              </a:solidFill>
              <a:latin typeface="Times New Roman" pitchFamily="18" charset="0"/>
              <a:ea typeface="黑体" pitchFamily="2" charset="-122"/>
            </a:endParaRPr>
          </a:p>
        </p:txBody>
      </p:sp>
      <p:grpSp>
        <p:nvGrpSpPr>
          <p:cNvPr id="69" name="Group 36"/>
          <p:cNvGrpSpPr>
            <a:grpSpLocks/>
          </p:cNvGrpSpPr>
          <p:nvPr/>
        </p:nvGrpSpPr>
        <p:grpSpPr bwMode="auto">
          <a:xfrm>
            <a:off x="3055938" y="2959100"/>
            <a:ext cx="3344862" cy="2471833"/>
            <a:chOff x="3102" y="1172"/>
            <a:chExt cx="1993" cy="1603"/>
          </a:xfrm>
        </p:grpSpPr>
        <p:grpSp>
          <p:nvGrpSpPr>
            <p:cNvPr id="70" name="Group 37"/>
            <p:cNvGrpSpPr>
              <a:grpSpLocks/>
            </p:cNvGrpSpPr>
            <p:nvPr/>
          </p:nvGrpSpPr>
          <p:grpSpPr bwMode="auto">
            <a:xfrm>
              <a:off x="4015" y="1172"/>
              <a:ext cx="499" cy="332"/>
              <a:chOff x="310" y="2496"/>
              <a:chExt cx="576" cy="400"/>
            </a:xfrm>
          </p:grpSpPr>
          <p:sp>
            <p:nvSpPr>
              <p:cNvPr id="88" name="Oval 38"/>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89" name="Text Box 39"/>
              <p:cNvSpPr txBox="1">
                <a:spLocks noChangeArrowheads="1"/>
              </p:cNvSpPr>
              <p:nvPr/>
            </p:nvSpPr>
            <p:spPr bwMode="auto">
              <a:xfrm>
                <a:off x="310" y="2496"/>
                <a:ext cx="576" cy="313"/>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黑体" pitchFamily="2" charset="-122"/>
                    <a:ea typeface="黑体" pitchFamily="2" charset="-122"/>
                  </a:rPr>
                  <a:t> </a:t>
                </a:r>
                <a:r>
                  <a:rPr lang="en-US" altLang="zh-CN" sz="2000" b="1">
                    <a:solidFill>
                      <a:srgbClr val="0707F9"/>
                    </a:solidFill>
                    <a:latin typeface="黑体" pitchFamily="2" charset="-122"/>
                    <a:ea typeface="黑体" pitchFamily="2" charset="-122"/>
                  </a:rPr>
                  <a:t>A</a:t>
                </a:r>
              </a:p>
            </p:txBody>
          </p:sp>
        </p:grpSp>
        <p:grpSp>
          <p:nvGrpSpPr>
            <p:cNvPr id="71" name="Group 40"/>
            <p:cNvGrpSpPr>
              <a:grpSpLocks/>
            </p:cNvGrpSpPr>
            <p:nvPr/>
          </p:nvGrpSpPr>
          <p:grpSpPr bwMode="auto">
            <a:xfrm>
              <a:off x="3808" y="2047"/>
              <a:ext cx="498" cy="332"/>
              <a:chOff x="310" y="2495"/>
              <a:chExt cx="576" cy="401"/>
            </a:xfrm>
          </p:grpSpPr>
          <p:sp>
            <p:nvSpPr>
              <p:cNvPr id="86" name="Oval 41"/>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87" name="Text Box 42"/>
              <p:cNvSpPr txBox="1">
                <a:spLocks noChangeArrowheads="1"/>
              </p:cNvSpPr>
              <p:nvPr/>
            </p:nvSpPr>
            <p:spPr bwMode="auto">
              <a:xfrm>
                <a:off x="310" y="2495"/>
                <a:ext cx="576" cy="313"/>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黑体" pitchFamily="2" charset="-122"/>
                    <a:ea typeface="黑体" pitchFamily="2" charset="-122"/>
                  </a:rPr>
                  <a:t> </a:t>
                </a:r>
                <a:r>
                  <a:rPr lang="en-US" altLang="zh-CN" sz="2000" b="1">
                    <a:solidFill>
                      <a:srgbClr val="0707F9"/>
                    </a:solidFill>
                    <a:latin typeface="黑体" pitchFamily="2" charset="-122"/>
                    <a:ea typeface="黑体" pitchFamily="2" charset="-122"/>
                  </a:rPr>
                  <a:t>E</a:t>
                </a:r>
              </a:p>
            </p:txBody>
          </p:sp>
        </p:grpSp>
        <p:grpSp>
          <p:nvGrpSpPr>
            <p:cNvPr id="72" name="Group 43"/>
            <p:cNvGrpSpPr>
              <a:grpSpLocks/>
            </p:cNvGrpSpPr>
            <p:nvPr/>
          </p:nvGrpSpPr>
          <p:grpSpPr bwMode="auto">
            <a:xfrm>
              <a:off x="3102" y="2047"/>
              <a:ext cx="498" cy="332"/>
              <a:chOff x="310" y="2496"/>
              <a:chExt cx="576" cy="400"/>
            </a:xfrm>
          </p:grpSpPr>
          <p:sp>
            <p:nvSpPr>
              <p:cNvPr id="84" name="Oval 44"/>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85" name="Text Box 45"/>
              <p:cNvSpPr txBox="1">
                <a:spLocks noChangeArrowheads="1"/>
              </p:cNvSpPr>
              <p:nvPr/>
            </p:nvSpPr>
            <p:spPr bwMode="auto">
              <a:xfrm>
                <a:off x="310" y="2496"/>
                <a:ext cx="576" cy="313"/>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D</a:t>
                </a:r>
              </a:p>
            </p:txBody>
          </p:sp>
        </p:grpSp>
        <p:grpSp>
          <p:nvGrpSpPr>
            <p:cNvPr id="73" name="Group 46"/>
            <p:cNvGrpSpPr>
              <a:grpSpLocks/>
            </p:cNvGrpSpPr>
            <p:nvPr/>
          </p:nvGrpSpPr>
          <p:grpSpPr bwMode="auto">
            <a:xfrm>
              <a:off x="4597" y="1570"/>
              <a:ext cx="498" cy="332"/>
              <a:chOff x="310" y="2496"/>
              <a:chExt cx="576" cy="400"/>
            </a:xfrm>
          </p:grpSpPr>
          <p:sp>
            <p:nvSpPr>
              <p:cNvPr id="82" name="Oval 47"/>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83" name="Text Box 48"/>
              <p:cNvSpPr txBox="1">
                <a:spLocks noChangeArrowheads="1"/>
              </p:cNvSpPr>
              <p:nvPr/>
            </p:nvSpPr>
            <p:spPr bwMode="auto">
              <a:xfrm>
                <a:off x="310" y="2496"/>
                <a:ext cx="576" cy="313"/>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C</a:t>
                </a:r>
              </a:p>
            </p:txBody>
          </p:sp>
        </p:grpSp>
        <p:grpSp>
          <p:nvGrpSpPr>
            <p:cNvPr id="74" name="Group 49"/>
            <p:cNvGrpSpPr>
              <a:grpSpLocks/>
            </p:cNvGrpSpPr>
            <p:nvPr/>
          </p:nvGrpSpPr>
          <p:grpSpPr bwMode="auto">
            <a:xfrm>
              <a:off x="3475" y="1610"/>
              <a:ext cx="499" cy="331"/>
              <a:chOff x="310" y="2496"/>
              <a:chExt cx="576" cy="400"/>
            </a:xfrm>
          </p:grpSpPr>
          <p:sp>
            <p:nvSpPr>
              <p:cNvPr id="80" name="Oval 50"/>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81" name="Text Box 51"/>
              <p:cNvSpPr txBox="1">
                <a:spLocks noChangeArrowheads="1"/>
              </p:cNvSpPr>
              <p:nvPr/>
            </p:nvSpPr>
            <p:spPr bwMode="auto">
              <a:xfrm>
                <a:off x="310" y="2496"/>
                <a:ext cx="576" cy="314"/>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B</a:t>
                </a:r>
              </a:p>
            </p:txBody>
          </p:sp>
        </p:grpSp>
        <p:sp>
          <p:nvSpPr>
            <p:cNvPr id="75" name="Line 52"/>
            <p:cNvSpPr>
              <a:spLocks noChangeShapeType="1"/>
            </p:cNvSpPr>
            <p:nvPr/>
          </p:nvSpPr>
          <p:spPr bwMode="auto">
            <a:xfrm flipH="1">
              <a:off x="3766" y="1451"/>
              <a:ext cx="332" cy="238"/>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76" name="Line 53"/>
            <p:cNvSpPr>
              <a:spLocks noChangeShapeType="1"/>
            </p:cNvSpPr>
            <p:nvPr/>
          </p:nvSpPr>
          <p:spPr bwMode="auto">
            <a:xfrm>
              <a:off x="4348" y="1451"/>
              <a:ext cx="332" cy="237"/>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77" name="Line 54"/>
            <p:cNvSpPr>
              <a:spLocks noChangeShapeType="1"/>
            </p:cNvSpPr>
            <p:nvPr/>
          </p:nvSpPr>
          <p:spPr bwMode="auto">
            <a:xfrm>
              <a:off x="3808" y="1928"/>
              <a:ext cx="207" cy="199"/>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78" name="Line 55"/>
            <p:cNvSpPr>
              <a:spLocks noChangeShapeType="1"/>
            </p:cNvSpPr>
            <p:nvPr/>
          </p:nvSpPr>
          <p:spPr bwMode="auto">
            <a:xfrm flipH="1">
              <a:off x="3351" y="1928"/>
              <a:ext cx="210" cy="199"/>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79" name="Text Box 56"/>
            <p:cNvSpPr txBox="1">
              <a:spLocks noChangeArrowheads="1"/>
            </p:cNvSpPr>
            <p:nvPr/>
          </p:nvSpPr>
          <p:spPr bwMode="auto">
            <a:xfrm>
              <a:off x="3943" y="2516"/>
              <a:ext cx="665" cy="259"/>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r>
                <a:rPr kumimoji="1" lang="en-US" altLang="zh-CN" sz="2000" b="1">
                  <a:solidFill>
                    <a:srgbClr val="0707F9"/>
                  </a:solidFill>
                  <a:latin typeface="隶书" pitchFamily="49" charset="-122"/>
                  <a:ea typeface="隶书" pitchFamily="49" charset="-122"/>
                </a:rPr>
                <a:t>(b)</a:t>
              </a:r>
            </a:p>
          </p:txBody>
        </p:sp>
      </p:grpSp>
      <p:sp>
        <p:nvSpPr>
          <p:cNvPr id="90" name="Text Box 57"/>
          <p:cNvSpPr txBox="1">
            <a:spLocks noChangeArrowheads="1"/>
          </p:cNvSpPr>
          <p:nvPr/>
        </p:nvSpPr>
        <p:spPr bwMode="auto">
          <a:xfrm>
            <a:off x="3440113" y="5410200"/>
            <a:ext cx="3351212" cy="400110"/>
          </a:xfrm>
          <a:prstGeom prst="rect">
            <a:avLst/>
          </a:prstGeom>
          <a:noFill/>
          <a:ln w="12700" cap="rnd">
            <a:noFill/>
            <a:miter lim="800000"/>
            <a:headEnd/>
            <a:tailEnd/>
          </a:ln>
        </p:spPr>
        <p:txBody>
          <a:bodyPr>
            <a:spAutoFit/>
          </a:bodyPr>
          <a:lstStyle/>
          <a:p>
            <a:pPr marL="457200" indent="-457200" algn="ctr" eaLnBrk="0" fontAlgn="base" hangingPunct="0">
              <a:spcBef>
                <a:spcPct val="50000"/>
              </a:spcBef>
              <a:spcAft>
                <a:spcPct val="0"/>
              </a:spcAft>
            </a:pPr>
            <a:r>
              <a:rPr kumimoji="1" lang="en-US" altLang="zh-CN" sz="2000" b="1" dirty="0">
                <a:solidFill>
                  <a:srgbClr val="0707F9"/>
                </a:solidFill>
                <a:latin typeface="隶书" pitchFamily="49" charset="-122"/>
                <a:ea typeface="隶书" pitchFamily="49" charset="-122"/>
              </a:rPr>
              <a:t>(b)</a:t>
            </a:r>
            <a:r>
              <a:rPr kumimoji="1" lang="zh-CN" altLang="en-US" sz="2000" dirty="0">
                <a:solidFill>
                  <a:srgbClr val="0707F9"/>
                </a:solidFill>
                <a:latin typeface="Times New Roman" pitchFamily="18" charset="0"/>
                <a:ea typeface="黑体" pitchFamily="2" charset="-122"/>
              </a:rPr>
              <a:t>完全二叉树</a:t>
            </a:r>
            <a:endParaRPr kumimoji="1" lang="zh-CN" altLang="en-US" sz="2000" dirty="0">
              <a:solidFill>
                <a:srgbClr val="0707F9"/>
              </a:solidFill>
              <a:latin typeface="隶书" pitchFamily="49" charset="-122"/>
            </a:endParaRPr>
          </a:p>
        </p:txBody>
      </p:sp>
      <p:grpSp>
        <p:nvGrpSpPr>
          <p:cNvPr id="91" name="Group 58"/>
          <p:cNvGrpSpPr>
            <a:grpSpLocks/>
          </p:cNvGrpSpPr>
          <p:nvPr/>
        </p:nvGrpSpPr>
        <p:grpSpPr bwMode="auto">
          <a:xfrm>
            <a:off x="6019800" y="3033985"/>
            <a:ext cx="3305175" cy="2104041"/>
            <a:chOff x="487" y="2707"/>
            <a:chExt cx="2216" cy="1600"/>
          </a:xfrm>
        </p:grpSpPr>
        <p:grpSp>
          <p:nvGrpSpPr>
            <p:cNvPr id="92" name="Group 59"/>
            <p:cNvGrpSpPr>
              <a:grpSpLocks/>
            </p:cNvGrpSpPr>
            <p:nvPr/>
          </p:nvGrpSpPr>
          <p:grpSpPr bwMode="auto">
            <a:xfrm>
              <a:off x="2238" y="3583"/>
              <a:ext cx="465" cy="332"/>
              <a:chOff x="4321" y="2592"/>
              <a:chExt cx="575" cy="400"/>
            </a:xfrm>
          </p:grpSpPr>
          <p:sp>
            <p:nvSpPr>
              <p:cNvPr id="139" name="Oval 60"/>
              <p:cNvSpPr>
                <a:spLocks noChangeArrowheads="1"/>
              </p:cNvSpPr>
              <p:nvPr/>
            </p:nvSpPr>
            <p:spPr bwMode="auto">
              <a:xfrm>
                <a:off x="4404" y="2675"/>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140" name="Text Box 61"/>
              <p:cNvSpPr txBox="1">
                <a:spLocks noChangeArrowheads="1"/>
              </p:cNvSpPr>
              <p:nvPr/>
            </p:nvSpPr>
            <p:spPr bwMode="auto">
              <a:xfrm>
                <a:off x="4321" y="2592"/>
                <a:ext cx="575" cy="366"/>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黑体" pitchFamily="2" charset="-122"/>
                    <a:ea typeface="黑体" pitchFamily="2" charset="-122"/>
                  </a:rPr>
                  <a:t> </a:t>
                </a:r>
                <a:r>
                  <a:rPr lang="en-US" altLang="zh-CN" sz="2000" b="1">
                    <a:solidFill>
                      <a:srgbClr val="0707F9"/>
                    </a:solidFill>
                    <a:latin typeface="黑体" pitchFamily="2" charset="-122"/>
                    <a:ea typeface="黑体" pitchFamily="2" charset="-122"/>
                  </a:rPr>
                  <a:t>G</a:t>
                </a:r>
              </a:p>
            </p:txBody>
          </p:sp>
        </p:grpSp>
        <p:grpSp>
          <p:nvGrpSpPr>
            <p:cNvPr id="93" name="Group 62"/>
            <p:cNvGrpSpPr>
              <a:grpSpLocks/>
            </p:cNvGrpSpPr>
            <p:nvPr/>
          </p:nvGrpSpPr>
          <p:grpSpPr bwMode="auto">
            <a:xfrm>
              <a:off x="1342" y="2707"/>
              <a:ext cx="467" cy="332"/>
              <a:chOff x="310" y="2496"/>
              <a:chExt cx="576" cy="400"/>
            </a:xfrm>
          </p:grpSpPr>
          <p:sp>
            <p:nvSpPr>
              <p:cNvPr id="137" name="Oval 63"/>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138" name="Text Box 64"/>
              <p:cNvSpPr txBox="1">
                <a:spLocks noChangeArrowheads="1"/>
              </p:cNvSpPr>
              <p:nvPr/>
            </p:nvSpPr>
            <p:spPr bwMode="auto">
              <a:xfrm>
                <a:off x="310" y="2496"/>
                <a:ext cx="576" cy="366"/>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黑体" pitchFamily="2" charset="-122"/>
                    <a:ea typeface="黑体" pitchFamily="2" charset="-122"/>
                  </a:rPr>
                  <a:t> </a:t>
                </a:r>
                <a:r>
                  <a:rPr lang="en-US" altLang="zh-CN" sz="2000" b="1">
                    <a:solidFill>
                      <a:srgbClr val="0707F9"/>
                    </a:solidFill>
                    <a:latin typeface="黑体" pitchFamily="2" charset="-122"/>
                    <a:ea typeface="黑体" pitchFamily="2" charset="-122"/>
                  </a:rPr>
                  <a:t>A</a:t>
                </a:r>
              </a:p>
            </p:txBody>
          </p:sp>
        </p:grpSp>
        <p:grpSp>
          <p:nvGrpSpPr>
            <p:cNvPr id="94" name="Group 65"/>
            <p:cNvGrpSpPr>
              <a:grpSpLocks/>
            </p:cNvGrpSpPr>
            <p:nvPr/>
          </p:nvGrpSpPr>
          <p:grpSpPr bwMode="auto">
            <a:xfrm>
              <a:off x="1148" y="3583"/>
              <a:ext cx="466" cy="332"/>
              <a:chOff x="310" y="2496"/>
              <a:chExt cx="576" cy="400"/>
            </a:xfrm>
          </p:grpSpPr>
          <p:sp>
            <p:nvSpPr>
              <p:cNvPr id="135" name="Oval 66"/>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136" name="Text Box 67"/>
              <p:cNvSpPr txBox="1">
                <a:spLocks noChangeArrowheads="1"/>
              </p:cNvSpPr>
              <p:nvPr/>
            </p:nvSpPr>
            <p:spPr bwMode="auto">
              <a:xfrm>
                <a:off x="310" y="2496"/>
                <a:ext cx="576" cy="366"/>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黑体" pitchFamily="2" charset="-122"/>
                    <a:ea typeface="黑体" pitchFamily="2" charset="-122"/>
                  </a:rPr>
                  <a:t> </a:t>
                </a:r>
                <a:r>
                  <a:rPr lang="en-US" altLang="zh-CN" sz="2000" b="1">
                    <a:solidFill>
                      <a:srgbClr val="0707F9"/>
                    </a:solidFill>
                    <a:latin typeface="黑体" pitchFamily="2" charset="-122"/>
                    <a:ea typeface="黑体" pitchFamily="2" charset="-122"/>
                  </a:rPr>
                  <a:t>E</a:t>
                </a:r>
              </a:p>
            </p:txBody>
          </p:sp>
        </p:grpSp>
        <p:grpSp>
          <p:nvGrpSpPr>
            <p:cNvPr id="95" name="Group 68"/>
            <p:cNvGrpSpPr>
              <a:grpSpLocks/>
            </p:cNvGrpSpPr>
            <p:nvPr/>
          </p:nvGrpSpPr>
          <p:grpSpPr bwMode="auto">
            <a:xfrm>
              <a:off x="487" y="3583"/>
              <a:ext cx="466" cy="332"/>
              <a:chOff x="310" y="2496"/>
              <a:chExt cx="575" cy="400"/>
            </a:xfrm>
          </p:grpSpPr>
          <p:sp>
            <p:nvSpPr>
              <p:cNvPr id="133" name="Oval 69"/>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134" name="Text Box 70"/>
              <p:cNvSpPr txBox="1">
                <a:spLocks noChangeArrowheads="1"/>
              </p:cNvSpPr>
              <p:nvPr/>
            </p:nvSpPr>
            <p:spPr bwMode="auto">
              <a:xfrm>
                <a:off x="310" y="2496"/>
                <a:ext cx="575" cy="366"/>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黑体" pitchFamily="2" charset="-122"/>
                    <a:ea typeface="黑体" pitchFamily="2" charset="-122"/>
                  </a:rPr>
                  <a:t> </a:t>
                </a:r>
                <a:r>
                  <a:rPr lang="en-US" altLang="zh-CN" sz="2000" b="1">
                    <a:solidFill>
                      <a:srgbClr val="0707F9"/>
                    </a:solidFill>
                    <a:latin typeface="黑体" pitchFamily="2" charset="-122"/>
                    <a:ea typeface="黑体" pitchFamily="2" charset="-122"/>
                  </a:rPr>
                  <a:t>D</a:t>
                </a:r>
              </a:p>
            </p:txBody>
          </p:sp>
        </p:grpSp>
        <p:grpSp>
          <p:nvGrpSpPr>
            <p:cNvPr id="96" name="Group 71"/>
            <p:cNvGrpSpPr>
              <a:grpSpLocks/>
            </p:cNvGrpSpPr>
            <p:nvPr/>
          </p:nvGrpSpPr>
          <p:grpSpPr bwMode="auto">
            <a:xfrm>
              <a:off x="1887" y="3105"/>
              <a:ext cx="465" cy="331"/>
              <a:chOff x="310" y="2497"/>
              <a:chExt cx="575" cy="399"/>
            </a:xfrm>
          </p:grpSpPr>
          <p:sp>
            <p:nvSpPr>
              <p:cNvPr id="131" name="Oval 72"/>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132" name="Text Box 73"/>
              <p:cNvSpPr txBox="1">
                <a:spLocks noChangeArrowheads="1"/>
              </p:cNvSpPr>
              <p:nvPr/>
            </p:nvSpPr>
            <p:spPr bwMode="auto">
              <a:xfrm>
                <a:off x="310" y="2497"/>
                <a:ext cx="575" cy="366"/>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黑体" pitchFamily="2" charset="-122"/>
                    <a:ea typeface="黑体" pitchFamily="2" charset="-122"/>
                  </a:rPr>
                  <a:t> </a:t>
                </a:r>
                <a:r>
                  <a:rPr lang="en-US" altLang="zh-CN" sz="2000" b="1">
                    <a:solidFill>
                      <a:srgbClr val="0707F9"/>
                    </a:solidFill>
                    <a:latin typeface="黑体" pitchFamily="2" charset="-122"/>
                    <a:ea typeface="黑体" pitchFamily="2" charset="-122"/>
                  </a:rPr>
                  <a:t>C</a:t>
                </a:r>
              </a:p>
            </p:txBody>
          </p:sp>
        </p:grpSp>
        <p:grpSp>
          <p:nvGrpSpPr>
            <p:cNvPr id="97" name="Group 74"/>
            <p:cNvGrpSpPr>
              <a:grpSpLocks/>
            </p:cNvGrpSpPr>
            <p:nvPr/>
          </p:nvGrpSpPr>
          <p:grpSpPr bwMode="auto">
            <a:xfrm>
              <a:off x="837" y="3145"/>
              <a:ext cx="465" cy="333"/>
              <a:chOff x="310" y="2495"/>
              <a:chExt cx="575" cy="401"/>
            </a:xfrm>
          </p:grpSpPr>
          <p:sp>
            <p:nvSpPr>
              <p:cNvPr id="129" name="Oval 75"/>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130" name="Text Box 76"/>
              <p:cNvSpPr txBox="1">
                <a:spLocks noChangeArrowheads="1"/>
              </p:cNvSpPr>
              <p:nvPr/>
            </p:nvSpPr>
            <p:spPr bwMode="auto">
              <a:xfrm>
                <a:off x="310" y="2495"/>
                <a:ext cx="575" cy="366"/>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黑体" pitchFamily="2" charset="-122"/>
                    <a:ea typeface="黑体" pitchFamily="2" charset="-122"/>
                  </a:rPr>
                  <a:t> </a:t>
                </a:r>
                <a:r>
                  <a:rPr lang="en-US" altLang="zh-CN" sz="2000" b="1">
                    <a:solidFill>
                      <a:srgbClr val="0707F9"/>
                    </a:solidFill>
                    <a:latin typeface="黑体" pitchFamily="2" charset="-122"/>
                    <a:ea typeface="黑体" pitchFamily="2" charset="-122"/>
                  </a:rPr>
                  <a:t>B</a:t>
                </a:r>
              </a:p>
            </p:txBody>
          </p:sp>
        </p:grpSp>
        <p:sp>
          <p:nvSpPr>
            <p:cNvPr id="98" name="Line 77"/>
            <p:cNvSpPr>
              <a:spLocks noChangeShapeType="1"/>
            </p:cNvSpPr>
            <p:nvPr/>
          </p:nvSpPr>
          <p:spPr bwMode="auto">
            <a:xfrm flipH="1">
              <a:off x="1110" y="2987"/>
              <a:ext cx="311" cy="239"/>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99" name="Line 78"/>
            <p:cNvSpPr>
              <a:spLocks noChangeShapeType="1"/>
            </p:cNvSpPr>
            <p:nvPr/>
          </p:nvSpPr>
          <p:spPr bwMode="auto">
            <a:xfrm>
              <a:off x="1653" y="2987"/>
              <a:ext cx="311" cy="237"/>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100" name="Line 79"/>
            <p:cNvSpPr>
              <a:spLocks noChangeShapeType="1"/>
            </p:cNvSpPr>
            <p:nvPr/>
          </p:nvSpPr>
          <p:spPr bwMode="auto">
            <a:xfrm>
              <a:off x="1148" y="3465"/>
              <a:ext cx="194" cy="199"/>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126" name="Line 80"/>
            <p:cNvSpPr>
              <a:spLocks noChangeShapeType="1"/>
            </p:cNvSpPr>
            <p:nvPr/>
          </p:nvSpPr>
          <p:spPr bwMode="auto">
            <a:xfrm flipH="1">
              <a:off x="721" y="3465"/>
              <a:ext cx="197" cy="199"/>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127" name="Line 81"/>
            <p:cNvSpPr>
              <a:spLocks noChangeShapeType="1"/>
            </p:cNvSpPr>
            <p:nvPr/>
          </p:nvSpPr>
          <p:spPr bwMode="auto">
            <a:xfrm>
              <a:off x="2198" y="3425"/>
              <a:ext cx="196" cy="199"/>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128" name="Text Box 82"/>
            <p:cNvSpPr txBox="1">
              <a:spLocks noChangeArrowheads="1"/>
            </p:cNvSpPr>
            <p:nvPr/>
          </p:nvSpPr>
          <p:spPr bwMode="auto">
            <a:xfrm>
              <a:off x="1329" y="4003"/>
              <a:ext cx="665" cy="304"/>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r>
                <a:rPr kumimoji="1" lang="en-US" altLang="zh-CN" sz="2000" b="1">
                  <a:solidFill>
                    <a:srgbClr val="0707F9"/>
                  </a:solidFill>
                  <a:latin typeface="隶书" pitchFamily="49" charset="-122"/>
                  <a:ea typeface="隶书" pitchFamily="49" charset="-122"/>
                </a:rPr>
                <a:t>(c)</a:t>
              </a:r>
            </a:p>
          </p:txBody>
        </p:sp>
      </p:grpSp>
      <p:sp>
        <p:nvSpPr>
          <p:cNvPr id="141" name="Text Box 83"/>
          <p:cNvSpPr txBox="1">
            <a:spLocks noChangeArrowheads="1"/>
          </p:cNvSpPr>
          <p:nvPr/>
        </p:nvSpPr>
        <p:spPr bwMode="auto">
          <a:xfrm>
            <a:off x="6281738" y="5410200"/>
            <a:ext cx="3351212" cy="400110"/>
          </a:xfrm>
          <a:prstGeom prst="rect">
            <a:avLst/>
          </a:prstGeom>
          <a:noFill/>
          <a:ln w="12700" cap="rnd">
            <a:noFill/>
            <a:miter lim="800000"/>
            <a:headEnd/>
            <a:tailEnd/>
          </a:ln>
        </p:spPr>
        <p:txBody>
          <a:bodyPr>
            <a:spAutoFit/>
          </a:bodyPr>
          <a:lstStyle/>
          <a:p>
            <a:pPr marL="457200" indent="-457200" algn="ctr" eaLnBrk="0" fontAlgn="base" hangingPunct="0">
              <a:spcBef>
                <a:spcPct val="50000"/>
              </a:spcBef>
              <a:spcAft>
                <a:spcPct val="0"/>
              </a:spcAft>
            </a:pPr>
            <a:r>
              <a:rPr kumimoji="1" lang="en-US" altLang="zh-CN" sz="2000" b="1" dirty="0">
                <a:solidFill>
                  <a:srgbClr val="FF0000"/>
                </a:solidFill>
                <a:latin typeface="隶书" pitchFamily="49" charset="-122"/>
                <a:ea typeface="隶书" pitchFamily="49" charset="-122"/>
              </a:rPr>
              <a:t>(c) </a:t>
            </a:r>
            <a:r>
              <a:rPr kumimoji="1" lang="zh-CN" altLang="en-US" sz="2000" b="1" dirty="0">
                <a:solidFill>
                  <a:srgbClr val="FF0000"/>
                </a:solidFill>
                <a:latin typeface="隶书" pitchFamily="49" charset="-122"/>
              </a:rPr>
              <a:t>不是</a:t>
            </a:r>
            <a:r>
              <a:rPr kumimoji="1" lang="zh-CN" altLang="en-US" sz="2000" b="1" dirty="0">
                <a:solidFill>
                  <a:srgbClr val="FF0000"/>
                </a:solidFill>
                <a:latin typeface="Times New Roman" pitchFamily="18" charset="0"/>
              </a:rPr>
              <a:t>完全二叉树</a:t>
            </a:r>
            <a:endParaRPr kumimoji="1" lang="zh-CN" altLang="en-US" sz="2000" b="1" dirty="0">
              <a:solidFill>
                <a:srgbClr val="FF0000"/>
              </a:solidFill>
              <a:latin typeface="隶书" pitchFamily="49" charset="-122"/>
            </a:endParaRPr>
          </a:p>
        </p:txBody>
      </p:sp>
      <p:sp>
        <p:nvSpPr>
          <p:cNvPr id="142" name="Text Box 84"/>
          <p:cNvSpPr txBox="1">
            <a:spLocks noChangeArrowheads="1"/>
          </p:cNvSpPr>
          <p:nvPr/>
        </p:nvSpPr>
        <p:spPr bwMode="auto">
          <a:xfrm>
            <a:off x="1497013" y="5924490"/>
            <a:ext cx="7334250" cy="400110"/>
          </a:xfrm>
          <a:prstGeom prst="rect">
            <a:avLst/>
          </a:prstGeom>
          <a:noFill/>
          <a:ln w="12700" cap="rnd">
            <a:solidFill>
              <a:srgbClr val="04440A"/>
            </a:solidFill>
            <a:miter lim="800000"/>
            <a:headEnd/>
            <a:tailEnd/>
          </a:ln>
        </p:spPr>
        <p:txBody>
          <a:bodyPr>
            <a:spAutoFit/>
          </a:bodyPr>
          <a:lstStyle/>
          <a:p>
            <a:pPr marL="457200" indent="-457200" eaLnBrk="0" fontAlgn="base" hangingPunct="0">
              <a:spcBef>
                <a:spcPct val="50000"/>
              </a:spcBef>
              <a:spcAft>
                <a:spcPct val="0"/>
              </a:spcAft>
            </a:pPr>
            <a:r>
              <a:rPr kumimoji="1" lang="zh-CN" altLang="en-US" sz="2000">
                <a:solidFill>
                  <a:srgbClr val="FF0000"/>
                </a:solidFill>
                <a:latin typeface="Times New Roman" pitchFamily="18" charset="0"/>
                <a:ea typeface="黑体" pitchFamily="2" charset="-122"/>
              </a:rPr>
              <a:t>结论：</a:t>
            </a:r>
            <a:r>
              <a:rPr kumimoji="1" lang="zh-CN" altLang="en-US" sz="2000">
                <a:solidFill>
                  <a:srgbClr val="0707F9"/>
                </a:solidFill>
                <a:latin typeface="Times New Roman" pitchFamily="18" charset="0"/>
                <a:ea typeface="黑体" pitchFamily="2" charset="-122"/>
              </a:rPr>
              <a:t>满二叉树一定是完全二叉树，反之不一定</a:t>
            </a:r>
            <a:endParaRPr kumimoji="1" lang="zh-CN" altLang="en-US" sz="2000">
              <a:solidFill>
                <a:srgbClr val="0707F9"/>
              </a:solidFill>
              <a:latin typeface="隶书" pitchFamily="49" charset="-122"/>
            </a:endParaRPr>
          </a:p>
        </p:txBody>
      </p:sp>
    </p:spTree>
    <p:extLst>
      <p:ext uri="{BB962C8B-B14F-4D97-AF65-F5344CB8AC3E}">
        <p14:creationId xmlns:p14="http://schemas.microsoft.com/office/powerpoint/2010/main" val="903166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8" grpId="0" animBg="1"/>
      <p:bldP spid="90" grpId="0"/>
      <p:bldP spid="141" grpId="0"/>
      <p:bldP spid="14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5.2.2  </a:t>
            </a:r>
            <a:r>
              <a:rPr kumimoji="1" lang="zh-CN" altLang="en-US" sz="3200" b="1" dirty="0">
                <a:latin typeface="Arial" charset="0"/>
                <a:ea typeface="宋体" charset="-122"/>
                <a:cs typeface="+mn-cs"/>
              </a:rPr>
              <a:t>二叉树的性质</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endParaRPr lang="en-US" altLang="zh-CN" sz="2800" b="1" dirty="0"/>
          </a:p>
        </p:txBody>
      </p:sp>
      <p:sp>
        <p:nvSpPr>
          <p:cNvPr id="4" name="日期占位符 3"/>
          <p:cNvSpPr>
            <a:spLocks noGrp="1"/>
          </p:cNvSpPr>
          <p:nvPr>
            <p:ph type="dt" sz="half" idx="10"/>
          </p:nvPr>
        </p:nvSpPr>
        <p:spPr/>
        <p:txBody>
          <a:bodyPr/>
          <a:lstStyle/>
          <a:p>
            <a:fld id="{FFF3BC32-347A-4828-965C-C24F0159FD2A}"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31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37" name="Rectangle 2"/>
          <p:cNvSpPr txBox="1">
            <a:spLocks noChangeArrowheads="1"/>
          </p:cNvSpPr>
          <p:nvPr/>
        </p:nvSpPr>
        <p:spPr bwMode="auto">
          <a:xfrm>
            <a:off x="1143000" y="1849438"/>
            <a:ext cx="8915400" cy="16557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zh-CN" altLang="en-US" sz="2400" b="1" i="0" u="none" strike="noStrike" kern="0" cap="none" spc="0" normalizeH="0" baseline="0" noProof="0" dirty="0">
                <a:ln>
                  <a:noFill/>
                </a:ln>
                <a:solidFill>
                  <a:srgbClr val="0707F9"/>
                </a:solidFill>
                <a:effectLst/>
                <a:uLnTx/>
                <a:uFillTx/>
                <a:latin typeface="Constantia"/>
                <a:ea typeface="宋体"/>
                <a:cs typeface="+mn-cs"/>
              </a:rPr>
              <a:t>证明：设所求完全二叉树的深度为</a:t>
            </a:r>
            <a:r>
              <a:rPr kumimoji="0" lang="en-US" altLang="zh-CN" sz="2400" b="1" i="0" u="none" strike="noStrike" kern="0" cap="none" spc="0" normalizeH="0" baseline="0" noProof="0" dirty="0">
                <a:ln>
                  <a:noFill/>
                </a:ln>
                <a:solidFill>
                  <a:srgbClr val="0707F9"/>
                </a:solidFill>
                <a:effectLst/>
                <a:uLnTx/>
                <a:uFillTx/>
                <a:latin typeface="Constantia"/>
                <a:ea typeface="宋体"/>
                <a:cs typeface="+mn-cs"/>
              </a:rPr>
              <a:t>k</a:t>
            </a:r>
            <a:endParaRPr kumimoji="0" lang="zh-CN" altLang="en-US" sz="2400" b="1" i="0" u="none" strike="noStrike" kern="0" cap="none" spc="0" normalizeH="0" baseline="0" noProof="0" dirty="0">
              <a:ln>
                <a:noFill/>
              </a:ln>
              <a:solidFill>
                <a:srgbClr val="0707F9"/>
              </a:solidFill>
              <a:effectLst/>
              <a:uLnTx/>
              <a:uFillTx/>
              <a:latin typeface="Constantia"/>
              <a:ea typeface="宋体"/>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zh-CN" altLang="en-US" sz="2400" b="1" i="0" u="none" strike="noStrike" kern="0" cap="none" spc="0" normalizeH="0" baseline="0" noProof="0" dirty="0">
                <a:ln>
                  <a:noFill/>
                </a:ln>
                <a:solidFill>
                  <a:srgbClr val="0707F9"/>
                </a:solidFill>
                <a:effectLst/>
                <a:uLnTx/>
                <a:uFillTx/>
                <a:latin typeface="Constantia"/>
                <a:ea typeface="宋体"/>
                <a:cs typeface="+mn-cs"/>
              </a:rPr>
              <a:t>          由性质</a:t>
            </a:r>
            <a:r>
              <a:rPr kumimoji="0" lang="en-US" altLang="zh-CN" sz="2400" b="1" i="0" u="none" strike="noStrike" kern="0" cap="none" spc="0" normalizeH="0" baseline="0" noProof="0" dirty="0">
                <a:ln>
                  <a:noFill/>
                </a:ln>
                <a:solidFill>
                  <a:srgbClr val="0707F9"/>
                </a:solidFill>
                <a:effectLst/>
                <a:uLnTx/>
                <a:uFillTx/>
                <a:latin typeface="宋体" pitchFamily="2" charset="-122"/>
                <a:ea typeface="宋体"/>
                <a:cs typeface="+mn-cs"/>
              </a:rPr>
              <a:t>2</a:t>
            </a:r>
            <a:r>
              <a:rPr kumimoji="0" lang="zh-CN" altLang="en-US" sz="2400" b="1" i="0" u="none" strike="noStrike" kern="0" cap="none" spc="0" normalizeH="0" baseline="0" noProof="0" dirty="0">
                <a:ln>
                  <a:noFill/>
                </a:ln>
                <a:solidFill>
                  <a:srgbClr val="0707F9"/>
                </a:solidFill>
                <a:effectLst/>
                <a:uLnTx/>
                <a:uFillTx/>
                <a:latin typeface="Constantia"/>
                <a:ea typeface="宋体"/>
                <a:cs typeface="+mn-cs"/>
              </a:rPr>
              <a:t>和完全二叉树的定义知：</a:t>
            </a: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zh-CN" altLang="en-US" sz="2400" b="1" i="0" u="none" strike="noStrike" kern="0" cap="none" spc="0" normalizeH="0" baseline="0" noProof="0" dirty="0">
                <a:ln>
                  <a:noFill/>
                </a:ln>
                <a:solidFill>
                  <a:srgbClr val="0707F9"/>
                </a:solidFill>
                <a:effectLst/>
                <a:uLnTx/>
                <a:uFillTx/>
                <a:latin typeface="Constantia"/>
                <a:ea typeface="宋体"/>
                <a:cs typeface="+mn-cs"/>
              </a:rPr>
              <a:t>                                    </a:t>
            </a:r>
            <a:r>
              <a:rPr kumimoji="0" lang="en-US" altLang="zh-CN" sz="2400" b="1" i="0" u="none" strike="noStrike" kern="0" cap="none" spc="0" normalizeH="0" baseline="0" noProof="0" dirty="0">
                <a:ln>
                  <a:noFill/>
                </a:ln>
                <a:solidFill>
                  <a:srgbClr val="0707F9"/>
                </a:solidFill>
                <a:effectLst/>
                <a:uLnTx/>
                <a:uFillTx/>
                <a:latin typeface="Constantia"/>
                <a:ea typeface="宋体"/>
                <a:cs typeface="+mn-cs"/>
              </a:rPr>
              <a:t>2</a:t>
            </a:r>
            <a:r>
              <a:rPr kumimoji="0" lang="en-US" altLang="zh-CN" sz="2400" b="1" i="0" u="none" strike="noStrike" kern="0" cap="none" spc="0" normalizeH="0" baseline="30000" noProof="0" dirty="0">
                <a:ln>
                  <a:noFill/>
                </a:ln>
                <a:solidFill>
                  <a:srgbClr val="0707F9"/>
                </a:solidFill>
                <a:effectLst/>
                <a:uLnTx/>
                <a:uFillTx/>
                <a:latin typeface="Constantia"/>
                <a:ea typeface="宋体"/>
                <a:cs typeface="+mn-cs"/>
              </a:rPr>
              <a:t>k-</a:t>
            </a:r>
            <a:r>
              <a:rPr kumimoji="0" lang="en-US" altLang="zh-CN" sz="2400" b="1" i="0" u="none" strike="noStrike" kern="0" cap="none" spc="0" normalizeH="0" baseline="30000" noProof="0" dirty="0">
                <a:ln>
                  <a:noFill/>
                </a:ln>
                <a:solidFill>
                  <a:srgbClr val="0707F9"/>
                </a:solidFill>
                <a:effectLst/>
                <a:uLnTx/>
                <a:uFillTx/>
                <a:latin typeface="宋体" pitchFamily="2" charset="-122"/>
                <a:ea typeface="宋体"/>
                <a:cs typeface="+mn-cs"/>
              </a:rPr>
              <a:t>1</a:t>
            </a:r>
            <a:r>
              <a:rPr kumimoji="0" lang="en-US" altLang="zh-CN" sz="2400" b="1" i="0" u="none" strike="noStrike" kern="0" cap="none" spc="0" normalizeH="0" baseline="0" noProof="0" dirty="0">
                <a:ln>
                  <a:noFill/>
                </a:ln>
                <a:solidFill>
                  <a:srgbClr val="0707F9"/>
                </a:solidFill>
                <a:effectLst/>
                <a:uLnTx/>
                <a:uFillTx/>
                <a:latin typeface="Constantia"/>
                <a:ea typeface="宋体"/>
                <a:cs typeface="+mn-cs"/>
              </a:rPr>
              <a:t>-</a:t>
            </a:r>
            <a:r>
              <a:rPr kumimoji="0" lang="en-US" altLang="zh-CN" sz="2400" b="1" i="0" u="none" strike="noStrike" kern="0" cap="none" spc="0" normalizeH="0" baseline="0" noProof="0" dirty="0">
                <a:ln>
                  <a:noFill/>
                </a:ln>
                <a:solidFill>
                  <a:srgbClr val="0707F9"/>
                </a:solidFill>
                <a:effectLst/>
                <a:uLnTx/>
                <a:uFillTx/>
                <a:latin typeface="宋体" pitchFamily="2" charset="-122"/>
                <a:ea typeface="宋体"/>
                <a:cs typeface="+mn-cs"/>
              </a:rPr>
              <a:t>1</a:t>
            </a:r>
            <a:r>
              <a:rPr kumimoji="0" lang="zh-CN" altLang="en-US" sz="2400" b="1" i="0" u="none" strike="noStrike" kern="0" cap="none" spc="0" normalizeH="0" baseline="0" noProof="0" dirty="0">
                <a:ln>
                  <a:noFill/>
                </a:ln>
                <a:solidFill>
                  <a:srgbClr val="0707F9"/>
                </a:solidFill>
                <a:effectLst/>
                <a:uLnTx/>
                <a:uFillTx/>
                <a:latin typeface="Constantia"/>
                <a:ea typeface="宋体"/>
                <a:cs typeface="+mn-cs"/>
              </a:rPr>
              <a:t>＜</a:t>
            </a:r>
            <a:r>
              <a:rPr kumimoji="0" lang="en-US" altLang="zh-CN" sz="2400" b="1" i="0" u="none" strike="noStrike" kern="0" cap="none" spc="0" normalizeH="0" baseline="0" noProof="0" dirty="0">
                <a:ln>
                  <a:noFill/>
                </a:ln>
                <a:solidFill>
                  <a:srgbClr val="0707F9"/>
                </a:solidFill>
                <a:effectLst/>
                <a:uLnTx/>
                <a:uFillTx/>
                <a:latin typeface="Constantia"/>
                <a:ea typeface="宋体"/>
                <a:cs typeface="+mn-cs"/>
              </a:rPr>
              <a:t>n≤2</a:t>
            </a:r>
            <a:r>
              <a:rPr kumimoji="0" lang="en-US" altLang="zh-CN" sz="2400" b="1" i="0" u="none" strike="noStrike" kern="0" cap="none" spc="0" normalizeH="0" baseline="30000" noProof="0" dirty="0">
                <a:ln>
                  <a:noFill/>
                </a:ln>
                <a:solidFill>
                  <a:srgbClr val="0707F9"/>
                </a:solidFill>
                <a:effectLst/>
                <a:uLnTx/>
                <a:uFillTx/>
                <a:latin typeface="Constantia"/>
                <a:ea typeface="宋体"/>
                <a:cs typeface="+mn-cs"/>
              </a:rPr>
              <a:t>k</a:t>
            </a:r>
            <a:r>
              <a:rPr kumimoji="0" lang="en-US" altLang="zh-CN" sz="2400" b="1" i="0" u="none" strike="noStrike" kern="0" cap="none" spc="0" normalizeH="0" baseline="0" noProof="0" dirty="0">
                <a:ln>
                  <a:noFill/>
                </a:ln>
                <a:solidFill>
                  <a:srgbClr val="0707F9"/>
                </a:solidFill>
                <a:effectLst/>
                <a:uLnTx/>
                <a:uFillTx/>
                <a:latin typeface="Constantia"/>
                <a:ea typeface="宋体"/>
                <a:cs typeface="+mn-cs"/>
              </a:rPr>
              <a:t>-</a:t>
            </a:r>
            <a:r>
              <a:rPr kumimoji="0" lang="en-US" altLang="zh-CN" sz="2400" b="1" i="0" u="none" strike="noStrike" kern="0" cap="none" spc="0" normalizeH="0" baseline="0" noProof="0" dirty="0">
                <a:ln>
                  <a:noFill/>
                </a:ln>
                <a:solidFill>
                  <a:srgbClr val="0707F9"/>
                </a:solidFill>
                <a:effectLst/>
                <a:uLnTx/>
                <a:uFillTx/>
                <a:latin typeface="宋体" pitchFamily="2" charset="-122"/>
                <a:ea typeface="宋体"/>
                <a:cs typeface="+mn-cs"/>
              </a:rPr>
              <a:t>1</a:t>
            </a:r>
            <a:r>
              <a:rPr kumimoji="0" lang="en-US" altLang="zh-CN" sz="2400" b="1" i="0" u="none" strike="noStrike" kern="0" cap="none" spc="0" normalizeH="0" baseline="0" noProof="0" dirty="0">
                <a:ln>
                  <a:noFill/>
                </a:ln>
                <a:solidFill>
                  <a:srgbClr val="0707F9"/>
                </a:solidFill>
                <a:effectLst/>
                <a:uLnTx/>
                <a:uFillTx/>
                <a:latin typeface="Constantia"/>
                <a:ea typeface="宋体"/>
                <a:cs typeface="+mn-cs"/>
              </a:rPr>
              <a:t> </a:t>
            </a:r>
          </a:p>
        </p:txBody>
      </p:sp>
      <p:sp>
        <p:nvSpPr>
          <p:cNvPr id="38" name="Rectangle 4"/>
          <p:cNvSpPr>
            <a:spLocks noChangeArrowheads="1"/>
          </p:cNvSpPr>
          <p:nvPr/>
        </p:nvSpPr>
        <p:spPr bwMode="auto">
          <a:xfrm>
            <a:off x="336550" y="1219200"/>
            <a:ext cx="9656763" cy="1081088"/>
          </a:xfrm>
          <a:prstGeom prst="rect">
            <a:avLst/>
          </a:prstGeom>
          <a:noFill/>
          <a:ln w="9525">
            <a:noFill/>
            <a:miter lim="800000"/>
            <a:headEnd/>
            <a:tailEnd/>
          </a:ln>
        </p:spPr>
        <p:txBody>
          <a:bodyPr/>
          <a:lstStyle/>
          <a:p>
            <a:pPr marL="273050" indent="-273050" fontAlgn="base">
              <a:spcBef>
                <a:spcPct val="20000"/>
              </a:spcBef>
              <a:spcAft>
                <a:spcPct val="0"/>
              </a:spcAft>
              <a:buClr>
                <a:srgbClr val="0BD0D9"/>
              </a:buClr>
              <a:buSzPct val="95000"/>
              <a:buFont typeface="Wingdings 2" pitchFamily="18" charset="2"/>
              <a:buNone/>
            </a:pPr>
            <a:r>
              <a:rPr kumimoji="1" lang="zh-CN" altLang="en-US" sz="2400" b="1" dirty="0">
                <a:solidFill>
                  <a:srgbClr val="FF0000"/>
                </a:solidFill>
                <a:latin typeface="宋体" pitchFamily="2" charset="-122"/>
              </a:rPr>
              <a:t>性质</a:t>
            </a:r>
            <a:r>
              <a:rPr kumimoji="1" lang="en-US" altLang="zh-CN" sz="2400" b="1" dirty="0">
                <a:solidFill>
                  <a:srgbClr val="FF0000"/>
                </a:solidFill>
                <a:latin typeface="宋体" pitchFamily="2" charset="-122"/>
              </a:rPr>
              <a:t>3</a:t>
            </a:r>
            <a:r>
              <a:rPr kumimoji="1" lang="en-US" altLang="zh-CN" sz="2400" b="1" dirty="0">
                <a:solidFill>
                  <a:srgbClr val="000000"/>
                </a:solidFill>
                <a:latin typeface="宋体" pitchFamily="2" charset="-122"/>
              </a:rPr>
              <a:t> </a:t>
            </a:r>
            <a:r>
              <a:rPr kumimoji="1" lang="zh-CN" altLang="en-US" sz="2400" b="1" dirty="0">
                <a:solidFill>
                  <a:srgbClr val="000000"/>
                </a:solidFill>
                <a:latin typeface="宋体" pitchFamily="2" charset="-122"/>
              </a:rPr>
              <a:t>具有</a:t>
            </a:r>
            <a:r>
              <a:rPr kumimoji="1" lang="en-US" altLang="zh-CN" sz="2400" b="1" dirty="0">
                <a:solidFill>
                  <a:srgbClr val="000000"/>
                </a:solidFill>
                <a:latin typeface="宋体" pitchFamily="2" charset="-122"/>
              </a:rPr>
              <a:t>n</a:t>
            </a:r>
            <a:r>
              <a:rPr kumimoji="1" lang="zh-CN" altLang="en-US" sz="2400" b="1" dirty="0">
                <a:solidFill>
                  <a:srgbClr val="000000"/>
                </a:solidFill>
                <a:latin typeface="宋体" pitchFamily="2" charset="-122"/>
              </a:rPr>
              <a:t>个结点的</a:t>
            </a:r>
            <a:r>
              <a:rPr kumimoji="1" lang="zh-CN" altLang="en-US" sz="2400" b="1" dirty="0">
                <a:solidFill>
                  <a:srgbClr val="FF0000"/>
                </a:solidFill>
                <a:latin typeface="宋体" pitchFamily="2" charset="-122"/>
              </a:rPr>
              <a:t>完全二叉树的深度</a:t>
            </a:r>
            <a:r>
              <a:rPr kumimoji="1" lang="zh-CN" altLang="en-US" sz="2400" b="1" dirty="0">
                <a:solidFill>
                  <a:srgbClr val="000000"/>
                </a:solidFill>
                <a:latin typeface="宋体" pitchFamily="2" charset="-122"/>
              </a:rPr>
              <a:t>为</a:t>
            </a:r>
            <a:r>
              <a:rPr kumimoji="1" lang="zh-CN" altLang="en-US" sz="2400" b="1" dirty="0">
                <a:solidFill>
                  <a:srgbClr val="000000"/>
                </a:solidFill>
                <a:latin typeface="宋体" pitchFamily="2" charset="-122"/>
                <a:sym typeface="Symbol" pitchFamily="18" charset="2"/>
              </a:rPr>
              <a:t></a:t>
            </a:r>
            <a:r>
              <a:rPr kumimoji="1" lang="en-US" altLang="zh-CN" sz="2400" b="1" dirty="0">
                <a:solidFill>
                  <a:srgbClr val="000000"/>
                </a:solidFill>
                <a:latin typeface="宋体" pitchFamily="2" charset="-122"/>
              </a:rPr>
              <a:t>log</a:t>
            </a:r>
            <a:r>
              <a:rPr kumimoji="1" lang="en-US" altLang="zh-CN" sz="2400" b="1" baseline="-25000" dirty="0">
                <a:solidFill>
                  <a:srgbClr val="000000"/>
                </a:solidFill>
                <a:latin typeface="宋体" pitchFamily="2" charset="-122"/>
              </a:rPr>
              <a:t>2</a:t>
            </a:r>
            <a:r>
              <a:rPr kumimoji="1" lang="en-US" altLang="zh-CN" sz="2400" b="1" dirty="0">
                <a:solidFill>
                  <a:srgbClr val="000000"/>
                </a:solidFill>
                <a:latin typeface="宋体" pitchFamily="2" charset="-122"/>
              </a:rPr>
              <a:t>n </a:t>
            </a:r>
            <a:r>
              <a:rPr kumimoji="1" lang="en-US" altLang="zh-CN" sz="2400" b="1" dirty="0">
                <a:solidFill>
                  <a:srgbClr val="000000"/>
                </a:solidFill>
                <a:latin typeface="宋体" pitchFamily="2" charset="-122"/>
                <a:sym typeface="Symbol" pitchFamily="18" charset="2"/>
              </a:rPr>
              <a:t></a:t>
            </a:r>
            <a:r>
              <a:rPr kumimoji="1" lang="en-US" altLang="zh-CN" sz="2400" b="1" dirty="0">
                <a:solidFill>
                  <a:srgbClr val="000000"/>
                </a:solidFill>
                <a:latin typeface="宋体" pitchFamily="2" charset="-122"/>
              </a:rPr>
              <a:t> +1</a:t>
            </a:r>
            <a:endParaRPr lang="en-US" altLang="zh-CN" sz="2800" dirty="0">
              <a:solidFill>
                <a:srgbClr val="000000"/>
              </a:solidFill>
              <a:latin typeface="宋体" pitchFamily="2" charset="-122"/>
            </a:endParaRPr>
          </a:p>
        </p:txBody>
      </p:sp>
      <p:sp>
        <p:nvSpPr>
          <p:cNvPr id="39" name="Rectangle 5"/>
          <p:cNvSpPr>
            <a:spLocks noChangeArrowheads="1"/>
          </p:cNvSpPr>
          <p:nvPr/>
        </p:nvSpPr>
        <p:spPr bwMode="auto">
          <a:xfrm>
            <a:off x="350838" y="3390900"/>
            <a:ext cx="8915400" cy="647700"/>
          </a:xfrm>
          <a:prstGeom prst="rect">
            <a:avLst/>
          </a:prstGeom>
          <a:noFill/>
          <a:ln w="9525">
            <a:noFill/>
            <a:miter lim="800000"/>
            <a:headEnd/>
            <a:tailEnd/>
          </a:ln>
        </p:spPr>
        <p:txBody>
          <a:bodyPr/>
          <a:lstStyle/>
          <a:p>
            <a:pPr marL="273050" indent="-273050" fontAlgn="base">
              <a:spcBef>
                <a:spcPct val="20000"/>
              </a:spcBef>
              <a:spcAft>
                <a:spcPct val="0"/>
              </a:spcAft>
              <a:buClr>
                <a:srgbClr val="0BD0D9"/>
              </a:buClr>
              <a:buSzPct val="95000"/>
              <a:buFont typeface="Wingdings 2" pitchFamily="18" charset="2"/>
              <a:buNone/>
            </a:pPr>
            <a:r>
              <a:rPr lang="zh-CN" altLang="en-US" sz="2400" b="1" dirty="0">
                <a:solidFill>
                  <a:srgbClr val="0707F9"/>
                </a:solidFill>
                <a:latin typeface="Constantia" pitchFamily="18" charset="0"/>
              </a:rPr>
              <a:t> 由此可以推出：</a:t>
            </a:r>
            <a:r>
              <a:rPr lang="en-US" altLang="zh-CN" sz="2400" b="1" dirty="0">
                <a:solidFill>
                  <a:srgbClr val="0707F9"/>
                </a:solidFill>
                <a:latin typeface="Constantia" pitchFamily="18" charset="0"/>
              </a:rPr>
              <a:t>2</a:t>
            </a:r>
            <a:r>
              <a:rPr lang="en-US" altLang="zh-CN" sz="2400" b="1" baseline="30000" dirty="0">
                <a:solidFill>
                  <a:srgbClr val="0707F9"/>
                </a:solidFill>
                <a:latin typeface="Constantia" pitchFamily="18" charset="0"/>
              </a:rPr>
              <a:t>k-</a:t>
            </a:r>
            <a:r>
              <a:rPr lang="en-US" altLang="zh-CN" sz="2400" b="1" baseline="30000" dirty="0">
                <a:solidFill>
                  <a:srgbClr val="0707F9"/>
                </a:solidFill>
                <a:latin typeface="Century" pitchFamily="18" charset="0"/>
              </a:rPr>
              <a:t>1</a:t>
            </a:r>
            <a:r>
              <a:rPr lang="en-US" altLang="zh-CN" sz="2400" b="1" dirty="0">
                <a:solidFill>
                  <a:srgbClr val="0707F9"/>
                </a:solidFill>
                <a:latin typeface="Constantia" pitchFamily="18" charset="0"/>
              </a:rPr>
              <a:t> ≤n</a:t>
            </a:r>
            <a:r>
              <a:rPr lang="zh-CN" altLang="en-US" sz="2400" b="1" dirty="0">
                <a:solidFill>
                  <a:srgbClr val="0707F9"/>
                </a:solidFill>
                <a:latin typeface="Constantia" pitchFamily="18" charset="0"/>
              </a:rPr>
              <a:t>＜</a:t>
            </a:r>
            <a:r>
              <a:rPr lang="en-US" altLang="zh-CN" sz="2400" b="1" dirty="0">
                <a:solidFill>
                  <a:srgbClr val="0707F9"/>
                </a:solidFill>
                <a:latin typeface="Constantia" pitchFamily="18" charset="0"/>
              </a:rPr>
              <a:t>2</a:t>
            </a:r>
            <a:r>
              <a:rPr lang="en-US" altLang="zh-CN" sz="2400" b="1" baseline="30000" dirty="0">
                <a:solidFill>
                  <a:srgbClr val="0707F9"/>
                </a:solidFill>
                <a:latin typeface="Constantia" pitchFamily="18" charset="0"/>
              </a:rPr>
              <a:t>k</a:t>
            </a:r>
            <a:endParaRPr lang="en-US" altLang="zh-CN" sz="2400" b="1" dirty="0">
              <a:solidFill>
                <a:srgbClr val="0707F9"/>
              </a:solidFill>
              <a:latin typeface="Constantia" pitchFamily="18" charset="0"/>
            </a:endParaRPr>
          </a:p>
        </p:txBody>
      </p:sp>
      <p:sp>
        <p:nvSpPr>
          <p:cNvPr id="40" name="Rectangle 6"/>
          <p:cNvSpPr>
            <a:spLocks noChangeArrowheads="1"/>
          </p:cNvSpPr>
          <p:nvPr/>
        </p:nvSpPr>
        <p:spPr bwMode="auto">
          <a:xfrm>
            <a:off x="508000" y="4009728"/>
            <a:ext cx="8915400" cy="720725"/>
          </a:xfrm>
          <a:prstGeom prst="rect">
            <a:avLst/>
          </a:prstGeom>
          <a:noFill/>
          <a:ln w="9525">
            <a:noFill/>
            <a:miter lim="800000"/>
            <a:headEnd/>
            <a:tailEnd/>
          </a:ln>
        </p:spPr>
        <p:txBody>
          <a:bodyPr/>
          <a:lstStyle/>
          <a:p>
            <a:pPr marL="273050" indent="-273050" fontAlgn="base">
              <a:spcBef>
                <a:spcPct val="20000"/>
              </a:spcBef>
              <a:spcAft>
                <a:spcPct val="0"/>
              </a:spcAft>
              <a:buClr>
                <a:srgbClr val="0BD0D9"/>
              </a:buClr>
              <a:buSzPct val="95000"/>
              <a:buFont typeface="Wingdings 2" pitchFamily="18" charset="2"/>
              <a:buNone/>
            </a:pPr>
            <a:r>
              <a:rPr lang="zh-CN" altLang="en-US" sz="2400" b="1" dirty="0">
                <a:solidFill>
                  <a:srgbClr val="0707F9"/>
                </a:solidFill>
                <a:latin typeface="Constantia" pitchFamily="18" charset="0"/>
              </a:rPr>
              <a:t>取对数得：   </a:t>
            </a:r>
            <a:r>
              <a:rPr lang="en-US" altLang="zh-CN" sz="2400" b="1" dirty="0">
                <a:solidFill>
                  <a:srgbClr val="0707F9"/>
                </a:solidFill>
                <a:latin typeface="Constantia" pitchFamily="18" charset="0"/>
              </a:rPr>
              <a:t>k-</a:t>
            </a:r>
            <a:r>
              <a:rPr lang="en-US" altLang="zh-CN" sz="2400" b="1" dirty="0">
                <a:solidFill>
                  <a:srgbClr val="0707F9"/>
                </a:solidFill>
                <a:latin typeface="宋体" pitchFamily="2" charset="-122"/>
              </a:rPr>
              <a:t>1</a:t>
            </a:r>
            <a:r>
              <a:rPr lang="en-US" altLang="zh-CN" sz="2400" b="1" dirty="0">
                <a:solidFill>
                  <a:srgbClr val="0707F9"/>
                </a:solidFill>
                <a:latin typeface="Constantia" pitchFamily="18" charset="0"/>
              </a:rPr>
              <a:t>≤log</a:t>
            </a:r>
            <a:r>
              <a:rPr lang="en-US" altLang="zh-CN" sz="2400" b="1" baseline="-25000" dirty="0">
                <a:solidFill>
                  <a:srgbClr val="0707F9"/>
                </a:solidFill>
                <a:latin typeface="Constantia" pitchFamily="18" charset="0"/>
              </a:rPr>
              <a:t>2</a:t>
            </a:r>
            <a:r>
              <a:rPr lang="en-US" altLang="zh-CN" sz="2400" b="1" dirty="0">
                <a:solidFill>
                  <a:srgbClr val="0707F9"/>
                </a:solidFill>
                <a:latin typeface="Constantia" pitchFamily="18" charset="0"/>
              </a:rPr>
              <a:t>n</a:t>
            </a:r>
            <a:r>
              <a:rPr lang="zh-CN" altLang="en-US" sz="2400" b="1" dirty="0">
                <a:solidFill>
                  <a:srgbClr val="0707F9"/>
                </a:solidFill>
                <a:latin typeface="Constantia" pitchFamily="18" charset="0"/>
              </a:rPr>
              <a:t>＜</a:t>
            </a:r>
            <a:r>
              <a:rPr lang="en-US" altLang="zh-CN" sz="2400" b="1" dirty="0">
                <a:solidFill>
                  <a:srgbClr val="0707F9"/>
                </a:solidFill>
                <a:latin typeface="Constantia" pitchFamily="18" charset="0"/>
              </a:rPr>
              <a:t>k</a:t>
            </a:r>
          </a:p>
        </p:txBody>
      </p:sp>
      <p:sp>
        <p:nvSpPr>
          <p:cNvPr id="41" name="Rectangle 7"/>
          <p:cNvSpPr>
            <a:spLocks noChangeArrowheads="1"/>
          </p:cNvSpPr>
          <p:nvPr/>
        </p:nvSpPr>
        <p:spPr bwMode="auto">
          <a:xfrm>
            <a:off x="428625" y="4591050"/>
            <a:ext cx="8915400" cy="1657350"/>
          </a:xfrm>
          <a:prstGeom prst="rect">
            <a:avLst/>
          </a:prstGeom>
          <a:noFill/>
          <a:ln w="9525">
            <a:noFill/>
            <a:miter lim="800000"/>
            <a:headEnd/>
            <a:tailEnd/>
          </a:ln>
        </p:spPr>
        <p:txBody>
          <a:bodyPr/>
          <a:lstStyle/>
          <a:p>
            <a:pPr marL="273050" indent="-273050" fontAlgn="base">
              <a:spcBef>
                <a:spcPct val="20000"/>
              </a:spcBef>
              <a:spcAft>
                <a:spcPct val="0"/>
              </a:spcAft>
              <a:buClr>
                <a:srgbClr val="0BD0D9"/>
              </a:buClr>
              <a:buSzPct val="95000"/>
              <a:buFont typeface="Wingdings 2" pitchFamily="18" charset="2"/>
              <a:buNone/>
            </a:pPr>
            <a:r>
              <a:rPr lang="zh-CN" altLang="en-US" sz="2400" b="1">
                <a:solidFill>
                  <a:srgbClr val="0707F9"/>
                </a:solidFill>
                <a:latin typeface="Constantia" pitchFamily="18" charset="0"/>
              </a:rPr>
              <a:t>由于</a:t>
            </a:r>
            <a:r>
              <a:rPr lang="en-US" altLang="zh-CN" sz="2400" b="1">
                <a:solidFill>
                  <a:srgbClr val="0707F9"/>
                </a:solidFill>
                <a:latin typeface="Constantia" pitchFamily="18" charset="0"/>
              </a:rPr>
              <a:t>k</a:t>
            </a:r>
            <a:r>
              <a:rPr lang="zh-CN" altLang="en-US" sz="2400" b="1">
                <a:solidFill>
                  <a:srgbClr val="0707F9"/>
                </a:solidFill>
                <a:latin typeface="Constantia" pitchFamily="18" charset="0"/>
              </a:rPr>
              <a:t>为整数，故有</a:t>
            </a:r>
            <a:r>
              <a:rPr lang="en-US" altLang="zh-CN" sz="2400" b="1">
                <a:solidFill>
                  <a:srgbClr val="0707F9"/>
                </a:solidFill>
                <a:latin typeface="Constantia" pitchFamily="18" charset="0"/>
              </a:rPr>
              <a:t>k-</a:t>
            </a:r>
            <a:r>
              <a:rPr lang="en-US" altLang="zh-CN" sz="2400" b="1">
                <a:solidFill>
                  <a:srgbClr val="0707F9"/>
                </a:solidFill>
                <a:latin typeface="宋体" pitchFamily="2" charset="-122"/>
              </a:rPr>
              <a:t>1</a:t>
            </a:r>
            <a:r>
              <a:rPr lang="en-US" altLang="zh-CN" sz="2400" b="1">
                <a:solidFill>
                  <a:srgbClr val="0707F9"/>
                </a:solidFill>
                <a:latin typeface="Constantia" pitchFamily="18" charset="0"/>
              </a:rPr>
              <a:t>= </a:t>
            </a:r>
            <a:r>
              <a:rPr lang="en-US" altLang="zh-CN" sz="2400" b="1">
                <a:solidFill>
                  <a:srgbClr val="0707F9"/>
                </a:solidFill>
                <a:latin typeface="Constantia" pitchFamily="18" charset="0"/>
                <a:sym typeface="Symbol" pitchFamily="18" charset="2"/>
              </a:rPr>
              <a:t></a:t>
            </a:r>
            <a:r>
              <a:rPr lang="en-US" altLang="zh-CN" sz="2400" b="1">
                <a:solidFill>
                  <a:srgbClr val="0707F9"/>
                </a:solidFill>
                <a:latin typeface="Constantia" pitchFamily="18" charset="0"/>
              </a:rPr>
              <a:t>log</a:t>
            </a:r>
            <a:r>
              <a:rPr lang="en-US" altLang="zh-CN" sz="2400" b="1" baseline="-25000">
                <a:solidFill>
                  <a:srgbClr val="0707F9"/>
                </a:solidFill>
                <a:latin typeface="Constantia" pitchFamily="18" charset="0"/>
              </a:rPr>
              <a:t>2</a:t>
            </a:r>
            <a:r>
              <a:rPr lang="en-US" altLang="zh-CN" sz="2400" b="1">
                <a:solidFill>
                  <a:srgbClr val="0707F9"/>
                </a:solidFill>
                <a:latin typeface="Constantia" pitchFamily="18" charset="0"/>
              </a:rPr>
              <a:t>n </a:t>
            </a:r>
            <a:r>
              <a:rPr lang="en-US" altLang="zh-CN" sz="2400" b="1">
                <a:solidFill>
                  <a:srgbClr val="0707F9"/>
                </a:solidFill>
                <a:latin typeface="Constantia" pitchFamily="18" charset="0"/>
                <a:sym typeface="Symbol" pitchFamily="18" charset="2"/>
              </a:rPr>
              <a:t></a:t>
            </a:r>
            <a:r>
              <a:rPr lang="en-US" altLang="zh-CN" sz="2400" b="1">
                <a:solidFill>
                  <a:srgbClr val="0707F9"/>
                </a:solidFill>
                <a:latin typeface="Constantia" pitchFamily="18" charset="0"/>
              </a:rPr>
              <a:t> </a:t>
            </a:r>
            <a:r>
              <a:rPr lang="en-US" altLang="zh-CN" sz="2400" b="1">
                <a:solidFill>
                  <a:srgbClr val="0707F9"/>
                </a:solidFill>
                <a:latin typeface="Constantia" pitchFamily="18" charset="0"/>
                <a:sym typeface="Symbol" pitchFamily="18" charset="2"/>
              </a:rPr>
              <a:t> </a:t>
            </a:r>
            <a:endParaRPr lang="en-US" altLang="zh-CN" sz="2400" b="1">
              <a:solidFill>
                <a:srgbClr val="0707F9"/>
              </a:solidFill>
              <a:latin typeface="Constantia" pitchFamily="18" charset="0"/>
            </a:endParaRPr>
          </a:p>
          <a:p>
            <a:pPr marL="273050" indent="-273050" fontAlgn="base">
              <a:spcBef>
                <a:spcPct val="20000"/>
              </a:spcBef>
              <a:spcAft>
                <a:spcPct val="0"/>
              </a:spcAft>
              <a:buClr>
                <a:srgbClr val="0BD0D9"/>
              </a:buClr>
              <a:buSzPct val="95000"/>
              <a:buFont typeface="Wingdings 2" pitchFamily="18" charset="2"/>
              <a:buNone/>
            </a:pPr>
            <a:r>
              <a:rPr lang="zh-CN" altLang="en-US" sz="2400" b="1">
                <a:solidFill>
                  <a:srgbClr val="0707F9"/>
                </a:solidFill>
                <a:latin typeface="Constantia" pitchFamily="18" charset="0"/>
              </a:rPr>
              <a:t>即： </a:t>
            </a:r>
            <a:r>
              <a:rPr lang="en-US" altLang="zh-CN" sz="2400" b="1">
                <a:solidFill>
                  <a:srgbClr val="0707F9"/>
                </a:solidFill>
                <a:latin typeface="Constantia" pitchFamily="18" charset="0"/>
              </a:rPr>
              <a:t>k= </a:t>
            </a:r>
            <a:r>
              <a:rPr lang="en-US" altLang="zh-CN" sz="2400" b="1">
                <a:solidFill>
                  <a:srgbClr val="0707F9"/>
                </a:solidFill>
                <a:latin typeface="Constantia" pitchFamily="18" charset="0"/>
                <a:sym typeface="Symbol" pitchFamily="18" charset="2"/>
              </a:rPr>
              <a:t></a:t>
            </a:r>
            <a:r>
              <a:rPr lang="en-US" altLang="zh-CN" sz="2400" b="1">
                <a:solidFill>
                  <a:srgbClr val="0707F9"/>
                </a:solidFill>
                <a:latin typeface="Constantia" pitchFamily="18" charset="0"/>
              </a:rPr>
              <a:t>log</a:t>
            </a:r>
            <a:r>
              <a:rPr lang="en-US" altLang="zh-CN" sz="2400" b="1" baseline="-25000">
                <a:solidFill>
                  <a:srgbClr val="0707F9"/>
                </a:solidFill>
                <a:latin typeface="Constantia" pitchFamily="18" charset="0"/>
              </a:rPr>
              <a:t>2</a:t>
            </a:r>
            <a:r>
              <a:rPr lang="en-US" altLang="zh-CN" sz="2400" b="1">
                <a:solidFill>
                  <a:srgbClr val="0707F9"/>
                </a:solidFill>
                <a:latin typeface="Constantia" pitchFamily="18" charset="0"/>
              </a:rPr>
              <a:t>n </a:t>
            </a:r>
            <a:r>
              <a:rPr lang="en-US" altLang="zh-CN" sz="2400" b="1">
                <a:solidFill>
                  <a:srgbClr val="0707F9"/>
                </a:solidFill>
                <a:latin typeface="Constantia" pitchFamily="18" charset="0"/>
                <a:sym typeface="Symbol" pitchFamily="18" charset="2"/>
              </a:rPr>
              <a:t></a:t>
            </a:r>
            <a:r>
              <a:rPr lang="en-US" altLang="zh-CN" sz="2400" b="1">
                <a:solidFill>
                  <a:srgbClr val="0707F9"/>
                </a:solidFill>
                <a:latin typeface="Constantia" pitchFamily="18" charset="0"/>
              </a:rPr>
              <a:t> +</a:t>
            </a:r>
            <a:r>
              <a:rPr lang="en-US" altLang="zh-CN" sz="2400" b="1">
                <a:solidFill>
                  <a:srgbClr val="0707F9"/>
                </a:solidFill>
                <a:latin typeface="宋体" pitchFamily="2" charset="-122"/>
              </a:rPr>
              <a:t>1</a:t>
            </a:r>
            <a:r>
              <a:rPr lang="en-US" altLang="zh-CN" sz="3200" b="1">
                <a:solidFill>
                  <a:srgbClr val="0707F9"/>
                </a:solidFill>
                <a:latin typeface="Constantia" pitchFamily="18" charset="0"/>
                <a:sym typeface="Symbol" pitchFamily="18" charset="2"/>
              </a:rPr>
              <a:t> </a:t>
            </a:r>
          </a:p>
          <a:p>
            <a:pPr marL="273050" indent="-273050" fontAlgn="base">
              <a:spcBef>
                <a:spcPct val="20000"/>
              </a:spcBef>
              <a:spcAft>
                <a:spcPct val="0"/>
              </a:spcAft>
              <a:buClr>
                <a:srgbClr val="0BD0D9"/>
              </a:buClr>
              <a:buSzPct val="95000"/>
              <a:buFont typeface="Wingdings 2" pitchFamily="18" charset="2"/>
              <a:buChar char=""/>
            </a:pPr>
            <a:endParaRPr lang="zh-CN" altLang="en-US" sz="2400" b="1">
              <a:solidFill>
                <a:srgbClr val="0707F9"/>
              </a:solidFill>
              <a:latin typeface="Constantia" pitchFamily="18" charset="0"/>
            </a:endParaRPr>
          </a:p>
        </p:txBody>
      </p:sp>
      <p:sp>
        <p:nvSpPr>
          <p:cNvPr id="42" name="Text Box 8"/>
          <p:cNvSpPr txBox="1">
            <a:spLocks noChangeArrowheads="1"/>
          </p:cNvSpPr>
          <p:nvPr/>
        </p:nvSpPr>
        <p:spPr bwMode="auto">
          <a:xfrm>
            <a:off x="849313" y="5862935"/>
            <a:ext cx="7332662" cy="461665"/>
          </a:xfrm>
          <a:prstGeom prst="rect">
            <a:avLst/>
          </a:prstGeom>
          <a:noFill/>
          <a:ln w="9525">
            <a:solidFill>
              <a:srgbClr val="000000"/>
            </a:solid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FF3300"/>
                </a:solidFill>
                <a:effectLst/>
                <a:uLnTx/>
                <a:uFillTx/>
                <a:latin typeface="楷体_GB2312" pitchFamily="49" charset="-122"/>
                <a:ea typeface="楷体_GB2312" pitchFamily="49" charset="-122"/>
              </a:rPr>
              <a:t>性质</a:t>
            </a:r>
            <a:r>
              <a:rPr kumimoji="1" lang="en-US" altLang="zh-CN" sz="2400" b="1" i="0" u="none" strike="noStrike" kern="0" cap="none" spc="0" normalizeH="0" baseline="0" noProof="0">
                <a:ln>
                  <a:noFill/>
                </a:ln>
                <a:solidFill>
                  <a:srgbClr val="FF3300"/>
                </a:solidFill>
                <a:effectLst/>
                <a:uLnTx/>
                <a:uFillTx/>
                <a:latin typeface="楷体_GB2312" pitchFamily="49" charset="-122"/>
                <a:ea typeface="楷体_GB2312" pitchFamily="49" charset="-122"/>
              </a:rPr>
              <a:t>2:</a:t>
            </a:r>
            <a:r>
              <a:rPr kumimoji="1" lang="zh-CN" altLang="en-US" sz="2400" b="1" i="0" u="none" strike="noStrike" kern="0" cap="none" spc="0" normalizeH="0" baseline="0" noProof="0">
                <a:ln>
                  <a:noFill/>
                </a:ln>
                <a:solidFill>
                  <a:srgbClr val="000000"/>
                </a:solidFill>
                <a:effectLst/>
                <a:uLnTx/>
                <a:uFillTx/>
                <a:latin typeface="楷体_GB2312" pitchFamily="49" charset="-122"/>
                <a:ea typeface="楷体_GB2312" pitchFamily="49" charset="-122"/>
              </a:rPr>
              <a:t>深度为</a:t>
            </a:r>
            <a:r>
              <a:rPr kumimoji="1" lang="en-US" altLang="zh-CN" sz="2400" b="1" i="0" u="none" strike="noStrike" kern="0" cap="none" spc="0" normalizeH="0" baseline="0" noProof="0">
                <a:ln>
                  <a:noFill/>
                </a:ln>
                <a:solidFill>
                  <a:srgbClr val="000000"/>
                </a:solidFill>
                <a:effectLst/>
                <a:uLnTx/>
                <a:uFillTx/>
                <a:latin typeface="楷体_GB2312" pitchFamily="49" charset="-122"/>
                <a:ea typeface="楷体_GB2312" pitchFamily="49" charset="-122"/>
              </a:rPr>
              <a:t>k</a:t>
            </a:r>
            <a:r>
              <a:rPr kumimoji="1" lang="zh-CN" altLang="en-US" sz="2400" b="1" i="0" u="none" strike="noStrike" kern="0" cap="none" spc="0" normalizeH="0" baseline="0" noProof="0">
                <a:ln>
                  <a:noFill/>
                </a:ln>
                <a:solidFill>
                  <a:srgbClr val="000000"/>
                </a:solidFill>
                <a:effectLst/>
                <a:uLnTx/>
                <a:uFillTx/>
                <a:latin typeface="楷体_GB2312" pitchFamily="49" charset="-122"/>
                <a:ea typeface="楷体_GB2312" pitchFamily="49" charset="-122"/>
              </a:rPr>
              <a:t>的二叉树最多有</a:t>
            </a:r>
            <a:r>
              <a:rPr kumimoji="1" lang="en-US" altLang="zh-CN" sz="2400" b="1" i="0" u="none" strike="noStrike" kern="0" cap="none" spc="0" normalizeH="0" baseline="0" noProof="0">
                <a:ln>
                  <a:noFill/>
                </a:ln>
                <a:solidFill>
                  <a:srgbClr val="000000"/>
                </a:solidFill>
                <a:effectLst/>
                <a:uLnTx/>
                <a:uFillTx/>
                <a:latin typeface="楷体_GB2312" pitchFamily="49" charset="-122"/>
                <a:ea typeface="楷体_GB2312" pitchFamily="49" charset="-122"/>
              </a:rPr>
              <a:t>2</a:t>
            </a:r>
            <a:r>
              <a:rPr kumimoji="1" lang="en-US" altLang="zh-CN" sz="2400" b="1" i="0" u="none" strike="noStrike" kern="0" cap="none" spc="0" normalizeH="0" baseline="30000" noProof="0">
                <a:ln>
                  <a:noFill/>
                </a:ln>
                <a:solidFill>
                  <a:srgbClr val="000000"/>
                </a:solidFill>
                <a:effectLst/>
                <a:uLnTx/>
                <a:uFillTx/>
                <a:latin typeface="楷体_GB2312" pitchFamily="49" charset="-122"/>
                <a:ea typeface="楷体_GB2312" pitchFamily="49" charset="-122"/>
              </a:rPr>
              <a:t>k</a:t>
            </a:r>
            <a:r>
              <a:rPr kumimoji="1" lang="en-US" altLang="zh-CN" sz="2400" b="1" i="0" u="none" strike="noStrike" kern="0" cap="none" spc="0" normalizeH="0" baseline="0" noProof="0">
                <a:ln>
                  <a:noFill/>
                </a:ln>
                <a:solidFill>
                  <a:srgbClr val="000000"/>
                </a:solidFill>
                <a:effectLst/>
                <a:uLnTx/>
                <a:uFillTx/>
                <a:latin typeface="楷体_GB2312" pitchFamily="49" charset="-122"/>
                <a:ea typeface="楷体_GB2312" pitchFamily="49" charset="-122"/>
              </a:rPr>
              <a:t>-1</a:t>
            </a:r>
            <a:r>
              <a:rPr kumimoji="1" lang="zh-CN" altLang="en-US" sz="2400" b="1" i="0" u="none" strike="noStrike" kern="0" cap="none" spc="0" normalizeH="0" baseline="0" noProof="0">
                <a:ln>
                  <a:noFill/>
                </a:ln>
                <a:solidFill>
                  <a:srgbClr val="000000"/>
                </a:solidFill>
                <a:effectLst/>
                <a:uLnTx/>
                <a:uFillTx/>
                <a:latin typeface="楷体_GB2312" pitchFamily="49" charset="-122"/>
                <a:ea typeface="楷体_GB2312" pitchFamily="49" charset="-122"/>
              </a:rPr>
              <a:t>个结点</a:t>
            </a:r>
          </a:p>
        </p:txBody>
      </p:sp>
      <p:grpSp>
        <p:nvGrpSpPr>
          <p:cNvPr id="43" name="Group 9"/>
          <p:cNvGrpSpPr>
            <a:grpSpLocks/>
          </p:cNvGrpSpPr>
          <p:nvPr/>
        </p:nvGrpSpPr>
        <p:grpSpPr bwMode="auto">
          <a:xfrm>
            <a:off x="4876800" y="3423941"/>
            <a:ext cx="4535487" cy="2471737"/>
            <a:chOff x="3529" y="1344"/>
            <a:chExt cx="2857" cy="1557"/>
          </a:xfrm>
        </p:grpSpPr>
        <p:grpSp>
          <p:nvGrpSpPr>
            <p:cNvPr id="44" name="Group 10"/>
            <p:cNvGrpSpPr>
              <a:grpSpLocks/>
            </p:cNvGrpSpPr>
            <p:nvPr/>
          </p:nvGrpSpPr>
          <p:grpSpPr bwMode="auto">
            <a:xfrm>
              <a:off x="4881" y="1344"/>
              <a:ext cx="528" cy="322"/>
              <a:chOff x="310" y="2496"/>
              <a:chExt cx="576" cy="400"/>
            </a:xfrm>
          </p:grpSpPr>
          <p:sp>
            <p:nvSpPr>
              <p:cNvPr id="74" name="Oval 11"/>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75" name="Text Box 12"/>
              <p:cNvSpPr txBox="1">
                <a:spLocks noChangeArrowheads="1"/>
              </p:cNvSpPr>
              <p:nvPr/>
            </p:nvSpPr>
            <p:spPr bwMode="auto">
              <a:xfrm>
                <a:off x="310" y="2496"/>
                <a:ext cx="576" cy="313"/>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黑体" pitchFamily="2" charset="-122"/>
                    <a:ea typeface="黑体" pitchFamily="2" charset="-122"/>
                  </a:rPr>
                  <a:t> </a:t>
                </a:r>
                <a:r>
                  <a:rPr lang="en-US" altLang="zh-CN" sz="2000" b="1">
                    <a:solidFill>
                      <a:srgbClr val="0707F9"/>
                    </a:solidFill>
                    <a:latin typeface="黑体" pitchFamily="2" charset="-122"/>
                    <a:ea typeface="黑体" pitchFamily="2" charset="-122"/>
                  </a:rPr>
                  <a:t>A</a:t>
                </a:r>
              </a:p>
            </p:txBody>
          </p:sp>
        </p:grpSp>
        <p:grpSp>
          <p:nvGrpSpPr>
            <p:cNvPr id="45" name="Group 13"/>
            <p:cNvGrpSpPr>
              <a:grpSpLocks/>
            </p:cNvGrpSpPr>
            <p:nvPr/>
          </p:nvGrpSpPr>
          <p:grpSpPr bwMode="auto">
            <a:xfrm>
              <a:off x="4662" y="2194"/>
              <a:ext cx="527" cy="322"/>
              <a:chOff x="310" y="2495"/>
              <a:chExt cx="576" cy="401"/>
            </a:xfrm>
          </p:grpSpPr>
          <p:sp>
            <p:nvSpPr>
              <p:cNvPr id="72" name="Oval 14"/>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73" name="Text Box 15"/>
              <p:cNvSpPr txBox="1">
                <a:spLocks noChangeArrowheads="1"/>
              </p:cNvSpPr>
              <p:nvPr/>
            </p:nvSpPr>
            <p:spPr bwMode="auto">
              <a:xfrm>
                <a:off x="310" y="2495"/>
                <a:ext cx="576" cy="314"/>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黑体" pitchFamily="2" charset="-122"/>
                    <a:ea typeface="黑体" pitchFamily="2" charset="-122"/>
                  </a:rPr>
                  <a:t> </a:t>
                </a:r>
                <a:r>
                  <a:rPr lang="en-US" altLang="zh-CN" sz="2000" b="1">
                    <a:solidFill>
                      <a:srgbClr val="0707F9"/>
                    </a:solidFill>
                    <a:latin typeface="黑体" pitchFamily="2" charset="-122"/>
                    <a:ea typeface="黑体" pitchFamily="2" charset="-122"/>
                  </a:rPr>
                  <a:t>E</a:t>
                </a:r>
              </a:p>
            </p:txBody>
          </p:sp>
        </p:grpSp>
        <p:grpSp>
          <p:nvGrpSpPr>
            <p:cNvPr id="46" name="Group 16"/>
            <p:cNvGrpSpPr>
              <a:grpSpLocks/>
            </p:cNvGrpSpPr>
            <p:nvPr/>
          </p:nvGrpSpPr>
          <p:grpSpPr bwMode="auto">
            <a:xfrm>
              <a:off x="3916" y="2194"/>
              <a:ext cx="526" cy="322"/>
              <a:chOff x="310" y="2496"/>
              <a:chExt cx="576" cy="400"/>
            </a:xfrm>
          </p:grpSpPr>
          <p:sp>
            <p:nvSpPr>
              <p:cNvPr id="70" name="Oval 17"/>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71" name="Text Box 18"/>
              <p:cNvSpPr txBox="1">
                <a:spLocks noChangeArrowheads="1"/>
              </p:cNvSpPr>
              <p:nvPr/>
            </p:nvSpPr>
            <p:spPr bwMode="auto">
              <a:xfrm>
                <a:off x="310" y="2496"/>
                <a:ext cx="576" cy="313"/>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D</a:t>
                </a:r>
              </a:p>
            </p:txBody>
          </p:sp>
        </p:grpSp>
        <p:grpSp>
          <p:nvGrpSpPr>
            <p:cNvPr id="47" name="Group 19"/>
            <p:cNvGrpSpPr>
              <a:grpSpLocks/>
            </p:cNvGrpSpPr>
            <p:nvPr/>
          </p:nvGrpSpPr>
          <p:grpSpPr bwMode="auto">
            <a:xfrm>
              <a:off x="5497" y="1731"/>
              <a:ext cx="526" cy="322"/>
              <a:chOff x="310" y="2496"/>
              <a:chExt cx="576" cy="400"/>
            </a:xfrm>
          </p:grpSpPr>
          <p:sp>
            <p:nvSpPr>
              <p:cNvPr id="68" name="Oval 20"/>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69" name="Text Box 21"/>
              <p:cNvSpPr txBox="1">
                <a:spLocks noChangeArrowheads="1"/>
              </p:cNvSpPr>
              <p:nvPr/>
            </p:nvSpPr>
            <p:spPr bwMode="auto">
              <a:xfrm>
                <a:off x="310" y="2496"/>
                <a:ext cx="576" cy="313"/>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C</a:t>
                </a:r>
              </a:p>
            </p:txBody>
          </p:sp>
        </p:grpSp>
        <p:grpSp>
          <p:nvGrpSpPr>
            <p:cNvPr id="48" name="Group 22"/>
            <p:cNvGrpSpPr>
              <a:grpSpLocks/>
            </p:cNvGrpSpPr>
            <p:nvPr/>
          </p:nvGrpSpPr>
          <p:grpSpPr bwMode="auto">
            <a:xfrm>
              <a:off x="4310" y="1769"/>
              <a:ext cx="528" cy="322"/>
              <a:chOff x="310" y="2496"/>
              <a:chExt cx="576" cy="400"/>
            </a:xfrm>
          </p:grpSpPr>
          <p:sp>
            <p:nvSpPr>
              <p:cNvPr id="66" name="Oval 23"/>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67" name="Text Box 24"/>
              <p:cNvSpPr txBox="1">
                <a:spLocks noChangeArrowheads="1"/>
              </p:cNvSpPr>
              <p:nvPr/>
            </p:nvSpPr>
            <p:spPr bwMode="auto">
              <a:xfrm>
                <a:off x="310" y="2496"/>
                <a:ext cx="576" cy="313"/>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B</a:t>
                </a:r>
              </a:p>
            </p:txBody>
          </p:sp>
        </p:grpSp>
        <p:sp>
          <p:nvSpPr>
            <p:cNvPr id="49" name="Line 25"/>
            <p:cNvSpPr>
              <a:spLocks noChangeShapeType="1"/>
            </p:cNvSpPr>
            <p:nvPr/>
          </p:nvSpPr>
          <p:spPr bwMode="auto">
            <a:xfrm flipH="1">
              <a:off x="4618" y="1615"/>
              <a:ext cx="351" cy="231"/>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50" name="Line 26"/>
            <p:cNvSpPr>
              <a:spLocks noChangeShapeType="1"/>
            </p:cNvSpPr>
            <p:nvPr/>
          </p:nvSpPr>
          <p:spPr bwMode="auto">
            <a:xfrm>
              <a:off x="5233" y="1615"/>
              <a:ext cx="351" cy="230"/>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51" name="Line 27"/>
            <p:cNvSpPr>
              <a:spLocks noChangeShapeType="1"/>
            </p:cNvSpPr>
            <p:nvPr/>
          </p:nvSpPr>
          <p:spPr bwMode="auto">
            <a:xfrm>
              <a:off x="4617" y="2030"/>
              <a:ext cx="264" cy="242"/>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52" name="Line 28"/>
            <p:cNvSpPr>
              <a:spLocks noChangeShapeType="1"/>
            </p:cNvSpPr>
            <p:nvPr/>
          </p:nvSpPr>
          <p:spPr bwMode="auto">
            <a:xfrm flipH="1">
              <a:off x="4179" y="2030"/>
              <a:ext cx="302" cy="242"/>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53" name="Text Box 29"/>
            <p:cNvSpPr txBox="1">
              <a:spLocks noChangeArrowheads="1"/>
            </p:cNvSpPr>
            <p:nvPr/>
          </p:nvSpPr>
          <p:spPr bwMode="auto">
            <a:xfrm>
              <a:off x="4805" y="2649"/>
              <a:ext cx="703" cy="252"/>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endParaRPr kumimoji="1" lang="en-US" altLang="zh-CN" sz="2000" b="1">
                <a:solidFill>
                  <a:srgbClr val="0707F9"/>
                </a:solidFill>
                <a:latin typeface="隶书" pitchFamily="49" charset="-122"/>
                <a:ea typeface="隶书" pitchFamily="49" charset="-122"/>
              </a:endParaRPr>
            </a:p>
          </p:txBody>
        </p:sp>
        <p:grpSp>
          <p:nvGrpSpPr>
            <p:cNvPr id="54" name="Group 30"/>
            <p:cNvGrpSpPr>
              <a:grpSpLocks/>
            </p:cNvGrpSpPr>
            <p:nvPr/>
          </p:nvGrpSpPr>
          <p:grpSpPr bwMode="auto">
            <a:xfrm>
              <a:off x="5859" y="2100"/>
              <a:ext cx="527" cy="322"/>
              <a:chOff x="310" y="2495"/>
              <a:chExt cx="576" cy="401"/>
            </a:xfrm>
          </p:grpSpPr>
          <p:sp>
            <p:nvSpPr>
              <p:cNvPr id="64" name="Oval 31"/>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65" name="Text Box 32"/>
              <p:cNvSpPr txBox="1">
                <a:spLocks noChangeArrowheads="1"/>
              </p:cNvSpPr>
              <p:nvPr/>
            </p:nvSpPr>
            <p:spPr bwMode="auto">
              <a:xfrm>
                <a:off x="310" y="2495"/>
                <a:ext cx="576" cy="314"/>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黑体" pitchFamily="2" charset="-122"/>
                    <a:ea typeface="黑体" pitchFamily="2" charset="-122"/>
                  </a:rPr>
                  <a:t> </a:t>
                </a:r>
                <a:r>
                  <a:rPr lang="en-US" altLang="zh-CN" sz="2000" b="1">
                    <a:solidFill>
                      <a:srgbClr val="0707F9"/>
                    </a:solidFill>
                    <a:latin typeface="黑体" pitchFamily="2" charset="-122"/>
                    <a:ea typeface="黑体" pitchFamily="2" charset="-122"/>
                  </a:rPr>
                  <a:t>E</a:t>
                </a:r>
              </a:p>
            </p:txBody>
          </p:sp>
        </p:grpSp>
        <p:grpSp>
          <p:nvGrpSpPr>
            <p:cNvPr id="55" name="Group 33"/>
            <p:cNvGrpSpPr>
              <a:grpSpLocks/>
            </p:cNvGrpSpPr>
            <p:nvPr/>
          </p:nvGrpSpPr>
          <p:grpSpPr bwMode="auto">
            <a:xfrm>
              <a:off x="5113" y="2100"/>
              <a:ext cx="526" cy="322"/>
              <a:chOff x="310" y="2496"/>
              <a:chExt cx="576" cy="400"/>
            </a:xfrm>
          </p:grpSpPr>
          <p:sp>
            <p:nvSpPr>
              <p:cNvPr id="62" name="Oval 34"/>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63" name="Text Box 35"/>
              <p:cNvSpPr txBox="1">
                <a:spLocks noChangeArrowheads="1"/>
              </p:cNvSpPr>
              <p:nvPr/>
            </p:nvSpPr>
            <p:spPr bwMode="auto">
              <a:xfrm>
                <a:off x="310" y="2496"/>
                <a:ext cx="576" cy="313"/>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D</a:t>
                </a:r>
              </a:p>
            </p:txBody>
          </p:sp>
        </p:grpSp>
        <p:sp>
          <p:nvSpPr>
            <p:cNvPr id="56" name="Line 36"/>
            <p:cNvSpPr>
              <a:spLocks noChangeShapeType="1"/>
            </p:cNvSpPr>
            <p:nvPr/>
          </p:nvSpPr>
          <p:spPr bwMode="auto">
            <a:xfrm>
              <a:off x="5859" y="1984"/>
              <a:ext cx="219" cy="194"/>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57" name="Line 37"/>
            <p:cNvSpPr>
              <a:spLocks noChangeShapeType="1"/>
            </p:cNvSpPr>
            <p:nvPr/>
          </p:nvSpPr>
          <p:spPr bwMode="auto">
            <a:xfrm flipH="1">
              <a:off x="5376" y="1984"/>
              <a:ext cx="222" cy="194"/>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grpSp>
          <p:nvGrpSpPr>
            <p:cNvPr id="58" name="Group 38"/>
            <p:cNvGrpSpPr>
              <a:grpSpLocks/>
            </p:cNvGrpSpPr>
            <p:nvPr/>
          </p:nvGrpSpPr>
          <p:grpSpPr bwMode="auto">
            <a:xfrm>
              <a:off x="3529" y="2554"/>
              <a:ext cx="526" cy="322"/>
              <a:chOff x="310" y="2496"/>
              <a:chExt cx="576" cy="400"/>
            </a:xfrm>
          </p:grpSpPr>
          <p:sp>
            <p:nvSpPr>
              <p:cNvPr id="60" name="Oval 39"/>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200">
                  <a:solidFill>
                    <a:srgbClr val="000000"/>
                  </a:solidFill>
                  <a:latin typeface="Times New Roman" pitchFamily="18" charset="0"/>
                </a:endParaRPr>
              </a:p>
            </p:txBody>
          </p:sp>
          <p:sp>
            <p:nvSpPr>
              <p:cNvPr id="61" name="Text Box 40"/>
              <p:cNvSpPr txBox="1">
                <a:spLocks noChangeArrowheads="1"/>
              </p:cNvSpPr>
              <p:nvPr/>
            </p:nvSpPr>
            <p:spPr bwMode="auto">
              <a:xfrm>
                <a:off x="310" y="2496"/>
                <a:ext cx="576" cy="313"/>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0707F9"/>
                    </a:solidFill>
                    <a:latin typeface="隶书" pitchFamily="49" charset="-122"/>
                    <a:ea typeface="隶书" pitchFamily="49" charset="-122"/>
                  </a:rPr>
                  <a:t> </a:t>
                </a:r>
                <a:r>
                  <a:rPr lang="en-US" altLang="zh-CN" sz="2000" b="1">
                    <a:solidFill>
                      <a:srgbClr val="0707F9"/>
                    </a:solidFill>
                    <a:latin typeface="黑体" pitchFamily="2" charset="-122"/>
                    <a:ea typeface="黑体" pitchFamily="2" charset="-122"/>
                  </a:rPr>
                  <a:t>D</a:t>
                </a:r>
              </a:p>
            </p:txBody>
          </p:sp>
        </p:grpSp>
        <p:sp>
          <p:nvSpPr>
            <p:cNvPr id="59" name="Line 41"/>
            <p:cNvSpPr>
              <a:spLocks noChangeShapeType="1"/>
            </p:cNvSpPr>
            <p:nvPr/>
          </p:nvSpPr>
          <p:spPr bwMode="auto">
            <a:xfrm flipH="1">
              <a:off x="3792" y="2438"/>
              <a:ext cx="222" cy="194"/>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grpSp>
      <p:grpSp>
        <p:nvGrpSpPr>
          <p:cNvPr id="76" name="Group 42"/>
          <p:cNvGrpSpPr>
            <a:grpSpLocks/>
          </p:cNvGrpSpPr>
          <p:nvPr/>
        </p:nvGrpSpPr>
        <p:grpSpPr bwMode="auto">
          <a:xfrm>
            <a:off x="6007099" y="2720975"/>
            <a:ext cx="2384425" cy="479425"/>
            <a:chOff x="2258" y="1652"/>
            <a:chExt cx="1502" cy="302"/>
          </a:xfrm>
        </p:grpSpPr>
        <p:sp>
          <p:nvSpPr>
            <p:cNvPr id="77" name="Line 43"/>
            <p:cNvSpPr>
              <a:spLocks noChangeShapeType="1"/>
            </p:cNvSpPr>
            <p:nvPr/>
          </p:nvSpPr>
          <p:spPr bwMode="auto">
            <a:xfrm>
              <a:off x="2258" y="1842"/>
              <a:ext cx="318" cy="0"/>
            </a:xfrm>
            <a:prstGeom prst="line">
              <a:avLst/>
            </a:prstGeom>
            <a:noFill/>
            <a:ln w="28575">
              <a:solidFill>
                <a:srgbClr val="FF0000"/>
              </a:solidFill>
              <a:round/>
              <a:headEnd/>
              <a:tailEnd type="triangle" w="med" len="med"/>
            </a:ln>
          </p:spPr>
          <p:txBody>
            <a:bodyPr>
              <a:spAutoFit/>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78" name="Text Box 44"/>
            <p:cNvSpPr txBox="1">
              <a:spLocks noChangeArrowheads="1"/>
            </p:cNvSpPr>
            <p:nvPr/>
          </p:nvSpPr>
          <p:spPr bwMode="auto">
            <a:xfrm>
              <a:off x="2530" y="1652"/>
              <a:ext cx="1230" cy="302"/>
            </a:xfrm>
            <a:prstGeom prst="rect">
              <a:avLst/>
            </a:prstGeom>
            <a:noFill/>
            <a:ln w="9525" algn="ctr">
              <a:noFill/>
              <a:miter lim="800000"/>
              <a:headEnd/>
              <a:tailEnd/>
            </a:ln>
          </p:spPr>
          <p:txBody>
            <a:bodyPr wrap="none">
              <a:spAutoFit/>
            </a:bodyPr>
            <a:lstStyle/>
            <a:p>
              <a:pPr marL="533400" indent="-533400" fontAlgn="base">
                <a:lnSpc>
                  <a:spcPct val="140000"/>
                </a:lnSpc>
                <a:spcBef>
                  <a:spcPct val="20000"/>
                </a:spcBef>
                <a:spcAft>
                  <a:spcPct val="0"/>
                </a:spcAft>
                <a:buClr>
                  <a:srgbClr val="FFFF00"/>
                </a:buClr>
                <a:buSzPct val="95000"/>
                <a:buFont typeface="Wingdings" pitchFamily="2" charset="2"/>
                <a:buNone/>
              </a:pPr>
              <a:r>
                <a:rPr kumimoji="1" lang="en-US" altLang="zh-CN" b="1">
                  <a:solidFill>
                    <a:srgbClr val="FF0000"/>
                  </a:solidFill>
                  <a:latin typeface="Constantia" pitchFamily="18" charset="0"/>
                </a:rPr>
                <a:t>k</a:t>
              </a:r>
              <a:r>
                <a:rPr kumimoji="1" lang="zh-CN" altLang="en-US" b="1">
                  <a:solidFill>
                    <a:srgbClr val="FF0000"/>
                  </a:solidFill>
                  <a:latin typeface="Constantia" pitchFamily="18" charset="0"/>
                </a:rPr>
                <a:t>层的最多结点数</a:t>
              </a:r>
            </a:p>
          </p:txBody>
        </p:sp>
      </p:grpSp>
      <p:grpSp>
        <p:nvGrpSpPr>
          <p:cNvPr id="79" name="Group 45"/>
          <p:cNvGrpSpPr>
            <a:grpSpLocks/>
          </p:cNvGrpSpPr>
          <p:nvPr/>
        </p:nvGrpSpPr>
        <p:grpSpPr bwMode="auto">
          <a:xfrm>
            <a:off x="790575" y="2720975"/>
            <a:ext cx="2809875" cy="479425"/>
            <a:chOff x="398" y="1652"/>
            <a:chExt cx="1770" cy="302"/>
          </a:xfrm>
        </p:grpSpPr>
        <p:sp>
          <p:nvSpPr>
            <p:cNvPr id="80" name="Line 46"/>
            <p:cNvSpPr>
              <a:spLocks noChangeShapeType="1"/>
            </p:cNvSpPr>
            <p:nvPr/>
          </p:nvSpPr>
          <p:spPr bwMode="auto">
            <a:xfrm>
              <a:off x="1850" y="1842"/>
              <a:ext cx="318" cy="0"/>
            </a:xfrm>
            <a:prstGeom prst="line">
              <a:avLst/>
            </a:prstGeom>
            <a:noFill/>
            <a:ln w="28575">
              <a:solidFill>
                <a:srgbClr val="FF0000"/>
              </a:solidFill>
              <a:round/>
              <a:headEnd type="triangle" w="med" len="med"/>
              <a:tailEnd/>
            </a:ln>
          </p:spPr>
          <p:txBody>
            <a:bodyPr>
              <a:spAutoFit/>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81" name="Text Box 47"/>
            <p:cNvSpPr txBox="1">
              <a:spLocks noChangeArrowheads="1"/>
            </p:cNvSpPr>
            <p:nvPr/>
          </p:nvSpPr>
          <p:spPr bwMode="auto">
            <a:xfrm>
              <a:off x="398" y="1652"/>
              <a:ext cx="1378" cy="302"/>
            </a:xfrm>
            <a:prstGeom prst="rect">
              <a:avLst/>
            </a:prstGeom>
            <a:noFill/>
            <a:ln w="9525" algn="ctr">
              <a:noFill/>
              <a:miter lim="800000"/>
              <a:headEnd/>
              <a:tailEnd/>
            </a:ln>
          </p:spPr>
          <p:txBody>
            <a:bodyPr wrap="none">
              <a:spAutoFit/>
            </a:bodyPr>
            <a:lstStyle/>
            <a:p>
              <a:pPr marL="533400" indent="-533400" fontAlgn="base">
                <a:lnSpc>
                  <a:spcPct val="140000"/>
                </a:lnSpc>
                <a:spcBef>
                  <a:spcPct val="20000"/>
                </a:spcBef>
                <a:spcAft>
                  <a:spcPct val="0"/>
                </a:spcAft>
                <a:buClr>
                  <a:srgbClr val="FFFF00"/>
                </a:buClr>
                <a:buSzPct val="95000"/>
                <a:buFont typeface="Wingdings" pitchFamily="2" charset="2"/>
                <a:buNone/>
              </a:pPr>
              <a:r>
                <a:rPr kumimoji="1" lang="en-US" altLang="zh-CN" b="1">
                  <a:solidFill>
                    <a:srgbClr val="FF0000"/>
                  </a:solidFill>
                  <a:latin typeface="Constantia" pitchFamily="18" charset="0"/>
                </a:rPr>
                <a:t>k</a:t>
              </a:r>
              <a:r>
                <a:rPr kumimoji="1" lang="en-US" altLang="zh-CN" b="1">
                  <a:solidFill>
                    <a:srgbClr val="FF0000"/>
                  </a:solidFill>
                  <a:latin typeface="宋体" pitchFamily="2" charset="-122"/>
                </a:rPr>
                <a:t>-1</a:t>
              </a:r>
              <a:r>
                <a:rPr kumimoji="1" lang="zh-CN" altLang="en-US" b="1">
                  <a:solidFill>
                    <a:srgbClr val="FF0000"/>
                  </a:solidFill>
                  <a:latin typeface="Constantia" pitchFamily="18" charset="0"/>
                </a:rPr>
                <a:t>层的最多结点数</a:t>
              </a:r>
            </a:p>
          </p:txBody>
        </p:sp>
      </p:grpSp>
    </p:spTree>
    <p:extLst>
      <p:ext uri="{BB962C8B-B14F-4D97-AF65-F5344CB8AC3E}">
        <p14:creationId xmlns:p14="http://schemas.microsoft.com/office/powerpoint/2010/main" val="845392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uild="p"/>
      <p:bldP spid="39" grpId="0"/>
      <p:bldP spid="40" grpId="0"/>
      <p:bldP spid="41" grpId="0"/>
      <p:bldP spid="4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5.2.2  </a:t>
            </a:r>
            <a:r>
              <a:rPr kumimoji="1" lang="zh-CN" altLang="en-US" sz="3200" b="1" dirty="0">
                <a:latin typeface="Arial" charset="0"/>
                <a:ea typeface="宋体" charset="-122"/>
                <a:cs typeface="+mn-cs"/>
              </a:rPr>
              <a:t>二叉树的性质</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endParaRPr lang="en-US" altLang="zh-CN" sz="2800" b="1" dirty="0"/>
          </a:p>
        </p:txBody>
      </p:sp>
      <p:sp>
        <p:nvSpPr>
          <p:cNvPr id="4" name="日期占位符 3"/>
          <p:cNvSpPr>
            <a:spLocks noGrp="1"/>
          </p:cNvSpPr>
          <p:nvPr>
            <p:ph type="dt" sz="half" idx="10"/>
          </p:nvPr>
        </p:nvSpPr>
        <p:spPr/>
        <p:txBody>
          <a:bodyPr/>
          <a:lstStyle/>
          <a:p>
            <a:fld id="{9FDB5708-D18F-480E-B5A7-0810139BDD60}"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32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37" name="Text Box 2"/>
          <p:cNvSpPr txBox="1">
            <a:spLocks noChangeArrowheads="1"/>
          </p:cNvSpPr>
          <p:nvPr/>
        </p:nvSpPr>
        <p:spPr bwMode="auto">
          <a:xfrm>
            <a:off x="568325" y="1137533"/>
            <a:ext cx="8208963" cy="919867"/>
          </a:xfrm>
          <a:prstGeom prst="rect">
            <a:avLst/>
          </a:prstGeom>
          <a:noFill/>
          <a:ln w="9525">
            <a:noFill/>
            <a:miter lim="800000"/>
            <a:headEnd/>
            <a:tailEnd/>
          </a:ln>
        </p:spPr>
        <p:txBody>
          <a:bodyPr>
            <a:spAutoFit/>
          </a:bodyPr>
          <a:lstStyle/>
          <a:p>
            <a:pPr fontAlgn="base">
              <a:lnSpc>
                <a:spcPct val="120000"/>
              </a:lnSpc>
              <a:spcBef>
                <a:spcPct val="15000"/>
              </a:spcBef>
              <a:spcAft>
                <a:spcPct val="0"/>
              </a:spcAft>
            </a:pPr>
            <a:r>
              <a:rPr kumimoji="1" lang="zh-CN" altLang="en-US" sz="2400" b="1" dirty="0">
                <a:solidFill>
                  <a:srgbClr val="FF0000"/>
                </a:solidFill>
                <a:latin typeface="宋体" pitchFamily="2" charset="-122"/>
              </a:rPr>
              <a:t>性质</a:t>
            </a:r>
            <a:r>
              <a:rPr kumimoji="1" lang="en-US" altLang="zh-CN" sz="2400" b="1" dirty="0">
                <a:solidFill>
                  <a:srgbClr val="FF0000"/>
                </a:solidFill>
                <a:latin typeface="宋体" pitchFamily="2" charset="-122"/>
              </a:rPr>
              <a:t>4</a:t>
            </a:r>
            <a:r>
              <a:rPr kumimoji="1" lang="en-US" altLang="zh-CN" sz="2400" b="1" dirty="0">
                <a:solidFill>
                  <a:srgbClr val="0707F9"/>
                </a:solidFill>
                <a:latin typeface="宋体" pitchFamily="2" charset="-122"/>
              </a:rPr>
              <a:t>  </a:t>
            </a:r>
            <a:r>
              <a:rPr kumimoji="1" lang="zh-CN" altLang="en-US" sz="2400" b="1" dirty="0">
                <a:solidFill>
                  <a:srgbClr val="000000"/>
                </a:solidFill>
                <a:latin typeface="宋体" pitchFamily="2" charset="-122"/>
              </a:rPr>
              <a:t>对任意二叉树</a:t>
            </a:r>
            <a:r>
              <a:rPr kumimoji="1" lang="en-US" altLang="zh-CN" sz="2400" b="1" dirty="0">
                <a:solidFill>
                  <a:srgbClr val="000000"/>
                </a:solidFill>
                <a:latin typeface="宋体" pitchFamily="2" charset="-122"/>
              </a:rPr>
              <a:t>T</a:t>
            </a:r>
            <a:r>
              <a:rPr kumimoji="1" lang="zh-CN" altLang="en-US" sz="2400" b="1" dirty="0">
                <a:solidFill>
                  <a:srgbClr val="000000"/>
                </a:solidFill>
                <a:latin typeface="宋体" pitchFamily="2" charset="-122"/>
              </a:rPr>
              <a:t>，如果度数为</a:t>
            </a:r>
            <a:r>
              <a:rPr kumimoji="1" lang="en-US" altLang="zh-CN" sz="2400" b="1" dirty="0">
                <a:solidFill>
                  <a:srgbClr val="000000"/>
                </a:solidFill>
                <a:latin typeface="宋体" pitchFamily="2" charset="-122"/>
              </a:rPr>
              <a:t>0</a:t>
            </a:r>
            <a:r>
              <a:rPr kumimoji="1" lang="zh-CN" altLang="en-US" sz="2400" b="1" dirty="0">
                <a:solidFill>
                  <a:srgbClr val="000000"/>
                </a:solidFill>
                <a:latin typeface="宋体" pitchFamily="2" charset="-122"/>
              </a:rPr>
              <a:t>结点数为</a:t>
            </a:r>
            <a:r>
              <a:rPr kumimoji="1" lang="en-US" altLang="zh-CN" sz="2400" b="1" dirty="0">
                <a:solidFill>
                  <a:srgbClr val="000000"/>
                </a:solidFill>
                <a:latin typeface="宋体" pitchFamily="2" charset="-122"/>
              </a:rPr>
              <a:t>n</a:t>
            </a:r>
            <a:r>
              <a:rPr kumimoji="1" lang="en-US" altLang="zh-CN" sz="2400" b="1" baseline="-30000" dirty="0">
                <a:solidFill>
                  <a:srgbClr val="000000"/>
                </a:solidFill>
                <a:latin typeface="宋体" pitchFamily="2" charset="-122"/>
              </a:rPr>
              <a:t>0</a:t>
            </a:r>
            <a:r>
              <a:rPr kumimoji="1" lang="en-US" altLang="zh-CN" sz="2400" b="1" dirty="0">
                <a:solidFill>
                  <a:srgbClr val="000000"/>
                </a:solidFill>
                <a:latin typeface="宋体" pitchFamily="2" charset="-122"/>
              </a:rPr>
              <a:t>,</a:t>
            </a:r>
            <a:r>
              <a:rPr kumimoji="1" lang="zh-CN" altLang="en-US" sz="2400" b="1" dirty="0">
                <a:solidFill>
                  <a:srgbClr val="000000"/>
                </a:solidFill>
                <a:latin typeface="宋体" pitchFamily="2" charset="-122"/>
              </a:rPr>
              <a:t>度数为</a:t>
            </a:r>
            <a:r>
              <a:rPr kumimoji="1" lang="en-US" altLang="zh-CN" sz="2400" b="1" dirty="0">
                <a:solidFill>
                  <a:srgbClr val="000000"/>
                </a:solidFill>
                <a:latin typeface="宋体" pitchFamily="2" charset="-122"/>
              </a:rPr>
              <a:t>1</a:t>
            </a:r>
            <a:r>
              <a:rPr kumimoji="1" lang="zh-CN" altLang="en-US" sz="2400" b="1" dirty="0">
                <a:solidFill>
                  <a:srgbClr val="000000"/>
                </a:solidFill>
                <a:latin typeface="宋体" pitchFamily="2" charset="-122"/>
              </a:rPr>
              <a:t>结点数为</a:t>
            </a:r>
            <a:r>
              <a:rPr kumimoji="1" lang="en-US" altLang="zh-CN" sz="2400" b="1" dirty="0">
                <a:solidFill>
                  <a:srgbClr val="000000"/>
                </a:solidFill>
                <a:latin typeface="宋体" pitchFamily="2" charset="-122"/>
              </a:rPr>
              <a:t>n</a:t>
            </a:r>
            <a:r>
              <a:rPr kumimoji="1" lang="en-US" altLang="zh-CN" sz="2400" b="1" baseline="-30000" dirty="0">
                <a:solidFill>
                  <a:srgbClr val="000000"/>
                </a:solidFill>
                <a:latin typeface="宋体" pitchFamily="2" charset="-122"/>
              </a:rPr>
              <a:t>1</a:t>
            </a:r>
            <a:r>
              <a:rPr kumimoji="1" lang="en-US" altLang="zh-CN" sz="2400" b="1" dirty="0">
                <a:solidFill>
                  <a:srgbClr val="000000"/>
                </a:solidFill>
                <a:latin typeface="宋体" pitchFamily="2" charset="-122"/>
              </a:rPr>
              <a:t>,</a:t>
            </a:r>
            <a:r>
              <a:rPr kumimoji="1" lang="zh-CN" altLang="en-US" sz="2400" b="1" dirty="0">
                <a:solidFill>
                  <a:srgbClr val="000000"/>
                </a:solidFill>
                <a:latin typeface="宋体" pitchFamily="2" charset="-122"/>
              </a:rPr>
              <a:t>度数为</a:t>
            </a:r>
            <a:r>
              <a:rPr kumimoji="1" lang="en-US" altLang="zh-CN" sz="2400" b="1" dirty="0">
                <a:solidFill>
                  <a:srgbClr val="000000"/>
                </a:solidFill>
                <a:latin typeface="宋体" pitchFamily="2" charset="-122"/>
              </a:rPr>
              <a:t>2</a:t>
            </a:r>
            <a:r>
              <a:rPr kumimoji="1" lang="zh-CN" altLang="en-US" sz="2400" b="1" dirty="0">
                <a:solidFill>
                  <a:srgbClr val="000000"/>
                </a:solidFill>
                <a:latin typeface="宋体" pitchFamily="2" charset="-122"/>
              </a:rPr>
              <a:t>结点数为</a:t>
            </a:r>
            <a:r>
              <a:rPr kumimoji="1" lang="en-US" altLang="zh-CN" sz="2400" b="1" dirty="0">
                <a:solidFill>
                  <a:srgbClr val="000000"/>
                </a:solidFill>
                <a:latin typeface="宋体" pitchFamily="2" charset="-122"/>
              </a:rPr>
              <a:t>n</a:t>
            </a:r>
            <a:r>
              <a:rPr kumimoji="1" lang="en-US" altLang="zh-CN" sz="2400" b="1" baseline="-30000" dirty="0">
                <a:solidFill>
                  <a:srgbClr val="000000"/>
                </a:solidFill>
                <a:latin typeface="宋体" pitchFamily="2" charset="-122"/>
              </a:rPr>
              <a:t>2</a:t>
            </a:r>
            <a:r>
              <a:rPr kumimoji="1" lang="zh-CN" altLang="en-US" sz="2400" b="1" dirty="0">
                <a:solidFill>
                  <a:srgbClr val="000000"/>
                </a:solidFill>
                <a:latin typeface="宋体" pitchFamily="2" charset="-122"/>
              </a:rPr>
              <a:t>，则</a:t>
            </a:r>
            <a:r>
              <a:rPr kumimoji="1" lang="en-US" altLang="zh-CN" sz="2400" b="1" dirty="0">
                <a:solidFill>
                  <a:srgbClr val="000000"/>
                </a:solidFill>
                <a:latin typeface="宋体" pitchFamily="2" charset="-122"/>
              </a:rPr>
              <a:t>n</a:t>
            </a:r>
            <a:r>
              <a:rPr kumimoji="1" lang="en-US" altLang="zh-CN" sz="2400" b="1" baseline="-30000" dirty="0">
                <a:solidFill>
                  <a:srgbClr val="000000"/>
                </a:solidFill>
                <a:latin typeface="宋体" pitchFamily="2" charset="-122"/>
              </a:rPr>
              <a:t>0</a:t>
            </a:r>
            <a:r>
              <a:rPr kumimoji="1" lang="en-US" altLang="zh-CN" sz="2400" b="1" dirty="0">
                <a:solidFill>
                  <a:srgbClr val="000000"/>
                </a:solidFill>
                <a:latin typeface="宋体" pitchFamily="2" charset="-122"/>
              </a:rPr>
              <a:t>=n</a:t>
            </a:r>
            <a:r>
              <a:rPr kumimoji="1" lang="en-US" altLang="zh-CN" sz="2400" b="1" baseline="-30000" dirty="0">
                <a:solidFill>
                  <a:srgbClr val="000000"/>
                </a:solidFill>
                <a:latin typeface="宋体" pitchFamily="2" charset="-122"/>
              </a:rPr>
              <a:t>2</a:t>
            </a:r>
            <a:r>
              <a:rPr kumimoji="1" lang="en-US" altLang="zh-CN" sz="2400" b="1" dirty="0">
                <a:solidFill>
                  <a:srgbClr val="000000"/>
                </a:solidFill>
                <a:latin typeface="宋体" pitchFamily="2" charset="-122"/>
              </a:rPr>
              <a:t>+1</a:t>
            </a:r>
            <a:r>
              <a:rPr kumimoji="1" lang="zh-CN" altLang="en-US" sz="2400" b="1" dirty="0">
                <a:solidFill>
                  <a:srgbClr val="000000"/>
                </a:solidFill>
                <a:latin typeface="宋体" pitchFamily="2" charset="-122"/>
              </a:rPr>
              <a:t>。</a:t>
            </a:r>
            <a:r>
              <a:rPr kumimoji="1" lang="zh-CN" altLang="en-US" sz="2400" b="1" dirty="0">
                <a:solidFill>
                  <a:srgbClr val="0707F9"/>
                </a:solidFill>
                <a:latin typeface="宋体" pitchFamily="2" charset="-122"/>
              </a:rPr>
              <a:t>  </a:t>
            </a:r>
          </a:p>
        </p:txBody>
      </p:sp>
      <p:sp>
        <p:nvSpPr>
          <p:cNvPr id="38" name="Rectangle 7"/>
          <p:cNvSpPr>
            <a:spLocks noChangeArrowheads="1"/>
          </p:cNvSpPr>
          <p:nvPr/>
        </p:nvSpPr>
        <p:spPr bwMode="auto">
          <a:xfrm>
            <a:off x="549275" y="2128891"/>
            <a:ext cx="9432925" cy="476669"/>
          </a:xfrm>
          <a:prstGeom prst="rect">
            <a:avLst/>
          </a:prstGeom>
          <a:noFill/>
          <a:ln w="12700" cap="rnd">
            <a:noFill/>
            <a:miter lim="800000"/>
            <a:headEnd/>
            <a:tailEnd/>
          </a:ln>
        </p:spPr>
        <p:txBody>
          <a:bodyPr>
            <a:spAutoFit/>
          </a:bodyPr>
          <a:lstStyle/>
          <a:p>
            <a:pPr eaLnBrk="0" fontAlgn="base" hangingPunct="0">
              <a:lnSpc>
                <a:spcPct val="120000"/>
              </a:lnSpc>
              <a:spcBef>
                <a:spcPct val="0"/>
              </a:spcBef>
              <a:spcAft>
                <a:spcPct val="0"/>
              </a:spcAft>
            </a:pPr>
            <a:r>
              <a:rPr kumimoji="1" lang="zh-CN" altLang="en-US" sz="2400" b="1" dirty="0">
                <a:solidFill>
                  <a:srgbClr val="0707F9"/>
                </a:solidFill>
                <a:latin typeface="宋体" pitchFamily="2" charset="-122"/>
              </a:rPr>
              <a:t>证明：二叉树</a:t>
            </a:r>
            <a:r>
              <a:rPr kumimoji="1" lang="en-US" altLang="zh-CN" sz="2400" b="1" dirty="0">
                <a:solidFill>
                  <a:srgbClr val="0707F9"/>
                </a:solidFill>
                <a:latin typeface="宋体" pitchFamily="2" charset="-122"/>
              </a:rPr>
              <a:t>T</a:t>
            </a:r>
            <a:r>
              <a:rPr kumimoji="1" lang="zh-CN" altLang="en-US" sz="2400" b="1" dirty="0">
                <a:solidFill>
                  <a:srgbClr val="0707F9"/>
                </a:solidFill>
                <a:latin typeface="宋体" pitchFamily="2" charset="-122"/>
              </a:rPr>
              <a:t>的</a:t>
            </a:r>
            <a:r>
              <a:rPr kumimoji="1" lang="zh-CN" altLang="en-US" sz="2400" b="1" dirty="0">
                <a:solidFill>
                  <a:srgbClr val="FF0000"/>
                </a:solidFill>
                <a:latin typeface="宋体" pitchFamily="2" charset="-122"/>
              </a:rPr>
              <a:t>结点总数</a:t>
            </a:r>
            <a:r>
              <a:rPr kumimoji="1" lang="zh-CN" altLang="en-US" sz="2400" b="1" dirty="0">
                <a:solidFill>
                  <a:srgbClr val="0707F9"/>
                </a:solidFill>
                <a:latin typeface="宋体" pitchFamily="2" charset="-122"/>
              </a:rPr>
              <a:t>  </a:t>
            </a:r>
            <a:r>
              <a:rPr kumimoji="1" lang="en-US" altLang="zh-CN" sz="2400" b="1" dirty="0">
                <a:solidFill>
                  <a:srgbClr val="0707F9"/>
                </a:solidFill>
                <a:latin typeface="宋体" pitchFamily="2" charset="-122"/>
              </a:rPr>
              <a:t>n=n</a:t>
            </a:r>
            <a:r>
              <a:rPr kumimoji="1" lang="en-US" altLang="zh-CN" sz="2400" b="1" baseline="-25000" dirty="0">
                <a:solidFill>
                  <a:srgbClr val="0707F9"/>
                </a:solidFill>
                <a:latin typeface="宋体" pitchFamily="2" charset="-122"/>
              </a:rPr>
              <a:t>0</a:t>
            </a:r>
            <a:r>
              <a:rPr kumimoji="1" lang="en-US" altLang="zh-CN" sz="2400" b="1" dirty="0">
                <a:solidFill>
                  <a:srgbClr val="0707F9"/>
                </a:solidFill>
                <a:latin typeface="宋体" pitchFamily="2" charset="-122"/>
              </a:rPr>
              <a:t>+n</a:t>
            </a:r>
            <a:r>
              <a:rPr kumimoji="1" lang="en-US" altLang="zh-CN" sz="2400" b="1" baseline="-25000" dirty="0">
                <a:solidFill>
                  <a:srgbClr val="0707F9"/>
                </a:solidFill>
                <a:latin typeface="宋体" pitchFamily="2" charset="-122"/>
              </a:rPr>
              <a:t>1</a:t>
            </a:r>
            <a:r>
              <a:rPr kumimoji="1" lang="en-US" altLang="zh-CN" sz="2400" b="1" dirty="0">
                <a:solidFill>
                  <a:srgbClr val="0707F9"/>
                </a:solidFill>
                <a:latin typeface="宋体" pitchFamily="2" charset="-122"/>
              </a:rPr>
              <a:t>+n</a:t>
            </a:r>
            <a:r>
              <a:rPr kumimoji="1" lang="en-US" altLang="zh-CN" sz="2400" b="1" baseline="-25000" dirty="0">
                <a:solidFill>
                  <a:srgbClr val="0707F9"/>
                </a:solidFill>
                <a:latin typeface="宋体" pitchFamily="2" charset="-122"/>
              </a:rPr>
              <a:t>2                 </a:t>
            </a:r>
            <a:r>
              <a:rPr kumimoji="1" lang="zh-CN" altLang="en-US" sz="2400" b="1" dirty="0">
                <a:solidFill>
                  <a:srgbClr val="0707F9"/>
                </a:solidFill>
                <a:latin typeface="宋体" pitchFamily="2" charset="-122"/>
              </a:rPr>
              <a:t>（</a:t>
            </a:r>
            <a:r>
              <a:rPr kumimoji="1" lang="en-US" altLang="zh-CN" sz="2400" b="1" dirty="0">
                <a:solidFill>
                  <a:srgbClr val="0707F9"/>
                </a:solidFill>
                <a:latin typeface="宋体" pitchFamily="2" charset="-122"/>
              </a:rPr>
              <a:t>1</a:t>
            </a:r>
            <a:r>
              <a:rPr kumimoji="1" lang="zh-CN" altLang="en-US" sz="2400" b="1" dirty="0">
                <a:solidFill>
                  <a:srgbClr val="0707F9"/>
                </a:solidFill>
                <a:latin typeface="宋体" pitchFamily="2" charset="-122"/>
              </a:rPr>
              <a:t>）</a:t>
            </a:r>
            <a:r>
              <a:rPr kumimoji="1" lang="zh-CN" altLang="en-US" sz="2400" b="1" baseline="-25000" dirty="0">
                <a:solidFill>
                  <a:srgbClr val="0707F9"/>
                </a:solidFill>
                <a:latin typeface="宋体" pitchFamily="2" charset="-122"/>
              </a:rPr>
              <a:t> </a:t>
            </a:r>
            <a:r>
              <a:rPr kumimoji="1" lang="zh-CN" altLang="en-US" sz="2400" b="1" dirty="0">
                <a:solidFill>
                  <a:srgbClr val="0707F9"/>
                </a:solidFill>
                <a:latin typeface="宋体" pitchFamily="2" charset="-122"/>
              </a:rPr>
              <a:t>  </a:t>
            </a:r>
          </a:p>
        </p:txBody>
      </p:sp>
      <p:sp>
        <p:nvSpPr>
          <p:cNvPr id="39" name="Rectangle 8"/>
          <p:cNvSpPr>
            <a:spLocks noChangeArrowheads="1"/>
          </p:cNvSpPr>
          <p:nvPr/>
        </p:nvSpPr>
        <p:spPr bwMode="auto">
          <a:xfrm>
            <a:off x="857250" y="3467100"/>
            <a:ext cx="7723188" cy="830997"/>
          </a:xfrm>
          <a:prstGeom prst="rect">
            <a:avLst/>
          </a:prstGeom>
          <a:noFill/>
          <a:ln w="9525">
            <a:solidFill>
              <a:srgbClr val="0707F9"/>
            </a:solidFill>
            <a:miter lim="800000"/>
            <a:headEnd/>
            <a:tailEnd/>
          </a:ln>
        </p:spPr>
        <p:txBody>
          <a:bodyPr>
            <a:spAutoFit/>
          </a:bodyPr>
          <a:lstStyle/>
          <a:p>
            <a:pPr algn="ctr" fontAlgn="base">
              <a:spcBef>
                <a:spcPct val="0"/>
              </a:spcBef>
              <a:spcAft>
                <a:spcPct val="0"/>
              </a:spcAft>
            </a:pPr>
            <a:r>
              <a:rPr kumimoji="1" lang="zh-CN" altLang="en-US" sz="2400" b="1">
                <a:solidFill>
                  <a:srgbClr val="FF0000"/>
                </a:solidFill>
                <a:latin typeface="Times New Roman" pitchFamily="18" charset="0"/>
                <a:ea typeface="楷体_GB2312" pitchFamily="49" charset="-122"/>
              </a:rPr>
              <a:t>注意：</a:t>
            </a:r>
            <a:r>
              <a:rPr kumimoji="1" lang="en-US" altLang="zh-CN" sz="2400" b="1">
                <a:solidFill>
                  <a:srgbClr val="000000"/>
                </a:solidFill>
                <a:latin typeface="Times New Roman" pitchFamily="18" charset="0"/>
                <a:ea typeface="楷体_GB2312" pitchFamily="49" charset="-122"/>
              </a:rPr>
              <a:t>n</a:t>
            </a:r>
            <a:r>
              <a:rPr kumimoji="1" lang="en-US" altLang="zh-CN" sz="2400" b="1" baseline="-25000">
                <a:solidFill>
                  <a:srgbClr val="0707F9"/>
                </a:solidFill>
                <a:latin typeface="宋体" pitchFamily="2" charset="-122"/>
              </a:rPr>
              <a:t>1</a:t>
            </a:r>
            <a:r>
              <a:rPr kumimoji="1" lang="zh-CN" altLang="en-US" sz="2400" b="1">
                <a:solidFill>
                  <a:srgbClr val="000000"/>
                </a:solidFill>
                <a:latin typeface="Times New Roman" pitchFamily="18" charset="0"/>
                <a:ea typeface="楷体_GB2312" pitchFamily="49" charset="-122"/>
              </a:rPr>
              <a:t>生成</a:t>
            </a:r>
            <a:r>
              <a:rPr kumimoji="1" lang="en-US" altLang="zh-CN" sz="2400" b="1">
                <a:solidFill>
                  <a:srgbClr val="000000"/>
                </a:solidFill>
                <a:latin typeface="Times New Roman" pitchFamily="18" charset="0"/>
                <a:ea typeface="楷体_GB2312" pitchFamily="49" charset="-122"/>
              </a:rPr>
              <a:t>n</a:t>
            </a:r>
            <a:r>
              <a:rPr kumimoji="1" lang="en-US" altLang="zh-CN" sz="2400" b="1" baseline="-25000">
                <a:solidFill>
                  <a:srgbClr val="0707F9"/>
                </a:solidFill>
                <a:latin typeface="宋体" pitchFamily="2" charset="-122"/>
              </a:rPr>
              <a:t>1</a:t>
            </a:r>
            <a:r>
              <a:rPr kumimoji="1" lang="en-US" altLang="zh-CN" sz="2400" b="1">
                <a:solidFill>
                  <a:srgbClr val="000000"/>
                </a:solidFill>
                <a:latin typeface="Times New Roman" pitchFamily="18" charset="0"/>
                <a:ea typeface="楷体_GB2312" pitchFamily="49" charset="-122"/>
              </a:rPr>
              <a:t>*1</a:t>
            </a:r>
            <a:r>
              <a:rPr kumimoji="1" lang="zh-CN" altLang="en-US" sz="2400" b="1">
                <a:solidFill>
                  <a:srgbClr val="000000"/>
                </a:solidFill>
                <a:latin typeface="Times New Roman" pitchFamily="18" charset="0"/>
                <a:ea typeface="楷体_GB2312" pitchFamily="49" charset="-122"/>
              </a:rPr>
              <a:t>个节点，</a:t>
            </a:r>
            <a:r>
              <a:rPr kumimoji="1" lang="en-US" altLang="zh-CN" sz="2400" b="1">
                <a:solidFill>
                  <a:srgbClr val="000000"/>
                </a:solidFill>
                <a:latin typeface="Times New Roman" pitchFamily="18" charset="0"/>
                <a:ea typeface="楷体_GB2312" pitchFamily="49" charset="-122"/>
              </a:rPr>
              <a:t>n</a:t>
            </a:r>
            <a:r>
              <a:rPr kumimoji="1" lang="en-US" altLang="zh-CN" sz="2400" b="1" baseline="-25000">
                <a:solidFill>
                  <a:srgbClr val="0707F9"/>
                </a:solidFill>
                <a:latin typeface="宋体" pitchFamily="2" charset="-122"/>
              </a:rPr>
              <a:t>2</a:t>
            </a:r>
            <a:r>
              <a:rPr kumimoji="1" lang="zh-CN" altLang="en-US" sz="2400" b="1">
                <a:solidFill>
                  <a:srgbClr val="000000"/>
                </a:solidFill>
                <a:latin typeface="Times New Roman" pitchFamily="18" charset="0"/>
                <a:ea typeface="楷体_GB2312" pitchFamily="49" charset="-122"/>
              </a:rPr>
              <a:t>生成</a:t>
            </a:r>
            <a:r>
              <a:rPr kumimoji="1" lang="en-US" altLang="zh-CN" sz="2400" b="1">
                <a:solidFill>
                  <a:srgbClr val="000000"/>
                </a:solidFill>
                <a:latin typeface="Times New Roman" pitchFamily="18" charset="0"/>
                <a:ea typeface="楷体_GB2312" pitchFamily="49" charset="-122"/>
              </a:rPr>
              <a:t>n</a:t>
            </a:r>
            <a:r>
              <a:rPr kumimoji="1" lang="en-US" altLang="zh-CN" sz="2400" b="1" baseline="-25000">
                <a:solidFill>
                  <a:srgbClr val="0707F9"/>
                </a:solidFill>
                <a:latin typeface="宋体" pitchFamily="2" charset="-122"/>
              </a:rPr>
              <a:t>2</a:t>
            </a:r>
            <a:r>
              <a:rPr kumimoji="1" lang="en-US" altLang="zh-CN" sz="2400" b="1">
                <a:solidFill>
                  <a:srgbClr val="000000"/>
                </a:solidFill>
                <a:latin typeface="Times New Roman" pitchFamily="18" charset="0"/>
                <a:ea typeface="楷体_GB2312" pitchFamily="49" charset="-122"/>
              </a:rPr>
              <a:t>*2</a:t>
            </a:r>
            <a:r>
              <a:rPr kumimoji="1" lang="zh-CN" altLang="en-US" sz="2400" b="1">
                <a:solidFill>
                  <a:srgbClr val="000000"/>
                </a:solidFill>
                <a:latin typeface="Times New Roman" pitchFamily="18" charset="0"/>
                <a:ea typeface="楷体_GB2312" pitchFamily="49" charset="-122"/>
              </a:rPr>
              <a:t>个节点，</a:t>
            </a:r>
          </a:p>
          <a:p>
            <a:pPr fontAlgn="base">
              <a:spcBef>
                <a:spcPct val="0"/>
              </a:spcBef>
              <a:spcAft>
                <a:spcPct val="0"/>
              </a:spcAft>
            </a:pPr>
            <a:r>
              <a:rPr kumimoji="1" lang="zh-CN" altLang="en-US" sz="2400" b="1">
                <a:solidFill>
                  <a:srgbClr val="000000"/>
                </a:solidFill>
                <a:latin typeface="Times New Roman" pitchFamily="18" charset="0"/>
                <a:ea typeface="楷体_GB2312" pitchFamily="49" charset="-122"/>
              </a:rPr>
              <a:t>             根结点不由任何结点产生</a:t>
            </a:r>
          </a:p>
        </p:txBody>
      </p:sp>
      <p:sp>
        <p:nvSpPr>
          <p:cNvPr id="40" name="Rectangle 9"/>
          <p:cNvSpPr>
            <a:spLocks noChangeArrowheads="1"/>
          </p:cNvSpPr>
          <p:nvPr/>
        </p:nvSpPr>
        <p:spPr bwMode="auto">
          <a:xfrm>
            <a:off x="712788" y="3125787"/>
            <a:ext cx="9345612" cy="1130246"/>
          </a:xfrm>
          <a:prstGeom prst="rect">
            <a:avLst/>
          </a:prstGeom>
          <a:noFill/>
          <a:ln w="12700" cap="rnd">
            <a:noFill/>
            <a:miter lim="800000"/>
            <a:headEnd/>
            <a:tailEnd/>
          </a:ln>
        </p:spPr>
        <p:txBody>
          <a:bodyPr>
            <a:spAutoFit/>
          </a:bodyPr>
          <a:lstStyle/>
          <a:p>
            <a:pPr eaLnBrk="0" fontAlgn="base" hangingPunct="0">
              <a:lnSpc>
                <a:spcPct val="150000"/>
              </a:lnSpc>
              <a:spcBef>
                <a:spcPct val="0"/>
              </a:spcBef>
              <a:spcAft>
                <a:spcPct val="0"/>
              </a:spcAft>
            </a:pPr>
            <a:r>
              <a:rPr kumimoji="1" lang="zh-CN" altLang="en-US" sz="2400" b="1">
                <a:solidFill>
                  <a:srgbClr val="0707F9"/>
                </a:solidFill>
                <a:latin typeface="宋体" pitchFamily="2" charset="-122"/>
              </a:rPr>
              <a:t>由于分支结点是由度为</a:t>
            </a:r>
            <a:r>
              <a:rPr kumimoji="1" lang="en-US" altLang="zh-CN" sz="2400" b="1">
                <a:solidFill>
                  <a:srgbClr val="0707F9"/>
                </a:solidFill>
                <a:latin typeface="宋体" pitchFamily="2" charset="-122"/>
              </a:rPr>
              <a:t>1</a:t>
            </a:r>
            <a:r>
              <a:rPr kumimoji="1" lang="zh-CN" altLang="en-US" sz="2400" b="1">
                <a:solidFill>
                  <a:srgbClr val="0707F9"/>
                </a:solidFill>
                <a:latin typeface="宋体" pitchFamily="2" charset="-122"/>
              </a:rPr>
              <a:t>和度为</a:t>
            </a:r>
            <a:r>
              <a:rPr kumimoji="1" lang="en-US" altLang="zh-CN" sz="2400" b="1">
                <a:solidFill>
                  <a:srgbClr val="0707F9"/>
                </a:solidFill>
                <a:latin typeface="宋体" pitchFamily="2" charset="-122"/>
              </a:rPr>
              <a:t>2</a:t>
            </a:r>
            <a:r>
              <a:rPr kumimoji="1" lang="zh-CN" altLang="en-US" sz="2400" b="1">
                <a:solidFill>
                  <a:srgbClr val="0707F9"/>
                </a:solidFill>
                <a:latin typeface="宋体" pitchFamily="2" charset="-122"/>
              </a:rPr>
              <a:t>的结点生成的</a:t>
            </a:r>
          </a:p>
          <a:p>
            <a:pPr eaLnBrk="0" fontAlgn="base" hangingPunct="0">
              <a:lnSpc>
                <a:spcPct val="150000"/>
              </a:lnSpc>
              <a:spcBef>
                <a:spcPct val="0"/>
              </a:spcBef>
              <a:spcAft>
                <a:spcPct val="0"/>
              </a:spcAft>
            </a:pPr>
            <a:r>
              <a:rPr kumimoji="1" lang="zh-CN" altLang="en-US" sz="2400" b="1">
                <a:solidFill>
                  <a:srgbClr val="0707F9"/>
                </a:solidFill>
                <a:latin typeface="宋体" pitchFamily="2" charset="-122"/>
              </a:rPr>
              <a:t>   即</a:t>
            </a:r>
            <a:r>
              <a:rPr kumimoji="1" lang="zh-CN" altLang="en-US" sz="2400" b="1">
                <a:solidFill>
                  <a:srgbClr val="FF0000"/>
                </a:solidFill>
                <a:latin typeface="宋体" pitchFamily="2" charset="-122"/>
              </a:rPr>
              <a:t>分支结点总数</a:t>
            </a:r>
            <a:r>
              <a:rPr kumimoji="1" lang="en-US" altLang="zh-CN" sz="2400" b="1">
                <a:solidFill>
                  <a:srgbClr val="0707F9"/>
                </a:solidFill>
                <a:latin typeface="宋体" pitchFamily="2" charset="-122"/>
              </a:rPr>
              <a:t>b=</a:t>
            </a:r>
            <a:r>
              <a:rPr kumimoji="1" lang="en-US" altLang="zh-CN" sz="2400" b="1">
                <a:solidFill>
                  <a:srgbClr val="0707F9"/>
                </a:solidFill>
                <a:latin typeface="Times New Roman" pitchFamily="18" charset="0"/>
                <a:ea typeface="楷体_GB2312" pitchFamily="49" charset="-122"/>
              </a:rPr>
              <a:t>n</a:t>
            </a:r>
            <a:r>
              <a:rPr kumimoji="1" lang="en-US" altLang="zh-CN" sz="2400" b="1" baseline="-25000">
                <a:solidFill>
                  <a:srgbClr val="0707F9"/>
                </a:solidFill>
                <a:latin typeface="Times New Roman" pitchFamily="18" charset="0"/>
                <a:ea typeface="楷体_GB2312" pitchFamily="49" charset="-122"/>
              </a:rPr>
              <a:t>1</a:t>
            </a:r>
            <a:r>
              <a:rPr kumimoji="1" lang="en-US" altLang="zh-CN" sz="2400" b="1">
                <a:solidFill>
                  <a:srgbClr val="0707F9"/>
                </a:solidFill>
                <a:latin typeface="Times New Roman" pitchFamily="18" charset="0"/>
                <a:ea typeface="楷体_GB2312" pitchFamily="49" charset="-122"/>
              </a:rPr>
              <a:t>+2*n</a:t>
            </a:r>
            <a:r>
              <a:rPr kumimoji="1" lang="en-US" altLang="zh-CN" sz="2400" b="1" baseline="-25000">
                <a:solidFill>
                  <a:srgbClr val="0707F9"/>
                </a:solidFill>
                <a:latin typeface="Times New Roman" pitchFamily="18" charset="0"/>
                <a:ea typeface="楷体_GB2312" pitchFamily="49" charset="-122"/>
              </a:rPr>
              <a:t>2</a:t>
            </a:r>
            <a:r>
              <a:rPr kumimoji="1" lang="en-US" altLang="zh-CN" sz="2400" b="1">
                <a:solidFill>
                  <a:srgbClr val="0707F9"/>
                </a:solidFill>
                <a:latin typeface="宋体" pitchFamily="2" charset="-122"/>
              </a:rPr>
              <a:t>                  </a:t>
            </a:r>
            <a:r>
              <a:rPr kumimoji="1" lang="zh-CN" altLang="en-US" sz="2400" b="1">
                <a:solidFill>
                  <a:srgbClr val="0707F9"/>
                </a:solidFill>
                <a:latin typeface="宋体" pitchFamily="2" charset="-122"/>
              </a:rPr>
              <a:t>（</a:t>
            </a:r>
            <a:r>
              <a:rPr kumimoji="1" lang="en-US" altLang="zh-CN" sz="2400" b="1">
                <a:solidFill>
                  <a:srgbClr val="0707F9"/>
                </a:solidFill>
                <a:latin typeface="宋体" pitchFamily="2" charset="-122"/>
              </a:rPr>
              <a:t>3</a:t>
            </a:r>
            <a:r>
              <a:rPr kumimoji="1" lang="zh-CN" altLang="en-US" sz="2400" b="1">
                <a:solidFill>
                  <a:srgbClr val="0707F9"/>
                </a:solidFill>
                <a:latin typeface="宋体" pitchFamily="2" charset="-122"/>
              </a:rPr>
              <a:t>）</a:t>
            </a:r>
          </a:p>
        </p:txBody>
      </p:sp>
      <p:sp>
        <p:nvSpPr>
          <p:cNvPr id="41" name="Rectangle 10"/>
          <p:cNvSpPr>
            <a:spLocks noChangeArrowheads="1"/>
          </p:cNvSpPr>
          <p:nvPr/>
        </p:nvSpPr>
        <p:spPr bwMode="auto">
          <a:xfrm>
            <a:off x="1433513" y="2667000"/>
            <a:ext cx="8424862" cy="500009"/>
          </a:xfrm>
          <a:prstGeom prst="rect">
            <a:avLst/>
          </a:prstGeom>
          <a:noFill/>
          <a:ln w="12700" cap="rnd">
            <a:noFill/>
            <a:miter lim="800000"/>
            <a:headEnd/>
            <a:tailEnd/>
          </a:ln>
        </p:spPr>
        <p:txBody>
          <a:bodyPr>
            <a:spAutoFit/>
          </a:bodyPr>
          <a:lstStyle/>
          <a:p>
            <a:pPr eaLnBrk="0" fontAlgn="base" hangingPunct="0">
              <a:lnSpc>
                <a:spcPct val="120000"/>
              </a:lnSpc>
              <a:spcBef>
                <a:spcPct val="0"/>
              </a:spcBef>
              <a:spcAft>
                <a:spcPct val="0"/>
              </a:spcAft>
            </a:pPr>
            <a:r>
              <a:rPr kumimoji="1" lang="zh-CN" altLang="en-US" sz="2400" b="1" dirty="0">
                <a:solidFill>
                  <a:srgbClr val="0707F9"/>
                </a:solidFill>
                <a:latin typeface="Constantia" pitchFamily="18" charset="0"/>
              </a:rPr>
              <a:t>二叉树的</a:t>
            </a:r>
            <a:r>
              <a:rPr kumimoji="1" lang="zh-CN" altLang="en-US" sz="2400" b="1" dirty="0">
                <a:solidFill>
                  <a:srgbClr val="FF0000"/>
                </a:solidFill>
                <a:latin typeface="Constantia" pitchFamily="18" charset="0"/>
              </a:rPr>
              <a:t>分支结点总数</a:t>
            </a:r>
            <a:r>
              <a:rPr kumimoji="1" lang="zh-CN" altLang="en-US" sz="2400" b="1" dirty="0">
                <a:solidFill>
                  <a:srgbClr val="0707F9"/>
                </a:solidFill>
                <a:latin typeface="Constantia" pitchFamily="18" charset="0"/>
              </a:rPr>
              <a:t>  </a:t>
            </a:r>
            <a:r>
              <a:rPr kumimoji="1" lang="en-US" altLang="zh-CN" sz="2400" b="1" dirty="0">
                <a:solidFill>
                  <a:srgbClr val="0707F9"/>
                </a:solidFill>
                <a:latin typeface="宋体" pitchFamily="2" charset="-122"/>
              </a:rPr>
              <a:t>b=n-1              </a:t>
            </a:r>
            <a:r>
              <a:rPr kumimoji="1" lang="zh-CN" altLang="en-US" sz="2400" b="1" dirty="0">
                <a:solidFill>
                  <a:srgbClr val="0707F9"/>
                </a:solidFill>
                <a:latin typeface="宋体" pitchFamily="2" charset="-122"/>
              </a:rPr>
              <a:t>（</a:t>
            </a:r>
            <a:r>
              <a:rPr kumimoji="1" lang="en-US" altLang="zh-CN" sz="2400" b="1" dirty="0">
                <a:solidFill>
                  <a:srgbClr val="0707F9"/>
                </a:solidFill>
                <a:latin typeface="宋体" pitchFamily="2" charset="-122"/>
              </a:rPr>
              <a:t>2</a:t>
            </a:r>
            <a:r>
              <a:rPr kumimoji="1" lang="zh-CN" altLang="en-US" sz="2400" b="1" dirty="0">
                <a:solidFill>
                  <a:srgbClr val="0707F9"/>
                </a:solidFill>
                <a:latin typeface="宋体" pitchFamily="2" charset="-122"/>
              </a:rPr>
              <a:t>）   </a:t>
            </a:r>
          </a:p>
        </p:txBody>
      </p:sp>
      <p:sp>
        <p:nvSpPr>
          <p:cNvPr id="42" name="Rectangle 11"/>
          <p:cNvSpPr>
            <a:spLocks noChangeArrowheads="1"/>
          </p:cNvSpPr>
          <p:nvPr/>
        </p:nvSpPr>
        <p:spPr bwMode="auto">
          <a:xfrm>
            <a:off x="352425" y="4681537"/>
            <a:ext cx="6272213" cy="535531"/>
          </a:xfrm>
          <a:prstGeom prst="rect">
            <a:avLst/>
          </a:prstGeom>
          <a:noFill/>
          <a:ln w="12700" cap="rnd">
            <a:noFill/>
            <a:miter lim="800000"/>
            <a:headEnd/>
            <a:tailEnd/>
          </a:ln>
        </p:spPr>
        <p:txBody>
          <a:bodyPr>
            <a:spAutoFit/>
          </a:bodyPr>
          <a:lstStyle/>
          <a:p>
            <a:pPr algn="ctr" eaLnBrk="0" fontAlgn="base" hangingPunct="0">
              <a:lnSpc>
                <a:spcPct val="120000"/>
              </a:lnSpc>
              <a:spcBef>
                <a:spcPct val="0"/>
              </a:spcBef>
              <a:spcAft>
                <a:spcPct val="0"/>
              </a:spcAft>
            </a:pPr>
            <a:r>
              <a:rPr kumimoji="1" lang="zh-CN" altLang="en-US" sz="2400" b="1">
                <a:solidFill>
                  <a:srgbClr val="FFFF00"/>
                </a:solidFill>
                <a:latin typeface="宋体" pitchFamily="2" charset="-122"/>
              </a:rPr>
              <a:t>    </a:t>
            </a:r>
            <a:r>
              <a:rPr kumimoji="1" lang="zh-CN" altLang="en-US" sz="2400" b="1">
                <a:solidFill>
                  <a:srgbClr val="0707F9"/>
                </a:solidFill>
                <a:latin typeface="宋体" pitchFamily="2" charset="-122"/>
              </a:rPr>
              <a:t>由</a:t>
            </a:r>
            <a:r>
              <a:rPr kumimoji="1" lang="en-US" altLang="zh-CN" sz="2400" b="1">
                <a:solidFill>
                  <a:srgbClr val="0707F9"/>
                </a:solidFill>
                <a:latin typeface="宋体" pitchFamily="2" charset="-122"/>
              </a:rPr>
              <a:t>(1)(2)(3)</a:t>
            </a:r>
            <a:r>
              <a:rPr kumimoji="1" lang="zh-CN" altLang="en-US" sz="2400" b="1">
                <a:solidFill>
                  <a:srgbClr val="0707F9"/>
                </a:solidFill>
                <a:latin typeface="宋体" pitchFamily="2" charset="-122"/>
              </a:rPr>
              <a:t>得  求得：</a:t>
            </a:r>
            <a:r>
              <a:rPr kumimoji="1" lang="en-US" altLang="zh-CN" sz="2400" b="1">
                <a:solidFill>
                  <a:srgbClr val="0707F9"/>
                </a:solidFill>
                <a:latin typeface="宋体" pitchFamily="2" charset="-122"/>
              </a:rPr>
              <a:t>n</a:t>
            </a:r>
            <a:r>
              <a:rPr kumimoji="1" lang="en-US" altLang="zh-CN" sz="2400" b="1" baseline="-25000">
                <a:solidFill>
                  <a:srgbClr val="0707F9"/>
                </a:solidFill>
                <a:latin typeface="宋体" pitchFamily="2" charset="-122"/>
              </a:rPr>
              <a:t>0</a:t>
            </a:r>
            <a:r>
              <a:rPr kumimoji="1" lang="en-US" altLang="zh-CN" sz="2400" b="1">
                <a:solidFill>
                  <a:srgbClr val="0707F9"/>
                </a:solidFill>
                <a:latin typeface="宋体" pitchFamily="2" charset="-122"/>
              </a:rPr>
              <a:t>=n</a:t>
            </a:r>
            <a:r>
              <a:rPr kumimoji="1" lang="en-US" altLang="zh-CN" sz="2400" b="1" baseline="-25000">
                <a:solidFill>
                  <a:srgbClr val="0707F9"/>
                </a:solidFill>
                <a:latin typeface="宋体" pitchFamily="2" charset="-122"/>
              </a:rPr>
              <a:t>2</a:t>
            </a:r>
            <a:r>
              <a:rPr kumimoji="1" lang="en-US" altLang="zh-CN" sz="2400" b="1">
                <a:solidFill>
                  <a:srgbClr val="0707F9"/>
                </a:solidFill>
                <a:latin typeface="宋体" pitchFamily="2" charset="-122"/>
              </a:rPr>
              <a:t>+1</a:t>
            </a:r>
          </a:p>
        </p:txBody>
      </p:sp>
      <p:grpSp>
        <p:nvGrpSpPr>
          <p:cNvPr id="43" name="Group 13"/>
          <p:cNvGrpSpPr>
            <a:grpSpLocks/>
          </p:cNvGrpSpPr>
          <p:nvPr/>
        </p:nvGrpSpPr>
        <p:grpSpPr bwMode="auto">
          <a:xfrm>
            <a:off x="5969000" y="4494212"/>
            <a:ext cx="2630488" cy="2211388"/>
            <a:chOff x="4184" y="1200"/>
            <a:chExt cx="1096" cy="1056"/>
          </a:xfrm>
        </p:grpSpPr>
        <p:sp>
          <p:nvSpPr>
            <p:cNvPr id="44" name="Oval 14"/>
            <p:cNvSpPr>
              <a:spLocks noChangeArrowheads="1"/>
            </p:cNvSpPr>
            <p:nvPr/>
          </p:nvSpPr>
          <p:spPr bwMode="auto">
            <a:xfrm>
              <a:off x="4712" y="120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A</a:t>
              </a:r>
            </a:p>
          </p:txBody>
        </p:sp>
        <p:sp>
          <p:nvSpPr>
            <p:cNvPr id="45" name="Oval 15"/>
            <p:cNvSpPr>
              <a:spLocks noChangeArrowheads="1"/>
            </p:cNvSpPr>
            <p:nvPr/>
          </p:nvSpPr>
          <p:spPr bwMode="auto">
            <a:xfrm>
              <a:off x="4509" y="1448"/>
              <a:ext cx="136" cy="136"/>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B</a:t>
              </a:r>
            </a:p>
          </p:txBody>
        </p:sp>
        <p:sp>
          <p:nvSpPr>
            <p:cNvPr id="46" name="Oval 16"/>
            <p:cNvSpPr>
              <a:spLocks noChangeArrowheads="1"/>
            </p:cNvSpPr>
            <p:nvPr/>
          </p:nvSpPr>
          <p:spPr bwMode="auto">
            <a:xfrm>
              <a:off x="4896" y="1448"/>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C</a:t>
              </a:r>
            </a:p>
          </p:txBody>
        </p:sp>
        <p:sp>
          <p:nvSpPr>
            <p:cNvPr id="47" name="Oval 17"/>
            <p:cNvSpPr>
              <a:spLocks noChangeArrowheads="1"/>
            </p:cNvSpPr>
            <p:nvPr/>
          </p:nvSpPr>
          <p:spPr bwMode="auto">
            <a:xfrm>
              <a:off x="4328" y="1784"/>
              <a:ext cx="136" cy="136"/>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D</a:t>
              </a:r>
            </a:p>
          </p:txBody>
        </p:sp>
        <p:sp>
          <p:nvSpPr>
            <p:cNvPr id="48" name="Oval 18"/>
            <p:cNvSpPr>
              <a:spLocks noChangeArrowheads="1"/>
            </p:cNvSpPr>
            <p:nvPr/>
          </p:nvSpPr>
          <p:spPr bwMode="auto">
            <a:xfrm>
              <a:off x="4656" y="1784"/>
              <a:ext cx="136" cy="136"/>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E</a:t>
              </a:r>
            </a:p>
          </p:txBody>
        </p:sp>
        <p:sp>
          <p:nvSpPr>
            <p:cNvPr id="49" name="Oval 19"/>
            <p:cNvSpPr>
              <a:spLocks noChangeArrowheads="1"/>
            </p:cNvSpPr>
            <p:nvPr/>
          </p:nvSpPr>
          <p:spPr bwMode="auto">
            <a:xfrm>
              <a:off x="4848" y="1784"/>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F</a:t>
              </a:r>
            </a:p>
          </p:txBody>
        </p:sp>
        <p:sp>
          <p:nvSpPr>
            <p:cNvPr id="50" name="Oval 20"/>
            <p:cNvSpPr>
              <a:spLocks noChangeArrowheads="1"/>
            </p:cNvSpPr>
            <p:nvPr/>
          </p:nvSpPr>
          <p:spPr bwMode="auto">
            <a:xfrm>
              <a:off x="5144" y="1776"/>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G</a:t>
              </a:r>
            </a:p>
          </p:txBody>
        </p:sp>
        <p:sp>
          <p:nvSpPr>
            <p:cNvPr id="51" name="Oval 21"/>
            <p:cNvSpPr>
              <a:spLocks noChangeArrowheads="1"/>
            </p:cNvSpPr>
            <p:nvPr/>
          </p:nvSpPr>
          <p:spPr bwMode="auto">
            <a:xfrm>
              <a:off x="4416" y="212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I</a:t>
              </a:r>
            </a:p>
          </p:txBody>
        </p:sp>
        <p:sp>
          <p:nvSpPr>
            <p:cNvPr id="52" name="Oval 22"/>
            <p:cNvSpPr>
              <a:spLocks noChangeArrowheads="1"/>
            </p:cNvSpPr>
            <p:nvPr/>
          </p:nvSpPr>
          <p:spPr bwMode="auto">
            <a:xfrm>
              <a:off x="4184" y="212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H</a:t>
              </a:r>
            </a:p>
          </p:txBody>
        </p:sp>
        <p:sp>
          <p:nvSpPr>
            <p:cNvPr id="53" name="Line 23"/>
            <p:cNvSpPr>
              <a:spLocks noChangeShapeType="1"/>
            </p:cNvSpPr>
            <p:nvPr/>
          </p:nvSpPr>
          <p:spPr bwMode="auto">
            <a:xfrm flipH="1">
              <a:off x="4608" y="1344"/>
              <a:ext cx="144" cy="96"/>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54" name="Line 24"/>
            <p:cNvSpPr>
              <a:spLocks noChangeShapeType="1"/>
            </p:cNvSpPr>
            <p:nvPr/>
          </p:nvSpPr>
          <p:spPr bwMode="auto">
            <a:xfrm>
              <a:off x="4800" y="1344"/>
              <a:ext cx="144" cy="96"/>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55" name="Line 25"/>
            <p:cNvSpPr>
              <a:spLocks noChangeShapeType="1"/>
            </p:cNvSpPr>
            <p:nvPr/>
          </p:nvSpPr>
          <p:spPr bwMode="auto">
            <a:xfrm flipH="1">
              <a:off x="4416" y="1584"/>
              <a:ext cx="144"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56" name="Line 26"/>
            <p:cNvSpPr>
              <a:spLocks noChangeShapeType="1"/>
            </p:cNvSpPr>
            <p:nvPr/>
          </p:nvSpPr>
          <p:spPr bwMode="auto">
            <a:xfrm>
              <a:off x="4608" y="1584"/>
              <a:ext cx="96"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57" name="Line 27"/>
            <p:cNvSpPr>
              <a:spLocks noChangeShapeType="1"/>
            </p:cNvSpPr>
            <p:nvPr/>
          </p:nvSpPr>
          <p:spPr bwMode="auto">
            <a:xfrm flipH="1">
              <a:off x="4896" y="1584"/>
              <a:ext cx="48"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58" name="Line 28"/>
            <p:cNvSpPr>
              <a:spLocks noChangeShapeType="1"/>
            </p:cNvSpPr>
            <p:nvPr/>
          </p:nvSpPr>
          <p:spPr bwMode="auto">
            <a:xfrm>
              <a:off x="4992" y="1584"/>
              <a:ext cx="192"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59" name="Line 29"/>
            <p:cNvSpPr>
              <a:spLocks noChangeShapeType="1"/>
            </p:cNvSpPr>
            <p:nvPr/>
          </p:nvSpPr>
          <p:spPr bwMode="auto">
            <a:xfrm flipH="1">
              <a:off x="4272" y="1920"/>
              <a:ext cx="96"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60" name="Line 30"/>
            <p:cNvSpPr>
              <a:spLocks noChangeShapeType="1"/>
            </p:cNvSpPr>
            <p:nvPr/>
          </p:nvSpPr>
          <p:spPr bwMode="auto">
            <a:xfrm>
              <a:off x="4416" y="1920"/>
              <a:ext cx="48" cy="240"/>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61" name="Oval 31"/>
            <p:cNvSpPr>
              <a:spLocks noChangeArrowheads="1"/>
            </p:cNvSpPr>
            <p:nvPr/>
          </p:nvSpPr>
          <p:spPr bwMode="auto">
            <a:xfrm>
              <a:off x="4568" y="212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0" i="0" u="none" strike="noStrike" kern="0" cap="none" spc="0" normalizeH="0" baseline="0" noProof="0">
                  <a:ln>
                    <a:noFill/>
                  </a:ln>
                  <a:solidFill>
                    <a:srgbClr val="000000"/>
                  </a:solidFill>
                  <a:effectLst/>
                  <a:uLnTx/>
                  <a:uFillTx/>
                  <a:latin typeface="Times New Roman" pitchFamily="18" charset="0"/>
                </a:rPr>
                <a:t>J</a:t>
              </a:r>
            </a:p>
          </p:txBody>
        </p:sp>
        <p:sp>
          <p:nvSpPr>
            <p:cNvPr id="62" name="Line 32"/>
            <p:cNvSpPr>
              <a:spLocks noChangeShapeType="1"/>
            </p:cNvSpPr>
            <p:nvPr/>
          </p:nvSpPr>
          <p:spPr bwMode="auto">
            <a:xfrm flipH="1">
              <a:off x="4656" y="1920"/>
              <a:ext cx="56" cy="240"/>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grpSp>
    </p:spTree>
    <p:extLst>
      <p:ext uri="{BB962C8B-B14F-4D97-AF65-F5344CB8AC3E}">
        <p14:creationId xmlns:p14="http://schemas.microsoft.com/office/powerpoint/2010/main" val="1144908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animBg="1"/>
      <p:bldP spid="39" grpId="1" animBg="1"/>
      <p:bldP spid="40" grpId="0" build="allAtOnce"/>
      <p:bldP spid="41" grpId="0" build="allAtOnce"/>
      <p:bldP spid="42" grpId="0" build="allAtOnce"/>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5.2.2  </a:t>
            </a:r>
            <a:r>
              <a:rPr kumimoji="1" lang="zh-CN" altLang="en-US" sz="3200" b="1" dirty="0">
                <a:latin typeface="Arial" charset="0"/>
                <a:ea typeface="宋体" charset="-122"/>
                <a:cs typeface="+mn-cs"/>
              </a:rPr>
              <a:t>二叉树的性质</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endParaRPr lang="en-US" altLang="zh-CN" sz="2800" b="1" dirty="0"/>
          </a:p>
        </p:txBody>
      </p:sp>
      <p:sp>
        <p:nvSpPr>
          <p:cNvPr id="4" name="日期占位符 3"/>
          <p:cNvSpPr>
            <a:spLocks noGrp="1"/>
          </p:cNvSpPr>
          <p:nvPr>
            <p:ph type="dt" sz="half" idx="10"/>
          </p:nvPr>
        </p:nvSpPr>
        <p:spPr/>
        <p:txBody>
          <a:bodyPr/>
          <a:lstStyle/>
          <a:p>
            <a:fld id="{17FC472D-64C8-4CBB-9AF0-FFE358A5C0A7}"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33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37" name="Text Box 2"/>
          <p:cNvSpPr txBox="1">
            <a:spLocks noChangeArrowheads="1"/>
          </p:cNvSpPr>
          <p:nvPr/>
        </p:nvSpPr>
        <p:spPr bwMode="auto">
          <a:xfrm>
            <a:off x="152400" y="1194137"/>
            <a:ext cx="8785225" cy="1015663"/>
          </a:xfrm>
          <a:prstGeom prst="rect">
            <a:avLst/>
          </a:prstGeom>
          <a:noFill/>
          <a:ln w="9525">
            <a:noFill/>
            <a:miter lim="800000"/>
            <a:headEnd/>
            <a:tailEnd/>
          </a:ln>
        </p:spPr>
        <p:txBody>
          <a:bodyPr>
            <a:spAutoFit/>
          </a:bodyPr>
          <a:lstStyle/>
          <a:p>
            <a:pPr algn="just" fontAlgn="base">
              <a:lnSpc>
                <a:spcPct val="125000"/>
              </a:lnSpc>
              <a:spcBef>
                <a:spcPct val="0"/>
              </a:spcBef>
              <a:spcAft>
                <a:spcPct val="0"/>
              </a:spcAft>
            </a:pPr>
            <a:r>
              <a:rPr kumimoji="1" lang="zh-CN" altLang="en-US" sz="2400" b="1" dirty="0">
                <a:solidFill>
                  <a:srgbClr val="FF0000"/>
                </a:solidFill>
                <a:latin typeface="宋体" pitchFamily="2" charset="-122"/>
              </a:rPr>
              <a:t>性质</a:t>
            </a:r>
            <a:r>
              <a:rPr kumimoji="1" lang="en-US" altLang="zh-CN" sz="2400" b="1" dirty="0">
                <a:solidFill>
                  <a:srgbClr val="FF0000"/>
                </a:solidFill>
                <a:latin typeface="宋体" pitchFamily="2" charset="-122"/>
              </a:rPr>
              <a:t>5:</a:t>
            </a:r>
            <a:r>
              <a:rPr kumimoji="1" lang="zh-CN" altLang="en-US" sz="2400" b="1" dirty="0">
                <a:solidFill>
                  <a:srgbClr val="000000"/>
                </a:solidFill>
                <a:latin typeface="宋体" pitchFamily="2" charset="-122"/>
              </a:rPr>
              <a:t>若对含 </a:t>
            </a:r>
            <a:r>
              <a:rPr kumimoji="1" lang="en-US" altLang="zh-CN" sz="2400" b="1" dirty="0">
                <a:solidFill>
                  <a:srgbClr val="000000"/>
                </a:solidFill>
                <a:latin typeface="宋体" pitchFamily="2" charset="-122"/>
              </a:rPr>
              <a:t>n </a:t>
            </a:r>
            <a:r>
              <a:rPr kumimoji="1" lang="zh-CN" altLang="en-US" sz="2400" b="1" dirty="0">
                <a:solidFill>
                  <a:srgbClr val="000000"/>
                </a:solidFill>
                <a:latin typeface="宋体" pitchFamily="2" charset="-122"/>
              </a:rPr>
              <a:t>个结点的完全二叉树从上到下且从左至右进行 </a:t>
            </a:r>
            <a:r>
              <a:rPr kumimoji="1" lang="en-US" altLang="zh-CN" sz="2400" b="1" dirty="0">
                <a:solidFill>
                  <a:srgbClr val="000000"/>
                </a:solidFill>
                <a:latin typeface="宋体" pitchFamily="2" charset="-122"/>
              </a:rPr>
              <a:t>1 </a:t>
            </a:r>
            <a:r>
              <a:rPr kumimoji="1" lang="zh-CN" altLang="en-US" sz="2400" b="1" dirty="0">
                <a:solidFill>
                  <a:srgbClr val="000000"/>
                </a:solidFill>
                <a:latin typeface="宋体" pitchFamily="2" charset="-122"/>
              </a:rPr>
              <a:t>至 </a:t>
            </a:r>
            <a:r>
              <a:rPr kumimoji="1" lang="en-US" altLang="zh-CN" sz="2400" b="1" dirty="0">
                <a:solidFill>
                  <a:srgbClr val="000000"/>
                </a:solidFill>
                <a:latin typeface="宋体" pitchFamily="2" charset="-122"/>
              </a:rPr>
              <a:t>n </a:t>
            </a:r>
            <a:r>
              <a:rPr kumimoji="1" lang="zh-CN" altLang="en-US" sz="2400" b="1" dirty="0">
                <a:solidFill>
                  <a:srgbClr val="000000"/>
                </a:solidFill>
                <a:latin typeface="宋体" pitchFamily="2" charset="-122"/>
              </a:rPr>
              <a:t>的编号，则对完全二叉树中任意一个编号为 </a:t>
            </a:r>
            <a:r>
              <a:rPr kumimoji="1" lang="en-US" altLang="zh-CN" sz="2400" b="1" dirty="0" err="1">
                <a:solidFill>
                  <a:srgbClr val="000000"/>
                </a:solidFill>
                <a:latin typeface="宋体" pitchFamily="2" charset="-122"/>
              </a:rPr>
              <a:t>i</a:t>
            </a:r>
            <a:r>
              <a:rPr kumimoji="1" lang="en-US" altLang="zh-CN" sz="2400" b="1" dirty="0">
                <a:solidFill>
                  <a:srgbClr val="000000"/>
                </a:solidFill>
                <a:latin typeface="宋体" pitchFamily="2" charset="-122"/>
              </a:rPr>
              <a:t> </a:t>
            </a:r>
            <a:r>
              <a:rPr kumimoji="1" lang="zh-CN" altLang="en-US" sz="2400" b="1" dirty="0">
                <a:solidFill>
                  <a:srgbClr val="000000"/>
                </a:solidFill>
                <a:latin typeface="宋体" pitchFamily="2" charset="-122"/>
              </a:rPr>
              <a:t>的结点</a:t>
            </a:r>
            <a:r>
              <a:rPr kumimoji="1" lang="en-US" altLang="zh-CN" sz="2400" b="1" dirty="0">
                <a:solidFill>
                  <a:srgbClr val="000000"/>
                </a:solidFill>
                <a:latin typeface="宋体" pitchFamily="2" charset="-122"/>
              </a:rPr>
              <a:t>:</a:t>
            </a:r>
          </a:p>
        </p:txBody>
      </p:sp>
      <p:sp>
        <p:nvSpPr>
          <p:cNvPr id="38" name="Text Box 4"/>
          <p:cNvSpPr txBox="1">
            <a:spLocks noChangeArrowheads="1"/>
          </p:cNvSpPr>
          <p:nvPr/>
        </p:nvSpPr>
        <p:spPr bwMode="auto">
          <a:xfrm>
            <a:off x="488950" y="1803737"/>
            <a:ext cx="9144000" cy="1425647"/>
          </a:xfrm>
          <a:prstGeom prst="rect">
            <a:avLst/>
          </a:prstGeom>
          <a:noFill/>
          <a:ln w="12700" cap="sq">
            <a:noFill/>
            <a:miter lim="800000"/>
            <a:headEnd type="none" w="sm" len="sm"/>
            <a:tailEnd type="none" w="sm" len="sm"/>
          </a:ln>
        </p:spPr>
        <p:txBody>
          <a:bodyPr>
            <a:spAutoFit/>
          </a:bodyPr>
          <a:lstStyle/>
          <a:p>
            <a:pPr marL="95250" indent="285750" fontAlgn="base">
              <a:lnSpc>
                <a:spcPct val="125000"/>
              </a:lnSpc>
              <a:spcBef>
                <a:spcPct val="0"/>
              </a:spcBef>
              <a:spcAft>
                <a:spcPct val="0"/>
              </a:spcAft>
            </a:pPr>
            <a:br>
              <a:rPr kumimoji="1" lang="zh-CN" altLang="en-US" sz="2400" b="1">
                <a:solidFill>
                  <a:srgbClr val="800000"/>
                </a:solidFill>
                <a:latin typeface="宋体" pitchFamily="2" charset="-122"/>
              </a:rPr>
            </a:br>
            <a:r>
              <a:rPr kumimoji="1" lang="en-US" altLang="zh-CN" sz="2400" b="1">
                <a:solidFill>
                  <a:srgbClr val="0707F9"/>
                </a:solidFill>
                <a:latin typeface="宋体" pitchFamily="2" charset="-122"/>
              </a:rPr>
              <a:t>(1) </a:t>
            </a:r>
            <a:r>
              <a:rPr kumimoji="1" lang="zh-CN" altLang="en-US" sz="2400" b="1">
                <a:solidFill>
                  <a:srgbClr val="0707F9"/>
                </a:solidFill>
                <a:latin typeface="宋体" pitchFamily="2" charset="-122"/>
              </a:rPr>
              <a:t>若 </a:t>
            </a:r>
            <a:r>
              <a:rPr kumimoji="1" lang="en-US" altLang="zh-CN" sz="2400" b="1" i="1">
                <a:solidFill>
                  <a:srgbClr val="0707F9"/>
                </a:solidFill>
                <a:latin typeface="宋体" pitchFamily="2" charset="-122"/>
              </a:rPr>
              <a:t>i=1</a:t>
            </a:r>
            <a:r>
              <a:rPr kumimoji="1" lang="zh-CN" altLang="en-US" sz="2400" b="1">
                <a:solidFill>
                  <a:srgbClr val="0707F9"/>
                </a:solidFill>
                <a:latin typeface="宋体" pitchFamily="2" charset="-122"/>
              </a:rPr>
              <a:t>，则该结点是二叉树的根，无双亲，否则，</a:t>
            </a:r>
          </a:p>
          <a:p>
            <a:pPr marL="95250" indent="285750" fontAlgn="base">
              <a:lnSpc>
                <a:spcPct val="125000"/>
              </a:lnSpc>
              <a:spcBef>
                <a:spcPct val="0"/>
              </a:spcBef>
              <a:spcAft>
                <a:spcPct val="0"/>
              </a:spcAft>
            </a:pPr>
            <a:r>
              <a:rPr kumimoji="1" lang="zh-CN" altLang="en-US" sz="2400" b="1">
                <a:solidFill>
                  <a:srgbClr val="0707F9"/>
                </a:solidFill>
                <a:latin typeface="宋体" pitchFamily="2" charset="-122"/>
              </a:rPr>
              <a:t>  编号为</a:t>
            </a:r>
            <a:r>
              <a:rPr kumimoji="1" lang="zh-CN" altLang="en-US" sz="2400" b="1">
                <a:solidFill>
                  <a:srgbClr val="800000"/>
                </a:solidFill>
                <a:latin typeface="宋体" pitchFamily="2" charset="-122"/>
              </a:rPr>
              <a:t>  </a:t>
            </a:r>
            <a:r>
              <a:rPr kumimoji="1" lang="zh-CN" altLang="en-US" sz="2400" b="1" i="1">
                <a:solidFill>
                  <a:srgbClr val="FF3300"/>
                </a:solidFill>
                <a:latin typeface="宋体" pitchFamily="2" charset="-122"/>
                <a:sym typeface="Symbol" pitchFamily="18" charset="2"/>
              </a:rPr>
              <a:t></a:t>
            </a:r>
            <a:r>
              <a:rPr kumimoji="1" lang="en-US" altLang="zh-CN" sz="2400" b="1" i="1">
                <a:solidFill>
                  <a:srgbClr val="FF3300"/>
                </a:solidFill>
                <a:latin typeface="宋体" pitchFamily="2" charset="-122"/>
              </a:rPr>
              <a:t>i/2</a:t>
            </a:r>
            <a:r>
              <a:rPr kumimoji="1" lang="en-US" altLang="zh-CN" sz="2400" b="1" i="1">
                <a:solidFill>
                  <a:srgbClr val="FF3300"/>
                </a:solidFill>
                <a:latin typeface="宋体" pitchFamily="2" charset="-122"/>
                <a:sym typeface="Symbol" pitchFamily="18" charset="2"/>
              </a:rPr>
              <a:t> </a:t>
            </a:r>
            <a:r>
              <a:rPr kumimoji="1" lang="zh-CN" altLang="en-US" sz="2400" b="1">
                <a:solidFill>
                  <a:srgbClr val="0707F9"/>
                </a:solidFill>
                <a:latin typeface="宋体" pitchFamily="2" charset="-122"/>
              </a:rPr>
              <a:t>的结点为其</a:t>
            </a:r>
            <a:r>
              <a:rPr kumimoji="1" lang="zh-CN" altLang="en-US" sz="2400" b="1">
                <a:solidFill>
                  <a:srgbClr val="FF3300"/>
                </a:solidFill>
                <a:latin typeface="宋体" pitchFamily="2" charset="-122"/>
              </a:rPr>
              <a:t>双亲</a:t>
            </a:r>
            <a:r>
              <a:rPr kumimoji="1" lang="zh-CN" altLang="en-US" sz="2400" b="1">
                <a:solidFill>
                  <a:srgbClr val="0707F9"/>
                </a:solidFill>
                <a:latin typeface="宋体" pitchFamily="2" charset="-122"/>
              </a:rPr>
              <a:t>结点；</a:t>
            </a:r>
          </a:p>
        </p:txBody>
      </p:sp>
      <p:sp>
        <p:nvSpPr>
          <p:cNvPr id="39" name="Text Box 5"/>
          <p:cNvSpPr txBox="1">
            <a:spLocks noChangeArrowheads="1"/>
          </p:cNvSpPr>
          <p:nvPr/>
        </p:nvSpPr>
        <p:spPr bwMode="auto">
          <a:xfrm>
            <a:off x="228600" y="4318337"/>
            <a:ext cx="9432925" cy="1015663"/>
          </a:xfrm>
          <a:prstGeom prst="rect">
            <a:avLst/>
          </a:prstGeom>
          <a:noFill/>
          <a:ln w="12700" cap="sq">
            <a:noFill/>
            <a:miter lim="800000"/>
            <a:headEnd type="none" w="sm" len="sm"/>
            <a:tailEnd type="none" w="sm" len="sm"/>
          </a:ln>
        </p:spPr>
        <p:txBody>
          <a:bodyPr>
            <a:spAutoFit/>
          </a:bodyPr>
          <a:lstStyle/>
          <a:p>
            <a:pPr marL="95250" indent="285750" fontAlgn="base">
              <a:lnSpc>
                <a:spcPct val="125000"/>
              </a:lnSpc>
              <a:spcBef>
                <a:spcPct val="0"/>
              </a:spcBef>
              <a:spcAft>
                <a:spcPct val="0"/>
              </a:spcAft>
            </a:pPr>
            <a:r>
              <a:rPr kumimoji="1" lang="en-US" altLang="zh-CN" sz="2400" b="1" dirty="0">
                <a:solidFill>
                  <a:srgbClr val="0707F9"/>
                </a:solidFill>
                <a:latin typeface="宋体" pitchFamily="2" charset="-122"/>
              </a:rPr>
              <a:t>(3) </a:t>
            </a:r>
            <a:r>
              <a:rPr kumimoji="1" lang="zh-CN" altLang="en-US" sz="2400" b="1" dirty="0">
                <a:solidFill>
                  <a:srgbClr val="0707F9"/>
                </a:solidFill>
                <a:latin typeface="宋体" pitchFamily="2" charset="-122"/>
              </a:rPr>
              <a:t>若 </a:t>
            </a:r>
            <a:r>
              <a:rPr kumimoji="1" lang="en-US" altLang="zh-CN" sz="2400" b="1" dirty="0">
                <a:solidFill>
                  <a:srgbClr val="0707F9"/>
                </a:solidFill>
                <a:latin typeface="宋体" pitchFamily="2" charset="-122"/>
              </a:rPr>
              <a:t>2i+1&gt;n</a:t>
            </a:r>
            <a:r>
              <a:rPr kumimoji="1" lang="zh-CN" altLang="en-US" sz="2400" b="1" dirty="0">
                <a:solidFill>
                  <a:srgbClr val="0707F9"/>
                </a:solidFill>
                <a:latin typeface="宋体" pitchFamily="2" charset="-122"/>
              </a:rPr>
              <a:t>，则该结点无右孩子结点，否则，编号为</a:t>
            </a:r>
          </a:p>
          <a:p>
            <a:pPr marL="95250" indent="285750" fontAlgn="base">
              <a:lnSpc>
                <a:spcPct val="125000"/>
              </a:lnSpc>
              <a:spcBef>
                <a:spcPct val="0"/>
              </a:spcBef>
              <a:spcAft>
                <a:spcPct val="0"/>
              </a:spcAft>
            </a:pPr>
            <a:r>
              <a:rPr kumimoji="1" lang="en-US" altLang="zh-CN" sz="2400" b="1" i="1" dirty="0">
                <a:solidFill>
                  <a:srgbClr val="FF3300"/>
                </a:solidFill>
                <a:latin typeface="宋体" pitchFamily="2" charset="-122"/>
              </a:rPr>
              <a:t>    2i+1 </a:t>
            </a:r>
            <a:r>
              <a:rPr kumimoji="1" lang="zh-CN" altLang="en-US" sz="2400" b="1" dirty="0">
                <a:solidFill>
                  <a:srgbClr val="0707F9"/>
                </a:solidFill>
                <a:latin typeface="宋体" pitchFamily="2" charset="-122"/>
              </a:rPr>
              <a:t>的结点为其</a:t>
            </a:r>
            <a:r>
              <a:rPr kumimoji="1" lang="zh-CN" altLang="en-US" sz="2400" b="1" dirty="0">
                <a:solidFill>
                  <a:srgbClr val="FF3300"/>
                </a:solidFill>
                <a:latin typeface="宋体" pitchFamily="2" charset="-122"/>
              </a:rPr>
              <a:t>右孩子</a:t>
            </a:r>
            <a:r>
              <a:rPr kumimoji="1" lang="zh-CN" altLang="en-US" sz="2400" b="1" dirty="0">
                <a:solidFill>
                  <a:srgbClr val="0707F9"/>
                </a:solidFill>
                <a:latin typeface="宋体" pitchFamily="2" charset="-122"/>
              </a:rPr>
              <a:t>结点。</a:t>
            </a:r>
          </a:p>
        </p:txBody>
      </p:sp>
      <p:sp>
        <p:nvSpPr>
          <p:cNvPr id="40" name="Text Box 6"/>
          <p:cNvSpPr txBox="1">
            <a:spLocks noChangeArrowheads="1"/>
          </p:cNvSpPr>
          <p:nvPr/>
        </p:nvSpPr>
        <p:spPr bwMode="auto">
          <a:xfrm>
            <a:off x="200025" y="3346787"/>
            <a:ext cx="9361488" cy="952184"/>
          </a:xfrm>
          <a:prstGeom prst="rect">
            <a:avLst/>
          </a:prstGeom>
          <a:noFill/>
          <a:ln w="12700" cap="sq">
            <a:noFill/>
            <a:miter lim="800000"/>
            <a:headEnd type="none" w="sm" len="sm"/>
            <a:tailEnd type="none" w="sm" len="sm"/>
          </a:ln>
        </p:spPr>
        <p:txBody>
          <a:bodyPr>
            <a:spAutoFit/>
          </a:bodyPr>
          <a:lstStyle/>
          <a:p>
            <a:pPr marL="95250" indent="285750" fontAlgn="base">
              <a:lnSpc>
                <a:spcPct val="125000"/>
              </a:lnSpc>
              <a:spcBef>
                <a:spcPct val="0"/>
              </a:spcBef>
              <a:spcAft>
                <a:spcPct val="0"/>
              </a:spcAft>
            </a:pPr>
            <a:r>
              <a:rPr kumimoji="1" lang="en-US" altLang="zh-CN" sz="2400" b="1">
                <a:solidFill>
                  <a:srgbClr val="0707F9"/>
                </a:solidFill>
                <a:latin typeface="宋体" pitchFamily="2" charset="-122"/>
              </a:rPr>
              <a:t>(2) </a:t>
            </a:r>
            <a:r>
              <a:rPr kumimoji="1" lang="zh-CN" altLang="en-US" sz="2400" b="1">
                <a:solidFill>
                  <a:srgbClr val="0707F9"/>
                </a:solidFill>
                <a:latin typeface="宋体" pitchFamily="2" charset="-122"/>
              </a:rPr>
              <a:t>若 </a:t>
            </a:r>
            <a:r>
              <a:rPr kumimoji="1" lang="en-US" altLang="zh-CN" sz="2400" b="1">
                <a:solidFill>
                  <a:srgbClr val="0707F9"/>
                </a:solidFill>
                <a:latin typeface="宋体" pitchFamily="2" charset="-122"/>
              </a:rPr>
              <a:t>2i&gt;n</a:t>
            </a:r>
            <a:r>
              <a:rPr kumimoji="1" lang="zh-CN" altLang="en-US" sz="2400" b="1">
                <a:solidFill>
                  <a:srgbClr val="0707F9"/>
                </a:solidFill>
                <a:latin typeface="宋体" pitchFamily="2" charset="-122"/>
              </a:rPr>
              <a:t>，则该结点无左孩子，否则，编号为</a:t>
            </a:r>
            <a:r>
              <a:rPr kumimoji="1" lang="zh-CN" altLang="en-US" sz="2400" b="1">
                <a:solidFill>
                  <a:srgbClr val="800000"/>
                </a:solidFill>
                <a:latin typeface="宋体" pitchFamily="2" charset="-122"/>
              </a:rPr>
              <a:t> </a:t>
            </a:r>
            <a:r>
              <a:rPr kumimoji="1" lang="en-US" altLang="zh-CN" sz="2400" b="1" i="1">
                <a:solidFill>
                  <a:srgbClr val="FF3300"/>
                </a:solidFill>
                <a:latin typeface="宋体" pitchFamily="2" charset="-122"/>
              </a:rPr>
              <a:t>2i</a:t>
            </a:r>
            <a:r>
              <a:rPr kumimoji="1" lang="zh-CN" altLang="en-US" sz="2400" b="1">
                <a:solidFill>
                  <a:srgbClr val="0707F9"/>
                </a:solidFill>
                <a:latin typeface="宋体" pitchFamily="2" charset="-122"/>
              </a:rPr>
              <a:t>的</a:t>
            </a:r>
          </a:p>
          <a:p>
            <a:pPr marL="95250" indent="285750" fontAlgn="base">
              <a:lnSpc>
                <a:spcPct val="125000"/>
              </a:lnSpc>
              <a:spcBef>
                <a:spcPct val="0"/>
              </a:spcBef>
              <a:spcAft>
                <a:spcPct val="0"/>
              </a:spcAft>
            </a:pPr>
            <a:r>
              <a:rPr kumimoji="1" lang="zh-CN" altLang="en-US" sz="2400" b="1">
                <a:solidFill>
                  <a:srgbClr val="0707F9"/>
                </a:solidFill>
                <a:latin typeface="宋体" pitchFamily="2" charset="-122"/>
              </a:rPr>
              <a:t> </a:t>
            </a:r>
            <a:r>
              <a:rPr kumimoji="1" lang="zh-CN" altLang="en-US" sz="2400" b="1" i="1">
                <a:solidFill>
                  <a:srgbClr val="FF3300"/>
                </a:solidFill>
                <a:latin typeface="宋体" pitchFamily="2" charset="-122"/>
              </a:rPr>
              <a:t> </a:t>
            </a:r>
            <a:r>
              <a:rPr kumimoji="1" lang="zh-CN" altLang="en-US" sz="2400" b="1">
                <a:solidFill>
                  <a:srgbClr val="0707F9"/>
                </a:solidFill>
                <a:latin typeface="宋体" pitchFamily="2" charset="-122"/>
              </a:rPr>
              <a:t>  结点为其</a:t>
            </a:r>
            <a:r>
              <a:rPr kumimoji="1" lang="zh-CN" altLang="en-US" sz="2400" b="1">
                <a:solidFill>
                  <a:srgbClr val="FF3300"/>
                </a:solidFill>
                <a:latin typeface="宋体" pitchFamily="2" charset="-122"/>
              </a:rPr>
              <a:t>左孩子</a:t>
            </a:r>
            <a:r>
              <a:rPr kumimoji="1" lang="zh-CN" altLang="en-US" sz="2400" b="1">
                <a:solidFill>
                  <a:srgbClr val="0707F9"/>
                </a:solidFill>
                <a:latin typeface="宋体" pitchFamily="2" charset="-122"/>
              </a:rPr>
              <a:t>结点；</a:t>
            </a:r>
          </a:p>
        </p:txBody>
      </p:sp>
      <p:grpSp>
        <p:nvGrpSpPr>
          <p:cNvPr id="41" name="Group 7"/>
          <p:cNvGrpSpPr>
            <a:grpSpLocks/>
          </p:cNvGrpSpPr>
          <p:nvPr/>
        </p:nvGrpSpPr>
        <p:grpSpPr bwMode="auto">
          <a:xfrm>
            <a:off x="5313363" y="4868863"/>
            <a:ext cx="3960812" cy="1944687"/>
            <a:chOff x="1317" y="1523"/>
            <a:chExt cx="3527" cy="1771"/>
          </a:xfrm>
        </p:grpSpPr>
        <p:sp>
          <p:nvSpPr>
            <p:cNvPr id="42" name="Line 8"/>
            <p:cNvSpPr>
              <a:spLocks noChangeShapeType="1"/>
            </p:cNvSpPr>
            <p:nvPr/>
          </p:nvSpPr>
          <p:spPr bwMode="auto">
            <a:xfrm>
              <a:off x="2485" y="2478"/>
              <a:ext cx="295" cy="362"/>
            </a:xfrm>
            <a:prstGeom prst="line">
              <a:avLst/>
            </a:prstGeom>
            <a:noFill/>
            <a:ln w="38100" cap="rnd">
              <a:solidFill>
                <a:srgbClr val="0000FF"/>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43" name="Line 9"/>
            <p:cNvSpPr>
              <a:spLocks noChangeShapeType="1"/>
            </p:cNvSpPr>
            <p:nvPr/>
          </p:nvSpPr>
          <p:spPr bwMode="auto">
            <a:xfrm>
              <a:off x="3457" y="1832"/>
              <a:ext cx="650" cy="419"/>
            </a:xfrm>
            <a:prstGeom prst="line">
              <a:avLst/>
            </a:prstGeom>
            <a:noFill/>
            <a:ln w="38100" cap="rnd">
              <a:solidFill>
                <a:srgbClr val="0000FF"/>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44" name="Line 10"/>
            <p:cNvSpPr>
              <a:spLocks noChangeShapeType="1"/>
            </p:cNvSpPr>
            <p:nvPr/>
          </p:nvSpPr>
          <p:spPr bwMode="auto">
            <a:xfrm flipH="1">
              <a:off x="2460" y="1832"/>
              <a:ext cx="571" cy="350"/>
            </a:xfrm>
            <a:prstGeom prst="line">
              <a:avLst/>
            </a:prstGeom>
            <a:noFill/>
            <a:ln w="38100" cap="rnd">
              <a:solidFill>
                <a:srgbClr val="0000FF"/>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45" name="Oval 11"/>
            <p:cNvSpPr>
              <a:spLocks noChangeArrowheads="1"/>
            </p:cNvSpPr>
            <p:nvPr/>
          </p:nvSpPr>
          <p:spPr bwMode="auto">
            <a:xfrm>
              <a:off x="3659" y="2908"/>
              <a:ext cx="471" cy="386"/>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None/>
              </a:pPr>
              <a:endParaRPr kumimoji="1" lang="zh-CN" altLang="en-US" sz="1600" b="1">
                <a:solidFill>
                  <a:srgbClr val="FF0000"/>
                </a:solidFill>
                <a:latin typeface="Constantia" pitchFamily="18" charset="0"/>
              </a:endParaRPr>
            </a:p>
          </p:txBody>
        </p:sp>
        <p:sp>
          <p:nvSpPr>
            <p:cNvPr id="46" name="Text Box 12"/>
            <p:cNvSpPr txBox="1">
              <a:spLocks noChangeArrowheads="1"/>
            </p:cNvSpPr>
            <p:nvPr/>
          </p:nvSpPr>
          <p:spPr bwMode="auto">
            <a:xfrm>
              <a:off x="3528" y="2914"/>
              <a:ext cx="854" cy="30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en-US" altLang="zh-CN" sz="1600" b="1">
                  <a:solidFill>
                    <a:srgbClr val="0707F9"/>
                  </a:solidFill>
                  <a:latin typeface="宋体" pitchFamily="2" charset="-122"/>
                </a:rPr>
                <a:t> 2i+2</a:t>
              </a:r>
            </a:p>
          </p:txBody>
        </p:sp>
        <p:sp>
          <p:nvSpPr>
            <p:cNvPr id="47" name="Oval 13"/>
            <p:cNvSpPr>
              <a:spLocks noChangeArrowheads="1"/>
            </p:cNvSpPr>
            <p:nvPr/>
          </p:nvSpPr>
          <p:spPr bwMode="auto">
            <a:xfrm>
              <a:off x="3012" y="1523"/>
              <a:ext cx="471" cy="386"/>
            </a:xfrm>
            <a:prstGeom prst="ellipse">
              <a:avLst/>
            </a:prstGeom>
            <a:solidFill>
              <a:srgbClr val="FFFFCC"/>
            </a:solidFill>
            <a:ln w="12700" cap="rnd">
              <a:solidFill>
                <a:srgbClr val="FFFFCC"/>
              </a:solidFill>
              <a:round/>
              <a:headEnd/>
              <a:tailEnd/>
            </a:ln>
          </p:spPr>
          <p:txBody>
            <a:bodyPr wrap="none" anchor="ctr"/>
            <a:lstStyle/>
            <a:p>
              <a:pPr algn="ctr" fontAlgn="base">
                <a:spcBef>
                  <a:spcPct val="0"/>
                </a:spcBef>
                <a:spcAft>
                  <a:spcPct val="0"/>
                </a:spcAft>
              </a:pPr>
              <a:endParaRPr kumimoji="1" lang="zh-CN" altLang="en-US" sz="1600">
                <a:solidFill>
                  <a:srgbClr val="6600CC"/>
                </a:solidFill>
                <a:latin typeface="Times New Roman" pitchFamily="18" charset="0"/>
                <a:ea typeface="楷体_GB2312" pitchFamily="49" charset="-122"/>
              </a:endParaRPr>
            </a:p>
          </p:txBody>
        </p:sp>
        <p:sp>
          <p:nvSpPr>
            <p:cNvPr id="48" name="Text Box 14"/>
            <p:cNvSpPr txBox="1">
              <a:spLocks noChangeArrowheads="1"/>
            </p:cNvSpPr>
            <p:nvPr/>
          </p:nvSpPr>
          <p:spPr bwMode="auto">
            <a:xfrm>
              <a:off x="2896" y="1523"/>
              <a:ext cx="1221" cy="30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黑体" pitchFamily="2" charset="-122"/>
                  <a:ea typeface="黑体" pitchFamily="2" charset="-122"/>
                </a:rPr>
                <a:t> </a:t>
              </a:r>
              <a:r>
                <a:rPr kumimoji="1" lang="zh-CN" altLang="en-US" sz="1600" b="1" i="1">
                  <a:solidFill>
                    <a:srgbClr val="0707F9"/>
                  </a:solidFill>
                  <a:latin typeface="Times New Roman" pitchFamily="18" charset="0"/>
                  <a:ea typeface="楷体_GB2312" pitchFamily="49" charset="-122"/>
                  <a:sym typeface="Symbol" pitchFamily="18" charset="2"/>
                </a:rPr>
                <a:t></a:t>
              </a:r>
              <a:r>
                <a:rPr kumimoji="1" lang="en-US" altLang="zh-CN" sz="1600" b="1" i="1">
                  <a:solidFill>
                    <a:srgbClr val="0707F9"/>
                  </a:solidFill>
                  <a:latin typeface="Times New Roman" pitchFamily="18" charset="0"/>
                  <a:ea typeface="楷体_GB2312" pitchFamily="49" charset="-122"/>
                </a:rPr>
                <a:t>i/2</a:t>
              </a:r>
              <a:r>
                <a:rPr kumimoji="1" lang="en-US" altLang="zh-CN" sz="1600" b="1" i="1">
                  <a:solidFill>
                    <a:srgbClr val="0707F9"/>
                  </a:solidFill>
                  <a:latin typeface="Times New Roman" pitchFamily="18" charset="0"/>
                  <a:ea typeface="楷体_GB2312" pitchFamily="49" charset="-122"/>
                  <a:sym typeface="Symbol" pitchFamily="18" charset="2"/>
                </a:rPr>
                <a:t></a:t>
              </a:r>
            </a:p>
          </p:txBody>
        </p:sp>
        <p:sp>
          <p:nvSpPr>
            <p:cNvPr id="49" name="Oval 15"/>
            <p:cNvSpPr>
              <a:spLocks noChangeArrowheads="1"/>
            </p:cNvSpPr>
            <p:nvPr/>
          </p:nvSpPr>
          <p:spPr bwMode="auto">
            <a:xfrm>
              <a:off x="2656" y="2809"/>
              <a:ext cx="470" cy="386"/>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None/>
              </a:pPr>
              <a:endParaRPr kumimoji="1" lang="zh-CN" altLang="en-US" sz="1600" b="1">
                <a:solidFill>
                  <a:srgbClr val="FF0000"/>
                </a:solidFill>
                <a:latin typeface="Constantia" pitchFamily="18" charset="0"/>
              </a:endParaRPr>
            </a:p>
          </p:txBody>
        </p:sp>
        <p:sp>
          <p:nvSpPr>
            <p:cNvPr id="50" name="Text Box 16"/>
            <p:cNvSpPr txBox="1">
              <a:spLocks noChangeArrowheads="1"/>
            </p:cNvSpPr>
            <p:nvPr/>
          </p:nvSpPr>
          <p:spPr bwMode="auto">
            <a:xfrm>
              <a:off x="2673" y="2824"/>
              <a:ext cx="855" cy="30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en-US" altLang="zh-CN" sz="1600" b="1">
                  <a:solidFill>
                    <a:srgbClr val="0707F9"/>
                  </a:solidFill>
                  <a:latin typeface="宋体" pitchFamily="2" charset="-122"/>
                </a:rPr>
                <a:t>2i+1</a:t>
              </a:r>
            </a:p>
          </p:txBody>
        </p:sp>
        <p:sp>
          <p:nvSpPr>
            <p:cNvPr id="51" name="Oval 17"/>
            <p:cNvSpPr>
              <a:spLocks noChangeArrowheads="1"/>
            </p:cNvSpPr>
            <p:nvPr/>
          </p:nvSpPr>
          <p:spPr bwMode="auto">
            <a:xfrm>
              <a:off x="1442" y="2781"/>
              <a:ext cx="408" cy="422"/>
            </a:xfrm>
            <a:prstGeom prst="ellipse">
              <a:avLst/>
            </a:prstGeom>
            <a:solidFill>
              <a:srgbClr val="FFFFCC"/>
            </a:solidFill>
            <a:ln w="12700" cap="rnd">
              <a:solidFill>
                <a:srgbClr val="FFFFCC"/>
              </a:solidFill>
              <a:round/>
              <a:headEnd/>
              <a:tailEnd/>
            </a:ln>
          </p:spPr>
          <p:txBody>
            <a:bodyPr wrap="none" anchor="ctr"/>
            <a:lstStyle/>
            <a:p>
              <a:pPr algn="ctr" fontAlgn="base">
                <a:spcBef>
                  <a:spcPct val="0"/>
                </a:spcBef>
                <a:spcAft>
                  <a:spcPct val="0"/>
                </a:spcAft>
              </a:pPr>
              <a:endParaRPr kumimoji="1" lang="zh-CN" altLang="en-US" sz="1600">
                <a:solidFill>
                  <a:srgbClr val="6600CC"/>
                </a:solidFill>
                <a:latin typeface="Times New Roman" pitchFamily="18" charset="0"/>
                <a:ea typeface="楷体_GB2312" pitchFamily="49" charset="-122"/>
              </a:endParaRPr>
            </a:p>
          </p:txBody>
        </p:sp>
        <p:sp>
          <p:nvSpPr>
            <p:cNvPr id="52" name="Text Box 18"/>
            <p:cNvSpPr txBox="1">
              <a:spLocks noChangeArrowheads="1"/>
            </p:cNvSpPr>
            <p:nvPr/>
          </p:nvSpPr>
          <p:spPr bwMode="auto">
            <a:xfrm>
              <a:off x="1317" y="2792"/>
              <a:ext cx="855" cy="30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宋体" pitchFamily="2" charset="-122"/>
                </a:rPr>
                <a:t>  </a:t>
              </a:r>
              <a:r>
                <a:rPr lang="en-US" altLang="zh-CN" sz="1600" b="1">
                  <a:solidFill>
                    <a:srgbClr val="0707F9"/>
                  </a:solidFill>
                  <a:latin typeface="宋体" pitchFamily="2" charset="-122"/>
                </a:rPr>
                <a:t>2i</a:t>
              </a:r>
            </a:p>
          </p:txBody>
        </p:sp>
        <p:sp>
          <p:nvSpPr>
            <p:cNvPr id="53" name="Oval 19"/>
            <p:cNvSpPr>
              <a:spLocks noChangeArrowheads="1"/>
            </p:cNvSpPr>
            <p:nvPr/>
          </p:nvSpPr>
          <p:spPr bwMode="auto">
            <a:xfrm>
              <a:off x="4017" y="2124"/>
              <a:ext cx="471" cy="386"/>
            </a:xfrm>
            <a:prstGeom prst="ellipse">
              <a:avLst/>
            </a:prstGeom>
            <a:solidFill>
              <a:srgbClr val="FFFFCC"/>
            </a:solidFill>
            <a:ln w="12700" cap="rnd">
              <a:solidFill>
                <a:srgbClr val="FFFFCC"/>
              </a:solidFill>
              <a:round/>
              <a:headEnd/>
              <a:tailEnd/>
            </a:ln>
          </p:spPr>
          <p:txBody>
            <a:bodyPr wrap="none" anchor="ctr"/>
            <a:lstStyle/>
            <a:p>
              <a:pPr algn="ctr" fontAlgn="base">
                <a:spcBef>
                  <a:spcPct val="0"/>
                </a:spcBef>
                <a:spcAft>
                  <a:spcPct val="0"/>
                </a:spcAft>
              </a:pPr>
              <a:endParaRPr kumimoji="1" lang="zh-CN" altLang="en-US" sz="1600">
                <a:solidFill>
                  <a:srgbClr val="6600CC"/>
                </a:solidFill>
                <a:latin typeface="Times New Roman" pitchFamily="18" charset="0"/>
                <a:ea typeface="楷体_GB2312" pitchFamily="49" charset="-122"/>
              </a:endParaRPr>
            </a:p>
          </p:txBody>
        </p:sp>
        <p:sp>
          <p:nvSpPr>
            <p:cNvPr id="54" name="Text Box 20"/>
            <p:cNvSpPr txBox="1">
              <a:spLocks noChangeArrowheads="1"/>
            </p:cNvSpPr>
            <p:nvPr/>
          </p:nvSpPr>
          <p:spPr bwMode="auto">
            <a:xfrm>
              <a:off x="3992" y="2155"/>
              <a:ext cx="852" cy="30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黑体" pitchFamily="2" charset="-122"/>
                  <a:ea typeface="黑体" pitchFamily="2" charset="-122"/>
                </a:rPr>
                <a:t> </a:t>
              </a:r>
              <a:r>
                <a:rPr lang="en-US" altLang="zh-CN" sz="1600" b="1">
                  <a:solidFill>
                    <a:srgbClr val="0707F9"/>
                  </a:solidFill>
                  <a:latin typeface="宋体" pitchFamily="2" charset="-122"/>
                </a:rPr>
                <a:t>i+1</a:t>
              </a:r>
            </a:p>
          </p:txBody>
        </p:sp>
        <p:sp>
          <p:nvSpPr>
            <p:cNvPr id="55" name="Oval 21"/>
            <p:cNvSpPr>
              <a:spLocks noChangeArrowheads="1"/>
            </p:cNvSpPr>
            <p:nvPr/>
          </p:nvSpPr>
          <p:spPr bwMode="auto">
            <a:xfrm>
              <a:off x="2084" y="2171"/>
              <a:ext cx="472" cy="387"/>
            </a:xfrm>
            <a:prstGeom prst="ellipse">
              <a:avLst/>
            </a:prstGeom>
            <a:solidFill>
              <a:srgbClr val="FFFFCC"/>
            </a:solidFill>
            <a:ln w="12700" cap="rnd">
              <a:solidFill>
                <a:srgbClr val="FFFFCC"/>
              </a:solidFill>
              <a:round/>
              <a:headEnd/>
              <a:tailEnd/>
            </a:ln>
          </p:spPr>
          <p:txBody>
            <a:bodyPr wrap="none" anchor="ctr"/>
            <a:lstStyle/>
            <a:p>
              <a:pPr algn="ctr" fontAlgn="base">
                <a:spcBef>
                  <a:spcPct val="0"/>
                </a:spcBef>
                <a:spcAft>
                  <a:spcPct val="0"/>
                </a:spcAft>
              </a:pPr>
              <a:endParaRPr kumimoji="1" lang="zh-CN" altLang="en-US" sz="1600">
                <a:solidFill>
                  <a:srgbClr val="6600CC"/>
                </a:solidFill>
                <a:latin typeface="Times New Roman" pitchFamily="18" charset="0"/>
                <a:ea typeface="楷体_GB2312" pitchFamily="49" charset="-122"/>
              </a:endParaRPr>
            </a:p>
          </p:txBody>
        </p:sp>
        <p:sp>
          <p:nvSpPr>
            <p:cNvPr id="56" name="Text Box 22"/>
            <p:cNvSpPr txBox="1">
              <a:spLocks noChangeArrowheads="1"/>
            </p:cNvSpPr>
            <p:nvPr/>
          </p:nvSpPr>
          <p:spPr bwMode="auto">
            <a:xfrm>
              <a:off x="2123" y="2191"/>
              <a:ext cx="854" cy="30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黑体" pitchFamily="2" charset="-122"/>
                  <a:ea typeface="黑体" pitchFamily="2" charset="-122"/>
                </a:rPr>
                <a:t> </a:t>
              </a:r>
              <a:r>
                <a:rPr lang="en-US" altLang="zh-CN" sz="1600" b="1">
                  <a:solidFill>
                    <a:srgbClr val="0707F9"/>
                  </a:solidFill>
                  <a:latin typeface="宋体" pitchFamily="2" charset="-122"/>
                </a:rPr>
                <a:t>i</a:t>
              </a:r>
            </a:p>
          </p:txBody>
        </p:sp>
        <p:sp>
          <p:nvSpPr>
            <p:cNvPr id="57" name="Line 23"/>
            <p:cNvSpPr>
              <a:spLocks noChangeShapeType="1"/>
            </p:cNvSpPr>
            <p:nvPr/>
          </p:nvSpPr>
          <p:spPr bwMode="auto">
            <a:xfrm flipH="1">
              <a:off x="1746" y="2478"/>
              <a:ext cx="395" cy="347"/>
            </a:xfrm>
            <a:prstGeom prst="line">
              <a:avLst/>
            </a:prstGeom>
            <a:noFill/>
            <a:ln w="38100" cap="rnd">
              <a:solidFill>
                <a:srgbClr val="0000FF"/>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58" name="Line 24"/>
            <p:cNvSpPr>
              <a:spLocks noChangeShapeType="1"/>
            </p:cNvSpPr>
            <p:nvPr/>
          </p:nvSpPr>
          <p:spPr bwMode="auto">
            <a:xfrm flipH="1">
              <a:off x="3910" y="2523"/>
              <a:ext cx="254" cy="366"/>
            </a:xfrm>
            <a:prstGeom prst="line">
              <a:avLst/>
            </a:prstGeom>
            <a:noFill/>
            <a:ln w="38100" cap="rnd">
              <a:solidFill>
                <a:srgbClr val="0000FF"/>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grpSp>
    </p:spTree>
    <p:extLst>
      <p:ext uri="{BB962C8B-B14F-4D97-AF65-F5344CB8AC3E}">
        <p14:creationId xmlns:p14="http://schemas.microsoft.com/office/powerpoint/2010/main" val="313938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utoUpdateAnimBg="0"/>
      <p:bldP spid="39" grpId="0" autoUpdateAnimBg="0"/>
      <p:bldP spid="40"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5.2.2  </a:t>
            </a:r>
            <a:r>
              <a:rPr kumimoji="1" lang="zh-CN" altLang="en-US" sz="3200" b="1" dirty="0">
                <a:latin typeface="Arial" charset="0"/>
                <a:ea typeface="宋体" charset="-122"/>
                <a:cs typeface="+mn-cs"/>
              </a:rPr>
              <a:t>二叉树的性质</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endParaRPr lang="en-US" altLang="zh-CN" sz="2800" b="1" dirty="0"/>
          </a:p>
        </p:txBody>
      </p:sp>
      <p:sp>
        <p:nvSpPr>
          <p:cNvPr id="4" name="日期占位符 3"/>
          <p:cNvSpPr>
            <a:spLocks noGrp="1"/>
          </p:cNvSpPr>
          <p:nvPr>
            <p:ph type="dt" sz="half" idx="10"/>
          </p:nvPr>
        </p:nvSpPr>
        <p:spPr/>
        <p:txBody>
          <a:bodyPr/>
          <a:lstStyle/>
          <a:p>
            <a:fld id="{4B262BC1-F303-49DB-914F-F148535572D2}"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34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34" name="Text Box 2"/>
          <p:cNvSpPr txBox="1">
            <a:spLocks noChangeArrowheads="1"/>
          </p:cNvSpPr>
          <p:nvPr/>
        </p:nvSpPr>
        <p:spPr bwMode="auto">
          <a:xfrm>
            <a:off x="414338" y="3922712"/>
            <a:ext cx="2954337" cy="1868488"/>
          </a:xfrm>
          <a:prstGeom prst="rect">
            <a:avLst/>
          </a:prstGeom>
          <a:noFill/>
          <a:ln w="9525">
            <a:solidFill>
              <a:srgbClr val="0707F9"/>
            </a:solidFill>
            <a:miter lim="800000"/>
            <a:headEnd/>
            <a:tailEnd/>
          </a:ln>
        </p:spPr>
        <p:txBody>
          <a:bodyPr/>
          <a:lstStyle/>
          <a:p>
            <a:pPr algn="just" eaLnBrk="0" fontAlgn="base" hangingPunct="0">
              <a:spcBef>
                <a:spcPct val="0"/>
              </a:spcBef>
              <a:spcAft>
                <a:spcPct val="0"/>
              </a:spcAft>
            </a:pPr>
            <a:r>
              <a:rPr lang="zh-CN" altLang="en-US" sz="2400" b="1" dirty="0">
                <a:solidFill>
                  <a:srgbClr val="0707F9"/>
                </a:solidFill>
                <a:latin typeface="楷体_GB2312" pitchFamily="49" charset="-122"/>
                <a:ea typeface="楷体_GB2312" pitchFamily="49" charset="-122"/>
              </a:rPr>
              <a:t>编号</a:t>
            </a:r>
            <a:r>
              <a:rPr lang="en-US" altLang="zh-CN" sz="2400" b="1" dirty="0" err="1">
                <a:solidFill>
                  <a:srgbClr val="0707F9"/>
                </a:solidFill>
                <a:latin typeface="楷体_GB2312" pitchFamily="49" charset="-122"/>
                <a:ea typeface="楷体_GB2312" pitchFamily="49" charset="-122"/>
              </a:rPr>
              <a:t>i</a:t>
            </a:r>
            <a:r>
              <a:rPr lang="en-US" altLang="zh-CN" sz="2400" b="1" dirty="0">
                <a:solidFill>
                  <a:srgbClr val="0707F9"/>
                </a:solidFill>
                <a:latin typeface="楷体_GB2312" pitchFamily="49" charset="-122"/>
                <a:ea typeface="楷体_GB2312" pitchFamily="49" charset="-122"/>
              </a:rPr>
              <a:t>=4</a:t>
            </a:r>
          </a:p>
          <a:p>
            <a:pPr algn="just" eaLnBrk="0" fontAlgn="base" hangingPunct="0">
              <a:spcBef>
                <a:spcPct val="0"/>
              </a:spcBef>
              <a:spcAft>
                <a:spcPct val="0"/>
              </a:spcAft>
            </a:pPr>
            <a:r>
              <a:rPr lang="zh-CN" altLang="en-US" sz="2400" b="1" dirty="0">
                <a:solidFill>
                  <a:srgbClr val="0707F9"/>
                </a:solidFill>
                <a:latin typeface="楷体_GB2312" pitchFamily="49" charset="-122"/>
                <a:ea typeface="楷体_GB2312" pitchFamily="49" charset="-122"/>
              </a:rPr>
              <a:t>双亲为</a:t>
            </a:r>
            <a:r>
              <a:rPr kumimoji="1" lang="zh-CN" altLang="en-US" sz="2400" b="1" dirty="0">
                <a:solidFill>
                  <a:srgbClr val="0707F9"/>
                </a:solidFill>
                <a:latin typeface="楷体_GB2312" pitchFamily="49" charset="-122"/>
                <a:ea typeface="楷体_GB2312" pitchFamily="49" charset="-122"/>
                <a:sym typeface="Symbol" pitchFamily="18" charset="2"/>
              </a:rPr>
              <a:t></a:t>
            </a:r>
            <a:r>
              <a:rPr kumimoji="1" lang="en-US" altLang="zh-CN" sz="2400" b="1" dirty="0" err="1">
                <a:solidFill>
                  <a:srgbClr val="0707F9"/>
                </a:solidFill>
                <a:latin typeface="楷体_GB2312" pitchFamily="49" charset="-122"/>
                <a:ea typeface="楷体_GB2312" pitchFamily="49" charset="-122"/>
              </a:rPr>
              <a:t>i</a:t>
            </a:r>
            <a:r>
              <a:rPr kumimoji="1" lang="en-US" altLang="zh-CN" sz="2400" b="1" dirty="0">
                <a:solidFill>
                  <a:srgbClr val="0707F9"/>
                </a:solidFill>
                <a:latin typeface="楷体_GB2312" pitchFamily="49" charset="-122"/>
                <a:ea typeface="楷体_GB2312" pitchFamily="49" charset="-122"/>
              </a:rPr>
              <a:t>/2</a:t>
            </a:r>
            <a:r>
              <a:rPr kumimoji="1" lang="en-US" altLang="zh-CN" sz="2400" b="1" dirty="0">
                <a:solidFill>
                  <a:srgbClr val="0707F9"/>
                </a:solidFill>
                <a:latin typeface="楷体_GB2312" pitchFamily="49" charset="-122"/>
                <a:ea typeface="楷体_GB2312" pitchFamily="49" charset="-122"/>
                <a:sym typeface="Symbol" pitchFamily="18" charset="2"/>
              </a:rPr>
              <a:t></a:t>
            </a:r>
            <a:r>
              <a:rPr lang="en-US" altLang="zh-CN" sz="2400" b="1" dirty="0">
                <a:solidFill>
                  <a:srgbClr val="0707F9"/>
                </a:solidFill>
                <a:latin typeface="楷体_GB2312" pitchFamily="49" charset="-122"/>
                <a:ea typeface="楷体_GB2312" pitchFamily="49" charset="-122"/>
              </a:rPr>
              <a:t> =2</a:t>
            </a:r>
          </a:p>
          <a:p>
            <a:pPr algn="just" eaLnBrk="0" fontAlgn="base" hangingPunct="0">
              <a:spcBef>
                <a:spcPct val="0"/>
              </a:spcBef>
              <a:spcAft>
                <a:spcPct val="0"/>
              </a:spcAft>
            </a:pPr>
            <a:r>
              <a:rPr lang="zh-CN" altLang="en-US" sz="2400" b="1" dirty="0">
                <a:solidFill>
                  <a:srgbClr val="0707F9"/>
                </a:solidFill>
                <a:latin typeface="楷体_GB2312" pitchFamily="49" charset="-122"/>
                <a:ea typeface="楷体_GB2312" pitchFamily="49" charset="-122"/>
              </a:rPr>
              <a:t>左子树为</a:t>
            </a:r>
            <a:r>
              <a:rPr lang="en-US" altLang="zh-CN" sz="2400" b="1" dirty="0">
                <a:solidFill>
                  <a:srgbClr val="0707F9"/>
                </a:solidFill>
                <a:latin typeface="楷体_GB2312" pitchFamily="49" charset="-122"/>
                <a:ea typeface="楷体_GB2312" pitchFamily="49" charset="-122"/>
              </a:rPr>
              <a:t>2i=8</a:t>
            </a:r>
          </a:p>
          <a:p>
            <a:pPr algn="just" eaLnBrk="0" fontAlgn="base" hangingPunct="0">
              <a:spcBef>
                <a:spcPct val="0"/>
              </a:spcBef>
              <a:spcAft>
                <a:spcPct val="0"/>
              </a:spcAft>
            </a:pPr>
            <a:r>
              <a:rPr lang="zh-CN" altLang="en-US" sz="2400" b="1" dirty="0">
                <a:solidFill>
                  <a:srgbClr val="0707F9"/>
                </a:solidFill>
                <a:latin typeface="楷体_GB2312" pitchFamily="49" charset="-122"/>
                <a:ea typeface="楷体_GB2312" pitchFamily="49" charset="-122"/>
              </a:rPr>
              <a:t>右子树为</a:t>
            </a:r>
            <a:r>
              <a:rPr lang="en-US" altLang="zh-CN" sz="2400" b="1" dirty="0">
                <a:solidFill>
                  <a:srgbClr val="0707F9"/>
                </a:solidFill>
                <a:latin typeface="楷体_GB2312" pitchFamily="49" charset="-122"/>
                <a:ea typeface="楷体_GB2312" pitchFamily="49" charset="-122"/>
              </a:rPr>
              <a:t>2i+1=9</a:t>
            </a:r>
            <a:endParaRPr lang="en-US" altLang="zh-CN" sz="2400" b="1" dirty="0">
              <a:solidFill>
                <a:srgbClr val="FFFF00"/>
              </a:solidFill>
              <a:latin typeface="楷体_GB2312" pitchFamily="49" charset="-122"/>
              <a:ea typeface="楷体_GB2312" pitchFamily="49" charset="-122"/>
            </a:endParaRPr>
          </a:p>
        </p:txBody>
      </p:sp>
      <p:sp>
        <p:nvSpPr>
          <p:cNvPr id="35" name="Text Box 4"/>
          <p:cNvSpPr txBox="1">
            <a:spLocks noChangeArrowheads="1"/>
          </p:cNvSpPr>
          <p:nvPr/>
        </p:nvSpPr>
        <p:spPr bwMode="auto">
          <a:xfrm>
            <a:off x="1352550" y="1620838"/>
            <a:ext cx="2851150" cy="609600"/>
          </a:xfrm>
          <a:prstGeom prst="rect">
            <a:avLst/>
          </a:prstGeom>
          <a:noFill/>
          <a:ln w="9525">
            <a:solidFill>
              <a:srgbClr val="0000FF"/>
            </a:solidFill>
            <a:miter lim="800000"/>
            <a:headEnd/>
            <a:tailEnd/>
          </a:ln>
        </p:spPr>
        <p:txBody>
          <a:bodyPr/>
          <a:lstStyle/>
          <a:p>
            <a:pPr algn="just" eaLnBrk="0" fontAlgn="base" hangingPunct="0">
              <a:spcBef>
                <a:spcPct val="0"/>
              </a:spcBef>
              <a:spcAft>
                <a:spcPct val="0"/>
              </a:spcAft>
            </a:pPr>
            <a:r>
              <a:rPr lang="en-US" altLang="zh-CN" sz="2800" b="1">
                <a:solidFill>
                  <a:srgbClr val="192AC7"/>
                </a:solidFill>
                <a:latin typeface="Times New Roman" pitchFamily="18" charset="0"/>
              </a:rPr>
              <a:t>i=1  </a:t>
            </a:r>
            <a:r>
              <a:rPr lang="zh-CN" altLang="en-US" sz="2800" b="1">
                <a:solidFill>
                  <a:srgbClr val="192AC7"/>
                </a:solidFill>
                <a:latin typeface="Times New Roman" pitchFamily="18" charset="0"/>
              </a:rPr>
              <a:t>只有根结点</a:t>
            </a:r>
            <a:endParaRPr lang="en-US" altLang="zh-CN" sz="2800" b="1">
              <a:solidFill>
                <a:srgbClr val="192AC7"/>
              </a:solidFill>
              <a:latin typeface="Times New Roman" pitchFamily="18" charset="0"/>
            </a:endParaRPr>
          </a:p>
          <a:p>
            <a:pPr algn="just" eaLnBrk="0" fontAlgn="base" hangingPunct="0">
              <a:spcBef>
                <a:spcPct val="0"/>
              </a:spcBef>
              <a:spcAft>
                <a:spcPct val="0"/>
              </a:spcAft>
            </a:pPr>
            <a:endParaRPr lang="zh-CN" altLang="en-US" sz="2800" b="1">
              <a:solidFill>
                <a:srgbClr val="192AC7"/>
              </a:solidFill>
              <a:latin typeface="Times New Roman" pitchFamily="18" charset="0"/>
            </a:endParaRPr>
          </a:p>
        </p:txBody>
      </p:sp>
      <p:sp>
        <p:nvSpPr>
          <p:cNvPr id="36" name="Text Box 5"/>
          <p:cNvSpPr txBox="1">
            <a:spLocks noChangeArrowheads="1"/>
          </p:cNvSpPr>
          <p:nvPr/>
        </p:nvSpPr>
        <p:spPr bwMode="auto">
          <a:xfrm>
            <a:off x="3729038" y="3948112"/>
            <a:ext cx="3095625" cy="1843088"/>
          </a:xfrm>
          <a:prstGeom prst="rect">
            <a:avLst/>
          </a:prstGeom>
          <a:noFill/>
          <a:ln w="9525">
            <a:solidFill>
              <a:srgbClr val="0707F9"/>
            </a:solidFill>
            <a:miter lim="800000"/>
            <a:headEnd/>
            <a:tailEnd/>
          </a:ln>
        </p:spPr>
        <p:txBody>
          <a:bodyPr/>
          <a:lstStyle/>
          <a:p>
            <a:pPr algn="just" eaLnBrk="0" fontAlgn="base" hangingPunct="0">
              <a:spcBef>
                <a:spcPct val="0"/>
              </a:spcBef>
              <a:spcAft>
                <a:spcPct val="0"/>
              </a:spcAft>
            </a:pPr>
            <a:r>
              <a:rPr lang="zh-CN" altLang="en-US" sz="2400" b="1">
                <a:solidFill>
                  <a:srgbClr val="0707F9"/>
                </a:solidFill>
                <a:latin typeface="楷体_GB2312" pitchFamily="49" charset="-122"/>
                <a:ea typeface="楷体_GB2312" pitchFamily="49" charset="-122"/>
              </a:rPr>
              <a:t>编号</a:t>
            </a:r>
            <a:r>
              <a:rPr lang="en-US" altLang="zh-CN" sz="2400" b="1">
                <a:solidFill>
                  <a:srgbClr val="0707F9"/>
                </a:solidFill>
                <a:latin typeface="楷体_GB2312" pitchFamily="49" charset="-122"/>
                <a:ea typeface="楷体_GB2312" pitchFamily="49" charset="-122"/>
              </a:rPr>
              <a:t>i=5</a:t>
            </a:r>
          </a:p>
          <a:p>
            <a:pPr algn="just" eaLnBrk="0" fontAlgn="base" hangingPunct="0">
              <a:spcBef>
                <a:spcPct val="0"/>
              </a:spcBef>
              <a:spcAft>
                <a:spcPct val="0"/>
              </a:spcAft>
            </a:pPr>
            <a:r>
              <a:rPr lang="zh-CN" altLang="en-US" sz="2400" b="1">
                <a:solidFill>
                  <a:srgbClr val="0707F9"/>
                </a:solidFill>
                <a:latin typeface="楷体_GB2312" pitchFamily="49" charset="-122"/>
                <a:ea typeface="楷体_GB2312" pitchFamily="49" charset="-122"/>
              </a:rPr>
              <a:t>双亲为</a:t>
            </a:r>
            <a:r>
              <a:rPr kumimoji="1" lang="zh-CN" altLang="en-US" sz="2400" b="1">
                <a:solidFill>
                  <a:srgbClr val="0707F9"/>
                </a:solidFill>
                <a:latin typeface="楷体_GB2312" pitchFamily="49" charset="-122"/>
                <a:ea typeface="楷体_GB2312" pitchFamily="49" charset="-122"/>
                <a:sym typeface="Symbol" pitchFamily="18" charset="2"/>
              </a:rPr>
              <a:t></a:t>
            </a:r>
            <a:r>
              <a:rPr kumimoji="1" lang="en-US" altLang="zh-CN" sz="2400" b="1">
                <a:solidFill>
                  <a:srgbClr val="0707F9"/>
                </a:solidFill>
                <a:latin typeface="楷体_GB2312" pitchFamily="49" charset="-122"/>
                <a:ea typeface="楷体_GB2312" pitchFamily="49" charset="-122"/>
              </a:rPr>
              <a:t>i/2</a:t>
            </a:r>
            <a:r>
              <a:rPr kumimoji="1" lang="en-US" altLang="zh-CN" sz="2400" b="1">
                <a:solidFill>
                  <a:srgbClr val="0707F9"/>
                </a:solidFill>
                <a:latin typeface="楷体_GB2312" pitchFamily="49" charset="-122"/>
                <a:ea typeface="楷体_GB2312" pitchFamily="49" charset="-122"/>
                <a:sym typeface="Symbol" pitchFamily="18" charset="2"/>
              </a:rPr>
              <a:t></a:t>
            </a:r>
            <a:r>
              <a:rPr lang="en-US" altLang="zh-CN" sz="2400" b="1">
                <a:solidFill>
                  <a:srgbClr val="0707F9"/>
                </a:solidFill>
                <a:latin typeface="楷体_GB2312" pitchFamily="49" charset="-122"/>
                <a:ea typeface="楷体_GB2312" pitchFamily="49" charset="-122"/>
              </a:rPr>
              <a:t> =2</a:t>
            </a:r>
            <a:endParaRPr lang="en-US" altLang="zh-CN" sz="2400" b="1" baseline="30000">
              <a:solidFill>
                <a:srgbClr val="0707F9"/>
              </a:solidFill>
              <a:latin typeface="楷体_GB2312" pitchFamily="49" charset="-122"/>
              <a:ea typeface="楷体_GB2312" pitchFamily="49" charset="-122"/>
            </a:endParaRPr>
          </a:p>
          <a:p>
            <a:pPr eaLnBrk="0" fontAlgn="base" hangingPunct="0">
              <a:spcBef>
                <a:spcPct val="0"/>
              </a:spcBef>
              <a:spcAft>
                <a:spcPct val="0"/>
              </a:spcAft>
            </a:pPr>
            <a:r>
              <a:rPr lang="zh-CN" altLang="en-US" sz="2400" b="1">
                <a:solidFill>
                  <a:srgbClr val="0707F9"/>
                </a:solidFill>
                <a:latin typeface="楷体_GB2312" pitchFamily="49" charset="-122"/>
                <a:ea typeface="楷体_GB2312" pitchFamily="49" charset="-122"/>
              </a:rPr>
              <a:t>左子树为</a:t>
            </a:r>
            <a:r>
              <a:rPr lang="en-US" altLang="zh-CN" sz="2400" b="1">
                <a:solidFill>
                  <a:srgbClr val="0707F9"/>
                </a:solidFill>
                <a:latin typeface="楷体_GB2312" pitchFamily="49" charset="-122"/>
                <a:ea typeface="楷体_GB2312" pitchFamily="49" charset="-122"/>
              </a:rPr>
              <a:t>2i=10                    </a:t>
            </a:r>
            <a:r>
              <a:rPr lang="zh-CN" altLang="en-US" sz="2400" b="1">
                <a:solidFill>
                  <a:srgbClr val="0707F9"/>
                </a:solidFill>
                <a:latin typeface="楷体_GB2312" pitchFamily="49" charset="-122"/>
                <a:ea typeface="楷体_GB2312" pitchFamily="49" charset="-122"/>
              </a:rPr>
              <a:t>右子树为</a:t>
            </a:r>
            <a:r>
              <a:rPr lang="en-US" altLang="zh-CN" sz="2400" b="1">
                <a:solidFill>
                  <a:srgbClr val="0707F9"/>
                </a:solidFill>
                <a:latin typeface="楷体_GB2312" pitchFamily="49" charset="-122"/>
                <a:ea typeface="楷体_GB2312" pitchFamily="49" charset="-122"/>
              </a:rPr>
              <a:t>2i+1=11</a:t>
            </a:r>
          </a:p>
        </p:txBody>
      </p:sp>
      <p:sp>
        <p:nvSpPr>
          <p:cNvPr id="59" name="Text Box 8"/>
          <p:cNvSpPr txBox="1">
            <a:spLocks noChangeArrowheads="1"/>
          </p:cNvSpPr>
          <p:nvPr/>
        </p:nvSpPr>
        <p:spPr bwMode="auto">
          <a:xfrm>
            <a:off x="7239000" y="4025205"/>
            <a:ext cx="1908175" cy="1384995"/>
          </a:xfrm>
          <a:prstGeom prst="rect">
            <a:avLst/>
          </a:prstGeom>
          <a:noFill/>
          <a:ln w="9525">
            <a:solidFill>
              <a:srgbClr val="0707F9"/>
            </a:solidFill>
            <a:miter lim="800000"/>
            <a:headEnd/>
            <a:tailEnd/>
          </a:ln>
        </p:spPr>
        <p:txBody>
          <a:bodyPr>
            <a:spAutoFit/>
          </a:bodyPr>
          <a:lstStyle/>
          <a:p>
            <a:pPr fontAlgn="base">
              <a:spcBef>
                <a:spcPct val="50000"/>
              </a:spcBef>
              <a:spcAft>
                <a:spcPct val="0"/>
              </a:spcAft>
            </a:pPr>
            <a:r>
              <a:rPr kumimoji="1" lang="en-US" altLang="zh-CN" sz="2400" b="1">
                <a:solidFill>
                  <a:srgbClr val="FF0000"/>
                </a:solidFill>
                <a:latin typeface="楷体_GB2312" pitchFamily="49" charset="-122"/>
                <a:ea typeface="楷体_GB2312" pitchFamily="49" charset="-122"/>
              </a:rPr>
              <a:t>i=8, n=15 </a:t>
            </a:r>
            <a:r>
              <a:rPr kumimoji="1" lang="en-US" altLang="zh-CN" sz="2400" b="1">
                <a:solidFill>
                  <a:srgbClr val="0707F9"/>
                </a:solidFill>
                <a:latin typeface="楷体_GB2312" pitchFamily="49" charset="-122"/>
                <a:ea typeface="楷体_GB2312" pitchFamily="49" charset="-122"/>
              </a:rPr>
              <a:t>2i&gt;n</a:t>
            </a:r>
          </a:p>
          <a:p>
            <a:pPr fontAlgn="base">
              <a:spcBef>
                <a:spcPct val="50000"/>
              </a:spcBef>
              <a:spcAft>
                <a:spcPct val="0"/>
              </a:spcAft>
            </a:pPr>
            <a:r>
              <a:rPr kumimoji="1" lang="zh-CN" altLang="en-US" sz="2400" b="1">
                <a:solidFill>
                  <a:srgbClr val="FF0000"/>
                </a:solidFill>
                <a:latin typeface="楷体_GB2312" pitchFamily="49" charset="-122"/>
                <a:ea typeface="楷体_GB2312" pitchFamily="49" charset="-122"/>
              </a:rPr>
              <a:t>无左子树</a:t>
            </a:r>
          </a:p>
        </p:txBody>
      </p:sp>
      <p:grpSp>
        <p:nvGrpSpPr>
          <p:cNvPr id="60" name="Group 10"/>
          <p:cNvGrpSpPr>
            <a:grpSpLocks/>
          </p:cNvGrpSpPr>
          <p:nvPr/>
        </p:nvGrpSpPr>
        <p:grpSpPr bwMode="auto">
          <a:xfrm>
            <a:off x="3397250" y="1198563"/>
            <a:ext cx="4724400" cy="2687637"/>
            <a:chOff x="1442" y="240"/>
            <a:chExt cx="2976" cy="1693"/>
          </a:xfrm>
        </p:grpSpPr>
        <p:grpSp>
          <p:nvGrpSpPr>
            <p:cNvPr id="61" name="Group 11"/>
            <p:cNvGrpSpPr>
              <a:grpSpLocks/>
            </p:cNvGrpSpPr>
            <p:nvPr/>
          </p:nvGrpSpPr>
          <p:grpSpPr bwMode="auto">
            <a:xfrm>
              <a:off x="1442" y="240"/>
              <a:ext cx="2976" cy="1680"/>
              <a:chOff x="2784" y="240"/>
              <a:chExt cx="2976" cy="1680"/>
            </a:xfrm>
          </p:grpSpPr>
          <p:sp>
            <p:nvSpPr>
              <p:cNvPr id="69" name="Oval 12"/>
              <p:cNvSpPr>
                <a:spLocks noChangeArrowheads="1"/>
              </p:cNvSpPr>
              <p:nvPr/>
            </p:nvSpPr>
            <p:spPr bwMode="auto">
              <a:xfrm>
                <a:off x="5472" y="168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15</a:t>
                </a:r>
                <a:endParaRPr kumimoji="1" lang="en-US" altLang="zh-CN" sz="2400">
                  <a:solidFill>
                    <a:srgbClr val="000000"/>
                  </a:solidFill>
                  <a:latin typeface="Times New Roman" pitchFamily="18" charset="0"/>
                </a:endParaRPr>
              </a:p>
            </p:txBody>
          </p:sp>
          <p:grpSp>
            <p:nvGrpSpPr>
              <p:cNvPr id="70" name="Group 13"/>
              <p:cNvGrpSpPr>
                <a:grpSpLocks/>
              </p:cNvGrpSpPr>
              <p:nvPr/>
            </p:nvGrpSpPr>
            <p:grpSpPr bwMode="auto">
              <a:xfrm>
                <a:off x="2784" y="240"/>
                <a:ext cx="2832" cy="1680"/>
                <a:chOff x="2784" y="240"/>
                <a:chExt cx="2832" cy="1680"/>
              </a:xfrm>
            </p:grpSpPr>
            <p:sp>
              <p:nvSpPr>
                <p:cNvPr id="71" name="Oval 14"/>
                <p:cNvSpPr>
                  <a:spLocks noChangeArrowheads="1"/>
                </p:cNvSpPr>
                <p:nvPr/>
              </p:nvSpPr>
              <p:spPr bwMode="auto">
                <a:xfrm>
                  <a:off x="4128" y="24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1</a:t>
                  </a:r>
                  <a:endParaRPr kumimoji="1" lang="en-US" altLang="zh-CN" sz="2400">
                    <a:solidFill>
                      <a:srgbClr val="000000"/>
                    </a:solidFill>
                    <a:latin typeface="Times New Roman" pitchFamily="18" charset="0"/>
                  </a:endParaRPr>
                </a:p>
              </p:txBody>
            </p:sp>
            <p:sp>
              <p:nvSpPr>
                <p:cNvPr id="72" name="Oval 15"/>
                <p:cNvSpPr>
                  <a:spLocks noChangeArrowheads="1"/>
                </p:cNvSpPr>
                <p:nvPr/>
              </p:nvSpPr>
              <p:spPr bwMode="auto">
                <a:xfrm>
                  <a:off x="3360" y="72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2</a:t>
                  </a:r>
                  <a:endParaRPr kumimoji="1" lang="en-US" altLang="zh-CN" sz="2400">
                    <a:solidFill>
                      <a:srgbClr val="000000"/>
                    </a:solidFill>
                    <a:latin typeface="Times New Roman" pitchFamily="18" charset="0"/>
                  </a:endParaRPr>
                </a:p>
              </p:txBody>
            </p:sp>
            <p:sp>
              <p:nvSpPr>
                <p:cNvPr id="73" name="Oval 16"/>
                <p:cNvSpPr>
                  <a:spLocks noChangeArrowheads="1"/>
                </p:cNvSpPr>
                <p:nvPr/>
              </p:nvSpPr>
              <p:spPr bwMode="auto">
                <a:xfrm>
                  <a:off x="4896" y="72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3</a:t>
                  </a:r>
                  <a:endParaRPr kumimoji="1" lang="en-US" altLang="zh-CN" sz="2400">
                    <a:solidFill>
                      <a:srgbClr val="000000"/>
                    </a:solidFill>
                    <a:latin typeface="Times New Roman" pitchFamily="18" charset="0"/>
                  </a:endParaRPr>
                </a:p>
              </p:txBody>
            </p:sp>
            <p:sp>
              <p:nvSpPr>
                <p:cNvPr id="74" name="Oval 17"/>
                <p:cNvSpPr>
                  <a:spLocks noChangeArrowheads="1"/>
                </p:cNvSpPr>
                <p:nvPr/>
              </p:nvSpPr>
              <p:spPr bwMode="auto">
                <a:xfrm>
                  <a:off x="2976" y="120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4</a:t>
                  </a:r>
                  <a:endParaRPr kumimoji="1" lang="en-US" altLang="zh-CN" sz="2400">
                    <a:solidFill>
                      <a:srgbClr val="000000"/>
                    </a:solidFill>
                    <a:latin typeface="Times New Roman" pitchFamily="18" charset="0"/>
                  </a:endParaRPr>
                </a:p>
              </p:txBody>
            </p:sp>
            <p:sp>
              <p:nvSpPr>
                <p:cNvPr id="75" name="Oval 18"/>
                <p:cNvSpPr>
                  <a:spLocks noChangeArrowheads="1"/>
                </p:cNvSpPr>
                <p:nvPr/>
              </p:nvSpPr>
              <p:spPr bwMode="auto">
                <a:xfrm>
                  <a:off x="3744" y="120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5</a:t>
                  </a:r>
                  <a:endParaRPr kumimoji="1" lang="en-US" altLang="zh-CN" sz="2400">
                    <a:solidFill>
                      <a:srgbClr val="000000"/>
                    </a:solidFill>
                    <a:latin typeface="Times New Roman" pitchFamily="18" charset="0"/>
                  </a:endParaRPr>
                </a:p>
              </p:txBody>
            </p:sp>
            <p:sp>
              <p:nvSpPr>
                <p:cNvPr id="76" name="Oval 19"/>
                <p:cNvSpPr>
                  <a:spLocks noChangeArrowheads="1"/>
                </p:cNvSpPr>
                <p:nvPr/>
              </p:nvSpPr>
              <p:spPr bwMode="auto">
                <a:xfrm>
                  <a:off x="4512" y="120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6</a:t>
                  </a:r>
                  <a:endParaRPr kumimoji="1" lang="en-US" altLang="zh-CN" sz="2400">
                    <a:solidFill>
                      <a:srgbClr val="000000"/>
                    </a:solidFill>
                    <a:latin typeface="Times New Roman" pitchFamily="18" charset="0"/>
                  </a:endParaRPr>
                </a:p>
              </p:txBody>
            </p:sp>
            <p:sp>
              <p:nvSpPr>
                <p:cNvPr id="77" name="Oval 20"/>
                <p:cNvSpPr>
                  <a:spLocks noChangeArrowheads="1"/>
                </p:cNvSpPr>
                <p:nvPr/>
              </p:nvSpPr>
              <p:spPr bwMode="auto">
                <a:xfrm>
                  <a:off x="5280" y="120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7</a:t>
                  </a:r>
                  <a:endParaRPr kumimoji="1" lang="en-US" altLang="zh-CN" sz="2400">
                    <a:solidFill>
                      <a:srgbClr val="000000"/>
                    </a:solidFill>
                    <a:latin typeface="Times New Roman" pitchFamily="18" charset="0"/>
                  </a:endParaRPr>
                </a:p>
              </p:txBody>
            </p:sp>
            <p:sp>
              <p:nvSpPr>
                <p:cNvPr id="78" name="Oval 21"/>
                <p:cNvSpPr>
                  <a:spLocks noChangeArrowheads="1"/>
                </p:cNvSpPr>
                <p:nvPr/>
              </p:nvSpPr>
              <p:spPr bwMode="auto">
                <a:xfrm>
                  <a:off x="2784" y="168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8</a:t>
                  </a:r>
                  <a:endParaRPr kumimoji="1" lang="en-US" altLang="zh-CN" sz="2400">
                    <a:solidFill>
                      <a:srgbClr val="000000"/>
                    </a:solidFill>
                    <a:latin typeface="Times New Roman" pitchFamily="18" charset="0"/>
                  </a:endParaRPr>
                </a:p>
              </p:txBody>
            </p:sp>
            <p:sp>
              <p:nvSpPr>
                <p:cNvPr id="79" name="Oval 22"/>
                <p:cNvSpPr>
                  <a:spLocks noChangeArrowheads="1"/>
                </p:cNvSpPr>
                <p:nvPr/>
              </p:nvSpPr>
              <p:spPr bwMode="auto">
                <a:xfrm>
                  <a:off x="3168" y="168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9</a:t>
                  </a:r>
                  <a:endParaRPr kumimoji="1" lang="en-US" altLang="zh-CN" sz="2400">
                    <a:solidFill>
                      <a:srgbClr val="000000"/>
                    </a:solidFill>
                    <a:latin typeface="Times New Roman" pitchFamily="18" charset="0"/>
                  </a:endParaRPr>
                </a:p>
              </p:txBody>
            </p:sp>
            <p:sp>
              <p:nvSpPr>
                <p:cNvPr id="80" name="Oval 23"/>
                <p:cNvSpPr>
                  <a:spLocks noChangeArrowheads="1"/>
                </p:cNvSpPr>
                <p:nvPr/>
              </p:nvSpPr>
              <p:spPr bwMode="auto">
                <a:xfrm>
                  <a:off x="3552" y="168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10</a:t>
                  </a:r>
                  <a:endParaRPr kumimoji="1" lang="en-US" altLang="zh-CN" sz="2400">
                    <a:solidFill>
                      <a:srgbClr val="000000"/>
                    </a:solidFill>
                    <a:latin typeface="Times New Roman" pitchFamily="18" charset="0"/>
                  </a:endParaRPr>
                </a:p>
              </p:txBody>
            </p:sp>
            <p:sp>
              <p:nvSpPr>
                <p:cNvPr id="81" name="Oval 24"/>
                <p:cNvSpPr>
                  <a:spLocks noChangeArrowheads="1"/>
                </p:cNvSpPr>
                <p:nvPr/>
              </p:nvSpPr>
              <p:spPr bwMode="auto">
                <a:xfrm>
                  <a:off x="3936" y="168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11</a:t>
                  </a:r>
                  <a:endParaRPr kumimoji="1" lang="en-US" altLang="zh-CN" sz="2400">
                    <a:solidFill>
                      <a:srgbClr val="000000"/>
                    </a:solidFill>
                    <a:latin typeface="Times New Roman" pitchFamily="18" charset="0"/>
                  </a:endParaRPr>
                </a:p>
              </p:txBody>
            </p:sp>
            <p:sp>
              <p:nvSpPr>
                <p:cNvPr id="82" name="Oval 25"/>
                <p:cNvSpPr>
                  <a:spLocks noChangeArrowheads="1"/>
                </p:cNvSpPr>
                <p:nvPr/>
              </p:nvSpPr>
              <p:spPr bwMode="auto">
                <a:xfrm>
                  <a:off x="4320" y="168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12</a:t>
                  </a:r>
                  <a:endParaRPr kumimoji="1" lang="en-US" altLang="zh-CN" sz="2400">
                    <a:solidFill>
                      <a:srgbClr val="000000"/>
                    </a:solidFill>
                    <a:latin typeface="Times New Roman" pitchFamily="18" charset="0"/>
                  </a:endParaRPr>
                </a:p>
              </p:txBody>
            </p:sp>
            <p:sp>
              <p:nvSpPr>
                <p:cNvPr id="83" name="Oval 26"/>
                <p:cNvSpPr>
                  <a:spLocks noChangeArrowheads="1"/>
                </p:cNvSpPr>
                <p:nvPr/>
              </p:nvSpPr>
              <p:spPr bwMode="auto">
                <a:xfrm>
                  <a:off x="4704" y="168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13</a:t>
                  </a:r>
                  <a:endParaRPr kumimoji="1" lang="en-US" altLang="zh-CN" sz="2400">
                    <a:solidFill>
                      <a:srgbClr val="000000"/>
                    </a:solidFill>
                    <a:latin typeface="Times New Roman" pitchFamily="18" charset="0"/>
                  </a:endParaRPr>
                </a:p>
              </p:txBody>
            </p:sp>
            <p:sp>
              <p:nvSpPr>
                <p:cNvPr id="84" name="Oval 27"/>
                <p:cNvSpPr>
                  <a:spLocks noChangeArrowheads="1"/>
                </p:cNvSpPr>
                <p:nvPr/>
              </p:nvSpPr>
              <p:spPr bwMode="auto">
                <a:xfrm>
                  <a:off x="5088" y="1680"/>
                  <a:ext cx="288" cy="240"/>
                </a:xfrm>
                <a:prstGeom prst="ellipse">
                  <a:avLst/>
                </a:prstGeom>
                <a:solidFill>
                  <a:srgbClr val="FCFEDC"/>
                </a:solidFill>
                <a:ln w="12700" cap="sq">
                  <a:solidFill>
                    <a:srgbClr val="0000FF"/>
                  </a:solidFill>
                  <a:round/>
                  <a:headEnd type="none" w="sm" len="sm"/>
                  <a:tailEnd type="none" w="sm" len="sm"/>
                </a:ln>
              </p:spPr>
              <p:txBody>
                <a:bodyPr wrap="none" anchor="ctr"/>
                <a:lstStyle/>
                <a:p>
                  <a:pPr algn="ctr" fontAlgn="base">
                    <a:spcBef>
                      <a:spcPct val="0"/>
                    </a:spcBef>
                    <a:spcAft>
                      <a:spcPct val="0"/>
                    </a:spcAft>
                  </a:pPr>
                  <a:r>
                    <a:rPr kumimoji="1" lang="en-US" altLang="zh-CN" sz="3200" b="1">
                      <a:solidFill>
                        <a:srgbClr val="000000"/>
                      </a:solidFill>
                      <a:latin typeface="Times New Roman" pitchFamily="18" charset="0"/>
                    </a:rPr>
                    <a:t>14</a:t>
                  </a:r>
                  <a:endParaRPr kumimoji="1" lang="en-US" altLang="zh-CN" sz="2400">
                    <a:solidFill>
                      <a:srgbClr val="000000"/>
                    </a:solidFill>
                    <a:latin typeface="Times New Roman" pitchFamily="18" charset="0"/>
                  </a:endParaRPr>
                </a:p>
              </p:txBody>
            </p:sp>
            <p:sp>
              <p:nvSpPr>
                <p:cNvPr id="85" name="Line 28"/>
                <p:cNvSpPr>
                  <a:spLocks noChangeShapeType="1"/>
                </p:cNvSpPr>
                <p:nvPr/>
              </p:nvSpPr>
              <p:spPr bwMode="auto">
                <a:xfrm flipH="1">
                  <a:off x="3504" y="384"/>
                  <a:ext cx="624" cy="336"/>
                </a:xfrm>
                <a:prstGeom prst="line">
                  <a:avLst/>
                </a:prstGeom>
                <a:noFill/>
                <a:ln w="19050" cap="sq">
                  <a:solidFill>
                    <a:srgbClr val="0000FF"/>
                  </a:solidFill>
                  <a:round/>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6" name="Line 29"/>
                <p:cNvSpPr>
                  <a:spLocks noChangeShapeType="1"/>
                </p:cNvSpPr>
                <p:nvPr/>
              </p:nvSpPr>
              <p:spPr bwMode="auto">
                <a:xfrm>
                  <a:off x="4416" y="384"/>
                  <a:ext cx="624" cy="336"/>
                </a:xfrm>
                <a:prstGeom prst="line">
                  <a:avLst/>
                </a:prstGeom>
                <a:noFill/>
                <a:ln w="19050" cap="sq">
                  <a:solidFill>
                    <a:srgbClr val="0000FF"/>
                  </a:solidFill>
                  <a:round/>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7" name="Line 30"/>
                <p:cNvSpPr>
                  <a:spLocks noChangeShapeType="1"/>
                </p:cNvSpPr>
                <p:nvPr/>
              </p:nvSpPr>
              <p:spPr bwMode="auto">
                <a:xfrm flipH="1">
                  <a:off x="3120" y="816"/>
                  <a:ext cx="240" cy="384"/>
                </a:xfrm>
                <a:prstGeom prst="line">
                  <a:avLst/>
                </a:prstGeom>
                <a:noFill/>
                <a:ln w="19050" cap="sq">
                  <a:solidFill>
                    <a:srgbClr val="0000FF"/>
                  </a:solidFill>
                  <a:round/>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8" name="Line 31"/>
                <p:cNvSpPr>
                  <a:spLocks noChangeShapeType="1"/>
                </p:cNvSpPr>
                <p:nvPr/>
              </p:nvSpPr>
              <p:spPr bwMode="auto">
                <a:xfrm>
                  <a:off x="3648" y="816"/>
                  <a:ext cx="240" cy="384"/>
                </a:xfrm>
                <a:prstGeom prst="line">
                  <a:avLst/>
                </a:prstGeom>
                <a:noFill/>
                <a:ln w="19050" cap="sq">
                  <a:solidFill>
                    <a:srgbClr val="0000FF"/>
                  </a:solidFill>
                  <a:round/>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9" name="Line 32"/>
                <p:cNvSpPr>
                  <a:spLocks noChangeShapeType="1"/>
                </p:cNvSpPr>
                <p:nvPr/>
              </p:nvSpPr>
              <p:spPr bwMode="auto">
                <a:xfrm flipH="1">
                  <a:off x="4656" y="816"/>
                  <a:ext cx="240" cy="384"/>
                </a:xfrm>
                <a:prstGeom prst="line">
                  <a:avLst/>
                </a:prstGeom>
                <a:noFill/>
                <a:ln w="19050" cap="sq">
                  <a:solidFill>
                    <a:srgbClr val="0000FF"/>
                  </a:solidFill>
                  <a:round/>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0" name="Line 33"/>
                <p:cNvSpPr>
                  <a:spLocks noChangeShapeType="1"/>
                </p:cNvSpPr>
                <p:nvPr/>
              </p:nvSpPr>
              <p:spPr bwMode="auto">
                <a:xfrm>
                  <a:off x="5184" y="816"/>
                  <a:ext cx="240" cy="384"/>
                </a:xfrm>
                <a:prstGeom prst="line">
                  <a:avLst/>
                </a:prstGeom>
                <a:noFill/>
                <a:ln w="19050" cap="sq">
                  <a:solidFill>
                    <a:srgbClr val="0000FF"/>
                  </a:solidFill>
                  <a:round/>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1" name="Line 34"/>
                <p:cNvSpPr>
                  <a:spLocks noChangeShapeType="1"/>
                </p:cNvSpPr>
                <p:nvPr/>
              </p:nvSpPr>
              <p:spPr bwMode="auto">
                <a:xfrm flipH="1">
                  <a:off x="2928" y="1296"/>
                  <a:ext cx="48" cy="384"/>
                </a:xfrm>
                <a:prstGeom prst="line">
                  <a:avLst/>
                </a:prstGeom>
                <a:noFill/>
                <a:ln w="19050" cap="sq">
                  <a:solidFill>
                    <a:srgbClr val="0000FF"/>
                  </a:solidFill>
                  <a:round/>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2" name="Line 35"/>
                <p:cNvSpPr>
                  <a:spLocks noChangeShapeType="1"/>
                </p:cNvSpPr>
                <p:nvPr/>
              </p:nvSpPr>
              <p:spPr bwMode="auto">
                <a:xfrm>
                  <a:off x="3264" y="1296"/>
                  <a:ext cx="48" cy="384"/>
                </a:xfrm>
                <a:prstGeom prst="line">
                  <a:avLst/>
                </a:prstGeom>
                <a:noFill/>
                <a:ln w="19050" cap="sq">
                  <a:solidFill>
                    <a:srgbClr val="0000FF"/>
                  </a:solidFill>
                  <a:round/>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3" name="Line 36"/>
                <p:cNvSpPr>
                  <a:spLocks noChangeShapeType="1"/>
                </p:cNvSpPr>
                <p:nvPr/>
              </p:nvSpPr>
              <p:spPr bwMode="auto">
                <a:xfrm flipH="1">
                  <a:off x="3696" y="1296"/>
                  <a:ext cx="48" cy="384"/>
                </a:xfrm>
                <a:prstGeom prst="line">
                  <a:avLst/>
                </a:prstGeom>
                <a:noFill/>
                <a:ln w="19050" cap="sq">
                  <a:solidFill>
                    <a:srgbClr val="0000FF"/>
                  </a:solidFill>
                  <a:round/>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4" name="Line 37"/>
                <p:cNvSpPr>
                  <a:spLocks noChangeShapeType="1"/>
                </p:cNvSpPr>
                <p:nvPr/>
              </p:nvSpPr>
              <p:spPr bwMode="auto">
                <a:xfrm>
                  <a:off x="4032" y="1296"/>
                  <a:ext cx="48" cy="384"/>
                </a:xfrm>
                <a:prstGeom prst="line">
                  <a:avLst/>
                </a:prstGeom>
                <a:noFill/>
                <a:ln w="19050" cap="sq">
                  <a:solidFill>
                    <a:srgbClr val="0000FF"/>
                  </a:solidFill>
                  <a:round/>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5" name="Line 38"/>
                <p:cNvSpPr>
                  <a:spLocks noChangeShapeType="1"/>
                </p:cNvSpPr>
                <p:nvPr/>
              </p:nvSpPr>
              <p:spPr bwMode="auto">
                <a:xfrm flipH="1">
                  <a:off x="4464" y="1296"/>
                  <a:ext cx="48" cy="384"/>
                </a:xfrm>
                <a:prstGeom prst="line">
                  <a:avLst/>
                </a:prstGeom>
                <a:noFill/>
                <a:ln w="19050" cap="sq">
                  <a:solidFill>
                    <a:srgbClr val="0000FF"/>
                  </a:solidFill>
                  <a:round/>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6" name="Line 39"/>
                <p:cNvSpPr>
                  <a:spLocks noChangeShapeType="1"/>
                </p:cNvSpPr>
                <p:nvPr/>
              </p:nvSpPr>
              <p:spPr bwMode="auto">
                <a:xfrm>
                  <a:off x="4800" y="1296"/>
                  <a:ext cx="48" cy="384"/>
                </a:xfrm>
                <a:prstGeom prst="line">
                  <a:avLst/>
                </a:prstGeom>
                <a:noFill/>
                <a:ln w="19050" cap="sq">
                  <a:solidFill>
                    <a:srgbClr val="0000FF"/>
                  </a:solidFill>
                  <a:round/>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7" name="Line 40"/>
                <p:cNvSpPr>
                  <a:spLocks noChangeShapeType="1"/>
                </p:cNvSpPr>
                <p:nvPr/>
              </p:nvSpPr>
              <p:spPr bwMode="auto">
                <a:xfrm flipH="1">
                  <a:off x="5232" y="1296"/>
                  <a:ext cx="48" cy="384"/>
                </a:xfrm>
                <a:prstGeom prst="line">
                  <a:avLst/>
                </a:prstGeom>
                <a:noFill/>
                <a:ln w="19050" cap="sq">
                  <a:solidFill>
                    <a:srgbClr val="0000FF"/>
                  </a:solidFill>
                  <a:round/>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8" name="Line 41"/>
                <p:cNvSpPr>
                  <a:spLocks noChangeShapeType="1"/>
                </p:cNvSpPr>
                <p:nvPr/>
              </p:nvSpPr>
              <p:spPr bwMode="auto">
                <a:xfrm>
                  <a:off x="5568" y="1296"/>
                  <a:ext cx="48" cy="384"/>
                </a:xfrm>
                <a:prstGeom prst="line">
                  <a:avLst/>
                </a:prstGeom>
                <a:noFill/>
                <a:ln w="19050" cap="sq">
                  <a:solidFill>
                    <a:srgbClr val="0000FF"/>
                  </a:solidFill>
                  <a:round/>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sp>
          <p:nvSpPr>
            <p:cNvPr id="62" name="Oval 42"/>
            <p:cNvSpPr>
              <a:spLocks noChangeArrowheads="1"/>
            </p:cNvSpPr>
            <p:nvPr/>
          </p:nvSpPr>
          <p:spPr bwMode="auto">
            <a:xfrm>
              <a:off x="1442" y="1661"/>
              <a:ext cx="263" cy="272"/>
            </a:xfrm>
            <a:prstGeom prst="ellipse">
              <a:avLst/>
            </a:prstGeom>
            <a:noFill/>
            <a:ln w="57150">
              <a:solidFill>
                <a:srgbClr val="0000FF"/>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None/>
              </a:pPr>
              <a:endParaRPr lang="zh-CN" altLang="en-US" sz="2800">
                <a:solidFill>
                  <a:srgbClr val="0000FF"/>
                </a:solidFill>
                <a:latin typeface="Constantia" pitchFamily="18" charset="0"/>
              </a:endParaRPr>
            </a:p>
          </p:txBody>
        </p:sp>
        <p:sp>
          <p:nvSpPr>
            <p:cNvPr id="63" name="Oval 43"/>
            <p:cNvSpPr>
              <a:spLocks noChangeArrowheads="1"/>
            </p:cNvSpPr>
            <p:nvPr/>
          </p:nvSpPr>
          <p:spPr bwMode="auto">
            <a:xfrm>
              <a:off x="2394" y="1207"/>
              <a:ext cx="272" cy="238"/>
            </a:xfrm>
            <a:prstGeom prst="ellipse">
              <a:avLst/>
            </a:prstGeom>
            <a:noFill/>
            <a:ln w="76200">
              <a:solidFill>
                <a:srgbClr val="FF3300"/>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None/>
              </a:pPr>
              <a:endParaRPr lang="zh-CN" altLang="en-US" sz="2800">
                <a:solidFill>
                  <a:srgbClr val="0000FF"/>
                </a:solidFill>
                <a:latin typeface="Constantia" pitchFamily="18" charset="0"/>
              </a:endParaRPr>
            </a:p>
          </p:txBody>
        </p:sp>
        <p:sp>
          <p:nvSpPr>
            <p:cNvPr id="64" name="Oval 44"/>
            <p:cNvSpPr>
              <a:spLocks noChangeArrowheads="1"/>
            </p:cNvSpPr>
            <p:nvPr/>
          </p:nvSpPr>
          <p:spPr bwMode="auto">
            <a:xfrm>
              <a:off x="1623" y="1207"/>
              <a:ext cx="272" cy="238"/>
            </a:xfrm>
            <a:prstGeom prst="ellipse">
              <a:avLst/>
            </a:prstGeom>
            <a:noFill/>
            <a:ln w="76200">
              <a:solidFill>
                <a:srgbClr val="FF3300"/>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None/>
              </a:pPr>
              <a:endParaRPr lang="zh-CN" altLang="en-US" sz="2800">
                <a:solidFill>
                  <a:srgbClr val="0000FF"/>
                </a:solidFill>
                <a:latin typeface="Constantia" pitchFamily="18" charset="0"/>
              </a:endParaRPr>
            </a:p>
          </p:txBody>
        </p:sp>
        <p:sp>
          <p:nvSpPr>
            <p:cNvPr id="65" name="Oval 45"/>
            <p:cNvSpPr>
              <a:spLocks noChangeArrowheads="1"/>
            </p:cNvSpPr>
            <p:nvPr/>
          </p:nvSpPr>
          <p:spPr bwMode="auto">
            <a:xfrm>
              <a:off x="1850" y="1661"/>
              <a:ext cx="263" cy="272"/>
            </a:xfrm>
            <a:prstGeom prst="ellipse">
              <a:avLst/>
            </a:prstGeom>
            <a:noFill/>
            <a:ln w="57150">
              <a:solidFill>
                <a:srgbClr val="0000FF"/>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None/>
              </a:pPr>
              <a:endParaRPr lang="zh-CN" altLang="en-US" sz="2800">
                <a:solidFill>
                  <a:srgbClr val="0000FF"/>
                </a:solidFill>
                <a:latin typeface="Constantia" pitchFamily="18" charset="0"/>
              </a:endParaRPr>
            </a:p>
          </p:txBody>
        </p:sp>
        <p:sp>
          <p:nvSpPr>
            <p:cNvPr id="66" name="Oval 46"/>
            <p:cNvSpPr>
              <a:spLocks noChangeArrowheads="1"/>
            </p:cNvSpPr>
            <p:nvPr/>
          </p:nvSpPr>
          <p:spPr bwMode="auto">
            <a:xfrm>
              <a:off x="2213" y="1661"/>
              <a:ext cx="272" cy="272"/>
            </a:xfrm>
            <a:prstGeom prst="ellipse">
              <a:avLst/>
            </a:prstGeom>
            <a:noFill/>
            <a:ln w="57150">
              <a:solidFill>
                <a:srgbClr val="0000FF"/>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None/>
              </a:pPr>
              <a:endParaRPr lang="zh-CN" altLang="en-US" sz="2800">
                <a:solidFill>
                  <a:srgbClr val="0000FF"/>
                </a:solidFill>
                <a:latin typeface="Constantia" pitchFamily="18" charset="0"/>
              </a:endParaRPr>
            </a:p>
          </p:txBody>
        </p:sp>
        <p:sp>
          <p:nvSpPr>
            <p:cNvPr id="67" name="Oval 47"/>
            <p:cNvSpPr>
              <a:spLocks noChangeArrowheads="1"/>
            </p:cNvSpPr>
            <p:nvPr/>
          </p:nvSpPr>
          <p:spPr bwMode="auto">
            <a:xfrm>
              <a:off x="2576" y="1661"/>
              <a:ext cx="308" cy="272"/>
            </a:xfrm>
            <a:prstGeom prst="ellipse">
              <a:avLst/>
            </a:prstGeom>
            <a:noFill/>
            <a:ln w="57150">
              <a:solidFill>
                <a:srgbClr val="0000FF"/>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None/>
              </a:pPr>
              <a:endParaRPr lang="zh-CN" altLang="en-US" sz="2800">
                <a:solidFill>
                  <a:srgbClr val="0000FF"/>
                </a:solidFill>
                <a:latin typeface="Constantia" pitchFamily="18" charset="0"/>
              </a:endParaRPr>
            </a:p>
          </p:txBody>
        </p:sp>
        <p:sp>
          <p:nvSpPr>
            <p:cNvPr id="68" name="Oval 48"/>
            <p:cNvSpPr>
              <a:spLocks noChangeArrowheads="1"/>
            </p:cNvSpPr>
            <p:nvPr/>
          </p:nvSpPr>
          <p:spPr bwMode="auto">
            <a:xfrm>
              <a:off x="2041" y="709"/>
              <a:ext cx="263" cy="272"/>
            </a:xfrm>
            <a:prstGeom prst="ellipse">
              <a:avLst/>
            </a:prstGeom>
            <a:noFill/>
            <a:ln w="57150">
              <a:solidFill>
                <a:srgbClr val="006600"/>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None/>
              </a:pPr>
              <a:endParaRPr lang="zh-CN" altLang="en-US" sz="2800">
                <a:solidFill>
                  <a:srgbClr val="0000FF"/>
                </a:solidFill>
                <a:latin typeface="Constantia" pitchFamily="18" charset="0"/>
              </a:endParaRPr>
            </a:p>
          </p:txBody>
        </p:sp>
      </p:grpSp>
      <p:sp>
        <p:nvSpPr>
          <p:cNvPr id="99" name="Text Box 26"/>
          <p:cNvSpPr txBox="1">
            <a:spLocks noChangeArrowheads="1"/>
          </p:cNvSpPr>
          <p:nvPr/>
        </p:nvSpPr>
        <p:spPr bwMode="auto">
          <a:xfrm>
            <a:off x="533400" y="5845175"/>
            <a:ext cx="8197850" cy="708025"/>
          </a:xfrm>
          <a:prstGeom prst="rect">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sm" len="sm"/>
            <a:tailEnd type="none" w="sm" len="sm"/>
          </a:ln>
          <a:effectLst>
            <a:outerShdw blurRad="40000" dist="20000" dir="5400000" rotWithShape="0">
              <a:srgbClr val="000000">
                <a:alpha val="38000"/>
              </a:srgbClr>
            </a:outerShdw>
          </a:effectLst>
        </p:spPr>
        <p:txBody>
          <a:bodyPr>
            <a:spAutoFit/>
          </a:bodyPr>
          <a:lstStyle/>
          <a:p>
            <a:pPr marL="95250" marR="0" lvl="0" indent="285750" defTabSz="914400" eaLnBrk="1" fontAlgn="base" latinLnBrk="0" hangingPunct="1">
              <a:lnSpc>
                <a:spcPct val="125000"/>
              </a:lnSpc>
              <a:spcBef>
                <a:spcPct val="0"/>
              </a:spcBef>
              <a:spcAft>
                <a:spcPct val="0"/>
              </a:spcAft>
              <a:buClrTx/>
              <a:buSzTx/>
              <a:buFontTx/>
              <a:buNone/>
              <a:tabLst/>
              <a:defRPr/>
            </a:pPr>
            <a:r>
              <a:rPr kumimoji="1" lang="zh-CN" altLang="en-US" sz="3200" b="1" i="0" u="none" strike="noStrike" kern="0" cap="none" spc="0" normalizeH="0" baseline="0" noProof="0" dirty="0">
                <a:ln>
                  <a:noFill/>
                </a:ln>
                <a:solidFill>
                  <a:srgbClr val="0707F9"/>
                </a:solidFill>
                <a:effectLst/>
                <a:uLnTx/>
                <a:uFillTx/>
                <a:latin typeface="华文隶书" pitchFamily="2" charset="-122"/>
                <a:ea typeface="华文隶书" pitchFamily="2" charset="-122"/>
                <a:cs typeface="+mn-cs"/>
              </a:rPr>
              <a:t>通过性质</a:t>
            </a:r>
            <a:r>
              <a:rPr kumimoji="1" lang="en-US" altLang="zh-CN" sz="3200" b="1" i="0" u="none" strike="noStrike" kern="0" cap="none" spc="0" normalizeH="0" baseline="0" noProof="0" dirty="0">
                <a:ln>
                  <a:noFill/>
                </a:ln>
                <a:solidFill>
                  <a:srgbClr val="0707F9"/>
                </a:solidFill>
                <a:effectLst/>
                <a:uLnTx/>
                <a:uFillTx/>
                <a:latin typeface="华文隶书" pitchFamily="2" charset="-122"/>
                <a:ea typeface="华文隶书" pitchFamily="2" charset="-122"/>
                <a:cs typeface="+mn-cs"/>
              </a:rPr>
              <a:t>5</a:t>
            </a:r>
            <a:r>
              <a:rPr kumimoji="1" lang="zh-CN" altLang="en-US" sz="3200" b="1" i="0" u="none" strike="noStrike" kern="0" cap="none" spc="0" normalizeH="0" baseline="0" noProof="0" dirty="0">
                <a:ln>
                  <a:noFill/>
                </a:ln>
                <a:solidFill>
                  <a:srgbClr val="0707F9"/>
                </a:solidFill>
                <a:effectLst/>
                <a:uLnTx/>
                <a:uFillTx/>
                <a:latin typeface="华文隶书" pitchFamily="2" charset="-122"/>
                <a:ea typeface="华文隶书" pitchFamily="2" charset="-122"/>
                <a:cs typeface="+mn-cs"/>
              </a:rPr>
              <a:t>把</a:t>
            </a:r>
            <a:r>
              <a:rPr kumimoji="1" lang="zh-CN" altLang="en-US" sz="3200" b="1" i="0" u="none" strike="noStrike" kern="0" cap="none" spc="0" normalizeH="0" baseline="0" noProof="0" dirty="0">
                <a:ln>
                  <a:noFill/>
                </a:ln>
                <a:solidFill>
                  <a:srgbClr val="FF0000"/>
                </a:solidFill>
                <a:effectLst/>
                <a:uLnTx/>
                <a:uFillTx/>
                <a:latin typeface="华文隶书" pitchFamily="2" charset="-122"/>
                <a:ea typeface="华文隶书" pitchFamily="2" charset="-122"/>
                <a:cs typeface="+mn-cs"/>
              </a:rPr>
              <a:t>非线性结构</a:t>
            </a:r>
            <a:r>
              <a:rPr kumimoji="1" lang="zh-CN" altLang="en-US" sz="3200" b="1" i="0" u="none" strike="noStrike" kern="0" cap="none" spc="0" normalizeH="0" baseline="0" noProof="0" dirty="0">
                <a:ln>
                  <a:noFill/>
                </a:ln>
                <a:solidFill>
                  <a:srgbClr val="0707F9"/>
                </a:solidFill>
                <a:effectLst/>
                <a:uLnTx/>
                <a:uFillTx/>
                <a:latin typeface="华文隶书" pitchFamily="2" charset="-122"/>
                <a:ea typeface="华文隶书" pitchFamily="2" charset="-122"/>
                <a:cs typeface="+mn-cs"/>
              </a:rPr>
              <a:t>转化成了</a:t>
            </a:r>
            <a:r>
              <a:rPr kumimoji="1" lang="zh-CN" altLang="en-US" sz="3200" b="1" i="0" u="none" strike="noStrike" kern="0" cap="none" spc="0" normalizeH="0" baseline="0" noProof="0" dirty="0">
                <a:ln>
                  <a:noFill/>
                </a:ln>
                <a:solidFill>
                  <a:srgbClr val="FF0000"/>
                </a:solidFill>
                <a:effectLst/>
                <a:uLnTx/>
                <a:uFillTx/>
                <a:latin typeface="华文隶书" pitchFamily="2" charset="-122"/>
                <a:ea typeface="华文隶书" pitchFamily="2" charset="-122"/>
                <a:cs typeface="+mn-cs"/>
              </a:rPr>
              <a:t>线性结构</a:t>
            </a:r>
            <a:endParaRPr kumimoji="1" lang="zh-CN" altLang="en-US" sz="3200" b="1" i="0" u="none" strike="noStrike" kern="0" cap="none" spc="0" normalizeH="0" baseline="0" noProof="0" dirty="0">
              <a:ln>
                <a:noFill/>
              </a:ln>
              <a:solidFill>
                <a:srgbClr val="0707F9"/>
              </a:solidFill>
              <a:effectLst/>
              <a:uLnTx/>
              <a:uFillTx/>
              <a:latin typeface="华文隶书" pitchFamily="2" charset="-122"/>
              <a:ea typeface="华文隶书" pitchFamily="2" charset="-122"/>
              <a:cs typeface="+mn-cs"/>
            </a:endParaRPr>
          </a:p>
        </p:txBody>
      </p:sp>
    </p:spTree>
    <p:extLst>
      <p:ext uri="{BB962C8B-B14F-4D97-AF65-F5344CB8AC3E}">
        <p14:creationId xmlns:p14="http://schemas.microsoft.com/office/powerpoint/2010/main" val="3158362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6" grpId="0" animBg="1"/>
      <p:bldP spid="59" grpId="0" animBg="1"/>
      <p:bldP spid="9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5.2.3 </a:t>
            </a:r>
            <a:r>
              <a:rPr kumimoji="1" lang="zh-CN" altLang="en-US" sz="3200" b="1" dirty="0">
                <a:latin typeface="Arial" charset="0"/>
                <a:ea typeface="宋体" charset="-122"/>
                <a:cs typeface="+mn-cs"/>
              </a:rPr>
              <a:t>二叉树的存储结构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endParaRPr lang="en-US" altLang="zh-CN" sz="2800" b="1" dirty="0"/>
          </a:p>
        </p:txBody>
      </p:sp>
      <p:sp>
        <p:nvSpPr>
          <p:cNvPr id="4" name="日期占位符 3"/>
          <p:cNvSpPr>
            <a:spLocks noGrp="1"/>
          </p:cNvSpPr>
          <p:nvPr>
            <p:ph type="dt" sz="half" idx="10"/>
          </p:nvPr>
        </p:nvSpPr>
        <p:spPr/>
        <p:txBody>
          <a:bodyPr/>
          <a:lstStyle/>
          <a:p>
            <a:fld id="{4F072401-115D-49E9-8014-2C94ECFF6AA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35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34" name="Text Box 3">
            <a:hlinkClick r:id="rId4" action="ppaction://hlinksldjump"/>
          </p:cNvPr>
          <p:cNvSpPr txBox="1">
            <a:spLocks noChangeArrowheads="1"/>
          </p:cNvSpPr>
          <p:nvPr/>
        </p:nvSpPr>
        <p:spPr bwMode="auto">
          <a:xfrm>
            <a:off x="1130300" y="3068638"/>
            <a:ext cx="5816600" cy="750887"/>
          </a:xfrm>
          <a:prstGeom prst="rect">
            <a:avLst/>
          </a:prstGeom>
          <a:noFill/>
          <a:ln w="12700" cap="sq">
            <a:noFill/>
            <a:miter lim="800000"/>
            <a:headEnd type="none" w="sm" len="sm"/>
            <a:tailEnd type="none" w="sm" len="sm"/>
          </a:ln>
        </p:spPr>
        <p:txBody>
          <a:bodyPr>
            <a:spAutoFit/>
          </a:bodyPr>
          <a:lstStyle/>
          <a:p>
            <a:pPr fontAlgn="base">
              <a:lnSpc>
                <a:spcPct val="120000"/>
              </a:lnSpc>
              <a:spcBef>
                <a:spcPct val="0"/>
              </a:spcBef>
              <a:spcAft>
                <a:spcPct val="0"/>
              </a:spcAft>
              <a:buFont typeface="Wingdings" pitchFamily="2" charset="2"/>
              <a:buChar char="p"/>
            </a:pPr>
            <a:r>
              <a:rPr kumimoji="1" lang="zh-CN" altLang="en-US" sz="3600" b="1" dirty="0">
                <a:solidFill>
                  <a:srgbClr val="0707F9"/>
                </a:solidFill>
                <a:latin typeface="楷体_GB2312" pitchFamily="49" charset="-122"/>
              </a:rPr>
              <a:t> 二叉树的链式存储表示</a:t>
            </a:r>
            <a:endParaRPr kumimoji="1" lang="zh-CN" altLang="en-US" sz="5400" dirty="0">
              <a:solidFill>
                <a:srgbClr val="0707F9"/>
              </a:solidFill>
              <a:latin typeface="Times New Roman" pitchFamily="18" charset="0"/>
            </a:endParaRPr>
          </a:p>
        </p:txBody>
      </p:sp>
      <p:sp>
        <p:nvSpPr>
          <p:cNvPr id="35" name="Text Box 4">
            <a:hlinkClick r:id="" action="ppaction://hlinkshowjump?jump=nextslide"/>
          </p:cNvPr>
          <p:cNvSpPr txBox="1">
            <a:spLocks noChangeArrowheads="1"/>
          </p:cNvSpPr>
          <p:nvPr/>
        </p:nvSpPr>
        <p:spPr bwMode="auto">
          <a:xfrm>
            <a:off x="1052513" y="1989138"/>
            <a:ext cx="7410450" cy="750887"/>
          </a:xfrm>
          <a:prstGeom prst="rect">
            <a:avLst/>
          </a:prstGeom>
          <a:noFill/>
          <a:ln w="12700" cap="sq">
            <a:noFill/>
            <a:miter lim="800000"/>
            <a:headEnd type="none" w="sm" len="sm"/>
            <a:tailEnd type="none" w="sm" len="sm"/>
          </a:ln>
        </p:spPr>
        <p:txBody>
          <a:bodyPr>
            <a:spAutoFit/>
          </a:bodyPr>
          <a:lstStyle/>
          <a:p>
            <a:pPr fontAlgn="base">
              <a:lnSpc>
                <a:spcPct val="120000"/>
              </a:lnSpc>
              <a:spcBef>
                <a:spcPct val="0"/>
              </a:spcBef>
              <a:spcAft>
                <a:spcPct val="0"/>
              </a:spcAft>
              <a:buFont typeface="Wingdings" pitchFamily="2" charset="2"/>
              <a:buChar char="p"/>
            </a:pPr>
            <a:r>
              <a:rPr kumimoji="1" lang="zh-CN" altLang="en-US" sz="3600" b="1" dirty="0">
                <a:solidFill>
                  <a:srgbClr val="0707F9"/>
                </a:solidFill>
                <a:latin typeface="宋体" pitchFamily="2" charset="-122"/>
              </a:rPr>
              <a:t> 二叉树的顺序存储表示</a:t>
            </a:r>
            <a:endParaRPr kumimoji="1" lang="zh-CN" altLang="en-US" sz="2400" b="1" dirty="0">
              <a:solidFill>
                <a:srgbClr val="0707F9"/>
              </a:solidFill>
              <a:latin typeface="宋体" pitchFamily="2" charset="-122"/>
            </a:endParaRPr>
          </a:p>
        </p:txBody>
      </p:sp>
      <p:pic>
        <p:nvPicPr>
          <p:cNvPr id="36" name="Picture 6"/>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273050" y="5084763"/>
            <a:ext cx="1298575" cy="1152525"/>
          </a:xfrm>
          <a:prstGeom prst="rect">
            <a:avLst/>
          </a:prstGeom>
          <a:noFill/>
          <a:ln w="9525">
            <a:noFill/>
            <a:miter lim="800000"/>
            <a:headEnd/>
            <a:tailEnd/>
          </a:ln>
        </p:spPr>
      </p:pic>
    </p:spTree>
    <p:extLst>
      <p:ext uri="{BB962C8B-B14F-4D97-AF65-F5344CB8AC3E}">
        <p14:creationId xmlns:p14="http://schemas.microsoft.com/office/powerpoint/2010/main" val="14574386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5.2.3 </a:t>
            </a:r>
            <a:r>
              <a:rPr kumimoji="1" lang="zh-CN" altLang="en-US" sz="3200" b="1" dirty="0">
                <a:latin typeface="Arial" charset="0"/>
                <a:ea typeface="宋体" charset="-122"/>
                <a:cs typeface="+mn-cs"/>
              </a:rPr>
              <a:t>二叉树的存储结构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r>
              <a:rPr lang="zh-CN" altLang="en-US" sz="2800" b="1" dirty="0"/>
              <a:t>二叉树的顺序存储表示</a:t>
            </a:r>
            <a:endParaRPr lang="en-US" altLang="zh-CN" sz="2800" b="1" dirty="0"/>
          </a:p>
        </p:txBody>
      </p:sp>
      <p:sp>
        <p:nvSpPr>
          <p:cNvPr id="4" name="日期占位符 3"/>
          <p:cNvSpPr>
            <a:spLocks noGrp="1"/>
          </p:cNvSpPr>
          <p:nvPr>
            <p:ph type="dt" sz="half" idx="10"/>
          </p:nvPr>
        </p:nvSpPr>
        <p:spPr/>
        <p:txBody>
          <a:bodyPr/>
          <a:lstStyle/>
          <a:p>
            <a:fld id="{D2F23C14-6587-4816-AA83-ACC8146B900D}"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36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5" name="Text Box 2"/>
          <p:cNvSpPr txBox="1">
            <a:spLocks noChangeArrowheads="1"/>
          </p:cNvSpPr>
          <p:nvPr/>
        </p:nvSpPr>
        <p:spPr bwMode="auto">
          <a:xfrm>
            <a:off x="0" y="1757362"/>
            <a:ext cx="5648325" cy="478850"/>
          </a:xfrm>
          <a:prstGeom prst="rect">
            <a:avLst/>
          </a:prstGeom>
          <a:noFill/>
          <a:ln w="9525">
            <a:noFill/>
            <a:miter lim="800000"/>
            <a:headEnd/>
            <a:tailEnd/>
          </a:ln>
        </p:spPr>
        <p:txBody>
          <a:bodyPr lIns="90000" tIns="46800" rIns="90000" bIns="46800">
            <a:spAutoFit/>
          </a:bodyPr>
          <a:lstStyle/>
          <a:p>
            <a:pPr fontAlgn="base">
              <a:lnSpc>
                <a:spcPct val="120000"/>
              </a:lnSpc>
              <a:spcBef>
                <a:spcPct val="0"/>
              </a:spcBef>
              <a:spcAft>
                <a:spcPct val="0"/>
              </a:spcAft>
            </a:pPr>
            <a:r>
              <a:rPr kumimoji="1" lang="zh-CN" altLang="en-US" sz="2400" dirty="0">
                <a:solidFill>
                  <a:srgbClr val="FFFFFF"/>
                </a:solidFill>
                <a:latin typeface="宋体" pitchFamily="2" charset="-122"/>
              </a:rPr>
              <a:t>  </a:t>
            </a:r>
            <a:r>
              <a:rPr kumimoji="1" lang="en-US" altLang="zh-CN" sz="2400" b="1" dirty="0">
                <a:solidFill>
                  <a:srgbClr val="0707F9"/>
                </a:solidFill>
                <a:latin typeface="宋体" pitchFamily="2" charset="-122"/>
              </a:rPr>
              <a:t>(1)</a:t>
            </a:r>
            <a:r>
              <a:rPr kumimoji="1" lang="zh-CN" altLang="en-US" sz="2400" b="1" dirty="0">
                <a:solidFill>
                  <a:srgbClr val="0707F9"/>
                </a:solidFill>
                <a:latin typeface="宋体" pitchFamily="2" charset="-122"/>
              </a:rPr>
              <a:t>完全（或满）二叉树</a:t>
            </a:r>
          </a:p>
        </p:txBody>
      </p:sp>
      <p:grpSp>
        <p:nvGrpSpPr>
          <p:cNvPr id="16" name="Group 3"/>
          <p:cNvGrpSpPr>
            <a:grpSpLocks/>
          </p:cNvGrpSpPr>
          <p:nvPr/>
        </p:nvGrpSpPr>
        <p:grpSpPr bwMode="auto">
          <a:xfrm>
            <a:off x="5949950" y="3309937"/>
            <a:ext cx="2630488" cy="2211388"/>
            <a:chOff x="4184" y="1200"/>
            <a:chExt cx="1096" cy="1056"/>
          </a:xfrm>
        </p:grpSpPr>
        <p:sp>
          <p:nvSpPr>
            <p:cNvPr id="17" name="Oval 4"/>
            <p:cNvSpPr>
              <a:spLocks noChangeArrowheads="1"/>
            </p:cNvSpPr>
            <p:nvPr/>
          </p:nvSpPr>
          <p:spPr bwMode="auto">
            <a:xfrm>
              <a:off x="4712" y="120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宋体" pitchFamily="2" charset="-122"/>
                </a:rPr>
                <a:t>A</a:t>
              </a:r>
            </a:p>
          </p:txBody>
        </p:sp>
        <p:sp>
          <p:nvSpPr>
            <p:cNvPr id="19" name="Oval 5"/>
            <p:cNvSpPr>
              <a:spLocks noChangeArrowheads="1"/>
            </p:cNvSpPr>
            <p:nvPr/>
          </p:nvSpPr>
          <p:spPr bwMode="auto">
            <a:xfrm>
              <a:off x="4509" y="1448"/>
              <a:ext cx="136" cy="136"/>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宋体" pitchFamily="2" charset="-122"/>
                </a:rPr>
                <a:t>B</a:t>
              </a:r>
            </a:p>
          </p:txBody>
        </p:sp>
        <p:sp>
          <p:nvSpPr>
            <p:cNvPr id="20" name="Oval 6"/>
            <p:cNvSpPr>
              <a:spLocks noChangeArrowheads="1"/>
            </p:cNvSpPr>
            <p:nvPr/>
          </p:nvSpPr>
          <p:spPr bwMode="auto">
            <a:xfrm>
              <a:off x="4896" y="1448"/>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宋体" pitchFamily="2" charset="-122"/>
                </a:rPr>
                <a:t>C</a:t>
              </a:r>
            </a:p>
          </p:txBody>
        </p:sp>
        <p:sp>
          <p:nvSpPr>
            <p:cNvPr id="21" name="Oval 7"/>
            <p:cNvSpPr>
              <a:spLocks noChangeArrowheads="1"/>
            </p:cNvSpPr>
            <p:nvPr/>
          </p:nvSpPr>
          <p:spPr bwMode="auto">
            <a:xfrm>
              <a:off x="4328" y="1784"/>
              <a:ext cx="136" cy="136"/>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宋体" pitchFamily="2" charset="-122"/>
                </a:rPr>
                <a:t>D</a:t>
              </a:r>
            </a:p>
          </p:txBody>
        </p:sp>
        <p:sp>
          <p:nvSpPr>
            <p:cNvPr id="22" name="Oval 8"/>
            <p:cNvSpPr>
              <a:spLocks noChangeArrowheads="1"/>
            </p:cNvSpPr>
            <p:nvPr/>
          </p:nvSpPr>
          <p:spPr bwMode="auto">
            <a:xfrm>
              <a:off x="4656" y="1784"/>
              <a:ext cx="136" cy="136"/>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宋体" pitchFamily="2" charset="-122"/>
                </a:rPr>
                <a:t>E</a:t>
              </a:r>
            </a:p>
          </p:txBody>
        </p:sp>
        <p:sp>
          <p:nvSpPr>
            <p:cNvPr id="23" name="Oval 9"/>
            <p:cNvSpPr>
              <a:spLocks noChangeArrowheads="1"/>
            </p:cNvSpPr>
            <p:nvPr/>
          </p:nvSpPr>
          <p:spPr bwMode="auto">
            <a:xfrm>
              <a:off x="4848" y="1784"/>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宋体" pitchFamily="2" charset="-122"/>
                </a:rPr>
                <a:t>F</a:t>
              </a:r>
            </a:p>
          </p:txBody>
        </p:sp>
        <p:sp>
          <p:nvSpPr>
            <p:cNvPr id="24" name="Oval 10"/>
            <p:cNvSpPr>
              <a:spLocks noChangeArrowheads="1"/>
            </p:cNvSpPr>
            <p:nvPr/>
          </p:nvSpPr>
          <p:spPr bwMode="auto">
            <a:xfrm>
              <a:off x="5144" y="1776"/>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宋体" pitchFamily="2" charset="-122"/>
                </a:rPr>
                <a:t>G</a:t>
              </a:r>
            </a:p>
          </p:txBody>
        </p:sp>
        <p:sp>
          <p:nvSpPr>
            <p:cNvPr id="25" name="Oval 11"/>
            <p:cNvSpPr>
              <a:spLocks noChangeArrowheads="1"/>
            </p:cNvSpPr>
            <p:nvPr/>
          </p:nvSpPr>
          <p:spPr bwMode="auto">
            <a:xfrm>
              <a:off x="4416" y="212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宋体" pitchFamily="2" charset="-122"/>
                </a:rPr>
                <a:t>I</a:t>
              </a:r>
            </a:p>
          </p:txBody>
        </p:sp>
        <p:sp>
          <p:nvSpPr>
            <p:cNvPr id="26" name="Oval 12"/>
            <p:cNvSpPr>
              <a:spLocks noChangeArrowheads="1"/>
            </p:cNvSpPr>
            <p:nvPr/>
          </p:nvSpPr>
          <p:spPr bwMode="auto">
            <a:xfrm>
              <a:off x="4184" y="212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宋体" pitchFamily="2" charset="-122"/>
                </a:rPr>
                <a:t>H</a:t>
              </a:r>
            </a:p>
          </p:txBody>
        </p:sp>
        <p:sp>
          <p:nvSpPr>
            <p:cNvPr id="27" name="Line 13"/>
            <p:cNvSpPr>
              <a:spLocks noChangeShapeType="1"/>
            </p:cNvSpPr>
            <p:nvPr/>
          </p:nvSpPr>
          <p:spPr bwMode="auto">
            <a:xfrm flipH="1">
              <a:off x="4608" y="1344"/>
              <a:ext cx="144" cy="96"/>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Line 14"/>
            <p:cNvSpPr>
              <a:spLocks noChangeShapeType="1"/>
            </p:cNvSpPr>
            <p:nvPr/>
          </p:nvSpPr>
          <p:spPr bwMode="auto">
            <a:xfrm>
              <a:off x="4800" y="1344"/>
              <a:ext cx="144" cy="96"/>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Line 15"/>
            <p:cNvSpPr>
              <a:spLocks noChangeShapeType="1"/>
            </p:cNvSpPr>
            <p:nvPr/>
          </p:nvSpPr>
          <p:spPr bwMode="auto">
            <a:xfrm flipH="1">
              <a:off x="4416" y="1584"/>
              <a:ext cx="144"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0" name="Line 16"/>
            <p:cNvSpPr>
              <a:spLocks noChangeShapeType="1"/>
            </p:cNvSpPr>
            <p:nvPr/>
          </p:nvSpPr>
          <p:spPr bwMode="auto">
            <a:xfrm>
              <a:off x="4608" y="1584"/>
              <a:ext cx="96"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1" name="Line 17"/>
            <p:cNvSpPr>
              <a:spLocks noChangeShapeType="1"/>
            </p:cNvSpPr>
            <p:nvPr/>
          </p:nvSpPr>
          <p:spPr bwMode="auto">
            <a:xfrm flipH="1">
              <a:off x="4896" y="1584"/>
              <a:ext cx="48"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2" name="Line 18"/>
            <p:cNvSpPr>
              <a:spLocks noChangeShapeType="1"/>
            </p:cNvSpPr>
            <p:nvPr/>
          </p:nvSpPr>
          <p:spPr bwMode="auto">
            <a:xfrm>
              <a:off x="4992" y="1584"/>
              <a:ext cx="192"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3" name="Line 19"/>
            <p:cNvSpPr>
              <a:spLocks noChangeShapeType="1"/>
            </p:cNvSpPr>
            <p:nvPr/>
          </p:nvSpPr>
          <p:spPr bwMode="auto">
            <a:xfrm flipH="1">
              <a:off x="4272" y="1920"/>
              <a:ext cx="96"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7" name="Line 20"/>
            <p:cNvSpPr>
              <a:spLocks noChangeShapeType="1"/>
            </p:cNvSpPr>
            <p:nvPr/>
          </p:nvSpPr>
          <p:spPr bwMode="auto">
            <a:xfrm>
              <a:off x="4416" y="1920"/>
              <a:ext cx="48" cy="240"/>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8" name="Oval 21"/>
            <p:cNvSpPr>
              <a:spLocks noChangeArrowheads="1"/>
            </p:cNvSpPr>
            <p:nvPr/>
          </p:nvSpPr>
          <p:spPr bwMode="auto">
            <a:xfrm>
              <a:off x="4568" y="212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宋体" pitchFamily="2" charset="-122"/>
                </a:rPr>
                <a:t>J</a:t>
              </a:r>
            </a:p>
          </p:txBody>
        </p:sp>
        <p:sp>
          <p:nvSpPr>
            <p:cNvPr id="39" name="Line 22"/>
            <p:cNvSpPr>
              <a:spLocks noChangeShapeType="1"/>
            </p:cNvSpPr>
            <p:nvPr/>
          </p:nvSpPr>
          <p:spPr bwMode="auto">
            <a:xfrm flipH="1">
              <a:off x="4656" y="1920"/>
              <a:ext cx="56" cy="240"/>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0" name="Text Box 23"/>
          <p:cNvSpPr txBox="1">
            <a:spLocks noChangeArrowheads="1"/>
          </p:cNvSpPr>
          <p:nvPr/>
        </p:nvSpPr>
        <p:spPr bwMode="auto">
          <a:xfrm>
            <a:off x="144462" y="2895600"/>
            <a:ext cx="5113338" cy="1202510"/>
          </a:xfrm>
          <a:prstGeom prst="rect">
            <a:avLst/>
          </a:prstGeom>
          <a:noFill/>
          <a:ln w="9525">
            <a:solidFill>
              <a:srgbClr val="336600"/>
            </a:solidFill>
            <a:miter lim="800000"/>
            <a:headEnd/>
            <a:tailEnd/>
          </a:ln>
        </p:spPr>
        <p:txBody>
          <a:bodyPr lIns="90000" tIns="46800" rIns="90000" bIns="46800">
            <a:spAutoFit/>
          </a:bodyPr>
          <a:lstStyle/>
          <a:p>
            <a:pPr fontAlgn="base">
              <a:spcBef>
                <a:spcPct val="0"/>
              </a:spcBef>
              <a:spcAft>
                <a:spcPct val="0"/>
              </a:spcAft>
            </a:pPr>
            <a:r>
              <a:rPr kumimoji="1" lang="zh-CN" altLang="en-US" sz="2400" b="1" dirty="0">
                <a:solidFill>
                  <a:srgbClr val="0707F9"/>
                </a:solidFill>
                <a:latin typeface="宋体" pitchFamily="2" charset="-122"/>
              </a:rPr>
              <a:t>采用</a:t>
            </a:r>
            <a:r>
              <a:rPr kumimoji="1" lang="zh-CN" altLang="en-US" sz="2400" b="1" dirty="0">
                <a:solidFill>
                  <a:srgbClr val="FF3300"/>
                </a:solidFill>
                <a:latin typeface="宋体" pitchFamily="2" charset="-122"/>
              </a:rPr>
              <a:t>一维数组</a:t>
            </a:r>
            <a:r>
              <a:rPr kumimoji="1" lang="zh-CN" altLang="en-US" sz="2400" b="1" dirty="0">
                <a:solidFill>
                  <a:srgbClr val="0707F9"/>
                </a:solidFill>
                <a:latin typeface="宋体" pitchFamily="2" charset="-122"/>
              </a:rPr>
              <a:t>，按</a:t>
            </a:r>
            <a:r>
              <a:rPr kumimoji="1" lang="zh-CN" altLang="en-US" sz="2400" b="1" dirty="0">
                <a:solidFill>
                  <a:srgbClr val="FF3300"/>
                </a:solidFill>
                <a:latin typeface="宋体" pitchFamily="2" charset="-122"/>
              </a:rPr>
              <a:t>层序顺序</a:t>
            </a:r>
            <a:r>
              <a:rPr kumimoji="1" lang="zh-CN" altLang="en-US" sz="2400" b="1" dirty="0">
                <a:solidFill>
                  <a:srgbClr val="0707F9"/>
                </a:solidFill>
                <a:latin typeface="宋体" pitchFamily="2" charset="-122"/>
              </a:rPr>
              <a:t>依次存储二叉树的每一个结点。</a:t>
            </a:r>
          </a:p>
          <a:p>
            <a:pPr fontAlgn="base">
              <a:spcBef>
                <a:spcPct val="0"/>
              </a:spcBef>
              <a:spcAft>
                <a:spcPct val="0"/>
              </a:spcAft>
            </a:pPr>
            <a:r>
              <a:rPr kumimoji="1" lang="zh-CN" altLang="en-US" sz="2400" b="1" dirty="0">
                <a:solidFill>
                  <a:srgbClr val="0707F9"/>
                </a:solidFill>
                <a:latin typeface="宋体" pitchFamily="2" charset="-122"/>
              </a:rPr>
              <a:t>如下图所示：</a:t>
            </a:r>
          </a:p>
        </p:txBody>
      </p:sp>
      <p:sp>
        <p:nvSpPr>
          <p:cNvPr id="41" name="Text Box 25"/>
          <p:cNvSpPr txBox="1">
            <a:spLocks noChangeArrowheads="1"/>
          </p:cNvSpPr>
          <p:nvPr/>
        </p:nvSpPr>
        <p:spPr bwMode="auto">
          <a:xfrm>
            <a:off x="444500" y="5686425"/>
            <a:ext cx="8424863" cy="638175"/>
          </a:xfrm>
          <a:prstGeom prst="rect">
            <a:avLst/>
          </a:prstGeom>
          <a:noFill/>
          <a:ln w="12700" cap="sq">
            <a:solidFill>
              <a:srgbClr val="0000FF"/>
            </a:solidFill>
            <a:miter lim="800000"/>
            <a:headEnd type="none" w="sm" len="sm"/>
            <a:tailEnd type="none" w="sm" len="sm"/>
          </a:ln>
        </p:spPr>
        <p:txBody>
          <a:bodyPr>
            <a:spAutoFit/>
          </a:bodyPr>
          <a:lstStyle/>
          <a:p>
            <a:pPr marL="95250" indent="285750" fontAlgn="base">
              <a:lnSpc>
                <a:spcPct val="125000"/>
              </a:lnSpc>
              <a:spcBef>
                <a:spcPct val="0"/>
              </a:spcBef>
              <a:spcAft>
                <a:spcPct val="0"/>
              </a:spcAft>
            </a:pPr>
            <a:r>
              <a:rPr kumimoji="1" lang="zh-CN" altLang="en-US" sz="2800" b="1">
                <a:solidFill>
                  <a:srgbClr val="0707F9"/>
                </a:solidFill>
                <a:latin typeface="宋体" pitchFamily="2" charset="-122"/>
              </a:rPr>
              <a:t>利用性质</a:t>
            </a:r>
            <a:r>
              <a:rPr kumimoji="1" lang="en-US" altLang="zh-CN" sz="2800" b="1">
                <a:solidFill>
                  <a:srgbClr val="0707F9"/>
                </a:solidFill>
                <a:latin typeface="宋体" pitchFamily="2" charset="-122"/>
              </a:rPr>
              <a:t>5</a:t>
            </a:r>
            <a:r>
              <a:rPr kumimoji="1" lang="zh-CN" altLang="en-US" sz="2800" b="1">
                <a:solidFill>
                  <a:srgbClr val="0707F9"/>
                </a:solidFill>
                <a:latin typeface="宋体" pitchFamily="2" charset="-122"/>
              </a:rPr>
              <a:t>实现</a:t>
            </a:r>
            <a:r>
              <a:rPr kumimoji="1" lang="zh-CN" altLang="en-US" sz="2800" b="1">
                <a:solidFill>
                  <a:srgbClr val="FF0000"/>
                </a:solidFill>
                <a:latin typeface="宋体" pitchFamily="2" charset="-122"/>
              </a:rPr>
              <a:t>线性结构</a:t>
            </a:r>
            <a:r>
              <a:rPr kumimoji="1" lang="zh-CN" altLang="en-US" sz="2800" b="1">
                <a:solidFill>
                  <a:srgbClr val="0707F9"/>
                </a:solidFill>
                <a:latin typeface="宋体" pitchFamily="2" charset="-122"/>
              </a:rPr>
              <a:t>和</a:t>
            </a:r>
            <a:r>
              <a:rPr kumimoji="1" lang="zh-CN" altLang="en-US" sz="2800" b="1">
                <a:solidFill>
                  <a:srgbClr val="FF0000"/>
                </a:solidFill>
                <a:latin typeface="宋体" pitchFamily="2" charset="-122"/>
              </a:rPr>
              <a:t>非线性结构</a:t>
            </a:r>
            <a:r>
              <a:rPr kumimoji="1" lang="zh-CN" altLang="en-US" sz="2800" b="1">
                <a:solidFill>
                  <a:srgbClr val="0707F9"/>
                </a:solidFill>
                <a:latin typeface="宋体" pitchFamily="2" charset="-122"/>
              </a:rPr>
              <a:t>的灵活转换。</a:t>
            </a:r>
          </a:p>
        </p:txBody>
      </p:sp>
      <p:grpSp>
        <p:nvGrpSpPr>
          <p:cNvPr id="42" name="Group 27"/>
          <p:cNvGrpSpPr>
            <a:grpSpLocks/>
          </p:cNvGrpSpPr>
          <p:nvPr/>
        </p:nvGrpSpPr>
        <p:grpSpPr bwMode="auto">
          <a:xfrm>
            <a:off x="5411788" y="1331913"/>
            <a:ext cx="3960812" cy="1944687"/>
            <a:chOff x="1317" y="1523"/>
            <a:chExt cx="3527" cy="1771"/>
          </a:xfrm>
        </p:grpSpPr>
        <p:sp>
          <p:nvSpPr>
            <p:cNvPr id="43" name="Line 28"/>
            <p:cNvSpPr>
              <a:spLocks noChangeShapeType="1"/>
            </p:cNvSpPr>
            <p:nvPr/>
          </p:nvSpPr>
          <p:spPr bwMode="auto">
            <a:xfrm>
              <a:off x="2485" y="2478"/>
              <a:ext cx="295" cy="362"/>
            </a:xfrm>
            <a:prstGeom prst="line">
              <a:avLst/>
            </a:prstGeom>
            <a:noFill/>
            <a:ln w="38100" cap="rnd">
              <a:solidFill>
                <a:srgbClr val="0000FF"/>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4" name="Line 29"/>
            <p:cNvSpPr>
              <a:spLocks noChangeShapeType="1"/>
            </p:cNvSpPr>
            <p:nvPr/>
          </p:nvSpPr>
          <p:spPr bwMode="auto">
            <a:xfrm>
              <a:off x="3457" y="1832"/>
              <a:ext cx="650" cy="419"/>
            </a:xfrm>
            <a:prstGeom prst="line">
              <a:avLst/>
            </a:prstGeom>
            <a:noFill/>
            <a:ln w="38100" cap="rnd">
              <a:solidFill>
                <a:srgbClr val="0000FF"/>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5" name="Line 30"/>
            <p:cNvSpPr>
              <a:spLocks noChangeShapeType="1"/>
            </p:cNvSpPr>
            <p:nvPr/>
          </p:nvSpPr>
          <p:spPr bwMode="auto">
            <a:xfrm flipH="1">
              <a:off x="2460" y="1832"/>
              <a:ext cx="571" cy="350"/>
            </a:xfrm>
            <a:prstGeom prst="line">
              <a:avLst/>
            </a:prstGeom>
            <a:noFill/>
            <a:ln w="38100" cap="rnd">
              <a:solidFill>
                <a:srgbClr val="0000FF"/>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6" name="Oval 31"/>
            <p:cNvSpPr>
              <a:spLocks noChangeArrowheads="1"/>
            </p:cNvSpPr>
            <p:nvPr/>
          </p:nvSpPr>
          <p:spPr bwMode="auto">
            <a:xfrm>
              <a:off x="3659" y="2908"/>
              <a:ext cx="471" cy="386"/>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None/>
              </a:pPr>
              <a:endParaRPr kumimoji="1" lang="zh-CN" altLang="en-US" b="1">
                <a:solidFill>
                  <a:srgbClr val="FF0000"/>
                </a:solidFill>
                <a:latin typeface="Constantia" pitchFamily="18" charset="0"/>
              </a:endParaRPr>
            </a:p>
          </p:txBody>
        </p:sp>
        <p:sp>
          <p:nvSpPr>
            <p:cNvPr id="47" name="Text Box 32"/>
            <p:cNvSpPr txBox="1">
              <a:spLocks noChangeArrowheads="1"/>
            </p:cNvSpPr>
            <p:nvPr/>
          </p:nvSpPr>
          <p:spPr bwMode="auto">
            <a:xfrm>
              <a:off x="3528" y="2914"/>
              <a:ext cx="854" cy="334"/>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en-US" altLang="zh-CN" b="1">
                  <a:solidFill>
                    <a:srgbClr val="0707F9"/>
                  </a:solidFill>
                  <a:latin typeface="宋体" pitchFamily="2" charset="-122"/>
                </a:rPr>
                <a:t> 2i+2</a:t>
              </a:r>
            </a:p>
          </p:txBody>
        </p:sp>
        <p:sp>
          <p:nvSpPr>
            <p:cNvPr id="48" name="Oval 33"/>
            <p:cNvSpPr>
              <a:spLocks noChangeArrowheads="1"/>
            </p:cNvSpPr>
            <p:nvPr/>
          </p:nvSpPr>
          <p:spPr bwMode="auto">
            <a:xfrm>
              <a:off x="3012" y="1523"/>
              <a:ext cx="471" cy="386"/>
            </a:xfrm>
            <a:prstGeom prst="ellipse">
              <a:avLst/>
            </a:prstGeom>
            <a:solidFill>
              <a:srgbClr val="FFFFCC"/>
            </a:solidFill>
            <a:ln w="12700" cap="rnd">
              <a:solidFill>
                <a:srgbClr val="FFFFCC"/>
              </a:solidFill>
              <a:round/>
              <a:headEnd/>
              <a:tailEnd/>
            </a:ln>
          </p:spPr>
          <p:txBody>
            <a:bodyPr wrap="none" anchor="ctr"/>
            <a:lstStyle/>
            <a:p>
              <a:pPr algn="ctr" fontAlgn="base">
                <a:spcBef>
                  <a:spcPct val="0"/>
                </a:spcBef>
                <a:spcAft>
                  <a:spcPct val="0"/>
                </a:spcAft>
              </a:pPr>
              <a:endParaRPr kumimoji="1" lang="zh-CN" altLang="en-US">
                <a:solidFill>
                  <a:srgbClr val="6600CC"/>
                </a:solidFill>
                <a:latin typeface="Times New Roman" pitchFamily="18" charset="0"/>
                <a:ea typeface="楷体_GB2312" pitchFamily="49" charset="-122"/>
              </a:endParaRPr>
            </a:p>
          </p:txBody>
        </p:sp>
        <p:sp>
          <p:nvSpPr>
            <p:cNvPr id="49" name="Text Box 34"/>
            <p:cNvSpPr txBox="1">
              <a:spLocks noChangeArrowheads="1"/>
            </p:cNvSpPr>
            <p:nvPr/>
          </p:nvSpPr>
          <p:spPr bwMode="auto">
            <a:xfrm>
              <a:off x="2896" y="1523"/>
              <a:ext cx="1221" cy="334"/>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b="1">
                  <a:solidFill>
                    <a:srgbClr val="0707F9"/>
                  </a:solidFill>
                  <a:latin typeface="黑体" pitchFamily="2" charset="-122"/>
                  <a:ea typeface="黑体" pitchFamily="2" charset="-122"/>
                </a:rPr>
                <a:t> </a:t>
              </a:r>
              <a:r>
                <a:rPr kumimoji="1" lang="zh-CN" altLang="en-US" b="1" i="1">
                  <a:solidFill>
                    <a:srgbClr val="0707F9"/>
                  </a:solidFill>
                  <a:latin typeface="Times New Roman" pitchFamily="18" charset="0"/>
                  <a:ea typeface="楷体_GB2312" pitchFamily="49" charset="-122"/>
                  <a:sym typeface="Symbol" pitchFamily="18" charset="2"/>
                </a:rPr>
                <a:t></a:t>
              </a:r>
              <a:r>
                <a:rPr kumimoji="1" lang="en-US" altLang="zh-CN" b="1" i="1">
                  <a:solidFill>
                    <a:srgbClr val="0707F9"/>
                  </a:solidFill>
                  <a:latin typeface="Times New Roman" pitchFamily="18" charset="0"/>
                  <a:ea typeface="楷体_GB2312" pitchFamily="49" charset="-122"/>
                </a:rPr>
                <a:t>i/2</a:t>
              </a:r>
              <a:r>
                <a:rPr kumimoji="1" lang="en-US" altLang="zh-CN" b="1" i="1">
                  <a:solidFill>
                    <a:srgbClr val="0707F9"/>
                  </a:solidFill>
                  <a:latin typeface="Times New Roman" pitchFamily="18" charset="0"/>
                  <a:ea typeface="楷体_GB2312" pitchFamily="49" charset="-122"/>
                  <a:sym typeface="Symbol" pitchFamily="18" charset="2"/>
                </a:rPr>
                <a:t></a:t>
              </a:r>
            </a:p>
          </p:txBody>
        </p:sp>
        <p:sp>
          <p:nvSpPr>
            <p:cNvPr id="50" name="Oval 35"/>
            <p:cNvSpPr>
              <a:spLocks noChangeArrowheads="1"/>
            </p:cNvSpPr>
            <p:nvPr/>
          </p:nvSpPr>
          <p:spPr bwMode="auto">
            <a:xfrm>
              <a:off x="2656" y="2809"/>
              <a:ext cx="470" cy="386"/>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None/>
              </a:pPr>
              <a:endParaRPr kumimoji="1" lang="zh-CN" altLang="en-US" b="1">
                <a:solidFill>
                  <a:srgbClr val="FF0000"/>
                </a:solidFill>
                <a:latin typeface="Constantia" pitchFamily="18" charset="0"/>
              </a:endParaRPr>
            </a:p>
          </p:txBody>
        </p:sp>
        <p:sp>
          <p:nvSpPr>
            <p:cNvPr id="51" name="Text Box 36"/>
            <p:cNvSpPr txBox="1">
              <a:spLocks noChangeArrowheads="1"/>
            </p:cNvSpPr>
            <p:nvPr/>
          </p:nvSpPr>
          <p:spPr bwMode="auto">
            <a:xfrm>
              <a:off x="2673" y="2824"/>
              <a:ext cx="855" cy="334"/>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en-US" altLang="zh-CN" b="1">
                  <a:solidFill>
                    <a:srgbClr val="0707F9"/>
                  </a:solidFill>
                  <a:latin typeface="宋体" pitchFamily="2" charset="-122"/>
                </a:rPr>
                <a:t>2i+1</a:t>
              </a:r>
            </a:p>
          </p:txBody>
        </p:sp>
        <p:sp>
          <p:nvSpPr>
            <p:cNvPr id="52" name="Oval 37"/>
            <p:cNvSpPr>
              <a:spLocks noChangeArrowheads="1"/>
            </p:cNvSpPr>
            <p:nvPr/>
          </p:nvSpPr>
          <p:spPr bwMode="auto">
            <a:xfrm>
              <a:off x="1442" y="2781"/>
              <a:ext cx="408" cy="422"/>
            </a:xfrm>
            <a:prstGeom prst="ellipse">
              <a:avLst/>
            </a:prstGeom>
            <a:solidFill>
              <a:srgbClr val="FFFFCC"/>
            </a:solidFill>
            <a:ln w="12700" cap="rnd">
              <a:solidFill>
                <a:srgbClr val="FFFFCC"/>
              </a:solidFill>
              <a:round/>
              <a:headEnd/>
              <a:tailEnd/>
            </a:ln>
          </p:spPr>
          <p:txBody>
            <a:bodyPr wrap="none" anchor="ctr"/>
            <a:lstStyle/>
            <a:p>
              <a:pPr algn="ctr" fontAlgn="base">
                <a:spcBef>
                  <a:spcPct val="0"/>
                </a:spcBef>
                <a:spcAft>
                  <a:spcPct val="0"/>
                </a:spcAft>
              </a:pPr>
              <a:endParaRPr kumimoji="1" lang="zh-CN" altLang="en-US">
                <a:solidFill>
                  <a:srgbClr val="6600CC"/>
                </a:solidFill>
                <a:latin typeface="Times New Roman" pitchFamily="18" charset="0"/>
                <a:ea typeface="楷体_GB2312" pitchFamily="49" charset="-122"/>
              </a:endParaRPr>
            </a:p>
          </p:txBody>
        </p:sp>
        <p:sp>
          <p:nvSpPr>
            <p:cNvPr id="53" name="Text Box 38"/>
            <p:cNvSpPr txBox="1">
              <a:spLocks noChangeArrowheads="1"/>
            </p:cNvSpPr>
            <p:nvPr/>
          </p:nvSpPr>
          <p:spPr bwMode="auto">
            <a:xfrm>
              <a:off x="1317" y="2792"/>
              <a:ext cx="855" cy="334"/>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b="1">
                  <a:solidFill>
                    <a:srgbClr val="0707F9"/>
                  </a:solidFill>
                  <a:latin typeface="宋体" pitchFamily="2" charset="-122"/>
                </a:rPr>
                <a:t>  </a:t>
              </a:r>
              <a:r>
                <a:rPr lang="en-US" altLang="zh-CN" b="1">
                  <a:solidFill>
                    <a:srgbClr val="0707F9"/>
                  </a:solidFill>
                  <a:latin typeface="宋体" pitchFamily="2" charset="-122"/>
                </a:rPr>
                <a:t>2i</a:t>
              </a:r>
            </a:p>
          </p:txBody>
        </p:sp>
        <p:sp>
          <p:nvSpPr>
            <p:cNvPr id="54" name="Oval 39"/>
            <p:cNvSpPr>
              <a:spLocks noChangeArrowheads="1"/>
            </p:cNvSpPr>
            <p:nvPr/>
          </p:nvSpPr>
          <p:spPr bwMode="auto">
            <a:xfrm>
              <a:off x="4017" y="2124"/>
              <a:ext cx="471" cy="386"/>
            </a:xfrm>
            <a:prstGeom prst="ellipse">
              <a:avLst/>
            </a:prstGeom>
            <a:solidFill>
              <a:srgbClr val="FFFFCC"/>
            </a:solidFill>
            <a:ln w="12700" cap="rnd">
              <a:solidFill>
                <a:srgbClr val="FFFFCC"/>
              </a:solidFill>
              <a:round/>
              <a:headEnd/>
              <a:tailEnd/>
            </a:ln>
          </p:spPr>
          <p:txBody>
            <a:bodyPr wrap="none" anchor="ctr"/>
            <a:lstStyle/>
            <a:p>
              <a:pPr algn="ctr" fontAlgn="base">
                <a:spcBef>
                  <a:spcPct val="0"/>
                </a:spcBef>
                <a:spcAft>
                  <a:spcPct val="0"/>
                </a:spcAft>
              </a:pPr>
              <a:endParaRPr kumimoji="1" lang="zh-CN" altLang="en-US">
                <a:solidFill>
                  <a:srgbClr val="6600CC"/>
                </a:solidFill>
                <a:latin typeface="Times New Roman" pitchFamily="18" charset="0"/>
                <a:ea typeface="楷体_GB2312" pitchFamily="49" charset="-122"/>
              </a:endParaRPr>
            </a:p>
          </p:txBody>
        </p:sp>
        <p:sp>
          <p:nvSpPr>
            <p:cNvPr id="55" name="Text Box 40"/>
            <p:cNvSpPr txBox="1">
              <a:spLocks noChangeArrowheads="1"/>
            </p:cNvSpPr>
            <p:nvPr/>
          </p:nvSpPr>
          <p:spPr bwMode="auto">
            <a:xfrm>
              <a:off x="3992" y="2155"/>
              <a:ext cx="852" cy="334"/>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b="1">
                  <a:solidFill>
                    <a:srgbClr val="0707F9"/>
                  </a:solidFill>
                  <a:latin typeface="黑体" pitchFamily="2" charset="-122"/>
                  <a:ea typeface="黑体" pitchFamily="2" charset="-122"/>
                </a:rPr>
                <a:t> </a:t>
              </a:r>
              <a:r>
                <a:rPr lang="en-US" altLang="zh-CN" b="1">
                  <a:solidFill>
                    <a:srgbClr val="0707F9"/>
                  </a:solidFill>
                  <a:latin typeface="宋体" pitchFamily="2" charset="-122"/>
                </a:rPr>
                <a:t>i+1</a:t>
              </a:r>
            </a:p>
          </p:txBody>
        </p:sp>
        <p:sp>
          <p:nvSpPr>
            <p:cNvPr id="56" name="Oval 41"/>
            <p:cNvSpPr>
              <a:spLocks noChangeArrowheads="1"/>
            </p:cNvSpPr>
            <p:nvPr/>
          </p:nvSpPr>
          <p:spPr bwMode="auto">
            <a:xfrm>
              <a:off x="2084" y="2171"/>
              <a:ext cx="472" cy="387"/>
            </a:xfrm>
            <a:prstGeom prst="ellipse">
              <a:avLst/>
            </a:prstGeom>
            <a:solidFill>
              <a:srgbClr val="FFFFCC"/>
            </a:solidFill>
            <a:ln w="12700" cap="rnd">
              <a:solidFill>
                <a:srgbClr val="FFFFCC"/>
              </a:solidFill>
              <a:round/>
              <a:headEnd/>
              <a:tailEnd/>
            </a:ln>
          </p:spPr>
          <p:txBody>
            <a:bodyPr wrap="none" anchor="ctr"/>
            <a:lstStyle/>
            <a:p>
              <a:pPr algn="ctr" fontAlgn="base">
                <a:spcBef>
                  <a:spcPct val="0"/>
                </a:spcBef>
                <a:spcAft>
                  <a:spcPct val="0"/>
                </a:spcAft>
              </a:pPr>
              <a:endParaRPr kumimoji="1" lang="zh-CN" altLang="en-US">
                <a:solidFill>
                  <a:srgbClr val="6600CC"/>
                </a:solidFill>
                <a:latin typeface="Times New Roman" pitchFamily="18" charset="0"/>
                <a:ea typeface="楷体_GB2312" pitchFamily="49" charset="-122"/>
              </a:endParaRPr>
            </a:p>
          </p:txBody>
        </p:sp>
        <p:sp>
          <p:nvSpPr>
            <p:cNvPr id="57" name="Text Box 42"/>
            <p:cNvSpPr txBox="1">
              <a:spLocks noChangeArrowheads="1"/>
            </p:cNvSpPr>
            <p:nvPr/>
          </p:nvSpPr>
          <p:spPr bwMode="auto">
            <a:xfrm>
              <a:off x="2123" y="2191"/>
              <a:ext cx="854" cy="334"/>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b="1">
                  <a:solidFill>
                    <a:srgbClr val="0707F9"/>
                  </a:solidFill>
                  <a:latin typeface="黑体" pitchFamily="2" charset="-122"/>
                  <a:ea typeface="黑体" pitchFamily="2" charset="-122"/>
                </a:rPr>
                <a:t> </a:t>
              </a:r>
              <a:r>
                <a:rPr lang="en-US" altLang="zh-CN" b="1">
                  <a:solidFill>
                    <a:srgbClr val="0707F9"/>
                  </a:solidFill>
                  <a:latin typeface="宋体" pitchFamily="2" charset="-122"/>
                </a:rPr>
                <a:t>i</a:t>
              </a:r>
            </a:p>
          </p:txBody>
        </p:sp>
        <p:sp>
          <p:nvSpPr>
            <p:cNvPr id="58" name="Line 43"/>
            <p:cNvSpPr>
              <a:spLocks noChangeShapeType="1"/>
            </p:cNvSpPr>
            <p:nvPr/>
          </p:nvSpPr>
          <p:spPr bwMode="auto">
            <a:xfrm flipH="1">
              <a:off x="1746" y="2478"/>
              <a:ext cx="395" cy="347"/>
            </a:xfrm>
            <a:prstGeom prst="line">
              <a:avLst/>
            </a:prstGeom>
            <a:noFill/>
            <a:ln w="38100" cap="rnd">
              <a:solidFill>
                <a:srgbClr val="0000FF"/>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59" name="Line 44"/>
            <p:cNvSpPr>
              <a:spLocks noChangeShapeType="1"/>
            </p:cNvSpPr>
            <p:nvPr/>
          </p:nvSpPr>
          <p:spPr bwMode="auto">
            <a:xfrm flipH="1">
              <a:off x="3910" y="2523"/>
              <a:ext cx="254" cy="366"/>
            </a:xfrm>
            <a:prstGeom prst="line">
              <a:avLst/>
            </a:prstGeom>
            <a:noFill/>
            <a:ln w="38100" cap="rnd">
              <a:solidFill>
                <a:srgbClr val="0000FF"/>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nvGrpSpPr>
          <p:cNvPr id="60" name="Group 45"/>
          <p:cNvGrpSpPr>
            <a:grpSpLocks/>
          </p:cNvGrpSpPr>
          <p:nvPr/>
        </p:nvGrpSpPr>
        <p:grpSpPr bwMode="auto">
          <a:xfrm>
            <a:off x="588963" y="4286250"/>
            <a:ext cx="4154487" cy="828675"/>
            <a:chOff x="748" y="3138"/>
            <a:chExt cx="2416" cy="522"/>
          </a:xfrm>
        </p:grpSpPr>
        <p:sp>
          <p:nvSpPr>
            <p:cNvPr id="61" name="Text Box 46"/>
            <p:cNvSpPr txBox="1">
              <a:spLocks noChangeArrowheads="1"/>
            </p:cNvSpPr>
            <p:nvPr/>
          </p:nvSpPr>
          <p:spPr bwMode="auto">
            <a:xfrm>
              <a:off x="748" y="3138"/>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A</a:t>
              </a:r>
            </a:p>
          </p:txBody>
        </p:sp>
        <p:sp>
          <p:nvSpPr>
            <p:cNvPr id="62" name="Text Box 47"/>
            <p:cNvSpPr txBox="1">
              <a:spLocks noChangeArrowheads="1"/>
            </p:cNvSpPr>
            <p:nvPr/>
          </p:nvSpPr>
          <p:spPr bwMode="auto">
            <a:xfrm>
              <a:off x="988" y="3138"/>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B</a:t>
              </a:r>
            </a:p>
          </p:txBody>
        </p:sp>
        <p:sp>
          <p:nvSpPr>
            <p:cNvPr id="63" name="Text Box 48"/>
            <p:cNvSpPr txBox="1">
              <a:spLocks noChangeArrowheads="1"/>
            </p:cNvSpPr>
            <p:nvPr/>
          </p:nvSpPr>
          <p:spPr bwMode="auto">
            <a:xfrm>
              <a:off x="1228" y="3138"/>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C</a:t>
              </a:r>
            </a:p>
          </p:txBody>
        </p:sp>
        <p:sp>
          <p:nvSpPr>
            <p:cNvPr id="64" name="Text Box 49"/>
            <p:cNvSpPr txBox="1">
              <a:spLocks noChangeArrowheads="1"/>
            </p:cNvSpPr>
            <p:nvPr/>
          </p:nvSpPr>
          <p:spPr bwMode="auto">
            <a:xfrm>
              <a:off x="1468" y="3138"/>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D</a:t>
              </a:r>
            </a:p>
          </p:txBody>
        </p:sp>
        <p:sp>
          <p:nvSpPr>
            <p:cNvPr id="65" name="Text Box 50"/>
            <p:cNvSpPr txBox="1">
              <a:spLocks noChangeArrowheads="1"/>
            </p:cNvSpPr>
            <p:nvPr/>
          </p:nvSpPr>
          <p:spPr bwMode="auto">
            <a:xfrm>
              <a:off x="1708" y="3138"/>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E</a:t>
              </a:r>
            </a:p>
          </p:txBody>
        </p:sp>
        <p:sp>
          <p:nvSpPr>
            <p:cNvPr id="66" name="Text Box 51"/>
            <p:cNvSpPr txBox="1">
              <a:spLocks noChangeArrowheads="1"/>
            </p:cNvSpPr>
            <p:nvPr/>
          </p:nvSpPr>
          <p:spPr bwMode="auto">
            <a:xfrm>
              <a:off x="1948" y="3138"/>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F</a:t>
              </a:r>
            </a:p>
          </p:txBody>
        </p:sp>
        <p:sp>
          <p:nvSpPr>
            <p:cNvPr id="67" name="Text Box 52"/>
            <p:cNvSpPr txBox="1">
              <a:spLocks noChangeArrowheads="1"/>
            </p:cNvSpPr>
            <p:nvPr/>
          </p:nvSpPr>
          <p:spPr bwMode="auto">
            <a:xfrm>
              <a:off x="2188" y="3138"/>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G</a:t>
              </a:r>
            </a:p>
          </p:txBody>
        </p:sp>
        <p:sp>
          <p:nvSpPr>
            <p:cNvPr id="68" name="Text Box 53"/>
            <p:cNvSpPr txBox="1">
              <a:spLocks noChangeArrowheads="1"/>
            </p:cNvSpPr>
            <p:nvPr/>
          </p:nvSpPr>
          <p:spPr bwMode="auto">
            <a:xfrm>
              <a:off x="810" y="3426"/>
              <a:ext cx="2354" cy="234"/>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1800" b="0" i="0" u="none" strike="noStrike" kern="0" cap="none" spc="0" normalizeH="0" baseline="0" noProof="0">
                  <a:ln>
                    <a:noFill/>
                  </a:ln>
                  <a:solidFill>
                    <a:srgbClr val="000000"/>
                  </a:solidFill>
                  <a:effectLst/>
                  <a:uLnTx/>
                  <a:uFillTx/>
                  <a:latin typeface="Times New Roman" pitchFamily="18" charset="0"/>
                </a:rPr>
                <a:t>1    2     3     4      5     6      7     8     9    10</a:t>
              </a:r>
            </a:p>
          </p:txBody>
        </p:sp>
        <p:sp>
          <p:nvSpPr>
            <p:cNvPr id="69" name="Text Box 54"/>
            <p:cNvSpPr txBox="1">
              <a:spLocks noChangeArrowheads="1"/>
            </p:cNvSpPr>
            <p:nvPr/>
          </p:nvSpPr>
          <p:spPr bwMode="auto">
            <a:xfrm>
              <a:off x="2428" y="3138"/>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H</a:t>
              </a:r>
            </a:p>
          </p:txBody>
        </p:sp>
        <p:sp>
          <p:nvSpPr>
            <p:cNvPr id="70" name="Text Box 55"/>
            <p:cNvSpPr txBox="1">
              <a:spLocks noChangeArrowheads="1"/>
            </p:cNvSpPr>
            <p:nvPr/>
          </p:nvSpPr>
          <p:spPr bwMode="auto">
            <a:xfrm>
              <a:off x="2668" y="3138"/>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I</a:t>
              </a:r>
            </a:p>
          </p:txBody>
        </p:sp>
        <p:sp>
          <p:nvSpPr>
            <p:cNvPr id="71" name="Text Box 56"/>
            <p:cNvSpPr txBox="1">
              <a:spLocks noChangeArrowheads="1"/>
            </p:cNvSpPr>
            <p:nvPr/>
          </p:nvSpPr>
          <p:spPr bwMode="auto">
            <a:xfrm>
              <a:off x="2908" y="3138"/>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J</a:t>
              </a:r>
            </a:p>
          </p:txBody>
        </p:sp>
      </p:grpSp>
    </p:spTree>
    <p:extLst>
      <p:ext uri="{BB962C8B-B14F-4D97-AF65-F5344CB8AC3E}">
        <p14:creationId xmlns:p14="http://schemas.microsoft.com/office/powerpoint/2010/main" val="390416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40" grpId="0" animBg="1"/>
      <p:bldP spid="4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5.2.3 </a:t>
            </a:r>
            <a:r>
              <a:rPr kumimoji="1" lang="zh-CN" altLang="en-US" sz="3200" b="1" dirty="0">
                <a:latin typeface="Arial" charset="0"/>
                <a:ea typeface="宋体" charset="-122"/>
                <a:cs typeface="+mn-cs"/>
              </a:rPr>
              <a:t>二叉树的存储结构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r>
              <a:rPr lang="zh-CN" altLang="en-US" sz="2800" b="1" dirty="0"/>
              <a:t>二叉树的顺序存储表示</a:t>
            </a:r>
            <a:endParaRPr lang="en-US" altLang="zh-CN" sz="2800" b="1" dirty="0"/>
          </a:p>
        </p:txBody>
      </p:sp>
      <p:sp>
        <p:nvSpPr>
          <p:cNvPr id="4" name="日期占位符 3"/>
          <p:cNvSpPr>
            <a:spLocks noGrp="1"/>
          </p:cNvSpPr>
          <p:nvPr>
            <p:ph type="dt" sz="half" idx="10"/>
          </p:nvPr>
        </p:nvSpPr>
        <p:spPr/>
        <p:txBody>
          <a:bodyPr/>
          <a:lstStyle/>
          <a:p>
            <a:fld id="{6C1B415F-06E3-44C8-A67A-7DCCFA04FA83}"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37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72" name="Text Box 2"/>
          <p:cNvSpPr txBox="1">
            <a:spLocks noChangeArrowheads="1"/>
          </p:cNvSpPr>
          <p:nvPr/>
        </p:nvSpPr>
        <p:spPr bwMode="auto">
          <a:xfrm>
            <a:off x="782704" y="1600200"/>
            <a:ext cx="2195129" cy="463846"/>
          </a:xfrm>
          <a:prstGeom prst="rect">
            <a:avLst/>
          </a:prstGeom>
          <a:noFill/>
          <a:ln w="9525">
            <a:noFill/>
            <a:miter lim="800000"/>
            <a:headEnd/>
            <a:tailEnd/>
          </a:ln>
        </p:spPr>
        <p:txBody>
          <a:bodyPr wrap="none" lIns="90000" tIns="46800" rIns="90000" bIns="46800">
            <a:spAutoFit/>
          </a:bodyPr>
          <a:lstStyle/>
          <a:p>
            <a:pPr fontAlgn="base">
              <a:spcBef>
                <a:spcPct val="0"/>
              </a:spcBef>
              <a:spcAft>
                <a:spcPct val="0"/>
              </a:spcAft>
            </a:pPr>
            <a:r>
              <a:rPr kumimoji="1" lang="en-US" altLang="zh-CN" sz="2400" b="1">
                <a:solidFill>
                  <a:srgbClr val="0707F9"/>
                </a:solidFill>
                <a:latin typeface="楷体_GB2312" pitchFamily="49" charset="-122"/>
                <a:ea typeface="楷体_GB2312" pitchFamily="49" charset="-122"/>
              </a:rPr>
              <a:t>(2)</a:t>
            </a:r>
            <a:r>
              <a:rPr kumimoji="1" lang="zh-CN" altLang="en-US" sz="2400" b="1">
                <a:solidFill>
                  <a:srgbClr val="0707F9"/>
                </a:solidFill>
                <a:latin typeface="楷体_GB2312" pitchFamily="49" charset="-122"/>
                <a:ea typeface="楷体_GB2312" pitchFamily="49" charset="-122"/>
              </a:rPr>
              <a:t>一般二叉树</a:t>
            </a:r>
          </a:p>
        </p:txBody>
      </p:sp>
      <p:grpSp>
        <p:nvGrpSpPr>
          <p:cNvPr id="73" name="Group 3"/>
          <p:cNvGrpSpPr>
            <a:grpSpLocks/>
          </p:cNvGrpSpPr>
          <p:nvPr/>
        </p:nvGrpSpPr>
        <p:grpSpPr bwMode="auto">
          <a:xfrm>
            <a:off x="2338388" y="5507038"/>
            <a:ext cx="4127500" cy="823912"/>
            <a:chOff x="3107" y="1616"/>
            <a:chExt cx="2400" cy="519"/>
          </a:xfrm>
        </p:grpSpPr>
        <p:sp>
          <p:nvSpPr>
            <p:cNvPr id="74" name="Text Box 4"/>
            <p:cNvSpPr txBox="1">
              <a:spLocks noChangeArrowheads="1"/>
            </p:cNvSpPr>
            <p:nvPr/>
          </p:nvSpPr>
          <p:spPr bwMode="auto">
            <a:xfrm>
              <a:off x="3107" y="1616"/>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A</a:t>
              </a:r>
            </a:p>
          </p:txBody>
        </p:sp>
        <p:sp>
          <p:nvSpPr>
            <p:cNvPr id="75" name="Text Box 5"/>
            <p:cNvSpPr txBox="1">
              <a:spLocks noChangeArrowheads="1"/>
            </p:cNvSpPr>
            <p:nvPr/>
          </p:nvSpPr>
          <p:spPr bwMode="auto">
            <a:xfrm>
              <a:off x="3347" y="1616"/>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B</a:t>
              </a:r>
            </a:p>
          </p:txBody>
        </p:sp>
        <p:sp>
          <p:nvSpPr>
            <p:cNvPr id="76" name="Text Box 6"/>
            <p:cNvSpPr txBox="1">
              <a:spLocks noChangeArrowheads="1"/>
            </p:cNvSpPr>
            <p:nvPr/>
          </p:nvSpPr>
          <p:spPr bwMode="auto">
            <a:xfrm>
              <a:off x="3587" y="1616"/>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C</a:t>
              </a:r>
            </a:p>
          </p:txBody>
        </p:sp>
        <p:sp>
          <p:nvSpPr>
            <p:cNvPr id="77" name="Text Box 7"/>
            <p:cNvSpPr txBox="1">
              <a:spLocks noChangeArrowheads="1"/>
            </p:cNvSpPr>
            <p:nvPr/>
          </p:nvSpPr>
          <p:spPr bwMode="auto">
            <a:xfrm>
              <a:off x="3827" y="1616"/>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FF0000"/>
                  </a:solidFill>
                  <a:effectLst/>
                  <a:uLnTx/>
                  <a:uFillTx/>
                  <a:latin typeface="Times New Roman" pitchFamily="18" charset="0"/>
                </a:rPr>
                <a:t>0</a:t>
              </a:r>
            </a:p>
          </p:txBody>
        </p:sp>
        <p:sp>
          <p:nvSpPr>
            <p:cNvPr id="78" name="Text Box 8"/>
            <p:cNvSpPr txBox="1">
              <a:spLocks noChangeArrowheads="1"/>
            </p:cNvSpPr>
            <p:nvPr/>
          </p:nvSpPr>
          <p:spPr bwMode="auto">
            <a:xfrm>
              <a:off x="4067" y="1616"/>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E</a:t>
              </a:r>
            </a:p>
          </p:txBody>
        </p:sp>
        <p:sp>
          <p:nvSpPr>
            <p:cNvPr id="79" name="Text Box 9"/>
            <p:cNvSpPr txBox="1">
              <a:spLocks noChangeArrowheads="1"/>
            </p:cNvSpPr>
            <p:nvPr/>
          </p:nvSpPr>
          <p:spPr bwMode="auto">
            <a:xfrm>
              <a:off x="4307" y="1616"/>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FF0000"/>
                  </a:solidFill>
                  <a:effectLst/>
                  <a:uLnTx/>
                  <a:uFillTx/>
                  <a:latin typeface="Times New Roman" pitchFamily="18" charset="0"/>
                </a:rPr>
                <a:t>0</a:t>
              </a:r>
            </a:p>
          </p:txBody>
        </p:sp>
        <p:sp>
          <p:nvSpPr>
            <p:cNvPr id="80" name="Text Box 10"/>
            <p:cNvSpPr txBox="1">
              <a:spLocks noChangeArrowheads="1"/>
            </p:cNvSpPr>
            <p:nvPr/>
          </p:nvSpPr>
          <p:spPr bwMode="auto">
            <a:xfrm>
              <a:off x="4547" y="1616"/>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G</a:t>
              </a:r>
            </a:p>
          </p:txBody>
        </p:sp>
        <p:sp>
          <p:nvSpPr>
            <p:cNvPr id="81" name="Text Box 11"/>
            <p:cNvSpPr txBox="1">
              <a:spLocks noChangeArrowheads="1"/>
            </p:cNvSpPr>
            <p:nvPr/>
          </p:nvSpPr>
          <p:spPr bwMode="auto">
            <a:xfrm>
              <a:off x="3155" y="1904"/>
              <a:ext cx="2199" cy="231"/>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Times New Roman" pitchFamily="18" charset="0"/>
                </a:rPr>
                <a:t>1    2     3     4    5     6    7     8     9    10</a:t>
              </a:r>
            </a:p>
          </p:txBody>
        </p:sp>
        <p:sp>
          <p:nvSpPr>
            <p:cNvPr id="82" name="Text Box 12"/>
            <p:cNvSpPr txBox="1">
              <a:spLocks noChangeArrowheads="1"/>
            </p:cNvSpPr>
            <p:nvPr/>
          </p:nvSpPr>
          <p:spPr bwMode="auto">
            <a:xfrm>
              <a:off x="4787" y="1617"/>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FF0000"/>
                  </a:solidFill>
                  <a:effectLst/>
                  <a:uLnTx/>
                  <a:uFillTx/>
                  <a:latin typeface="Times New Roman" pitchFamily="18" charset="0"/>
                </a:rPr>
                <a:t>0</a:t>
              </a:r>
            </a:p>
          </p:txBody>
        </p:sp>
        <p:sp>
          <p:nvSpPr>
            <p:cNvPr id="83" name="Text Box 13"/>
            <p:cNvSpPr txBox="1">
              <a:spLocks noChangeArrowheads="1"/>
            </p:cNvSpPr>
            <p:nvPr/>
          </p:nvSpPr>
          <p:spPr bwMode="auto">
            <a:xfrm>
              <a:off x="5027" y="1617"/>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FF0000"/>
                  </a:solidFill>
                  <a:effectLst/>
                  <a:uLnTx/>
                  <a:uFillTx/>
                  <a:latin typeface="Times New Roman" pitchFamily="18" charset="0"/>
                </a:rPr>
                <a:t>0</a:t>
              </a:r>
            </a:p>
          </p:txBody>
        </p:sp>
        <p:sp>
          <p:nvSpPr>
            <p:cNvPr id="84" name="Text Box 14"/>
            <p:cNvSpPr txBox="1">
              <a:spLocks noChangeArrowheads="1"/>
            </p:cNvSpPr>
            <p:nvPr/>
          </p:nvSpPr>
          <p:spPr bwMode="auto">
            <a:xfrm>
              <a:off x="5267" y="1617"/>
              <a:ext cx="240" cy="294"/>
            </a:xfrm>
            <a:prstGeom prst="rect">
              <a:avLst/>
            </a:prstGeom>
            <a:noFill/>
            <a:ln w="9525">
              <a:solidFill>
                <a:srgbClr val="000000"/>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J</a:t>
              </a:r>
            </a:p>
          </p:txBody>
        </p:sp>
      </p:grpSp>
      <p:sp>
        <p:nvSpPr>
          <p:cNvPr id="85" name="Text Box 15"/>
          <p:cNvSpPr txBox="1">
            <a:spLocks noChangeArrowheads="1"/>
          </p:cNvSpPr>
          <p:nvPr/>
        </p:nvSpPr>
        <p:spPr bwMode="auto">
          <a:xfrm>
            <a:off x="860492" y="2176463"/>
            <a:ext cx="6988108" cy="463846"/>
          </a:xfrm>
          <a:prstGeom prst="rect">
            <a:avLst/>
          </a:prstGeom>
          <a:noFill/>
          <a:ln w="9525">
            <a:noFill/>
            <a:miter lim="800000"/>
            <a:headEnd/>
            <a:tailEnd/>
          </a:ln>
        </p:spPr>
        <p:txBody>
          <a:bodyPr wrap="none" lIns="90000" tIns="46800" rIns="90000" bIns="46800">
            <a:spAutoFit/>
          </a:bodyPr>
          <a:lstStyle/>
          <a:p>
            <a:pPr fontAlgn="base">
              <a:spcBef>
                <a:spcPct val="0"/>
              </a:spcBef>
              <a:spcAft>
                <a:spcPct val="0"/>
              </a:spcAft>
            </a:pPr>
            <a:r>
              <a:rPr kumimoji="1" lang="zh-CN" altLang="en-US" sz="2400" b="1" dirty="0">
                <a:solidFill>
                  <a:srgbClr val="0707F9"/>
                </a:solidFill>
                <a:latin typeface="楷体_GB2312" pitchFamily="49" charset="-122"/>
                <a:ea typeface="楷体_GB2312" pitchFamily="49" charset="-122"/>
              </a:rPr>
              <a:t>通过</a:t>
            </a:r>
            <a:r>
              <a:rPr kumimoji="1" lang="zh-CN" altLang="en-US" sz="2400" b="1" dirty="0">
                <a:solidFill>
                  <a:srgbClr val="FF3300"/>
                </a:solidFill>
                <a:latin typeface="楷体_GB2312" pitchFamily="49" charset="-122"/>
                <a:ea typeface="楷体_GB2312" pitchFamily="49" charset="-122"/>
              </a:rPr>
              <a:t>虚设</a:t>
            </a:r>
            <a:r>
              <a:rPr kumimoji="1" lang="zh-CN" altLang="en-US" sz="2400" b="1" dirty="0">
                <a:solidFill>
                  <a:srgbClr val="0707F9"/>
                </a:solidFill>
                <a:latin typeface="楷体_GB2312" pitchFamily="49" charset="-122"/>
                <a:ea typeface="楷体_GB2312" pitchFamily="49" charset="-122"/>
              </a:rPr>
              <a:t>部分结点，使其变成相应的</a:t>
            </a:r>
            <a:r>
              <a:rPr kumimoji="1" lang="zh-CN" altLang="en-US" sz="2400" b="1" dirty="0">
                <a:solidFill>
                  <a:srgbClr val="FF3300"/>
                </a:solidFill>
                <a:latin typeface="楷体_GB2312" pitchFamily="49" charset="-122"/>
                <a:ea typeface="楷体_GB2312" pitchFamily="49" charset="-122"/>
              </a:rPr>
              <a:t>完全二叉树</a:t>
            </a:r>
            <a:r>
              <a:rPr kumimoji="1" lang="zh-CN" altLang="en-US" sz="2400" b="1" dirty="0">
                <a:solidFill>
                  <a:srgbClr val="0707F9"/>
                </a:solidFill>
                <a:latin typeface="楷体_GB2312" pitchFamily="49" charset="-122"/>
                <a:ea typeface="楷体_GB2312" pitchFamily="49" charset="-122"/>
              </a:rPr>
              <a:t>。</a:t>
            </a:r>
          </a:p>
        </p:txBody>
      </p:sp>
      <p:grpSp>
        <p:nvGrpSpPr>
          <p:cNvPr id="86" name="Group 16"/>
          <p:cNvGrpSpPr>
            <a:grpSpLocks/>
          </p:cNvGrpSpPr>
          <p:nvPr/>
        </p:nvGrpSpPr>
        <p:grpSpPr bwMode="auto">
          <a:xfrm>
            <a:off x="1190625" y="2820987"/>
            <a:ext cx="2106613" cy="2665413"/>
            <a:chOff x="340" y="1434"/>
            <a:chExt cx="1225" cy="1679"/>
          </a:xfrm>
        </p:grpSpPr>
        <p:sp>
          <p:nvSpPr>
            <p:cNvPr id="87" name="Oval 17"/>
            <p:cNvSpPr>
              <a:spLocks noChangeArrowheads="1"/>
            </p:cNvSpPr>
            <p:nvPr/>
          </p:nvSpPr>
          <p:spPr bwMode="auto">
            <a:xfrm>
              <a:off x="635" y="1434"/>
              <a:ext cx="257" cy="214"/>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A</a:t>
              </a:r>
            </a:p>
          </p:txBody>
        </p:sp>
        <p:sp>
          <p:nvSpPr>
            <p:cNvPr id="88" name="Oval 18"/>
            <p:cNvSpPr>
              <a:spLocks noChangeArrowheads="1"/>
            </p:cNvSpPr>
            <p:nvPr/>
          </p:nvSpPr>
          <p:spPr bwMode="auto">
            <a:xfrm>
              <a:off x="340" y="1810"/>
              <a:ext cx="259" cy="214"/>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B</a:t>
              </a:r>
            </a:p>
          </p:txBody>
        </p:sp>
        <p:sp>
          <p:nvSpPr>
            <p:cNvPr id="89" name="Oval 19"/>
            <p:cNvSpPr>
              <a:spLocks noChangeArrowheads="1"/>
            </p:cNvSpPr>
            <p:nvPr/>
          </p:nvSpPr>
          <p:spPr bwMode="auto">
            <a:xfrm>
              <a:off x="900" y="1810"/>
              <a:ext cx="257" cy="214"/>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C</a:t>
              </a:r>
            </a:p>
          </p:txBody>
        </p:sp>
        <p:sp>
          <p:nvSpPr>
            <p:cNvPr id="90" name="Oval 20"/>
            <p:cNvSpPr>
              <a:spLocks noChangeArrowheads="1"/>
            </p:cNvSpPr>
            <p:nvPr/>
          </p:nvSpPr>
          <p:spPr bwMode="auto">
            <a:xfrm>
              <a:off x="579" y="2291"/>
              <a:ext cx="257" cy="214"/>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E</a:t>
              </a:r>
            </a:p>
          </p:txBody>
        </p:sp>
        <p:sp>
          <p:nvSpPr>
            <p:cNvPr id="91" name="Oval 21"/>
            <p:cNvSpPr>
              <a:spLocks noChangeArrowheads="1"/>
            </p:cNvSpPr>
            <p:nvPr/>
          </p:nvSpPr>
          <p:spPr bwMode="auto">
            <a:xfrm>
              <a:off x="1308" y="2320"/>
              <a:ext cx="257" cy="214"/>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G</a:t>
              </a:r>
            </a:p>
          </p:txBody>
        </p:sp>
        <p:sp>
          <p:nvSpPr>
            <p:cNvPr id="92" name="Line 22"/>
            <p:cNvSpPr>
              <a:spLocks noChangeShapeType="1"/>
            </p:cNvSpPr>
            <p:nvPr/>
          </p:nvSpPr>
          <p:spPr bwMode="auto">
            <a:xfrm flipH="1">
              <a:off x="476" y="1661"/>
              <a:ext cx="274" cy="151"/>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3" name="Line 23"/>
            <p:cNvSpPr>
              <a:spLocks noChangeShapeType="1"/>
            </p:cNvSpPr>
            <p:nvPr/>
          </p:nvSpPr>
          <p:spPr bwMode="auto">
            <a:xfrm>
              <a:off x="792" y="1661"/>
              <a:ext cx="274" cy="151"/>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4" name="Line 24"/>
            <p:cNvSpPr>
              <a:spLocks noChangeShapeType="1"/>
            </p:cNvSpPr>
            <p:nvPr/>
          </p:nvSpPr>
          <p:spPr bwMode="auto">
            <a:xfrm>
              <a:off x="522" y="1979"/>
              <a:ext cx="183" cy="30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5" name="Line 25"/>
            <p:cNvSpPr>
              <a:spLocks noChangeShapeType="1"/>
            </p:cNvSpPr>
            <p:nvPr/>
          </p:nvSpPr>
          <p:spPr bwMode="auto">
            <a:xfrm>
              <a:off x="1052" y="2024"/>
              <a:ext cx="365" cy="30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6" name="Oval 26"/>
            <p:cNvSpPr>
              <a:spLocks noChangeArrowheads="1"/>
            </p:cNvSpPr>
            <p:nvPr/>
          </p:nvSpPr>
          <p:spPr bwMode="auto">
            <a:xfrm>
              <a:off x="444" y="2899"/>
              <a:ext cx="259" cy="214"/>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J</a:t>
              </a:r>
            </a:p>
          </p:txBody>
        </p:sp>
        <p:sp>
          <p:nvSpPr>
            <p:cNvPr id="97" name="Line 27"/>
            <p:cNvSpPr>
              <a:spLocks noChangeShapeType="1"/>
            </p:cNvSpPr>
            <p:nvPr/>
          </p:nvSpPr>
          <p:spPr bwMode="auto">
            <a:xfrm flipH="1">
              <a:off x="597" y="2508"/>
              <a:ext cx="106" cy="378"/>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grpSp>
        <p:nvGrpSpPr>
          <p:cNvPr id="98" name="Group 30"/>
          <p:cNvGrpSpPr>
            <a:grpSpLocks/>
          </p:cNvGrpSpPr>
          <p:nvPr/>
        </p:nvGrpSpPr>
        <p:grpSpPr bwMode="auto">
          <a:xfrm>
            <a:off x="3895725" y="2636837"/>
            <a:ext cx="3433763" cy="2560638"/>
            <a:chOff x="1156" y="1318"/>
            <a:chExt cx="1996" cy="1613"/>
          </a:xfrm>
        </p:grpSpPr>
        <p:sp>
          <p:nvSpPr>
            <p:cNvPr id="99" name="Oval 31"/>
            <p:cNvSpPr>
              <a:spLocks noChangeArrowheads="1"/>
            </p:cNvSpPr>
            <p:nvPr/>
          </p:nvSpPr>
          <p:spPr bwMode="auto">
            <a:xfrm>
              <a:off x="2290" y="1318"/>
              <a:ext cx="248" cy="251"/>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A</a:t>
              </a:r>
            </a:p>
          </p:txBody>
        </p:sp>
        <p:sp>
          <p:nvSpPr>
            <p:cNvPr id="100" name="Oval 32"/>
            <p:cNvSpPr>
              <a:spLocks noChangeArrowheads="1"/>
            </p:cNvSpPr>
            <p:nvPr/>
          </p:nvSpPr>
          <p:spPr bwMode="auto">
            <a:xfrm>
              <a:off x="1997" y="1728"/>
              <a:ext cx="248" cy="251"/>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B</a:t>
              </a:r>
            </a:p>
          </p:txBody>
        </p:sp>
        <p:sp>
          <p:nvSpPr>
            <p:cNvPr id="101" name="Oval 33"/>
            <p:cNvSpPr>
              <a:spLocks noChangeArrowheads="1"/>
            </p:cNvSpPr>
            <p:nvPr/>
          </p:nvSpPr>
          <p:spPr bwMode="auto">
            <a:xfrm>
              <a:off x="2539" y="1752"/>
              <a:ext cx="250" cy="251"/>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C</a:t>
              </a:r>
            </a:p>
          </p:txBody>
        </p:sp>
        <p:sp>
          <p:nvSpPr>
            <p:cNvPr id="102" name="Oval 34"/>
            <p:cNvSpPr>
              <a:spLocks noChangeArrowheads="1"/>
            </p:cNvSpPr>
            <p:nvPr/>
          </p:nvSpPr>
          <p:spPr bwMode="auto">
            <a:xfrm>
              <a:off x="1609" y="2081"/>
              <a:ext cx="272" cy="272"/>
            </a:xfrm>
            <a:prstGeom prst="ellipse">
              <a:avLst/>
            </a:prstGeom>
            <a:noFill/>
            <a:ln w="9525">
              <a:solidFill>
                <a:srgbClr val="FF33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FF0000"/>
                  </a:solidFill>
                  <a:effectLst/>
                  <a:uLnTx/>
                  <a:uFillTx/>
                  <a:latin typeface="Times New Roman" pitchFamily="18" charset="0"/>
                </a:rPr>
                <a:t>0</a:t>
              </a:r>
            </a:p>
          </p:txBody>
        </p:sp>
        <p:sp>
          <p:nvSpPr>
            <p:cNvPr id="103" name="Oval 35"/>
            <p:cNvSpPr>
              <a:spLocks noChangeArrowheads="1"/>
            </p:cNvSpPr>
            <p:nvPr/>
          </p:nvSpPr>
          <p:spPr bwMode="auto">
            <a:xfrm>
              <a:off x="2109" y="2160"/>
              <a:ext cx="273" cy="286"/>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E</a:t>
              </a:r>
            </a:p>
          </p:txBody>
        </p:sp>
        <p:sp>
          <p:nvSpPr>
            <p:cNvPr id="104" name="Oval 36"/>
            <p:cNvSpPr>
              <a:spLocks noChangeArrowheads="1"/>
            </p:cNvSpPr>
            <p:nvPr/>
          </p:nvSpPr>
          <p:spPr bwMode="auto">
            <a:xfrm>
              <a:off x="2426" y="2160"/>
              <a:ext cx="273" cy="286"/>
            </a:xfrm>
            <a:prstGeom prst="ellipse">
              <a:avLst/>
            </a:prstGeom>
            <a:noFill/>
            <a:ln w="9525">
              <a:solidFill>
                <a:srgbClr val="FF33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FF0000"/>
                  </a:solidFill>
                  <a:effectLst/>
                  <a:uLnTx/>
                  <a:uFillTx/>
                  <a:latin typeface="Times New Roman" pitchFamily="18" charset="0"/>
                </a:rPr>
                <a:t>0</a:t>
              </a:r>
            </a:p>
          </p:txBody>
        </p:sp>
        <p:sp>
          <p:nvSpPr>
            <p:cNvPr id="105" name="Oval 37"/>
            <p:cNvSpPr>
              <a:spLocks noChangeArrowheads="1"/>
            </p:cNvSpPr>
            <p:nvPr/>
          </p:nvSpPr>
          <p:spPr bwMode="auto">
            <a:xfrm>
              <a:off x="2879" y="2146"/>
              <a:ext cx="273" cy="28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G</a:t>
              </a:r>
            </a:p>
          </p:txBody>
        </p:sp>
        <p:sp>
          <p:nvSpPr>
            <p:cNvPr id="106" name="Oval 38"/>
            <p:cNvSpPr>
              <a:spLocks noChangeArrowheads="1"/>
            </p:cNvSpPr>
            <p:nvPr/>
          </p:nvSpPr>
          <p:spPr bwMode="auto">
            <a:xfrm>
              <a:off x="1791" y="2671"/>
              <a:ext cx="262" cy="260"/>
            </a:xfrm>
            <a:prstGeom prst="ellipse">
              <a:avLst/>
            </a:prstGeom>
            <a:noFill/>
            <a:ln w="9525">
              <a:solidFill>
                <a:srgbClr val="FF33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FF0000"/>
                  </a:solidFill>
                  <a:effectLst/>
                  <a:uLnTx/>
                  <a:uFillTx/>
                  <a:latin typeface="Times New Roman" pitchFamily="18" charset="0"/>
                </a:rPr>
                <a:t>0</a:t>
              </a:r>
            </a:p>
          </p:txBody>
        </p:sp>
        <p:sp>
          <p:nvSpPr>
            <p:cNvPr id="107" name="Oval 39"/>
            <p:cNvSpPr>
              <a:spLocks noChangeArrowheads="1"/>
            </p:cNvSpPr>
            <p:nvPr/>
          </p:nvSpPr>
          <p:spPr bwMode="auto">
            <a:xfrm>
              <a:off x="1383" y="2671"/>
              <a:ext cx="262" cy="260"/>
            </a:xfrm>
            <a:prstGeom prst="ellipse">
              <a:avLst/>
            </a:prstGeom>
            <a:noFill/>
            <a:ln w="9525">
              <a:solidFill>
                <a:srgbClr val="FF33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FF0000"/>
                  </a:solidFill>
                  <a:effectLst/>
                  <a:uLnTx/>
                  <a:uFillTx/>
                  <a:latin typeface="Times New Roman" pitchFamily="18" charset="0"/>
                </a:rPr>
                <a:t>0</a:t>
              </a:r>
            </a:p>
          </p:txBody>
        </p:sp>
        <p:sp>
          <p:nvSpPr>
            <p:cNvPr id="108" name="Line 40"/>
            <p:cNvSpPr>
              <a:spLocks noChangeShapeType="1"/>
            </p:cNvSpPr>
            <p:nvPr/>
          </p:nvSpPr>
          <p:spPr bwMode="auto">
            <a:xfrm flipH="1">
              <a:off x="2144" y="1550"/>
              <a:ext cx="182" cy="177"/>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9" name="Line 41"/>
            <p:cNvSpPr>
              <a:spLocks noChangeShapeType="1"/>
            </p:cNvSpPr>
            <p:nvPr/>
          </p:nvSpPr>
          <p:spPr bwMode="auto">
            <a:xfrm>
              <a:off x="2472" y="1570"/>
              <a:ext cx="136" cy="182"/>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0" name="Line 42"/>
            <p:cNvSpPr>
              <a:spLocks noChangeShapeType="1"/>
            </p:cNvSpPr>
            <p:nvPr/>
          </p:nvSpPr>
          <p:spPr bwMode="auto">
            <a:xfrm flipH="1">
              <a:off x="1837" y="1968"/>
              <a:ext cx="235" cy="147"/>
            </a:xfrm>
            <a:prstGeom prst="line">
              <a:avLst/>
            </a:prstGeom>
            <a:noFill/>
            <a:ln w="9525">
              <a:solidFill>
                <a:srgbClr val="FF33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1" name="Line 43"/>
            <p:cNvSpPr>
              <a:spLocks noChangeShapeType="1"/>
            </p:cNvSpPr>
            <p:nvPr/>
          </p:nvSpPr>
          <p:spPr bwMode="auto">
            <a:xfrm>
              <a:off x="2154" y="1968"/>
              <a:ext cx="97"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2" name="Line 44"/>
            <p:cNvSpPr>
              <a:spLocks noChangeShapeType="1"/>
            </p:cNvSpPr>
            <p:nvPr/>
          </p:nvSpPr>
          <p:spPr bwMode="auto">
            <a:xfrm flipH="1">
              <a:off x="2562" y="1979"/>
              <a:ext cx="49" cy="192"/>
            </a:xfrm>
            <a:prstGeom prst="line">
              <a:avLst/>
            </a:prstGeom>
            <a:noFill/>
            <a:ln w="9525">
              <a:solidFill>
                <a:srgbClr val="FF33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3" name="Line 45"/>
            <p:cNvSpPr>
              <a:spLocks noChangeShapeType="1"/>
            </p:cNvSpPr>
            <p:nvPr/>
          </p:nvSpPr>
          <p:spPr bwMode="auto">
            <a:xfrm>
              <a:off x="2744" y="1979"/>
              <a:ext cx="193"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4" name="Line 46"/>
            <p:cNvSpPr>
              <a:spLocks noChangeShapeType="1"/>
            </p:cNvSpPr>
            <p:nvPr/>
          </p:nvSpPr>
          <p:spPr bwMode="auto">
            <a:xfrm flipH="1">
              <a:off x="1519" y="2308"/>
              <a:ext cx="136" cy="363"/>
            </a:xfrm>
            <a:prstGeom prst="line">
              <a:avLst/>
            </a:prstGeom>
            <a:noFill/>
            <a:ln w="9525">
              <a:solidFill>
                <a:srgbClr val="FF33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5" name="Line 47"/>
            <p:cNvSpPr>
              <a:spLocks noChangeShapeType="1"/>
            </p:cNvSpPr>
            <p:nvPr/>
          </p:nvSpPr>
          <p:spPr bwMode="auto">
            <a:xfrm>
              <a:off x="1791" y="2353"/>
              <a:ext cx="94" cy="331"/>
            </a:xfrm>
            <a:prstGeom prst="line">
              <a:avLst/>
            </a:prstGeom>
            <a:noFill/>
            <a:ln w="9525">
              <a:solidFill>
                <a:srgbClr val="FF33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6" name="Oval 48"/>
            <p:cNvSpPr>
              <a:spLocks noChangeArrowheads="1"/>
            </p:cNvSpPr>
            <p:nvPr/>
          </p:nvSpPr>
          <p:spPr bwMode="auto">
            <a:xfrm>
              <a:off x="2064" y="2671"/>
              <a:ext cx="262" cy="260"/>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J</a:t>
              </a:r>
            </a:p>
          </p:txBody>
        </p:sp>
        <p:sp>
          <p:nvSpPr>
            <p:cNvPr id="117" name="Line 49"/>
            <p:cNvSpPr>
              <a:spLocks noChangeShapeType="1"/>
            </p:cNvSpPr>
            <p:nvPr/>
          </p:nvSpPr>
          <p:spPr bwMode="auto">
            <a:xfrm flipH="1">
              <a:off x="2200" y="2432"/>
              <a:ext cx="90" cy="227"/>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8" name="Line 50"/>
            <p:cNvSpPr>
              <a:spLocks noChangeShapeType="1"/>
            </p:cNvSpPr>
            <p:nvPr/>
          </p:nvSpPr>
          <p:spPr bwMode="auto">
            <a:xfrm>
              <a:off x="1156" y="1888"/>
              <a:ext cx="409" cy="0"/>
            </a:xfrm>
            <a:prstGeom prst="line">
              <a:avLst/>
            </a:prstGeom>
            <a:noFill/>
            <a:ln w="57150" cmpd="thinThick">
              <a:solidFill>
                <a:srgbClr val="000000"/>
              </a:solidFill>
              <a:round/>
              <a:headEnd/>
              <a:tailEnd type="triangle" w="med" len="me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Tree>
    <p:extLst>
      <p:ext uri="{BB962C8B-B14F-4D97-AF65-F5344CB8AC3E}">
        <p14:creationId xmlns:p14="http://schemas.microsoft.com/office/powerpoint/2010/main" val="1425975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5.2.3 </a:t>
            </a:r>
            <a:r>
              <a:rPr kumimoji="1" lang="zh-CN" altLang="en-US" sz="3200" b="1" dirty="0">
                <a:latin typeface="Arial" charset="0"/>
                <a:ea typeface="宋体" charset="-122"/>
                <a:cs typeface="+mn-cs"/>
              </a:rPr>
              <a:t>二叉树的存储结构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r>
              <a:rPr lang="zh-CN" altLang="en-US" sz="2800" b="1" dirty="0"/>
              <a:t>二叉树的顺序存储表示</a:t>
            </a:r>
            <a:endParaRPr lang="en-US" altLang="zh-CN" sz="2800" b="1" dirty="0"/>
          </a:p>
        </p:txBody>
      </p:sp>
      <p:sp>
        <p:nvSpPr>
          <p:cNvPr id="4" name="日期占位符 3"/>
          <p:cNvSpPr>
            <a:spLocks noGrp="1"/>
          </p:cNvSpPr>
          <p:nvPr>
            <p:ph type="dt" sz="half" idx="10"/>
          </p:nvPr>
        </p:nvSpPr>
        <p:spPr/>
        <p:txBody>
          <a:bodyPr/>
          <a:lstStyle/>
          <a:p>
            <a:fld id="{2769E70C-0E56-4622-9F63-5CBB5E715DBD}"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38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59" name="Text Box 2"/>
          <p:cNvSpPr txBox="1">
            <a:spLocks noChangeArrowheads="1"/>
          </p:cNvSpPr>
          <p:nvPr/>
        </p:nvSpPr>
        <p:spPr bwMode="auto">
          <a:xfrm>
            <a:off x="698500" y="1752600"/>
            <a:ext cx="2504510" cy="463846"/>
          </a:xfrm>
          <a:prstGeom prst="rect">
            <a:avLst/>
          </a:prstGeom>
          <a:noFill/>
          <a:ln w="9525">
            <a:noFill/>
            <a:miter lim="800000"/>
            <a:headEnd/>
            <a:tailEnd/>
          </a:ln>
        </p:spPr>
        <p:txBody>
          <a:bodyPr wrap="none" lIns="90000" tIns="46800" rIns="90000" bIns="46800">
            <a:spAutoFit/>
          </a:bodyPr>
          <a:lstStyle/>
          <a:p>
            <a:pPr fontAlgn="base">
              <a:spcBef>
                <a:spcPct val="0"/>
              </a:spcBef>
              <a:spcAft>
                <a:spcPct val="0"/>
              </a:spcAft>
            </a:pPr>
            <a:r>
              <a:rPr kumimoji="1" lang="en-US" altLang="zh-CN" sz="2400" b="1" dirty="0">
                <a:solidFill>
                  <a:srgbClr val="0707F9"/>
                </a:solidFill>
                <a:latin typeface="楷体_GB2312" pitchFamily="49" charset="-122"/>
                <a:ea typeface="楷体_GB2312" pitchFamily="49" charset="-122"/>
              </a:rPr>
              <a:t>(3)</a:t>
            </a:r>
            <a:r>
              <a:rPr kumimoji="1" lang="zh-CN" altLang="en-US" sz="2400" b="1" dirty="0">
                <a:solidFill>
                  <a:srgbClr val="0707F9"/>
                </a:solidFill>
                <a:latin typeface="楷体_GB2312" pitchFamily="49" charset="-122"/>
                <a:ea typeface="楷体_GB2312" pitchFamily="49" charset="-122"/>
              </a:rPr>
              <a:t>特殊的二叉树</a:t>
            </a:r>
          </a:p>
        </p:txBody>
      </p:sp>
      <p:sp>
        <p:nvSpPr>
          <p:cNvPr id="60" name="Text Box 10"/>
          <p:cNvSpPr txBox="1">
            <a:spLocks noChangeArrowheads="1"/>
          </p:cNvSpPr>
          <p:nvPr/>
        </p:nvSpPr>
        <p:spPr bwMode="auto">
          <a:xfrm>
            <a:off x="407987" y="5767388"/>
            <a:ext cx="8507413" cy="528637"/>
          </a:xfrm>
          <a:prstGeom prst="rect">
            <a:avLst/>
          </a:prstGeom>
          <a:noFill/>
          <a:ln w="9525">
            <a:solidFill>
              <a:srgbClr val="0707F9"/>
            </a:solidFill>
            <a:miter lim="800000"/>
            <a:headEnd/>
            <a:tailEnd/>
          </a:ln>
        </p:spPr>
        <p:txBody>
          <a:bodyPr lIns="90000" tIns="46800" rIns="90000" bIns="46800">
            <a:spAutoFit/>
          </a:bodyPr>
          <a:lstStyle/>
          <a:p>
            <a:pPr eaLnBrk="0" fontAlgn="base" hangingPunct="0">
              <a:spcBef>
                <a:spcPct val="50000"/>
              </a:spcBef>
              <a:spcAft>
                <a:spcPct val="0"/>
              </a:spcAft>
            </a:pPr>
            <a:r>
              <a:rPr kumimoji="1" lang="zh-CN" altLang="en-US" sz="2800" b="1">
                <a:solidFill>
                  <a:srgbClr val="FF3300"/>
                </a:solidFill>
                <a:latin typeface="Times New Roman" pitchFamily="18" charset="0"/>
                <a:ea typeface="楷体_GB2312" pitchFamily="49" charset="-122"/>
              </a:rPr>
              <a:t>说明：</a:t>
            </a:r>
            <a:r>
              <a:rPr kumimoji="1" lang="zh-CN" altLang="en-US" sz="2800" b="1">
                <a:solidFill>
                  <a:srgbClr val="0707F9"/>
                </a:solidFill>
                <a:latin typeface="Times New Roman" pitchFamily="18" charset="0"/>
                <a:ea typeface="楷体_GB2312" pitchFamily="49" charset="-122"/>
              </a:rPr>
              <a:t>顺序存储方式对于畸形二叉树，浪费较大空间</a:t>
            </a:r>
            <a:endParaRPr kumimoji="1" lang="zh-CN" altLang="en-US" sz="2800" b="1">
              <a:solidFill>
                <a:srgbClr val="0707F9"/>
              </a:solidFill>
              <a:latin typeface="楷体_GB2312" pitchFamily="49" charset="-122"/>
              <a:ea typeface="楷体_GB2312" pitchFamily="49" charset="-122"/>
            </a:endParaRPr>
          </a:p>
        </p:txBody>
      </p:sp>
      <p:sp>
        <p:nvSpPr>
          <p:cNvPr id="61" name="Oval 16"/>
          <p:cNvSpPr>
            <a:spLocks noChangeArrowheads="1"/>
          </p:cNvSpPr>
          <p:nvPr/>
        </p:nvSpPr>
        <p:spPr bwMode="auto">
          <a:xfrm>
            <a:off x="1812925" y="2990850"/>
            <a:ext cx="441325" cy="339725"/>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A</a:t>
            </a:r>
          </a:p>
        </p:txBody>
      </p:sp>
      <p:sp>
        <p:nvSpPr>
          <p:cNvPr id="62" name="Oval 17"/>
          <p:cNvSpPr>
            <a:spLocks noChangeArrowheads="1"/>
          </p:cNvSpPr>
          <p:nvPr/>
        </p:nvSpPr>
        <p:spPr bwMode="auto">
          <a:xfrm>
            <a:off x="2268538" y="3587750"/>
            <a:ext cx="441325" cy="339725"/>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B</a:t>
            </a:r>
          </a:p>
        </p:txBody>
      </p:sp>
      <p:sp>
        <p:nvSpPr>
          <p:cNvPr id="63" name="Oval 18"/>
          <p:cNvSpPr>
            <a:spLocks noChangeArrowheads="1"/>
          </p:cNvSpPr>
          <p:nvPr/>
        </p:nvSpPr>
        <p:spPr bwMode="auto">
          <a:xfrm>
            <a:off x="2906713" y="4071938"/>
            <a:ext cx="441325" cy="339725"/>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C</a:t>
            </a:r>
          </a:p>
        </p:txBody>
      </p:sp>
      <p:sp>
        <p:nvSpPr>
          <p:cNvPr id="64" name="Line 19"/>
          <p:cNvSpPr>
            <a:spLocks noChangeShapeType="1"/>
          </p:cNvSpPr>
          <p:nvPr/>
        </p:nvSpPr>
        <p:spPr bwMode="auto">
          <a:xfrm>
            <a:off x="2082800" y="3279775"/>
            <a:ext cx="320675" cy="287338"/>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5" name="Oval 20"/>
          <p:cNvSpPr>
            <a:spLocks noChangeArrowheads="1"/>
          </p:cNvSpPr>
          <p:nvPr/>
        </p:nvSpPr>
        <p:spPr bwMode="auto">
          <a:xfrm>
            <a:off x="4203700" y="5222875"/>
            <a:ext cx="444500" cy="339725"/>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J</a:t>
            </a:r>
          </a:p>
        </p:txBody>
      </p:sp>
      <p:sp>
        <p:nvSpPr>
          <p:cNvPr id="66" name="Line 21"/>
          <p:cNvSpPr>
            <a:spLocks noChangeShapeType="1"/>
          </p:cNvSpPr>
          <p:nvPr/>
        </p:nvSpPr>
        <p:spPr bwMode="auto">
          <a:xfrm>
            <a:off x="3267075" y="4359275"/>
            <a:ext cx="320675" cy="287338"/>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7" name="Line 22"/>
          <p:cNvSpPr>
            <a:spLocks noChangeShapeType="1"/>
          </p:cNvSpPr>
          <p:nvPr/>
        </p:nvSpPr>
        <p:spPr bwMode="auto">
          <a:xfrm>
            <a:off x="2659063" y="3856038"/>
            <a:ext cx="320675" cy="287337"/>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Tree>
    <p:extLst>
      <p:ext uri="{BB962C8B-B14F-4D97-AF65-F5344CB8AC3E}">
        <p14:creationId xmlns:p14="http://schemas.microsoft.com/office/powerpoint/2010/main" val="2627418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5.2.3  </a:t>
            </a:r>
            <a:r>
              <a:rPr kumimoji="1" lang="zh-CN" altLang="en-US" sz="3200" b="1" dirty="0">
                <a:latin typeface="Arial" charset="0"/>
                <a:ea typeface="宋体" charset="-122"/>
                <a:cs typeface="+mn-cs"/>
              </a:rPr>
              <a:t>二叉树的存储结构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r>
              <a:rPr lang="zh-CN" altLang="en-US" sz="2800" b="1" dirty="0"/>
              <a:t>二叉树的链式存储表示</a:t>
            </a:r>
            <a:endParaRPr lang="en-US" altLang="zh-CN" sz="2800" b="1" dirty="0"/>
          </a:p>
        </p:txBody>
      </p:sp>
      <p:sp>
        <p:nvSpPr>
          <p:cNvPr id="4" name="日期占位符 3"/>
          <p:cNvSpPr>
            <a:spLocks noGrp="1"/>
          </p:cNvSpPr>
          <p:nvPr>
            <p:ph type="dt" sz="half" idx="10"/>
          </p:nvPr>
        </p:nvSpPr>
        <p:spPr/>
        <p:txBody>
          <a:bodyPr/>
          <a:lstStyle/>
          <a:p>
            <a:fld id="{4A5DA142-9432-4F81-B4E8-A65AC0943286}"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39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21" name="Text Box 2"/>
          <p:cNvSpPr txBox="1">
            <a:spLocks noChangeArrowheads="1"/>
          </p:cNvSpPr>
          <p:nvPr/>
        </p:nvSpPr>
        <p:spPr bwMode="auto">
          <a:xfrm>
            <a:off x="731838" y="1676400"/>
            <a:ext cx="8031162" cy="1311128"/>
          </a:xfrm>
          <a:prstGeom prst="rect">
            <a:avLst/>
          </a:prstGeom>
          <a:noFill/>
          <a:ln w="12700" cap="rnd">
            <a:solidFill>
              <a:srgbClr val="0707F9"/>
            </a:solidFill>
            <a:miter lim="800000"/>
            <a:headEnd/>
            <a:tailEnd/>
          </a:ln>
        </p:spPr>
        <p:txBody>
          <a:bodyPr wrap="square">
            <a:spAutoFit/>
          </a:bodyPr>
          <a:lstStyle/>
          <a:p>
            <a:pPr eaLnBrk="0" fontAlgn="base" hangingPunct="0">
              <a:spcBef>
                <a:spcPct val="30000"/>
              </a:spcBef>
              <a:spcAft>
                <a:spcPct val="0"/>
              </a:spcAft>
            </a:pPr>
            <a:r>
              <a:rPr kumimoji="1" lang="zh-CN" altLang="en-US" sz="2400" b="1" dirty="0">
                <a:solidFill>
                  <a:srgbClr val="FF0000"/>
                </a:solidFill>
                <a:latin typeface="宋体" pitchFamily="2" charset="-122"/>
              </a:rPr>
              <a:t>二叉链表存储：</a:t>
            </a:r>
          </a:p>
          <a:p>
            <a:pPr eaLnBrk="0" fontAlgn="base" hangingPunct="0">
              <a:spcBef>
                <a:spcPct val="30000"/>
              </a:spcBef>
              <a:spcAft>
                <a:spcPct val="0"/>
              </a:spcAft>
            </a:pPr>
            <a:r>
              <a:rPr kumimoji="1" lang="zh-CN" altLang="en-US" sz="2400" b="1" dirty="0">
                <a:solidFill>
                  <a:srgbClr val="0707F9"/>
                </a:solidFill>
                <a:latin typeface="宋体" pitchFamily="2" charset="-122"/>
              </a:rPr>
              <a:t>二叉链表中每个结点包含三个域：数据域、左指针域、右指针域  </a:t>
            </a:r>
          </a:p>
        </p:txBody>
      </p:sp>
      <p:sp>
        <p:nvSpPr>
          <p:cNvPr id="22" name="Text Box 3"/>
          <p:cNvSpPr txBox="1">
            <a:spLocks noChangeArrowheads="1"/>
          </p:cNvSpPr>
          <p:nvPr/>
        </p:nvSpPr>
        <p:spPr bwMode="auto">
          <a:xfrm>
            <a:off x="1209675" y="4252912"/>
            <a:ext cx="6119813" cy="2057400"/>
          </a:xfrm>
          <a:prstGeom prst="rect">
            <a:avLst/>
          </a:prstGeom>
          <a:noFill/>
          <a:ln w="12700" cap="rnd">
            <a:noFill/>
            <a:miter lim="800000"/>
            <a:headEnd/>
            <a:tailEnd/>
          </a:ln>
        </p:spPr>
        <p:txBody>
          <a:bodyPr>
            <a:spAutoFit/>
          </a:bodyPr>
          <a:lstStyle/>
          <a:p>
            <a:pPr eaLnBrk="0" fontAlgn="base" hangingPunct="0">
              <a:spcBef>
                <a:spcPct val="20000"/>
              </a:spcBef>
              <a:spcAft>
                <a:spcPct val="0"/>
              </a:spcAft>
            </a:pPr>
            <a:r>
              <a:rPr kumimoji="1" lang="en-US" altLang="zh-CN" sz="2800" b="1">
                <a:solidFill>
                  <a:srgbClr val="000000"/>
                </a:solidFill>
                <a:latin typeface="宋体" pitchFamily="2" charset="-122"/>
              </a:rPr>
              <a:t>typedef </a:t>
            </a:r>
            <a:r>
              <a:rPr kumimoji="1" lang="en-US" altLang="zh-CN" sz="2800" b="1">
                <a:solidFill>
                  <a:srgbClr val="0000FF"/>
                </a:solidFill>
                <a:latin typeface="宋体" pitchFamily="2" charset="-122"/>
              </a:rPr>
              <a:t>Struct node</a:t>
            </a:r>
          </a:p>
          <a:p>
            <a:pPr eaLnBrk="0" fontAlgn="base" hangingPunct="0">
              <a:spcBef>
                <a:spcPct val="20000"/>
              </a:spcBef>
              <a:spcAft>
                <a:spcPct val="0"/>
              </a:spcAft>
            </a:pPr>
            <a:r>
              <a:rPr kumimoji="1" lang="en-US" altLang="zh-CN" sz="2800" b="1">
                <a:solidFill>
                  <a:srgbClr val="000000"/>
                </a:solidFill>
                <a:latin typeface="宋体" pitchFamily="2" charset="-122"/>
              </a:rPr>
              <a:t>     { DataType  data;</a:t>
            </a:r>
          </a:p>
          <a:p>
            <a:pPr eaLnBrk="0" fontAlgn="base" hangingPunct="0">
              <a:spcBef>
                <a:spcPct val="20000"/>
              </a:spcBef>
              <a:spcAft>
                <a:spcPct val="0"/>
              </a:spcAft>
            </a:pPr>
            <a:r>
              <a:rPr kumimoji="1" lang="en-US" altLang="zh-CN" sz="2800" b="1">
                <a:solidFill>
                  <a:srgbClr val="000000"/>
                </a:solidFill>
                <a:latin typeface="宋体" pitchFamily="2" charset="-122"/>
              </a:rPr>
              <a:t>       </a:t>
            </a:r>
            <a:r>
              <a:rPr kumimoji="1" lang="en-US" altLang="zh-CN" sz="2800" b="1">
                <a:solidFill>
                  <a:srgbClr val="0000FF"/>
                </a:solidFill>
                <a:latin typeface="宋体" pitchFamily="2" charset="-122"/>
              </a:rPr>
              <a:t>Struct node</a:t>
            </a:r>
            <a:r>
              <a:rPr kumimoji="1" lang="en-US" altLang="zh-CN" sz="2800" b="1">
                <a:solidFill>
                  <a:srgbClr val="000000"/>
                </a:solidFill>
                <a:latin typeface="宋体" pitchFamily="2" charset="-122"/>
              </a:rPr>
              <a:t> *lch,*rch;</a:t>
            </a:r>
          </a:p>
          <a:p>
            <a:pPr eaLnBrk="0" fontAlgn="base" hangingPunct="0">
              <a:spcBef>
                <a:spcPct val="20000"/>
              </a:spcBef>
              <a:spcAft>
                <a:spcPct val="0"/>
              </a:spcAft>
            </a:pPr>
            <a:r>
              <a:rPr kumimoji="1" lang="en-US" altLang="zh-CN" sz="2800" b="1">
                <a:solidFill>
                  <a:srgbClr val="000000"/>
                </a:solidFill>
                <a:latin typeface="宋体" pitchFamily="2" charset="-122"/>
              </a:rPr>
              <a:t>     }BinTNode;</a:t>
            </a:r>
          </a:p>
        </p:txBody>
      </p:sp>
      <p:grpSp>
        <p:nvGrpSpPr>
          <p:cNvPr id="23" name="Group 6"/>
          <p:cNvGrpSpPr>
            <a:grpSpLocks/>
          </p:cNvGrpSpPr>
          <p:nvPr/>
        </p:nvGrpSpPr>
        <p:grpSpPr bwMode="auto">
          <a:xfrm>
            <a:off x="1466850" y="3128962"/>
            <a:ext cx="3486150" cy="528638"/>
            <a:chOff x="480" y="816"/>
            <a:chExt cx="1728" cy="127"/>
          </a:xfrm>
        </p:grpSpPr>
        <p:sp>
          <p:nvSpPr>
            <p:cNvPr id="24" name="Text Box 7"/>
            <p:cNvSpPr txBox="1">
              <a:spLocks noChangeArrowheads="1"/>
            </p:cNvSpPr>
            <p:nvPr/>
          </p:nvSpPr>
          <p:spPr bwMode="auto">
            <a:xfrm>
              <a:off x="480" y="816"/>
              <a:ext cx="576" cy="127"/>
            </a:xfrm>
            <a:prstGeom prst="rect">
              <a:avLst/>
            </a:prstGeom>
            <a:noFill/>
            <a:ln w="9525">
              <a:solidFill>
                <a:srgbClr val="000000"/>
              </a:solidFill>
              <a:miter lim="800000"/>
              <a:headEnd/>
              <a:tailEnd/>
            </a:ln>
          </p:spPr>
          <p:txBody>
            <a:bodyPr lIns="90000" tIns="46800" rIns="90000" bIns="46800">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lch</a:t>
              </a:r>
            </a:p>
          </p:txBody>
        </p:sp>
        <p:sp>
          <p:nvSpPr>
            <p:cNvPr id="25" name="Text Box 8"/>
            <p:cNvSpPr txBox="1">
              <a:spLocks noChangeArrowheads="1"/>
            </p:cNvSpPr>
            <p:nvPr/>
          </p:nvSpPr>
          <p:spPr bwMode="auto">
            <a:xfrm>
              <a:off x="1632" y="816"/>
              <a:ext cx="576" cy="127"/>
            </a:xfrm>
            <a:prstGeom prst="rect">
              <a:avLst/>
            </a:prstGeom>
            <a:noFill/>
            <a:ln w="9525">
              <a:solidFill>
                <a:srgbClr val="000000"/>
              </a:solidFill>
              <a:miter lim="800000"/>
              <a:headEnd/>
              <a:tailEnd/>
            </a:ln>
          </p:spPr>
          <p:txBody>
            <a:bodyPr lIns="90000" tIns="46800" rIns="90000" bIns="46800">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rch</a:t>
              </a:r>
            </a:p>
          </p:txBody>
        </p:sp>
        <p:sp>
          <p:nvSpPr>
            <p:cNvPr id="26" name="Text Box 9"/>
            <p:cNvSpPr txBox="1">
              <a:spLocks noChangeArrowheads="1"/>
            </p:cNvSpPr>
            <p:nvPr/>
          </p:nvSpPr>
          <p:spPr bwMode="auto">
            <a:xfrm>
              <a:off x="1056" y="816"/>
              <a:ext cx="576" cy="127"/>
            </a:xfrm>
            <a:prstGeom prst="rect">
              <a:avLst/>
            </a:prstGeom>
            <a:noFill/>
            <a:ln w="9525">
              <a:solidFill>
                <a:srgbClr val="000000"/>
              </a:solidFill>
              <a:miter lim="800000"/>
              <a:headEnd/>
              <a:tailEnd/>
            </a:ln>
          </p:spPr>
          <p:txBody>
            <a:bodyPr lIns="90000" tIns="46800" rIns="90000" bIns="46800">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itchFamily="18" charset="0"/>
                </a:rPr>
                <a:t>data</a:t>
              </a:r>
            </a:p>
          </p:txBody>
        </p:sp>
      </p:grpSp>
      <p:sp>
        <p:nvSpPr>
          <p:cNvPr id="27" name="Text Box 10"/>
          <p:cNvSpPr txBox="1">
            <a:spLocks noChangeArrowheads="1"/>
          </p:cNvSpPr>
          <p:nvPr/>
        </p:nvSpPr>
        <p:spPr bwMode="auto">
          <a:xfrm>
            <a:off x="1120775" y="3748087"/>
            <a:ext cx="3903663" cy="519113"/>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2800" dirty="0">
                <a:solidFill>
                  <a:srgbClr val="0000FF"/>
                </a:solidFill>
                <a:latin typeface="Times New Roman" pitchFamily="18" charset="0"/>
              </a:rPr>
              <a:t>C </a:t>
            </a:r>
            <a:r>
              <a:rPr kumimoji="1" lang="zh-CN" altLang="zh-CN" sz="2800" b="1" dirty="0">
                <a:solidFill>
                  <a:srgbClr val="0000FF"/>
                </a:solidFill>
                <a:latin typeface="楷体_GB2312" pitchFamily="49" charset="-122"/>
                <a:ea typeface="楷体_GB2312" pitchFamily="49" charset="-122"/>
              </a:rPr>
              <a:t>语言的类型描述如下:</a:t>
            </a:r>
            <a:endParaRPr kumimoji="1" lang="en-US" altLang="zh-CN" sz="2800" dirty="0">
              <a:solidFill>
                <a:srgbClr val="0000FF"/>
              </a:solidFill>
              <a:latin typeface="Times New Roman" pitchFamily="18" charset="0"/>
            </a:endParaRPr>
          </a:p>
        </p:txBody>
      </p:sp>
    </p:spTree>
    <p:extLst>
      <p:ext uri="{BB962C8B-B14F-4D97-AF65-F5344CB8AC3E}">
        <p14:creationId xmlns:p14="http://schemas.microsoft.com/office/powerpoint/2010/main" val="2337045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5.2.3 </a:t>
            </a:r>
            <a:r>
              <a:rPr kumimoji="1" lang="zh-CN" altLang="en-US" sz="3200" b="1" dirty="0">
                <a:latin typeface="Arial" charset="0"/>
                <a:ea typeface="宋体" charset="-122"/>
                <a:cs typeface="+mn-cs"/>
              </a:rPr>
              <a:t>二叉树的存储结构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r>
              <a:rPr lang="zh-CN" altLang="en-US" sz="2800" b="1" dirty="0"/>
              <a:t>二叉树的链式存储表示</a:t>
            </a:r>
            <a:endParaRPr lang="en-US" altLang="zh-CN" sz="2800" b="1" dirty="0"/>
          </a:p>
        </p:txBody>
      </p:sp>
      <p:sp>
        <p:nvSpPr>
          <p:cNvPr id="4" name="日期占位符 3"/>
          <p:cNvSpPr>
            <a:spLocks noGrp="1"/>
          </p:cNvSpPr>
          <p:nvPr>
            <p:ph type="dt" sz="half" idx="10"/>
          </p:nvPr>
        </p:nvSpPr>
        <p:spPr/>
        <p:txBody>
          <a:bodyPr/>
          <a:lstStyle/>
          <a:p>
            <a:fld id="{6AA97506-7E75-429E-87DF-59261F08766D}"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40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19" name="Group 4"/>
          <p:cNvGrpSpPr>
            <a:grpSpLocks/>
          </p:cNvGrpSpPr>
          <p:nvPr/>
        </p:nvGrpSpPr>
        <p:grpSpPr bwMode="auto">
          <a:xfrm>
            <a:off x="5299075" y="857250"/>
            <a:ext cx="4191000" cy="4248150"/>
            <a:chOff x="3338" y="845"/>
            <a:chExt cx="2640" cy="2676"/>
          </a:xfrm>
        </p:grpSpPr>
        <p:sp>
          <p:nvSpPr>
            <p:cNvPr id="20" name="Text Box 5"/>
            <p:cNvSpPr txBox="1">
              <a:spLocks noChangeArrowheads="1"/>
            </p:cNvSpPr>
            <p:nvPr/>
          </p:nvSpPr>
          <p:spPr bwMode="auto">
            <a:xfrm>
              <a:off x="3620" y="3233"/>
              <a:ext cx="1919"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宋体" pitchFamily="2" charset="-122"/>
                </a:rPr>
                <a:t>二叉链表图示</a:t>
              </a:r>
            </a:p>
          </p:txBody>
        </p:sp>
        <p:grpSp>
          <p:nvGrpSpPr>
            <p:cNvPr id="28" name="Group 6"/>
            <p:cNvGrpSpPr>
              <a:grpSpLocks/>
            </p:cNvGrpSpPr>
            <p:nvPr/>
          </p:nvGrpSpPr>
          <p:grpSpPr bwMode="auto">
            <a:xfrm>
              <a:off x="3338" y="2462"/>
              <a:ext cx="759" cy="302"/>
              <a:chOff x="2448" y="3408"/>
              <a:chExt cx="1007" cy="420"/>
            </a:xfrm>
          </p:grpSpPr>
          <p:grpSp>
            <p:nvGrpSpPr>
              <p:cNvPr id="66" name="Group 7"/>
              <p:cNvGrpSpPr>
                <a:grpSpLocks/>
              </p:cNvGrpSpPr>
              <p:nvPr/>
            </p:nvGrpSpPr>
            <p:grpSpPr bwMode="auto">
              <a:xfrm>
                <a:off x="2496" y="3408"/>
                <a:ext cx="839" cy="384"/>
                <a:chOff x="960" y="2544"/>
                <a:chExt cx="768" cy="288"/>
              </a:xfrm>
            </p:grpSpPr>
            <p:sp>
              <p:nvSpPr>
                <p:cNvPr id="68" name="Rectangle 8"/>
                <p:cNvSpPr>
                  <a:spLocks noChangeArrowheads="1"/>
                </p:cNvSpPr>
                <p:nvPr/>
              </p:nvSpPr>
              <p:spPr bwMode="auto">
                <a:xfrm>
                  <a:off x="960" y="2544"/>
                  <a:ext cx="768" cy="288"/>
                </a:xfrm>
                <a:prstGeom prst="rect">
                  <a:avLst/>
                </a:prstGeom>
                <a:solidFill>
                  <a:srgbClr val="66CC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9" name="Line 9"/>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0" name="Line 10"/>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67" name="Text Box 11"/>
              <p:cNvSpPr txBox="1">
                <a:spLocks noChangeArrowheads="1"/>
              </p:cNvSpPr>
              <p:nvPr/>
            </p:nvSpPr>
            <p:spPr bwMode="auto">
              <a:xfrm>
                <a:off x="2448" y="3428"/>
                <a:ext cx="1007" cy="4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FF3300"/>
                    </a:solidFill>
                    <a:effectLst/>
                    <a:uLnTx/>
                    <a:uFillTx/>
                    <a:latin typeface="隶书" pitchFamily="49" charset="-122"/>
                    <a:ea typeface="隶书" pitchFamily="49" charset="-122"/>
                  </a:rPr>
                  <a:t>D</a:t>
                </a:r>
              </a:p>
            </p:txBody>
          </p:sp>
        </p:grpSp>
        <p:grpSp>
          <p:nvGrpSpPr>
            <p:cNvPr id="29" name="Group 12"/>
            <p:cNvGrpSpPr>
              <a:grpSpLocks/>
            </p:cNvGrpSpPr>
            <p:nvPr/>
          </p:nvGrpSpPr>
          <p:grpSpPr bwMode="auto">
            <a:xfrm>
              <a:off x="4526" y="1571"/>
              <a:ext cx="633" cy="277"/>
              <a:chOff x="960" y="2544"/>
              <a:chExt cx="768" cy="288"/>
            </a:xfrm>
          </p:grpSpPr>
          <p:sp>
            <p:nvSpPr>
              <p:cNvPr id="63" name="Rectangle 13"/>
              <p:cNvSpPr>
                <a:spLocks noChangeArrowheads="1"/>
              </p:cNvSpPr>
              <p:nvPr/>
            </p:nvSpPr>
            <p:spPr bwMode="auto">
              <a:xfrm>
                <a:off x="960" y="2544"/>
                <a:ext cx="768" cy="288"/>
              </a:xfrm>
              <a:prstGeom prst="rect">
                <a:avLst/>
              </a:prstGeom>
              <a:solidFill>
                <a:srgbClr val="66CC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4" name="Line 14"/>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5" name="Line 15"/>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30" name="Text Box 16"/>
            <p:cNvSpPr txBox="1">
              <a:spLocks noChangeArrowheads="1"/>
            </p:cNvSpPr>
            <p:nvPr/>
          </p:nvSpPr>
          <p:spPr bwMode="auto">
            <a:xfrm>
              <a:off x="4490" y="1536"/>
              <a:ext cx="760" cy="32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707F9"/>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FF3300"/>
                  </a:solidFill>
                  <a:effectLst/>
                  <a:uLnTx/>
                  <a:uFillTx/>
                  <a:latin typeface="隶书" pitchFamily="49" charset="-122"/>
                  <a:ea typeface="隶书" pitchFamily="49" charset="-122"/>
                </a:rPr>
                <a:t>A</a:t>
              </a:r>
            </a:p>
          </p:txBody>
        </p:sp>
        <p:grpSp>
          <p:nvGrpSpPr>
            <p:cNvPr id="31" name="Group 17"/>
            <p:cNvGrpSpPr>
              <a:grpSpLocks/>
            </p:cNvGrpSpPr>
            <p:nvPr/>
          </p:nvGrpSpPr>
          <p:grpSpPr bwMode="auto">
            <a:xfrm>
              <a:off x="3844" y="2012"/>
              <a:ext cx="631" cy="277"/>
              <a:chOff x="960" y="2544"/>
              <a:chExt cx="768" cy="288"/>
            </a:xfrm>
          </p:grpSpPr>
          <p:sp>
            <p:nvSpPr>
              <p:cNvPr id="60" name="Rectangle 18"/>
              <p:cNvSpPr>
                <a:spLocks noChangeArrowheads="1"/>
              </p:cNvSpPr>
              <p:nvPr/>
            </p:nvSpPr>
            <p:spPr bwMode="auto">
              <a:xfrm>
                <a:off x="960" y="2544"/>
                <a:ext cx="768" cy="288"/>
              </a:xfrm>
              <a:prstGeom prst="rect">
                <a:avLst/>
              </a:prstGeom>
              <a:solidFill>
                <a:srgbClr val="66CC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1" name="Line 19"/>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2" name="Line 20"/>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32" name="Text Box 21"/>
            <p:cNvSpPr txBox="1">
              <a:spLocks noChangeArrowheads="1"/>
            </p:cNvSpPr>
            <p:nvPr/>
          </p:nvSpPr>
          <p:spPr bwMode="auto">
            <a:xfrm>
              <a:off x="4206" y="1695"/>
              <a:ext cx="402" cy="55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6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nvGrpSpPr>
            <p:cNvPr id="33" name="Group 22"/>
            <p:cNvGrpSpPr>
              <a:grpSpLocks/>
            </p:cNvGrpSpPr>
            <p:nvPr/>
          </p:nvGrpSpPr>
          <p:grpSpPr bwMode="auto">
            <a:xfrm>
              <a:off x="5110" y="2012"/>
              <a:ext cx="868" cy="302"/>
              <a:chOff x="4368" y="2592"/>
              <a:chExt cx="1152" cy="419"/>
            </a:xfrm>
          </p:grpSpPr>
          <p:grpSp>
            <p:nvGrpSpPr>
              <p:cNvPr id="55" name="Group 23"/>
              <p:cNvGrpSpPr>
                <a:grpSpLocks/>
              </p:cNvGrpSpPr>
              <p:nvPr/>
            </p:nvGrpSpPr>
            <p:grpSpPr bwMode="auto">
              <a:xfrm>
                <a:off x="4464" y="2592"/>
                <a:ext cx="839" cy="384"/>
                <a:chOff x="960" y="2544"/>
                <a:chExt cx="768" cy="288"/>
              </a:xfrm>
            </p:grpSpPr>
            <p:sp>
              <p:nvSpPr>
                <p:cNvPr id="57" name="Rectangle 24"/>
                <p:cNvSpPr>
                  <a:spLocks noChangeArrowheads="1"/>
                </p:cNvSpPr>
                <p:nvPr/>
              </p:nvSpPr>
              <p:spPr bwMode="auto">
                <a:xfrm>
                  <a:off x="960" y="2544"/>
                  <a:ext cx="768" cy="288"/>
                </a:xfrm>
                <a:prstGeom prst="rect">
                  <a:avLst/>
                </a:prstGeom>
                <a:solidFill>
                  <a:srgbClr val="66CC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8" name="Line 25"/>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9" name="Line 26"/>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6" name="Text Box 27"/>
              <p:cNvSpPr txBox="1">
                <a:spLocks noChangeArrowheads="1"/>
              </p:cNvSpPr>
              <p:nvPr/>
            </p:nvSpPr>
            <p:spPr bwMode="auto">
              <a:xfrm>
                <a:off x="4368" y="2611"/>
                <a:ext cx="1152" cy="4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FF3300"/>
                    </a:solidFill>
                    <a:effectLst/>
                    <a:uLnTx/>
                    <a:uFillTx/>
                    <a:latin typeface="隶书" pitchFamily="49" charset="-122"/>
                    <a:ea typeface="隶书" pitchFamily="49" charset="-122"/>
                  </a:rPr>
                  <a:t>C</a:t>
                </a:r>
                <a:r>
                  <a:rPr kumimoji="1" lang="en-US" altLang="zh-CN" sz="1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34" name="Group 28"/>
            <p:cNvGrpSpPr>
              <a:grpSpLocks/>
            </p:cNvGrpSpPr>
            <p:nvPr/>
          </p:nvGrpSpPr>
          <p:grpSpPr bwMode="auto">
            <a:xfrm>
              <a:off x="4844" y="2432"/>
              <a:ext cx="760" cy="302"/>
              <a:chOff x="3935" y="2880"/>
              <a:chExt cx="1009" cy="420"/>
            </a:xfrm>
          </p:grpSpPr>
          <p:grpSp>
            <p:nvGrpSpPr>
              <p:cNvPr id="50" name="Group 29"/>
              <p:cNvGrpSpPr>
                <a:grpSpLocks/>
              </p:cNvGrpSpPr>
              <p:nvPr/>
            </p:nvGrpSpPr>
            <p:grpSpPr bwMode="auto">
              <a:xfrm>
                <a:off x="3984" y="2880"/>
                <a:ext cx="839" cy="384"/>
                <a:chOff x="960" y="2544"/>
                <a:chExt cx="768" cy="288"/>
              </a:xfrm>
            </p:grpSpPr>
            <p:sp>
              <p:nvSpPr>
                <p:cNvPr id="52" name="Rectangle 30"/>
                <p:cNvSpPr>
                  <a:spLocks noChangeArrowheads="1"/>
                </p:cNvSpPr>
                <p:nvPr/>
              </p:nvSpPr>
              <p:spPr bwMode="auto">
                <a:xfrm>
                  <a:off x="960" y="2544"/>
                  <a:ext cx="768" cy="288"/>
                </a:xfrm>
                <a:prstGeom prst="rect">
                  <a:avLst/>
                </a:prstGeom>
                <a:solidFill>
                  <a:srgbClr val="66CC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3" name="Line 31"/>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4" name="Line 32"/>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1" name="Text Box 33"/>
              <p:cNvSpPr txBox="1">
                <a:spLocks noChangeArrowheads="1"/>
              </p:cNvSpPr>
              <p:nvPr/>
            </p:nvSpPr>
            <p:spPr bwMode="auto">
              <a:xfrm>
                <a:off x="3935" y="2899"/>
                <a:ext cx="1009"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FF3300"/>
                    </a:solidFill>
                    <a:effectLst/>
                    <a:uLnTx/>
                    <a:uFillTx/>
                    <a:latin typeface="隶书" pitchFamily="49" charset="-122"/>
                    <a:ea typeface="隶书" pitchFamily="49" charset="-122"/>
                  </a:rPr>
                  <a:t>E </a:t>
                </a:r>
                <a:r>
                  <a:rPr kumimoji="1" lang="en-US" altLang="zh-CN" sz="20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35" name="Group 34"/>
            <p:cNvGrpSpPr>
              <a:grpSpLocks/>
            </p:cNvGrpSpPr>
            <p:nvPr/>
          </p:nvGrpSpPr>
          <p:grpSpPr bwMode="auto">
            <a:xfrm>
              <a:off x="3844" y="2842"/>
              <a:ext cx="760" cy="301"/>
              <a:chOff x="2928" y="4224"/>
              <a:chExt cx="1008" cy="418"/>
            </a:xfrm>
          </p:grpSpPr>
          <p:grpSp>
            <p:nvGrpSpPr>
              <p:cNvPr id="45" name="Group 35"/>
              <p:cNvGrpSpPr>
                <a:grpSpLocks/>
              </p:cNvGrpSpPr>
              <p:nvPr/>
            </p:nvGrpSpPr>
            <p:grpSpPr bwMode="auto">
              <a:xfrm>
                <a:off x="2976" y="4224"/>
                <a:ext cx="839" cy="384"/>
                <a:chOff x="960" y="2544"/>
                <a:chExt cx="768" cy="288"/>
              </a:xfrm>
            </p:grpSpPr>
            <p:sp>
              <p:nvSpPr>
                <p:cNvPr id="47" name="Rectangle 36"/>
                <p:cNvSpPr>
                  <a:spLocks noChangeArrowheads="1"/>
                </p:cNvSpPr>
                <p:nvPr/>
              </p:nvSpPr>
              <p:spPr bwMode="auto">
                <a:xfrm>
                  <a:off x="960" y="2544"/>
                  <a:ext cx="768" cy="288"/>
                </a:xfrm>
                <a:prstGeom prst="rect">
                  <a:avLst/>
                </a:prstGeom>
                <a:solidFill>
                  <a:srgbClr val="66CC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8" name="Line 37"/>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9" name="Line 38"/>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6" name="Text Box 39"/>
              <p:cNvSpPr txBox="1">
                <a:spLocks noChangeArrowheads="1"/>
              </p:cNvSpPr>
              <p:nvPr/>
            </p:nvSpPr>
            <p:spPr bwMode="auto">
              <a:xfrm>
                <a:off x="2928" y="4242"/>
                <a:ext cx="1008" cy="4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FF3300"/>
                    </a:solidFill>
                    <a:effectLst/>
                    <a:uLnTx/>
                    <a:uFillTx/>
                    <a:latin typeface="隶书" pitchFamily="49" charset="-122"/>
                    <a:ea typeface="隶书" pitchFamily="49" charset="-122"/>
                  </a:rPr>
                  <a:t>F</a:t>
                </a:r>
              </a:p>
            </p:txBody>
          </p:sp>
        </p:grpSp>
        <p:sp>
          <p:nvSpPr>
            <p:cNvPr id="36" name="Line 40"/>
            <p:cNvSpPr>
              <a:spLocks noChangeShapeType="1"/>
            </p:cNvSpPr>
            <p:nvPr/>
          </p:nvSpPr>
          <p:spPr bwMode="auto">
            <a:xfrm flipH="1">
              <a:off x="4204" y="1728"/>
              <a:ext cx="336" cy="288"/>
            </a:xfrm>
            <a:prstGeom prst="line">
              <a:avLst/>
            </a:prstGeom>
            <a:noFill/>
            <a:ln w="25400" cap="rnd">
              <a:solidFill>
                <a:srgbClr val="000000"/>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7" name="Line 41"/>
            <p:cNvSpPr>
              <a:spLocks noChangeShapeType="1"/>
            </p:cNvSpPr>
            <p:nvPr/>
          </p:nvSpPr>
          <p:spPr bwMode="auto">
            <a:xfrm>
              <a:off x="3916" y="2688"/>
              <a:ext cx="288" cy="144"/>
            </a:xfrm>
            <a:prstGeom prst="line">
              <a:avLst/>
            </a:prstGeom>
            <a:noFill/>
            <a:ln w="12700" cap="rnd">
              <a:solidFill>
                <a:srgbClr val="000000"/>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8" name="Line 42"/>
            <p:cNvSpPr>
              <a:spLocks noChangeShapeType="1"/>
            </p:cNvSpPr>
            <p:nvPr/>
          </p:nvSpPr>
          <p:spPr bwMode="auto">
            <a:xfrm>
              <a:off x="5020" y="1776"/>
              <a:ext cx="480" cy="240"/>
            </a:xfrm>
            <a:prstGeom prst="line">
              <a:avLst/>
            </a:prstGeom>
            <a:noFill/>
            <a:ln w="12700" cap="rnd">
              <a:solidFill>
                <a:srgbClr val="000000"/>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9" name="Text Box 43"/>
            <p:cNvSpPr txBox="1">
              <a:spLocks noChangeArrowheads="1"/>
            </p:cNvSpPr>
            <p:nvPr/>
          </p:nvSpPr>
          <p:spPr bwMode="auto">
            <a:xfrm>
              <a:off x="4067" y="1695"/>
              <a:ext cx="296" cy="55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FF3300"/>
                  </a:solidFill>
                  <a:effectLst/>
                  <a:uLnTx/>
                  <a:uFillTx/>
                  <a:latin typeface="隶书" pitchFamily="49" charset="-122"/>
                  <a:ea typeface="隶书" pitchFamily="49" charset="-122"/>
                </a:rPr>
                <a:t>B</a:t>
              </a:r>
              <a:r>
                <a:rPr kumimoji="1" lang="en-US" altLang="zh-CN" sz="1600" b="1" i="0" u="none" strike="noStrike" kern="0" cap="none" spc="0" normalizeH="0" baseline="0" noProof="0">
                  <a:ln>
                    <a:noFill/>
                  </a:ln>
                  <a:solidFill>
                    <a:srgbClr val="003300"/>
                  </a:solidFill>
                  <a:effectLst/>
                  <a:uLnTx/>
                  <a:uFillTx/>
                  <a:latin typeface="隶书" pitchFamily="49" charset="-122"/>
                  <a:ea typeface="隶书" pitchFamily="49" charset="-122"/>
                </a:rPr>
                <a:t> </a:t>
              </a:r>
              <a:endPar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sp>
          <p:nvSpPr>
            <p:cNvPr id="40" name="Text Box 44"/>
            <p:cNvSpPr txBox="1">
              <a:spLocks noChangeArrowheads="1"/>
            </p:cNvSpPr>
            <p:nvPr/>
          </p:nvSpPr>
          <p:spPr bwMode="auto">
            <a:xfrm>
              <a:off x="4256" y="2544"/>
              <a:ext cx="401" cy="5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6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20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sp>
          <p:nvSpPr>
            <p:cNvPr id="41" name="Freeform 45"/>
            <p:cNvSpPr>
              <a:spLocks/>
            </p:cNvSpPr>
            <p:nvPr/>
          </p:nvSpPr>
          <p:spPr bwMode="auto">
            <a:xfrm rot="1533598">
              <a:off x="4443" y="1226"/>
              <a:ext cx="482" cy="253"/>
            </a:xfrm>
            <a:custGeom>
              <a:avLst/>
              <a:gdLst>
                <a:gd name="T0" fmla="*/ 0 w 720"/>
                <a:gd name="T1" fmla="*/ 0 h 528"/>
                <a:gd name="T2" fmla="*/ 2 w 720"/>
                <a:gd name="T3" fmla="*/ 0 h 528"/>
                <a:gd name="T4" fmla="*/ 1 w 720"/>
                <a:gd name="T5" fmla="*/ 0 h 528"/>
                <a:gd name="T6" fmla="*/ 3 w 720"/>
                <a:gd name="T7" fmla="*/ 0 h 528"/>
                <a:gd name="T8" fmla="*/ 0 60000 65536"/>
                <a:gd name="T9" fmla="*/ 0 60000 65536"/>
                <a:gd name="T10" fmla="*/ 0 60000 65536"/>
                <a:gd name="T11" fmla="*/ 0 60000 65536"/>
                <a:gd name="T12" fmla="*/ 0 w 720"/>
                <a:gd name="T13" fmla="*/ 0 h 528"/>
                <a:gd name="T14" fmla="*/ 720 w 720"/>
                <a:gd name="T15" fmla="*/ 528 h 528"/>
              </a:gdLst>
              <a:ahLst/>
              <a:cxnLst>
                <a:cxn ang="T8">
                  <a:pos x="T0" y="T1"/>
                </a:cxn>
                <a:cxn ang="T9">
                  <a:pos x="T2" y="T3"/>
                </a:cxn>
                <a:cxn ang="T10">
                  <a:pos x="T4" y="T5"/>
                </a:cxn>
                <a:cxn ang="T11">
                  <a:pos x="T6" y="T7"/>
                </a:cxn>
              </a:cxnLst>
              <a:rect l="T12" t="T13" r="T14" b="T15"/>
              <a:pathLst>
                <a:path w="720" h="528">
                  <a:moveTo>
                    <a:pt x="0" y="0"/>
                  </a:moveTo>
                  <a:cubicBezTo>
                    <a:pt x="260" y="4"/>
                    <a:pt x="520" y="8"/>
                    <a:pt x="576" y="48"/>
                  </a:cubicBezTo>
                  <a:cubicBezTo>
                    <a:pt x="632" y="88"/>
                    <a:pt x="312" y="160"/>
                    <a:pt x="336" y="240"/>
                  </a:cubicBezTo>
                  <a:cubicBezTo>
                    <a:pt x="360" y="320"/>
                    <a:pt x="656" y="480"/>
                    <a:pt x="720" y="528"/>
                  </a:cubicBezTo>
                </a:path>
              </a:pathLst>
            </a:custGeom>
            <a:noFill/>
            <a:ln w="38100" cap="sq">
              <a:solidFill>
                <a:srgbClr val="000000"/>
              </a:solidFill>
              <a:round/>
              <a:headEnd type="none" w="sm" len="sm"/>
              <a:tailEnd type="arrow" w="med" len="lg"/>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2" name="Text Box 46"/>
            <p:cNvSpPr txBox="1">
              <a:spLocks noChangeArrowheads="1"/>
            </p:cNvSpPr>
            <p:nvPr/>
          </p:nvSpPr>
          <p:spPr bwMode="auto">
            <a:xfrm>
              <a:off x="3876" y="845"/>
              <a:ext cx="685" cy="442"/>
            </a:xfrm>
            <a:prstGeom prst="rect">
              <a:avLst/>
            </a:prstGeom>
            <a:noFill/>
            <a:ln w="12700" cap="sq">
              <a:noFill/>
              <a:miter lim="800000"/>
              <a:headEnd type="none" w="sm" len="sm"/>
              <a:tailEnd type="none" w="sm" len="sm"/>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4000" b="1" i="0" u="none" strike="noStrike" kern="0" cap="none" spc="0" normalizeH="0" baseline="0" noProof="0">
                  <a:ln>
                    <a:noFill/>
                  </a:ln>
                  <a:solidFill>
                    <a:srgbClr val="FF3300"/>
                  </a:solidFill>
                  <a:effectLst/>
                  <a:uLnTx/>
                  <a:uFillTx/>
                  <a:latin typeface="Times New Roman" pitchFamily="18" charset="0"/>
                </a:rPr>
                <a:t>root</a:t>
              </a: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43" name="Line 47"/>
            <p:cNvSpPr>
              <a:spLocks noChangeShapeType="1"/>
            </p:cNvSpPr>
            <p:nvPr/>
          </p:nvSpPr>
          <p:spPr bwMode="auto">
            <a:xfrm flipH="1">
              <a:off x="5068" y="2208"/>
              <a:ext cx="192" cy="240"/>
            </a:xfrm>
            <a:prstGeom prst="line">
              <a:avLst/>
            </a:prstGeom>
            <a:noFill/>
            <a:ln w="12700" cap="rnd">
              <a:solidFill>
                <a:srgbClr val="000000"/>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4" name="Line 48"/>
            <p:cNvSpPr>
              <a:spLocks noChangeShapeType="1"/>
            </p:cNvSpPr>
            <p:nvPr/>
          </p:nvSpPr>
          <p:spPr bwMode="auto">
            <a:xfrm flipH="1">
              <a:off x="3724" y="2206"/>
              <a:ext cx="258" cy="242"/>
            </a:xfrm>
            <a:prstGeom prst="line">
              <a:avLst/>
            </a:prstGeom>
            <a:noFill/>
            <a:ln w="12700" cap="rnd">
              <a:solidFill>
                <a:srgbClr val="000000"/>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grpSp>
        <p:nvGrpSpPr>
          <p:cNvPr id="71" name="Group 49"/>
          <p:cNvGrpSpPr>
            <a:grpSpLocks/>
          </p:cNvGrpSpPr>
          <p:nvPr/>
        </p:nvGrpSpPr>
        <p:grpSpPr bwMode="auto">
          <a:xfrm>
            <a:off x="273050" y="1752600"/>
            <a:ext cx="3048000" cy="3249613"/>
            <a:chOff x="1156" y="1716"/>
            <a:chExt cx="1772" cy="2047"/>
          </a:xfrm>
        </p:grpSpPr>
        <p:grpSp>
          <p:nvGrpSpPr>
            <p:cNvPr id="72" name="Group 50"/>
            <p:cNvGrpSpPr>
              <a:grpSpLocks/>
            </p:cNvGrpSpPr>
            <p:nvPr/>
          </p:nvGrpSpPr>
          <p:grpSpPr bwMode="auto">
            <a:xfrm>
              <a:off x="1292" y="1716"/>
              <a:ext cx="1373" cy="1487"/>
              <a:chOff x="709" y="1337"/>
              <a:chExt cx="1373" cy="1487"/>
            </a:xfrm>
          </p:grpSpPr>
          <p:grpSp>
            <p:nvGrpSpPr>
              <p:cNvPr id="74" name="Group 51"/>
              <p:cNvGrpSpPr>
                <a:grpSpLocks/>
              </p:cNvGrpSpPr>
              <p:nvPr/>
            </p:nvGrpSpPr>
            <p:grpSpPr bwMode="auto">
              <a:xfrm>
                <a:off x="1380" y="1337"/>
                <a:ext cx="401" cy="304"/>
                <a:chOff x="1681" y="864"/>
                <a:chExt cx="575" cy="431"/>
              </a:xfrm>
            </p:grpSpPr>
            <p:sp>
              <p:nvSpPr>
                <p:cNvPr id="96" name="Oval 52"/>
                <p:cNvSpPr>
                  <a:spLocks noChangeArrowheads="1"/>
                </p:cNvSpPr>
                <p:nvPr/>
              </p:nvSpPr>
              <p:spPr bwMode="auto">
                <a:xfrm>
                  <a:off x="1711" y="887"/>
                  <a:ext cx="408" cy="408"/>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97" name="Text Box 53"/>
                <p:cNvSpPr txBox="1">
                  <a:spLocks noChangeArrowheads="1"/>
                </p:cNvSpPr>
                <p:nvPr/>
              </p:nvSpPr>
              <p:spPr bwMode="auto">
                <a:xfrm>
                  <a:off x="1681" y="864"/>
                  <a:ext cx="575" cy="40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DBF5F9"/>
                      </a:solidFill>
                      <a:latin typeface="黑体" pitchFamily="2" charset="-122"/>
                      <a:ea typeface="黑体" pitchFamily="2" charset="-122"/>
                    </a:rPr>
                    <a:t> </a:t>
                  </a:r>
                  <a:r>
                    <a:rPr lang="en-US" altLang="zh-CN" sz="2400" b="1">
                      <a:solidFill>
                        <a:srgbClr val="0707F9"/>
                      </a:solidFill>
                      <a:latin typeface="黑体" pitchFamily="2" charset="-122"/>
                      <a:ea typeface="黑体" pitchFamily="2" charset="-122"/>
                    </a:rPr>
                    <a:t>A</a:t>
                  </a:r>
                </a:p>
              </p:txBody>
            </p:sp>
          </p:grpSp>
          <p:grpSp>
            <p:nvGrpSpPr>
              <p:cNvPr id="75" name="Group 54"/>
              <p:cNvGrpSpPr>
                <a:grpSpLocks/>
              </p:cNvGrpSpPr>
              <p:nvPr/>
            </p:nvGrpSpPr>
            <p:grpSpPr bwMode="auto">
              <a:xfrm>
                <a:off x="1011" y="2520"/>
                <a:ext cx="400" cy="304"/>
                <a:chOff x="1680" y="864"/>
                <a:chExt cx="575" cy="431"/>
              </a:xfrm>
            </p:grpSpPr>
            <p:sp>
              <p:nvSpPr>
                <p:cNvPr id="94" name="Oval 55"/>
                <p:cNvSpPr>
                  <a:spLocks noChangeArrowheads="1"/>
                </p:cNvSpPr>
                <p:nvPr/>
              </p:nvSpPr>
              <p:spPr bwMode="auto">
                <a:xfrm>
                  <a:off x="1711" y="887"/>
                  <a:ext cx="408" cy="408"/>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95" name="Text Box 56"/>
                <p:cNvSpPr txBox="1">
                  <a:spLocks noChangeArrowheads="1"/>
                </p:cNvSpPr>
                <p:nvPr/>
              </p:nvSpPr>
              <p:spPr bwMode="auto">
                <a:xfrm>
                  <a:off x="1680" y="864"/>
                  <a:ext cx="575" cy="40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DBF5F9"/>
                      </a:solidFill>
                      <a:latin typeface="黑体" pitchFamily="2" charset="-122"/>
                      <a:ea typeface="黑体" pitchFamily="2" charset="-122"/>
                    </a:rPr>
                    <a:t> </a:t>
                  </a:r>
                  <a:r>
                    <a:rPr lang="en-US" altLang="zh-CN" sz="2400" b="1">
                      <a:solidFill>
                        <a:srgbClr val="0707F9"/>
                      </a:solidFill>
                      <a:latin typeface="黑体" pitchFamily="2" charset="-122"/>
                      <a:ea typeface="黑体" pitchFamily="2" charset="-122"/>
                    </a:rPr>
                    <a:t>F</a:t>
                  </a:r>
                </a:p>
              </p:txBody>
            </p:sp>
          </p:grpSp>
          <p:grpSp>
            <p:nvGrpSpPr>
              <p:cNvPr id="76" name="Group 57"/>
              <p:cNvGrpSpPr>
                <a:grpSpLocks/>
              </p:cNvGrpSpPr>
              <p:nvPr/>
            </p:nvGrpSpPr>
            <p:grpSpPr bwMode="auto">
              <a:xfrm>
                <a:off x="1411" y="2182"/>
                <a:ext cx="404" cy="304"/>
                <a:chOff x="1679" y="864"/>
                <a:chExt cx="577" cy="431"/>
              </a:xfrm>
            </p:grpSpPr>
            <p:sp>
              <p:nvSpPr>
                <p:cNvPr id="92" name="Oval 58"/>
                <p:cNvSpPr>
                  <a:spLocks noChangeArrowheads="1"/>
                </p:cNvSpPr>
                <p:nvPr/>
              </p:nvSpPr>
              <p:spPr bwMode="auto">
                <a:xfrm>
                  <a:off x="1711" y="887"/>
                  <a:ext cx="408" cy="408"/>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93" name="Text Box 59"/>
                <p:cNvSpPr txBox="1">
                  <a:spLocks noChangeArrowheads="1"/>
                </p:cNvSpPr>
                <p:nvPr/>
              </p:nvSpPr>
              <p:spPr bwMode="auto">
                <a:xfrm>
                  <a:off x="1679" y="864"/>
                  <a:ext cx="577" cy="40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黑体" pitchFamily="2" charset="-122"/>
                      <a:ea typeface="黑体" pitchFamily="2" charset="-122"/>
                    </a:rPr>
                    <a:t> </a:t>
                  </a:r>
                  <a:r>
                    <a:rPr lang="en-US" altLang="zh-CN" sz="2400" b="1">
                      <a:solidFill>
                        <a:srgbClr val="0707F9"/>
                      </a:solidFill>
                      <a:latin typeface="黑体" pitchFamily="2" charset="-122"/>
                      <a:ea typeface="黑体" pitchFamily="2" charset="-122"/>
                    </a:rPr>
                    <a:t>E</a:t>
                  </a:r>
                </a:p>
              </p:txBody>
            </p:sp>
          </p:grpSp>
          <p:grpSp>
            <p:nvGrpSpPr>
              <p:cNvPr id="77" name="Group 60"/>
              <p:cNvGrpSpPr>
                <a:grpSpLocks/>
              </p:cNvGrpSpPr>
              <p:nvPr/>
            </p:nvGrpSpPr>
            <p:grpSpPr bwMode="auto">
              <a:xfrm>
                <a:off x="709" y="2115"/>
                <a:ext cx="402" cy="303"/>
                <a:chOff x="1680" y="864"/>
                <a:chExt cx="577" cy="431"/>
              </a:xfrm>
            </p:grpSpPr>
            <p:sp>
              <p:nvSpPr>
                <p:cNvPr id="90" name="Oval 61"/>
                <p:cNvSpPr>
                  <a:spLocks noChangeArrowheads="1"/>
                </p:cNvSpPr>
                <p:nvPr/>
              </p:nvSpPr>
              <p:spPr bwMode="auto">
                <a:xfrm>
                  <a:off x="1711" y="887"/>
                  <a:ext cx="408" cy="408"/>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91" name="Text Box 62"/>
                <p:cNvSpPr txBox="1">
                  <a:spLocks noChangeArrowheads="1"/>
                </p:cNvSpPr>
                <p:nvPr/>
              </p:nvSpPr>
              <p:spPr bwMode="auto">
                <a:xfrm>
                  <a:off x="1680" y="864"/>
                  <a:ext cx="577" cy="40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黑体" pitchFamily="2" charset="-122"/>
                      <a:ea typeface="黑体" pitchFamily="2" charset="-122"/>
                    </a:rPr>
                    <a:t> </a:t>
                  </a:r>
                  <a:r>
                    <a:rPr lang="en-US" altLang="zh-CN" sz="2400" b="1">
                      <a:solidFill>
                        <a:srgbClr val="0707F9"/>
                      </a:solidFill>
                      <a:latin typeface="黑体" pitchFamily="2" charset="-122"/>
                      <a:ea typeface="黑体" pitchFamily="2" charset="-122"/>
                    </a:rPr>
                    <a:t>D</a:t>
                  </a:r>
                </a:p>
              </p:txBody>
            </p:sp>
          </p:grpSp>
          <p:grpSp>
            <p:nvGrpSpPr>
              <p:cNvPr id="78" name="Group 63"/>
              <p:cNvGrpSpPr>
                <a:grpSpLocks/>
              </p:cNvGrpSpPr>
              <p:nvPr/>
            </p:nvGrpSpPr>
            <p:grpSpPr bwMode="auto">
              <a:xfrm>
                <a:off x="1680" y="1777"/>
                <a:ext cx="402" cy="303"/>
                <a:chOff x="1679" y="865"/>
                <a:chExt cx="577" cy="430"/>
              </a:xfrm>
            </p:grpSpPr>
            <p:sp>
              <p:nvSpPr>
                <p:cNvPr id="88" name="Oval 64"/>
                <p:cNvSpPr>
                  <a:spLocks noChangeArrowheads="1"/>
                </p:cNvSpPr>
                <p:nvPr/>
              </p:nvSpPr>
              <p:spPr bwMode="auto">
                <a:xfrm>
                  <a:off x="1711" y="887"/>
                  <a:ext cx="408" cy="408"/>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89" name="Text Box 65"/>
                <p:cNvSpPr txBox="1">
                  <a:spLocks noChangeArrowheads="1"/>
                </p:cNvSpPr>
                <p:nvPr/>
              </p:nvSpPr>
              <p:spPr bwMode="auto">
                <a:xfrm>
                  <a:off x="1679" y="865"/>
                  <a:ext cx="577" cy="40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DBF5F9"/>
                      </a:solidFill>
                      <a:latin typeface="黑体" pitchFamily="2" charset="-122"/>
                      <a:ea typeface="黑体" pitchFamily="2" charset="-122"/>
                    </a:rPr>
                    <a:t> </a:t>
                  </a:r>
                  <a:r>
                    <a:rPr lang="en-US" altLang="zh-CN" sz="2400" b="1">
                      <a:solidFill>
                        <a:srgbClr val="0707F9"/>
                      </a:solidFill>
                      <a:latin typeface="黑体" pitchFamily="2" charset="-122"/>
                      <a:ea typeface="黑体" pitchFamily="2" charset="-122"/>
                    </a:rPr>
                    <a:t>C</a:t>
                  </a:r>
                </a:p>
              </p:txBody>
            </p:sp>
          </p:grpSp>
          <p:grpSp>
            <p:nvGrpSpPr>
              <p:cNvPr id="79" name="Group 66"/>
              <p:cNvGrpSpPr>
                <a:grpSpLocks/>
              </p:cNvGrpSpPr>
              <p:nvPr/>
            </p:nvGrpSpPr>
            <p:grpSpPr bwMode="auto">
              <a:xfrm>
                <a:off x="1011" y="1743"/>
                <a:ext cx="400" cy="303"/>
                <a:chOff x="1680" y="864"/>
                <a:chExt cx="575" cy="431"/>
              </a:xfrm>
            </p:grpSpPr>
            <p:sp>
              <p:nvSpPr>
                <p:cNvPr id="86" name="Oval 67"/>
                <p:cNvSpPr>
                  <a:spLocks noChangeArrowheads="1"/>
                </p:cNvSpPr>
                <p:nvPr/>
              </p:nvSpPr>
              <p:spPr bwMode="auto">
                <a:xfrm>
                  <a:off x="1711" y="887"/>
                  <a:ext cx="408" cy="408"/>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87" name="Text Box 68"/>
                <p:cNvSpPr txBox="1">
                  <a:spLocks noChangeArrowheads="1"/>
                </p:cNvSpPr>
                <p:nvPr/>
              </p:nvSpPr>
              <p:spPr bwMode="auto">
                <a:xfrm>
                  <a:off x="1680" y="864"/>
                  <a:ext cx="575" cy="40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0707F9"/>
                      </a:solidFill>
                      <a:latin typeface="黑体" pitchFamily="2" charset="-122"/>
                      <a:ea typeface="黑体" pitchFamily="2" charset="-122"/>
                    </a:rPr>
                    <a:t> </a:t>
                  </a:r>
                  <a:r>
                    <a:rPr lang="en-US" altLang="zh-CN" sz="2400" b="1">
                      <a:solidFill>
                        <a:srgbClr val="0707F9"/>
                      </a:solidFill>
                      <a:latin typeface="黑体" pitchFamily="2" charset="-122"/>
                      <a:ea typeface="黑体" pitchFamily="2" charset="-122"/>
                    </a:rPr>
                    <a:t>B</a:t>
                  </a:r>
                </a:p>
              </p:txBody>
            </p:sp>
          </p:grpSp>
          <p:grpSp>
            <p:nvGrpSpPr>
              <p:cNvPr id="80" name="Group 69"/>
              <p:cNvGrpSpPr>
                <a:grpSpLocks/>
              </p:cNvGrpSpPr>
              <p:nvPr/>
            </p:nvGrpSpPr>
            <p:grpSpPr bwMode="auto">
              <a:xfrm>
                <a:off x="943" y="1607"/>
                <a:ext cx="872" cy="932"/>
                <a:chOff x="336" y="2208"/>
                <a:chExt cx="1248" cy="1322"/>
              </a:xfrm>
            </p:grpSpPr>
            <p:sp>
              <p:nvSpPr>
                <p:cNvPr id="81" name="Line 70"/>
                <p:cNvSpPr>
                  <a:spLocks noChangeShapeType="1"/>
                </p:cNvSpPr>
                <p:nvPr/>
              </p:nvSpPr>
              <p:spPr bwMode="auto">
                <a:xfrm flipH="1">
                  <a:off x="816" y="2208"/>
                  <a:ext cx="240" cy="240"/>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2" name="Line 71"/>
                <p:cNvSpPr>
                  <a:spLocks noChangeShapeType="1"/>
                </p:cNvSpPr>
                <p:nvPr/>
              </p:nvSpPr>
              <p:spPr bwMode="auto">
                <a:xfrm>
                  <a:off x="384" y="3312"/>
                  <a:ext cx="218" cy="218"/>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3" name="Line 72"/>
                <p:cNvSpPr>
                  <a:spLocks noChangeShapeType="1"/>
                </p:cNvSpPr>
                <p:nvPr/>
              </p:nvSpPr>
              <p:spPr bwMode="auto">
                <a:xfrm>
                  <a:off x="1344" y="2208"/>
                  <a:ext cx="240" cy="240"/>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4" name="Line 73"/>
                <p:cNvSpPr>
                  <a:spLocks noChangeShapeType="1"/>
                </p:cNvSpPr>
                <p:nvPr/>
              </p:nvSpPr>
              <p:spPr bwMode="auto">
                <a:xfrm flipH="1">
                  <a:off x="1296" y="2832"/>
                  <a:ext cx="192" cy="192"/>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5" name="Line 74"/>
                <p:cNvSpPr>
                  <a:spLocks noChangeShapeType="1"/>
                </p:cNvSpPr>
                <p:nvPr/>
              </p:nvSpPr>
              <p:spPr bwMode="auto">
                <a:xfrm flipH="1">
                  <a:off x="336" y="2784"/>
                  <a:ext cx="192" cy="192"/>
                </a:xfrm>
                <a:prstGeom prst="line">
                  <a:avLst/>
                </a:prstGeom>
                <a:noFill/>
                <a:ln w="38100" cap="rnd">
                  <a:solidFill>
                    <a:srgbClr val="0707F9"/>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sp>
          <p:nvSpPr>
            <p:cNvPr id="73" name="Text Box 75"/>
            <p:cNvSpPr txBox="1">
              <a:spLocks noChangeArrowheads="1"/>
            </p:cNvSpPr>
            <p:nvPr/>
          </p:nvSpPr>
          <p:spPr bwMode="auto">
            <a:xfrm>
              <a:off x="1156" y="3475"/>
              <a:ext cx="1772" cy="288"/>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r>
                <a:rPr kumimoji="1" lang="zh-CN" altLang="en-US" sz="2400" b="1">
                  <a:solidFill>
                    <a:srgbClr val="000000"/>
                  </a:solidFill>
                  <a:latin typeface="宋体" pitchFamily="2" charset="-122"/>
                </a:rPr>
                <a:t>二叉树</a:t>
              </a:r>
            </a:p>
          </p:txBody>
        </p:sp>
      </p:grpSp>
      <p:sp>
        <p:nvSpPr>
          <p:cNvPr id="98" name="AutoShape 76"/>
          <p:cNvSpPr>
            <a:spLocks noChangeArrowheads="1"/>
          </p:cNvSpPr>
          <p:nvPr/>
        </p:nvSpPr>
        <p:spPr bwMode="auto">
          <a:xfrm>
            <a:off x="647700" y="5097463"/>
            <a:ext cx="7473950" cy="1150937"/>
          </a:xfrm>
          <a:prstGeom prst="cloudCallout">
            <a:avLst>
              <a:gd name="adj1" fmla="val 19287"/>
              <a:gd name="adj2" fmla="val 91241"/>
            </a:avLst>
          </a:prstGeom>
          <a:solidFill>
            <a:srgbClr val="FFFFFF"/>
          </a:solidFill>
          <a:ln w="25400" cap="flat" cmpd="sng" algn="ctr">
            <a:solidFill>
              <a:srgbClr val="009DD9"/>
            </a:solidFill>
            <a:prstDash val="solid"/>
            <a:headEnd/>
            <a:tailEnd/>
          </a:ln>
          <a:effec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800" b="0" i="0" u="none" strike="noStrike" kern="0" cap="none" spc="0" normalizeH="0" baseline="0" noProof="0" dirty="0">
                <a:ln>
                  <a:noFill/>
                </a:ln>
                <a:solidFill>
                  <a:srgbClr val="0000FF"/>
                </a:solidFill>
                <a:effectLst/>
                <a:uLnTx/>
                <a:uFillTx/>
                <a:latin typeface="隶书" pitchFamily="49" charset="-122"/>
                <a:ea typeface="隶书" pitchFamily="49" charset="-122"/>
                <a:cs typeface="+mn-cs"/>
              </a:rPr>
              <a:t>n </a:t>
            </a:r>
            <a:r>
              <a:rPr kumimoji="1" lang="zh-CN" altLang="en-US" sz="2800" b="0" i="0" u="none" strike="noStrike" kern="0" cap="none" spc="0" normalizeH="0" baseline="0" noProof="0" dirty="0">
                <a:ln>
                  <a:noFill/>
                </a:ln>
                <a:solidFill>
                  <a:srgbClr val="0000FF"/>
                </a:solidFill>
                <a:effectLst/>
                <a:uLnTx/>
                <a:uFillTx/>
                <a:latin typeface="隶书" pitchFamily="49" charset="-122"/>
                <a:ea typeface="隶书" pitchFamily="49" charset="-122"/>
                <a:cs typeface="+mn-cs"/>
              </a:rPr>
              <a:t>个结点的二叉树中，</a:t>
            </a:r>
          </a:p>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800" b="0" i="0" u="none" strike="noStrike" kern="0" cap="none" spc="0" normalizeH="0" baseline="0" noProof="0" dirty="0">
                <a:ln>
                  <a:noFill/>
                </a:ln>
                <a:solidFill>
                  <a:srgbClr val="0000FF"/>
                </a:solidFill>
                <a:effectLst/>
                <a:uLnTx/>
                <a:uFillTx/>
                <a:latin typeface="隶书" pitchFamily="49" charset="-122"/>
                <a:ea typeface="隶书" pitchFamily="49" charset="-122"/>
                <a:cs typeface="+mn-cs"/>
              </a:rPr>
              <a:t>有多少个空链接域？</a:t>
            </a:r>
          </a:p>
        </p:txBody>
      </p:sp>
    </p:spTree>
    <p:extLst>
      <p:ext uri="{BB962C8B-B14F-4D97-AF65-F5344CB8AC3E}">
        <p14:creationId xmlns:p14="http://schemas.microsoft.com/office/powerpoint/2010/main" val="944919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5.2.3 </a:t>
            </a:r>
            <a:r>
              <a:rPr kumimoji="1" lang="zh-CN" altLang="en-US" sz="3200" b="1" dirty="0">
                <a:latin typeface="Arial" charset="0"/>
                <a:ea typeface="宋体" charset="-122"/>
                <a:cs typeface="+mn-cs"/>
              </a:rPr>
              <a:t>二叉树的存储结构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r>
              <a:rPr lang="zh-CN" altLang="en-US" sz="2800" b="1" dirty="0"/>
              <a:t>二叉树的链式存储表示</a:t>
            </a:r>
            <a:endParaRPr lang="en-US" altLang="zh-CN" sz="2800" b="1" dirty="0"/>
          </a:p>
        </p:txBody>
      </p:sp>
      <p:sp>
        <p:nvSpPr>
          <p:cNvPr id="4" name="日期占位符 3"/>
          <p:cNvSpPr>
            <a:spLocks noGrp="1"/>
          </p:cNvSpPr>
          <p:nvPr>
            <p:ph type="dt" sz="half" idx="10"/>
          </p:nvPr>
        </p:nvSpPr>
        <p:spPr/>
        <p:txBody>
          <a:bodyPr/>
          <a:lstStyle/>
          <a:p>
            <a:fld id="{C5F3C4DF-F50E-4B7D-B3F4-E8CAC211B2F2}"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41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99" name="Text Box 2"/>
          <p:cNvSpPr txBox="1">
            <a:spLocks noChangeArrowheads="1"/>
          </p:cNvSpPr>
          <p:nvPr/>
        </p:nvSpPr>
        <p:spPr bwMode="auto">
          <a:xfrm>
            <a:off x="768721" y="1593554"/>
            <a:ext cx="7613279" cy="463846"/>
          </a:xfrm>
          <a:prstGeom prst="rect">
            <a:avLst/>
          </a:prstGeom>
          <a:noFill/>
          <a:ln w="9525">
            <a:solidFill>
              <a:srgbClr val="04440A"/>
            </a:solidFill>
            <a:miter lim="800000"/>
            <a:headEnd/>
            <a:tailEnd/>
          </a:ln>
        </p:spPr>
        <p:txBody>
          <a:bodyPr wrap="none" lIns="90000" tIns="46800" rIns="90000" bIns="46800">
            <a:spAutoFit/>
          </a:bodyPr>
          <a:lstStyle/>
          <a:p>
            <a:pPr fontAlgn="base">
              <a:spcBef>
                <a:spcPct val="0"/>
              </a:spcBef>
              <a:spcAft>
                <a:spcPct val="0"/>
              </a:spcAft>
            </a:pPr>
            <a:r>
              <a:rPr kumimoji="1" lang="zh-CN" altLang="en-US" sz="2400" b="1" dirty="0">
                <a:solidFill>
                  <a:srgbClr val="FF0000"/>
                </a:solidFill>
                <a:latin typeface="宋体" pitchFamily="2" charset="-122"/>
              </a:rPr>
              <a:t>性质</a:t>
            </a:r>
            <a:r>
              <a:rPr kumimoji="1" lang="en-US" altLang="zh-CN" sz="2400" b="1" dirty="0">
                <a:solidFill>
                  <a:srgbClr val="FF0000"/>
                </a:solidFill>
                <a:latin typeface="宋体" pitchFamily="2" charset="-122"/>
              </a:rPr>
              <a:t>6</a:t>
            </a:r>
            <a:r>
              <a:rPr kumimoji="1" lang="zh-CN" altLang="en-US" sz="2400" b="1" dirty="0">
                <a:solidFill>
                  <a:srgbClr val="0707F9"/>
                </a:solidFill>
                <a:latin typeface="宋体" pitchFamily="2" charset="-122"/>
              </a:rPr>
              <a:t>：</a:t>
            </a:r>
            <a:r>
              <a:rPr kumimoji="1" lang="en-US" altLang="zh-CN" sz="2400" b="1" dirty="0">
                <a:solidFill>
                  <a:srgbClr val="FF3300"/>
                </a:solidFill>
                <a:latin typeface="宋体" pitchFamily="2" charset="-122"/>
              </a:rPr>
              <a:t>n </a:t>
            </a:r>
            <a:r>
              <a:rPr kumimoji="1" lang="zh-CN" altLang="en-US" sz="2400" b="1" dirty="0">
                <a:solidFill>
                  <a:srgbClr val="0707F9"/>
                </a:solidFill>
                <a:latin typeface="宋体" pitchFamily="2" charset="-122"/>
              </a:rPr>
              <a:t>个结点的二叉树中，共有 </a:t>
            </a:r>
            <a:r>
              <a:rPr kumimoji="1" lang="en-US" altLang="zh-CN" sz="2400" b="1" dirty="0">
                <a:solidFill>
                  <a:srgbClr val="FF3300"/>
                </a:solidFill>
                <a:latin typeface="宋体" pitchFamily="2" charset="-122"/>
              </a:rPr>
              <a:t>n+1</a:t>
            </a:r>
            <a:r>
              <a:rPr kumimoji="1" lang="en-US" altLang="zh-CN" sz="2400" b="1" dirty="0">
                <a:solidFill>
                  <a:srgbClr val="0707F9"/>
                </a:solidFill>
                <a:latin typeface="宋体" pitchFamily="2" charset="-122"/>
              </a:rPr>
              <a:t> </a:t>
            </a:r>
            <a:r>
              <a:rPr kumimoji="1" lang="zh-CN" altLang="en-US" sz="2400" b="1" dirty="0">
                <a:solidFill>
                  <a:srgbClr val="0707F9"/>
                </a:solidFill>
                <a:latin typeface="宋体" pitchFamily="2" charset="-122"/>
              </a:rPr>
              <a:t>个空指针域。</a:t>
            </a:r>
          </a:p>
        </p:txBody>
      </p:sp>
      <p:sp>
        <p:nvSpPr>
          <p:cNvPr id="100" name="Text Box 3"/>
          <p:cNvSpPr txBox="1">
            <a:spLocks noChangeArrowheads="1"/>
          </p:cNvSpPr>
          <p:nvPr/>
        </p:nvSpPr>
        <p:spPr bwMode="auto">
          <a:xfrm>
            <a:off x="4094163" y="2133600"/>
            <a:ext cx="4517881" cy="589650"/>
          </a:xfrm>
          <a:prstGeom prst="rect">
            <a:avLst/>
          </a:prstGeom>
          <a:noFill/>
          <a:ln w="9525">
            <a:noFill/>
            <a:miter lim="800000"/>
            <a:headEnd/>
            <a:tailEnd/>
          </a:ln>
        </p:spPr>
        <p:txBody>
          <a:bodyPr wrap="none" lIns="90000" tIns="46800" rIns="90000" bIns="46800">
            <a:spAutoFit/>
          </a:bodyPr>
          <a:lstStyle/>
          <a:p>
            <a:pPr fontAlgn="base">
              <a:lnSpc>
                <a:spcPct val="160000"/>
              </a:lnSpc>
              <a:spcBef>
                <a:spcPct val="0"/>
              </a:spcBef>
              <a:spcAft>
                <a:spcPct val="0"/>
              </a:spcAft>
            </a:pPr>
            <a:r>
              <a:rPr kumimoji="1" lang="zh-CN" altLang="en-US" sz="2400" b="1" dirty="0">
                <a:solidFill>
                  <a:srgbClr val="0707F9"/>
                </a:solidFill>
                <a:latin typeface="楷体_GB2312" pitchFamily="49" charset="-122"/>
                <a:ea typeface="楷体_GB2312" pitchFamily="49" charset="-122"/>
              </a:rPr>
              <a:t>证：</a:t>
            </a:r>
            <a:r>
              <a:rPr kumimoji="1" lang="en-US" altLang="zh-CN" sz="2400" b="1" dirty="0">
                <a:solidFill>
                  <a:srgbClr val="0707F9"/>
                </a:solidFill>
                <a:latin typeface="楷体_GB2312" pitchFamily="49" charset="-122"/>
                <a:ea typeface="楷体_GB2312" pitchFamily="49" charset="-122"/>
              </a:rPr>
              <a:t>n</a:t>
            </a:r>
            <a:r>
              <a:rPr kumimoji="1" lang="zh-CN" altLang="en-US" sz="2400" b="1" dirty="0">
                <a:solidFill>
                  <a:srgbClr val="0707F9"/>
                </a:solidFill>
                <a:latin typeface="楷体_GB2312" pitchFamily="49" charset="-122"/>
                <a:ea typeface="楷体_GB2312" pitchFamily="49" charset="-122"/>
              </a:rPr>
              <a:t>个结点总的指针域数</a:t>
            </a:r>
            <a:r>
              <a:rPr kumimoji="1" lang="en-US" altLang="zh-CN" sz="2400" b="1" dirty="0">
                <a:solidFill>
                  <a:srgbClr val="0707F9"/>
                </a:solidFill>
                <a:latin typeface="楷体_GB2312" pitchFamily="49" charset="-122"/>
                <a:ea typeface="楷体_GB2312" pitchFamily="49" charset="-122"/>
              </a:rPr>
              <a:t>2n   </a:t>
            </a:r>
          </a:p>
        </p:txBody>
      </p:sp>
      <p:sp>
        <p:nvSpPr>
          <p:cNvPr id="101" name="Text Box 6"/>
          <p:cNvSpPr txBox="1">
            <a:spLocks noChangeArrowheads="1"/>
          </p:cNvSpPr>
          <p:nvPr/>
        </p:nvSpPr>
        <p:spPr bwMode="auto">
          <a:xfrm>
            <a:off x="4329113" y="2709862"/>
            <a:ext cx="5459412" cy="1180581"/>
          </a:xfrm>
          <a:prstGeom prst="rect">
            <a:avLst/>
          </a:prstGeom>
          <a:noFill/>
          <a:ln w="9525">
            <a:noFill/>
            <a:miter lim="800000"/>
            <a:headEnd/>
            <a:tailEnd/>
          </a:ln>
        </p:spPr>
        <p:txBody>
          <a:bodyPr lIns="90000" tIns="46800" rIns="90000" bIns="46800">
            <a:spAutoFit/>
          </a:bodyPr>
          <a:lstStyle/>
          <a:p>
            <a:pPr fontAlgn="base">
              <a:lnSpc>
                <a:spcPct val="160000"/>
              </a:lnSpc>
              <a:spcBef>
                <a:spcPct val="0"/>
              </a:spcBef>
              <a:spcAft>
                <a:spcPct val="0"/>
              </a:spcAft>
            </a:pPr>
            <a:r>
              <a:rPr kumimoji="1" lang="zh-CN" altLang="en-US" sz="2400" b="1" dirty="0">
                <a:solidFill>
                  <a:srgbClr val="0707F9"/>
                </a:solidFill>
                <a:latin typeface="楷体_GB2312" pitchFamily="49" charset="-122"/>
                <a:ea typeface="楷体_GB2312" pitchFamily="49" charset="-122"/>
              </a:rPr>
              <a:t>除了根结点外，其余</a:t>
            </a:r>
            <a:r>
              <a:rPr kumimoji="1" lang="en-US" altLang="zh-CN" sz="2400" b="1" dirty="0">
                <a:solidFill>
                  <a:srgbClr val="0707F9"/>
                </a:solidFill>
                <a:latin typeface="楷体_GB2312" pitchFamily="49" charset="-122"/>
                <a:ea typeface="楷体_GB2312" pitchFamily="49" charset="-122"/>
              </a:rPr>
              <a:t>n-1</a:t>
            </a:r>
            <a:r>
              <a:rPr kumimoji="1" lang="zh-CN" altLang="en-US" sz="2400" b="1" dirty="0">
                <a:solidFill>
                  <a:srgbClr val="0707F9"/>
                </a:solidFill>
                <a:latin typeface="楷体_GB2312" pitchFamily="49" charset="-122"/>
                <a:ea typeface="楷体_GB2312" pitchFamily="49" charset="-122"/>
              </a:rPr>
              <a:t>个结点</a:t>
            </a:r>
          </a:p>
          <a:p>
            <a:pPr fontAlgn="base">
              <a:lnSpc>
                <a:spcPct val="160000"/>
              </a:lnSpc>
              <a:spcBef>
                <a:spcPct val="0"/>
              </a:spcBef>
              <a:spcAft>
                <a:spcPct val="0"/>
              </a:spcAft>
            </a:pPr>
            <a:r>
              <a:rPr kumimoji="1" lang="zh-CN" altLang="en-US" sz="2400" b="1" dirty="0">
                <a:solidFill>
                  <a:srgbClr val="0707F9"/>
                </a:solidFill>
                <a:latin typeface="楷体_GB2312" pitchFamily="49" charset="-122"/>
                <a:ea typeface="楷体_GB2312" pitchFamily="49" charset="-122"/>
              </a:rPr>
              <a:t>都是由指针域指出的结点；    </a:t>
            </a:r>
          </a:p>
        </p:txBody>
      </p:sp>
      <p:sp>
        <p:nvSpPr>
          <p:cNvPr id="102" name="Text Box 7"/>
          <p:cNvSpPr txBox="1">
            <a:spLocks noChangeArrowheads="1"/>
          </p:cNvSpPr>
          <p:nvPr/>
        </p:nvSpPr>
        <p:spPr bwMode="auto">
          <a:xfrm>
            <a:off x="4406900" y="4006850"/>
            <a:ext cx="5459413" cy="1534908"/>
          </a:xfrm>
          <a:prstGeom prst="rect">
            <a:avLst/>
          </a:prstGeom>
          <a:noFill/>
          <a:ln w="9525">
            <a:noFill/>
            <a:miter lim="800000"/>
            <a:headEnd/>
            <a:tailEnd/>
          </a:ln>
        </p:spPr>
        <p:txBody>
          <a:bodyPr lIns="90000" tIns="46800" rIns="90000" bIns="46800">
            <a:spAutoFit/>
          </a:bodyPr>
          <a:lstStyle/>
          <a:p>
            <a:pPr fontAlgn="base">
              <a:lnSpc>
                <a:spcPct val="130000"/>
              </a:lnSpc>
              <a:spcBef>
                <a:spcPct val="0"/>
              </a:spcBef>
              <a:spcAft>
                <a:spcPct val="0"/>
              </a:spcAft>
            </a:pPr>
            <a:r>
              <a:rPr kumimoji="1" lang="zh-CN" altLang="en-US" sz="2400" b="1" dirty="0">
                <a:solidFill>
                  <a:srgbClr val="0707F9"/>
                </a:solidFill>
                <a:latin typeface="楷体_GB2312" pitchFamily="49" charset="-122"/>
                <a:ea typeface="楷体_GB2312" pitchFamily="49" charset="-122"/>
              </a:rPr>
              <a:t>所以，剩余的结点数即</a:t>
            </a:r>
          </a:p>
          <a:p>
            <a:pPr fontAlgn="base">
              <a:lnSpc>
                <a:spcPct val="130000"/>
              </a:lnSpc>
              <a:spcBef>
                <a:spcPct val="0"/>
              </a:spcBef>
              <a:spcAft>
                <a:spcPct val="0"/>
              </a:spcAft>
            </a:pPr>
            <a:r>
              <a:rPr kumimoji="1" lang="zh-CN" altLang="en-US" sz="2400" b="1" dirty="0">
                <a:solidFill>
                  <a:srgbClr val="FF0000"/>
                </a:solidFill>
                <a:latin typeface="楷体_GB2312" pitchFamily="49" charset="-122"/>
                <a:ea typeface="楷体_GB2312" pitchFamily="49" charset="-122"/>
              </a:rPr>
              <a:t>空指针域个数</a:t>
            </a:r>
            <a:r>
              <a:rPr kumimoji="1" lang="zh-CN" altLang="en-US" sz="2400" b="1" dirty="0">
                <a:solidFill>
                  <a:srgbClr val="0707F9"/>
                </a:solidFill>
                <a:latin typeface="楷体_GB2312" pitchFamily="49" charset="-122"/>
                <a:ea typeface="楷体_GB2312" pitchFamily="49" charset="-122"/>
              </a:rPr>
              <a:t>为：</a:t>
            </a:r>
          </a:p>
          <a:p>
            <a:pPr fontAlgn="base">
              <a:lnSpc>
                <a:spcPct val="130000"/>
              </a:lnSpc>
              <a:spcBef>
                <a:spcPct val="0"/>
              </a:spcBef>
              <a:spcAft>
                <a:spcPct val="0"/>
              </a:spcAft>
            </a:pPr>
            <a:r>
              <a:rPr kumimoji="1" lang="en-US" altLang="zh-CN" sz="2400" b="1" dirty="0">
                <a:solidFill>
                  <a:srgbClr val="0707F9"/>
                </a:solidFill>
                <a:latin typeface="楷体_GB2312" pitchFamily="49" charset="-122"/>
                <a:ea typeface="楷体_GB2312" pitchFamily="49" charset="-122"/>
              </a:rPr>
              <a:t>2n-</a:t>
            </a:r>
            <a:r>
              <a:rPr kumimoji="1" lang="zh-CN" altLang="en-US" sz="2400" b="1" dirty="0">
                <a:solidFill>
                  <a:srgbClr val="0707F9"/>
                </a:solidFill>
                <a:latin typeface="楷体_GB2312" pitchFamily="49" charset="-122"/>
                <a:ea typeface="楷体_GB2312" pitchFamily="49" charset="-122"/>
              </a:rPr>
              <a:t>（</a:t>
            </a:r>
            <a:r>
              <a:rPr kumimoji="1" lang="en-US" altLang="zh-CN" sz="2400" b="1" dirty="0">
                <a:solidFill>
                  <a:srgbClr val="0707F9"/>
                </a:solidFill>
                <a:latin typeface="楷体_GB2312" pitchFamily="49" charset="-122"/>
                <a:ea typeface="楷体_GB2312" pitchFamily="49" charset="-122"/>
              </a:rPr>
              <a:t>n-1</a:t>
            </a:r>
            <a:r>
              <a:rPr kumimoji="1" lang="zh-CN" altLang="en-US" sz="2400" b="1" dirty="0">
                <a:solidFill>
                  <a:srgbClr val="0707F9"/>
                </a:solidFill>
                <a:latin typeface="楷体_GB2312" pitchFamily="49" charset="-122"/>
                <a:ea typeface="楷体_GB2312" pitchFamily="49" charset="-122"/>
              </a:rPr>
              <a:t>）</a:t>
            </a:r>
            <a:r>
              <a:rPr kumimoji="1" lang="en-US" altLang="zh-CN" sz="2400" b="1" dirty="0">
                <a:solidFill>
                  <a:srgbClr val="0707F9"/>
                </a:solidFill>
                <a:latin typeface="楷体_GB2312" pitchFamily="49" charset="-122"/>
                <a:ea typeface="楷体_GB2312" pitchFamily="49" charset="-122"/>
              </a:rPr>
              <a:t>=n+1    </a:t>
            </a:r>
          </a:p>
        </p:txBody>
      </p:sp>
      <p:sp>
        <p:nvSpPr>
          <p:cNvPr id="103" name="Text Box 8"/>
          <p:cNvSpPr txBox="1">
            <a:spLocks noChangeArrowheads="1"/>
          </p:cNvSpPr>
          <p:nvPr/>
        </p:nvSpPr>
        <p:spPr bwMode="auto">
          <a:xfrm>
            <a:off x="2952063" y="5860754"/>
            <a:ext cx="5734737" cy="463846"/>
          </a:xfrm>
          <a:prstGeom prst="rect">
            <a:avLst/>
          </a:prstGeom>
          <a:noFill/>
          <a:ln w="9525">
            <a:solidFill>
              <a:srgbClr val="0707F9"/>
            </a:solidFill>
            <a:miter lim="800000"/>
            <a:headEnd/>
            <a:tailEnd/>
          </a:ln>
        </p:spPr>
        <p:txBody>
          <a:bodyPr wrap="square" lIns="90000" tIns="46800" rIns="90000" bIns="46800">
            <a:spAutoFit/>
          </a:bodyPr>
          <a:lstStyle/>
          <a:p>
            <a:pPr eaLnBrk="0" fontAlgn="base" hangingPunct="0">
              <a:spcBef>
                <a:spcPct val="50000"/>
              </a:spcBef>
              <a:spcAft>
                <a:spcPct val="0"/>
              </a:spcAft>
            </a:pPr>
            <a:r>
              <a:rPr kumimoji="1" lang="zh-CN" altLang="en-US" sz="2400" b="1">
                <a:solidFill>
                  <a:srgbClr val="FF0000"/>
                </a:solidFill>
                <a:latin typeface="Times New Roman" pitchFamily="18" charset="0"/>
                <a:ea typeface="楷体_GB2312" pitchFamily="49" charset="-122"/>
              </a:rPr>
              <a:t>二叉链表的缺点</a:t>
            </a:r>
            <a:r>
              <a:rPr kumimoji="1" lang="zh-CN" altLang="en-US" sz="2400" b="1">
                <a:solidFill>
                  <a:srgbClr val="0707F9"/>
                </a:solidFill>
                <a:latin typeface="Times New Roman" pitchFamily="18" charset="0"/>
                <a:ea typeface="楷体_GB2312" pitchFamily="49" charset="-122"/>
              </a:rPr>
              <a:t>是很难找到结点的双亲</a:t>
            </a:r>
            <a:endParaRPr kumimoji="1" lang="zh-CN" altLang="en-US" sz="2400" b="1">
              <a:solidFill>
                <a:srgbClr val="0707F9"/>
              </a:solidFill>
              <a:latin typeface="楷体_GB2312" pitchFamily="49" charset="-122"/>
              <a:ea typeface="楷体_GB2312" pitchFamily="49" charset="-122"/>
            </a:endParaRPr>
          </a:p>
        </p:txBody>
      </p:sp>
      <p:grpSp>
        <p:nvGrpSpPr>
          <p:cNvPr id="104" name="Group 9"/>
          <p:cNvGrpSpPr>
            <a:grpSpLocks/>
          </p:cNvGrpSpPr>
          <p:nvPr/>
        </p:nvGrpSpPr>
        <p:grpSpPr bwMode="auto">
          <a:xfrm>
            <a:off x="-15875" y="1868488"/>
            <a:ext cx="4191000" cy="4075113"/>
            <a:chOff x="3338" y="954"/>
            <a:chExt cx="2640" cy="2567"/>
          </a:xfrm>
        </p:grpSpPr>
        <p:sp>
          <p:nvSpPr>
            <p:cNvPr id="105" name="Text Box 10"/>
            <p:cNvSpPr txBox="1">
              <a:spLocks noChangeArrowheads="1"/>
            </p:cNvSpPr>
            <p:nvPr/>
          </p:nvSpPr>
          <p:spPr bwMode="auto">
            <a:xfrm>
              <a:off x="3620" y="3233"/>
              <a:ext cx="1919"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宋体" pitchFamily="2" charset="-122"/>
                </a:rPr>
                <a:t>二叉链表图示</a:t>
              </a:r>
            </a:p>
          </p:txBody>
        </p:sp>
        <p:grpSp>
          <p:nvGrpSpPr>
            <p:cNvPr id="106" name="Group 11"/>
            <p:cNvGrpSpPr>
              <a:grpSpLocks/>
            </p:cNvGrpSpPr>
            <p:nvPr/>
          </p:nvGrpSpPr>
          <p:grpSpPr bwMode="auto">
            <a:xfrm>
              <a:off x="3338" y="2462"/>
              <a:ext cx="759" cy="302"/>
              <a:chOff x="2448" y="3408"/>
              <a:chExt cx="1007" cy="420"/>
            </a:xfrm>
          </p:grpSpPr>
          <p:grpSp>
            <p:nvGrpSpPr>
              <p:cNvPr id="144" name="Group 12"/>
              <p:cNvGrpSpPr>
                <a:grpSpLocks/>
              </p:cNvGrpSpPr>
              <p:nvPr/>
            </p:nvGrpSpPr>
            <p:grpSpPr bwMode="auto">
              <a:xfrm>
                <a:off x="2496" y="3408"/>
                <a:ext cx="839" cy="384"/>
                <a:chOff x="960" y="2544"/>
                <a:chExt cx="768" cy="288"/>
              </a:xfrm>
            </p:grpSpPr>
            <p:sp>
              <p:nvSpPr>
                <p:cNvPr id="146" name="Rectangle 13"/>
                <p:cNvSpPr>
                  <a:spLocks noChangeArrowheads="1"/>
                </p:cNvSpPr>
                <p:nvPr/>
              </p:nvSpPr>
              <p:spPr bwMode="auto">
                <a:xfrm>
                  <a:off x="960" y="2544"/>
                  <a:ext cx="768" cy="288"/>
                </a:xfrm>
                <a:prstGeom prst="rect">
                  <a:avLst/>
                </a:prstGeom>
                <a:solidFill>
                  <a:srgbClr val="66CC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47" name="Line 14"/>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48" name="Line 15"/>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145" name="Text Box 16"/>
              <p:cNvSpPr txBox="1">
                <a:spLocks noChangeArrowheads="1"/>
              </p:cNvSpPr>
              <p:nvPr/>
            </p:nvSpPr>
            <p:spPr bwMode="auto">
              <a:xfrm>
                <a:off x="2448" y="3428"/>
                <a:ext cx="1007" cy="4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FF3300"/>
                    </a:solidFill>
                    <a:effectLst/>
                    <a:uLnTx/>
                    <a:uFillTx/>
                    <a:latin typeface="隶书" pitchFamily="49" charset="-122"/>
                    <a:ea typeface="隶书" pitchFamily="49" charset="-122"/>
                  </a:rPr>
                  <a:t>D</a:t>
                </a:r>
              </a:p>
            </p:txBody>
          </p:sp>
        </p:grpSp>
        <p:grpSp>
          <p:nvGrpSpPr>
            <p:cNvPr id="107" name="Group 17"/>
            <p:cNvGrpSpPr>
              <a:grpSpLocks/>
            </p:cNvGrpSpPr>
            <p:nvPr/>
          </p:nvGrpSpPr>
          <p:grpSpPr bwMode="auto">
            <a:xfrm>
              <a:off x="4526" y="1571"/>
              <a:ext cx="633" cy="277"/>
              <a:chOff x="960" y="2544"/>
              <a:chExt cx="768" cy="288"/>
            </a:xfrm>
          </p:grpSpPr>
          <p:sp>
            <p:nvSpPr>
              <p:cNvPr id="141" name="Rectangle 18"/>
              <p:cNvSpPr>
                <a:spLocks noChangeArrowheads="1"/>
              </p:cNvSpPr>
              <p:nvPr/>
            </p:nvSpPr>
            <p:spPr bwMode="auto">
              <a:xfrm>
                <a:off x="960" y="2544"/>
                <a:ext cx="768" cy="288"/>
              </a:xfrm>
              <a:prstGeom prst="rect">
                <a:avLst/>
              </a:prstGeom>
              <a:solidFill>
                <a:srgbClr val="66CC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42" name="Line 19"/>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43" name="Line 20"/>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108" name="Text Box 21"/>
            <p:cNvSpPr txBox="1">
              <a:spLocks noChangeArrowheads="1"/>
            </p:cNvSpPr>
            <p:nvPr/>
          </p:nvSpPr>
          <p:spPr bwMode="auto">
            <a:xfrm>
              <a:off x="4490" y="1536"/>
              <a:ext cx="760" cy="32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707F9"/>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FF3300"/>
                  </a:solidFill>
                  <a:effectLst/>
                  <a:uLnTx/>
                  <a:uFillTx/>
                  <a:latin typeface="隶书" pitchFamily="49" charset="-122"/>
                  <a:ea typeface="隶书" pitchFamily="49" charset="-122"/>
                </a:rPr>
                <a:t>A</a:t>
              </a:r>
            </a:p>
          </p:txBody>
        </p:sp>
        <p:grpSp>
          <p:nvGrpSpPr>
            <p:cNvPr id="109" name="Group 22"/>
            <p:cNvGrpSpPr>
              <a:grpSpLocks/>
            </p:cNvGrpSpPr>
            <p:nvPr/>
          </p:nvGrpSpPr>
          <p:grpSpPr bwMode="auto">
            <a:xfrm>
              <a:off x="3844" y="2012"/>
              <a:ext cx="631" cy="277"/>
              <a:chOff x="960" y="2544"/>
              <a:chExt cx="768" cy="288"/>
            </a:xfrm>
          </p:grpSpPr>
          <p:sp>
            <p:nvSpPr>
              <p:cNvPr id="138" name="Rectangle 23"/>
              <p:cNvSpPr>
                <a:spLocks noChangeArrowheads="1"/>
              </p:cNvSpPr>
              <p:nvPr/>
            </p:nvSpPr>
            <p:spPr bwMode="auto">
              <a:xfrm>
                <a:off x="960" y="2544"/>
                <a:ext cx="768" cy="288"/>
              </a:xfrm>
              <a:prstGeom prst="rect">
                <a:avLst/>
              </a:prstGeom>
              <a:solidFill>
                <a:srgbClr val="66CC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39" name="Line 24"/>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40" name="Line 25"/>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110" name="Text Box 26"/>
            <p:cNvSpPr txBox="1">
              <a:spLocks noChangeArrowheads="1"/>
            </p:cNvSpPr>
            <p:nvPr/>
          </p:nvSpPr>
          <p:spPr bwMode="auto">
            <a:xfrm>
              <a:off x="4206" y="1695"/>
              <a:ext cx="402" cy="55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6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nvGrpSpPr>
            <p:cNvPr id="111" name="Group 27"/>
            <p:cNvGrpSpPr>
              <a:grpSpLocks/>
            </p:cNvGrpSpPr>
            <p:nvPr/>
          </p:nvGrpSpPr>
          <p:grpSpPr bwMode="auto">
            <a:xfrm>
              <a:off x="5110" y="2013"/>
              <a:ext cx="868" cy="300"/>
              <a:chOff x="4368" y="2592"/>
              <a:chExt cx="1152" cy="416"/>
            </a:xfrm>
          </p:grpSpPr>
          <p:grpSp>
            <p:nvGrpSpPr>
              <p:cNvPr id="133" name="Group 28"/>
              <p:cNvGrpSpPr>
                <a:grpSpLocks/>
              </p:cNvGrpSpPr>
              <p:nvPr/>
            </p:nvGrpSpPr>
            <p:grpSpPr bwMode="auto">
              <a:xfrm>
                <a:off x="4464" y="2592"/>
                <a:ext cx="839" cy="384"/>
                <a:chOff x="960" y="2544"/>
                <a:chExt cx="768" cy="288"/>
              </a:xfrm>
            </p:grpSpPr>
            <p:sp>
              <p:nvSpPr>
                <p:cNvPr id="135" name="Rectangle 29"/>
                <p:cNvSpPr>
                  <a:spLocks noChangeArrowheads="1"/>
                </p:cNvSpPr>
                <p:nvPr/>
              </p:nvSpPr>
              <p:spPr bwMode="auto">
                <a:xfrm>
                  <a:off x="960" y="2544"/>
                  <a:ext cx="768" cy="288"/>
                </a:xfrm>
                <a:prstGeom prst="rect">
                  <a:avLst/>
                </a:prstGeom>
                <a:solidFill>
                  <a:srgbClr val="66CC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36" name="Line 30"/>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37" name="Line 31"/>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134" name="Text Box 32"/>
              <p:cNvSpPr txBox="1">
                <a:spLocks noChangeArrowheads="1"/>
              </p:cNvSpPr>
              <p:nvPr/>
            </p:nvSpPr>
            <p:spPr bwMode="auto">
              <a:xfrm>
                <a:off x="4368" y="2608"/>
                <a:ext cx="1152" cy="4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FF3300"/>
                    </a:solidFill>
                    <a:effectLst/>
                    <a:uLnTx/>
                    <a:uFillTx/>
                    <a:latin typeface="隶书" pitchFamily="49" charset="-122"/>
                    <a:ea typeface="隶书" pitchFamily="49" charset="-122"/>
                  </a:rPr>
                  <a:t>C</a:t>
                </a:r>
                <a:r>
                  <a:rPr kumimoji="1" lang="en-US" altLang="zh-CN" sz="1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112" name="Group 33"/>
            <p:cNvGrpSpPr>
              <a:grpSpLocks/>
            </p:cNvGrpSpPr>
            <p:nvPr/>
          </p:nvGrpSpPr>
          <p:grpSpPr bwMode="auto">
            <a:xfrm>
              <a:off x="4844" y="2434"/>
              <a:ext cx="760" cy="303"/>
              <a:chOff x="3935" y="2880"/>
              <a:chExt cx="1009" cy="421"/>
            </a:xfrm>
          </p:grpSpPr>
          <p:grpSp>
            <p:nvGrpSpPr>
              <p:cNvPr id="128" name="Group 34"/>
              <p:cNvGrpSpPr>
                <a:grpSpLocks/>
              </p:cNvGrpSpPr>
              <p:nvPr/>
            </p:nvGrpSpPr>
            <p:grpSpPr bwMode="auto">
              <a:xfrm>
                <a:off x="3984" y="2880"/>
                <a:ext cx="839" cy="384"/>
                <a:chOff x="960" y="2544"/>
                <a:chExt cx="768" cy="288"/>
              </a:xfrm>
            </p:grpSpPr>
            <p:sp>
              <p:nvSpPr>
                <p:cNvPr id="130" name="Rectangle 35"/>
                <p:cNvSpPr>
                  <a:spLocks noChangeArrowheads="1"/>
                </p:cNvSpPr>
                <p:nvPr/>
              </p:nvSpPr>
              <p:spPr bwMode="auto">
                <a:xfrm>
                  <a:off x="960" y="2544"/>
                  <a:ext cx="768" cy="288"/>
                </a:xfrm>
                <a:prstGeom prst="rect">
                  <a:avLst/>
                </a:prstGeom>
                <a:solidFill>
                  <a:srgbClr val="66CC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31" name="Line 36"/>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32" name="Line 37"/>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129" name="Text Box 38"/>
              <p:cNvSpPr txBox="1">
                <a:spLocks noChangeArrowheads="1"/>
              </p:cNvSpPr>
              <p:nvPr/>
            </p:nvSpPr>
            <p:spPr bwMode="auto">
              <a:xfrm>
                <a:off x="3935" y="2900"/>
                <a:ext cx="1009"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FF3300"/>
                    </a:solidFill>
                    <a:effectLst/>
                    <a:uLnTx/>
                    <a:uFillTx/>
                    <a:latin typeface="隶书" pitchFamily="49" charset="-122"/>
                    <a:ea typeface="隶书" pitchFamily="49" charset="-122"/>
                  </a:rPr>
                  <a:t>E </a:t>
                </a:r>
                <a:r>
                  <a:rPr kumimoji="1" lang="en-US" altLang="zh-CN" sz="20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113" name="Group 39"/>
            <p:cNvGrpSpPr>
              <a:grpSpLocks/>
            </p:cNvGrpSpPr>
            <p:nvPr/>
          </p:nvGrpSpPr>
          <p:grpSpPr bwMode="auto">
            <a:xfrm>
              <a:off x="3844" y="2850"/>
              <a:ext cx="760" cy="296"/>
              <a:chOff x="2928" y="4224"/>
              <a:chExt cx="1008" cy="410"/>
            </a:xfrm>
          </p:grpSpPr>
          <p:grpSp>
            <p:nvGrpSpPr>
              <p:cNvPr id="123" name="Group 40"/>
              <p:cNvGrpSpPr>
                <a:grpSpLocks/>
              </p:cNvGrpSpPr>
              <p:nvPr/>
            </p:nvGrpSpPr>
            <p:grpSpPr bwMode="auto">
              <a:xfrm>
                <a:off x="2976" y="4224"/>
                <a:ext cx="839" cy="384"/>
                <a:chOff x="960" y="2544"/>
                <a:chExt cx="768" cy="288"/>
              </a:xfrm>
            </p:grpSpPr>
            <p:sp>
              <p:nvSpPr>
                <p:cNvPr id="125" name="Rectangle 41"/>
                <p:cNvSpPr>
                  <a:spLocks noChangeArrowheads="1"/>
                </p:cNvSpPr>
                <p:nvPr/>
              </p:nvSpPr>
              <p:spPr bwMode="auto">
                <a:xfrm>
                  <a:off x="960" y="2544"/>
                  <a:ext cx="768" cy="288"/>
                </a:xfrm>
                <a:prstGeom prst="rect">
                  <a:avLst/>
                </a:prstGeom>
                <a:solidFill>
                  <a:srgbClr val="66CC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26" name="Line 42"/>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27" name="Line 43"/>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124" name="Text Box 44"/>
              <p:cNvSpPr txBox="1">
                <a:spLocks noChangeArrowheads="1"/>
              </p:cNvSpPr>
              <p:nvPr/>
            </p:nvSpPr>
            <p:spPr bwMode="auto">
              <a:xfrm>
                <a:off x="2928" y="4235"/>
                <a:ext cx="1008" cy="39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FF3300"/>
                    </a:solidFill>
                    <a:effectLst/>
                    <a:uLnTx/>
                    <a:uFillTx/>
                    <a:latin typeface="隶书" pitchFamily="49" charset="-122"/>
                    <a:ea typeface="隶书" pitchFamily="49" charset="-122"/>
                  </a:rPr>
                  <a:t>F</a:t>
                </a:r>
              </a:p>
            </p:txBody>
          </p:sp>
        </p:grpSp>
        <p:sp>
          <p:nvSpPr>
            <p:cNvPr id="114" name="Line 45"/>
            <p:cNvSpPr>
              <a:spLocks noChangeShapeType="1"/>
            </p:cNvSpPr>
            <p:nvPr/>
          </p:nvSpPr>
          <p:spPr bwMode="auto">
            <a:xfrm flipH="1">
              <a:off x="4204" y="1728"/>
              <a:ext cx="336" cy="288"/>
            </a:xfrm>
            <a:prstGeom prst="line">
              <a:avLst/>
            </a:prstGeom>
            <a:noFill/>
            <a:ln w="25400" cap="rnd">
              <a:solidFill>
                <a:srgbClr val="000000"/>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5" name="Line 46"/>
            <p:cNvSpPr>
              <a:spLocks noChangeShapeType="1"/>
            </p:cNvSpPr>
            <p:nvPr/>
          </p:nvSpPr>
          <p:spPr bwMode="auto">
            <a:xfrm>
              <a:off x="3916" y="2688"/>
              <a:ext cx="288" cy="144"/>
            </a:xfrm>
            <a:prstGeom prst="line">
              <a:avLst/>
            </a:prstGeom>
            <a:noFill/>
            <a:ln w="12700" cap="rnd">
              <a:solidFill>
                <a:srgbClr val="000000"/>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6" name="Line 47"/>
            <p:cNvSpPr>
              <a:spLocks noChangeShapeType="1"/>
            </p:cNvSpPr>
            <p:nvPr/>
          </p:nvSpPr>
          <p:spPr bwMode="auto">
            <a:xfrm>
              <a:off x="5020" y="1776"/>
              <a:ext cx="480" cy="240"/>
            </a:xfrm>
            <a:prstGeom prst="line">
              <a:avLst/>
            </a:prstGeom>
            <a:noFill/>
            <a:ln w="12700" cap="rnd">
              <a:solidFill>
                <a:srgbClr val="000000"/>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7" name="Text Box 48"/>
            <p:cNvSpPr txBox="1">
              <a:spLocks noChangeArrowheads="1"/>
            </p:cNvSpPr>
            <p:nvPr/>
          </p:nvSpPr>
          <p:spPr bwMode="auto">
            <a:xfrm>
              <a:off x="4067" y="1695"/>
              <a:ext cx="296" cy="55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FF3300"/>
                  </a:solidFill>
                  <a:effectLst/>
                  <a:uLnTx/>
                  <a:uFillTx/>
                  <a:latin typeface="隶书" pitchFamily="49" charset="-122"/>
                  <a:ea typeface="隶书" pitchFamily="49" charset="-122"/>
                </a:rPr>
                <a:t>B</a:t>
              </a:r>
              <a:r>
                <a:rPr kumimoji="1" lang="en-US" altLang="zh-CN" sz="1600" b="1" i="0" u="none" strike="noStrike" kern="0" cap="none" spc="0" normalizeH="0" baseline="0" noProof="0">
                  <a:ln>
                    <a:noFill/>
                  </a:ln>
                  <a:solidFill>
                    <a:srgbClr val="003300"/>
                  </a:solidFill>
                  <a:effectLst/>
                  <a:uLnTx/>
                  <a:uFillTx/>
                  <a:latin typeface="隶书" pitchFamily="49" charset="-122"/>
                  <a:ea typeface="隶书" pitchFamily="49" charset="-122"/>
                </a:rPr>
                <a:t> </a:t>
              </a:r>
              <a:endPar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sp>
          <p:nvSpPr>
            <p:cNvPr id="118" name="Text Box 49"/>
            <p:cNvSpPr txBox="1">
              <a:spLocks noChangeArrowheads="1"/>
            </p:cNvSpPr>
            <p:nvPr/>
          </p:nvSpPr>
          <p:spPr bwMode="auto">
            <a:xfrm>
              <a:off x="4256" y="2544"/>
              <a:ext cx="401" cy="519"/>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6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20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sp>
          <p:nvSpPr>
            <p:cNvPr id="119" name="Freeform 50"/>
            <p:cNvSpPr>
              <a:spLocks/>
            </p:cNvSpPr>
            <p:nvPr/>
          </p:nvSpPr>
          <p:spPr bwMode="auto">
            <a:xfrm rot="1533598">
              <a:off x="4443" y="1226"/>
              <a:ext cx="482" cy="253"/>
            </a:xfrm>
            <a:custGeom>
              <a:avLst/>
              <a:gdLst>
                <a:gd name="T0" fmla="*/ 0 w 720"/>
                <a:gd name="T1" fmla="*/ 0 h 528"/>
                <a:gd name="T2" fmla="*/ 2 w 720"/>
                <a:gd name="T3" fmla="*/ 0 h 528"/>
                <a:gd name="T4" fmla="*/ 1 w 720"/>
                <a:gd name="T5" fmla="*/ 0 h 528"/>
                <a:gd name="T6" fmla="*/ 3 w 720"/>
                <a:gd name="T7" fmla="*/ 0 h 528"/>
                <a:gd name="T8" fmla="*/ 0 60000 65536"/>
                <a:gd name="T9" fmla="*/ 0 60000 65536"/>
                <a:gd name="T10" fmla="*/ 0 60000 65536"/>
                <a:gd name="T11" fmla="*/ 0 60000 65536"/>
                <a:gd name="T12" fmla="*/ 0 w 720"/>
                <a:gd name="T13" fmla="*/ 0 h 528"/>
                <a:gd name="T14" fmla="*/ 720 w 720"/>
                <a:gd name="T15" fmla="*/ 528 h 528"/>
              </a:gdLst>
              <a:ahLst/>
              <a:cxnLst>
                <a:cxn ang="T8">
                  <a:pos x="T0" y="T1"/>
                </a:cxn>
                <a:cxn ang="T9">
                  <a:pos x="T2" y="T3"/>
                </a:cxn>
                <a:cxn ang="T10">
                  <a:pos x="T4" y="T5"/>
                </a:cxn>
                <a:cxn ang="T11">
                  <a:pos x="T6" y="T7"/>
                </a:cxn>
              </a:cxnLst>
              <a:rect l="T12" t="T13" r="T14" b="T15"/>
              <a:pathLst>
                <a:path w="720" h="528">
                  <a:moveTo>
                    <a:pt x="0" y="0"/>
                  </a:moveTo>
                  <a:cubicBezTo>
                    <a:pt x="260" y="4"/>
                    <a:pt x="520" y="8"/>
                    <a:pt x="576" y="48"/>
                  </a:cubicBezTo>
                  <a:cubicBezTo>
                    <a:pt x="632" y="88"/>
                    <a:pt x="312" y="160"/>
                    <a:pt x="336" y="240"/>
                  </a:cubicBezTo>
                  <a:cubicBezTo>
                    <a:pt x="360" y="320"/>
                    <a:pt x="656" y="480"/>
                    <a:pt x="720" y="528"/>
                  </a:cubicBezTo>
                </a:path>
              </a:pathLst>
            </a:custGeom>
            <a:noFill/>
            <a:ln w="38100" cap="sq">
              <a:solidFill>
                <a:srgbClr val="000000"/>
              </a:solidFill>
              <a:round/>
              <a:headEnd type="none" w="sm" len="sm"/>
              <a:tailEnd type="arrow" w="med" len="lg"/>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20" name="Text Box 51"/>
            <p:cNvSpPr txBox="1">
              <a:spLocks noChangeArrowheads="1"/>
            </p:cNvSpPr>
            <p:nvPr/>
          </p:nvSpPr>
          <p:spPr bwMode="auto">
            <a:xfrm>
              <a:off x="3876" y="954"/>
              <a:ext cx="633" cy="407"/>
            </a:xfrm>
            <a:prstGeom prst="rect">
              <a:avLst/>
            </a:prstGeom>
            <a:noFill/>
            <a:ln w="12700" cap="sq">
              <a:noFill/>
              <a:miter lim="800000"/>
              <a:headEnd type="none" w="sm" len="sm"/>
              <a:tailEnd type="none" w="sm" len="sm"/>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3600" b="1" i="0" u="none" strike="noStrike" kern="0" cap="none" spc="0" normalizeH="0" baseline="0" noProof="0" dirty="0">
                  <a:ln>
                    <a:noFill/>
                  </a:ln>
                  <a:solidFill>
                    <a:srgbClr val="FF3300"/>
                  </a:solidFill>
                  <a:effectLst/>
                  <a:uLnTx/>
                  <a:uFillTx/>
                  <a:latin typeface="Times New Roman" pitchFamily="18" charset="0"/>
                </a:rPr>
                <a:t>root</a:t>
              </a:r>
              <a:endParaRPr kumimoji="1" lang="en-US" altLang="zh-CN" sz="2000" b="0" i="0" u="none" strike="noStrike" kern="0" cap="none" spc="0" normalizeH="0" baseline="0" noProof="0" dirty="0">
                <a:ln>
                  <a:noFill/>
                </a:ln>
                <a:solidFill>
                  <a:srgbClr val="000000"/>
                </a:solidFill>
                <a:effectLst/>
                <a:uLnTx/>
                <a:uFillTx/>
                <a:latin typeface="Times New Roman" pitchFamily="18" charset="0"/>
              </a:endParaRPr>
            </a:p>
          </p:txBody>
        </p:sp>
        <p:sp>
          <p:nvSpPr>
            <p:cNvPr id="121" name="Line 52"/>
            <p:cNvSpPr>
              <a:spLocks noChangeShapeType="1"/>
            </p:cNvSpPr>
            <p:nvPr/>
          </p:nvSpPr>
          <p:spPr bwMode="auto">
            <a:xfrm flipH="1">
              <a:off x="5068" y="2208"/>
              <a:ext cx="192" cy="240"/>
            </a:xfrm>
            <a:prstGeom prst="line">
              <a:avLst/>
            </a:prstGeom>
            <a:noFill/>
            <a:ln w="12700" cap="rnd">
              <a:solidFill>
                <a:srgbClr val="000000"/>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22" name="Line 53"/>
            <p:cNvSpPr>
              <a:spLocks noChangeShapeType="1"/>
            </p:cNvSpPr>
            <p:nvPr/>
          </p:nvSpPr>
          <p:spPr bwMode="auto">
            <a:xfrm flipH="1">
              <a:off x="3724" y="2206"/>
              <a:ext cx="258" cy="242"/>
            </a:xfrm>
            <a:prstGeom prst="line">
              <a:avLst/>
            </a:prstGeom>
            <a:noFill/>
            <a:ln w="12700" cap="rnd">
              <a:solidFill>
                <a:srgbClr val="000000"/>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Tree>
    <p:extLst>
      <p:ext uri="{BB962C8B-B14F-4D97-AF65-F5344CB8AC3E}">
        <p14:creationId xmlns:p14="http://schemas.microsoft.com/office/powerpoint/2010/main" val="396248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1" grpId="0"/>
      <p:bldP spid="102" grpId="0"/>
      <p:bldP spid="10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5.2.3 </a:t>
            </a:r>
            <a:r>
              <a:rPr kumimoji="1" lang="zh-CN" altLang="en-US" sz="3200" b="1" dirty="0">
                <a:latin typeface="Arial" charset="0"/>
                <a:ea typeface="宋体" charset="-122"/>
                <a:cs typeface="+mn-cs"/>
              </a:rPr>
              <a:t>二叉树的存储结构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r>
              <a:rPr lang="zh-CN" altLang="en-US" sz="2800" b="1" dirty="0"/>
              <a:t>二叉树的链式存储表示</a:t>
            </a:r>
            <a:r>
              <a:rPr lang="en-US" altLang="zh-CN" sz="2800" b="1" dirty="0"/>
              <a:t>---</a:t>
            </a:r>
            <a:r>
              <a:rPr lang="zh-CN" altLang="en-US" sz="2800" b="1" dirty="0"/>
              <a:t>三叉链表</a:t>
            </a:r>
            <a:endParaRPr lang="en-US" altLang="zh-CN" sz="2800" b="1" dirty="0"/>
          </a:p>
        </p:txBody>
      </p:sp>
      <p:sp>
        <p:nvSpPr>
          <p:cNvPr id="4" name="日期占位符 3"/>
          <p:cNvSpPr>
            <a:spLocks noGrp="1"/>
          </p:cNvSpPr>
          <p:nvPr>
            <p:ph type="dt" sz="half" idx="10"/>
          </p:nvPr>
        </p:nvSpPr>
        <p:spPr/>
        <p:txBody>
          <a:bodyPr/>
          <a:lstStyle/>
          <a:p>
            <a:fld id="{5523648E-FAC2-4FB3-A5D9-D8B9F46C70FA}"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42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99" name="Text Box 2"/>
          <p:cNvSpPr txBox="1">
            <a:spLocks noChangeArrowheads="1"/>
          </p:cNvSpPr>
          <p:nvPr/>
        </p:nvSpPr>
        <p:spPr bwMode="auto">
          <a:xfrm>
            <a:off x="560388" y="1684338"/>
            <a:ext cx="8135937" cy="830262"/>
          </a:xfrm>
          <a:prstGeom prst="rect">
            <a:avLst/>
          </a:prstGeom>
          <a:noFill/>
          <a:ln w="12700" cap="rnd">
            <a:solidFill>
              <a:srgbClr val="0000FF"/>
            </a:solidFill>
            <a:miter lim="800000"/>
            <a:headEnd/>
            <a:tailEnd/>
          </a:ln>
        </p:spPr>
        <p:txBody>
          <a:bodyPr>
            <a:spAutoFit/>
          </a:bodyPr>
          <a:lstStyle/>
          <a:p>
            <a:pPr eaLnBrk="0" fontAlgn="base" hangingPunct="0">
              <a:spcBef>
                <a:spcPct val="20000"/>
              </a:spcBef>
              <a:spcAft>
                <a:spcPct val="0"/>
              </a:spcAft>
            </a:pPr>
            <a:r>
              <a:rPr kumimoji="1" lang="zh-CN" altLang="en-US" sz="2400" b="1" dirty="0">
                <a:solidFill>
                  <a:srgbClr val="0000FF"/>
                </a:solidFill>
                <a:latin typeface="宋体" pitchFamily="2" charset="-122"/>
              </a:rPr>
              <a:t>三叉链表（</a:t>
            </a:r>
            <a:r>
              <a:rPr kumimoji="1" lang="zh-CN" altLang="en-US" sz="2400" b="1" dirty="0">
                <a:solidFill>
                  <a:srgbClr val="FF0000"/>
                </a:solidFill>
                <a:latin typeface="宋体" pitchFamily="2" charset="-122"/>
              </a:rPr>
              <a:t>带双亲指针的二叉链表</a:t>
            </a:r>
            <a:r>
              <a:rPr kumimoji="1" lang="zh-CN" altLang="en-US" sz="2400" b="1" dirty="0">
                <a:solidFill>
                  <a:srgbClr val="0000FF"/>
                </a:solidFill>
                <a:latin typeface="宋体" pitchFamily="2" charset="-122"/>
              </a:rPr>
              <a:t>）</a:t>
            </a:r>
            <a:r>
              <a:rPr kumimoji="1" lang="en-US" altLang="zh-CN" sz="2400" b="1" dirty="0">
                <a:solidFill>
                  <a:srgbClr val="0000FF"/>
                </a:solidFill>
                <a:latin typeface="宋体" pitchFamily="2" charset="-122"/>
              </a:rPr>
              <a:t>:</a:t>
            </a:r>
            <a:r>
              <a:rPr kumimoji="1" lang="zh-CN" altLang="en-US" sz="2400" b="1" dirty="0">
                <a:solidFill>
                  <a:srgbClr val="0000FF"/>
                </a:solidFill>
                <a:latin typeface="宋体" pitchFamily="2" charset="-122"/>
              </a:rPr>
              <a:t>三叉链表中每个结点包含四个域：数据域、左指针域、右指针域、双亲指针域</a:t>
            </a:r>
          </a:p>
        </p:txBody>
      </p:sp>
      <p:sp>
        <p:nvSpPr>
          <p:cNvPr id="100" name="Rectangle 3"/>
          <p:cNvSpPr>
            <a:spLocks noChangeArrowheads="1"/>
          </p:cNvSpPr>
          <p:nvPr/>
        </p:nvSpPr>
        <p:spPr bwMode="auto">
          <a:xfrm>
            <a:off x="2505075" y="4362450"/>
            <a:ext cx="5400675" cy="2162175"/>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400" b="1">
                <a:solidFill>
                  <a:srgbClr val="000000"/>
                </a:solidFill>
                <a:latin typeface="宋体" pitchFamily="2" charset="-122"/>
              </a:rPr>
              <a:t>typedef </a:t>
            </a:r>
            <a:r>
              <a:rPr kumimoji="1" lang="en-US" altLang="zh-CN" sz="2800">
                <a:solidFill>
                  <a:srgbClr val="0000FF"/>
                </a:solidFill>
                <a:latin typeface="Constantia" pitchFamily="18" charset="0"/>
              </a:rPr>
              <a:t> </a:t>
            </a:r>
            <a:r>
              <a:rPr kumimoji="1" lang="en-US" altLang="zh-CN" sz="2400" b="1">
                <a:solidFill>
                  <a:srgbClr val="0000FF"/>
                </a:solidFill>
                <a:latin typeface="宋体" pitchFamily="2" charset="-122"/>
              </a:rPr>
              <a:t>Struct node</a:t>
            </a:r>
          </a:p>
          <a:p>
            <a:pPr eaLnBrk="0" fontAlgn="base" hangingPunct="0">
              <a:spcBef>
                <a:spcPct val="50000"/>
              </a:spcBef>
              <a:spcAft>
                <a:spcPct val="0"/>
              </a:spcAft>
            </a:pPr>
            <a:r>
              <a:rPr kumimoji="1" lang="en-US" altLang="zh-CN" sz="2400" b="1">
                <a:solidFill>
                  <a:srgbClr val="000000"/>
                </a:solidFill>
                <a:latin typeface="宋体" pitchFamily="2" charset="-122"/>
              </a:rPr>
              <a:t>{ DataType data;</a:t>
            </a:r>
          </a:p>
          <a:p>
            <a:pPr eaLnBrk="0" fontAlgn="base" hangingPunct="0">
              <a:spcBef>
                <a:spcPct val="50000"/>
              </a:spcBef>
              <a:spcAft>
                <a:spcPct val="0"/>
              </a:spcAft>
            </a:pPr>
            <a:r>
              <a:rPr kumimoji="1" lang="en-US" altLang="zh-CN" sz="2400" b="1">
                <a:solidFill>
                  <a:srgbClr val="000000"/>
                </a:solidFill>
                <a:latin typeface="宋体" pitchFamily="2" charset="-122"/>
              </a:rPr>
              <a:t> </a:t>
            </a:r>
            <a:r>
              <a:rPr kumimoji="1" lang="en-US" altLang="zh-CN" sz="2400" b="1">
                <a:solidFill>
                  <a:srgbClr val="0000FF"/>
                </a:solidFill>
                <a:latin typeface="宋体" pitchFamily="2" charset="-122"/>
              </a:rPr>
              <a:t>Struct node</a:t>
            </a:r>
            <a:r>
              <a:rPr kumimoji="1" lang="en-US" altLang="zh-CN" sz="2400" b="1">
                <a:solidFill>
                  <a:srgbClr val="000000"/>
                </a:solidFill>
                <a:latin typeface="宋体" pitchFamily="2" charset="-122"/>
              </a:rPr>
              <a:t> *lch,*rch,*parent;</a:t>
            </a:r>
          </a:p>
          <a:p>
            <a:pPr eaLnBrk="0" fontAlgn="base" hangingPunct="0">
              <a:spcBef>
                <a:spcPct val="50000"/>
              </a:spcBef>
              <a:spcAft>
                <a:spcPct val="0"/>
              </a:spcAft>
            </a:pPr>
            <a:r>
              <a:rPr kumimoji="1" lang="en-US" altLang="zh-CN" sz="2400" b="1">
                <a:solidFill>
                  <a:srgbClr val="000000"/>
                </a:solidFill>
                <a:latin typeface="宋体" pitchFamily="2" charset="-122"/>
              </a:rPr>
              <a:t>};</a:t>
            </a:r>
          </a:p>
        </p:txBody>
      </p:sp>
      <p:sp>
        <p:nvSpPr>
          <p:cNvPr id="101" name="Text Box 7"/>
          <p:cNvSpPr txBox="1">
            <a:spLocks noChangeArrowheads="1"/>
          </p:cNvSpPr>
          <p:nvPr/>
        </p:nvSpPr>
        <p:spPr bwMode="auto">
          <a:xfrm>
            <a:off x="2105025" y="3040062"/>
            <a:ext cx="5224463" cy="519113"/>
          </a:xfrm>
          <a:prstGeom prst="rect">
            <a:avLst/>
          </a:prstGeom>
          <a:noFill/>
          <a:ln w="12700" cap="sq">
            <a:noFill/>
            <a:miter lim="800000"/>
            <a:headEnd type="none" w="sm" len="sm"/>
            <a:tailEnd type="none" w="sm" len="sm"/>
          </a:ln>
        </p:spPr>
        <p:txBody>
          <a:bodyPr>
            <a:spAutoFit/>
          </a:bodyPr>
          <a:lstStyle/>
          <a:p>
            <a:pPr fontAlgn="base">
              <a:spcBef>
                <a:spcPct val="0"/>
              </a:spcBef>
              <a:spcAft>
                <a:spcPct val="0"/>
              </a:spcAft>
            </a:pPr>
            <a:r>
              <a:rPr kumimoji="1" lang="en-US" altLang="zh-CN" sz="2800" b="1">
                <a:solidFill>
                  <a:srgbClr val="000000"/>
                </a:solidFill>
                <a:latin typeface="Times New Roman" pitchFamily="18" charset="0"/>
              </a:rPr>
              <a:t>lch          data         rch</a:t>
            </a:r>
            <a:r>
              <a:rPr kumimoji="1" lang="en-US" altLang="zh-CN" sz="2800" b="1">
                <a:solidFill>
                  <a:srgbClr val="04617B"/>
                </a:solidFill>
                <a:latin typeface="Times New Roman" pitchFamily="18" charset="0"/>
              </a:rPr>
              <a:t>      </a:t>
            </a:r>
            <a:r>
              <a:rPr kumimoji="1" lang="en-US" altLang="zh-CN" sz="2800" b="1">
                <a:solidFill>
                  <a:srgbClr val="FF3300"/>
                </a:solidFill>
                <a:latin typeface="Constantia" pitchFamily="18" charset="0"/>
              </a:rPr>
              <a:t>parent</a:t>
            </a:r>
          </a:p>
        </p:txBody>
      </p:sp>
      <p:sp>
        <p:nvSpPr>
          <p:cNvPr id="102" name="Rectangle 8"/>
          <p:cNvSpPr>
            <a:spLocks noChangeArrowheads="1"/>
          </p:cNvSpPr>
          <p:nvPr/>
        </p:nvSpPr>
        <p:spPr bwMode="auto">
          <a:xfrm>
            <a:off x="1928813" y="3084512"/>
            <a:ext cx="5472112" cy="469900"/>
          </a:xfrm>
          <a:prstGeom prst="rect">
            <a:avLst/>
          </a:prstGeom>
          <a:noFill/>
          <a:ln w="12700" cap="sq">
            <a:solidFill>
              <a:srgbClr val="000000"/>
            </a:solidFill>
            <a:miter lim="800000"/>
            <a:headEnd type="none" w="sm" len="sm"/>
            <a:tailEnd type="none" w="sm" len="sm"/>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3" name="Line 9"/>
          <p:cNvSpPr>
            <a:spLocks noChangeShapeType="1"/>
          </p:cNvSpPr>
          <p:nvPr/>
        </p:nvSpPr>
        <p:spPr bwMode="auto">
          <a:xfrm>
            <a:off x="3414713" y="3084512"/>
            <a:ext cx="1587" cy="4699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4" name="Line 10"/>
          <p:cNvSpPr>
            <a:spLocks noChangeShapeType="1"/>
          </p:cNvSpPr>
          <p:nvPr/>
        </p:nvSpPr>
        <p:spPr bwMode="auto">
          <a:xfrm>
            <a:off x="4743450" y="3084512"/>
            <a:ext cx="0" cy="4699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5" name="Line 11"/>
          <p:cNvSpPr>
            <a:spLocks noChangeShapeType="1"/>
          </p:cNvSpPr>
          <p:nvPr/>
        </p:nvSpPr>
        <p:spPr bwMode="auto">
          <a:xfrm>
            <a:off x="5994400" y="3084512"/>
            <a:ext cx="1588" cy="4699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6" name="Text Box 12"/>
          <p:cNvSpPr txBox="1">
            <a:spLocks noChangeArrowheads="1"/>
          </p:cNvSpPr>
          <p:nvPr/>
        </p:nvSpPr>
        <p:spPr bwMode="auto">
          <a:xfrm>
            <a:off x="560388" y="2662535"/>
            <a:ext cx="1524776" cy="46166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400" b="1" dirty="0">
                <a:solidFill>
                  <a:srgbClr val="000000"/>
                </a:solidFill>
                <a:latin typeface="Times New Roman" pitchFamily="18" charset="0"/>
                <a:ea typeface="楷体_GB2312" pitchFamily="49" charset="-122"/>
              </a:rPr>
              <a:t>结点结构</a:t>
            </a:r>
            <a:r>
              <a:rPr kumimoji="1" lang="en-US" altLang="zh-CN" sz="2400" b="1" dirty="0">
                <a:solidFill>
                  <a:srgbClr val="000000"/>
                </a:solidFill>
                <a:latin typeface="Times New Roman" pitchFamily="18" charset="0"/>
                <a:ea typeface="楷体_GB2312" pitchFamily="49" charset="-122"/>
              </a:rPr>
              <a:t>:</a:t>
            </a:r>
            <a:endParaRPr kumimoji="1" lang="en-US" altLang="zh-CN" sz="2400" dirty="0">
              <a:solidFill>
                <a:srgbClr val="000000"/>
              </a:solidFill>
              <a:latin typeface="Times New Roman" pitchFamily="18" charset="0"/>
            </a:endParaRPr>
          </a:p>
        </p:txBody>
      </p:sp>
      <p:sp>
        <p:nvSpPr>
          <p:cNvPr id="107" name="Text Box 13"/>
          <p:cNvSpPr txBox="1">
            <a:spLocks noChangeArrowheads="1"/>
          </p:cNvSpPr>
          <p:nvPr/>
        </p:nvSpPr>
        <p:spPr bwMode="auto">
          <a:xfrm>
            <a:off x="555698" y="3900487"/>
            <a:ext cx="3406702" cy="46166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2400" dirty="0">
                <a:solidFill>
                  <a:srgbClr val="0000FF"/>
                </a:solidFill>
                <a:latin typeface="Times New Roman" pitchFamily="18" charset="0"/>
              </a:rPr>
              <a:t>C </a:t>
            </a:r>
            <a:r>
              <a:rPr kumimoji="1" lang="zh-CN" altLang="zh-CN" sz="2400" b="1" dirty="0">
                <a:solidFill>
                  <a:srgbClr val="0000FF"/>
                </a:solidFill>
                <a:latin typeface="楷体_GB2312" pitchFamily="49" charset="-122"/>
                <a:ea typeface="楷体_GB2312" pitchFamily="49" charset="-122"/>
              </a:rPr>
              <a:t>语言的类型描述如下:</a:t>
            </a:r>
            <a:endParaRPr kumimoji="1" lang="en-US" altLang="zh-CN" sz="2400" dirty="0">
              <a:solidFill>
                <a:srgbClr val="0000FF"/>
              </a:solidFill>
              <a:latin typeface="Times New Roman" pitchFamily="18" charset="0"/>
            </a:endParaRPr>
          </a:p>
        </p:txBody>
      </p:sp>
    </p:spTree>
    <p:extLst>
      <p:ext uri="{BB962C8B-B14F-4D97-AF65-F5344CB8AC3E}">
        <p14:creationId xmlns:p14="http://schemas.microsoft.com/office/powerpoint/2010/main" val="1368525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5.2.3 </a:t>
            </a:r>
            <a:r>
              <a:rPr kumimoji="1" lang="zh-CN" altLang="en-US" sz="3200" b="1" dirty="0">
                <a:latin typeface="Arial" charset="0"/>
                <a:ea typeface="宋体" charset="-122"/>
                <a:cs typeface="+mn-cs"/>
              </a:rPr>
              <a:t>二叉树的存储结构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r>
              <a:rPr lang="zh-CN" altLang="en-US" sz="2800" b="1" dirty="0"/>
              <a:t>二叉树的链式存储表示</a:t>
            </a:r>
            <a:r>
              <a:rPr lang="en-US" altLang="zh-CN" sz="2800" b="1" dirty="0"/>
              <a:t>---</a:t>
            </a:r>
            <a:r>
              <a:rPr lang="zh-CN" altLang="en-US" sz="2800" b="1" dirty="0">
                <a:solidFill>
                  <a:srgbClr val="FF0000"/>
                </a:solidFill>
              </a:rPr>
              <a:t>三叉链表</a:t>
            </a:r>
          </a:p>
        </p:txBody>
      </p:sp>
      <p:sp>
        <p:nvSpPr>
          <p:cNvPr id="4" name="日期占位符 3"/>
          <p:cNvSpPr>
            <a:spLocks noGrp="1"/>
          </p:cNvSpPr>
          <p:nvPr>
            <p:ph type="dt" sz="half" idx="10"/>
          </p:nvPr>
        </p:nvSpPr>
        <p:spPr/>
        <p:txBody>
          <a:bodyPr/>
          <a:lstStyle/>
          <a:p>
            <a:fld id="{9D5C763E-3BA7-412D-BF73-9CCC8D9CC8A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43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13" name="Group 2"/>
          <p:cNvGrpSpPr>
            <a:grpSpLocks/>
          </p:cNvGrpSpPr>
          <p:nvPr/>
        </p:nvGrpSpPr>
        <p:grpSpPr bwMode="auto">
          <a:xfrm>
            <a:off x="795338" y="3856038"/>
            <a:ext cx="2362200" cy="2360612"/>
            <a:chOff x="625" y="2215"/>
            <a:chExt cx="1488" cy="1487"/>
          </a:xfrm>
        </p:grpSpPr>
        <p:grpSp>
          <p:nvGrpSpPr>
            <p:cNvPr id="14" name="Group 3"/>
            <p:cNvGrpSpPr>
              <a:grpSpLocks/>
            </p:cNvGrpSpPr>
            <p:nvPr/>
          </p:nvGrpSpPr>
          <p:grpSpPr bwMode="auto">
            <a:xfrm>
              <a:off x="1352" y="2215"/>
              <a:ext cx="434" cy="304"/>
              <a:chOff x="1681" y="864"/>
              <a:chExt cx="575" cy="431"/>
            </a:xfrm>
          </p:grpSpPr>
          <p:sp>
            <p:nvSpPr>
              <p:cNvPr id="37" name="Oval 4"/>
              <p:cNvSpPr>
                <a:spLocks noChangeArrowheads="1"/>
              </p:cNvSpPr>
              <p:nvPr/>
            </p:nvSpPr>
            <p:spPr bwMode="auto">
              <a:xfrm>
                <a:off x="1711" y="887"/>
                <a:ext cx="408" cy="408"/>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38" name="Text Box 5"/>
              <p:cNvSpPr txBox="1">
                <a:spLocks noChangeArrowheads="1"/>
              </p:cNvSpPr>
              <p:nvPr/>
            </p:nvSpPr>
            <p:spPr bwMode="auto">
              <a:xfrm>
                <a:off x="1681" y="864"/>
                <a:ext cx="575" cy="40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DBF5F9"/>
                    </a:solidFill>
                    <a:latin typeface="黑体" pitchFamily="2" charset="-122"/>
                    <a:ea typeface="黑体" pitchFamily="2" charset="-122"/>
                  </a:rPr>
                  <a:t> </a:t>
                </a:r>
                <a:r>
                  <a:rPr lang="en-US" altLang="zh-CN" sz="2400" b="1">
                    <a:solidFill>
                      <a:srgbClr val="0000FF"/>
                    </a:solidFill>
                    <a:latin typeface="黑体" pitchFamily="2" charset="-122"/>
                    <a:ea typeface="黑体" pitchFamily="2" charset="-122"/>
                  </a:rPr>
                  <a:t>A</a:t>
                </a:r>
              </a:p>
            </p:txBody>
          </p:sp>
        </p:grpSp>
        <p:grpSp>
          <p:nvGrpSpPr>
            <p:cNvPr id="15" name="Group 6"/>
            <p:cNvGrpSpPr>
              <a:grpSpLocks/>
            </p:cNvGrpSpPr>
            <p:nvPr/>
          </p:nvGrpSpPr>
          <p:grpSpPr bwMode="auto">
            <a:xfrm>
              <a:off x="952" y="3398"/>
              <a:ext cx="434" cy="304"/>
              <a:chOff x="1680" y="864"/>
              <a:chExt cx="575" cy="431"/>
            </a:xfrm>
          </p:grpSpPr>
          <p:sp>
            <p:nvSpPr>
              <p:cNvPr id="35" name="Oval 7"/>
              <p:cNvSpPr>
                <a:spLocks noChangeArrowheads="1"/>
              </p:cNvSpPr>
              <p:nvPr/>
            </p:nvSpPr>
            <p:spPr bwMode="auto">
              <a:xfrm>
                <a:off x="1711" y="887"/>
                <a:ext cx="408" cy="408"/>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36" name="Text Box 8"/>
              <p:cNvSpPr txBox="1">
                <a:spLocks noChangeArrowheads="1"/>
              </p:cNvSpPr>
              <p:nvPr/>
            </p:nvSpPr>
            <p:spPr bwMode="auto">
              <a:xfrm>
                <a:off x="1680" y="864"/>
                <a:ext cx="575" cy="40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DBF5F9"/>
                    </a:solidFill>
                    <a:latin typeface="黑体" pitchFamily="2" charset="-122"/>
                    <a:ea typeface="黑体" pitchFamily="2" charset="-122"/>
                  </a:rPr>
                  <a:t> </a:t>
                </a:r>
                <a:r>
                  <a:rPr lang="en-US" altLang="zh-CN" sz="2400" b="1">
                    <a:solidFill>
                      <a:srgbClr val="0000FF"/>
                    </a:solidFill>
                    <a:latin typeface="黑体" pitchFamily="2" charset="-122"/>
                    <a:ea typeface="黑体" pitchFamily="2" charset="-122"/>
                  </a:rPr>
                  <a:t>F</a:t>
                </a:r>
              </a:p>
            </p:txBody>
          </p:sp>
        </p:grpSp>
        <p:grpSp>
          <p:nvGrpSpPr>
            <p:cNvPr id="16" name="Group 9"/>
            <p:cNvGrpSpPr>
              <a:grpSpLocks/>
            </p:cNvGrpSpPr>
            <p:nvPr/>
          </p:nvGrpSpPr>
          <p:grpSpPr bwMode="auto">
            <a:xfrm>
              <a:off x="1386" y="3060"/>
              <a:ext cx="437" cy="304"/>
              <a:chOff x="1679" y="864"/>
              <a:chExt cx="577" cy="431"/>
            </a:xfrm>
          </p:grpSpPr>
          <p:sp>
            <p:nvSpPr>
              <p:cNvPr id="33" name="Oval 10"/>
              <p:cNvSpPr>
                <a:spLocks noChangeArrowheads="1"/>
              </p:cNvSpPr>
              <p:nvPr/>
            </p:nvSpPr>
            <p:spPr bwMode="auto">
              <a:xfrm>
                <a:off x="1711" y="887"/>
                <a:ext cx="408" cy="408"/>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34" name="Text Box 11"/>
              <p:cNvSpPr txBox="1">
                <a:spLocks noChangeArrowheads="1"/>
              </p:cNvSpPr>
              <p:nvPr/>
            </p:nvSpPr>
            <p:spPr bwMode="auto">
              <a:xfrm>
                <a:off x="1679" y="864"/>
                <a:ext cx="577" cy="40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DBF5F9"/>
                    </a:solidFill>
                    <a:latin typeface="黑体" pitchFamily="2" charset="-122"/>
                    <a:ea typeface="黑体" pitchFamily="2" charset="-122"/>
                  </a:rPr>
                  <a:t> </a:t>
                </a:r>
                <a:r>
                  <a:rPr lang="en-US" altLang="zh-CN" sz="2400" b="1">
                    <a:solidFill>
                      <a:srgbClr val="0000FF"/>
                    </a:solidFill>
                    <a:latin typeface="黑体" pitchFamily="2" charset="-122"/>
                    <a:ea typeface="黑体" pitchFamily="2" charset="-122"/>
                  </a:rPr>
                  <a:t>E</a:t>
                </a:r>
              </a:p>
            </p:txBody>
          </p:sp>
        </p:grpSp>
        <p:grpSp>
          <p:nvGrpSpPr>
            <p:cNvPr id="17" name="Group 12"/>
            <p:cNvGrpSpPr>
              <a:grpSpLocks/>
            </p:cNvGrpSpPr>
            <p:nvPr/>
          </p:nvGrpSpPr>
          <p:grpSpPr bwMode="auto">
            <a:xfrm>
              <a:off x="625" y="2993"/>
              <a:ext cx="436" cy="303"/>
              <a:chOff x="1680" y="864"/>
              <a:chExt cx="577" cy="431"/>
            </a:xfrm>
          </p:grpSpPr>
          <p:sp>
            <p:nvSpPr>
              <p:cNvPr id="31" name="Oval 13"/>
              <p:cNvSpPr>
                <a:spLocks noChangeArrowheads="1"/>
              </p:cNvSpPr>
              <p:nvPr/>
            </p:nvSpPr>
            <p:spPr bwMode="auto">
              <a:xfrm>
                <a:off x="1711" y="887"/>
                <a:ext cx="408" cy="408"/>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32" name="Text Box 14"/>
              <p:cNvSpPr txBox="1">
                <a:spLocks noChangeArrowheads="1"/>
              </p:cNvSpPr>
              <p:nvPr/>
            </p:nvSpPr>
            <p:spPr bwMode="auto">
              <a:xfrm>
                <a:off x="1680" y="864"/>
                <a:ext cx="577" cy="40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DBF5F9"/>
                    </a:solidFill>
                    <a:latin typeface="黑体" pitchFamily="2" charset="-122"/>
                    <a:ea typeface="黑体" pitchFamily="2" charset="-122"/>
                  </a:rPr>
                  <a:t> </a:t>
                </a:r>
                <a:r>
                  <a:rPr lang="en-US" altLang="zh-CN" sz="2400" b="1">
                    <a:solidFill>
                      <a:srgbClr val="0000FF"/>
                    </a:solidFill>
                    <a:latin typeface="黑体" pitchFamily="2" charset="-122"/>
                    <a:ea typeface="黑体" pitchFamily="2" charset="-122"/>
                  </a:rPr>
                  <a:t>D</a:t>
                </a:r>
              </a:p>
            </p:txBody>
          </p:sp>
        </p:grpSp>
        <p:grpSp>
          <p:nvGrpSpPr>
            <p:cNvPr id="19" name="Group 15"/>
            <p:cNvGrpSpPr>
              <a:grpSpLocks/>
            </p:cNvGrpSpPr>
            <p:nvPr/>
          </p:nvGrpSpPr>
          <p:grpSpPr bwMode="auto">
            <a:xfrm>
              <a:off x="1677" y="2655"/>
              <a:ext cx="436" cy="303"/>
              <a:chOff x="1679" y="865"/>
              <a:chExt cx="577" cy="430"/>
            </a:xfrm>
          </p:grpSpPr>
          <p:sp>
            <p:nvSpPr>
              <p:cNvPr id="29" name="Oval 16"/>
              <p:cNvSpPr>
                <a:spLocks noChangeArrowheads="1"/>
              </p:cNvSpPr>
              <p:nvPr/>
            </p:nvSpPr>
            <p:spPr bwMode="auto">
              <a:xfrm>
                <a:off x="1711" y="887"/>
                <a:ext cx="408" cy="408"/>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30" name="Text Box 17"/>
              <p:cNvSpPr txBox="1">
                <a:spLocks noChangeArrowheads="1"/>
              </p:cNvSpPr>
              <p:nvPr/>
            </p:nvSpPr>
            <p:spPr bwMode="auto">
              <a:xfrm>
                <a:off x="1679" y="865"/>
                <a:ext cx="577" cy="40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DBF5F9"/>
                    </a:solidFill>
                    <a:latin typeface="黑体" pitchFamily="2" charset="-122"/>
                    <a:ea typeface="黑体" pitchFamily="2" charset="-122"/>
                  </a:rPr>
                  <a:t> </a:t>
                </a:r>
                <a:r>
                  <a:rPr lang="en-US" altLang="zh-CN" sz="2400" b="1">
                    <a:solidFill>
                      <a:srgbClr val="0000FF"/>
                    </a:solidFill>
                    <a:latin typeface="黑体" pitchFamily="2" charset="-122"/>
                    <a:ea typeface="黑体" pitchFamily="2" charset="-122"/>
                  </a:rPr>
                  <a:t>C</a:t>
                </a:r>
              </a:p>
            </p:txBody>
          </p:sp>
        </p:grpSp>
        <p:grpSp>
          <p:nvGrpSpPr>
            <p:cNvPr id="20" name="Group 18"/>
            <p:cNvGrpSpPr>
              <a:grpSpLocks/>
            </p:cNvGrpSpPr>
            <p:nvPr/>
          </p:nvGrpSpPr>
          <p:grpSpPr bwMode="auto">
            <a:xfrm>
              <a:off x="952" y="2621"/>
              <a:ext cx="434" cy="303"/>
              <a:chOff x="1680" y="864"/>
              <a:chExt cx="575" cy="431"/>
            </a:xfrm>
          </p:grpSpPr>
          <p:sp>
            <p:nvSpPr>
              <p:cNvPr id="27" name="Oval 19"/>
              <p:cNvSpPr>
                <a:spLocks noChangeArrowheads="1"/>
              </p:cNvSpPr>
              <p:nvPr/>
            </p:nvSpPr>
            <p:spPr bwMode="auto">
              <a:xfrm>
                <a:off x="1711" y="887"/>
                <a:ext cx="408" cy="408"/>
              </a:xfrm>
              <a:prstGeom prst="ellipse">
                <a:avLst/>
              </a:prstGeom>
              <a:solidFill>
                <a:srgbClr val="FFFFCC"/>
              </a:solidFill>
              <a:ln w="12700" cap="rnd">
                <a:solidFill>
                  <a:srgbClr val="FFFFCC"/>
                </a:solidFill>
                <a:round/>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28" name="Text Box 20"/>
              <p:cNvSpPr txBox="1">
                <a:spLocks noChangeArrowheads="1"/>
              </p:cNvSpPr>
              <p:nvPr/>
            </p:nvSpPr>
            <p:spPr bwMode="auto">
              <a:xfrm>
                <a:off x="1680" y="864"/>
                <a:ext cx="575" cy="409"/>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1600" b="1">
                    <a:solidFill>
                      <a:srgbClr val="DBF5F9"/>
                    </a:solidFill>
                    <a:latin typeface="黑体" pitchFamily="2" charset="-122"/>
                    <a:ea typeface="黑体" pitchFamily="2" charset="-122"/>
                  </a:rPr>
                  <a:t> </a:t>
                </a:r>
                <a:r>
                  <a:rPr lang="en-US" altLang="zh-CN" sz="2400" b="1">
                    <a:solidFill>
                      <a:srgbClr val="0000FF"/>
                    </a:solidFill>
                    <a:latin typeface="黑体" pitchFamily="2" charset="-122"/>
                    <a:ea typeface="黑体" pitchFamily="2" charset="-122"/>
                  </a:rPr>
                  <a:t>B</a:t>
                </a:r>
              </a:p>
            </p:txBody>
          </p:sp>
        </p:grpSp>
        <p:grpSp>
          <p:nvGrpSpPr>
            <p:cNvPr id="21" name="Group 21"/>
            <p:cNvGrpSpPr>
              <a:grpSpLocks/>
            </p:cNvGrpSpPr>
            <p:nvPr/>
          </p:nvGrpSpPr>
          <p:grpSpPr bwMode="auto">
            <a:xfrm>
              <a:off x="879" y="2485"/>
              <a:ext cx="944" cy="932"/>
              <a:chOff x="336" y="2208"/>
              <a:chExt cx="1248" cy="1322"/>
            </a:xfrm>
          </p:grpSpPr>
          <p:sp>
            <p:nvSpPr>
              <p:cNvPr id="22" name="Line 22"/>
              <p:cNvSpPr>
                <a:spLocks noChangeShapeType="1"/>
              </p:cNvSpPr>
              <p:nvPr/>
            </p:nvSpPr>
            <p:spPr bwMode="auto">
              <a:xfrm flipH="1">
                <a:off x="816" y="2208"/>
                <a:ext cx="240" cy="240"/>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3" name="Line 23"/>
              <p:cNvSpPr>
                <a:spLocks noChangeShapeType="1"/>
              </p:cNvSpPr>
              <p:nvPr/>
            </p:nvSpPr>
            <p:spPr bwMode="auto">
              <a:xfrm>
                <a:off x="384" y="3312"/>
                <a:ext cx="218" cy="218"/>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4" name="Line 24"/>
              <p:cNvSpPr>
                <a:spLocks noChangeShapeType="1"/>
              </p:cNvSpPr>
              <p:nvPr/>
            </p:nvSpPr>
            <p:spPr bwMode="auto">
              <a:xfrm>
                <a:off x="1344" y="2208"/>
                <a:ext cx="240" cy="240"/>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5" name="Line 25"/>
              <p:cNvSpPr>
                <a:spLocks noChangeShapeType="1"/>
              </p:cNvSpPr>
              <p:nvPr/>
            </p:nvSpPr>
            <p:spPr bwMode="auto">
              <a:xfrm flipH="1">
                <a:off x="1296" y="2832"/>
                <a:ext cx="192" cy="192"/>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6" name="Line 26"/>
              <p:cNvSpPr>
                <a:spLocks noChangeShapeType="1"/>
              </p:cNvSpPr>
              <p:nvPr/>
            </p:nvSpPr>
            <p:spPr bwMode="auto">
              <a:xfrm flipH="1">
                <a:off x="336" y="2784"/>
                <a:ext cx="192" cy="192"/>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grpSp>
        <p:nvGrpSpPr>
          <p:cNvPr id="39" name="Group 29"/>
          <p:cNvGrpSpPr>
            <a:grpSpLocks/>
          </p:cNvGrpSpPr>
          <p:nvPr/>
        </p:nvGrpSpPr>
        <p:grpSpPr bwMode="auto">
          <a:xfrm>
            <a:off x="6181725" y="2743200"/>
            <a:ext cx="1524000" cy="457200"/>
            <a:chOff x="4272" y="1008"/>
            <a:chExt cx="960" cy="288"/>
          </a:xfrm>
        </p:grpSpPr>
        <p:sp>
          <p:nvSpPr>
            <p:cNvPr id="40" name="Rectangle 30"/>
            <p:cNvSpPr>
              <a:spLocks noChangeArrowheads="1"/>
            </p:cNvSpPr>
            <p:nvPr/>
          </p:nvSpPr>
          <p:spPr bwMode="auto">
            <a:xfrm>
              <a:off x="4272" y="1008"/>
              <a:ext cx="960" cy="288"/>
            </a:xfrm>
            <a:prstGeom prst="rect">
              <a:avLst/>
            </a:prstGeom>
            <a:solidFill>
              <a:srgbClr val="99CCFF"/>
            </a:solidFill>
            <a:ln w="12700" cap="rnd">
              <a:solidFill>
                <a:srgbClr val="04440A"/>
              </a:solid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41" name="Line 31"/>
            <p:cNvSpPr>
              <a:spLocks noChangeShapeType="1"/>
            </p:cNvSpPr>
            <p:nvPr/>
          </p:nvSpPr>
          <p:spPr bwMode="auto">
            <a:xfrm>
              <a:off x="4512" y="1008"/>
              <a:ext cx="1"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2" name="Line 32"/>
            <p:cNvSpPr>
              <a:spLocks noChangeShapeType="1"/>
            </p:cNvSpPr>
            <p:nvPr/>
          </p:nvSpPr>
          <p:spPr bwMode="auto">
            <a:xfrm>
              <a:off x="4752" y="1008"/>
              <a:ext cx="0"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3" name="Line 33"/>
            <p:cNvSpPr>
              <a:spLocks noChangeShapeType="1"/>
            </p:cNvSpPr>
            <p:nvPr/>
          </p:nvSpPr>
          <p:spPr bwMode="auto">
            <a:xfrm>
              <a:off x="4992" y="1008"/>
              <a:ext cx="1"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nvGrpSpPr>
          <p:cNvPr id="44" name="Group 34"/>
          <p:cNvGrpSpPr>
            <a:grpSpLocks/>
          </p:cNvGrpSpPr>
          <p:nvPr/>
        </p:nvGrpSpPr>
        <p:grpSpPr bwMode="auto">
          <a:xfrm>
            <a:off x="5038725" y="3657600"/>
            <a:ext cx="1524000" cy="457200"/>
            <a:chOff x="4272" y="1008"/>
            <a:chExt cx="960" cy="288"/>
          </a:xfrm>
        </p:grpSpPr>
        <p:sp>
          <p:nvSpPr>
            <p:cNvPr id="45" name="Rectangle 35"/>
            <p:cNvSpPr>
              <a:spLocks noChangeArrowheads="1"/>
            </p:cNvSpPr>
            <p:nvPr/>
          </p:nvSpPr>
          <p:spPr bwMode="auto">
            <a:xfrm>
              <a:off x="4272" y="1008"/>
              <a:ext cx="960" cy="288"/>
            </a:xfrm>
            <a:prstGeom prst="rect">
              <a:avLst/>
            </a:prstGeom>
            <a:solidFill>
              <a:srgbClr val="99CCFF"/>
            </a:solidFill>
            <a:ln w="12700" cap="rnd">
              <a:solidFill>
                <a:srgbClr val="04440A"/>
              </a:solid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46" name="Line 36"/>
            <p:cNvSpPr>
              <a:spLocks noChangeShapeType="1"/>
            </p:cNvSpPr>
            <p:nvPr/>
          </p:nvSpPr>
          <p:spPr bwMode="auto">
            <a:xfrm>
              <a:off x="4512" y="1008"/>
              <a:ext cx="1"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7" name="Line 37"/>
            <p:cNvSpPr>
              <a:spLocks noChangeShapeType="1"/>
            </p:cNvSpPr>
            <p:nvPr/>
          </p:nvSpPr>
          <p:spPr bwMode="auto">
            <a:xfrm>
              <a:off x="4752" y="1008"/>
              <a:ext cx="0"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8" name="Line 38"/>
            <p:cNvSpPr>
              <a:spLocks noChangeShapeType="1"/>
            </p:cNvSpPr>
            <p:nvPr/>
          </p:nvSpPr>
          <p:spPr bwMode="auto">
            <a:xfrm>
              <a:off x="4992" y="1008"/>
              <a:ext cx="1"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nvGrpSpPr>
          <p:cNvPr id="49" name="Group 39"/>
          <p:cNvGrpSpPr>
            <a:grpSpLocks/>
          </p:cNvGrpSpPr>
          <p:nvPr/>
        </p:nvGrpSpPr>
        <p:grpSpPr bwMode="auto">
          <a:xfrm>
            <a:off x="7553325" y="3733800"/>
            <a:ext cx="1524000" cy="457200"/>
            <a:chOff x="4272" y="1008"/>
            <a:chExt cx="960" cy="288"/>
          </a:xfrm>
        </p:grpSpPr>
        <p:sp>
          <p:nvSpPr>
            <p:cNvPr id="50" name="Rectangle 40"/>
            <p:cNvSpPr>
              <a:spLocks noChangeArrowheads="1"/>
            </p:cNvSpPr>
            <p:nvPr/>
          </p:nvSpPr>
          <p:spPr bwMode="auto">
            <a:xfrm>
              <a:off x="4272" y="1008"/>
              <a:ext cx="960" cy="288"/>
            </a:xfrm>
            <a:prstGeom prst="rect">
              <a:avLst/>
            </a:prstGeom>
            <a:solidFill>
              <a:srgbClr val="99CCFF"/>
            </a:solidFill>
            <a:ln w="12700" cap="rnd">
              <a:solidFill>
                <a:srgbClr val="04440A"/>
              </a:solid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51" name="Line 41"/>
            <p:cNvSpPr>
              <a:spLocks noChangeShapeType="1"/>
            </p:cNvSpPr>
            <p:nvPr/>
          </p:nvSpPr>
          <p:spPr bwMode="auto">
            <a:xfrm>
              <a:off x="4512" y="1008"/>
              <a:ext cx="1"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52" name="Line 42"/>
            <p:cNvSpPr>
              <a:spLocks noChangeShapeType="1"/>
            </p:cNvSpPr>
            <p:nvPr/>
          </p:nvSpPr>
          <p:spPr bwMode="auto">
            <a:xfrm>
              <a:off x="4752" y="1008"/>
              <a:ext cx="0"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53" name="Line 43"/>
            <p:cNvSpPr>
              <a:spLocks noChangeShapeType="1"/>
            </p:cNvSpPr>
            <p:nvPr/>
          </p:nvSpPr>
          <p:spPr bwMode="auto">
            <a:xfrm>
              <a:off x="4992" y="1008"/>
              <a:ext cx="1"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nvGrpSpPr>
          <p:cNvPr id="54" name="Group 44"/>
          <p:cNvGrpSpPr>
            <a:grpSpLocks/>
          </p:cNvGrpSpPr>
          <p:nvPr/>
        </p:nvGrpSpPr>
        <p:grpSpPr bwMode="auto">
          <a:xfrm>
            <a:off x="4429125" y="4800600"/>
            <a:ext cx="1524000" cy="457200"/>
            <a:chOff x="4272" y="1008"/>
            <a:chExt cx="960" cy="288"/>
          </a:xfrm>
        </p:grpSpPr>
        <p:sp>
          <p:nvSpPr>
            <p:cNvPr id="55" name="Rectangle 45"/>
            <p:cNvSpPr>
              <a:spLocks noChangeArrowheads="1"/>
            </p:cNvSpPr>
            <p:nvPr/>
          </p:nvSpPr>
          <p:spPr bwMode="auto">
            <a:xfrm>
              <a:off x="4272" y="1008"/>
              <a:ext cx="960" cy="288"/>
            </a:xfrm>
            <a:prstGeom prst="rect">
              <a:avLst/>
            </a:prstGeom>
            <a:solidFill>
              <a:srgbClr val="99CCFF"/>
            </a:solidFill>
            <a:ln w="12700" cap="rnd">
              <a:solidFill>
                <a:srgbClr val="04440A"/>
              </a:solid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56" name="Line 46"/>
            <p:cNvSpPr>
              <a:spLocks noChangeShapeType="1"/>
            </p:cNvSpPr>
            <p:nvPr/>
          </p:nvSpPr>
          <p:spPr bwMode="auto">
            <a:xfrm>
              <a:off x="4512" y="1008"/>
              <a:ext cx="1"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57" name="Line 47"/>
            <p:cNvSpPr>
              <a:spLocks noChangeShapeType="1"/>
            </p:cNvSpPr>
            <p:nvPr/>
          </p:nvSpPr>
          <p:spPr bwMode="auto">
            <a:xfrm>
              <a:off x="4752" y="1008"/>
              <a:ext cx="0"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58" name="Line 48"/>
            <p:cNvSpPr>
              <a:spLocks noChangeShapeType="1"/>
            </p:cNvSpPr>
            <p:nvPr/>
          </p:nvSpPr>
          <p:spPr bwMode="auto">
            <a:xfrm>
              <a:off x="4992" y="1008"/>
              <a:ext cx="1"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nvGrpSpPr>
          <p:cNvPr id="59" name="Group 49"/>
          <p:cNvGrpSpPr>
            <a:grpSpLocks/>
          </p:cNvGrpSpPr>
          <p:nvPr/>
        </p:nvGrpSpPr>
        <p:grpSpPr bwMode="auto">
          <a:xfrm>
            <a:off x="5572125" y="5867400"/>
            <a:ext cx="1524000" cy="457200"/>
            <a:chOff x="4272" y="1008"/>
            <a:chExt cx="960" cy="288"/>
          </a:xfrm>
        </p:grpSpPr>
        <p:sp>
          <p:nvSpPr>
            <p:cNvPr id="60" name="Rectangle 50"/>
            <p:cNvSpPr>
              <a:spLocks noChangeArrowheads="1"/>
            </p:cNvSpPr>
            <p:nvPr/>
          </p:nvSpPr>
          <p:spPr bwMode="auto">
            <a:xfrm>
              <a:off x="4272" y="1008"/>
              <a:ext cx="960" cy="288"/>
            </a:xfrm>
            <a:prstGeom prst="rect">
              <a:avLst/>
            </a:prstGeom>
            <a:solidFill>
              <a:srgbClr val="99CCFF"/>
            </a:solidFill>
            <a:ln w="12700" cap="rnd">
              <a:solidFill>
                <a:srgbClr val="04440A"/>
              </a:solid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61" name="Line 51"/>
            <p:cNvSpPr>
              <a:spLocks noChangeShapeType="1"/>
            </p:cNvSpPr>
            <p:nvPr/>
          </p:nvSpPr>
          <p:spPr bwMode="auto">
            <a:xfrm>
              <a:off x="4512" y="1008"/>
              <a:ext cx="1"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62" name="Line 52"/>
            <p:cNvSpPr>
              <a:spLocks noChangeShapeType="1"/>
            </p:cNvSpPr>
            <p:nvPr/>
          </p:nvSpPr>
          <p:spPr bwMode="auto">
            <a:xfrm>
              <a:off x="4752" y="1008"/>
              <a:ext cx="0"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63" name="Line 53"/>
            <p:cNvSpPr>
              <a:spLocks noChangeShapeType="1"/>
            </p:cNvSpPr>
            <p:nvPr/>
          </p:nvSpPr>
          <p:spPr bwMode="auto">
            <a:xfrm>
              <a:off x="4992" y="1008"/>
              <a:ext cx="1"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nvGrpSpPr>
          <p:cNvPr id="64" name="Group 54"/>
          <p:cNvGrpSpPr>
            <a:grpSpLocks/>
          </p:cNvGrpSpPr>
          <p:nvPr/>
        </p:nvGrpSpPr>
        <p:grpSpPr bwMode="auto">
          <a:xfrm>
            <a:off x="7172325" y="4876800"/>
            <a:ext cx="1524000" cy="457200"/>
            <a:chOff x="4272" y="1008"/>
            <a:chExt cx="960" cy="288"/>
          </a:xfrm>
        </p:grpSpPr>
        <p:sp>
          <p:nvSpPr>
            <p:cNvPr id="65" name="Rectangle 55"/>
            <p:cNvSpPr>
              <a:spLocks noChangeArrowheads="1"/>
            </p:cNvSpPr>
            <p:nvPr/>
          </p:nvSpPr>
          <p:spPr bwMode="auto">
            <a:xfrm>
              <a:off x="4272" y="1008"/>
              <a:ext cx="960" cy="288"/>
            </a:xfrm>
            <a:prstGeom prst="rect">
              <a:avLst/>
            </a:prstGeom>
            <a:solidFill>
              <a:srgbClr val="99CCFF"/>
            </a:solidFill>
            <a:ln w="12700" cap="rnd">
              <a:solidFill>
                <a:srgbClr val="04440A"/>
              </a:solidFill>
              <a:miter lim="800000"/>
              <a:headEnd/>
              <a:tailEnd/>
            </a:ln>
          </p:spPr>
          <p:txBody>
            <a:bodyPr wrap="none" anchor="ct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66" name="Line 56"/>
            <p:cNvSpPr>
              <a:spLocks noChangeShapeType="1"/>
            </p:cNvSpPr>
            <p:nvPr/>
          </p:nvSpPr>
          <p:spPr bwMode="auto">
            <a:xfrm>
              <a:off x="4512" y="1008"/>
              <a:ext cx="1"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67" name="Line 57"/>
            <p:cNvSpPr>
              <a:spLocks noChangeShapeType="1"/>
            </p:cNvSpPr>
            <p:nvPr/>
          </p:nvSpPr>
          <p:spPr bwMode="auto">
            <a:xfrm>
              <a:off x="4752" y="1008"/>
              <a:ext cx="0"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68" name="Line 58"/>
            <p:cNvSpPr>
              <a:spLocks noChangeShapeType="1"/>
            </p:cNvSpPr>
            <p:nvPr/>
          </p:nvSpPr>
          <p:spPr bwMode="auto">
            <a:xfrm>
              <a:off x="4992" y="1008"/>
              <a:ext cx="1" cy="288"/>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sp>
        <p:nvSpPr>
          <p:cNvPr id="69" name="Text Box 59"/>
          <p:cNvSpPr txBox="1">
            <a:spLocks noChangeArrowheads="1"/>
          </p:cNvSpPr>
          <p:nvPr/>
        </p:nvSpPr>
        <p:spPr bwMode="auto">
          <a:xfrm>
            <a:off x="6562725" y="2743200"/>
            <a:ext cx="338138" cy="457200"/>
          </a:xfrm>
          <a:prstGeom prst="rect">
            <a:avLst/>
          </a:prstGeom>
          <a:noFill/>
          <a:ln w="12700" cap="rnd">
            <a:noFill/>
            <a:miter lim="800000"/>
            <a:headEnd/>
            <a:tailEnd/>
          </a:ln>
        </p:spPr>
        <p:txBody>
          <a:bodyPr wrap="none">
            <a:spAutoFit/>
          </a:bodyPr>
          <a:lstStyle/>
          <a:p>
            <a:pPr algn="ctr" eaLnBrk="0" fontAlgn="base" hangingPunct="0">
              <a:spcBef>
                <a:spcPct val="0"/>
              </a:spcBef>
              <a:spcAft>
                <a:spcPct val="0"/>
              </a:spcAft>
            </a:pPr>
            <a:r>
              <a:rPr kumimoji="1" lang="en-US" altLang="zh-CN" sz="2400" b="1">
                <a:solidFill>
                  <a:srgbClr val="0000FF"/>
                </a:solidFill>
                <a:latin typeface="隶书" pitchFamily="49" charset="-122"/>
                <a:ea typeface="隶书" pitchFamily="49" charset="-122"/>
              </a:rPr>
              <a:t>A</a:t>
            </a:r>
          </a:p>
        </p:txBody>
      </p:sp>
      <p:sp>
        <p:nvSpPr>
          <p:cNvPr id="70" name="Text Box 60"/>
          <p:cNvSpPr txBox="1">
            <a:spLocks noChangeArrowheads="1"/>
          </p:cNvSpPr>
          <p:nvPr/>
        </p:nvSpPr>
        <p:spPr bwMode="auto">
          <a:xfrm>
            <a:off x="5372100" y="3652838"/>
            <a:ext cx="338138" cy="457200"/>
          </a:xfrm>
          <a:prstGeom prst="rect">
            <a:avLst/>
          </a:prstGeom>
          <a:noFill/>
          <a:ln w="12700" cap="rnd">
            <a:noFill/>
            <a:miter lim="800000"/>
            <a:headEnd/>
            <a:tailEnd/>
          </a:ln>
        </p:spPr>
        <p:txBody>
          <a:bodyPr wrap="none">
            <a:spAutoFit/>
          </a:bodyPr>
          <a:lstStyle/>
          <a:p>
            <a:pPr algn="ctr" eaLnBrk="0" fontAlgn="base" hangingPunct="0">
              <a:spcBef>
                <a:spcPct val="0"/>
              </a:spcBef>
              <a:spcAft>
                <a:spcPct val="0"/>
              </a:spcAft>
            </a:pPr>
            <a:r>
              <a:rPr kumimoji="1" lang="en-US" altLang="zh-CN" sz="2400" b="1">
                <a:solidFill>
                  <a:srgbClr val="0000FF"/>
                </a:solidFill>
                <a:latin typeface="隶书" pitchFamily="49" charset="-122"/>
                <a:ea typeface="隶书" pitchFamily="49" charset="-122"/>
              </a:rPr>
              <a:t>B</a:t>
            </a:r>
          </a:p>
        </p:txBody>
      </p:sp>
      <p:sp>
        <p:nvSpPr>
          <p:cNvPr id="71" name="Text Box 61"/>
          <p:cNvSpPr txBox="1">
            <a:spLocks noChangeArrowheads="1"/>
          </p:cNvSpPr>
          <p:nvPr/>
        </p:nvSpPr>
        <p:spPr bwMode="auto">
          <a:xfrm>
            <a:off x="4810125" y="4800600"/>
            <a:ext cx="338138" cy="457200"/>
          </a:xfrm>
          <a:prstGeom prst="rect">
            <a:avLst/>
          </a:prstGeom>
          <a:noFill/>
          <a:ln w="12700" cap="rnd">
            <a:noFill/>
            <a:miter lim="800000"/>
            <a:headEnd/>
            <a:tailEnd/>
          </a:ln>
        </p:spPr>
        <p:txBody>
          <a:bodyPr wrap="none">
            <a:spAutoFit/>
          </a:bodyPr>
          <a:lstStyle/>
          <a:p>
            <a:pPr algn="ctr" eaLnBrk="0" fontAlgn="base" hangingPunct="0">
              <a:spcBef>
                <a:spcPct val="0"/>
              </a:spcBef>
              <a:spcAft>
                <a:spcPct val="0"/>
              </a:spcAft>
            </a:pPr>
            <a:r>
              <a:rPr kumimoji="1" lang="en-US" altLang="zh-CN" sz="2400" b="1">
                <a:solidFill>
                  <a:srgbClr val="0000FF"/>
                </a:solidFill>
                <a:latin typeface="隶书" pitchFamily="49" charset="-122"/>
                <a:ea typeface="隶书" pitchFamily="49" charset="-122"/>
              </a:rPr>
              <a:t>D</a:t>
            </a:r>
          </a:p>
        </p:txBody>
      </p:sp>
      <p:sp>
        <p:nvSpPr>
          <p:cNvPr id="72" name="Text Box 62"/>
          <p:cNvSpPr txBox="1">
            <a:spLocks noChangeArrowheads="1"/>
          </p:cNvSpPr>
          <p:nvPr/>
        </p:nvSpPr>
        <p:spPr bwMode="auto">
          <a:xfrm>
            <a:off x="5953125" y="5867400"/>
            <a:ext cx="338138" cy="457200"/>
          </a:xfrm>
          <a:prstGeom prst="rect">
            <a:avLst/>
          </a:prstGeom>
          <a:noFill/>
          <a:ln w="12700" cap="rnd">
            <a:noFill/>
            <a:miter lim="800000"/>
            <a:headEnd/>
            <a:tailEnd/>
          </a:ln>
        </p:spPr>
        <p:txBody>
          <a:bodyPr wrap="none">
            <a:spAutoFit/>
          </a:bodyPr>
          <a:lstStyle/>
          <a:p>
            <a:pPr algn="ctr" eaLnBrk="0" fontAlgn="base" hangingPunct="0">
              <a:spcBef>
                <a:spcPct val="0"/>
              </a:spcBef>
              <a:spcAft>
                <a:spcPct val="0"/>
              </a:spcAft>
            </a:pPr>
            <a:r>
              <a:rPr kumimoji="1" lang="en-US" altLang="zh-CN" sz="2400" b="1">
                <a:solidFill>
                  <a:srgbClr val="0000FF"/>
                </a:solidFill>
                <a:latin typeface="隶书" pitchFamily="49" charset="-122"/>
                <a:ea typeface="隶书" pitchFamily="49" charset="-122"/>
              </a:rPr>
              <a:t>F</a:t>
            </a:r>
          </a:p>
        </p:txBody>
      </p:sp>
      <p:sp>
        <p:nvSpPr>
          <p:cNvPr id="73" name="Text Box 63"/>
          <p:cNvSpPr txBox="1">
            <a:spLocks noChangeArrowheads="1"/>
          </p:cNvSpPr>
          <p:nvPr/>
        </p:nvSpPr>
        <p:spPr bwMode="auto">
          <a:xfrm>
            <a:off x="7553325" y="4876800"/>
            <a:ext cx="338138" cy="457200"/>
          </a:xfrm>
          <a:prstGeom prst="rect">
            <a:avLst/>
          </a:prstGeom>
          <a:noFill/>
          <a:ln w="12700" cap="rnd">
            <a:noFill/>
            <a:miter lim="800000"/>
            <a:headEnd/>
            <a:tailEnd/>
          </a:ln>
        </p:spPr>
        <p:txBody>
          <a:bodyPr wrap="none">
            <a:spAutoFit/>
          </a:bodyPr>
          <a:lstStyle/>
          <a:p>
            <a:pPr algn="ctr" eaLnBrk="0" fontAlgn="base" hangingPunct="0">
              <a:spcBef>
                <a:spcPct val="0"/>
              </a:spcBef>
              <a:spcAft>
                <a:spcPct val="0"/>
              </a:spcAft>
            </a:pPr>
            <a:r>
              <a:rPr kumimoji="1" lang="en-US" altLang="zh-CN" sz="2400" b="1">
                <a:solidFill>
                  <a:srgbClr val="0000FF"/>
                </a:solidFill>
                <a:latin typeface="隶书" pitchFamily="49" charset="-122"/>
                <a:ea typeface="隶书" pitchFamily="49" charset="-122"/>
              </a:rPr>
              <a:t>E</a:t>
            </a:r>
          </a:p>
        </p:txBody>
      </p:sp>
      <p:sp>
        <p:nvSpPr>
          <p:cNvPr id="74" name="Text Box 64"/>
          <p:cNvSpPr txBox="1">
            <a:spLocks noChangeArrowheads="1"/>
          </p:cNvSpPr>
          <p:nvPr/>
        </p:nvSpPr>
        <p:spPr bwMode="auto">
          <a:xfrm>
            <a:off x="7934325" y="3733800"/>
            <a:ext cx="338138" cy="457200"/>
          </a:xfrm>
          <a:prstGeom prst="rect">
            <a:avLst/>
          </a:prstGeom>
          <a:noFill/>
          <a:ln w="12700" cap="rnd">
            <a:noFill/>
            <a:miter lim="800000"/>
            <a:headEnd/>
            <a:tailEnd/>
          </a:ln>
        </p:spPr>
        <p:txBody>
          <a:bodyPr wrap="none">
            <a:spAutoFit/>
          </a:bodyPr>
          <a:lstStyle/>
          <a:p>
            <a:pPr algn="ctr" eaLnBrk="0" fontAlgn="base" hangingPunct="0">
              <a:spcBef>
                <a:spcPct val="0"/>
              </a:spcBef>
              <a:spcAft>
                <a:spcPct val="0"/>
              </a:spcAft>
            </a:pPr>
            <a:r>
              <a:rPr kumimoji="1" lang="en-US" altLang="zh-CN" sz="2400" b="1">
                <a:solidFill>
                  <a:srgbClr val="0000FF"/>
                </a:solidFill>
                <a:latin typeface="隶书" pitchFamily="49" charset="-122"/>
                <a:ea typeface="隶书" pitchFamily="49" charset="-122"/>
              </a:rPr>
              <a:t>C</a:t>
            </a:r>
          </a:p>
        </p:txBody>
      </p:sp>
      <p:grpSp>
        <p:nvGrpSpPr>
          <p:cNvPr id="75" name="Group 65"/>
          <p:cNvGrpSpPr>
            <a:grpSpLocks/>
          </p:cNvGrpSpPr>
          <p:nvPr/>
        </p:nvGrpSpPr>
        <p:grpSpPr bwMode="auto">
          <a:xfrm>
            <a:off x="7388225" y="2789238"/>
            <a:ext cx="228600" cy="304800"/>
            <a:chOff x="5040" y="1056"/>
            <a:chExt cx="144" cy="192"/>
          </a:xfrm>
        </p:grpSpPr>
        <p:sp>
          <p:nvSpPr>
            <p:cNvPr id="76" name="Line 66"/>
            <p:cNvSpPr>
              <a:spLocks noChangeShapeType="1"/>
            </p:cNvSpPr>
            <p:nvPr/>
          </p:nvSpPr>
          <p:spPr bwMode="auto">
            <a:xfrm flipV="1">
              <a:off x="5040" y="1056"/>
              <a:ext cx="48" cy="192"/>
            </a:xfrm>
            <a:prstGeom prst="line">
              <a:avLst/>
            </a:prstGeom>
            <a:noFill/>
            <a:ln w="12700" cap="rnd">
              <a:solidFill>
                <a:srgbClr val="FF00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77" name="Line 67"/>
            <p:cNvSpPr>
              <a:spLocks noChangeShapeType="1"/>
            </p:cNvSpPr>
            <p:nvPr/>
          </p:nvSpPr>
          <p:spPr bwMode="auto">
            <a:xfrm>
              <a:off x="5088" y="1056"/>
              <a:ext cx="96" cy="192"/>
            </a:xfrm>
            <a:prstGeom prst="line">
              <a:avLst/>
            </a:prstGeom>
            <a:noFill/>
            <a:ln w="12700" cap="rnd">
              <a:solidFill>
                <a:srgbClr val="FF00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nvGrpSpPr>
          <p:cNvPr id="78" name="Group 68"/>
          <p:cNvGrpSpPr>
            <a:grpSpLocks/>
          </p:cNvGrpSpPr>
          <p:nvPr/>
        </p:nvGrpSpPr>
        <p:grpSpPr bwMode="auto">
          <a:xfrm>
            <a:off x="8391525" y="3810000"/>
            <a:ext cx="228600" cy="304800"/>
            <a:chOff x="5040" y="1056"/>
            <a:chExt cx="144" cy="192"/>
          </a:xfrm>
        </p:grpSpPr>
        <p:sp>
          <p:nvSpPr>
            <p:cNvPr id="79" name="Line 69"/>
            <p:cNvSpPr>
              <a:spLocks noChangeShapeType="1"/>
            </p:cNvSpPr>
            <p:nvPr/>
          </p:nvSpPr>
          <p:spPr bwMode="auto">
            <a:xfrm flipV="1">
              <a:off x="5040" y="1056"/>
              <a:ext cx="48" cy="192"/>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0" name="Line 70"/>
            <p:cNvSpPr>
              <a:spLocks noChangeShapeType="1"/>
            </p:cNvSpPr>
            <p:nvPr/>
          </p:nvSpPr>
          <p:spPr bwMode="auto">
            <a:xfrm>
              <a:off x="5088" y="1056"/>
              <a:ext cx="96" cy="192"/>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nvGrpSpPr>
          <p:cNvPr id="81" name="Group 71"/>
          <p:cNvGrpSpPr>
            <a:grpSpLocks/>
          </p:cNvGrpSpPr>
          <p:nvPr/>
        </p:nvGrpSpPr>
        <p:grpSpPr bwMode="auto">
          <a:xfrm>
            <a:off x="8010525" y="4953000"/>
            <a:ext cx="228600" cy="304800"/>
            <a:chOff x="5040" y="1056"/>
            <a:chExt cx="144" cy="192"/>
          </a:xfrm>
        </p:grpSpPr>
        <p:sp>
          <p:nvSpPr>
            <p:cNvPr id="82" name="Line 72"/>
            <p:cNvSpPr>
              <a:spLocks noChangeShapeType="1"/>
            </p:cNvSpPr>
            <p:nvPr/>
          </p:nvSpPr>
          <p:spPr bwMode="auto">
            <a:xfrm flipV="1">
              <a:off x="5040" y="1056"/>
              <a:ext cx="48" cy="192"/>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3" name="Line 73"/>
            <p:cNvSpPr>
              <a:spLocks noChangeShapeType="1"/>
            </p:cNvSpPr>
            <p:nvPr/>
          </p:nvSpPr>
          <p:spPr bwMode="auto">
            <a:xfrm>
              <a:off x="5088" y="1056"/>
              <a:ext cx="96" cy="192"/>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nvGrpSpPr>
          <p:cNvPr id="84" name="Group 74"/>
          <p:cNvGrpSpPr>
            <a:grpSpLocks/>
          </p:cNvGrpSpPr>
          <p:nvPr/>
        </p:nvGrpSpPr>
        <p:grpSpPr bwMode="auto">
          <a:xfrm>
            <a:off x="7248525" y="4953000"/>
            <a:ext cx="228600" cy="304800"/>
            <a:chOff x="5040" y="1056"/>
            <a:chExt cx="144" cy="192"/>
          </a:xfrm>
        </p:grpSpPr>
        <p:sp>
          <p:nvSpPr>
            <p:cNvPr id="85" name="Line 75"/>
            <p:cNvSpPr>
              <a:spLocks noChangeShapeType="1"/>
            </p:cNvSpPr>
            <p:nvPr/>
          </p:nvSpPr>
          <p:spPr bwMode="auto">
            <a:xfrm flipV="1">
              <a:off x="5040" y="1056"/>
              <a:ext cx="48" cy="192"/>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6" name="Line 76"/>
            <p:cNvSpPr>
              <a:spLocks noChangeShapeType="1"/>
            </p:cNvSpPr>
            <p:nvPr/>
          </p:nvSpPr>
          <p:spPr bwMode="auto">
            <a:xfrm>
              <a:off x="5088" y="1056"/>
              <a:ext cx="96" cy="192"/>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nvGrpSpPr>
          <p:cNvPr id="87" name="Group 77"/>
          <p:cNvGrpSpPr>
            <a:grpSpLocks/>
          </p:cNvGrpSpPr>
          <p:nvPr/>
        </p:nvGrpSpPr>
        <p:grpSpPr bwMode="auto">
          <a:xfrm>
            <a:off x="6410325" y="5929313"/>
            <a:ext cx="228600" cy="304800"/>
            <a:chOff x="5040" y="1056"/>
            <a:chExt cx="144" cy="192"/>
          </a:xfrm>
        </p:grpSpPr>
        <p:sp>
          <p:nvSpPr>
            <p:cNvPr id="88" name="Line 78"/>
            <p:cNvSpPr>
              <a:spLocks noChangeShapeType="1"/>
            </p:cNvSpPr>
            <p:nvPr/>
          </p:nvSpPr>
          <p:spPr bwMode="auto">
            <a:xfrm flipV="1">
              <a:off x="5040" y="1056"/>
              <a:ext cx="48" cy="192"/>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9" name="Line 79"/>
            <p:cNvSpPr>
              <a:spLocks noChangeShapeType="1"/>
            </p:cNvSpPr>
            <p:nvPr/>
          </p:nvSpPr>
          <p:spPr bwMode="auto">
            <a:xfrm>
              <a:off x="5088" y="1056"/>
              <a:ext cx="96" cy="192"/>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nvGrpSpPr>
          <p:cNvPr id="90" name="Group 80"/>
          <p:cNvGrpSpPr>
            <a:grpSpLocks/>
          </p:cNvGrpSpPr>
          <p:nvPr/>
        </p:nvGrpSpPr>
        <p:grpSpPr bwMode="auto">
          <a:xfrm>
            <a:off x="5648325" y="5943600"/>
            <a:ext cx="228600" cy="304800"/>
            <a:chOff x="5040" y="1056"/>
            <a:chExt cx="144" cy="192"/>
          </a:xfrm>
        </p:grpSpPr>
        <p:sp>
          <p:nvSpPr>
            <p:cNvPr id="91" name="Line 81"/>
            <p:cNvSpPr>
              <a:spLocks noChangeShapeType="1"/>
            </p:cNvSpPr>
            <p:nvPr/>
          </p:nvSpPr>
          <p:spPr bwMode="auto">
            <a:xfrm flipV="1">
              <a:off x="5040" y="1056"/>
              <a:ext cx="48" cy="192"/>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2" name="Line 82"/>
            <p:cNvSpPr>
              <a:spLocks noChangeShapeType="1"/>
            </p:cNvSpPr>
            <p:nvPr/>
          </p:nvSpPr>
          <p:spPr bwMode="auto">
            <a:xfrm>
              <a:off x="5088" y="1056"/>
              <a:ext cx="96" cy="192"/>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nvGrpSpPr>
          <p:cNvPr id="93" name="Group 83"/>
          <p:cNvGrpSpPr>
            <a:grpSpLocks/>
          </p:cNvGrpSpPr>
          <p:nvPr/>
        </p:nvGrpSpPr>
        <p:grpSpPr bwMode="auto">
          <a:xfrm>
            <a:off x="4502150" y="4903788"/>
            <a:ext cx="228600" cy="304800"/>
            <a:chOff x="5040" y="1056"/>
            <a:chExt cx="144" cy="192"/>
          </a:xfrm>
        </p:grpSpPr>
        <p:sp>
          <p:nvSpPr>
            <p:cNvPr id="94" name="Line 84"/>
            <p:cNvSpPr>
              <a:spLocks noChangeShapeType="1"/>
            </p:cNvSpPr>
            <p:nvPr/>
          </p:nvSpPr>
          <p:spPr bwMode="auto">
            <a:xfrm flipV="1">
              <a:off x="5040" y="1056"/>
              <a:ext cx="48" cy="192"/>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5" name="Line 85"/>
            <p:cNvSpPr>
              <a:spLocks noChangeShapeType="1"/>
            </p:cNvSpPr>
            <p:nvPr/>
          </p:nvSpPr>
          <p:spPr bwMode="auto">
            <a:xfrm>
              <a:off x="5088" y="1056"/>
              <a:ext cx="96" cy="192"/>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grpSp>
        <p:nvGrpSpPr>
          <p:cNvPr id="96" name="Group 86"/>
          <p:cNvGrpSpPr>
            <a:grpSpLocks/>
          </p:cNvGrpSpPr>
          <p:nvPr/>
        </p:nvGrpSpPr>
        <p:grpSpPr bwMode="auto">
          <a:xfrm>
            <a:off x="5876925" y="3733800"/>
            <a:ext cx="228600" cy="304800"/>
            <a:chOff x="5040" y="1056"/>
            <a:chExt cx="144" cy="192"/>
          </a:xfrm>
        </p:grpSpPr>
        <p:sp>
          <p:nvSpPr>
            <p:cNvPr id="97" name="Line 87"/>
            <p:cNvSpPr>
              <a:spLocks noChangeShapeType="1"/>
            </p:cNvSpPr>
            <p:nvPr/>
          </p:nvSpPr>
          <p:spPr bwMode="auto">
            <a:xfrm flipV="1">
              <a:off x="5040" y="1056"/>
              <a:ext cx="48" cy="192"/>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8" name="Line 88"/>
            <p:cNvSpPr>
              <a:spLocks noChangeShapeType="1"/>
            </p:cNvSpPr>
            <p:nvPr/>
          </p:nvSpPr>
          <p:spPr bwMode="auto">
            <a:xfrm>
              <a:off x="5088" y="1056"/>
              <a:ext cx="96" cy="192"/>
            </a:xfrm>
            <a:prstGeom prst="line">
              <a:avLst/>
            </a:prstGeom>
            <a:noFill/>
            <a:ln w="12700" cap="rnd">
              <a:solidFill>
                <a:srgbClr val="04440A"/>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sp>
        <p:nvSpPr>
          <p:cNvPr id="99" name="Freeform 89"/>
          <p:cNvSpPr>
            <a:spLocks/>
          </p:cNvSpPr>
          <p:nvPr/>
        </p:nvSpPr>
        <p:spPr bwMode="auto">
          <a:xfrm rot="2125999">
            <a:off x="6342063" y="2128838"/>
            <a:ext cx="752475" cy="406400"/>
          </a:xfrm>
          <a:custGeom>
            <a:avLst/>
            <a:gdLst>
              <a:gd name="T0" fmla="*/ 0 w 720"/>
              <a:gd name="T1" fmla="*/ 0 h 528"/>
              <a:gd name="T2" fmla="*/ 2147483647 w 720"/>
              <a:gd name="T3" fmla="*/ 2147483647 h 528"/>
              <a:gd name="T4" fmla="*/ 2147483647 w 720"/>
              <a:gd name="T5" fmla="*/ 2147483647 h 528"/>
              <a:gd name="T6" fmla="*/ 2147483647 w 720"/>
              <a:gd name="T7" fmla="*/ 2147483647 h 528"/>
              <a:gd name="T8" fmla="*/ 0 60000 65536"/>
              <a:gd name="T9" fmla="*/ 0 60000 65536"/>
              <a:gd name="T10" fmla="*/ 0 60000 65536"/>
              <a:gd name="T11" fmla="*/ 0 60000 65536"/>
              <a:gd name="T12" fmla="*/ 0 w 720"/>
              <a:gd name="T13" fmla="*/ 0 h 528"/>
              <a:gd name="T14" fmla="*/ 720 w 720"/>
              <a:gd name="T15" fmla="*/ 528 h 528"/>
            </a:gdLst>
            <a:ahLst/>
            <a:cxnLst>
              <a:cxn ang="T8">
                <a:pos x="T0" y="T1"/>
              </a:cxn>
              <a:cxn ang="T9">
                <a:pos x="T2" y="T3"/>
              </a:cxn>
              <a:cxn ang="T10">
                <a:pos x="T4" y="T5"/>
              </a:cxn>
              <a:cxn ang="T11">
                <a:pos x="T6" y="T7"/>
              </a:cxn>
            </a:cxnLst>
            <a:rect l="T12" t="T13" r="T14" b="T15"/>
            <a:pathLst>
              <a:path w="720" h="528">
                <a:moveTo>
                  <a:pt x="0" y="0"/>
                </a:moveTo>
                <a:cubicBezTo>
                  <a:pt x="260" y="4"/>
                  <a:pt x="520" y="8"/>
                  <a:pt x="576" y="48"/>
                </a:cubicBezTo>
                <a:cubicBezTo>
                  <a:pt x="632" y="88"/>
                  <a:pt x="312" y="160"/>
                  <a:pt x="336" y="240"/>
                </a:cubicBezTo>
                <a:cubicBezTo>
                  <a:pt x="360" y="320"/>
                  <a:pt x="656" y="480"/>
                  <a:pt x="720" y="528"/>
                </a:cubicBezTo>
              </a:path>
            </a:pathLst>
          </a:custGeom>
          <a:noFill/>
          <a:ln w="38100" cap="sq">
            <a:solidFill>
              <a:srgbClr val="000000"/>
            </a:solidFill>
            <a:round/>
            <a:headEnd type="none" w="sm" len="sm"/>
            <a:tailEnd type="arrow" w="med" len="lg"/>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00" name="Text Box 90"/>
          <p:cNvSpPr txBox="1">
            <a:spLocks noChangeArrowheads="1"/>
          </p:cNvSpPr>
          <p:nvPr/>
        </p:nvSpPr>
        <p:spPr bwMode="auto">
          <a:xfrm>
            <a:off x="5562600" y="1639669"/>
            <a:ext cx="997068" cy="646331"/>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3600" b="1" dirty="0">
                <a:solidFill>
                  <a:srgbClr val="FF3300"/>
                </a:solidFill>
                <a:latin typeface="Times New Roman" pitchFamily="18" charset="0"/>
              </a:rPr>
              <a:t>root</a:t>
            </a:r>
            <a:endParaRPr kumimoji="1" lang="en-US" altLang="zh-CN" sz="2000" dirty="0">
              <a:solidFill>
                <a:srgbClr val="000000"/>
              </a:solidFill>
              <a:latin typeface="Times New Roman" pitchFamily="18" charset="0"/>
            </a:endParaRPr>
          </a:p>
        </p:txBody>
      </p:sp>
      <p:grpSp>
        <p:nvGrpSpPr>
          <p:cNvPr id="101" name="Group 91"/>
          <p:cNvGrpSpPr>
            <a:grpSpLocks/>
          </p:cNvGrpSpPr>
          <p:nvPr/>
        </p:nvGrpSpPr>
        <p:grpSpPr bwMode="auto">
          <a:xfrm>
            <a:off x="76200" y="1906587"/>
            <a:ext cx="4824413" cy="531813"/>
            <a:chOff x="398" y="1552"/>
            <a:chExt cx="3360" cy="353"/>
          </a:xfrm>
        </p:grpSpPr>
        <p:sp>
          <p:nvSpPr>
            <p:cNvPr id="102" name="Text Box 92"/>
            <p:cNvSpPr txBox="1">
              <a:spLocks noChangeArrowheads="1"/>
            </p:cNvSpPr>
            <p:nvPr/>
          </p:nvSpPr>
          <p:spPr bwMode="auto">
            <a:xfrm>
              <a:off x="446" y="1560"/>
              <a:ext cx="3287" cy="345"/>
            </a:xfrm>
            <a:prstGeom prst="rect">
              <a:avLst/>
            </a:prstGeom>
            <a:noFill/>
            <a:ln w="12700" cap="sq">
              <a:noFill/>
              <a:miter lim="800000"/>
              <a:headEnd type="none" w="sm" len="sm"/>
              <a:tailEnd type="none" w="sm" len="sm"/>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a:ln>
                    <a:noFill/>
                  </a:ln>
                  <a:solidFill>
                    <a:srgbClr val="000000"/>
                  </a:solidFill>
                  <a:effectLst/>
                  <a:uLnTx/>
                  <a:uFillTx/>
                  <a:latin typeface="Times New Roman" pitchFamily="18" charset="0"/>
                </a:rPr>
                <a:t>lch         data       rch</a:t>
              </a:r>
              <a:r>
                <a:rPr kumimoji="1" lang="en-US" altLang="zh-CN" sz="2800" b="1" i="0" u="none" strike="noStrike" kern="0" cap="none" spc="0" normalizeH="0" baseline="0" noProof="0">
                  <a:ln>
                    <a:noFill/>
                  </a:ln>
                  <a:solidFill>
                    <a:srgbClr val="04617B"/>
                  </a:solidFill>
                  <a:effectLst/>
                  <a:uLnTx/>
                  <a:uFillTx/>
                  <a:latin typeface="Times New Roman" pitchFamily="18" charset="0"/>
                </a:rPr>
                <a:t>    </a:t>
              </a:r>
              <a:r>
                <a:rPr kumimoji="1" lang="en-US" altLang="zh-CN" sz="2800" b="1" i="0" u="none" strike="noStrike" kern="0" cap="none" spc="0" normalizeH="0" baseline="0" noProof="0">
                  <a:ln>
                    <a:noFill/>
                  </a:ln>
                  <a:solidFill>
                    <a:srgbClr val="FF3300"/>
                  </a:solidFill>
                  <a:effectLst/>
                  <a:uLnTx/>
                  <a:uFillTx/>
                  <a:latin typeface="Constantia" pitchFamily="18" charset="0"/>
                </a:rPr>
                <a:t>parent</a:t>
              </a:r>
            </a:p>
          </p:txBody>
        </p:sp>
        <p:sp>
          <p:nvSpPr>
            <p:cNvPr id="103" name="Rectangle 93"/>
            <p:cNvSpPr>
              <a:spLocks noChangeArrowheads="1"/>
            </p:cNvSpPr>
            <p:nvPr/>
          </p:nvSpPr>
          <p:spPr bwMode="auto">
            <a:xfrm>
              <a:off x="398" y="1552"/>
              <a:ext cx="3360" cy="336"/>
            </a:xfrm>
            <a:prstGeom prst="rect">
              <a:avLst/>
            </a:prstGeom>
            <a:noFill/>
            <a:ln w="12700" cap="sq">
              <a:solidFill>
                <a:srgbClr val="000000"/>
              </a:solidFill>
              <a:miter lim="800000"/>
              <a:headEnd type="none" w="sm" len="sm"/>
              <a:tailEnd type="none" w="sm" len="sm"/>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srgbClr val="000000"/>
                </a:solidFill>
                <a:effectLst/>
                <a:uLnTx/>
                <a:uFillTx/>
                <a:latin typeface="Times New Roman" pitchFamily="18" charset="0"/>
              </a:endParaRPr>
            </a:p>
          </p:txBody>
        </p:sp>
        <p:sp>
          <p:nvSpPr>
            <p:cNvPr id="104" name="Line 94"/>
            <p:cNvSpPr>
              <a:spLocks noChangeShapeType="1"/>
            </p:cNvSpPr>
            <p:nvPr/>
          </p:nvSpPr>
          <p:spPr bwMode="auto">
            <a:xfrm>
              <a:off x="1310" y="1552"/>
              <a:ext cx="1" cy="336"/>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5" name="Line 95"/>
            <p:cNvSpPr>
              <a:spLocks noChangeShapeType="1"/>
            </p:cNvSpPr>
            <p:nvPr/>
          </p:nvSpPr>
          <p:spPr bwMode="auto">
            <a:xfrm>
              <a:off x="2126" y="1552"/>
              <a:ext cx="0" cy="336"/>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6" name="Line 96"/>
            <p:cNvSpPr>
              <a:spLocks noChangeShapeType="1"/>
            </p:cNvSpPr>
            <p:nvPr/>
          </p:nvSpPr>
          <p:spPr bwMode="auto">
            <a:xfrm>
              <a:off x="2894" y="1552"/>
              <a:ext cx="1" cy="336"/>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107" name="Line 97"/>
          <p:cNvSpPr>
            <a:spLocks noChangeShapeType="1"/>
          </p:cNvSpPr>
          <p:nvPr/>
        </p:nvSpPr>
        <p:spPr bwMode="auto">
          <a:xfrm flipH="1">
            <a:off x="5800725" y="3124200"/>
            <a:ext cx="685800" cy="533400"/>
          </a:xfrm>
          <a:prstGeom prst="line">
            <a:avLst/>
          </a:prstGeom>
          <a:noFill/>
          <a:ln w="12700" cap="rnd">
            <a:solidFill>
              <a:srgbClr val="04440A"/>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08" name="Line 98"/>
          <p:cNvSpPr>
            <a:spLocks noChangeShapeType="1"/>
          </p:cNvSpPr>
          <p:nvPr/>
        </p:nvSpPr>
        <p:spPr bwMode="auto">
          <a:xfrm flipH="1">
            <a:off x="4900613" y="3984625"/>
            <a:ext cx="360362" cy="825500"/>
          </a:xfrm>
          <a:prstGeom prst="line">
            <a:avLst/>
          </a:prstGeom>
          <a:noFill/>
          <a:ln w="12700" cap="rnd">
            <a:solidFill>
              <a:srgbClr val="04440A"/>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09" name="Line 99"/>
          <p:cNvSpPr>
            <a:spLocks noChangeShapeType="1"/>
          </p:cNvSpPr>
          <p:nvPr/>
        </p:nvSpPr>
        <p:spPr bwMode="auto">
          <a:xfrm>
            <a:off x="5419725" y="5029200"/>
            <a:ext cx="762000" cy="838200"/>
          </a:xfrm>
          <a:prstGeom prst="line">
            <a:avLst/>
          </a:prstGeom>
          <a:noFill/>
          <a:ln w="12700" cap="rnd">
            <a:solidFill>
              <a:srgbClr val="04440A"/>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10" name="Line 100"/>
          <p:cNvSpPr>
            <a:spLocks noChangeShapeType="1"/>
          </p:cNvSpPr>
          <p:nvPr/>
        </p:nvSpPr>
        <p:spPr bwMode="auto">
          <a:xfrm>
            <a:off x="7094538" y="3175000"/>
            <a:ext cx="992187" cy="558800"/>
          </a:xfrm>
          <a:prstGeom prst="line">
            <a:avLst/>
          </a:prstGeom>
          <a:noFill/>
          <a:ln w="12700" cap="rnd">
            <a:solidFill>
              <a:srgbClr val="04440A"/>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11" name="Line 101"/>
          <p:cNvSpPr>
            <a:spLocks noChangeShapeType="1"/>
          </p:cNvSpPr>
          <p:nvPr/>
        </p:nvSpPr>
        <p:spPr bwMode="auto">
          <a:xfrm flipH="1">
            <a:off x="7705725" y="4114800"/>
            <a:ext cx="76200" cy="762000"/>
          </a:xfrm>
          <a:prstGeom prst="line">
            <a:avLst/>
          </a:prstGeom>
          <a:noFill/>
          <a:ln w="12700" cap="rnd">
            <a:solidFill>
              <a:srgbClr val="04440A"/>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12" name="Line 102"/>
          <p:cNvSpPr>
            <a:spLocks noChangeShapeType="1"/>
          </p:cNvSpPr>
          <p:nvPr/>
        </p:nvSpPr>
        <p:spPr bwMode="auto">
          <a:xfrm flipV="1">
            <a:off x="6340475" y="3200400"/>
            <a:ext cx="374650" cy="568325"/>
          </a:xfrm>
          <a:prstGeom prst="line">
            <a:avLst/>
          </a:prstGeom>
          <a:noFill/>
          <a:ln w="12700" cap="rnd">
            <a:solidFill>
              <a:srgbClr val="0000FF"/>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13" name="Line 103"/>
          <p:cNvSpPr>
            <a:spLocks noChangeShapeType="1"/>
          </p:cNvSpPr>
          <p:nvPr/>
        </p:nvSpPr>
        <p:spPr bwMode="auto">
          <a:xfrm flipH="1" flipV="1">
            <a:off x="5653088" y="4111625"/>
            <a:ext cx="255587" cy="809625"/>
          </a:xfrm>
          <a:prstGeom prst="line">
            <a:avLst/>
          </a:prstGeom>
          <a:noFill/>
          <a:ln w="12700" cap="rnd">
            <a:solidFill>
              <a:srgbClr val="0000FF"/>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14" name="Line 104"/>
          <p:cNvSpPr>
            <a:spLocks noChangeShapeType="1"/>
          </p:cNvSpPr>
          <p:nvPr/>
        </p:nvSpPr>
        <p:spPr bwMode="auto">
          <a:xfrm flipH="1" flipV="1">
            <a:off x="5953125" y="5257800"/>
            <a:ext cx="1035050" cy="671513"/>
          </a:xfrm>
          <a:prstGeom prst="line">
            <a:avLst/>
          </a:prstGeom>
          <a:noFill/>
          <a:ln w="12700" cap="rnd">
            <a:solidFill>
              <a:srgbClr val="0000FF"/>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15" name="Line 105"/>
          <p:cNvSpPr>
            <a:spLocks noChangeShapeType="1"/>
          </p:cNvSpPr>
          <p:nvPr/>
        </p:nvSpPr>
        <p:spPr bwMode="auto">
          <a:xfrm flipH="1" flipV="1">
            <a:off x="8162925" y="4191000"/>
            <a:ext cx="265113" cy="730250"/>
          </a:xfrm>
          <a:prstGeom prst="line">
            <a:avLst/>
          </a:prstGeom>
          <a:noFill/>
          <a:ln w="12700" cap="rnd">
            <a:solidFill>
              <a:srgbClr val="0000FF"/>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16" name="Line 106"/>
          <p:cNvSpPr>
            <a:spLocks noChangeShapeType="1"/>
          </p:cNvSpPr>
          <p:nvPr/>
        </p:nvSpPr>
        <p:spPr bwMode="auto">
          <a:xfrm flipH="1" flipV="1">
            <a:off x="7705725" y="3124200"/>
            <a:ext cx="1154113" cy="715963"/>
          </a:xfrm>
          <a:prstGeom prst="line">
            <a:avLst/>
          </a:prstGeom>
          <a:noFill/>
          <a:ln w="12700" cap="rnd">
            <a:solidFill>
              <a:srgbClr val="0000FF"/>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Tree>
    <p:extLst>
      <p:ext uri="{BB962C8B-B14F-4D97-AF65-F5344CB8AC3E}">
        <p14:creationId xmlns:p14="http://schemas.microsoft.com/office/powerpoint/2010/main" val="3802428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7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1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1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 </a:t>
            </a:r>
            <a:r>
              <a:rPr kumimoji="1" lang="zh-CN" altLang="en-US" sz="3200" b="1" dirty="0">
                <a:latin typeface="Arial" charset="0"/>
                <a:ea typeface="宋体" charset="-122"/>
                <a:cs typeface="+mn-cs"/>
              </a:rPr>
              <a:t>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endParaRPr lang="en-US" altLang="zh-CN" sz="2800" b="1" dirty="0"/>
          </a:p>
        </p:txBody>
      </p:sp>
      <p:sp>
        <p:nvSpPr>
          <p:cNvPr id="4" name="日期占位符 3"/>
          <p:cNvSpPr>
            <a:spLocks noGrp="1"/>
          </p:cNvSpPr>
          <p:nvPr>
            <p:ph type="dt" sz="half" idx="10"/>
          </p:nvPr>
        </p:nvSpPr>
        <p:spPr/>
        <p:txBody>
          <a:bodyPr/>
          <a:lstStyle/>
          <a:p>
            <a:fld id="{58EE9CA8-74E4-4913-8892-D568AA47A0F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44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pic>
        <p:nvPicPr>
          <p:cNvPr id="36" name="Picture 6"/>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73050" y="5084763"/>
            <a:ext cx="1298575" cy="1152525"/>
          </a:xfrm>
          <a:prstGeom prst="rect">
            <a:avLst/>
          </a:prstGeom>
          <a:noFill/>
          <a:ln w="9525">
            <a:noFill/>
            <a:miter lim="800000"/>
            <a:headEnd/>
            <a:tailEnd/>
          </a:ln>
        </p:spPr>
      </p:pic>
      <p:sp>
        <p:nvSpPr>
          <p:cNvPr id="15" name="Rectangle 16"/>
          <p:cNvSpPr>
            <a:spLocks noChangeArrowheads="1"/>
          </p:cNvSpPr>
          <p:nvPr/>
        </p:nvSpPr>
        <p:spPr bwMode="auto">
          <a:xfrm>
            <a:off x="1054100" y="1557338"/>
            <a:ext cx="7556500" cy="3241913"/>
          </a:xfrm>
          <a:prstGeom prst="rect">
            <a:avLst/>
          </a:prstGeom>
          <a:noFill/>
          <a:ln w="38100" cmpd="dbl">
            <a:solidFill>
              <a:srgbClr val="0707F9"/>
            </a:solidFill>
            <a:miter lim="800000"/>
            <a:headEnd/>
            <a:tailEnd/>
          </a:ln>
        </p:spPr>
        <p:txBody>
          <a:bodyPr>
            <a:spAutoFit/>
          </a:bodyPr>
          <a:lstStyle/>
          <a:p>
            <a:pPr fontAlgn="base">
              <a:lnSpc>
                <a:spcPct val="200000"/>
              </a:lnSpc>
              <a:spcBef>
                <a:spcPct val="0"/>
              </a:spcBef>
              <a:spcAft>
                <a:spcPct val="0"/>
              </a:spcAft>
            </a:pPr>
            <a:r>
              <a:rPr kumimoji="1" lang="zh-CN" altLang="en-US" sz="3600" dirty="0">
                <a:solidFill>
                  <a:srgbClr val="0707F9"/>
                </a:solidFill>
                <a:latin typeface="Times New Roman" pitchFamily="18" charset="0"/>
              </a:rPr>
              <a:t> </a:t>
            </a:r>
            <a:r>
              <a:rPr kumimoji="1" lang="en-US" altLang="zh-CN" sz="3600" b="1" dirty="0">
                <a:solidFill>
                  <a:srgbClr val="0707F9"/>
                </a:solidFill>
                <a:latin typeface="Times New Roman" pitchFamily="18" charset="0"/>
              </a:rPr>
              <a:t>5.3.1  </a:t>
            </a:r>
            <a:r>
              <a:rPr kumimoji="1" lang="zh-CN" altLang="en-US" sz="3600" b="1" dirty="0">
                <a:solidFill>
                  <a:srgbClr val="0707F9"/>
                </a:solidFill>
                <a:latin typeface="Times New Roman" pitchFamily="18" charset="0"/>
              </a:rPr>
              <a:t>二叉树的遍历方法</a:t>
            </a:r>
          </a:p>
          <a:p>
            <a:pPr fontAlgn="base">
              <a:lnSpc>
                <a:spcPct val="200000"/>
              </a:lnSpc>
              <a:spcBef>
                <a:spcPct val="0"/>
              </a:spcBef>
              <a:spcAft>
                <a:spcPct val="0"/>
              </a:spcAft>
            </a:pPr>
            <a:r>
              <a:rPr kumimoji="1" lang="en-US" altLang="zh-CN" sz="3600" b="1" dirty="0">
                <a:solidFill>
                  <a:srgbClr val="0707F9"/>
                </a:solidFill>
                <a:latin typeface="Times New Roman" pitchFamily="18" charset="0"/>
              </a:rPr>
              <a:t> 5.3.2  </a:t>
            </a:r>
            <a:r>
              <a:rPr kumimoji="1" lang="zh-CN" altLang="en-US" sz="3600" b="1" dirty="0">
                <a:solidFill>
                  <a:srgbClr val="0707F9"/>
                </a:solidFill>
                <a:latin typeface="Times New Roman" pitchFamily="18" charset="0"/>
              </a:rPr>
              <a:t>遍历的递归算法</a:t>
            </a:r>
          </a:p>
          <a:p>
            <a:pPr fontAlgn="base">
              <a:lnSpc>
                <a:spcPct val="200000"/>
              </a:lnSpc>
              <a:spcBef>
                <a:spcPct val="0"/>
              </a:spcBef>
              <a:spcAft>
                <a:spcPct val="0"/>
              </a:spcAft>
            </a:pPr>
            <a:r>
              <a:rPr kumimoji="1" lang="en-US" altLang="zh-CN" sz="3600" b="1" dirty="0">
                <a:solidFill>
                  <a:srgbClr val="0707F9"/>
                </a:solidFill>
                <a:latin typeface="Times New Roman" pitchFamily="18" charset="0"/>
              </a:rPr>
              <a:t> 5.3.3  </a:t>
            </a:r>
            <a:r>
              <a:rPr kumimoji="1" lang="zh-CN" altLang="en-US" sz="3600" b="1" dirty="0">
                <a:solidFill>
                  <a:srgbClr val="0707F9"/>
                </a:solidFill>
                <a:latin typeface="Times New Roman" pitchFamily="18" charset="0"/>
              </a:rPr>
              <a:t>遍历的非递归算法</a:t>
            </a:r>
          </a:p>
        </p:txBody>
      </p:sp>
    </p:spTree>
    <p:extLst>
      <p:ext uri="{BB962C8B-B14F-4D97-AF65-F5344CB8AC3E}">
        <p14:creationId xmlns:p14="http://schemas.microsoft.com/office/powerpoint/2010/main" val="37634473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5.3.1  </a:t>
            </a:r>
            <a:r>
              <a:rPr kumimoji="1" lang="zh-CN" altLang="en-US" sz="3200" b="1" dirty="0">
                <a:latin typeface="Arial" charset="0"/>
                <a:ea typeface="宋体" charset="-122"/>
                <a:cs typeface="+mn-cs"/>
              </a:rPr>
              <a:t>二叉树的遍历方法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遍历</a:t>
            </a:r>
            <a:r>
              <a:rPr lang="zh-CN" altLang="en-US" sz="2800" b="1" dirty="0"/>
              <a:t>：</a:t>
            </a:r>
            <a:endParaRPr lang="en-US" altLang="zh-CN" sz="2800" b="1" dirty="0"/>
          </a:p>
          <a:p>
            <a:pPr lvl="1">
              <a:lnSpc>
                <a:spcPts val="3600"/>
              </a:lnSpc>
            </a:pPr>
            <a:r>
              <a:rPr lang="zh-CN" altLang="en-US" sz="2400" b="1" dirty="0"/>
              <a:t>按某种搜索路径</a:t>
            </a:r>
            <a:r>
              <a:rPr lang="zh-CN" altLang="en-US" sz="2400" b="1" dirty="0">
                <a:solidFill>
                  <a:srgbClr val="FF0000"/>
                </a:solidFill>
              </a:rPr>
              <a:t>访问</a:t>
            </a:r>
            <a:r>
              <a:rPr lang="zh-CN" altLang="en-US" sz="2400" b="1" dirty="0"/>
              <a:t>二叉树的每个结点，而且每个结点仅被访问一次。</a:t>
            </a:r>
          </a:p>
          <a:p>
            <a:pPr>
              <a:lnSpc>
                <a:spcPts val="3600"/>
              </a:lnSpc>
            </a:pPr>
            <a:r>
              <a:rPr lang="zh-CN" altLang="en-US" sz="2800" b="1" dirty="0">
                <a:solidFill>
                  <a:srgbClr val="FF0000"/>
                </a:solidFill>
              </a:rPr>
              <a:t>访问</a:t>
            </a:r>
            <a:r>
              <a:rPr lang="zh-CN" altLang="en-US" sz="2800" b="1" dirty="0"/>
              <a:t>：</a:t>
            </a:r>
            <a:endParaRPr lang="en-US" altLang="zh-CN" sz="2800" b="1" dirty="0"/>
          </a:p>
          <a:p>
            <a:pPr lvl="1">
              <a:lnSpc>
                <a:spcPts val="3600"/>
              </a:lnSpc>
            </a:pPr>
            <a:r>
              <a:rPr lang="zh-CN" altLang="en-US" sz="2400" b="1" dirty="0"/>
              <a:t>访问是指对结点进行各种操作的简称，包括输出、查找、修改等等操作。</a:t>
            </a:r>
          </a:p>
          <a:p>
            <a:pPr>
              <a:lnSpc>
                <a:spcPts val="3600"/>
              </a:lnSpc>
            </a:pPr>
            <a:r>
              <a:rPr lang="zh-CN" altLang="en-US" sz="2800" b="1" dirty="0">
                <a:solidFill>
                  <a:srgbClr val="FF0000"/>
                </a:solidFill>
              </a:rPr>
              <a:t>遍历</a:t>
            </a:r>
            <a:r>
              <a:rPr lang="zh-CN" altLang="en-US" sz="2800" b="1" dirty="0"/>
              <a:t>是各种数据结构最基本的操作，许多其它的操作可以在遍历基础上实现。 </a:t>
            </a:r>
            <a:endParaRPr lang="en-US" altLang="zh-CN" sz="2800" b="1" dirty="0"/>
          </a:p>
        </p:txBody>
      </p:sp>
      <p:sp>
        <p:nvSpPr>
          <p:cNvPr id="4" name="日期占位符 3"/>
          <p:cNvSpPr>
            <a:spLocks noGrp="1"/>
          </p:cNvSpPr>
          <p:nvPr>
            <p:ph type="dt" sz="half" idx="10"/>
          </p:nvPr>
        </p:nvSpPr>
        <p:spPr/>
        <p:txBody>
          <a:bodyPr/>
          <a:lstStyle/>
          <a:p>
            <a:fld id="{B11AB33E-C83A-45FA-B5D2-6FC843EF25F1}"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45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41218408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5.3.1  </a:t>
            </a:r>
            <a:r>
              <a:rPr kumimoji="1" lang="zh-CN" altLang="en-US" sz="3200" b="1" dirty="0">
                <a:latin typeface="Arial" charset="0"/>
                <a:ea typeface="宋体" charset="-122"/>
                <a:cs typeface="+mn-cs"/>
              </a:rPr>
              <a:t>二叉树的遍历方法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p>
        </p:txBody>
      </p:sp>
      <p:sp>
        <p:nvSpPr>
          <p:cNvPr id="4" name="日期占位符 3"/>
          <p:cNvSpPr>
            <a:spLocks noGrp="1"/>
          </p:cNvSpPr>
          <p:nvPr>
            <p:ph type="dt" sz="half" idx="10"/>
          </p:nvPr>
        </p:nvSpPr>
        <p:spPr/>
        <p:txBody>
          <a:bodyPr/>
          <a:lstStyle/>
          <a:p>
            <a:fld id="{29908AF0-6CC8-40D4-B130-D3E79451F21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46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
          <p:cNvSpPr txBox="1">
            <a:spLocks noChangeArrowheads="1"/>
          </p:cNvSpPr>
          <p:nvPr/>
        </p:nvSpPr>
        <p:spPr bwMode="auto">
          <a:xfrm>
            <a:off x="433388" y="1209673"/>
            <a:ext cx="8405812" cy="2677656"/>
          </a:xfrm>
          <a:prstGeom prst="rect">
            <a:avLst/>
          </a:prstGeom>
          <a:noFill/>
          <a:ln w="12700" cap="sq">
            <a:noFill/>
            <a:miter lim="800000"/>
            <a:headEnd type="none" w="sm" len="sm"/>
            <a:tailEnd type="none" w="sm" len="sm"/>
          </a:ln>
        </p:spPr>
        <p:txBody>
          <a:bodyPr wrap="square">
            <a:spAutoFit/>
          </a:bodyPr>
          <a:lstStyle/>
          <a:p>
            <a:pPr marL="342900" indent="-342900" fontAlgn="base">
              <a:lnSpc>
                <a:spcPct val="140000"/>
              </a:lnSpc>
              <a:spcBef>
                <a:spcPct val="0"/>
              </a:spcBef>
              <a:spcAft>
                <a:spcPct val="0"/>
              </a:spcAft>
              <a:buFont typeface="Wingdings" panose="05000000000000000000" pitchFamily="2" charset="2"/>
              <a:buChar char="l"/>
            </a:pPr>
            <a:r>
              <a:rPr kumimoji="1" lang="zh-CN" altLang="en-US" sz="2400" b="1" dirty="0">
                <a:solidFill>
                  <a:srgbClr val="0000FF"/>
                </a:solidFill>
                <a:latin typeface="宋体" pitchFamily="2" charset="-122"/>
              </a:rPr>
              <a:t> “</a:t>
            </a:r>
            <a:r>
              <a:rPr kumimoji="1" lang="zh-CN" altLang="en-US" sz="2400" b="1" dirty="0">
                <a:solidFill>
                  <a:srgbClr val="FF0000"/>
                </a:solidFill>
                <a:latin typeface="宋体" pitchFamily="2" charset="-122"/>
              </a:rPr>
              <a:t>遍历</a:t>
            </a:r>
            <a:r>
              <a:rPr kumimoji="1" lang="zh-CN" altLang="en-US" sz="2400" b="1" dirty="0">
                <a:solidFill>
                  <a:srgbClr val="0000FF"/>
                </a:solidFill>
                <a:latin typeface="宋体" pitchFamily="2" charset="-122"/>
              </a:rPr>
              <a:t>”是任何类型均有的操作：</a:t>
            </a:r>
          </a:p>
          <a:p>
            <a:pPr marL="800100" lvl="1" indent="-342900" fontAlgn="base">
              <a:lnSpc>
                <a:spcPct val="140000"/>
              </a:lnSpc>
              <a:spcBef>
                <a:spcPct val="0"/>
              </a:spcBef>
              <a:spcAft>
                <a:spcPct val="0"/>
              </a:spcAft>
              <a:buFont typeface="Times New Roman" panose="02020603050405020304" pitchFamily="18" charset="0"/>
              <a:buChar char="‒"/>
            </a:pPr>
            <a:r>
              <a:rPr kumimoji="1" lang="zh-CN" altLang="en-US" sz="2400" b="1" dirty="0">
                <a:solidFill>
                  <a:srgbClr val="0000FF"/>
                </a:solidFill>
                <a:latin typeface="宋体" pitchFamily="2" charset="-122"/>
              </a:rPr>
              <a:t>线性结构的遍历：</a:t>
            </a:r>
            <a:r>
              <a:rPr kumimoji="1" lang="zh-CN" altLang="en-US" sz="2400" b="1" dirty="0">
                <a:solidFill>
                  <a:srgbClr val="FF0000"/>
                </a:solidFill>
                <a:latin typeface="宋体" pitchFamily="2" charset="-122"/>
              </a:rPr>
              <a:t>只有一条搜索路径</a:t>
            </a:r>
            <a:r>
              <a:rPr kumimoji="1" lang="en-US" altLang="zh-CN" sz="2400" b="1" dirty="0">
                <a:solidFill>
                  <a:srgbClr val="0000FF"/>
                </a:solidFill>
                <a:latin typeface="宋体" pitchFamily="2" charset="-122"/>
              </a:rPr>
              <a:t>(</a:t>
            </a:r>
            <a:r>
              <a:rPr kumimoji="1" lang="zh-CN" altLang="en-US" sz="2400" b="1" dirty="0">
                <a:solidFill>
                  <a:srgbClr val="0000FF"/>
                </a:solidFill>
                <a:latin typeface="宋体" pitchFamily="2" charset="-122"/>
              </a:rPr>
              <a:t>因为每个结点均只有一个后继</a:t>
            </a:r>
            <a:r>
              <a:rPr kumimoji="1" lang="en-US" altLang="zh-CN" sz="2400" b="1" dirty="0">
                <a:solidFill>
                  <a:srgbClr val="0000FF"/>
                </a:solidFill>
                <a:latin typeface="宋体" pitchFamily="2" charset="-122"/>
              </a:rPr>
              <a:t>)</a:t>
            </a:r>
            <a:r>
              <a:rPr kumimoji="1" lang="zh-CN" altLang="en-US" sz="2400" b="1" dirty="0">
                <a:solidFill>
                  <a:srgbClr val="0000FF"/>
                </a:solidFill>
                <a:latin typeface="宋体" pitchFamily="2" charset="-122"/>
              </a:rPr>
              <a:t>；</a:t>
            </a:r>
          </a:p>
          <a:p>
            <a:pPr marL="800100" lvl="1" indent="-342900" fontAlgn="base">
              <a:lnSpc>
                <a:spcPct val="140000"/>
              </a:lnSpc>
              <a:spcBef>
                <a:spcPct val="0"/>
              </a:spcBef>
              <a:spcAft>
                <a:spcPct val="0"/>
              </a:spcAft>
              <a:buFont typeface="Times New Roman" panose="02020603050405020304" pitchFamily="18" charset="0"/>
              <a:buChar char="‒"/>
            </a:pPr>
            <a:r>
              <a:rPr kumimoji="1" lang="zh-CN" altLang="en-US" sz="2400" b="1" dirty="0">
                <a:solidFill>
                  <a:srgbClr val="0000FF"/>
                </a:solidFill>
                <a:latin typeface="宋体" pitchFamily="2" charset="-122"/>
              </a:rPr>
              <a:t>非线性结构的遍历：二叉树是非线性结构，则</a:t>
            </a:r>
            <a:r>
              <a:rPr kumimoji="1" lang="zh-CN" altLang="en-US" sz="2400" b="1" dirty="0">
                <a:solidFill>
                  <a:srgbClr val="FF0000"/>
                </a:solidFill>
                <a:latin typeface="宋体" pitchFamily="2" charset="-122"/>
              </a:rPr>
              <a:t>存在如何遍历；</a:t>
            </a:r>
            <a:r>
              <a:rPr kumimoji="1" lang="zh-CN" altLang="en-US" sz="2400" b="1" dirty="0">
                <a:solidFill>
                  <a:srgbClr val="0000FF"/>
                </a:solidFill>
                <a:latin typeface="宋体" pitchFamily="2" charset="-122"/>
              </a:rPr>
              <a:t>即按什么样的</a:t>
            </a:r>
            <a:r>
              <a:rPr kumimoji="1" lang="zh-CN" altLang="en-US" sz="2400" b="1" dirty="0">
                <a:solidFill>
                  <a:srgbClr val="FF0000"/>
                </a:solidFill>
                <a:latin typeface="宋体" pitchFamily="2" charset="-122"/>
              </a:rPr>
              <a:t>搜索路径</a:t>
            </a:r>
            <a:r>
              <a:rPr kumimoji="1" lang="zh-CN" altLang="en-US" sz="2400" b="1" dirty="0">
                <a:solidFill>
                  <a:srgbClr val="0000FF"/>
                </a:solidFill>
                <a:latin typeface="宋体" pitchFamily="2" charset="-122"/>
              </a:rPr>
              <a:t>遍历的问题。</a:t>
            </a:r>
          </a:p>
        </p:txBody>
      </p:sp>
      <p:grpSp>
        <p:nvGrpSpPr>
          <p:cNvPr id="14" name="Group 4"/>
          <p:cNvGrpSpPr>
            <a:grpSpLocks/>
          </p:cNvGrpSpPr>
          <p:nvPr/>
        </p:nvGrpSpPr>
        <p:grpSpPr bwMode="auto">
          <a:xfrm>
            <a:off x="1295400" y="4419600"/>
            <a:ext cx="6477000" cy="1981200"/>
            <a:chOff x="1248" y="720"/>
            <a:chExt cx="4080" cy="1584"/>
          </a:xfrm>
        </p:grpSpPr>
        <p:sp>
          <p:nvSpPr>
            <p:cNvPr id="15" name="AutoShape 5"/>
            <p:cNvSpPr>
              <a:spLocks noChangeArrowheads="1"/>
            </p:cNvSpPr>
            <p:nvPr/>
          </p:nvSpPr>
          <p:spPr bwMode="auto">
            <a:xfrm>
              <a:off x="1776" y="720"/>
              <a:ext cx="3552" cy="1104"/>
            </a:xfrm>
            <a:prstGeom prst="cloudCallout">
              <a:avLst>
                <a:gd name="adj1" fmla="val -41806"/>
                <a:gd name="adj2" fmla="val 83875"/>
              </a:avLst>
            </a:prstGeom>
            <a:solidFill>
              <a:srgbClr val="DBF5F9"/>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DBF5F9"/>
                  </a:solidFill>
                  <a:effectLst/>
                  <a:uLnTx/>
                  <a:uFillTx/>
                  <a:latin typeface="Times New Roman" pitchFamily="18" charset="0"/>
                </a:rPr>
                <a:t>    </a:t>
              </a:r>
              <a:r>
                <a:rPr kumimoji="1" lang="zh-CN" altLang="en-US" sz="2400" b="1" i="0" u="none" strike="noStrike" kern="0" cap="none" spc="0" normalizeH="0" baseline="0" noProof="0">
                  <a:ln>
                    <a:noFill/>
                  </a:ln>
                  <a:solidFill>
                    <a:srgbClr val="0000FF"/>
                  </a:solidFill>
                  <a:effectLst/>
                  <a:uLnTx/>
                  <a:uFillTx/>
                  <a:latin typeface="Times New Roman" pitchFamily="18" charset="0"/>
                </a:rPr>
                <a:t>如何访问二叉树的每个结点，</a:t>
              </a:r>
            </a:p>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Times New Roman" pitchFamily="18" charset="0"/>
                </a:rPr>
                <a:t>     而且每个结点仅被访问一次？</a:t>
              </a:r>
              <a:endParaRPr kumimoji="1" lang="zh-CN" altLang="en-US" sz="24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sp>
          <p:nvSpPr>
            <p:cNvPr id="16" name="WordArt 6"/>
            <p:cNvSpPr>
              <a:spLocks noChangeArrowheads="1" noChangeShapeType="1"/>
            </p:cNvSpPr>
            <p:nvPr/>
          </p:nvSpPr>
          <p:spPr bwMode="auto">
            <a:xfrm>
              <a:off x="1248" y="1824"/>
              <a:ext cx="904" cy="480"/>
            </a:xfrm>
            <a:prstGeom prst="rect">
              <a:avLst/>
            </a:prstGeom>
          </p:spPr>
          <p:txBody>
            <a:bodyPr wrap="none" fromWordArt="1">
              <a:prstTxWarp prst="textPlain">
                <a:avLst>
                  <a:gd name="adj" fmla="val 30690"/>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1" i="0" u="none" strike="noStrike" kern="10" cap="none" spc="0" normalizeH="0" baseline="0" noProof="0">
                  <a:ln w="12700">
                    <a:solidFill>
                      <a:srgbClr val="FFFF66"/>
                    </a:solidFill>
                    <a:round/>
                    <a:headEnd/>
                    <a:tailEnd/>
                  </a:ln>
                  <a:solidFill>
                    <a:srgbClr val="00FFFF">
                      <a:alpha val="50195"/>
                    </a:srgbClr>
                  </a:solidFill>
                  <a:effectLst>
                    <a:outerShdw dist="45791" dir="2021404" algn="ctr" rotWithShape="0">
                      <a:srgbClr val="9999FF"/>
                    </a:outerShdw>
                  </a:effectLst>
                  <a:uLnTx/>
                  <a:uFillTx/>
                  <a:latin typeface="宋体"/>
                </a:rPr>
                <a:t>？</a:t>
              </a:r>
            </a:p>
          </p:txBody>
        </p:sp>
      </p:grpSp>
    </p:spTree>
    <p:extLst>
      <p:ext uri="{BB962C8B-B14F-4D97-AF65-F5344CB8AC3E}">
        <p14:creationId xmlns:p14="http://schemas.microsoft.com/office/powerpoint/2010/main" val="2855573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5.3.1  </a:t>
            </a:r>
            <a:r>
              <a:rPr kumimoji="1" lang="zh-CN" altLang="en-US" sz="3200" b="1" dirty="0">
                <a:latin typeface="Arial" charset="0"/>
                <a:ea typeface="宋体" charset="-122"/>
                <a:cs typeface="+mn-cs"/>
              </a:rPr>
              <a:t>二叉树的遍历方法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p>
        </p:txBody>
      </p:sp>
      <p:sp>
        <p:nvSpPr>
          <p:cNvPr id="4" name="日期占位符 3"/>
          <p:cNvSpPr>
            <a:spLocks noGrp="1"/>
          </p:cNvSpPr>
          <p:nvPr>
            <p:ph type="dt" sz="half" idx="10"/>
          </p:nvPr>
        </p:nvSpPr>
        <p:spPr/>
        <p:txBody>
          <a:bodyPr/>
          <a:lstStyle/>
          <a:p>
            <a:fld id="{BF19ADF8-0EF7-40E1-94EE-62193E7DD833}"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47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3"/>
          <p:cNvSpPr>
            <a:spLocks noChangeArrowheads="1"/>
          </p:cNvSpPr>
          <p:nvPr/>
        </p:nvSpPr>
        <p:spPr bwMode="auto">
          <a:xfrm>
            <a:off x="673803" y="381000"/>
            <a:ext cx="7772400" cy="1752600"/>
          </a:xfrm>
          <a:prstGeom prst="rect">
            <a:avLst/>
          </a:prstGeom>
          <a:noFill/>
          <a:ln w="9525">
            <a:noFill/>
            <a:miter lim="800000"/>
            <a:headEnd/>
            <a:tailEnd/>
          </a:ln>
        </p:spPr>
        <p:txBody>
          <a:bodyPr anchor="b"/>
          <a:lstStyle/>
          <a:p>
            <a:pPr marL="457200" indent="-457200" algn="just" fontAlgn="base">
              <a:lnSpc>
                <a:spcPct val="110000"/>
              </a:lnSpc>
              <a:spcBef>
                <a:spcPct val="0"/>
              </a:spcBef>
              <a:spcAft>
                <a:spcPct val="0"/>
              </a:spcAft>
              <a:buFont typeface="Wingdings" panose="05000000000000000000" pitchFamily="2" charset="2"/>
              <a:buChar char="l"/>
            </a:pPr>
            <a:r>
              <a:rPr kumimoji="1" lang="zh-CN" altLang="en-US" sz="2800" b="1" dirty="0">
                <a:solidFill>
                  <a:srgbClr val="0000FF"/>
                </a:solidFill>
                <a:latin typeface="Times New Roman" pitchFamily="18" charset="0"/>
              </a:rPr>
              <a:t>对</a:t>
            </a:r>
            <a:r>
              <a:rPr kumimoji="1" lang="zh-CN" altLang="en-US" sz="2800" b="1" dirty="0">
                <a:solidFill>
                  <a:srgbClr val="0000FF"/>
                </a:solidFill>
                <a:latin typeface="宋体" pitchFamily="2" charset="-122"/>
              </a:rPr>
              <a:t>“</a:t>
            </a:r>
            <a:r>
              <a:rPr kumimoji="1" lang="zh-CN" altLang="en-US" sz="2800" b="1" dirty="0">
                <a:solidFill>
                  <a:srgbClr val="0000FF"/>
                </a:solidFill>
                <a:latin typeface="Times New Roman" pitchFamily="18" charset="0"/>
              </a:rPr>
              <a:t>二叉树</a:t>
            </a:r>
            <a:r>
              <a:rPr kumimoji="1" lang="zh-CN" altLang="en-US" sz="2800" b="1" dirty="0">
                <a:solidFill>
                  <a:srgbClr val="0000FF"/>
                </a:solidFill>
                <a:latin typeface="宋体" pitchFamily="2" charset="-122"/>
              </a:rPr>
              <a:t>”</a:t>
            </a:r>
            <a:r>
              <a:rPr kumimoji="1" lang="zh-CN" altLang="en-US" sz="2800" b="1" dirty="0">
                <a:solidFill>
                  <a:srgbClr val="0000FF"/>
                </a:solidFill>
                <a:latin typeface="Times New Roman" pitchFamily="18" charset="0"/>
              </a:rPr>
              <a:t>而言，可以有三条搜索路径：</a:t>
            </a:r>
          </a:p>
        </p:txBody>
      </p:sp>
      <p:sp>
        <p:nvSpPr>
          <p:cNvPr id="14" name="Rectangle 4"/>
          <p:cNvSpPr>
            <a:spLocks noChangeArrowheads="1"/>
          </p:cNvSpPr>
          <p:nvPr/>
        </p:nvSpPr>
        <p:spPr bwMode="auto">
          <a:xfrm>
            <a:off x="762000" y="2514600"/>
            <a:ext cx="7848600" cy="3657600"/>
          </a:xfrm>
          <a:prstGeom prst="rect">
            <a:avLst/>
          </a:prstGeom>
          <a:noFill/>
          <a:ln w="9525">
            <a:noFill/>
            <a:miter lim="800000"/>
            <a:headEnd/>
            <a:tailEnd/>
          </a:ln>
        </p:spPr>
        <p:txBody>
          <a:bodyPr/>
          <a:lstStyle/>
          <a:p>
            <a:pPr marL="457200" indent="-457200" algn="just" fontAlgn="base">
              <a:lnSpc>
                <a:spcPct val="110000"/>
              </a:lnSpc>
              <a:spcBef>
                <a:spcPct val="20000"/>
              </a:spcBef>
              <a:spcAft>
                <a:spcPct val="0"/>
              </a:spcAft>
              <a:buClr>
                <a:srgbClr val="0000FF"/>
              </a:buClr>
              <a:buSzPct val="95000"/>
              <a:buFont typeface="Times New Roman" panose="02020603050405020304" pitchFamily="18" charset="0"/>
              <a:buChar char="‒"/>
            </a:pPr>
            <a:r>
              <a:rPr lang="zh-CN" altLang="en-US" sz="2800" b="1" dirty="0">
                <a:solidFill>
                  <a:srgbClr val="FF0000"/>
                </a:solidFill>
                <a:latin typeface="Constantia" pitchFamily="18" charset="0"/>
              </a:rPr>
              <a:t>先上后下</a:t>
            </a:r>
            <a:r>
              <a:rPr lang="zh-CN" altLang="en-US" sz="2800" b="1" dirty="0">
                <a:solidFill>
                  <a:srgbClr val="0000FF"/>
                </a:solidFill>
                <a:latin typeface="Constantia" pitchFamily="18" charset="0"/>
              </a:rPr>
              <a:t>的按层次遍历；</a:t>
            </a:r>
          </a:p>
          <a:p>
            <a:pPr marL="457200" indent="-457200" algn="just" fontAlgn="base">
              <a:lnSpc>
                <a:spcPct val="110000"/>
              </a:lnSpc>
              <a:spcBef>
                <a:spcPct val="20000"/>
              </a:spcBef>
              <a:spcAft>
                <a:spcPct val="0"/>
              </a:spcAft>
              <a:buClr>
                <a:srgbClr val="0000FF"/>
              </a:buClr>
              <a:buSzPct val="95000"/>
              <a:buFont typeface="Times New Roman" panose="02020603050405020304" pitchFamily="18" charset="0"/>
              <a:buChar char="‒"/>
            </a:pPr>
            <a:r>
              <a:rPr lang="zh-CN" altLang="en-US" sz="2800" b="1" dirty="0">
                <a:solidFill>
                  <a:srgbClr val="FF0000"/>
                </a:solidFill>
                <a:latin typeface="Constantia" pitchFamily="18" charset="0"/>
              </a:rPr>
              <a:t>先左</a:t>
            </a:r>
            <a:r>
              <a:rPr lang="zh-CN" altLang="en-US" sz="2800" b="1" dirty="0">
                <a:solidFill>
                  <a:srgbClr val="0000FF"/>
                </a:solidFill>
                <a:latin typeface="Constantia" pitchFamily="18" charset="0"/>
              </a:rPr>
              <a:t>（子树）</a:t>
            </a:r>
            <a:r>
              <a:rPr lang="zh-CN" altLang="en-US" sz="2800" b="1" dirty="0">
                <a:solidFill>
                  <a:srgbClr val="FF0000"/>
                </a:solidFill>
                <a:latin typeface="Constantia" pitchFamily="18" charset="0"/>
              </a:rPr>
              <a:t>后右</a:t>
            </a:r>
            <a:r>
              <a:rPr lang="zh-CN" altLang="en-US" sz="2800" b="1" dirty="0">
                <a:solidFill>
                  <a:srgbClr val="0000FF"/>
                </a:solidFill>
                <a:latin typeface="Constantia" pitchFamily="18" charset="0"/>
              </a:rPr>
              <a:t>（子树）的遍历；</a:t>
            </a:r>
          </a:p>
          <a:p>
            <a:pPr marL="457200" indent="-457200" algn="just" fontAlgn="base">
              <a:lnSpc>
                <a:spcPct val="110000"/>
              </a:lnSpc>
              <a:spcBef>
                <a:spcPct val="20000"/>
              </a:spcBef>
              <a:spcAft>
                <a:spcPct val="0"/>
              </a:spcAft>
              <a:buClr>
                <a:srgbClr val="0000FF"/>
              </a:buClr>
              <a:buSzPct val="95000"/>
              <a:buFont typeface="Times New Roman" panose="02020603050405020304" pitchFamily="18" charset="0"/>
              <a:buChar char="‒"/>
            </a:pPr>
            <a:r>
              <a:rPr lang="zh-CN" altLang="en-US" sz="2800" b="1" dirty="0">
                <a:solidFill>
                  <a:srgbClr val="FF0000"/>
                </a:solidFill>
                <a:latin typeface="Constantia" pitchFamily="18" charset="0"/>
              </a:rPr>
              <a:t>先右</a:t>
            </a:r>
            <a:r>
              <a:rPr lang="zh-CN" altLang="en-US" sz="2800" b="1" dirty="0">
                <a:solidFill>
                  <a:srgbClr val="0000FF"/>
                </a:solidFill>
                <a:latin typeface="Constantia" pitchFamily="18" charset="0"/>
              </a:rPr>
              <a:t>（子树）</a:t>
            </a:r>
            <a:r>
              <a:rPr lang="zh-CN" altLang="en-US" sz="2800" b="1" dirty="0">
                <a:solidFill>
                  <a:srgbClr val="FF0000"/>
                </a:solidFill>
                <a:latin typeface="Constantia" pitchFamily="18" charset="0"/>
              </a:rPr>
              <a:t>后左</a:t>
            </a:r>
            <a:r>
              <a:rPr lang="zh-CN" altLang="en-US" sz="2800" b="1" dirty="0">
                <a:solidFill>
                  <a:srgbClr val="0000FF"/>
                </a:solidFill>
                <a:latin typeface="Constantia" pitchFamily="18" charset="0"/>
              </a:rPr>
              <a:t>（子树）的遍历</a:t>
            </a:r>
            <a:r>
              <a:rPr lang="zh-CN" altLang="en-US" sz="2800" b="1" dirty="0">
                <a:solidFill>
                  <a:srgbClr val="000000"/>
                </a:solidFill>
                <a:latin typeface="Constantia" pitchFamily="18" charset="0"/>
              </a:rPr>
              <a:t>。</a:t>
            </a:r>
          </a:p>
        </p:txBody>
      </p:sp>
    </p:spTree>
    <p:extLst>
      <p:ext uri="{BB962C8B-B14F-4D97-AF65-F5344CB8AC3E}">
        <p14:creationId xmlns:p14="http://schemas.microsoft.com/office/powerpoint/2010/main" val="6002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5.3.1  </a:t>
            </a:r>
            <a:r>
              <a:rPr kumimoji="1" lang="zh-CN" altLang="en-US" sz="3200" b="1" dirty="0">
                <a:latin typeface="Arial" charset="0"/>
                <a:ea typeface="宋体" charset="-122"/>
                <a:cs typeface="+mn-cs"/>
              </a:rPr>
              <a:t>二叉树的遍历方法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p>
        </p:txBody>
      </p:sp>
      <p:sp>
        <p:nvSpPr>
          <p:cNvPr id="4" name="日期占位符 3"/>
          <p:cNvSpPr>
            <a:spLocks noGrp="1"/>
          </p:cNvSpPr>
          <p:nvPr>
            <p:ph type="dt" sz="half" idx="10"/>
          </p:nvPr>
        </p:nvSpPr>
        <p:spPr/>
        <p:txBody>
          <a:bodyPr/>
          <a:lstStyle/>
          <a:p>
            <a:fld id="{46B617DC-1231-4950-81A0-F5D3A7DC336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48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7" name="Text Box 35"/>
          <p:cNvSpPr txBox="1">
            <a:spLocks noChangeArrowheads="1"/>
          </p:cNvSpPr>
          <p:nvPr/>
        </p:nvSpPr>
        <p:spPr bwMode="auto">
          <a:xfrm>
            <a:off x="200025" y="1144587"/>
            <a:ext cx="9432925" cy="1015663"/>
          </a:xfrm>
          <a:prstGeom prst="rect">
            <a:avLst/>
          </a:prstGeom>
          <a:noFill/>
          <a:ln w="12700" cap="rnd">
            <a:noFill/>
            <a:miter lim="800000"/>
            <a:headEnd/>
            <a:tailEnd/>
          </a:ln>
        </p:spPr>
        <p:txBody>
          <a:bodyPr>
            <a:spAutoFit/>
          </a:bodyPr>
          <a:lstStyle/>
          <a:p>
            <a:pPr marL="609600" indent="-609600" eaLnBrk="0" fontAlgn="base" hangingPunct="0">
              <a:spcBef>
                <a:spcPct val="50000"/>
              </a:spcBef>
              <a:spcAft>
                <a:spcPct val="0"/>
              </a:spcAft>
            </a:pPr>
            <a:r>
              <a:rPr kumimoji="1" lang="zh-CN" altLang="en-US" sz="2400" b="1" dirty="0">
                <a:solidFill>
                  <a:srgbClr val="0000FF"/>
                </a:solidFill>
                <a:latin typeface="宋体" pitchFamily="2" charset="-122"/>
              </a:rPr>
              <a:t> 二叉树由根、左子树、右子树三部分组成</a:t>
            </a:r>
          </a:p>
          <a:p>
            <a:pPr marL="609600" indent="-609600" eaLnBrk="0" fontAlgn="base" hangingPunct="0">
              <a:spcBef>
                <a:spcPct val="50000"/>
              </a:spcBef>
              <a:spcAft>
                <a:spcPct val="0"/>
              </a:spcAft>
            </a:pPr>
            <a:r>
              <a:rPr kumimoji="1" lang="zh-CN" altLang="en-US" sz="2400" b="1" dirty="0">
                <a:solidFill>
                  <a:srgbClr val="0000FF"/>
                </a:solidFill>
                <a:latin typeface="宋体" pitchFamily="2" charset="-122"/>
              </a:rPr>
              <a:t> 二叉树的遍历可以分解为：访问根，遍历左子树和遍历右子树</a:t>
            </a:r>
          </a:p>
        </p:txBody>
      </p:sp>
      <p:sp>
        <p:nvSpPr>
          <p:cNvPr id="19" name="Text Box 36"/>
          <p:cNvSpPr txBox="1">
            <a:spLocks noChangeArrowheads="1"/>
          </p:cNvSpPr>
          <p:nvPr/>
        </p:nvSpPr>
        <p:spPr bwMode="auto">
          <a:xfrm>
            <a:off x="381000" y="2522537"/>
            <a:ext cx="4038600" cy="283051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400" b="1">
                <a:solidFill>
                  <a:srgbClr val="0000FF"/>
                </a:solidFill>
                <a:latin typeface="宋体" pitchFamily="2" charset="-122"/>
              </a:rPr>
              <a:t>令：</a:t>
            </a:r>
            <a:r>
              <a:rPr kumimoji="1" lang="en-US" altLang="zh-CN" sz="2400" b="1">
                <a:solidFill>
                  <a:srgbClr val="0000FF"/>
                </a:solidFill>
                <a:latin typeface="宋体" pitchFamily="2" charset="-122"/>
              </a:rPr>
              <a:t>L：</a:t>
            </a:r>
            <a:r>
              <a:rPr kumimoji="1" lang="zh-CN" altLang="en-US" sz="2400" b="1">
                <a:solidFill>
                  <a:srgbClr val="0000FF"/>
                </a:solidFill>
                <a:latin typeface="宋体" pitchFamily="2" charset="-122"/>
              </a:rPr>
              <a:t>遍历左子树</a:t>
            </a:r>
            <a:br>
              <a:rPr kumimoji="1" lang="zh-CN" altLang="en-US" sz="2400" b="1">
                <a:solidFill>
                  <a:srgbClr val="0000FF"/>
                </a:solidFill>
                <a:latin typeface="宋体" pitchFamily="2" charset="-122"/>
              </a:rPr>
            </a:br>
            <a:r>
              <a:rPr kumimoji="1" lang="zh-CN" altLang="en-US" sz="2400" b="1">
                <a:solidFill>
                  <a:srgbClr val="0000FF"/>
                </a:solidFill>
                <a:latin typeface="宋体" pitchFamily="2" charset="-122"/>
              </a:rPr>
              <a:t>    </a:t>
            </a:r>
            <a:r>
              <a:rPr kumimoji="1" lang="en-US" altLang="zh-CN" sz="2400" b="1">
                <a:solidFill>
                  <a:srgbClr val="0000FF"/>
                </a:solidFill>
                <a:latin typeface="宋体" pitchFamily="2" charset="-122"/>
              </a:rPr>
              <a:t>T：</a:t>
            </a:r>
            <a:r>
              <a:rPr kumimoji="1" lang="zh-CN" altLang="en-US" sz="2400" b="1">
                <a:solidFill>
                  <a:srgbClr val="0000FF"/>
                </a:solidFill>
                <a:latin typeface="宋体" pitchFamily="2" charset="-122"/>
              </a:rPr>
              <a:t>访问根结点</a:t>
            </a:r>
            <a:br>
              <a:rPr kumimoji="1" lang="zh-CN" altLang="en-US" sz="2400" b="1">
                <a:solidFill>
                  <a:srgbClr val="0000FF"/>
                </a:solidFill>
                <a:latin typeface="宋体" pitchFamily="2" charset="-122"/>
              </a:rPr>
            </a:br>
            <a:r>
              <a:rPr kumimoji="1" lang="zh-CN" altLang="en-US" sz="2400" b="1">
                <a:solidFill>
                  <a:srgbClr val="0000FF"/>
                </a:solidFill>
                <a:latin typeface="宋体" pitchFamily="2" charset="-122"/>
              </a:rPr>
              <a:t>    </a:t>
            </a:r>
            <a:r>
              <a:rPr kumimoji="1" lang="en-US" altLang="zh-CN" sz="2400" b="1">
                <a:solidFill>
                  <a:srgbClr val="0000FF"/>
                </a:solidFill>
                <a:latin typeface="宋体" pitchFamily="2" charset="-122"/>
              </a:rPr>
              <a:t>R：</a:t>
            </a:r>
            <a:r>
              <a:rPr kumimoji="1" lang="zh-CN" altLang="en-US" sz="2400" b="1">
                <a:solidFill>
                  <a:srgbClr val="0000FF"/>
                </a:solidFill>
                <a:latin typeface="宋体" pitchFamily="2" charset="-122"/>
              </a:rPr>
              <a:t>遍历右子树</a:t>
            </a:r>
          </a:p>
          <a:p>
            <a:pPr eaLnBrk="0" fontAlgn="base" hangingPunct="0">
              <a:spcBef>
                <a:spcPct val="50000"/>
              </a:spcBef>
              <a:spcAft>
                <a:spcPct val="0"/>
              </a:spcAft>
            </a:pPr>
            <a:r>
              <a:rPr kumimoji="1" lang="zh-CN" altLang="en-US" sz="2400" b="1">
                <a:solidFill>
                  <a:srgbClr val="0000FF"/>
                </a:solidFill>
                <a:latin typeface="宋体" pitchFamily="2" charset="-122"/>
              </a:rPr>
              <a:t>   有六种遍历方法：</a:t>
            </a:r>
          </a:p>
          <a:p>
            <a:pPr eaLnBrk="0" fontAlgn="base" hangingPunct="0">
              <a:spcBef>
                <a:spcPct val="50000"/>
              </a:spcBef>
              <a:spcAft>
                <a:spcPct val="0"/>
              </a:spcAft>
            </a:pPr>
            <a:r>
              <a:rPr kumimoji="1" lang="zh-CN" altLang="en-US" sz="2400" b="1">
                <a:solidFill>
                  <a:srgbClr val="FFFFA5"/>
                </a:solidFill>
                <a:latin typeface="宋体" pitchFamily="2" charset="-122"/>
              </a:rPr>
              <a:t>   </a:t>
            </a:r>
            <a:r>
              <a:rPr kumimoji="1" lang="en-US" altLang="zh-CN" sz="2400" b="1">
                <a:solidFill>
                  <a:srgbClr val="FF3300"/>
                </a:solidFill>
                <a:latin typeface="宋体" pitchFamily="2" charset="-122"/>
              </a:rPr>
              <a:t>T</a:t>
            </a:r>
            <a:r>
              <a:rPr kumimoji="1" lang="en-US" altLang="zh-CN" sz="2400" b="1">
                <a:solidFill>
                  <a:srgbClr val="FF99CC"/>
                </a:solidFill>
                <a:latin typeface="宋体" pitchFamily="2" charset="-122"/>
              </a:rPr>
              <a:t> </a:t>
            </a:r>
            <a:r>
              <a:rPr kumimoji="1" lang="en-US" altLang="zh-CN" sz="2400" b="1">
                <a:solidFill>
                  <a:srgbClr val="04617B"/>
                </a:solidFill>
                <a:latin typeface="宋体" pitchFamily="2" charset="-122"/>
              </a:rPr>
              <a:t>L </a:t>
            </a:r>
            <a:r>
              <a:rPr kumimoji="1" lang="en-US" altLang="zh-CN" sz="2400" b="1">
                <a:solidFill>
                  <a:srgbClr val="000000"/>
                </a:solidFill>
                <a:latin typeface="宋体" pitchFamily="2" charset="-122"/>
              </a:rPr>
              <a:t>R</a:t>
            </a:r>
            <a:r>
              <a:rPr kumimoji="1" lang="zh-CN" altLang="en-US" sz="2400" b="1">
                <a:solidFill>
                  <a:srgbClr val="000000"/>
                </a:solidFill>
                <a:latin typeface="宋体" pitchFamily="2" charset="-122"/>
              </a:rPr>
              <a:t>，</a:t>
            </a:r>
            <a:r>
              <a:rPr kumimoji="1" lang="en-US" altLang="zh-CN" sz="2400" b="1">
                <a:solidFill>
                  <a:srgbClr val="04617B"/>
                </a:solidFill>
                <a:latin typeface="宋体" pitchFamily="2" charset="-122"/>
              </a:rPr>
              <a:t>L </a:t>
            </a:r>
            <a:r>
              <a:rPr kumimoji="1" lang="en-US" altLang="zh-CN" sz="2400" b="1">
                <a:solidFill>
                  <a:srgbClr val="FF3300"/>
                </a:solidFill>
                <a:latin typeface="宋体" pitchFamily="2" charset="-122"/>
              </a:rPr>
              <a:t>T</a:t>
            </a:r>
            <a:r>
              <a:rPr kumimoji="1" lang="en-US" altLang="zh-CN" sz="2400" b="1">
                <a:solidFill>
                  <a:srgbClr val="FF99CC"/>
                </a:solidFill>
                <a:latin typeface="宋体" pitchFamily="2" charset="-122"/>
              </a:rPr>
              <a:t> </a:t>
            </a:r>
            <a:r>
              <a:rPr kumimoji="1" lang="en-US" altLang="zh-CN" sz="2400" b="1">
                <a:solidFill>
                  <a:srgbClr val="000000"/>
                </a:solidFill>
                <a:latin typeface="宋体" pitchFamily="2" charset="-122"/>
              </a:rPr>
              <a:t>R，</a:t>
            </a:r>
            <a:r>
              <a:rPr kumimoji="1" lang="en-US" altLang="zh-CN" sz="2400" b="1">
                <a:solidFill>
                  <a:srgbClr val="04617B"/>
                </a:solidFill>
                <a:latin typeface="宋体" pitchFamily="2" charset="-122"/>
              </a:rPr>
              <a:t>L </a:t>
            </a:r>
            <a:r>
              <a:rPr kumimoji="1" lang="en-US" altLang="zh-CN" sz="2400" b="1">
                <a:solidFill>
                  <a:srgbClr val="000000"/>
                </a:solidFill>
                <a:latin typeface="宋体" pitchFamily="2" charset="-122"/>
              </a:rPr>
              <a:t>R </a:t>
            </a:r>
            <a:r>
              <a:rPr kumimoji="1" lang="en-US" altLang="zh-CN" sz="2400" b="1">
                <a:solidFill>
                  <a:srgbClr val="FF3300"/>
                </a:solidFill>
                <a:latin typeface="宋体" pitchFamily="2" charset="-122"/>
              </a:rPr>
              <a:t>T</a:t>
            </a:r>
            <a:r>
              <a:rPr kumimoji="1" lang="en-US" altLang="zh-CN" sz="2400" b="1">
                <a:solidFill>
                  <a:srgbClr val="000000"/>
                </a:solidFill>
                <a:latin typeface="宋体" pitchFamily="2" charset="-122"/>
              </a:rPr>
              <a:t>，</a:t>
            </a:r>
          </a:p>
          <a:p>
            <a:pPr eaLnBrk="0" fontAlgn="base" hangingPunct="0">
              <a:spcBef>
                <a:spcPct val="50000"/>
              </a:spcBef>
              <a:spcAft>
                <a:spcPct val="0"/>
              </a:spcAft>
            </a:pPr>
            <a:r>
              <a:rPr kumimoji="1" lang="en-US" altLang="zh-CN" sz="2400" b="1">
                <a:solidFill>
                  <a:srgbClr val="FFFFA5"/>
                </a:solidFill>
                <a:latin typeface="宋体" pitchFamily="2" charset="-122"/>
              </a:rPr>
              <a:t>   </a:t>
            </a:r>
            <a:r>
              <a:rPr kumimoji="1" lang="en-US" altLang="zh-CN" sz="2400" b="1">
                <a:solidFill>
                  <a:srgbClr val="FF3300"/>
                </a:solidFill>
                <a:latin typeface="宋体" pitchFamily="2" charset="-122"/>
              </a:rPr>
              <a:t>T</a:t>
            </a:r>
            <a:r>
              <a:rPr kumimoji="1" lang="en-US" altLang="zh-CN" sz="2400" b="1">
                <a:solidFill>
                  <a:srgbClr val="FF99CC"/>
                </a:solidFill>
                <a:latin typeface="宋体" pitchFamily="2" charset="-122"/>
              </a:rPr>
              <a:t> </a:t>
            </a:r>
            <a:r>
              <a:rPr kumimoji="1" lang="en-US" altLang="zh-CN" sz="2400" b="1">
                <a:solidFill>
                  <a:srgbClr val="000000"/>
                </a:solidFill>
                <a:latin typeface="宋体" pitchFamily="2" charset="-122"/>
              </a:rPr>
              <a:t>R </a:t>
            </a:r>
            <a:r>
              <a:rPr kumimoji="1" lang="en-US" altLang="zh-CN" sz="2400" b="1">
                <a:solidFill>
                  <a:srgbClr val="04617B"/>
                </a:solidFill>
                <a:latin typeface="宋体" pitchFamily="2" charset="-122"/>
              </a:rPr>
              <a:t>L</a:t>
            </a:r>
            <a:r>
              <a:rPr kumimoji="1" lang="en-US" altLang="zh-CN" sz="2400" b="1">
                <a:solidFill>
                  <a:srgbClr val="000000"/>
                </a:solidFill>
                <a:latin typeface="宋体" pitchFamily="2" charset="-122"/>
              </a:rPr>
              <a:t>，R </a:t>
            </a:r>
            <a:r>
              <a:rPr kumimoji="1" lang="en-US" altLang="zh-CN" sz="2400" b="1">
                <a:solidFill>
                  <a:srgbClr val="FF3300"/>
                </a:solidFill>
                <a:latin typeface="宋体" pitchFamily="2" charset="-122"/>
              </a:rPr>
              <a:t>T</a:t>
            </a:r>
            <a:r>
              <a:rPr kumimoji="1" lang="en-US" altLang="zh-CN" sz="2400" b="1">
                <a:solidFill>
                  <a:srgbClr val="FF99CC"/>
                </a:solidFill>
                <a:latin typeface="宋体" pitchFamily="2" charset="-122"/>
              </a:rPr>
              <a:t> </a:t>
            </a:r>
            <a:r>
              <a:rPr kumimoji="1" lang="en-US" altLang="zh-CN" sz="2400" b="1">
                <a:solidFill>
                  <a:srgbClr val="04617B"/>
                </a:solidFill>
                <a:latin typeface="宋体" pitchFamily="2" charset="-122"/>
              </a:rPr>
              <a:t>L</a:t>
            </a:r>
            <a:r>
              <a:rPr kumimoji="1" lang="en-US" altLang="zh-CN" sz="2400" b="1">
                <a:solidFill>
                  <a:srgbClr val="000000"/>
                </a:solidFill>
                <a:latin typeface="宋体" pitchFamily="2" charset="-122"/>
              </a:rPr>
              <a:t>，R </a:t>
            </a:r>
            <a:r>
              <a:rPr kumimoji="1" lang="en-US" altLang="zh-CN" sz="2400" b="1">
                <a:solidFill>
                  <a:srgbClr val="04617B"/>
                </a:solidFill>
                <a:latin typeface="宋体" pitchFamily="2" charset="-122"/>
              </a:rPr>
              <a:t>L </a:t>
            </a:r>
            <a:r>
              <a:rPr kumimoji="1" lang="en-US" altLang="zh-CN" sz="2400" b="1">
                <a:solidFill>
                  <a:srgbClr val="FF3300"/>
                </a:solidFill>
                <a:latin typeface="宋体" pitchFamily="2" charset="-122"/>
              </a:rPr>
              <a:t>T</a:t>
            </a:r>
          </a:p>
        </p:txBody>
      </p:sp>
      <p:sp>
        <p:nvSpPr>
          <p:cNvPr id="20" name="Rectangle 37"/>
          <p:cNvSpPr>
            <a:spLocks noChangeArrowheads="1"/>
          </p:cNvSpPr>
          <p:nvPr/>
        </p:nvSpPr>
        <p:spPr bwMode="auto">
          <a:xfrm>
            <a:off x="456857" y="5570537"/>
            <a:ext cx="8458543" cy="707886"/>
          </a:xfrm>
          <a:prstGeom prst="rect">
            <a:avLst/>
          </a:prstGeom>
          <a:noFill/>
          <a:ln w="12700" cap="rnd">
            <a:noFill/>
            <a:miter lim="800000"/>
            <a:headEnd/>
            <a:tailEnd/>
          </a:ln>
        </p:spPr>
        <p:txBody>
          <a:bodyPr wrap="square">
            <a:spAutoFit/>
          </a:bodyPr>
          <a:lstStyle/>
          <a:p>
            <a:pPr eaLnBrk="0" fontAlgn="base" hangingPunct="0">
              <a:spcBef>
                <a:spcPct val="50000"/>
              </a:spcBef>
              <a:spcAft>
                <a:spcPct val="0"/>
              </a:spcAft>
            </a:pPr>
            <a:r>
              <a:rPr kumimoji="1" lang="zh-CN" altLang="en-US" sz="2000" b="1" dirty="0">
                <a:solidFill>
                  <a:srgbClr val="0000FF"/>
                </a:solidFill>
                <a:latin typeface="宋体" pitchFamily="2" charset="-122"/>
              </a:rPr>
              <a:t>约定先左后右,有三种遍历方法：</a:t>
            </a:r>
            <a:r>
              <a:rPr kumimoji="1" lang="zh-CN" altLang="en-US" sz="2000" b="1" dirty="0">
                <a:solidFill>
                  <a:srgbClr val="FFFFA5"/>
                </a:solidFill>
                <a:latin typeface="宋体" pitchFamily="2" charset="-122"/>
              </a:rPr>
              <a:t> </a:t>
            </a:r>
            <a:r>
              <a:rPr kumimoji="1" lang="en-US" altLang="zh-CN" sz="2000" b="1" dirty="0">
                <a:solidFill>
                  <a:srgbClr val="FF3300"/>
                </a:solidFill>
                <a:latin typeface="宋体" pitchFamily="2" charset="-122"/>
              </a:rPr>
              <a:t>T</a:t>
            </a:r>
            <a:r>
              <a:rPr kumimoji="1" lang="en-US" altLang="zh-CN" sz="2000" b="1" dirty="0">
                <a:solidFill>
                  <a:srgbClr val="FF99CC"/>
                </a:solidFill>
                <a:latin typeface="宋体" pitchFamily="2" charset="-122"/>
              </a:rPr>
              <a:t> </a:t>
            </a:r>
            <a:r>
              <a:rPr kumimoji="1" lang="en-US" altLang="zh-CN" sz="2000" b="1" dirty="0">
                <a:solidFill>
                  <a:srgbClr val="04617B"/>
                </a:solidFill>
                <a:latin typeface="宋体" pitchFamily="2" charset="-122"/>
              </a:rPr>
              <a:t>L </a:t>
            </a:r>
            <a:r>
              <a:rPr kumimoji="1" lang="en-US" altLang="zh-CN" sz="2000" b="1" dirty="0">
                <a:solidFill>
                  <a:srgbClr val="000000"/>
                </a:solidFill>
                <a:latin typeface="宋体" pitchFamily="2" charset="-122"/>
              </a:rPr>
              <a:t>R、</a:t>
            </a:r>
            <a:r>
              <a:rPr kumimoji="1" lang="en-US" altLang="zh-CN" sz="2000" b="1" dirty="0">
                <a:solidFill>
                  <a:srgbClr val="04617B"/>
                </a:solidFill>
                <a:latin typeface="宋体" pitchFamily="2" charset="-122"/>
              </a:rPr>
              <a:t>L </a:t>
            </a:r>
            <a:r>
              <a:rPr kumimoji="1" lang="en-US" altLang="zh-CN" sz="2000" b="1" dirty="0">
                <a:solidFill>
                  <a:srgbClr val="FF3300"/>
                </a:solidFill>
                <a:latin typeface="宋体" pitchFamily="2" charset="-122"/>
              </a:rPr>
              <a:t>T</a:t>
            </a:r>
            <a:r>
              <a:rPr kumimoji="1" lang="en-US" altLang="zh-CN" sz="2000" b="1" dirty="0">
                <a:solidFill>
                  <a:srgbClr val="FF99CC"/>
                </a:solidFill>
                <a:latin typeface="宋体" pitchFamily="2" charset="-122"/>
              </a:rPr>
              <a:t> </a:t>
            </a:r>
            <a:r>
              <a:rPr kumimoji="1" lang="en-US" altLang="zh-CN" sz="2000" b="1" dirty="0">
                <a:solidFill>
                  <a:srgbClr val="000000"/>
                </a:solidFill>
                <a:latin typeface="宋体" pitchFamily="2" charset="-122"/>
              </a:rPr>
              <a:t>R、</a:t>
            </a:r>
            <a:r>
              <a:rPr kumimoji="1" lang="en-US" altLang="zh-CN" sz="2000" b="1" dirty="0">
                <a:solidFill>
                  <a:srgbClr val="04617B"/>
                </a:solidFill>
                <a:latin typeface="宋体" pitchFamily="2" charset="-122"/>
              </a:rPr>
              <a:t>L </a:t>
            </a:r>
            <a:r>
              <a:rPr kumimoji="1" lang="en-US" altLang="zh-CN" sz="2000" b="1" dirty="0">
                <a:solidFill>
                  <a:srgbClr val="000000"/>
                </a:solidFill>
                <a:latin typeface="宋体" pitchFamily="2" charset="-122"/>
              </a:rPr>
              <a:t>R </a:t>
            </a:r>
            <a:r>
              <a:rPr kumimoji="1" lang="en-US" altLang="zh-CN" sz="2000" b="1" dirty="0">
                <a:solidFill>
                  <a:srgbClr val="FF3300"/>
                </a:solidFill>
                <a:latin typeface="宋体" pitchFamily="2" charset="-122"/>
              </a:rPr>
              <a:t>T</a:t>
            </a:r>
            <a:r>
              <a:rPr kumimoji="1" lang="en-US" altLang="zh-CN" sz="2000" b="1" dirty="0">
                <a:solidFill>
                  <a:srgbClr val="000000"/>
                </a:solidFill>
                <a:latin typeface="宋体" pitchFamily="2" charset="-122"/>
              </a:rPr>
              <a:t> ，</a:t>
            </a:r>
            <a:r>
              <a:rPr kumimoji="1" lang="zh-CN" altLang="en-US" sz="2000" b="1" dirty="0">
                <a:solidFill>
                  <a:srgbClr val="0000FF"/>
                </a:solidFill>
                <a:latin typeface="宋体" pitchFamily="2" charset="-122"/>
              </a:rPr>
              <a:t>分别称为</a:t>
            </a:r>
            <a:r>
              <a:rPr kumimoji="1" lang="zh-CN" altLang="en-US" sz="2000" b="1" dirty="0">
                <a:solidFill>
                  <a:srgbClr val="FFFFA5"/>
                </a:solidFill>
                <a:latin typeface="宋体" pitchFamily="2" charset="-122"/>
              </a:rPr>
              <a:t>    </a:t>
            </a:r>
            <a:r>
              <a:rPr kumimoji="1" lang="zh-CN" altLang="en-US" sz="2000" b="1" dirty="0">
                <a:solidFill>
                  <a:srgbClr val="000000"/>
                </a:solidFill>
                <a:latin typeface="黑体" pitchFamily="2" charset="-122"/>
                <a:ea typeface="黑体" pitchFamily="2" charset="-122"/>
              </a:rPr>
              <a:t>先序（先根）遍历、中序（中根）遍历、后序（后根）遍历</a:t>
            </a:r>
          </a:p>
        </p:txBody>
      </p:sp>
      <p:grpSp>
        <p:nvGrpSpPr>
          <p:cNvPr id="21" name="Group 79"/>
          <p:cNvGrpSpPr>
            <a:grpSpLocks/>
          </p:cNvGrpSpPr>
          <p:nvPr/>
        </p:nvGrpSpPr>
        <p:grpSpPr bwMode="auto">
          <a:xfrm>
            <a:off x="4521200" y="2370137"/>
            <a:ext cx="4165600" cy="3011488"/>
            <a:chOff x="2848" y="1488"/>
            <a:chExt cx="2624" cy="1897"/>
          </a:xfrm>
        </p:grpSpPr>
        <p:grpSp>
          <p:nvGrpSpPr>
            <p:cNvPr id="22" name="Group 40"/>
            <p:cNvGrpSpPr>
              <a:grpSpLocks/>
            </p:cNvGrpSpPr>
            <p:nvPr/>
          </p:nvGrpSpPr>
          <p:grpSpPr bwMode="auto">
            <a:xfrm>
              <a:off x="3864" y="1536"/>
              <a:ext cx="535" cy="404"/>
              <a:chOff x="311" y="2496"/>
              <a:chExt cx="575" cy="475"/>
            </a:xfrm>
          </p:grpSpPr>
          <p:sp>
            <p:nvSpPr>
              <p:cNvPr id="51" name="Oval 41"/>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2" name="Text Box 42"/>
              <p:cNvSpPr txBox="1">
                <a:spLocks noChangeArrowheads="1"/>
              </p:cNvSpPr>
              <p:nvPr/>
            </p:nvSpPr>
            <p:spPr bwMode="auto">
              <a:xfrm>
                <a:off x="311" y="2496"/>
                <a:ext cx="575" cy="47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A</a:t>
                </a:r>
              </a:p>
            </p:txBody>
          </p:sp>
        </p:grpSp>
        <p:grpSp>
          <p:nvGrpSpPr>
            <p:cNvPr id="23" name="Group 43"/>
            <p:cNvGrpSpPr>
              <a:grpSpLocks/>
            </p:cNvGrpSpPr>
            <p:nvPr/>
          </p:nvGrpSpPr>
          <p:grpSpPr bwMode="auto">
            <a:xfrm>
              <a:off x="4937" y="2353"/>
              <a:ext cx="535" cy="404"/>
              <a:chOff x="4321" y="2592"/>
              <a:chExt cx="575" cy="475"/>
            </a:xfrm>
          </p:grpSpPr>
          <p:sp>
            <p:nvSpPr>
              <p:cNvPr id="49" name="Oval 44"/>
              <p:cNvSpPr>
                <a:spLocks noChangeArrowheads="1"/>
              </p:cNvSpPr>
              <p:nvPr/>
            </p:nvSpPr>
            <p:spPr bwMode="auto">
              <a:xfrm>
                <a:off x="4404" y="2675"/>
                <a:ext cx="317" cy="317"/>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0" name="Text Box 45"/>
              <p:cNvSpPr txBox="1">
                <a:spLocks noChangeArrowheads="1"/>
              </p:cNvSpPr>
              <p:nvPr/>
            </p:nvSpPr>
            <p:spPr bwMode="auto">
              <a:xfrm>
                <a:off x="4321" y="2592"/>
                <a:ext cx="575" cy="47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F</a:t>
                </a:r>
              </a:p>
            </p:txBody>
          </p:sp>
        </p:grpSp>
        <p:grpSp>
          <p:nvGrpSpPr>
            <p:cNvPr id="24" name="Group 46"/>
            <p:cNvGrpSpPr>
              <a:grpSpLocks/>
            </p:cNvGrpSpPr>
            <p:nvPr/>
          </p:nvGrpSpPr>
          <p:grpSpPr bwMode="auto">
            <a:xfrm>
              <a:off x="3282" y="2884"/>
              <a:ext cx="536" cy="404"/>
              <a:chOff x="310" y="2496"/>
              <a:chExt cx="575" cy="475"/>
            </a:xfrm>
          </p:grpSpPr>
          <p:sp>
            <p:nvSpPr>
              <p:cNvPr id="47" name="Oval 47"/>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8" name="Text Box 48"/>
              <p:cNvSpPr txBox="1">
                <a:spLocks noChangeArrowheads="1"/>
              </p:cNvSpPr>
              <p:nvPr/>
            </p:nvSpPr>
            <p:spPr bwMode="auto">
              <a:xfrm>
                <a:off x="310" y="2496"/>
                <a:ext cx="575" cy="47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G</a:t>
                </a:r>
              </a:p>
            </p:txBody>
          </p:sp>
        </p:grpSp>
        <p:grpSp>
          <p:nvGrpSpPr>
            <p:cNvPr id="25" name="Group 49"/>
            <p:cNvGrpSpPr>
              <a:grpSpLocks/>
            </p:cNvGrpSpPr>
            <p:nvPr/>
          </p:nvGrpSpPr>
          <p:grpSpPr bwMode="auto">
            <a:xfrm>
              <a:off x="3619" y="2432"/>
              <a:ext cx="535" cy="404"/>
              <a:chOff x="311" y="2495"/>
              <a:chExt cx="575" cy="475"/>
            </a:xfrm>
          </p:grpSpPr>
          <p:sp>
            <p:nvSpPr>
              <p:cNvPr id="45" name="Oval 50"/>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6" name="Text Box 51"/>
              <p:cNvSpPr txBox="1">
                <a:spLocks noChangeArrowheads="1"/>
              </p:cNvSpPr>
              <p:nvPr/>
            </p:nvSpPr>
            <p:spPr bwMode="auto">
              <a:xfrm>
                <a:off x="311" y="2495"/>
                <a:ext cx="575" cy="47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E</a:t>
                </a:r>
              </a:p>
            </p:txBody>
          </p:sp>
        </p:grpSp>
        <p:grpSp>
          <p:nvGrpSpPr>
            <p:cNvPr id="26" name="Group 52"/>
            <p:cNvGrpSpPr>
              <a:grpSpLocks/>
            </p:cNvGrpSpPr>
            <p:nvPr/>
          </p:nvGrpSpPr>
          <p:grpSpPr bwMode="auto">
            <a:xfrm>
              <a:off x="2880" y="2434"/>
              <a:ext cx="535" cy="404"/>
              <a:chOff x="310" y="2495"/>
              <a:chExt cx="575" cy="475"/>
            </a:xfrm>
          </p:grpSpPr>
          <p:sp>
            <p:nvSpPr>
              <p:cNvPr id="43" name="Oval 53"/>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4" name="Text Box 54"/>
              <p:cNvSpPr txBox="1">
                <a:spLocks noChangeArrowheads="1"/>
              </p:cNvSpPr>
              <p:nvPr/>
            </p:nvSpPr>
            <p:spPr bwMode="auto">
              <a:xfrm>
                <a:off x="310" y="2495"/>
                <a:ext cx="575" cy="47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D</a:t>
                </a:r>
              </a:p>
            </p:txBody>
          </p:sp>
        </p:grpSp>
        <p:grpSp>
          <p:nvGrpSpPr>
            <p:cNvPr id="27" name="Group 55"/>
            <p:cNvGrpSpPr>
              <a:grpSpLocks/>
            </p:cNvGrpSpPr>
            <p:nvPr/>
          </p:nvGrpSpPr>
          <p:grpSpPr bwMode="auto">
            <a:xfrm>
              <a:off x="4488" y="1944"/>
              <a:ext cx="537" cy="404"/>
              <a:chOff x="309" y="2496"/>
              <a:chExt cx="577" cy="474"/>
            </a:xfrm>
          </p:grpSpPr>
          <p:sp>
            <p:nvSpPr>
              <p:cNvPr id="41" name="Oval 56"/>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2" name="Text Box 57"/>
              <p:cNvSpPr txBox="1">
                <a:spLocks noChangeArrowheads="1"/>
              </p:cNvSpPr>
              <p:nvPr/>
            </p:nvSpPr>
            <p:spPr bwMode="auto">
              <a:xfrm>
                <a:off x="309" y="2496"/>
                <a:ext cx="577" cy="47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C</a:t>
                </a:r>
              </a:p>
            </p:txBody>
          </p:sp>
        </p:grpSp>
        <p:grpSp>
          <p:nvGrpSpPr>
            <p:cNvPr id="28" name="Group 58"/>
            <p:cNvGrpSpPr>
              <a:grpSpLocks/>
            </p:cNvGrpSpPr>
            <p:nvPr/>
          </p:nvGrpSpPr>
          <p:grpSpPr bwMode="auto">
            <a:xfrm>
              <a:off x="3282" y="1985"/>
              <a:ext cx="536" cy="404"/>
              <a:chOff x="310" y="2496"/>
              <a:chExt cx="575" cy="475"/>
            </a:xfrm>
          </p:grpSpPr>
          <p:sp>
            <p:nvSpPr>
              <p:cNvPr id="39" name="Oval 59"/>
              <p:cNvSpPr>
                <a:spLocks noChangeArrowheads="1"/>
              </p:cNvSpPr>
              <p:nvPr/>
            </p:nvSpPr>
            <p:spPr bwMode="auto">
              <a:xfrm>
                <a:off x="394" y="2579"/>
                <a:ext cx="317" cy="317"/>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0" name="Text Box 60"/>
              <p:cNvSpPr txBox="1">
                <a:spLocks noChangeArrowheads="1"/>
              </p:cNvSpPr>
              <p:nvPr/>
            </p:nvSpPr>
            <p:spPr bwMode="auto">
              <a:xfrm>
                <a:off x="310" y="2496"/>
                <a:ext cx="575" cy="47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B</a:t>
                </a:r>
              </a:p>
            </p:txBody>
          </p:sp>
        </p:grpSp>
        <p:grpSp>
          <p:nvGrpSpPr>
            <p:cNvPr id="29" name="Group 61"/>
            <p:cNvGrpSpPr>
              <a:grpSpLocks/>
            </p:cNvGrpSpPr>
            <p:nvPr/>
          </p:nvGrpSpPr>
          <p:grpSpPr bwMode="auto">
            <a:xfrm>
              <a:off x="3148" y="1822"/>
              <a:ext cx="1922" cy="1144"/>
              <a:chOff x="3744" y="1008"/>
              <a:chExt cx="2064" cy="1344"/>
            </a:xfrm>
          </p:grpSpPr>
          <p:sp>
            <p:nvSpPr>
              <p:cNvPr id="33" name="Line 62"/>
              <p:cNvSpPr>
                <a:spLocks noChangeShapeType="1"/>
              </p:cNvSpPr>
              <p:nvPr/>
            </p:nvSpPr>
            <p:spPr bwMode="auto">
              <a:xfrm flipH="1">
                <a:off x="4224" y="1008"/>
                <a:ext cx="384" cy="288"/>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4" name="Line 63"/>
              <p:cNvSpPr>
                <a:spLocks noChangeShapeType="1"/>
              </p:cNvSpPr>
              <p:nvPr/>
            </p:nvSpPr>
            <p:spPr bwMode="auto">
              <a:xfrm>
                <a:off x="4896" y="1008"/>
                <a:ext cx="384" cy="286"/>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5" name="Line 64"/>
              <p:cNvSpPr>
                <a:spLocks noChangeShapeType="1"/>
              </p:cNvSpPr>
              <p:nvPr/>
            </p:nvSpPr>
            <p:spPr bwMode="auto">
              <a:xfrm>
                <a:off x="4272" y="1584"/>
                <a:ext cx="240" cy="24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6" name="Line 65"/>
              <p:cNvSpPr>
                <a:spLocks noChangeShapeType="1"/>
              </p:cNvSpPr>
              <p:nvPr/>
            </p:nvSpPr>
            <p:spPr bwMode="auto">
              <a:xfrm flipH="1">
                <a:off x="4176" y="2112"/>
                <a:ext cx="243" cy="24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7" name="Line 66"/>
              <p:cNvSpPr>
                <a:spLocks noChangeShapeType="1"/>
              </p:cNvSpPr>
              <p:nvPr/>
            </p:nvSpPr>
            <p:spPr bwMode="auto">
              <a:xfrm flipH="1">
                <a:off x="3744" y="1584"/>
                <a:ext cx="243" cy="24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8" name="Line 67"/>
              <p:cNvSpPr>
                <a:spLocks noChangeShapeType="1"/>
              </p:cNvSpPr>
              <p:nvPr/>
            </p:nvSpPr>
            <p:spPr bwMode="auto">
              <a:xfrm>
                <a:off x="5568" y="1488"/>
                <a:ext cx="240" cy="24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30" name="Oval 68"/>
            <p:cNvSpPr>
              <a:spLocks noChangeArrowheads="1"/>
            </p:cNvSpPr>
            <p:nvPr/>
          </p:nvSpPr>
          <p:spPr bwMode="auto">
            <a:xfrm>
              <a:off x="2848" y="1920"/>
              <a:ext cx="1280" cy="1465"/>
            </a:xfrm>
            <a:prstGeom prst="ellipse">
              <a:avLst/>
            </a:prstGeom>
            <a:noFill/>
            <a:ln w="12700" cap="rnd">
              <a:solidFill>
                <a:srgbClr val="0F6FC6"/>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1" name="Oval 69"/>
            <p:cNvSpPr>
              <a:spLocks noChangeArrowheads="1"/>
            </p:cNvSpPr>
            <p:nvPr/>
          </p:nvSpPr>
          <p:spPr bwMode="auto">
            <a:xfrm>
              <a:off x="4435" y="1888"/>
              <a:ext cx="960" cy="1134"/>
            </a:xfrm>
            <a:prstGeom prst="ellips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2" name="Oval 70"/>
            <p:cNvSpPr>
              <a:spLocks noChangeArrowheads="1"/>
            </p:cNvSpPr>
            <p:nvPr/>
          </p:nvSpPr>
          <p:spPr bwMode="auto">
            <a:xfrm>
              <a:off x="3696" y="1488"/>
              <a:ext cx="816" cy="528"/>
            </a:xfrm>
            <a:prstGeom prst="ellipse">
              <a:avLst/>
            </a:prstGeom>
            <a:noFill/>
            <a:ln w="12700" cap="rnd">
              <a:solidFill>
                <a:srgbClr val="FF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grpSp>
    </p:spTree>
    <p:extLst>
      <p:ext uri="{BB962C8B-B14F-4D97-AF65-F5344CB8AC3E}">
        <p14:creationId xmlns:p14="http://schemas.microsoft.com/office/powerpoint/2010/main" val="139448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5.3.1  </a:t>
            </a:r>
            <a:r>
              <a:rPr kumimoji="1" lang="zh-CN" altLang="en-US" sz="3200" b="1" dirty="0">
                <a:latin typeface="Arial" charset="0"/>
                <a:ea typeface="宋体" charset="-122"/>
                <a:cs typeface="+mn-cs"/>
              </a:rPr>
              <a:t>二叉树的遍历方法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kumimoji="1" lang="zh-CN" altLang="en-US" sz="2800" b="1" dirty="0">
                <a:solidFill>
                  <a:srgbClr val="6600FF"/>
                </a:solidFill>
                <a:latin typeface="宋体" pitchFamily="2" charset="-122"/>
                <a:ea typeface="宋体" pitchFamily="2" charset="-122"/>
              </a:rPr>
              <a:t>中序遍历</a:t>
            </a:r>
            <a:r>
              <a:rPr kumimoji="1" lang="zh-CN" altLang="en-US" sz="2800" b="1" dirty="0">
                <a:solidFill>
                  <a:srgbClr val="008000"/>
                </a:solidFill>
                <a:latin typeface="宋体" pitchFamily="2" charset="-122"/>
                <a:ea typeface="宋体" pitchFamily="2" charset="-122"/>
              </a:rPr>
              <a:t>（ </a:t>
            </a:r>
            <a:r>
              <a:rPr kumimoji="1" lang="en-US" altLang="zh-CN" sz="2800" b="1" dirty="0">
                <a:solidFill>
                  <a:srgbClr val="008000"/>
                </a:solidFill>
                <a:latin typeface="宋体" pitchFamily="2" charset="-122"/>
                <a:ea typeface="宋体" pitchFamily="2" charset="-122"/>
              </a:rPr>
              <a:t>L T R</a:t>
            </a:r>
            <a:r>
              <a:rPr kumimoji="1" lang="en-US" altLang="zh-CN" sz="2800" dirty="0">
                <a:solidFill>
                  <a:srgbClr val="008000"/>
                </a:solidFill>
                <a:latin typeface="宋体" pitchFamily="2" charset="-122"/>
                <a:ea typeface="宋体" pitchFamily="2" charset="-122"/>
              </a:rPr>
              <a:t> </a:t>
            </a:r>
            <a:r>
              <a:rPr kumimoji="1" lang="en-US" altLang="zh-CN" sz="2800" b="1" dirty="0">
                <a:solidFill>
                  <a:srgbClr val="008000"/>
                </a:solidFill>
                <a:latin typeface="宋体" pitchFamily="2" charset="-122"/>
                <a:ea typeface="宋体" pitchFamily="2" charset="-122"/>
              </a:rPr>
              <a:t>）</a:t>
            </a:r>
            <a:endParaRPr lang="en-US" altLang="zh-CN" b="1" dirty="0"/>
          </a:p>
        </p:txBody>
      </p:sp>
      <p:sp>
        <p:nvSpPr>
          <p:cNvPr id="4" name="日期占位符 3"/>
          <p:cNvSpPr>
            <a:spLocks noGrp="1"/>
          </p:cNvSpPr>
          <p:nvPr>
            <p:ph type="dt" sz="half" idx="10"/>
          </p:nvPr>
        </p:nvSpPr>
        <p:spPr/>
        <p:txBody>
          <a:bodyPr/>
          <a:lstStyle/>
          <a:p>
            <a:fld id="{810E1AEC-BB9F-43D4-A5DA-D7CF37B9D96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49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5" name="Text Box 2"/>
          <p:cNvSpPr txBox="1">
            <a:spLocks noChangeArrowheads="1"/>
          </p:cNvSpPr>
          <p:nvPr/>
        </p:nvSpPr>
        <p:spPr bwMode="auto">
          <a:xfrm>
            <a:off x="533400" y="1890712"/>
            <a:ext cx="3600450" cy="1638300"/>
          </a:xfrm>
          <a:prstGeom prst="rect">
            <a:avLst/>
          </a:prstGeom>
          <a:noFill/>
          <a:ln w="12700" cap="rnd">
            <a:solidFill>
              <a:srgbClr val="0000FF"/>
            </a:solidFill>
            <a:miter lim="800000"/>
            <a:headEnd/>
            <a:tailEnd/>
          </a:ln>
        </p:spPr>
        <p:txBody>
          <a:bodyPr>
            <a:spAutoFit/>
          </a:bodyPr>
          <a:lstStyle/>
          <a:p>
            <a:pPr eaLnBrk="0" fontAlgn="base" hangingPunct="0">
              <a:spcBef>
                <a:spcPct val="20000"/>
              </a:spcBef>
              <a:spcAft>
                <a:spcPct val="0"/>
              </a:spcAft>
            </a:pPr>
            <a:r>
              <a:rPr kumimoji="1" lang="zh-CN" altLang="en-US" sz="2400" b="1">
                <a:solidFill>
                  <a:srgbClr val="0000FF"/>
                </a:solidFill>
                <a:latin typeface="宋体" pitchFamily="2" charset="-122"/>
              </a:rPr>
              <a:t>若二叉树非空</a:t>
            </a:r>
            <a:br>
              <a:rPr kumimoji="1" lang="zh-CN" altLang="en-US" sz="2400" b="1">
                <a:solidFill>
                  <a:srgbClr val="0000FF"/>
                </a:solidFill>
                <a:latin typeface="宋体" pitchFamily="2" charset="-122"/>
              </a:rPr>
            </a:br>
            <a:r>
              <a:rPr kumimoji="1" lang="zh-CN" altLang="en-US" sz="2400" b="1">
                <a:solidFill>
                  <a:srgbClr val="0000FF"/>
                </a:solidFill>
                <a:latin typeface="宋体" pitchFamily="2" charset="-122"/>
              </a:rPr>
              <a:t>（1）中序遍历左子树</a:t>
            </a:r>
            <a:br>
              <a:rPr kumimoji="1" lang="zh-CN" altLang="en-US" sz="2400" b="1">
                <a:solidFill>
                  <a:srgbClr val="0000FF"/>
                </a:solidFill>
                <a:latin typeface="宋体" pitchFamily="2" charset="-122"/>
              </a:rPr>
            </a:br>
            <a:r>
              <a:rPr kumimoji="1" lang="zh-CN" altLang="en-US" sz="2400" b="1">
                <a:solidFill>
                  <a:srgbClr val="0000FF"/>
                </a:solidFill>
                <a:latin typeface="宋体" pitchFamily="2" charset="-122"/>
              </a:rPr>
              <a:t>（2）访问根结点</a:t>
            </a:r>
          </a:p>
          <a:p>
            <a:pPr eaLnBrk="0" fontAlgn="base" hangingPunct="0">
              <a:spcBef>
                <a:spcPct val="20000"/>
              </a:spcBef>
              <a:spcAft>
                <a:spcPct val="0"/>
              </a:spcAft>
            </a:pPr>
            <a:r>
              <a:rPr kumimoji="1" lang="zh-CN" altLang="en-US" sz="2400" b="1">
                <a:solidFill>
                  <a:srgbClr val="0000FF"/>
                </a:solidFill>
                <a:latin typeface="宋体" pitchFamily="2" charset="-122"/>
              </a:rPr>
              <a:t>（3）中序遍历右子树</a:t>
            </a:r>
          </a:p>
        </p:txBody>
      </p:sp>
      <p:sp>
        <p:nvSpPr>
          <p:cNvPr id="16" name="Text Box 3"/>
          <p:cNvSpPr txBox="1">
            <a:spLocks noChangeArrowheads="1"/>
          </p:cNvSpPr>
          <p:nvPr/>
        </p:nvSpPr>
        <p:spPr bwMode="auto">
          <a:xfrm>
            <a:off x="538162" y="4783137"/>
            <a:ext cx="2936875" cy="6413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3600" b="1">
                <a:solidFill>
                  <a:srgbClr val="FFFF66"/>
                </a:solidFill>
                <a:latin typeface="黑体" pitchFamily="2" charset="-122"/>
                <a:ea typeface="黑体" pitchFamily="2" charset="-122"/>
              </a:rPr>
              <a:t>  </a:t>
            </a:r>
            <a:r>
              <a:rPr kumimoji="1" lang="zh-CN" altLang="en-US" sz="2400" b="1">
                <a:solidFill>
                  <a:srgbClr val="0000FF"/>
                </a:solidFill>
                <a:latin typeface="宋体" pitchFamily="2" charset="-122"/>
              </a:rPr>
              <a:t>中序遍历序列：</a:t>
            </a:r>
            <a:endParaRPr kumimoji="1" lang="en-US" altLang="zh-CN" sz="2400" b="1">
              <a:solidFill>
                <a:srgbClr val="000000"/>
              </a:solidFill>
              <a:latin typeface="黑体" pitchFamily="2" charset="-122"/>
              <a:ea typeface="黑体" pitchFamily="2" charset="-122"/>
            </a:endParaRPr>
          </a:p>
        </p:txBody>
      </p:sp>
      <p:sp>
        <p:nvSpPr>
          <p:cNvPr id="17" name="Text Box 4"/>
          <p:cNvSpPr txBox="1">
            <a:spLocks noChangeArrowheads="1"/>
          </p:cNvSpPr>
          <p:nvPr/>
        </p:nvSpPr>
        <p:spPr bwMode="auto">
          <a:xfrm>
            <a:off x="1447800" y="3919537"/>
            <a:ext cx="6608763" cy="895350"/>
          </a:xfrm>
          <a:prstGeom prst="rect">
            <a:avLst/>
          </a:prstGeom>
          <a:noFill/>
          <a:ln w="12700" cap="rnd">
            <a:noFill/>
            <a:miter lim="800000"/>
            <a:headEnd/>
            <a:tailEnd/>
          </a:ln>
        </p:spPr>
        <p:txBody>
          <a:bodyPr>
            <a:spAutoFit/>
          </a:bodyPr>
          <a:lstStyle/>
          <a:p>
            <a:pPr eaLnBrk="0" fontAlgn="base" hangingPunct="0">
              <a:spcBef>
                <a:spcPct val="20000"/>
              </a:spcBef>
              <a:spcAft>
                <a:spcPct val="0"/>
              </a:spcAft>
            </a:pPr>
            <a:r>
              <a:rPr kumimoji="1" lang="zh-CN" altLang="en-US" sz="2400" b="1" dirty="0">
                <a:solidFill>
                  <a:srgbClr val="000000"/>
                </a:solidFill>
                <a:latin typeface="黑体" pitchFamily="2" charset="-122"/>
                <a:ea typeface="黑体" pitchFamily="2" charset="-122"/>
              </a:rPr>
              <a:t>中序遍历右图所示的二叉树</a:t>
            </a:r>
            <a:endParaRPr kumimoji="1" lang="zh-CN" altLang="en-US" sz="2400" b="1" dirty="0">
              <a:solidFill>
                <a:srgbClr val="000000"/>
              </a:solidFill>
              <a:latin typeface="宋体" pitchFamily="2" charset="-122"/>
            </a:endParaRPr>
          </a:p>
          <a:p>
            <a:pPr eaLnBrk="0" fontAlgn="base" hangingPunct="0">
              <a:spcBef>
                <a:spcPct val="20000"/>
              </a:spcBef>
              <a:spcAft>
                <a:spcPct val="0"/>
              </a:spcAft>
            </a:pPr>
            <a:r>
              <a:rPr kumimoji="1" lang="zh-CN" altLang="en-US" sz="2400" b="1" dirty="0">
                <a:solidFill>
                  <a:srgbClr val="000000"/>
                </a:solidFill>
                <a:latin typeface="宋体" pitchFamily="2" charset="-122"/>
              </a:rPr>
              <a:t>    </a:t>
            </a:r>
          </a:p>
        </p:txBody>
      </p:sp>
      <p:grpSp>
        <p:nvGrpSpPr>
          <p:cNvPr id="19" name="Group 7"/>
          <p:cNvGrpSpPr>
            <a:grpSpLocks/>
          </p:cNvGrpSpPr>
          <p:nvPr/>
        </p:nvGrpSpPr>
        <p:grpSpPr bwMode="auto">
          <a:xfrm>
            <a:off x="4953000" y="1317625"/>
            <a:ext cx="4343400" cy="3025775"/>
            <a:chOff x="3264" y="384"/>
            <a:chExt cx="2736" cy="1906"/>
          </a:xfrm>
        </p:grpSpPr>
        <p:sp>
          <p:nvSpPr>
            <p:cNvPr id="20" name="Oval 8"/>
            <p:cNvSpPr>
              <a:spLocks noChangeArrowheads="1"/>
            </p:cNvSpPr>
            <p:nvPr/>
          </p:nvSpPr>
          <p:spPr bwMode="auto">
            <a:xfrm>
              <a:off x="4469" y="503"/>
              <a:ext cx="295"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1" name="Text Box 9"/>
            <p:cNvSpPr txBox="1">
              <a:spLocks noChangeArrowheads="1"/>
            </p:cNvSpPr>
            <p:nvPr/>
          </p:nvSpPr>
          <p:spPr bwMode="auto">
            <a:xfrm>
              <a:off x="4392" y="432"/>
              <a:ext cx="535"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200" b="1" i="0" u="none" strike="noStrike" kern="0" cap="none" spc="0" normalizeH="0" baseline="0" noProof="0">
                  <a:ln>
                    <a:noFill/>
                  </a:ln>
                  <a:solidFill>
                    <a:srgbClr val="FF0000"/>
                  </a:solidFill>
                  <a:effectLst/>
                  <a:uLnTx/>
                  <a:uFillTx/>
                  <a:latin typeface="黑体" pitchFamily="2" charset="-122"/>
                  <a:ea typeface="黑体" pitchFamily="2" charset="-122"/>
                </a:rPr>
                <a:t>A</a:t>
              </a:r>
            </a:p>
          </p:txBody>
        </p:sp>
        <p:sp>
          <p:nvSpPr>
            <p:cNvPr id="22" name="Oval 10"/>
            <p:cNvSpPr>
              <a:spLocks noChangeArrowheads="1"/>
            </p:cNvSpPr>
            <p:nvPr/>
          </p:nvSpPr>
          <p:spPr bwMode="auto">
            <a:xfrm>
              <a:off x="5542" y="1320"/>
              <a:ext cx="295"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3" name="Text Box 11"/>
            <p:cNvSpPr txBox="1">
              <a:spLocks noChangeArrowheads="1"/>
            </p:cNvSpPr>
            <p:nvPr/>
          </p:nvSpPr>
          <p:spPr bwMode="auto">
            <a:xfrm>
              <a:off x="5465" y="1249"/>
              <a:ext cx="535"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00"/>
                  </a:solidFill>
                  <a:effectLst/>
                  <a:uLnTx/>
                  <a:uFillTx/>
                  <a:latin typeface="黑体" pitchFamily="2" charset="-122"/>
                  <a:ea typeface="黑体" pitchFamily="2" charset="-122"/>
                </a:rPr>
                <a:t>F</a:t>
              </a:r>
            </a:p>
          </p:txBody>
        </p:sp>
        <p:sp>
          <p:nvSpPr>
            <p:cNvPr id="24" name="Oval 12"/>
            <p:cNvSpPr>
              <a:spLocks noChangeArrowheads="1"/>
            </p:cNvSpPr>
            <p:nvPr/>
          </p:nvSpPr>
          <p:spPr bwMode="auto">
            <a:xfrm>
              <a:off x="3888" y="1835"/>
              <a:ext cx="296"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5" name="Text Box 13"/>
            <p:cNvSpPr txBox="1">
              <a:spLocks noChangeArrowheads="1"/>
            </p:cNvSpPr>
            <p:nvPr/>
          </p:nvSpPr>
          <p:spPr bwMode="auto">
            <a:xfrm>
              <a:off x="3810" y="1764"/>
              <a:ext cx="536"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G</a:t>
              </a:r>
            </a:p>
          </p:txBody>
        </p:sp>
        <p:sp>
          <p:nvSpPr>
            <p:cNvPr id="26" name="Oval 14"/>
            <p:cNvSpPr>
              <a:spLocks noChangeArrowheads="1"/>
            </p:cNvSpPr>
            <p:nvPr/>
          </p:nvSpPr>
          <p:spPr bwMode="auto">
            <a:xfrm>
              <a:off x="4246" y="1385"/>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7" name="Text Box 15"/>
            <p:cNvSpPr txBox="1">
              <a:spLocks noChangeArrowheads="1"/>
            </p:cNvSpPr>
            <p:nvPr/>
          </p:nvSpPr>
          <p:spPr bwMode="auto">
            <a:xfrm>
              <a:off x="4169" y="1314"/>
              <a:ext cx="535"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E</a:t>
              </a:r>
            </a:p>
          </p:txBody>
        </p:sp>
        <p:sp>
          <p:nvSpPr>
            <p:cNvPr id="28" name="Oval 16"/>
            <p:cNvSpPr>
              <a:spLocks noChangeArrowheads="1"/>
            </p:cNvSpPr>
            <p:nvPr/>
          </p:nvSpPr>
          <p:spPr bwMode="auto">
            <a:xfrm>
              <a:off x="3486" y="1385"/>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9" name="Text Box 17"/>
            <p:cNvSpPr txBox="1">
              <a:spLocks noChangeArrowheads="1"/>
            </p:cNvSpPr>
            <p:nvPr/>
          </p:nvSpPr>
          <p:spPr bwMode="auto">
            <a:xfrm>
              <a:off x="3408" y="1314"/>
              <a:ext cx="535"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D</a:t>
              </a:r>
            </a:p>
          </p:txBody>
        </p:sp>
        <p:sp>
          <p:nvSpPr>
            <p:cNvPr id="30" name="Oval 18"/>
            <p:cNvSpPr>
              <a:spLocks noChangeArrowheads="1"/>
            </p:cNvSpPr>
            <p:nvPr/>
          </p:nvSpPr>
          <p:spPr bwMode="auto">
            <a:xfrm>
              <a:off x="5095" y="911"/>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31" name="Text Box 19"/>
            <p:cNvSpPr txBox="1">
              <a:spLocks noChangeArrowheads="1"/>
            </p:cNvSpPr>
            <p:nvPr/>
          </p:nvSpPr>
          <p:spPr bwMode="auto">
            <a:xfrm>
              <a:off x="5016" y="840"/>
              <a:ext cx="537"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200" b="1" i="0" u="none" strike="noStrike" kern="0" cap="none" spc="0" normalizeH="0" baseline="0" noProof="0">
                  <a:ln>
                    <a:noFill/>
                  </a:ln>
                  <a:solidFill>
                    <a:srgbClr val="000000"/>
                  </a:solidFill>
                  <a:effectLst/>
                  <a:uLnTx/>
                  <a:uFillTx/>
                  <a:latin typeface="黑体" pitchFamily="2" charset="-122"/>
                  <a:ea typeface="黑体" pitchFamily="2" charset="-122"/>
                </a:rPr>
                <a:t>C</a:t>
              </a:r>
            </a:p>
          </p:txBody>
        </p:sp>
        <p:sp>
          <p:nvSpPr>
            <p:cNvPr id="32" name="Oval 20"/>
            <p:cNvSpPr>
              <a:spLocks noChangeArrowheads="1"/>
            </p:cNvSpPr>
            <p:nvPr/>
          </p:nvSpPr>
          <p:spPr bwMode="auto">
            <a:xfrm>
              <a:off x="3888" y="952"/>
              <a:ext cx="296"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33" name="Text Box 21"/>
            <p:cNvSpPr txBox="1">
              <a:spLocks noChangeArrowheads="1"/>
            </p:cNvSpPr>
            <p:nvPr/>
          </p:nvSpPr>
          <p:spPr bwMode="auto">
            <a:xfrm>
              <a:off x="3810" y="881"/>
              <a:ext cx="536"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B</a:t>
              </a:r>
            </a:p>
          </p:txBody>
        </p:sp>
        <p:sp>
          <p:nvSpPr>
            <p:cNvPr id="34" name="Line 22"/>
            <p:cNvSpPr>
              <a:spLocks noChangeShapeType="1"/>
            </p:cNvSpPr>
            <p:nvPr/>
          </p:nvSpPr>
          <p:spPr bwMode="auto">
            <a:xfrm flipH="1">
              <a:off x="4123" y="718"/>
              <a:ext cx="358" cy="245"/>
            </a:xfrm>
            <a:prstGeom prst="line">
              <a:avLst/>
            </a:prstGeom>
            <a:noFill/>
            <a:ln w="38100" cap="rnd">
              <a:solidFill>
                <a:srgbClr val="FFFF66"/>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5" name="Line 23"/>
            <p:cNvSpPr>
              <a:spLocks noChangeShapeType="1"/>
            </p:cNvSpPr>
            <p:nvPr/>
          </p:nvSpPr>
          <p:spPr bwMode="auto">
            <a:xfrm>
              <a:off x="4749" y="718"/>
              <a:ext cx="357" cy="243"/>
            </a:xfrm>
            <a:prstGeom prst="line">
              <a:avLst/>
            </a:prstGeom>
            <a:noFill/>
            <a:ln w="38100" cap="rnd">
              <a:solidFill>
                <a:srgbClr val="FFFF66"/>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6" name="Line 24"/>
            <p:cNvSpPr>
              <a:spLocks noChangeShapeType="1"/>
            </p:cNvSpPr>
            <p:nvPr/>
          </p:nvSpPr>
          <p:spPr bwMode="auto">
            <a:xfrm>
              <a:off x="4168" y="1176"/>
              <a:ext cx="223" cy="205"/>
            </a:xfrm>
            <a:prstGeom prst="line">
              <a:avLst/>
            </a:prstGeom>
            <a:noFill/>
            <a:ln w="38100" cap="rnd">
              <a:solidFill>
                <a:srgbClr val="FFFF66"/>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7" name="Line 25"/>
            <p:cNvSpPr>
              <a:spLocks noChangeShapeType="1"/>
            </p:cNvSpPr>
            <p:nvPr/>
          </p:nvSpPr>
          <p:spPr bwMode="auto">
            <a:xfrm flipH="1">
              <a:off x="4078" y="1626"/>
              <a:ext cx="227" cy="204"/>
            </a:xfrm>
            <a:prstGeom prst="line">
              <a:avLst/>
            </a:prstGeom>
            <a:noFill/>
            <a:ln w="38100" cap="rnd">
              <a:solidFill>
                <a:srgbClr val="FFFF66"/>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8" name="Line 26"/>
            <p:cNvSpPr>
              <a:spLocks noChangeShapeType="1"/>
            </p:cNvSpPr>
            <p:nvPr/>
          </p:nvSpPr>
          <p:spPr bwMode="auto">
            <a:xfrm flipH="1">
              <a:off x="3676" y="1176"/>
              <a:ext cx="226" cy="205"/>
            </a:xfrm>
            <a:prstGeom prst="line">
              <a:avLst/>
            </a:prstGeom>
            <a:noFill/>
            <a:ln w="38100" cap="rnd">
              <a:solidFill>
                <a:srgbClr val="FFFF66"/>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9" name="Line 27"/>
            <p:cNvSpPr>
              <a:spLocks noChangeShapeType="1"/>
            </p:cNvSpPr>
            <p:nvPr/>
          </p:nvSpPr>
          <p:spPr bwMode="auto">
            <a:xfrm>
              <a:off x="5375" y="1127"/>
              <a:ext cx="223" cy="204"/>
            </a:xfrm>
            <a:prstGeom prst="line">
              <a:avLst/>
            </a:prstGeom>
            <a:noFill/>
            <a:ln w="38100" cap="rnd">
              <a:solidFill>
                <a:srgbClr val="FFFF66"/>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40" name="Oval 28"/>
            <p:cNvSpPr>
              <a:spLocks noChangeArrowheads="1"/>
            </p:cNvSpPr>
            <p:nvPr/>
          </p:nvSpPr>
          <p:spPr bwMode="auto">
            <a:xfrm>
              <a:off x="3264" y="754"/>
              <a:ext cx="1392" cy="1536"/>
            </a:xfrm>
            <a:prstGeom prst="ellipse">
              <a:avLst/>
            </a:prstGeom>
            <a:noFill/>
            <a:ln w="12700" cap="rnd">
              <a:solidFill>
                <a:srgbClr val="0F6FC6"/>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41" name="Oval 29"/>
            <p:cNvSpPr>
              <a:spLocks noChangeArrowheads="1"/>
            </p:cNvSpPr>
            <p:nvPr/>
          </p:nvSpPr>
          <p:spPr bwMode="auto">
            <a:xfrm>
              <a:off x="4944" y="768"/>
              <a:ext cx="960" cy="1248"/>
            </a:xfrm>
            <a:prstGeom prst="ellips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42" name="Oval 30"/>
            <p:cNvSpPr>
              <a:spLocks noChangeArrowheads="1"/>
            </p:cNvSpPr>
            <p:nvPr/>
          </p:nvSpPr>
          <p:spPr bwMode="auto">
            <a:xfrm>
              <a:off x="4224" y="384"/>
              <a:ext cx="816" cy="528"/>
            </a:xfrm>
            <a:prstGeom prst="ellipse">
              <a:avLst/>
            </a:prstGeom>
            <a:noFill/>
            <a:ln w="12700" cap="rnd">
              <a:solidFill>
                <a:srgbClr val="FF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grpSp>
      <p:sp>
        <p:nvSpPr>
          <p:cNvPr id="43" name="Rectangle 31"/>
          <p:cNvSpPr>
            <a:spLocks noChangeArrowheads="1"/>
          </p:cNvSpPr>
          <p:nvPr/>
        </p:nvSpPr>
        <p:spPr bwMode="auto">
          <a:xfrm>
            <a:off x="5722937" y="4999037"/>
            <a:ext cx="485775" cy="519113"/>
          </a:xfrm>
          <a:prstGeom prst="rect">
            <a:avLst/>
          </a:prstGeom>
          <a:noFill/>
          <a:ln w="9525" algn="ctr">
            <a:noFill/>
            <a:miter lim="800000"/>
            <a:headEnd/>
            <a:tailEnd/>
          </a:ln>
        </p:spPr>
        <p:txBody>
          <a:bodyPr wrap="none">
            <a:spAutoFit/>
          </a:bodyPr>
          <a:lstStyle/>
          <a:p>
            <a:pPr marL="533400" indent="-533400" eaLnBrk="0" fontAlgn="base" hangingPunct="0">
              <a:spcBef>
                <a:spcPct val="50000"/>
              </a:spcBef>
              <a:spcAft>
                <a:spcPct val="0"/>
              </a:spcAft>
            </a:pPr>
            <a:r>
              <a:rPr kumimoji="1" lang="en-US" altLang="zh-CN" sz="2800" b="1">
                <a:solidFill>
                  <a:srgbClr val="000000"/>
                </a:solidFill>
                <a:latin typeface="Constantia" pitchFamily="18" charset="0"/>
              </a:rPr>
              <a:t>,F</a:t>
            </a:r>
          </a:p>
        </p:txBody>
      </p:sp>
      <p:sp>
        <p:nvSpPr>
          <p:cNvPr id="44" name="Oval 32"/>
          <p:cNvSpPr>
            <a:spLocks noChangeArrowheads="1"/>
          </p:cNvSpPr>
          <p:nvPr/>
        </p:nvSpPr>
        <p:spPr bwMode="auto">
          <a:xfrm>
            <a:off x="381000" y="3970337"/>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a:solidFill>
                  <a:srgbClr val="000000"/>
                </a:solidFill>
                <a:latin typeface="Times New Roman" pitchFamily="18" charset="0"/>
              </a:rPr>
              <a:t>例</a:t>
            </a:r>
          </a:p>
        </p:txBody>
      </p:sp>
      <p:sp>
        <p:nvSpPr>
          <p:cNvPr id="45" name="Rectangle 33"/>
          <p:cNvSpPr>
            <a:spLocks noChangeArrowheads="1"/>
          </p:cNvSpPr>
          <p:nvPr/>
        </p:nvSpPr>
        <p:spPr bwMode="auto">
          <a:xfrm>
            <a:off x="3201987" y="4856162"/>
            <a:ext cx="465138" cy="690563"/>
          </a:xfrm>
          <a:prstGeom prst="rect">
            <a:avLst/>
          </a:prstGeom>
          <a:noFill/>
          <a:ln w="9525" algn="ctr">
            <a:noFill/>
            <a:miter lim="800000"/>
            <a:headEnd/>
            <a:tailEnd/>
          </a:ln>
        </p:spPr>
        <p:txBody>
          <a:bodyPr wrap="none">
            <a:spAutoFit/>
          </a:bodyPr>
          <a:lstStyle/>
          <a:p>
            <a:pPr marL="533400" indent="-533400" fontAlgn="base">
              <a:lnSpc>
                <a:spcPct val="140000"/>
              </a:lnSpc>
              <a:spcBef>
                <a:spcPct val="20000"/>
              </a:spcBef>
              <a:spcAft>
                <a:spcPct val="0"/>
              </a:spcAft>
              <a:buClr>
                <a:srgbClr val="FFFF00"/>
              </a:buClr>
              <a:buSzPct val="95000"/>
              <a:buFont typeface="Wingdings" pitchFamily="2" charset="2"/>
              <a:buNone/>
            </a:pPr>
            <a:r>
              <a:rPr kumimoji="1" lang="en-US" altLang="zh-CN" sz="2800" b="1">
                <a:solidFill>
                  <a:srgbClr val="04617B"/>
                </a:solidFill>
                <a:latin typeface="Constantia" pitchFamily="18" charset="0"/>
              </a:rPr>
              <a:t>D</a:t>
            </a:r>
            <a:endParaRPr kumimoji="1" lang="zh-CN" altLang="en-US" sz="2800" b="1">
              <a:solidFill>
                <a:srgbClr val="04617B"/>
              </a:solidFill>
              <a:latin typeface="Constantia" pitchFamily="18" charset="0"/>
            </a:endParaRPr>
          </a:p>
        </p:txBody>
      </p:sp>
      <p:sp>
        <p:nvSpPr>
          <p:cNvPr id="46" name="Rectangle 34"/>
          <p:cNvSpPr>
            <a:spLocks noChangeArrowheads="1"/>
          </p:cNvSpPr>
          <p:nvPr/>
        </p:nvSpPr>
        <p:spPr bwMode="auto">
          <a:xfrm>
            <a:off x="3994150" y="4999037"/>
            <a:ext cx="549275" cy="519113"/>
          </a:xfrm>
          <a:prstGeom prst="rect">
            <a:avLst/>
          </a:prstGeom>
          <a:noFill/>
          <a:ln w="9525" algn="ctr">
            <a:noFill/>
            <a:miter lim="800000"/>
            <a:headEnd/>
            <a:tailEnd/>
          </a:ln>
        </p:spPr>
        <p:txBody>
          <a:bodyPr wrap="none">
            <a:spAutoFit/>
          </a:bodyPr>
          <a:lstStyle/>
          <a:p>
            <a:pPr marL="533400" indent="-533400" eaLnBrk="0" fontAlgn="base" hangingPunct="0">
              <a:spcBef>
                <a:spcPct val="50000"/>
              </a:spcBef>
              <a:spcAft>
                <a:spcPct val="0"/>
              </a:spcAft>
            </a:pPr>
            <a:r>
              <a:rPr kumimoji="1" lang="en-US" altLang="zh-CN" sz="2800" b="1">
                <a:solidFill>
                  <a:srgbClr val="04617B"/>
                </a:solidFill>
                <a:latin typeface="Constantia" pitchFamily="18" charset="0"/>
              </a:rPr>
              <a:t>,G</a:t>
            </a:r>
            <a:endParaRPr kumimoji="1" lang="en-US" altLang="zh-CN" sz="2800" b="1">
              <a:solidFill>
                <a:srgbClr val="000000"/>
              </a:solidFill>
              <a:latin typeface="Constantia" pitchFamily="18" charset="0"/>
            </a:endParaRPr>
          </a:p>
        </p:txBody>
      </p:sp>
      <p:sp>
        <p:nvSpPr>
          <p:cNvPr id="47" name="Rectangle 35"/>
          <p:cNvSpPr>
            <a:spLocks noChangeArrowheads="1"/>
          </p:cNvSpPr>
          <p:nvPr/>
        </p:nvSpPr>
        <p:spPr bwMode="auto">
          <a:xfrm>
            <a:off x="3562350" y="4999037"/>
            <a:ext cx="520700" cy="519113"/>
          </a:xfrm>
          <a:prstGeom prst="rect">
            <a:avLst/>
          </a:prstGeom>
          <a:noFill/>
          <a:ln w="9525" algn="ctr">
            <a:noFill/>
            <a:miter lim="800000"/>
            <a:headEnd/>
            <a:tailEnd/>
          </a:ln>
        </p:spPr>
        <p:txBody>
          <a:bodyPr wrap="none">
            <a:spAutoFit/>
          </a:bodyPr>
          <a:lstStyle/>
          <a:p>
            <a:pPr marL="533400" indent="-533400" eaLnBrk="0" fontAlgn="base" hangingPunct="0">
              <a:spcBef>
                <a:spcPct val="50000"/>
              </a:spcBef>
              <a:spcAft>
                <a:spcPct val="0"/>
              </a:spcAft>
            </a:pPr>
            <a:r>
              <a:rPr kumimoji="1" lang="en-US" altLang="zh-CN" sz="2800" b="1">
                <a:solidFill>
                  <a:srgbClr val="04617B"/>
                </a:solidFill>
                <a:latin typeface="Constantia" pitchFamily="18" charset="0"/>
              </a:rPr>
              <a:t>,B</a:t>
            </a:r>
            <a:endParaRPr kumimoji="1" lang="en-US" altLang="zh-CN" sz="2800" b="1">
              <a:solidFill>
                <a:srgbClr val="000000"/>
              </a:solidFill>
              <a:latin typeface="Constantia" pitchFamily="18" charset="0"/>
            </a:endParaRPr>
          </a:p>
        </p:txBody>
      </p:sp>
      <p:sp>
        <p:nvSpPr>
          <p:cNvPr id="48" name="Rectangle 36"/>
          <p:cNvSpPr>
            <a:spLocks noChangeArrowheads="1"/>
          </p:cNvSpPr>
          <p:nvPr/>
        </p:nvSpPr>
        <p:spPr bwMode="auto">
          <a:xfrm>
            <a:off x="4857750" y="4999037"/>
            <a:ext cx="523875" cy="519113"/>
          </a:xfrm>
          <a:prstGeom prst="rect">
            <a:avLst/>
          </a:prstGeom>
          <a:noFill/>
          <a:ln w="9525" algn="ctr">
            <a:noFill/>
            <a:miter lim="800000"/>
            <a:headEnd/>
            <a:tailEnd/>
          </a:ln>
        </p:spPr>
        <p:txBody>
          <a:bodyPr wrap="none">
            <a:spAutoFit/>
          </a:bodyPr>
          <a:lstStyle/>
          <a:p>
            <a:pPr marL="533400" indent="-533400" eaLnBrk="0" fontAlgn="base" hangingPunct="0">
              <a:spcBef>
                <a:spcPct val="50000"/>
              </a:spcBef>
              <a:spcAft>
                <a:spcPct val="0"/>
              </a:spcAft>
            </a:pPr>
            <a:r>
              <a:rPr kumimoji="1" lang="en-US" altLang="zh-CN" sz="2800" b="1">
                <a:solidFill>
                  <a:srgbClr val="04617B"/>
                </a:solidFill>
                <a:latin typeface="Constantia" pitchFamily="18" charset="0"/>
              </a:rPr>
              <a:t>,</a:t>
            </a:r>
            <a:r>
              <a:rPr kumimoji="1" lang="en-US" altLang="zh-CN" sz="2800" b="1">
                <a:solidFill>
                  <a:srgbClr val="FF3300"/>
                </a:solidFill>
                <a:latin typeface="Constantia" pitchFamily="18" charset="0"/>
              </a:rPr>
              <a:t>A</a:t>
            </a:r>
            <a:endParaRPr kumimoji="1" lang="en-US" altLang="zh-CN" sz="2800" b="1">
              <a:solidFill>
                <a:srgbClr val="000000"/>
              </a:solidFill>
              <a:latin typeface="Constantia" pitchFamily="18" charset="0"/>
            </a:endParaRPr>
          </a:p>
        </p:txBody>
      </p:sp>
      <p:sp>
        <p:nvSpPr>
          <p:cNvPr id="49" name="Rectangle 37"/>
          <p:cNvSpPr>
            <a:spLocks noChangeArrowheads="1"/>
          </p:cNvSpPr>
          <p:nvPr/>
        </p:nvSpPr>
        <p:spPr bwMode="auto">
          <a:xfrm>
            <a:off x="4425950" y="4999037"/>
            <a:ext cx="500062" cy="519113"/>
          </a:xfrm>
          <a:prstGeom prst="rect">
            <a:avLst/>
          </a:prstGeom>
          <a:noFill/>
          <a:ln w="9525" algn="ctr">
            <a:noFill/>
            <a:miter lim="800000"/>
            <a:headEnd/>
            <a:tailEnd/>
          </a:ln>
        </p:spPr>
        <p:txBody>
          <a:bodyPr wrap="none">
            <a:spAutoFit/>
          </a:bodyPr>
          <a:lstStyle/>
          <a:p>
            <a:pPr marL="533400" indent="-533400" eaLnBrk="0" fontAlgn="base" hangingPunct="0">
              <a:spcBef>
                <a:spcPct val="50000"/>
              </a:spcBef>
              <a:spcAft>
                <a:spcPct val="0"/>
              </a:spcAft>
            </a:pPr>
            <a:r>
              <a:rPr kumimoji="1" lang="en-US" altLang="zh-CN" sz="2800" b="1">
                <a:solidFill>
                  <a:srgbClr val="04617B"/>
                </a:solidFill>
                <a:latin typeface="Constantia" pitchFamily="18" charset="0"/>
              </a:rPr>
              <a:t>,E</a:t>
            </a:r>
            <a:endParaRPr kumimoji="1" lang="en-US" altLang="zh-CN" sz="2800" b="1">
              <a:solidFill>
                <a:srgbClr val="000000"/>
              </a:solidFill>
              <a:latin typeface="Constantia" pitchFamily="18" charset="0"/>
            </a:endParaRPr>
          </a:p>
        </p:txBody>
      </p:sp>
      <p:sp>
        <p:nvSpPr>
          <p:cNvPr id="50" name="Rectangle 38"/>
          <p:cNvSpPr>
            <a:spLocks noChangeArrowheads="1"/>
          </p:cNvSpPr>
          <p:nvPr/>
        </p:nvSpPr>
        <p:spPr bwMode="auto">
          <a:xfrm>
            <a:off x="5218112" y="4999037"/>
            <a:ext cx="520700" cy="519113"/>
          </a:xfrm>
          <a:prstGeom prst="rect">
            <a:avLst/>
          </a:prstGeom>
          <a:noFill/>
          <a:ln w="9525" algn="ctr">
            <a:noFill/>
            <a:miter lim="800000"/>
            <a:headEnd/>
            <a:tailEnd/>
          </a:ln>
        </p:spPr>
        <p:txBody>
          <a:bodyPr wrap="none">
            <a:spAutoFit/>
          </a:bodyPr>
          <a:lstStyle/>
          <a:p>
            <a:pPr marL="533400" indent="-533400" eaLnBrk="0" fontAlgn="base" hangingPunct="0">
              <a:spcBef>
                <a:spcPct val="50000"/>
              </a:spcBef>
              <a:spcAft>
                <a:spcPct val="0"/>
              </a:spcAft>
            </a:pPr>
            <a:r>
              <a:rPr kumimoji="1" lang="en-US" altLang="zh-CN" sz="2800" b="1">
                <a:solidFill>
                  <a:srgbClr val="000000"/>
                </a:solidFill>
                <a:latin typeface="Constantia" pitchFamily="18" charset="0"/>
              </a:rPr>
              <a:t>,C</a:t>
            </a:r>
          </a:p>
        </p:txBody>
      </p:sp>
    </p:spTree>
    <p:extLst>
      <p:ext uri="{BB962C8B-B14F-4D97-AF65-F5344CB8AC3E}">
        <p14:creationId xmlns:p14="http://schemas.microsoft.com/office/powerpoint/2010/main" val="417403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P spid="43" grpId="0"/>
      <p:bldP spid="44" grpId="0" animBg="1"/>
      <p:bldP spid="45" grpId="0"/>
      <p:bldP spid="46" grpId="0"/>
      <p:bldP spid="47" grpId="0"/>
      <p:bldP spid="48" grpId="0"/>
      <p:bldP spid="49" grpId="0"/>
      <p:bldP spid="5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5.3.1  </a:t>
            </a:r>
            <a:r>
              <a:rPr kumimoji="1" lang="zh-CN" altLang="en-US" sz="3200" b="1" dirty="0">
                <a:latin typeface="Arial" charset="0"/>
                <a:ea typeface="宋体" charset="-122"/>
                <a:cs typeface="+mn-cs"/>
              </a:rPr>
              <a:t>二叉树的遍历方法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         </a:t>
            </a:r>
            <a:r>
              <a:rPr lang="zh-CN" altLang="en-US" sz="2400" b="1" dirty="0"/>
              <a:t>表达式 </a:t>
            </a:r>
            <a:r>
              <a:rPr lang="en-US" altLang="zh-CN" sz="2400" b="1" dirty="0" err="1"/>
              <a:t>a+b</a:t>
            </a:r>
            <a:r>
              <a:rPr lang="en-US" altLang="zh-CN" sz="2400" b="1" dirty="0"/>
              <a:t>*(c-d)-e/f  </a:t>
            </a:r>
            <a:r>
              <a:rPr lang="zh-CN" altLang="en-US" sz="2400" b="1" dirty="0"/>
              <a:t>用二叉树表示如下：</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0C8D082D-38B2-4D2B-9799-237CE01D0903}"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50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Oval 64"/>
          <p:cNvSpPr>
            <a:spLocks noChangeArrowheads="1"/>
          </p:cNvSpPr>
          <p:nvPr/>
        </p:nvSpPr>
        <p:spPr bwMode="auto">
          <a:xfrm>
            <a:off x="381000" y="1219200"/>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dirty="0">
                <a:solidFill>
                  <a:srgbClr val="000000"/>
                </a:solidFill>
                <a:latin typeface="Times New Roman" pitchFamily="18" charset="0"/>
              </a:rPr>
              <a:t>练习</a:t>
            </a:r>
          </a:p>
        </p:txBody>
      </p:sp>
      <p:grpSp>
        <p:nvGrpSpPr>
          <p:cNvPr id="14" name="Group 67"/>
          <p:cNvGrpSpPr>
            <a:grpSpLocks/>
          </p:cNvGrpSpPr>
          <p:nvPr/>
        </p:nvGrpSpPr>
        <p:grpSpPr bwMode="auto">
          <a:xfrm>
            <a:off x="1885950" y="1649412"/>
            <a:ext cx="4724400" cy="3373438"/>
            <a:chOff x="1488" y="670"/>
            <a:chExt cx="2976" cy="2125"/>
          </a:xfrm>
        </p:grpSpPr>
        <p:sp>
          <p:nvSpPr>
            <p:cNvPr id="15" name="Line 39"/>
            <p:cNvSpPr>
              <a:spLocks noChangeShapeType="1"/>
            </p:cNvSpPr>
            <p:nvPr/>
          </p:nvSpPr>
          <p:spPr bwMode="auto">
            <a:xfrm flipH="1">
              <a:off x="2304" y="946"/>
              <a:ext cx="528" cy="321"/>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6" name="Line 40"/>
            <p:cNvSpPr>
              <a:spLocks noChangeShapeType="1"/>
            </p:cNvSpPr>
            <p:nvPr/>
          </p:nvSpPr>
          <p:spPr bwMode="auto">
            <a:xfrm>
              <a:off x="3120" y="946"/>
              <a:ext cx="480" cy="27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7" name="Line 41"/>
            <p:cNvSpPr>
              <a:spLocks noChangeShapeType="1"/>
            </p:cNvSpPr>
            <p:nvPr/>
          </p:nvSpPr>
          <p:spPr bwMode="auto">
            <a:xfrm flipH="1">
              <a:off x="2256" y="1864"/>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9" name="Line 42"/>
            <p:cNvSpPr>
              <a:spLocks noChangeShapeType="1"/>
            </p:cNvSpPr>
            <p:nvPr/>
          </p:nvSpPr>
          <p:spPr bwMode="auto">
            <a:xfrm>
              <a:off x="2304" y="1405"/>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0" name="Line 43"/>
            <p:cNvSpPr>
              <a:spLocks noChangeShapeType="1"/>
            </p:cNvSpPr>
            <p:nvPr/>
          </p:nvSpPr>
          <p:spPr bwMode="auto">
            <a:xfrm flipH="1">
              <a:off x="1824" y="1405"/>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1" name="Line 44"/>
            <p:cNvSpPr>
              <a:spLocks noChangeShapeType="1"/>
            </p:cNvSpPr>
            <p:nvPr/>
          </p:nvSpPr>
          <p:spPr bwMode="auto">
            <a:xfrm>
              <a:off x="2736" y="1864"/>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2" name="Line 45"/>
            <p:cNvSpPr>
              <a:spLocks noChangeShapeType="1"/>
            </p:cNvSpPr>
            <p:nvPr/>
          </p:nvSpPr>
          <p:spPr bwMode="auto">
            <a:xfrm flipH="1">
              <a:off x="2736" y="2277"/>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 name="Line 46"/>
            <p:cNvSpPr>
              <a:spLocks noChangeShapeType="1"/>
            </p:cNvSpPr>
            <p:nvPr/>
          </p:nvSpPr>
          <p:spPr bwMode="auto">
            <a:xfrm>
              <a:off x="3168" y="2277"/>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4" name="Line 47"/>
            <p:cNvSpPr>
              <a:spLocks noChangeShapeType="1"/>
            </p:cNvSpPr>
            <p:nvPr/>
          </p:nvSpPr>
          <p:spPr bwMode="auto">
            <a:xfrm flipH="1">
              <a:off x="3360" y="1405"/>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Line 48"/>
            <p:cNvSpPr>
              <a:spLocks noChangeShapeType="1"/>
            </p:cNvSpPr>
            <p:nvPr/>
          </p:nvSpPr>
          <p:spPr bwMode="auto">
            <a:xfrm>
              <a:off x="3840" y="1405"/>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Oval 9"/>
            <p:cNvSpPr>
              <a:spLocks noChangeArrowheads="1"/>
            </p:cNvSpPr>
            <p:nvPr/>
          </p:nvSpPr>
          <p:spPr bwMode="auto">
            <a:xfrm>
              <a:off x="3288" y="2481"/>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7" name="Text Box 10"/>
            <p:cNvSpPr txBox="1">
              <a:spLocks noChangeArrowheads="1"/>
            </p:cNvSpPr>
            <p:nvPr/>
          </p:nvSpPr>
          <p:spPr bwMode="auto">
            <a:xfrm>
              <a:off x="3168" y="2391"/>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d</a:t>
              </a:r>
            </a:p>
          </p:txBody>
        </p:sp>
        <p:sp>
          <p:nvSpPr>
            <p:cNvPr id="28" name="Oval 6"/>
            <p:cNvSpPr>
              <a:spLocks noChangeArrowheads="1"/>
            </p:cNvSpPr>
            <p:nvPr/>
          </p:nvSpPr>
          <p:spPr bwMode="auto">
            <a:xfrm>
              <a:off x="3192" y="1653"/>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9" name="Text Box 7"/>
            <p:cNvSpPr txBox="1">
              <a:spLocks noChangeArrowheads="1"/>
            </p:cNvSpPr>
            <p:nvPr/>
          </p:nvSpPr>
          <p:spPr bwMode="auto">
            <a:xfrm>
              <a:off x="3072" y="1543"/>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e</a:t>
              </a:r>
            </a:p>
          </p:txBody>
        </p:sp>
        <p:sp>
          <p:nvSpPr>
            <p:cNvPr id="30" name="Oval 12"/>
            <p:cNvSpPr>
              <a:spLocks noChangeArrowheads="1"/>
            </p:cNvSpPr>
            <p:nvPr/>
          </p:nvSpPr>
          <p:spPr bwMode="auto">
            <a:xfrm>
              <a:off x="2520" y="2479"/>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1" name="Text Box 13"/>
            <p:cNvSpPr txBox="1">
              <a:spLocks noChangeArrowheads="1"/>
            </p:cNvSpPr>
            <p:nvPr/>
          </p:nvSpPr>
          <p:spPr bwMode="auto">
            <a:xfrm>
              <a:off x="2400" y="2369"/>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c</a:t>
              </a:r>
            </a:p>
          </p:txBody>
        </p:sp>
        <p:sp>
          <p:nvSpPr>
            <p:cNvPr id="32" name="Oval 15"/>
            <p:cNvSpPr>
              <a:spLocks noChangeArrowheads="1"/>
            </p:cNvSpPr>
            <p:nvPr/>
          </p:nvSpPr>
          <p:spPr bwMode="auto">
            <a:xfrm>
              <a:off x="2088" y="2088"/>
              <a:ext cx="272" cy="247"/>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3" name="Text Box 16"/>
            <p:cNvSpPr txBox="1">
              <a:spLocks noChangeArrowheads="1"/>
            </p:cNvSpPr>
            <p:nvPr/>
          </p:nvSpPr>
          <p:spPr bwMode="auto">
            <a:xfrm>
              <a:off x="1968" y="2002"/>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b</a:t>
              </a:r>
            </a:p>
          </p:txBody>
        </p:sp>
        <p:sp>
          <p:nvSpPr>
            <p:cNvPr id="34" name="Oval 18"/>
            <p:cNvSpPr>
              <a:spLocks noChangeArrowheads="1"/>
            </p:cNvSpPr>
            <p:nvPr/>
          </p:nvSpPr>
          <p:spPr bwMode="auto">
            <a:xfrm>
              <a:off x="4008" y="1633"/>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5" name="Text Box 19"/>
            <p:cNvSpPr txBox="1">
              <a:spLocks noChangeArrowheads="1"/>
            </p:cNvSpPr>
            <p:nvPr/>
          </p:nvSpPr>
          <p:spPr bwMode="auto">
            <a:xfrm>
              <a:off x="3888" y="1543"/>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f</a:t>
              </a:r>
            </a:p>
          </p:txBody>
        </p:sp>
        <p:sp>
          <p:nvSpPr>
            <p:cNvPr id="36" name="Oval 21"/>
            <p:cNvSpPr>
              <a:spLocks noChangeArrowheads="1"/>
            </p:cNvSpPr>
            <p:nvPr/>
          </p:nvSpPr>
          <p:spPr bwMode="auto">
            <a:xfrm>
              <a:off x="1608" y="1607"/>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7" name="Text Box 22"/>
            <p:cNvSpPr txBox="1">
              <a:spLocks noChangeArrowheads="1"/>
            </p:cNvSpPr>
            <p:nvPr/>
          </p:nvSpPr>
          <p:spPr bwMode="auto">
            <a:xfrm>
              <a:off x="1488" y="1497"/>
              <a:ext cx="576" cy="40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a</a:t>
              </a:r>
            </a:p>
          </p:txBody>
        </p:sp>
        <p:sp>
          <p:nvSpPr>
            <p:cNvPr id="38" name="Oval 24"/>
            <p:cNvSpPr>
              <a:spLocks noChangeArrowheads="1"/>
            </p:cNvSpPr>
            <p:nvPr/>
          </p:nvSpPr>
          <p:spPr bwMode="auto">
            <a:xfrm>
              <a:off x="2029" y="1165"/>
              <a:ext cx="272" cy="261"/>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9" name="Text Box 25"/>
            <p:cNvSpPr txBox="1">
              <a:spLocks noChangeArrowheads="1"/>
            </p:cNvSpPr>
            <p:nvPr/>
          </p:nvSpPr>
          <p:spPr bwMode="auto">
            <a:xfrm>
              <a:off x="1920" y="1083"/>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sp>
          <p:nvSpPr>
            <p:cNvPr id="40" name="Oval 27"/>
            <p:cNvSpPr>
              <a:spLocks noChangeArrowheads="1"/>
            </p:cNvSpPr>
            <p:nvPr/>
          </p:nvSpPr>
          <p:spPr bwMode="auto">
            <a:xfrm>
              <a:off x="2461" y="1625"/>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1" name="Text Box 28"/>
            <p:cNvSpPr txBox="1">
              <a:spLocks noChangeArrowheads="1"/>
            </p:cNvSpPr>
            <p:nvPr/>
          </p:nvSpPr>
          <p:spPr bwMode="auto">
            <a:xfrm>
              <a:off x="2352" y="1543"/>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sp>
          <p:nvSpPr>
            <p:cNvPr id="42" name="Oval 30"/>
            <p:cNvSpPr>
              <a:spLocks noChangeArrowheads="1"/>
            </p:cNvSpPr>
            <p:nvPr/>
          </p:nvSpPr>
          <p:spPr bwMode="auto">
            <a:xfrm>
              <a:off x="3565" y="1188"/>
              <a:ext cx="272" cy="261"/>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3" name="Text Box 31"/>
            <p:cNvSpPr txBox="1">
              <a:spLocks noChangeArrowheads="1"/>
            </p:cNvSpPr>
            <p:nvPr/>
          </p:nvSpPr>
          <p:spPr bwMode="auto">
            <a:xfrm>
              <a:off x="3456" y="1106"/>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sp>
          <p:nvSpPr>
            <p:cNvPr id="44" name="Oval 33"/>
            <p:cNvSpPr>
              <a:spLocks noChangeArrowheads="1"/>
            </p:cNvSpPr>
            <p:nvPr/>
          </p:nvSpPr>
          <p:spPr bwMode="auto">
            <a:xfrm>
              <a:off x="2941" y="2038"/>
              <a:ext cx="272" cy="261"/>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5" name="Text Box 34"/>
            <p:cNvSpPr txBox="1">
              <a:spLocks noChangeArrowheads="1"/>
            </p:cNvSpPr>
            <p:nvPr/>
          </p:nvSpPr>
          <p:spPr bwMode="auto">
            <a:xfrm>
              <a:off x="2832" y="1956"/>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grpSp>
          <p:nvGrpSpPr>
            <p:cNvPr id="46" name="Group 35"/>
            <p:cNvGrpSpPr>
              <a:grpSpLocks/>
            </p:cNvGrpSpPr>
            <p:nvPr/>
          </p:nvGrpSpPr>
          <p:grpSpPr bwMode="auto">
            <a:xfrm>
              <a:off x="2736" y="670"/>
              <a:ext cx="576" cy="404"/>
              <a:chOff x="2552" y="3101"/>
              <a:chExt cx="576" cy="422"/>
            </a:xfrm>
          </p:grpSpPr>
          <p:sp>
            <p:nvSpPr>
              <p:cNvPr id="47" name="Oval 36"/>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8" name="Text Box 37"/>
              <p:cNvSpPr txBox="1">
                <a:spLocks noChangeArrowheads="1"/>
              </p:cNvSpPr>
              <p:nvPr/>
            </p:nvSpPr>
            <p:spPr bwMode="auto">
              <a:xfrm>
                <a:off x="2552" y="3101"/>
                <a:ext cx="576" cy="42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grpSp>
      </p:grpSp>
      <p:sp>
        <p:nvSpPr>
          <p:cNvPr id="49" name="Text Box 56"/>
          <p:cNvSpPr txBox="1">
            <a:spLocks noChangeArrowheads="1"/>
          </p:cNvSpPr>
          <p:nvPr/>
        </p:nvSpPr>
        <p:spPr bwMode="auto">
          <a:xfrm>
            <a:off x="1219200" y="5727700"/>
            <a:ext cx="3686175" cy="519112"/>
          </a:xfrm>
          <a:prstGeom prst="rect">
            <a:avLst/>
          </a:prstGeom>
          <a:noFill/>
          <a:ln w="12700" cap="rnd">
            <a:noFill/>
            <a:miter lim="800000"/>
            <a:headEnd/>
            <a:tailEnd/>
          </a:ln>
        </p:spPr>
        <p:txBody>
          <a:bodyPr>
            <a:spAutoFit/>
          </a:bodyPr>
          <a:lstStyle/>
          <a:p>
            <a:pPr eaLnBrk="0" fontAlgn="base" hangingPunct="0">
              <a:spcBef>
                <a:spcPct val="20000"/>
              </a:spcBef>
              <a:spcAft>
                <a:spcPct val="0"/>
              </a:spcAft>
            </a:pPr>
            <a:r>
              <a:rPr kumimoji="1" lang="zh-CN" altLang="en-US" sz="2800">
                <a:solidFill>
                  <a:srgbClr val="0000FF"/>
                </a:solidFill>
                <a:latin typeface="黑体" pitchFamily="2" charset="-122"/>
                <a:ea typeface="黑体" pitchFamily="2" charset="-122"/>
              </a:rPr>
              <a:t> </a:t>
            </a:r>
            <a:r>
              <a:rPr kumimoji="1" lang="zh-CN" altLang="en-US" sz="2800" b="1">
                <a:solidFill>
                  <a:srgbClr val="0000FF"/>
                </a:solidFill>
                <a:latin typeface="宋体" pitchFamily="2" charset="-122"/>
              </a:rPr>
              <a:t>中序 </a:t>
            </a:r>
            <a:r>
              <a:rPr kumimoji="1" lang="en-US" altLang="zh-CN" sz="2800" b="1">
                <a:solidFill>
                  <a:srgbClr val="0000FF"/>
                </a:solidFill>
                <a:latin typeface="宋体" pitchFamily="2" charset="-122"/>
              </a:rPr>
              <a:t>a+b*c-d</a:t>
            </a:r>
            <a:r>
              <a:rPr kumimoji="1" lang="en-US" altLang="zh-CN" sz="2800" b="1">
                <a:solidFill>
                  <a:srgbClr val="FF3300"/>
                </a:solidFill>
                <a:latin typeface="宋体" pitchFamily="2" charset="-122"/>
              </a:rPr>
              <a:t>-</a:t>
            </a:r>
            <a:r>
              <a:rPr kumimoji="1" lang="en-US" altLang="zh-CN" sz="2800" b="1">
                <a:solidFill>
                  <a:srgbClr val="000000"/>
                </a:solidFill>
                <a:latin typeface="宋体" pitchFamily="2" charset="-122"/>
              </a:rPr>
              <a:t>e/f</a:t>
            </a:r>
          </a:p>
        </p:txBody>
      </p:sp>
      <p:sp>
        <p:nvSpPr>
          <p:cNvPr id="50" name="Text Box 56"/>
          <p:cNvSpPr txBox="1">
            <a:spLocks noChangeArrowheads="1"/>
          </p:cNvSpPr>
          <p:nvPr/>
        </p:nvSpPr>
        <p:spPr bwMode="auto">
          <a:xfrm>
            <a:off x="4905375" y="5729287"/>
            <a:ext cx="3686175" cy="519113"/>
          </a:xfrm>
          <a:prstGeom prst="rect">
            <a:avLst/>
          </a:prstGeom>
          <a:noFill/>
          <a:ln w="12700" cap="rnd">
            <a:noFill/>
            <a:miter lim="800000"/>
            <a:headEnd/>
            <a:tailEnd/>
          </a:ln>
        </p:spPr>
        <p:txBody>
          <a:bodyPr>
            <a:spAutoFit/>
          </a:bodyPr>
          <a:lstStyle/>
          <a:p>
            <a:pPr eaLnBrk="0" fontAlgn="base" hangingPunct="0">
              <a:spcBef>
                <a:spcPct val="20000"/>
              </a:spcBef>
              <a:spcAft>
                <a:spcPct val="0"/>
              </a:spcAft>
            </a:pPr>
            <a:r>
              <a:rPr kumimoji="1" lang="zh-CN" altLang="en-US" sz="2800">
                <a:solidFill>
                  <a:srgbClr val="0000FF"/>
                </a:solidFill>
                <a:latin typeface="黑体" pitchFamily="2" charset="-122"/>
                <a:ea typeface="黑体" pitchFamily="2" charset="-122"/>
              </a:rPr>
              <a:t> </a:t>
            </a:r>
            <a:r>
              <a:rPr kumimoji="1" lang="en-US" altLang="zh-CN" sz="2800">
                <a:solidFill>
                  <a:srgbClr val="0000FF"/>
                </a:solidFill>
                <a:latin typeface="黑体" pitchFamily="2" charset="-122"/>
                <a:ea typeface="黑体" pitchFamily="2" charset="-122"/>
              </a:rPr>
              <a:t>--- </a:t>
            </a:r>
            <a:r>
              <a:rPr kumimoji="1" lang="zh-CN" altLang="en-US" sz="2800" b="1">
                <a:solidFill>
                  <a:srgbClr val="0000FF"/>
                </a:solidFill>
                <a:latin typeface="宋体" pitchFamily="2" charset="-122"/>
              </a:rPr>
              <a:t>中缀表示</a:t>
            </a:r>
            <a:endParaRPr kumimoji="1" lang="en-US" altLang="zh-CN" sz="2800" b="1">
              <a:solidFill>
                <a:srgbClr val="000000"/>
              </a:solidFill>
              <a:latin typeface="宋体" pitchFamily="2" charset="-122"/>
            </a:endParaRPr>
          </a:p>
        </p:txBody>
      </p:sp>
    </p:spTree>
    <p:extLst>
      <p:ext uri="{BB962C8B-B14F-4D97-AF65-F5344CB8AC3E}">
        <p14:creationId xmlns:p14="http://schemas.microsoft.com/office/powerpoint/2010/main" val="3588108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5.3.1  </a:t>
            </a:r>
            <a:r>
              <a:rPr kumimoji="1" lang="zh-CN" altLang="en-US" sz="3200" b="1" dirty="0">
                <a:latin typeface="Arial" charset="0"/>
                <a:ea typeface="宋体" charset="-122"/>
                <a:cs typeface="+mn-cs"/>
              </a:rPr>
              <a:t>二叉树的遍历方法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kumimoji="1" lang="zh-CN" altLang="en-US" sz="2800" b="1" dirty="0">
                <a:solidFill>
                  <a:srgbClr val="6600FF"/>
                </a:solidFill>
                <a:latin typeface="宋体" pitchFamily="2" charset="-122"/>
                <a:ea typeface="宋体" pitchFamily="2" charset="-122"/>
              </a:rPr>
              <a:t>先序遍历</a:t>
            </a:r>
            <a:r>
              <a:rPr kumimoji="1" lang="zh-CN" altLang="en-US" sz="2800" b="1" dirty="0">
                <a:solidFill>
                  <a:srgbClr val="008000"/>
                </a:solidFill>
                <a:latin typeface="宋体" pitchFamily="2" charset="-122"/>
                <a:ea typeface="宋体" pitchFamily="2" charset="-122"/>
              </a:rPr>
              <a:t>（</a:t>
            </a:r>
            <a:r>
              <a:rPr kumimoji="1" lang="en-US" altLang="zh-CN" sz="2800" b="1" dirty="0">
                <a:solidFill>
                  <a:srgbClr val="008000"/>
                </a:solidFill>
                <a:latin typeface="宋体" pitchFamily="2" charset="-122"/>
                <a:ea typeface="宋体" pitchFamily="2" charset="-122"/>
              </a:rPr>
              <a:t>T L R）</a:t>
            </a:r>
            <a:endParaRPr lang="en-US" altLang="zh-CN" b="1" dirty="0"/>
          </a:p>
        </p:txBody>
      </p:sp>
      <p:sp>
        <p:nvSpPr>
          <p:cNvPr id="4" name="日期占位符 3"/>
          <p:cNvSpPr>
            <a:spLocks noGrp="1"/>
          </p:cNvSpPr>
          <p:nvPr>
            <p:ph type="dt" sz="half" idx="10"/>
          </p:nvPr>
        </p:nvSpPr>
        <p:spPr/>
        <p:txBody>
          <a:bodyPr/>
          <a:lstStyle/>
          <a:p>
            <a:fld id="{D1B347CC-3D85-4754-B348-EEDDE308C5DC}"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51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3"/>
          <p:cNvSpPr txBox="1">
            <a:spLocks noChangeArrowheads="1"/>
          </p:cNvSpPr>
          <p:nvPr/>
        </p:nvSpPr>
        <p:spPr bwMode="auto">
          <a:xfrm>
            <a:off x="577850" y="1668462"/>
            <a:ext cx="3816350" cy="1638300"/>
          </a:xfrm>
          <a:prstGeom prst="rect">
            <a:avLst/>
          </a:prstGeom>
          <a:noFill/>
          <a:ln w="12700" cap="rnd">
            <a:solidFill>
              <a:srgbClr val="04617B"/>
            </a:solidFill>
            <a:miter lim="800000"/>
            <a:headEnd/>
            <a:tailEnd/>
          </a:ln>
        </p:spPr>
        <p:txBody>
          <a:bodyPr>
            <a:spAutoFit/>
          </a:bodyPr>
          <a:lstStyle/>
          <a:p>
            <a:pPr marL="0" marR="0" lvl="0" indent="0" defTabSz="914400" eaLnBrk="0" fontAlgn="base" latinLnBrk="0" hangingPunct="0">
              <a:lnSpc>
                <a:spcPct val="100000"/>
              </a:lnSpc>
              <a:spcBef>
                <a:spcPct val="2000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宋体" pitchFamily="2" charset="-122"/>
              </a:rPr>
              <a:t> </a:t>
            </a:r>
            <a:r>
              <a:rPr kumimoji="1" lang="zh-CN" altLang="en-US" sz="2400" b="1" i="0" u="none" strike="noStrike" kern="0" cap="none" spc="0" normalizeH="0" baseline="0" noProof="0">
                <a:ln>
                  <a:noFill/>
                </a:ln>
                <a:solidFill>
                  <a:srgbClr val="0000FF"/>
                </a:solidFill>
                <a:effectLst/>
                <a:uLnTx/>
                <a:uFillTx/>
                <a:latin typeface="宋体" pitchFamily="2" charset="-122"/>
              </a:rPr>
              <a:t>若二叉树非空</a:t>
            </a:r>
            <a:br>
              <a:rPr kumimoji="1" lang="zh-CN" altLang="en-US" sz="2400" b="1" i="0" u="none" strike="noStrike" kern="0" cap="none" spc="0" normalizeH="0" baseline="0" noProof="0">
                <a:ln>
                  <a:noFill/>
                </a:ln>
                <a:solidFill>
                  <a:srgbClr val="0000FF"/>
                </a:solidFill>
                <a:effectLst/>
                <a:uLnTx/>
                <a:uFillTx/>
                <a:latin typeface="宋体" pitchFamily="2" charset="-122"/>
              </a:rPr>
            </a:br>
            <a:r>
              <a:rPr kumimoji="1" lang="zh-CN" altLang="en-US" sz="2400" b="1" i="0" u="none" strike="noStrike" kern="0" cap="none" spc="0" normalizeH="0" baseline="0" noProof="0">
                <a:ln>
                  <a:noFill/>
                </a:ln>
                <a:solidFill>
                  <a:srgbClr val="0000FF"/>
                </a:solidFill>
                <a:effectLst/>
                <a:uLnTx/>
                <a:uFillTx/>
                <a:latin typeface="宋体" pitchFamily="2" charset="-122"/>
              </a:rPr>
              <a:t> （1）访问根结点；</a:t>
            </a:r>
          </a:p>
          <a:p>
            <a:pPr marL="0" marR="0" lvl="0" indent="0" defTabSz="914400" eaLnBrk="0" fontAlgn="base" latinLnBrk="0" hangingPunct="0">
              <a:lnSpc>
                <a:spcPct val="100000"/>
              </a:lnSpc>
              <a:spcBef>
                <a:spcPct val="2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 （2）先序遍历左子树；</a:t>
            </a:r>
            <a:br>
              <a:rPr kumimoji="1" lang="zh-CN" altLang="en-US" sz="2400" b="1" i="0" u="none" strike="noStrike" kern="0" cap="none" spc="0" normalizeH="0" baseline="0" noProof="0">
                <a:ln>
                  <a:noFill/>
                </a:ln>
                <a:solidFill>
                  <a:srgbClr val="0000FF"/>
                </a:solidFill>
                <a:effectLst/>
                <a:uLnTx/>
                <a:uFillTx/>
                <a:latin typeface="宋体" pitchFamily="2" charset="-122"/>
              </a:rPr>
            </a:br>
            <a:r>
              <a:rPr kumimoji="1" lang="zh-CN" altLang="en-US" sz="2400" b="1" i="0" u="none" strike="noStrike" kern="0" cap="none" spc="0" normalizeH="0" baseline="0" noProof="0">
                <a:ln>
                  <a:noFill/>
                </a:ln>
                <a:solidFill>
                  <a:srgbClr val="0000FF"/>
                </a:solidFill>
                <a:effectLst/>
                <a:uLnTx/>
                <a:uFillTx/>
                <a:latin typeface="宋体" pitchFamily="2" charset="-122"/>
              </a:rPr>
              <a:t> （3）先序遍历右子树；</a:t>
            </a:r>
          </a:p>
        </p:txBody>
      </p:sp>
      <p:sp>
        <p:nvSpPr>
          <p:cNvPr id="14" name="Text Box 4"/>
          <p:cNvSpPr txBox="1">
            <a:spLocks noChangeArrowheads="1"/>
          </p:cNvSpPr>
          <p:nvPr/>
        </p:nvSpPr>
        <p:spPr bwMode="auto">
          <a:xfrm>
            <a:off x="304800" y="5538787"/>
            <a:ext cx="9906000" cy="6413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3600" b="1">
                <a:solidFill>
                  <a:srgbClr val="0000FF"/>
                </a:solidFill>
                <a:latin typeface="黑体" pitchFamily="2" charset="-122"/>
                <a:ea typeface="黑体" pitchFamily="2" charset="-122"/>
              </a:rPr>
              <a:t> </a:t>
            </a:r>
            <a:r>
              <a:rPr kumimoji="1" lang="zh-CN" altLang="en-US" sz="2400" b="1">
                <a:solidFill>
                  <a:srgbClr val="0000FF"/>
                </a:solidFill>
                <a:latin typeface="黑体" pitchFamily="2" charset="-122"/>
                <a:ea typeface="黑体" pitchFamily="2" charset="-122"/>
              </a:rPr>
              <a:t>先序遍历序列：</a:t>
            </a:r>
            <a:r>
              <a:rPr kumimoji="1" lang="en-US" altLang="zh-CN" sz="2400" b="1">
                <a:solidFill>
                  <a:srgbClr val="FF3300"/>
                </a:solidFill>
                <a:latin typeface="黑体" pitchFamily="2" charset="-122"/>
                <a:ea typeface="黑体" pitchFamily="2" charset="-122"/>
              </a:rPr>
              <a:t>A</a:t>
            </a:r>
            <a:r>
              <a:rPr kumimoji="1" lang="en-US" altLang="zh-CN" sz="2400" b="1">
                <a:solidFill>
                  <a:srgbClr val="000000"/>
                </a:solidFill>
                <a:latin typeface="黑体" pitchFamily="2" charset="-122"/>
                <a:ea typeface="黑体" pitchFamily="2" charset="-122"/>
              </a:rPr>
              <a:t>,</a:t>
            </a:r>
            <a:r>
              <a:rPr kumimoji="1" lang="en-US" altLang="zh-CN" sz="2400" b="1">
                <a:solidFill>
                  <a:srgbClr val="04617B"/>
                </a:solidFill>
                <a:latin typeface="黑体" pitchFamily="2" charset="-122"/>
                <a:ea typeface="黑体" pitchFamily="2" charset="-122"/>
              </a:rPr>
              <a:t>B</a:t>
            </a:r>
            <a:r>
              <a:rPr kumimoji="1" lang="en-US" altLang="zh-CN" sz="2400" b="1">
                <a:solidFill>
                  <a:srgbClr val="000000"/>
                </a:solidFill>
                <a:latin typeface="黑体" pitchFamily="2" charset="-122"/>
                <a:ea typeface="黑体" pitchFamily="2" charset="-122"/>
              </a:rPr>
              <a:t>,</a:t>
            </a:r>
            <a:r>
              <a:rPr kumimoji="1" lang="en-US" altLang="zh-CN" sz="2400" b="1">
                <a:solidFill>
                  <a:srgbClr val="04617B"/>
                </a:solidFill>
                <a:latin typeface="黑体" pitchFamily="2" charset="-122"/>
                <a:ea typeface="黑体" pitchFamily="2" charset="-122"/>
              </a:rPr>
              <a:t>D</a:t>
            </a:r>
            <a:r>
              <a:rPr kumimoji="1" lang="en-US" altLang="zh-CN" sz="2400" b="1">
                <a:solidFill>
                  <a:srgbClr val="000000"/>
                </a:solidFill>
                <a:latin typeface="黑体" pitchFamily="2" charset="-122"/>
                <a:ea typeface="黑体" pitchFamily="2" charset="-122"/>
              </a:rPr>
              <a:t>,E,</a:t>
            </a:r>
            <a:r>
              <a:rPr kumimoji="1" lang="en-US" altLang="zh-CN" sz="2400" b="1">
                <a:solidFill>
                  <a:srgbClr val="04617B"/>
                </a:solidFill>
                <a:latin typeface="黑体" pitchFamily="2" charset="-122"/>
                <a:ea typeface="黑体" pitchFamily="2" charset="-122"/>
              </a:rPr>
              <a:t>G</a:t>
            </a:r>
            <a:r>
              <a:rPr kumimoji="1" lang="en-US" altLang="zh-CN" sz="2400" b="1">
                <a:solidFill>
                  <a:srgbClr val="000000"/>
                </a:solidFill>
                <a:latin typeface="黑体" pitchFamily="2" charset="-122"/>
                <a:ea typeface="黑体" pitchFamily="2" charset="-122"/>
              </a:rPr>
              <a:t>,C,F</a:t>
            </a:r>
          </a:p>
        </p:txBody>
      </p:sp>
      <p:grpSp>
        <p:nvGrpSpPr>
          <p:cNvPr id="15" name="Group 93"/>
          <p:cNvGrpSpPr>
            <a:grpSpLocks/>
          </p:cNvGrpSpPr>
          <p:nvPr/>
        </p:nvGrpSpPr>
        <p:grpSpPr bwMode="auto">
          <a:xfrm>
            <a:off x="5445919" y="1295400"/>
            <a:ext cx="3850481" cy="2836862"/>
            <a:chOff x="3264" y="384"/>
            <a:chExt cx="2736" cy="1906"/>
          </a:xfrm>
        </p:grpSpPr>
        <p:sp>
          <p:nvSpPr>
            <p:cNvPr id="16" name="Oval 52"/>
            <p:cNvSpPr>
              <a:spLocks noChangeArrowheads="1"/>
            </p:cNvSpPr>
            <p:nvPr/>
          </p:nvSpPr>
          <p:spPr bwMode="auto">
            <a:xfrm>
              <a:off x="4469" y="503"/>
              <a:ext cx="295"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17" name="Text Box 53"/>
            <p:cNvSpPr txBox="1">
              <a:spLocks noChangeArrowheads="1"/>
            </p:cNvSpPr>
            <p:nvPr/>
          </p:nvSpPr>
          <p:spPr bwMode="auto">
            <a:xfrm>
              <a:off x="4392" y="432"/>
              <a:ext cx="535"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A</a:t>
              </a:r>
            </a:p>
          </p:txBody>
        </p:sp>
        <p:sp>
          <p:nvSpPr>
            <p:cNvPr id="19" name="Oval 55"/>
            <p:cNvSpPr>
              <a:spLocks noChangeArrowheads="1"/>
            </p:cNvSpPr>
            <p:nvPr/>
          </p:nvSpPr>
          <p:spPr bwMode="auto">
            <a:xfrm>
              <a:off x="5542" y="1320"/>
              <a:ext cx="295"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0" name="Text Box 56"/>
            <p:cNvSpPr txBox="1">
              <a:spLocks noChangeArrowheads="1"/>
            </p:cNvSpPr>
            <p:nvPr/>
          </p:nvSpPr>
          <p:spPr bwMode="auto">
            <a:xfrm>
              <a:off x="5465" y="1249"/>
              <a:ext cx="535"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F</a:t>
              </a:r>
            </a:p>
          </p:txBody>
        </p:sp>
        <p:sp>
          <p:nvSpPr>
            <p:cNvPr id="21" name="Oval 58"/>
            <p:cNvSpPr>
              <a:spLocks noChangeArrowheads="1"/>
            </p:cNvSpPr>
            <p:nvPr/>
          </p:nvSpPr>
          <p:spPr bwMode="auto">
            <a:xfrm>
              <a:off x="3888" y="1835"/>
              <a:ext cx="296"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2" name="Text Box 59"/>
            <p:cNvSpPr txBox="1">
              <a:spLocks noChangeArrowheads="1"/>
            </p:cNvSpPr>
            <p:nvPr/>
          </p:nvSpPr>
          <p:spPr bwMode="auto">
            <a:xfrm>
              <a:off x="3810" y="1764"/>
              <a:ext cx="536"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G</a:t>
              </a:r>
            </a:p>
          </p:txBody>
        </p:sp>
        <p:sp>
          <p:nvSpPr>
            <p:cNvPr id="23" name="Oval 61"/>
            <p:cNvSpPr>
              <a:spLocks noChangeArrowheads="1"/>
            </p:cNvSpPr>
            <p:nvPr/>
          </p:nvSpPr>
          <p:spPr bwMode="auto">
            <a:xfrm>
              <a:off x="4246" y="1385"/>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4" name="Text Box 62"/>
            <p:cNvSpPr txBox="1">
              <a:spLocks noChangeArrowheads="1"/>
            </p:cNvSpPr>
            <p:nvPr/>
          </p:nvSpPr>
          <p:spPr bwMode="auto">
            <a:xfrm>
              <a:off x="4169" y="1314"/>
              <a:ext cx="535"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E</a:t>
              </a:r>
            </a:p>
          </p:txBody>
        </p:sp>
        <p:sp>
          <p:nvSpPr>
            <p:cNvPr id="25" name="Oval 64"/>
            <p:cNvSpPr>
              <a:spLocks noChangeArrowheads="1"/>
            </p:cNvSpPr>
            <p:nvPr/>
          </p:nvSpPr>
          <p:spPr bwMode="auto">
            <a:xfrm>
              <a:off x="3486" y="1385"/>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6" name="Text Box 65"/>
            <p:cNvSpPr txBox="1">
              <a:spLocks noChangeArrowheads="1"/>
            </p:cNvSpPr>
            <p:nvPr/>
          </p:nvSpPr>
          <p:spPr bwMode="auto">
            <a:xfrm>
              <a:off x="3408" y="1314"/>
              <a:ext cx="535"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D</a:t>
              </a:r>
            </a:p>
          </p:txBody>
        </p:sp>
        <p:sp>
          <p:nvSpPr>
            <p:cNvPr id="27" name="Oval 67"/>
            <p:cNvSpPr>
              <a:spLocks noChangeArrowheads="1"/>
            </p:cNvSpPr>
            <p:nvPr/>
          </p:nvSpPr>
          <p:spPr bwMode="auto">
            <a:xfrm>
              <a:off x="5095" y="911"/>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8" name="Text Box 68"/>
            <p:cNvSpPr txBox="1">
              <a:spLocks noChangeArrowheads="1"/>
            </p:cNvSpPr>
            <p:nvPr/>
          </p:nvSpPr>
          <p:spPr bwMode="auto">
            <a:xfrm>
              <a:off x="5016" y="840"/>
              <a:ext cx="537"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C</a:t>
              </a:r>
            </a:p>
          </p:txBody>
        </p:sp>
        <p:sp>
          <p:nvSpPr>
            <p:cNvPr id="29" name="Oval 70"/>
            <p:cNvSpPr>
              <a:spLocks noChangeArrowheads="1"/>
            </p:cNvSpPr>
            <p:nvPr/>
          </p:nvSpPr>
          <p:spPr bwMode="auto">
            <a:xfrm>
              <a:off x="3888" y="952"/>
              <a:ext cx="296"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30" name="Text Box 71"/>
            <p:cNvSpPr txBox="1">
              <a:spLocks noChangeArrowheads="1"/>
            </p:cNvSpPr>
            <p:nvPr/>
          </p:nvSpPr>
          <p:spPr bwMode="auto">
            <a:xfrm>
              <a:off x="3810" y="881"/>
              <a:ext cx="536"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B</a:t>
              </a:r>
            </a:p>
          </p:txBody>
        </p:sp>
        <p:sp>
          <p:nvSpPr>
            <p:cNvPr id="31" name="Line 73"/>
            <p:cNvSpPr>
              <a:spLocks noChangeShapeType="1"/>
            </p:cNvSpPr>
            <p:nvPr/>
          </p:nvSpPr>
          <p:spPr bwMode="auto">
            <a:xfrm flipH="1">
              <a:off x="4123" y="718"/>
              <a:ext cx="358" cy="24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2" name="Line 74"/>
            <p:cNvSpPr>
              <a:spLocks noChangeShapeType="1"/>
            </p:cNvSpPr>
            <p:nvPr/>
          </p:nvSpPr>
          <p:spPr bwMode="auto">
            <a:xfrm>
              <a:off x="4749" y="718"/>
              <a:ext cx="357" cy="243"/>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3" name="Line 75"/>
            <p:cNvSpPr>
              <a:spLocks noChangeShapeType="1"/>
            </p:cNvSpPr>
            <p:nvPr/>
          </p:nvSpPr>
          <p:spPr bwMode="auto">
            <a:xfrm>
              <a:off x="4168" y="1176"/>
              <a:ext cx="223" cy="20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4" name="Line 76"/>
            <p:cNvSpPr>
              <a:spLocks noChangeShapeType="1"/>
            </p:cNvSpPr>
            <p:nvPr/>
          </p:nvSpPr>
          <p:spPr bwMode="auto">
            <a:xfrm flipH="1">
              <a:off x="4078" y="1626"/>
              <a:ext cx="227" cy="204"/>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5" name="Line 77"/>
            <p:cNvSpPr>
              <a:spLocks noChangeShapeType="1"/>
            </p:cNvSpPr>
            <p:nvPr/>
          </p:nvSpPr>
          <p:spPr bwMode="auto">
            <a:xfrm flipH="1">
              <a:off x="3676" y="1176"/>
              <a:ext cx="226" cy="20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6" name="Line 78"/>
            <p:cNvSpPr>
              <a:spLocks noChangeShapeType="1"/>
            </p:cNvSpPr>
            <p:nvPr/>
          </p:nvSpPr>
          <p:spPr bwMode="auto">
            <a:xfrm>
              <a:off x="5375" y="1127"/>
              <a:ext cx="223" cy="204"/>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7" name="Oval 79"/>
            <p:cNvSpPr>
              <a:spLocks noChangeArrowheads="1"/>
            </p:cNvSpPr>
            <p:nvPr/>
          </p:nvSpPr>
          <p:spPr bwMode="auto">
            <a:xfrm>
              <a:off x="3264" y="754"/>
              <a:ext cx="1392" cy="1536"/>
            </a:xfrm>
            <a:prstGeom prst="ellipse">
              <a:avLst/>
            </a:prstGeom>
            <a:noFill/>
            <a:ln w="12700" cap="rnd">
              <a:solidFill>
                <a:srgbClr val="0F6FC6"/>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38" name="Oval 80"/>
            <p:cNvSpPr>
              <a:spLocks noChangeArrowheads="1"/>
            </p:cNvSpPr>
            <p:nvPr/>
          </p:nvSpPr>
          <p:spPr bwMode="auto">
            <a:xfrm>
              <a:off x="4944" y="768"/>
              <a:ext cx="960" cy="1248"/>
            </a:xfrm>
            <a:prstGeom prst="ellips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39" name="Oval 81"/>
            <p:cNvSpPr>
              <a:spLocks noChangeArrowheads="1"/>
            </p:cNvSpPr>
            <p:nvPr/>
          </p:nvSpPr>
          <p:spPr bwMode="auto">
            <a:xfrm>
              <a:off x="4224" y="384"/>
              <a:ext cx="816" cy="528"/>
            </a:xfrm>
            <a:prstGeom prst="ellipse">
              <a:avLst/>
            </a:prstGeom>
            <a:noFill/>
            <a:ln w="12700" cap="rnd">
              <a:solidFill>
                <a:srgbClr val="FF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grpSp>
      <p:sp>
        <p:nvSpPr>
          <p:cNvPr id="40" name="Text Box 83"/>
          <p:cNvSpPr txBox="1">
            <a:spLocks noChangeArrowheads="1"/>
          </p:cNvSpPr>
          <p:nvPr/>
        </p:nvSpPr>
        <p:spPr bwMode="auto">
          <a:xfrm>
            <a:off x="433388" y="3651250"/>
            <a:ext cx="9777412" cy="1771650"/>
          </a:xfrm>
          <a:prstGeom prst="rect">
            <a:avLst/>
          </a:prstGeom>
          <a:noFill/>
          <a:ln w="12700" cap="rnd">
            <a:noFill/>
            <a:miter lim="800000"/>
            <a:headEnd/>
            <a:tailEnd/>
          </a:ln>
        </p:spPr>
        <p:txBody>
          <a:bodyPr>
            <a:spAutoFit/>
          </a:bodyPr>
          <a:lstStyle/>
          <a:p>
            <a:pPr eaLnBrk="0" fontAlgn="base" hangingPunct="0">
              <a:spcBef>
                <a:spcPct val="20000"/>
              </a:spcBef>
              <a:spcAft>
                <a:spcPct val="0"/>
              </a:spcAft>
            </a:pPr>
            <a:r>
              <a:rPr kumimoji="1" lang="zh-CN" altLang="en-US" sz="2400" b="1">
                <a:solidFill>
                  <a:srgbClr val="0000FF"/>
                </a:solidFill>
                <a:latin typeface="宋体" pitchFamily="2" charset="-122"/>
              </a:rPr>
              <a:t>         先</a:t>
            </a:r>
            <a:r>
              <a:rPr kumimoji="1" lang="zh-CN" altLang="en-US" sz="2400" b="1">
                <a:solidFill>
                  <a:srgbClr val="0000FF"/>
                </a:solidFill>
                <a:latin typeface="黑体" pitchFamily="2" charset="-122"/>
                <a:ea typeface="黑体" pitchFamily="2" charset="-122"/>
              </a:rPr>
              <a:t>序遍历右图所示的二叉树</a:t>
            </a:r>
            <a:endParaRPr kumimoji="1" lang="zh-CN" altLang="en-US" sz="2400" b="1">
              <a:solidFill>
                <a:srgbClr val="0000FF"/>
              </a:solidFill>
              <a:latin typeface="宋体" pitchFamily="2" charset="-122"/>
            </a:endParaRPr>
          </a:p>
          <a:p>
            <a:pPr eaLnBrk="0" fontAlgn="base" hangingPunct="0">
              <a:spcBef>
                <a:spcPct val="20000"/>
              </a:spcBef>
              <a:spcAft>
                <a:spcPct val="0"/>
              </a:spcAft>
            </a:pPr>
            <a:r>
              <a:rPr kumimoji="1" lang="zh-CN" altLang="en-US" sz="2400" b="1">
                <a:solidFill>
                  <a:srgbClr val="0000FF"/>
                </a:solidFill>
                <a:latin typeface="宋体" pitchFamily="2" charset="-122"/>
              </a:rPr>
              <a:t>    （1）访问根结点</a:t>
            </a:r>
            <a:r>
              <a:rPr kumimoji="1" lang="en-US" altLang="zh-CN" sz="2400" b="1">
                <a:solidFill>
                  <a:srgbClr val="0000FF"/>
                </a:solidFill>
                <a:latin typeface="宋体" pitchFamily="2" charset="-122"/>
              </a:rPr>
              <a:t>A</a:t>
            </a:r>
          </a:p>
          <a:p>
            <a:pPr eaLnBrk="0" fontAlgn="base" hangingPunct="0">
              <a:spcBef>
                <a:spcPct val="20000"/>
              </a:spcBef>
              <a:spcAft>
                <a:spcPct val="0"/>
              </a:spcAft>
            </a:pPr>
            <a:r>
              <a:rPr kumimoji="1" lang="en-US" altLang="zh-CN" sz="2400" b="1">
                <a:solidFill>
                  <a:srgbClr val="0000FF"/>
                </a:solidFill>
                <a:latin typeface="宋体" pitchFamily="2" charset="-122"/>
              </a:rPr>
              <a:t>    （2）</a:t>
            </a:r>
            <a:r>
              <a:rPr kumimoji="1" lang="zh-CN" altLang="en-US" sz="2400" b="1">
                <a:solidFill>
                  <a:srgbClr val="0000FF"/>
                </a:solidFill>
                <a:latin typeface="宋体" pitchFamily="2" charset="-122"/>
              </a:rPr>
              <a:t>先序遍历左子树：即按</a:t>
            </a:r>
            <a:r>
              <a:rPr kumimoji="1" lang="zh-CN" altLang="en-US" sz="2400" b="1">
                <a:solidFill>
                  <a:srgbClr val="FFFFA5"/>
                </a:solidFill>
                <a:latin typeface="宋体" pitchFamily="2" charset="-122"/>
              </a:rPr>
              <a:t> </a:t>
            </a:r>
            <a:r>
              <a:rPr kumimoji="1" lang="en-US" altLang="zh-CN" sz="2400" b="1">
                <a:solidFill>
                  <a:srgbClr val="FF3300"/>
                </a:solidFill>
                <a:latin typeface="宋体" pitchFamily="2" charset="-122"/>
              </a:rPr>
              <a:t>T</a:t>
            </a:r>
            <a:r>
              <a:rPr kumimoji="1" lang="en-US" altLang="zh-CN" sz="2400" b="1">
                <a:solidFill>
                  <a:srgbClr val="FF99CC"/>
                </a:solidFill>
                <a:latin typeface="宋体" pitchFamily="2" charset="-122"/>
              </a:rPr>
              <a:t> </a:t>
            </a:r>
            <a:r>
              <a:rPr kumimoji="1" lang="en-US" altLang="zh-CN" sz="2400" b="1">
                <a:solidFill>
                  <a:srgbClr val="04617B"/>
                </a:solidFill>
                <a:latin typeface="宋体" pitchFamily="2" charset="-122"/>
              </a:rPr>
              <a:t>L </a:t>
            </a:r>
            <a:r>
              <a:rPr kumimoji="1" lang="en-US" altLang="zh-CN" sz="2400" b="1">
                <a:solidFill>
                  <a:srgbClr val="000000"/>
                </a:solidFill>
                <a:latin typeface="宋体" pitchFamily="2" charset="-122"/>
              </a:rPr>
              <a:t>R </a:t>
            </a:r>
            <a:r>
              <a:rPr kumimoji="1" lang="zh-CN" altLang="en-US" sz="2400" b="1">
                <a:solidFill>
                  <a:srgbClr val="0000FF"/>
                </a:solidFill>
                <a:latin typeface="黑体" pitchFamily="2" charset="-122"/>
                <a:ea typeface="黑体" pitchFamily="2" charset="-122"/>
              </a:rPr>
              <a:t>的顺序遍历</a:t>
            </a:r>
            <a:r>
              <a:rPr kumimoji="1" lang="zh-CN" altLang="en-US" sz="2400" b="1">
                <a:solidFill>
                  <a:srgbClr val="000000"/>
                </a:solidFill>
                <a:latin typeface="宋体" pitchFamily="2" charset="-122"/>
              </a:rPr>
              <a:t>左子树</a:t>
            </a:r>
          </a:p>
          <a:p>
            <a:pPr eaLnBrk="0" fontAlgn="base" hangingPunct="0">
              <a:spcBef>
                <a:spcPct val="20000"/>
              </a:spcBef>
              <a:spcAft>
                <a:spcPct val="0"/>
              </a:spcAft>
            </a:pPr>
            <a:r>
              <a:rPr kumimoji="1" lang="zh-CN" altLang="en-US" sz="2400" b="1">
                <a:solidFill>
                  <a:srgbClr val="FFFFA5"/>
                </a:solidFill>
                <a:latin typeface="宋体" pitchFamily="2" charset="-122"/>
              </a:rPr>
              <a:t>    </a:t>
            </a:r>
            <a:r>
              <a:rPr kumimoji="1" lang="zh-CN" altLang="en-US" sz="2400" b="1">
                <a:solidFill>
                  <a:srgbClr val="0000FF"/>
                </a:solidFill>
                <a:latin typeface="黑体" pitchFamily="2" charset="-122"/>
                <a:ea typeface="黑体" pitchFamily="2" charset="-122"/>
              </a:rPr>
              <a:t>（3）先序遍历右子树：即按</a:t>
            </a:r>
            <a:r>
              <a:rPr kumimoji="1" lang="zh-CN" altLang="en-US" sz="2400" b="1">
                <a:solidFill>
                  <a:srgbClr val="FFFFA5"/>
                </a:solidFill>
                <a:latin typeface="宋体" pitchFamily="2" charset="-122"/>
              </a:rPr>
              <a:t> </a:t>
            </a:r>
            <a:r>
              <a:rPr kumimoji="1" lang="en-US" altLang="zh-CN" sz="2400" b="1">
                <a:solidFill>
                  <a:srgbClr val="FF3300"/>
                </a:solidFill>
                <a:latin typeface="宋体" pitchFamily="2" charset="-122"/>
              </a:rPr>
              <a:t>T</a:t>
            </a:r>
            <a:r>
              <a:rPr kumimoji="1" lang="en-US" altLang="zh-CN" sz="2400" b="1">
                <a:solidFill>
                  <a:srgbClr val="FF99CC"/>
                </a:solidFill>
                <a:latin typeface="宋体" pitchFamily="2" charset="-122"/>
              </a:rPr>
              <a:t> </a:t>
            </a:r>
            <a:r>
              <a:rPr kumimoji="1" lang="en-US" altLang="zh-CN" sz="2400" b="1">
                <a:solidFill>
                  <a:srgbClr val="04617B"/>
                </a:solidFill>
                <a:latin typeface="宋体" pitchFamily="2" charset="-122"/>
              </a:rPr>
              <a:t>L </a:t>
            </a:r>
            <a:r>
              <a:rPr kumimoji="1" lang="en-US" altLang="zh-CN" sz="2400" b="1">
                <a:solidFill>
                  <a:srgbClr val="000000"/>
                </a:solidFill>
                <a:latin typeface="宋体" pitchFamily="2" charset="-122"/>
              </a:rPr>
              <a:t>R </a:t>
            </a:r>
            <a:r>
              <a:rPr kumimoji="1" lang="zh-CN" altLang="en-US" sz="2400" b="1">
                <a:solidFill>
                  <a:srgbClr val="0000FF"/>
                </a:solidFill>
                <a:latin typeface="黑体" pitchFamily="2" charset="-122"/>
                <a:ea typeface="黑体" pitchFamily="2" charset="-122"/>
              </a:rPr>
              <a:t>的顺序遍历</a:t>
            </a:r>
            <a:r>
              <a:rPr kumimoji="1" lang="zh-CN" altLang="en-US" sz="2400" b="1">
                <a:solidFill>
                  <a:srgbClr val="000000"/>
                </a:solidFill>
                <a:latin typeface="宋体" pitchFamily="2" charset="-122"/>
              </a:rPr>
              <a:t>右子树</a:t>
            </a:r>
          </a:p>
        </p:txBody>
      </p:sp>
      <p:sp>
        <p:nvSpPr>
          <p:cNvPr id="41" name="AutoShape 87">
            <a:hlinkClick r:id="rId4" action="ppaction://hlinkfile"/>
          </p:cNvPr>
          <p:cNvSpPr>
            <a:spLocks noChangeArrowheads="1"/>
          </p:cNvSpPr>
          <p:nvPr/>
        </p:nvSpPr>
        <p:spPr bwMode="auto">
          <a:xfrm>
            <a:off x="7034212" y="5486400"/>
            <a:ext cx="1500188" cy="1000125"/>
          </a:xfrm>
          <a:custGeom>
            <a:avLst/>
            <a:gdLst>
              <a:gd name="T0" fmla="*/ 172983890 w 21600"/>
              <a:gd name="T1" fmla="*/ 0 h 21600"/>
              <a:gd name="T2" fmla="*/ 0 w 21600"/>
              <a:gd name="T3" fmla="*/ 37242339 h 21600"/>
              <a:gd name="T4" fmla="*/ 172983890 w 21600"/>
              <a:gd name="T5" fmla="*/ 74484678 h 21600"/>
              <a:gd name="T6" fmla="*/ 230645083 w 21600"/>
              <a:gd name="T7" fmla="*/ 37242339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1" i="0" u="none" strike="noStrike" kern="0" cap="none" spc="0" normalizeH="0" baseline="0" noProof="0" dirty="0">
                <a:ln>
                  <a:noFill/>
                </a:ln>
                <a:solidFill>
                  <a:srgbClr val="003300"/>
                </a:solidFill>
                <a:effectLst/>
                <a:uLnTx/>
                <a:uFillTx/>
                <a:latin typeface="隶书" pitchFamily="49" charset="-122"/>
                <a:ea typeface="隶书" pitchFamily="49" charset="-122"/>
                <a:cs typeface="+mn-cs"/>
              </a:rPr>
              <a:t>图示</a:t>
            </a:r>
          </a:p>
        </p:txBody>
      </p:sp>
      <p:sp>
        <p:nvSpPr>
          <p:cNvPr id="42" name="Oval 94"/>
          <p:cNvSpPr>
            <a:spLocks noChangeArrowheads="1"/>
          </p:cNvSpPr>
          <p:nvPr/>
        </p:nvSpPr>
        <p:spPr bwMode="auto">
          <a:xfrm>
            <a:off x="504825" y="3651250"/>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a:solidFill>
                  <a:srgbClr val="000000"/>
                </a:solidFill>
                <a:latin typeface="Times New Roman" pitchFamily="18" charset="0"/>
              </a:rPr>
              <a:t>例</a:t>
            </a:r>
          </a:p>
        </p:txBody>
      </p:sp>
    </p:spTree>
    <p:extLst>
      <p:ext uri="{BB962C8B-B14F-4D97-AF65-F5344CB8AC3E}">
        <p14:creationId xmlns:p14="http://schemas.microsoft.com/office/powerpoint/2010/main" val="2810136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4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40" grpId="0"/>
      <p:bldP spid="41" grpId="0" animBg="1"/>
      <p:bldP spid="4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5.3.1  </a:t>
            </a:r>
            <a:r>
              <a:rPr kumimoji="1" lang="zh-CN" altLang="en-US" sz="3200" b="1" dirty="0">
                <a:latin typeface="Arial" charset="0"/>
                <a:ea typeface="宋体" charset="-122"/>
                <a:cs typeface="+mn-cs"/>
              </a:rPr>
              <a:t>二叉树的遍历方法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        先序遍历下图所示的二叉树</a:t>
            </a:r>
            <a:endParaRPr lang="en-US" altLang="zh-CN" sz="2800" b="1" dirty="0"/>
          </a:p>
        </p:txBody>
      </p:sp>
      <p:sp>
        <p:nvSpPr>
          <p:cNvPr id="4" name="日期占位符 3"/>
          <p:cNvSpPr>
            <a:spLocks noGrp="1"/>
          </p:cNvSpPr>
          <p:nvPr>
            <p:ph type="dt" sz="half" idx="10"/>
          </p:nvPr>
        </p:nvSpPr>
        <p:spPr/>
        <p:txBody>
          <a:bodyPr/>
          <a:lstStyle/>
          <a:p>
            <a:fld id="{EF776DAF-21D9-4463-8DA1-D959A13C9477}"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52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Oval 64"/>
          <p:cNvSpPr>
            <a:spLocks noChangeArrowheads="1"/>
          </p:cNvSpPr>
          <p:nvPr/>
        </p:nvSpPr>
        <p:spPr bwMode="auto">
          <a:xfrm>
            <a:off x="381000" y="1199322"/>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dirty="0">
                <a:solidFill>
                  <a:srgbClr val="000000"/>
                </a:solidFill>
                <a:latin typeface="Times New Roman" pitchFamily="18" charset="0"/>
              </a:rPr>
              <a:t>练习</a:t>
            </a:r>
          </a:p>
        </p:txBody>
      </p:sp>
      <p:grpSp>
        <p:nvGrpSpPr>
          <p:cNvPr id="14" name="Group 67"/>
          <p:cNvGrpSpPr>
            <a:grpSpLocks/>
          </p:cNvGrpSpPr>
          <p:nvPr/>
        </p:nvGrpSpPr>
        <p:grpSpPr bwMode="auto">
          <a:xfrm>
            <a:off x="2362200" y="1668462"/>
            <a:ext cx="4724400" cy="3373438"/>
            <a:chOff x="1488" y="670"/>
            <a:chExt cx="2976" cy="2125"/>
          </a:xfrm>
        </p:grpSpPr>
        <p:sp>
          <p:nvSpPr>
            <p:cNvPr id="15" name="Line 39"/>
            <p:cNvSpPr>
              <a:spLocks noChangeShapeType="1"/>
            </p:cNvSpPr>
            <p:nvPr/>
          </p:nvSpPr>
          <p:spPr bwMode="auto">
            <a:xfrm flipH="1">
              <a:off x="2304" y="946"/>
              <a:ext cx="528" cy="321"/>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6" name="Line 40"/>
            <p:cNvSpPr>
              <a:spLocks noChangeShapeType="1"/>
            </p:cNvSpPr>
            <p:nvPr/>
          </p:nvSpPr>
          <p:spPr bwMode="auto">
            <a:xfrm>
              <a:off x="3120" y="946"/>
              <a:ext cx="480" cy="27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7" name="Line 41"/>
            <p:cNvSpPr>
              <a:spLocks noChangeShapeType="1"/>
            </p:cNvSpPr>
            <p:nvPr/>
          </p:nvSpPr>
          <p:spPr bwMode="auto">
            <a:xfrm flipH="1">
              <a:off x="2256" y="1864"/>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9" name="Line 42"/>
            <p:cNvSpPr>
              <a:spLocks noChangeShapeType="1"/>
            </p:cNvSpPr>
            <p:nvPr/>
          </p:nvSpPr>
          <p:spPr bwMode="auto">
            <a:xfrm>
              <a:off x="2304" y="1405"/>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0" name="Line 43"/>
            <p:cNvSpPr>
              <a:spLocks noChangeShapeType="1"/>
            </p:cNvSpPr>
            <p:nvPr/>
          </p:nvSpPr>
          <p:spPr bwMode="auto">
            <a:xfrm flipH="1">
              <a:off x="1824" y="1405"/>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1" name="Line 44"/>
            <p:cNvSpPr>
              <a:spLocks noChangeShapeType="1"/>
            </p:cNvSpPr>
            <p:nvPr/>
          </p:nvSpPr>
          <p:spPr bwMode="auto">
            <a:xfrm>
              <a:off x="2736" y="1864"/>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2" name="Line 45"/>
            <p:cNvSpPr>
              <a:spLocks noChangeShapeType="1"/>
            </p:cNvSpPr>
            <p:nvPr/>
          </p:nvSpPr>
          <p:spPr bwMode="auto">
            <a:xfrm flipH="1">
              <a:off x="2736" y="2277"/>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 name="Line 46"/>
            <p:cNvSpPr>
              <a:spLocks noChangeShapeType="1"/>
            </p:cNvSpPr>
            <p:nvPr/>
          </p:nvSpPr>
          <p:spPr bwMode="auto">
            <a:xfrm>
              <a:off x="3168" y="2277"/>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4" name="Line 47"/>
            <p:cNvSpPr>
              <a:spLocks noChangeShapeType="1"/>
            </p:cNvSpPr>
            <p:nvPr/>
          </p:nvSpPr>
          <p:spPr bwMode="auto">
            <a:xfrm flipH="1">
              <a:off x="3360" y="1405"/>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Line 48"/>
            <p:cNvSpPr>
              <a:spLocks noChangeShapeType="1"/>
            </p:cNvSpPr>
            <p:nvPr/>
          </p:nvSpPr>
          <p:spPr bwMode="auto">
            <a:xfrm>
              <a:off x="3840" y="1405"/>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Oval 9"/>
            <p:cNvSpPr>
              <a:spLocks noChangeArrowheads="1"/>
            </p:cNvSpPr>
            <p:nvPr/>
          </p:nvSpPr>
          <p:spPr bwMode="auto">
            <a:xfrm>
              <a:off x="3288" y="2481"/>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7" name="Text Box 10"/>
            <p:cNvSpPr txBox="1">
              <a:spLocks noChangeArrowheads="1"/>
            </p:cNvSpPr>
            <p:nvPr/>
          </p:nvSpPr>
          <p:spPr bwMode="auto">
            <a:xfrm>
              <a:off x="3168" y="2391"/>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d</a:t>
              </a:r>
            </a:p>
          </p:txBody>
        </p:sp>
        <p:sp>
          <p:nvSpPr>
            <p:cNvPr id="28" name="Oval 6"/>
            <p:cNvSpPr>
              <a:spLocks noChangeArrowheads="1"/>
            </p:cNvSpPr>
            <p:nvPr/>
          </p:nvSpPr>
          <p:spPr bwMode="auto">
            <a:xfrm>
              <a:off x="3192" y="1653"/>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9" name="Text Box 7"/>
            <p:cNvSpPr txBox="1">
              <a:spLocks noChangeArrowheads="1"/>
            </p:cNvSpPr>
            <p:nvPr/>
          </p:nvSpPr>
          <p:spPr bwMode="auto">
            <a:xfrm>
              <a:off x="3072" y="1543"/>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e</a:t>
              </a:r>
            </a:p>
          </p:txBody>
        </p:sp>
        <p:sp>
          <p:nvSpPr>
            <p:cNvPr id="30" name="Oval 12"/>
            <p:cNvSpPr>
              <a:spLocks noChangeArrowheads="1"/>
            </p:cNvSpPr>
            <p:nvPr/>
          </p:nvSpPr>
          <p:spPr bwMode="auto">
            <a:xfrm>
              <a:off x="2520" y="2479"/>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1" name="Text Box 13"/>
            <p:cNvSpPr txBox="1">
              <a:spLocks noChangeArrowheads="1"/>
            </p:cNvSpPr>
            <p:nvPr/>
          </p:nvSpPr>
          <p:spPr bwMode="auto">
            <a:xfrm>
              <a:off x="2400" y="2369"/>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c</a:t>
              </a:r>
            </a:p>
          </p:txBody>
        </p:sp>
        <p:sp>
          <p:nvSpPr>
            <p:cNvPr id="32" name="Oval 15"/>
            <p:cNvSpPr>
              <a:spLocks noChangeArrowheads="1"/>
            </p:cNvSpPr>
            <p:nvPr/>
          </p:nvSpPr>
          <p:spPr bwMode="auto">
            <a:xfrm>
              <a:off x="2088" y="2088"/>
              <a:ext cx="272" cy="247"/>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3" name="Text Box 16"/>
            <p:cNvSpPr txBox="1">
              <a:spLocks noChangeArrowheads="1"/>
            </p:cNvSpPr>
            <p:nvPr/>
          </p:nvSpPr>
          <p:spPr bwMode="auto">
            <a:xfrm>
              <a:off x="1968" y="2002"/>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b</a:t>
              </a:r>
            </a:p>
          </p:txBody>
        </p:sp>
        <p:sp>
          <p:nvSpPr>
            <p:cNvPr id="34" name="Oval 18"/>
            <p:cNvSpPr>
              <a:spLocks noChangeArrowheads="1"/>
            </p:cNvSpPr>
            <p:nvPr/>
          </p:nvSpPr>
          <p:spPr bwMode="auto">
            <a:xfrm>
              <a:off x="4008" y="1633"/>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5" name="Text Box 19"/>
            <p:cNvSpPr txBox="1">
              <a:spLocks noChangeArrowheads="1"/>
            </p:cNvSpPr>
            <p:nvPr/>
          </p:nvSpPr>
          <p:spPr bwMode="auto">
            <a:xfrm>
              <a:off x="3888" y="1543"/>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f</a:t>
              </a:r>
            </a:p>
          </p:txBody>
        </p:sp>
        <p:sp>
          <p:nvSpPr>
            <p:cNvPr id="36" name="Oval 21"/>
            <p:cNvSpPr>
              <a:spLocks noChangeArrowheads="1"/>
            </p:cNvSpPr>
            <p:nvPr/>
          </p:nvSpPr>
          <p:spPr bwMode="auto">
            <a:xfrm>
              <a:off x="1608" y="1607"/>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7" name="Text Box 22"/>
            <p:cNvSpPr txBox="1">
              <a:spLocks noChangeArrowheads="1"/>
            </p:cNvSpPr>
            <p:nvPr/>
          </p:nvSpPr>
          <p:spPr bwMode="auto">
            <a:xfrm>
              <a:off x="1488" y="1497"/>
              <a:ext cx="576" cy="40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a</a:t>
              </a:r>
            </a:p>
          </p:txBody>
        </p:sp>
        <p:sp>
          <p:nvSpPr>
            <p:cNvPr id="38" name="Oval 24"/>
            <p:cNvSpPr>
              <a:spLocks noChangeArrowheads="1"/>
            </p:cNvSpPr>
            <p:nvPr/>
          </p:nvSpPr>
          <p:spPr bwMode="auto">
            <a:xfrm>
              <a:off x="2029" y="1165"/>
              <a:ext cx="272" cy="261"/>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9" name="Text Box 25"/>
            <p:cNvSpPr txBox="1">
              <a:spLocks noChangeArrowheads="1"/>
            </p:cNvSpPr>
            <p:nvPr/>
          </p:nvSpPr>
          <p:spPr bwMode="auto">
            <a:xfrm>
              <a:off x="1920" y="1083"/>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sp>
          <p:nvSpPr>
            <p:cNvPr id="40" name="Oval 27"/>
            <p:cNvSpPr>
              <a:spLocks noChangeArrowheads="1"/>
            </p:cNvSpPr>
            <p:nvPr/>
          </p:nvSpPr>
          <p:spPr bwMode="auto">
            <a:xfrm>
              <a:off x="2461" y="1625"/>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1" name="Text Box 28"/>
            <p:cNvSpPr txBox="1">
              <a:spLocks noChangeArrowheads="1"/>
            </p:cNvSpPr>
            <p:nvPr/>
          </p:nvSpPr>
          <p:spPr bwMode="auto">
            <a:xfrm>
              <a:off x="2352" y="1543"/>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sp>
          <p:nvSpPr>
            <p:cNvPr id="42" name="Oval 30"/>
            <p:cNvSpPr>
              <a:spLocks noChangeArrowheads="1"/>
            </p:cNvSpPr>
            <p:nvPr/>
          </p:nvSpPr>
          <p:spPr bwMode="auto">
            <a:xfrm>
              <a:off x="3565" y="1188"/>
              <a:ext cx="272" cy="261"/>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3" name="Text Box 31"/>
            <p:cNvSpPr txBox="1">
              <a:spLocks noChangeArrowheads="1"/>
            </p:cNvSpPr>
            <p:nvPr/>
          </p:nvSpPr>
          <p:spPr bwMode="auto">
            <a:xfrm>
              <a:off x="3456" y="1106"/>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sp>
          <p:nvSpPr>
            <p:cNvPr id="44" name="Oval 33"/>
            <p:cNvSpPr>
              <a:spLocks noChangeArrowheads="1"/>
            </p:cNvSpPr>
            <p:nvPr/>
          </p:nvSpPr>
          <p:spPr bwMode="auto">
            <a:xfrm>
              <a:off x="2941" y="2038"/>
              <a:ext cx="272" cy="261"/>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5" name="Text Box 34"/>
            <p:cNvSpPr txBox="1">
              <a:spLocks noChangeArrowheads="1"/>
            </p:cNvSpPr>
            <p:nvPr/>
          </p:nvSpPr>
          <p:spPr bwMode="auto">
            <a:xfrm>
              <a:off x="2832" y="1956"/>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grpSp>
          <p:nvGrpSpPr>
            <p:cNvPr id="46" name="Group 35"/>
            <p:cNvGrpSpPr>
              <a:grpSpLocks/>
            </p:cNvGrpSpPr>
            <p:nvPr/>
          </p:nvGrpSpPr>
          <p:grpSpPr bwMode="auto">
            <a:xfrm>
              <a:off x="2736" y="670"/>
              <a:ext cx="576" cy="404"/>
              <a:chOff x="2552" y="3101"/>
              <a:chExt cx="576" cy="422"/>
            </a:xfrm>
          </p:grpSpPr>
          <p:sp>
            <p:nvSpPr>
              <p:cNvPr id="47" name="Oval 36"/>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8" name="Text Box 37"/>
              <p:cNvSpPr txBox="1">
                <a:spLocks noChangeArrowheads="1"/>
              </p:cNvSpPr>
              <p:nvPr/>
            </p:nvSpPr>
            <p:spPr bwMode="auto">
              <a:xfrm>
                <a:off x="2552" y="3101"/>
                <a:ext cx="576" cy="42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grpSp>
      </p:grpSp>
      <p:sp>
        <p:nvSpPr>
          <p:cNvPr id="49" name="Text Box 57"/>
          <p:cNvSpPr txBox="1">
            <a:spLocks noChangeArrowheads="1"/>
          </p:cNvSpPr>
          <p:nvPr/>
        </p:nvSpPr>
        <p:spPr bwMode="auto">
          <a:xfrm>
            <a:off x="1476375" y="5086350"/>
            <a:ext cx="5691188" cy="519112"/>
          </a:xfrm>
          <a:prstGeom prst="rect">
            <a:avLst/>
          </a:prstGeom>
          <a:noFill/>
          <a:ln w="12700" cap="rnd">
            <a:noFill/>
            <a:miter lim="800000"/>
            <a:headEnd/>
            <a:tailEnd/>
          </a:ln>
        </p:spPr>
        <p:txBody>
          <a:bodyPr>
            <a:spAutoFit/>
          </a:bodyPr>
          <a:lstStyle/>
          <a:p>
            <a:pPr eaLnBrk="0" fontAlgn="base" hangingPunct="0">
              <a:spcBef>
                <a:spcPct val="20000"/>
              </a:spcBef>
              <a:spcAft>
                <a:spcPct val="0"/>
              </a:spcAft>
            </a:pPr>
            <a:r>
              <a:rPr kumimoji="1" lang="zh-CN" altLang="en-US" sz="2800" b="1">
                <a:solidFill>
                  <a:srgbClr val="FFFF66"/>
                </a:solidFill>
                <a:latin typeface="宋体" pitchFamily="2" charset="-122"/>
              </a:rPr>
              <a:t> </a:t>
            </a:r>
            <a:r>
              <a:rPr kumimoji="1" lang="zh-CN" altLang="en-US" sz="2800" b="1">
                <a:solidFill>
                  <a:srgbClr val="0000FF"/>
                </a:solidFill>
                <a:latin typeface="宋体" pitchFamily="2" charset="-122"/>
              </a:rPr>
              <a:t>先序 </a:t>
            </a:r>
            <a:r>
              <a:rPr kumimoji="1" lang="zh-CN" altLang="en-US" sz="2800" b="1">
                <a:solidFill>
                  <a:srgbClr val="FF3300"/>
                </a:solidFill>
                <a:latin typeface="宋体" pitchFamily="2" charset="-122"/>
              </a:rPr>
              <a:t>- </a:t>
            </a:r>
            <a:r>
              <a:rPr kumimoji="1" lang="zh-CN" altLang="en-US" sz="2800" b="1">
                <a:solidFill>
                  <a:srgbClr val="0000FF"/>
                </a:solidFill>
                <a:latin typeface="宋体" pitchFamily="2" charset="-122"/>
              </a:rPr>
              <a:t>+ </a:t>
            </a:r>
            <a:r>
              <a:rPr kumimoji="1" lang="en-US" altLang="zh-CN" sz="2800" b="1">
                <a:solidFill>
                  <a:srgbClr val="0000FF"/>
                </a:solidFill>
                <a:latin typeface="宋体" pitchFamily="2" charset="-122"/>
              </a:rPr>
              <a:t>a * b – c d </a:t>
            </a:r>
            <a:r>
              <a:rPr kumimoji="1" lang="en-US" altLang="zh-CN" sz="2800" b="1">
                <a:solidFill>
                  <a:srgbClr val="000000"/>
                </a:solidFill>
                <a:latin typeface="宋体" pitchFamily="2" charset="-122"/>
              </a:rPr>
              <a:t>/ e f</a:t>
            </a:r>
          </a:p>
        </p:txBody>
      </p:sp>
      <p:sp>
        <p:nvSpPr>
          <p:cNvPr id="50" name="Text Box 57"/>
          <p:cNvSpPr txBox="1">
            <a:spLocks noChangeArrowheads="1"/>
          </p:cNvSpPr>
          <p:nvPr/>
        </p:nvSpPr>
        <p:spPr bwMode="auto">
          <a:xfrm>
            <a:off x="1524000" y="5800725"/>
            <a:ext cx="5691188" cy="523875"/>
          </a:xfrm>
          <a:prstGeom prst="rect">
            <a:avLst/>
          </a:prstGeom>
          <a:noFill/>
          <a:ln w="12700" cap="rnd">
            <a:noFill/>
            <a:miter lim="800000"/>
            <a:headEnd/>
            <a:tailEnd/>
          </a:ln>
        </p:spPr>
        <p:txBody>
          <a:bodyPr>
            <a:spAutoFit/>
          </a:bodyPr>
          <a:lstStyle/>
          <a:p>
            <a:pPr eaLnBrk="0" fontAlgn="base" hangingPunct="0">
              <a:spcBef>
                <a:spcPct val="20000"/>
              </a:spcBef>
              <a:spcAft>
                <a:spcPct val="0"/>
              </a:spcAft>
            </a:pPr>
            <a:r>
              <a:rPr kumimoji="1" lang="zh-CN" altLang="en-US" sz="2800" b="1">
                <a:solidFill>
                  <a:srgbClr val="0000FF"/>
                </a:solidFill>
                <a:latin typeface="宋体" pitchFamily="2" charset="-122"/>
              </a:rPr>
              <a:t> 前缀表示（波兰式）</a:t>
            </a:r>
            <a:endParaRPr kumimoji="1" lang="en-US" altLang="zh-CN" sz="2800" b="1">
              <a:solidFill>
                <a:srgbClr val="000000"/>
              </a:solidFill>
              <a:latin typeface="宋体" pitchFamily="2" charset="-122"/>
            </a:endParaRPr>
          </a:p>
        </p:txBody>
      </p:sp>
    </p:spTree>
    <p:extLst>
      <p:ext uri="{BB962C8B-B14F-4D97-AF65-F5344CB8AC3E}">
        <p14:creationId xmlns:p14="http://schemas.microsoft.com/office/powerpoint/2010/main" val="2432957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5.3.1  </a:t>
            </a:r>
            <a:r>
              <a:rPr kumimoji="1" lang="zh-CN" altLang="en-US" sz="3200" b="1" dirty="0">
                <a:latin typeface="Arial" charset="0"/>
                <a:ea typeface="宋体" charset="-122"/>
                <a:cs typeface="+mn-cs"/>
              </a:rPr>
              <a:t>二叉树的遍历方法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kumimoji="1" lang="zh-CN" altLang="en-US" sz="2800" b="1" dirty="0">
                <a:solidFill>
                  <a:srgbClr val="6600FF"/>
                </a:solidFill>
                <a:latin typeface="宋体" pitchFamily="2" charset="-122"/>
                <a:ea typeface="宋体" pitchFamily="2" charset="-122"/>
              </a:rPr>
              <a:t>后序遍历</a:t>
            </a:r>
            <a:r>
              <a:rPr kumimoji="1" lang="zh-CN" altLang="en-US" sz="2800" b="1" dirty="0">
                <a:solidFill>
                  <a:srgbClr val="6600CC"/>
                </a:solidFill>
                <a:latin typeface="宋体" pitchFamily="2" charset="-122"/>
                <a:ea typeface="宋体" pitchFamily="2" charset="-122"/>
              </a:rPr>
              <a:t>（ </a:t>
            </a:r>
            <a:r>
              <a:rPr kumimoji="1" lang="en-US" altLang="zh-CN" sz="2800" b="1" dirty="0">
                <a:solidFill>
                  <a:srgbClr val="04617B"/>
                </a:solidFill>
                <a:latin typeface="宋体" pitchFamily="2" charset="-122"/>
                <a:ea typeface="宋体" pitchFamily="2" charset="-122"/>
              </a:rPr>
              <a:t>L </a:t>
            </a:r>
            <a:r>
              <a:rPr kumimoji="1" lang="en-US" altLang="zh-CN" sz="2800" b="1" dirty="0">
                <a:solidFill>
                  <a:srgbClr val="FF3300"/>
                </a:solidFill>
                <a:latin typeface="宋体" pitchFamily="2" charset="-122"/>
                <a:ea typeface="宋体" pitchFamily="2" charset="-122"/>
              </a:rPr>
              <a:t>T</a:t>
            </a:r>
            <a:r>
              <a:rPr kumimoji="1" lang="en-US" altLang="zh-CN" sz="2800" b="1" dirty="0">
                <a:solidFill>
                  <a:srgbClr val="FF99CC"/>
                </a:solidFill>
                <a:latin typeface="宋体" pitchFamily="2" charset="-122"/>
                <a:ea typeface="宋体" pitchFamily="2" charset="-122"/>
              </a:rPr>
              <a:t> </a:t>
            </a:r>
            <a:r>
              <a:rPr kumimoji="1" lang="en-US" altLang="zh-CN" sz="2800" b="1" dirty="0">
                <a:solidFill>
                  <a:srgbClr val="000000"/>
                </a:solidFill>
                <a:latin typeface="宋体" pitchFamily="2" charset="-122"/>
                <a:ea typeface="宋体" pitchFamily="2" charset="-122"/>
              </a:rPr>
              <a:t>R</a:t>
            </a:r>
            <a:r>
              <a:rPr kumimoji="1" lang="en-US" altLang="zh-CN" sz="2800" dirty="0">
                <a:solidFill>
                  <a:srgbClr val="6600CC"/>
                </a:solidFill>
                <a:latin typeface="宋体" pitchFamily="2" charset="-122"/>
                <a:ea typeface="宋体" pitchFamily="2" charset="-122"/>
              </a:rPr>
              <a:t> </a:t>
            </a:r>
            <a:r>
              <a:rPr kumimoji="1" lang="en-US" altLang="zh-CN" sz="2800" b="1" dirty="0">
                <a:solidFill>
                  <a:srgbClr val="6600CC"/>
                </a:solidFill>
                <a:latin typeface="宋体" pitchFamily="2" charset="-122"/>
                <a:ea typeface="宋体" pitchFamily="2" charset="-122"/>
              </a:rPr>
              <a:t>）</a:t>
            </a:r>
            <a:endParaRPr lang="en-US" altLang="zh-CN" b="1" dirty="0"/>
          </a:p>
        </p:txBody>
      </p:sp>
      <p:sp>
        <p:nvSpPr>
          <p:cNvPr id="4" name="日期占位符 3"/>
          <p:cNvSpPr>
            <a:spLocks noGrp="1"/>
          </p:cNvSpPr>
          <p:nvPr>
            <p:ph type="dt" sz="half" idx="10"/>
          </p:nvPr>
        </p:nvSpPr>
        <p:spPr/>
        <p:txBody>
          <a:bodyPr/>
          <a:lstStyle/>
          <a:p>
            <a:fld id="{B5A9D30D-5226-4A90-AF05-F470D98204A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53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3"/>
          <p:cNvSpPr txBox="1">
            <a:spLocks noChangeArrowheads="1"/>
          </p:cNvSpPr>
          <p:nvPr/>
        </p:nvSpPr>
        <p:spPr bwMode="auto">
          <a:xfrm>
            <a:off x="730250" y="1866900"/>
            <a:ext cx="3384550" cy="1638300"/>
          </a:xfrm>
          <a:prstGeom prst="rect">
            <a:avLst/>
          </a:prstGeom>
          <a:noFill/>
          <a:ln w="12700" cap="rnd">
            <a:solidFill>
              <a:srgbClr val="04617B"/>
            </a:solidFill>
            <a:miter lim="800000"/>
            <a:headEnd/>
            <a:tailEnd/>
          </a:ln>
        </p:spPr>
        <p:txBody>
          <a:bodyPr>
            <a:spAutoFit/>
          </a:bodyPr>
          <a:lstStyle/>
          <a:p>
            <a:pPr marL="0" marR="0" lvl="0" indent="0" defTabSz="914400" eaLnBrk="0" fontAlgn="base" latinLnBrk="0" hangingPunct="0">
              <a:lnSpc>
                <a:spcPct val="100000"/>
              </a:lnSpc>
              <a:spcBef>
                <a:spcPct val="2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若二叉树非空</a:t>
            </a:r>
            <a:br>
              <a:rPr kumimoji="1" lang="zh-CN" altLang="en-US" sz="2400" b="1" i="0" u="none" strike="noStrike" kern="0" cap="none" spc="0" normalizeH="0" baseline="0" noProof="0">
                <a:ln>
                  <a:noFill/>
                </a:ln>
                <a:solidFill>
                  <a:srgbClr val="0000FF"/>
                </a:solidFill>
                <a:effectLst/>
                <a:uLnTx/>
                <a:uFillTx/>
                <a:latin typeface="宋体" pitchFamily="2" charset="-122"/>
              </a:rPr>
            </a:br>
            <a:r>
              <a:rPr kumimoji="1" lang="zh-CN" altLang="en-US" sz="2400" b="1" i="0" u="none" strike="noStrike" kern="0" cap="none" spc="0" normalizeH="0" baseline="0" noProof="0">
                <a:ln>
                  <a:noFill/>
                </a:ln>
                <a:solidFill>
                  <a:srgbClr val="0000FF"/>
                </a:solidFill>
                <a:effectLst/>
                <a:uLnTx/>
                <a:uFillTx/>
                <a:latin typeface="宋体" pitchFamily="2" charset="-122"/>
              </a:rPr>
              <a:t>（1）后序遍历左子树</a:t>
            </a:r>
            <a:br>
              <a:rPr kumimoji="1" lang="zh-CN" altLang="en-US" sz="2400" b="1" i="0" u="none" strike="noStrike" kern="0" cap="none" spc="0" normalizeH="0" baseline="0" noProof="0">
                <a:ln>
                  <a:noFill/>
                </a:ln>
                <a:solidFill>
                  <a:srgbClr val="0000FF"/>
                </a:solidFill>
                <a:effectLst/>
                <a:uLnTx/>
                <a:uFillTx/>
                <a:latin typeface="宋体" pitchFamily="2" charset="-122"/>
              </a:rPr>
            </a:br>
            <a:r>
              <a:rPr kumimoji="1" lang="zh-CN" altLang="en-US" sz="2400" b="1" i="0" u="none" strike="noStrike" kern="0" cap="none" spc="0" normalizeH="0" baseline="0" noProof="0">
                <a:ln>
                  <a:noFill/>
                </a:ln>
                <a:solidFill>
                  <a:srgbClr val="0000FF"/>
                </a:solidFill>
                <a:effectLst/>
                <a:uLnTx/>
                <a:uFillTx/>
                <a:latin typeface="宋体" pitchFamily="2" charset="-122"/>
              </a:rPr>
              <a:t>（2）后序遍历右子树</a:t>
            </a:r>
          </a:p>
          <a:p>
            <a:pPr marL="0" marR="0" lvl="0" indent="0" defTabSz="914400" eaLnBrk="0" fontAlgn="base" latinLnBrk="0" hangingPunct="0">
              <a:lnSpc>
                <a:spcPct val="100000"/>
              </a:lnSpc>
              <a:spcBef>
                <a:spcPct val="2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（3）访问根结点</a:t>
            </a:r>
          </a:p>
        </p:txBody>
      </p:sp>
      <p:sp>
        <p:nvSpPr>
          <p:cNvPr id="14" name="Text Box 4"/>
          <p:cNvSpPr txBox="1">
            <a:spLocks noChangeArrowheads="1"/>
          </p:cNvSpPr>
          <p:nvPr/>
        </p:nvSpPr>
        <p:spPr bwMode="auto">
          <a:xfrm>
            <a:off x="457200" y="5567363"/>
            <a:ext cx="9906000" cy="6413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3600" b="1">
                <a:solidFill>
                  <a:srgbClr val="FFFF66"/>
                </a:solidFill>
                <a:latin typeface="黑体" pitchFamily="2" charset="-122"/>
                <a:ea typeface="黑体" pitchFamily="2" charset="-122"/>
              </a:rPr>
              <a:t> </a:t>
            </a:r>
            <a:r>
              <a:rPr kumimoji="1" lang="zh-CN" altLang="en-US" sz="2400" b="1">
                <a:solidFill>
                  <a:srgbClr val="0000FF"/>
                </a:solidFill>
                <a:latin typeface="黑体" pitchFamily="2" charset="-122"/>
                <a:ea typeface="黑体" pitchFamily="2" charset="-122"/>
              </a:rPr>
              <a:t>后序遍历序列：</a:t>
            </a:r>
            <a:r>
              <a:rPr kumimoji="1" lang="zh-CN" altLang="en-US" sz="2400" b="1">
                <a:solidFill>
                  <a:srgbClr val="FFFF66"/>
                </a:solidFill>
                <a:latin typeface="黑体" pitchFamily="2" charset="-122"/>
                <a:ea typeface="黑体" pitchFamily="2" charset="-122"/>
              </a:rPr>
              <a:t> </a:t>
            </a:r>
            <a:r>
              <a:rPr kumimoji="1" lang="en-US" altLang="zh-CN" sz="2400" b="1">
                <a:solidFill>
                  <a:srgbClr val="04617B"/>
                </a:solidFill>
                <a:latin typeface="黑体" pitchFamily="2" charset="-122"/>
                <a:ea typeface="黑体" pitchFamily="2" charset="-122"/>
              </a:rPr>
              <a:t>D</a:t>
            </a:r>
            <a:r>
              <a:rPr kumimoji="1" lang="en-US" altLang="zh-CN" sz="2400" b="1">
                <a:solidFill>
                  <a:srgbClr val="000000"/>
                </a:solidFill>
                <a:latin typeface="黑体" pitchFamily="2" charset="-122"/>
                <a:ea typeface="黑体" pitchFamily="2" charset="-122"/>
              </a:rPr>
              <a:t>,</a:t>
            </a:r>
            <a:r>
              <a:rPr kumimoji="1" lang="en-US" altLang="zh-CN" sz="2400" b="1">
                <a:solidFill>
                  <a:srgbClr val="04617B"/>
                </a:solidFill>
                <a:latin typeface="黑体" pitchFamily="2" charset="-122"/>
                <a:ea typeface="黑体" pitchFamily="2" charset="-122"/>
              </a:rPr>
              <a:t>G</a:t>
            </a:r>
            <a:r>
              <a:rPr kumimoji="1" lang="en-US" altLang="zh-CN" sz="2400" b="1">
                <a:solidFill>
                  <a:srgbClr val="000000"/>
                </a:solidFill>
                <a:latin typeface="黑体" pitchFamily="2" charset="-122"/>
                <a:ea typeface="黑体" pitchFamily="2" charset="-122"/>
              </a:rPr>
              <a:t>,E,</a:t>
            </a:r>
            <a:r>
              <a:rPr kumimoji="1" lang="en-US" altLang="zh-CN" sz="2400" b="1">
                <a:solidFill>
                  <a:srgbClr val="04617B"/>
                </a:solidFill>
                <a:latin typeface="黑体" pitchFamily="2" charset="-122"/>
                <a:ea typeface="黑体" pitchFamily="2" charset="-122"/>
              </a:rPr>
              <a:t>B</a:t>
            </a:r>
            <a:r>
              <a:rPr kumimoji="1" lang="en-US" altLang="zh-CN" sz="2400" b="1">
                <a:solidFill>
                  <a:srgbClr val="000000"/>
                </a:solidFill>
                <a:latin typeface="黑体" pitchFamily="2" charset="-122"/>
                <a:ea typeface="黑体" pitchFamily="2" charset="-122"/>
              </a:rPr>
              <a:t>,F,C,</a:t>
            </a:r>
            <a:r>
              <a:rPr kumimoji="1" lang="en-US" altLang="zh-CN" sz="2400" b="1">
                <a:solidFill>
                  <a:srgbClr val="FF3300"/>
                </a:solidFill>
                <a:latin typeface="黑体" pitchFamily="2" charset="-122"/>
                <a:ea typeface="黑体" pitchFamily="2" charset="-122"/>
              </a:rPr>
              <a:t>A</a:t>
            </a:r>
          </a:p>
        </p:txBody>
      </p:sp>
      <p:sp>
        <p:nvSpPr>
          <p:cNvPr id="15" name="Text Box 5"/>
          <p:cNvSpPr txBox="1">
            <a:spLocks noChangeArrowheads="1"/>
          </p:cNvSpPr>
          <p:nvPr/>
        </p:nvSpPr>
        <p:spPr bwMode="auto">
          <a:xfrm>
            <a:off x="457200" y="3759200"/>
            <a:ext cx="9906000" cy="1771650"/>
          </a:xfrm>
          <a:prstGeom prst="rect">
            <a:avLst/>
          </a:prstGeom>
          <a:noFill/>
          <a:ln w="12700" cap="rnd">
            <a:noFill/>
            <a:miter lim="800000"/>
            <a:headEnd/>
            <a:tailEnd/>
          </a:ln>
        </p:spPr>
        <p:txBody>
          <a:bodyPr>
            <a:spAutoFit/>
          </a:bodyPr>
          <a:lstStyle/>
          <a:p>
            <a:pPr eaLnBrk="0" fontAlgn="base" hangingPunct="0">
              <a:spcBef>
                <a:spcPct val="20000"/>
              </a:spcBef>
              <a:spcAft>
                <a:spcPct val="0"/>
              </a:spcAft>
            </a:pPr>
            <a:r>
              <a:rPr kumimoji="1" lang="zh-CN" altLang="en-US" sz="2400" b="1">
                <a:solidFill>
                  <a:srgbClr val="0000FF"/>
                </a:solidFill>
                <a:latin typeface="宋体" pitchFamily="2" charset="-122"/>
              </a:rPr>
              <a:t>         后</a:t>
            </a:r>
            <a:r>
              <a:rPr kumimoji="1" lang="zh-CN" altLang="en-US" sz="2400" b="1">
                <a:solidFill>
                  <a:srgbClr val="0000FF"/>
                </a:solidFill>
                <a:latin typeface="黑体" pitchFamily="2" charset="-122"/>
                <a:ea typeface="黑体" pitchFamily="2" charset="-122"/>
              </a:rPr>
              <a:t>序遍历右图所示的二叉树</a:t>
            </a:r>
            <a:endParaRPr kumimoji="1" lang="zh-CN" altLang="en-US" sz="2400" b="1">
              <a:solidFill>
                <a:srgbClr val="0000FF"/>
              </a:solidFill>
              <a:latin typeface="宋体" pitchFamily="2" charset="-122"/>
            </a:endParaRPr>
          </a:p>
          <a:p>
            <a:pPr eaLnBrk="0" fontAlgn="base" hangingPunct="0">
              <a:spcBef>
                <a:spcPct val="20000"/>
              </a:spcBef>
              <a:spcAft>
                <a:spcPct val="0"/>
              </a:spcAft>
            </a:pPr>
            <a:r>
              <a:rPr kumimoji="1" lang="zh-CN" altLang="en-US" sz="2400" b="1">
                <a:solidFill>
                  <a:srgbClr val="0000FF"/>
                </a:solidFill>
                <a:latin typeface="宋体" pitchFamily="2" charset="-122"/>
              </a:rPr>
              <a:t>    （1）后序遍历左子树：即按</a:t>
            </a:r>
            <a:r>
              <a:rPr kumimoji="1" lang="zh-CN" altLang="en-US" sz="2400" b="1">
                <a:solidFill>
                  <a:srgbClr val="FFFFA5"/>
                </a:solidFill>
                <a:latin typeface="宋体" pitchFamily="2" charset="-122"/>
              </a:rPr>
              <a:t> </a:t>
            </a:r>
            <a:r>
              <a:rPr kumimoji="1" lang="en-US" altLang="zh-CN" sz="2400" b="1">
                <a:solidFill>
                  <a:srgbClr val="04617B"/>
                </a:solidFill>
                <a:latin typeface="黑体" pitchFamily="2" charset="-122"/>
                <a:ea typeface="黑体" pitchFamily="2" charset="-122"/>
              </a:rPr>
              <a:t>L </a:t>
            </a:r>
            <a:r>
              <a:rPr kumimoji="1" lang="en-US" altLang="zh-CN" sz="2400" b="1">
                <a:solidFill>
                  <a:srgbClr val="000000"/>
                </a:solidFill>
                <a:latin typeface="黑体" pitchFamily="2" charset="-122"/>
                <a:ea typeface="黑体" pitchFamily="2" charset="-122"/>
              </a:rPr>
              <a:t>R </a:t>
            </a:r>
            <a:r>
              <a:rPr kumimoji="1" lang="en-US" altLang="zh-CN" sz="2400" b="1">
                <a:solidFill>
                  <a:srgbClr val="FF3300"/>
                </a:solidFill>
                <a:latin typeface="黑体" pitchFamily="2" charset="-122"/>
                <a:ea typeface="黑体" pitchFamily="2" charset="-122"/>
              </a:rPr>
              <a:t>T</a:t>
            </a:r>
            <a:r>
              <a:rPr kumimoji="1" lang="en-US" altLang="zh-CN" sz="2400" b="1">
                <a:solidFill>
                  <a:srgbClr val="FF99CC"/>
                </a:solidFill>
                <a:latin typeface="黑体" pitchFamily="2" charset="-122"/>
                <a:ea typeface="黑体" pitchFamily="2" charset="-122"/>
              </a:rPr>
              <a:t> </a:t>
            </a:r>
            <a:r>
              <a:rPr kumimoji="1" lang="zh-CN" altLang="en-US" sz="2400" b="1">
                <a:solidFill>
                  <a:srgbClr val="0000FF"/>
                </a:solidFill>
                <a:latin typeface="宋体" pitchFamily="2" charset="-122"/>
              </a:rPr>
              <a:t>的顺序遍历</a:t>
            </a:r>
            <a:r>
              <a:rPr kumimoji="1" lang="zh-CN" altLang="en-US" sz="2400" b="1">
                <a:solidFill>
                  <a:srgbClr val="000000"/>
                </a:solidFill>
                <a:latin typeface="宋体" pitchFamily="2" charset="-122"/>
              </a:rPr>
              <a:t>左子树</a:t>
            </a:r>
          </a:p>
          <a:p>
            <a:pPr eaLnBrk="0" fontAlgn="base" hangingPunct="0">
              <a:spcBef>
                <a:spcPct val="20000"/>
              </a:spcBef>
              <a:spcAft>
                <a:spcPct val="0"/>
              </a:spcAft>
            </a:pPr>
            <a:r>
              <a:rPr kumimoji="1" lang="zh-CN" altLang="en-US" sz="2400" b="1">
                <a:solidFill>
                  <a:srgbClr val="04617B"/>
                </a:solidFill>
                <a:latin typeface="宋体" pitchFamily="2" charset="-122"/>
              </a:rPr>
              <a:t>    </a:t>
            </a:r>
            <a:r>
              <a:rPr kumimoji="1" lang="zh-CN" altLang="en-US" sz="2400" b="1">
                <a:solidFill>
                  <a:srgbClr val="0000FF"/>
                </a:solidFill>
                <a:latin typeface="宋体" pitchFamily="2" charset="-122"/>
              </a:rPr>
              <a:t>（2）后序遍历右子树：即按</a:t>
            </a:r>
            <a:r>
              <a:rPr kumimoji="1" lang="zh-CN" altLang="en-US" sz="2400" b="1">
                <a:solidFill>
                  <a:srgbClr val="FFFFA5"/>
                </a:solidFill>
                <a:latin typeface="宋体" pitchFamily="2" charset="-122"/>
              </a:rPr>
              <a:t> </a:t>
            </a:r>
            <a:r>
              <a:rPr kumimoji="1" lang="en-US" altLang="zh-CN" sz="2400" b="1">
                <a:solidFill>
                  <a:srgbClr val="04617B"/>
                </a:solidFill>
                <a:latin typeface="黑体" pitchFamily="2" charset="-122"/>
                <a:ea typeface="黑体" pitchFamily="2" charset="-122"/>
              </a:rPr>
              <a:t>L </a:t>
            </a:r>
            <a:r>
              <a:rPr kumimoji="1" lang="en-US" altLang="zh-CN" sz="2400" b="1">
                <a:solidFill>
                  <a:srgbClr val="000000"/>
                </a:solidFill>
                <a:latin typeface="黑体" pitchFamily="2" charset="-122"/>
                <a:ea typeface="黑体" pitchFamily="2" charset="-122"/>
              </a:rPr>
              <a:t>R </a:t>
            </a:r>
            <a:r>
              <a:rPr kumimoji="1" lang="en-US" altLang="zh-CN" sz="2400" b="1">
                <a:solidFill>
                  <a:srgbClr val="FF3300"/>
                </a:solidFill>
                <a:latin typeface="黑体" pitchFamily="2" charset="-122"/>
                <a:ea typeface="黑体" pitchFamily="2" charset="-122"/>
              </a:rPr>
              <a:t>T</a:t>
            </a:r>
            <a:r>
              <a:rPr kumimoji="1" lang="en-US" altLang="zh-CN" sz="2400" b="1">
                <a:solidFill>
                  <a:srgbClr val="FF99CC"/>
                </a:solidFill>
                <a:latin typeface="黑体" pitchFamily="2" charset="-122"/>
                <a:ea typeface="黑体" pitchFamily="2" charset="-122"/>
              </a:rPr>
              <a:t> </a:t>
            </a:r>
            <a:r>
              <a:rPr kumimoji="1" lang="zh-CN" altLang="en-US" sz="2400" b="1">
                <a:solidFill>
                  <a:srgbClr val="0000FF"/>
                </a:solidFill>
                <a:latin typeface="宋体" pitchFamily="2" charset="-122"/>
              </a:rPr>
              <a:t>的顺序遍历</a:t>
            </a:r>
            <a:r>
              <a:rPr kumimoji="1" lang="zh-CN" altLang="en-US" sz="2400" b="1">
                <a:solidFill>
                  <a:srgbClr val="000000"/>
                </a:solidFill>
                <a:latin typeface="宋体" pitchFamily="2" charset="-122"/>
              </a:rPr>
              <a:t>右子树</a:t>
            </a:r>
          </a:p>
          <a:p>
            <a:pPr eaLnBrk="0" fontAlgn="base" hangingPunct="0">
              <a:spcBef>
                <a:spcPct val="20000"/>
              </a:spcBef>
              <a:spcAft>
                <a:spcPct val="0"/>
              </a:spcAft>
            </a:pPr>
            <a:r>
              <a:rPr kumimoji="1" lang="zh-CN" altLang="en-US" sz="2400" b="1">
                <a:solidFill>
                  <a:srgbClr val="FFFFA5"/>
                </a:solidFill>
                <a:latin typeface="宋体" pitchFamily="2" charset="-122"/>
              </a:rPr>
              <a:t>    </a:t>
            </a:r>
            <a:r>
              <a:rPr kumimoji="1" lang="zh-CN" altLang="en-US" sz="2400" b="1">
                <a:solidFill>
                  <a:srgbClr val="0000FF"/>
                </a:solidFill>
                <a:latin typeface="宋体" pitchFamily="2" charset="-122"/>
              </a:rPr>
              <a:t>（3）访问根结点</a:t>
            </a:r>
            <a:r>
              <a:rPr kumimoji="1" lang="en-US" altLang="zh-CN" sz="2400" b="1">
                <a:solidFill>
                  <a:srgbClr val="FF3300"/>
                </a:solidFill>
                <a:latin typeface="黑体" pitchFamily="2" charset="-122"/>
                <a:ea typeface="黑体" pitchFamily="2" charset="-122"/>
              </a:rPr>
              <a:t>A</a:t>
            </a:r>
          </a:p>
        </p:txBody>
      </p:sp>
      <p:sp>
        <p:nvSpPr>
          <p:cNvPr id="16" name="AutoShape 37">
            <a:hlinkClick r:id="rId4" action="ppaction://hlinkfile"/>
          </p:cNvPr>
          <p:cNvSpPr>
            <a:spLocks noChangeArrowheads="1"/>
          </p:cNvSpPr>
          <p:nvPr/>
        </p:nvSpPr>
        <p:spPr bwMode="auto">
          <a:xfrm>
            <a:off x="6724650" y="5562600"/>
            <a:ext cx="1733550" cy="1165225"/>
          </a:xfrm>
          <a:custGeom>
            <a:avLst/>
            <a:gdLst>
              <a:gd name="T0" fmla="*/ 195838526 w 21600"/>
              <a:gd name="T1" fmla="*/ 0 h 21600"/>
              <a:gd name="T2" fmla="*/ 0 w 21600"/>
              <a:gd name="T3" fmla="*/ 38844009 h 21600"/>
              <a:gd name="T4" fmla="*/ 195838526 w 21600"/>
              <a:gd name="T5" fmla="*/ 77688019 h 21600"/>
              <a:gd name="T6" fmla="*/ 261118072 w 21600"/>
              <a:gd name="T7" fmla="*/ 38844009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1" i="0" u="none" strike="noStrike" kern="0" cap="none" spc="0" normalizeH="0" baseline="0" noProof="0" dirty="0">
                <a:ln>
                  <a:noFill/>
                </a:ln>
                <a:solidFill>
                  <a:srgbClr val="003300"/>
                </a:solidFill>
                <a:effectLst/>
                <a:uLnTx/>
                <a:uFillTx/>
                <a:latin typeface="隶书" pitchFamily="49" charset="-122"/>
                <a:ea typeface="隶书" pitchFamily="49" charset="-122"/>
                <a:cs typeface="+mn-cs"/>
              </a:rPr>
              <a:t>图示</a:t>
            </a:r>
          </a:p>
        </p:txBody>
      </p:sp>
      <p:grpSp>
        <p:nvGrpSpPr>
          <p:cNvPr id="17" name="Group 69"/>
          <p:cNvGrpSpPr>
            <a:grpSpLocks/>
          </p:cNvGrpSpPr>
          <p:nvPr/>
        </p:nvGrpSpPr>
        <p:grpSpPr bwMode="auto">
          <a:xfrm>
            <a:off x="5445919" y="1295400"/>
            <a:ext cx="3850481" cy="2657475"/>
            <a:chOff x="3264" y="384"/>
            <a:chExt cx="2736" cy="1906"/>
          </a:xfrm>
        </p:grpSpPr>
        <p:sp>
          <p:nvSpPr>
            <p:cNvPr id="19" name="Oval 70"/>
            <p:cNvSpPr>
              <a:spLocks noChangeArrowheads="1"/>
            </p:cNvSpPr>
            <p:nvPr/>
          </p:nvSpPr>
          <p:spPr bwMode="auto">
            <a:xfrm>
              <a:off x="4469" y="503"/>
              <a:ext cx="295"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0" name="Text Box 71"/>
            <p:cNvSpPr txBox="1">
              <a:spLocks noChangeArrowheads="1"/>
            </p:cNvSpPr>
            <p:nvPr/>
          </p:nvSpPr>
          <p:spPr bwMode="auto">
            <a:xfrm>
              <a:off x="4392" y="432"/>
              <a:ext cx="535"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A</a:t>
              </a:r>
            </a:p>
          </p:txBody>
        </p:sp>
        <p:sp>
          <p:nvSpPr>
            <p:cNvPr id="21" name="Oval 72"/>
            <p:cNvSpPr>
              <a:spLocks noChangeArrowheads="1"/>
            </p:cNvSpPr>
            <p:nvPr/>
          </p:nvSpPr>
          <p:spPr bwMode="auto">
            <a:xfrm>
              <a:off x="5542" y="1320"/>
              <a:ext cx="295"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2" name="Text Box 73"/>
            <p:cNvSpPr txBox="1">
              <a:spLocks noChangeArrowheads="1"/>
            </p:cNvSpPr>
            <p:nvPr/>
          </p:nvSpPr>
          <p:spPr bwMode="auto">
            <a:xfrm>
              <a:off x="5465" y="1249"/>
              <a:ext cx="535"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F</a:t>
              </a:r>
            </a:p>
          </p:txBody>
        </p:sp>
        <p:sp>
          <p:nvSpPr>
            <p:cNvPr id="23" name="Oval 74"/>
            <p:cNvSpPr>
              <a:spLocks noChangeArrowheads="1"/>
            </p:cNvSpPr>
            <p:nvPr/>
          </p:nvSpPr>
          <p:spPr bwMode="auto">
            <a:xfrm>
              <a:off x="3888" y="1835"/>
              <a:ext cx="296"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4" name="Text Box 75"/>
            <p:cNvSpPr txBox="1">
              <a:spLocks noChangeArrowheads="1"/>
            </p:cNvSpPr>
            <p:nvPr/>
          </p:nvSpPr>
          <p:spPr bwMode="auto">
            <a:xfrm>
              <a:off x="3810" y="1764"/>
              <a:ext cx="536"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G</a:t>
              </a:r>
            </a:p>
          </p:txBody>
        </p:sp>
        <p:sp>
          <p:nvSpPr>
            <p:cNvPr id="25" name="Oval 76"/>
            <p:cNvSpPr>
              <a:spLocks noChangeArrowheads="1"/>
            </p:cNvSpPr>
            <p:nvPr/>
          </p:nvSpPr>
          <p:spPr bwMode="auto">
            <a:xfrm>
              <a:off x="4246" y="1385"/>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6" name="Text Box 77"/>
            <p:cNvSpPr txBox="1">
              <a:spLocks noChangeArrowheads="1"/>
            </p:cNvSpPr>
            <p:nvPr/>
          </p:nvSpPr>
          <p:spPr bwMode="auto">
            <a:xfrm>
              <a:off x="4169" y="1314"/>
              <a:ext cx="535"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E</a:t>
              </a:r>
            </a:p>
          </p:txBody>
        </p:sp>
        <p:sp>
          <p:nvSpPr>
            <p:cNvPr id="27" name="Oval 78"/>
            <p:cNvSpPr>
              <a:spLocks noChangeArrowheads="1"/>
            </p:cNvSpPr>
            <p:nvPr/>
          </p:nvSpPr>
          <p:spPr bwMode="auto">
            <a:xfrm>
              <a:off x="3486" y="1385"/>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8" name="Text Box 79"/>
            <p:cNvSpPr txBox="1">
              <a:spLocks noChangeArrowheads="1"/>
            </p:cNvSpPr>
            <p:nvPr/>
          </p:nvSpPr>
          <p:spPr bwMode="auto">
            <a:xfrm>
              <a:off x="3408" y="1314"/>
              <a:ext cx="535"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D</a:t>
              </a:r>
            </a:p>
          </p:txBody>
        </p:sp>
        <p:sp>
          <p:nvSpPr>
            <p:cNvPr id="29" name="Oval 80"/>
            <p:cNvSpPr>
              <a:spLocks noChangeArrowheads="1"/>
            </p:cNvSpPr>
            <p:nvPr/>
          </p:nvSpPr>
          <p:spPr bwMode="auto">
            <a:xfrm>
              <a:off x="5095" y="911"/>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30" name="Text Box 81"/>
            <p:cNvSpPr txBox="1">
              <a:spLocks noChangeArrowheads="1"/>
            </p:cNvSpPr>
            <p:nvPr/>
          </p:nvSpPr>
          <p:spPr bwMode="auto">
            <a:xfrm>
              <a:off x="5016" y="840"/>
              <a:ext cx="537"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C</a:t>
              </a:r>
            </a:p>
          </p:txBody>
        </p:sp>
        <p:sp>
          <p:nvSpPr>
            <p:cNvPr id="31" name="Oval 82"/>
            <p:cNvSpPr>
              <a:spLocks noChangeArrowheads="1"/>
            </p:cNvSpPr>
            <p:nvPr/>
          </p:nvSpPr>
          <p:spPr bwMode="auto">
            <a:xfrm>
              <a:off x="3888" y="952"/>
              <a:ext cx="296"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32" name="Text Box 83"/>
            <p:cNvSpPr txBox="1">
              <a:spLocks noChangeArrowheads="1"/>
            </p:cNvSpPr>
            <p:nvPr/>
          </p:nvSpPr>
          <p:spPr bwMode="auto">
            <a:xfrm>
              <a:off x="3810" y="881"/>
              <a:ext cx="536" cy="3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B</a:t>
              </a:r>
            </a:p>
          </p:txBody>
        </p:sp>
        <p:sp>
          <p:nvSpPr>
            <p:cNvPr id="33" name="Line 84"/>
            <p:cNvSpPr>
              <a:spLocks noChangeShapeType="1"/>
            </p:cNvSpPr>
            <p:nvPr/>
          </p:nvSpPr>
          <p:spPr bwMode="auto">
            <a:xfrm flipH="1">
              <a:off x="4123" y="718"/>
              <a:ext cx="358" cy="24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4" name="Line 85"/>
            <p:cNvSpPr>
              <a:spLocks noChangeShapeType="1"/>
            </p:cNvSpPr>
            <p:nvPr/>
          </p:nvSpPr>
          <p:spPr bwMode="auto">
            <a:xfrm>
              <a:off x="4749" y="718"/>
              <a:ext cx="357" cy="243"/>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5" name="Line 86"/>
            <p:cNvSpPr>
              <a:spLocks noChangeShapeType="1"/>
            </p:cNvSpPr>
            <p:nvPr/>
          </p:nvSpPr>
          <p:spPr bwMode="auto">
            <a:xfrm>
              <a:off x="4168" y="1176"/>
              <a:ext cx="223" cy="20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6" name="Line 87"/>
            <p:cNvSpPr>
              <a:spLocks noChangeShapeType="1"/>
            </p:cNvSpPr>
            <p:nvPr/>
          </p:nvSpPr>
          <p:spPr bwMode="auto">
            <a:xfrm flipH="1">
              <a:off x="4078" y="1626"/>
              <a:ext cx="227" cy="204"/>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7" name="Line 88"/>
            <p:cNvSpPr>
              <a:spLocks noChangeShapeType="1"/>
            </p:cNvSpPr>
            <p:nvPr/>
          </p:nvSpPr>
          <p:spPr bwMode="auto">
            <a:xfrm flipH="1">
              <a:off x="3676" y="1176"/>
              <a:ext cx="226" cy="20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8" name="Line 89"/>
            <p:cNvSpPr>
              <a:spLocks noChangeShapeType="1"/>
            </p:cNvSpPr>
            <p:nvPr/>
          </p:nvSpPr>
          <p:spPr bwMode="auto">
            <a:xfrm>
              <a:off x="5375" y="1127"/>
              <a:ext cx="223" cy="204"/>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9" name="Oval 90"/>
            <p:cNvSpPr>
              <a:spLocks noChangeArrowheads="1"/>
            </p:cNvSpPr>
            <p:nvPr/>
          </p:nvSpPr>
          <p:spPr bwMode="auto">
            <a:xfrm>
              <a:off x="3264" y="754"/>
              <a:ext cx="1392" cy="1536"/>
            </a:xfrm>
            <a:prstGeom prst="ellipse">
              <a:avLst/>
            </a:prstGeom>
            <a:noFill/>
            <a:ln w="12700" cap="rnd">
              <a:solidFill>
                <a:srgbClr val="0F6FC6"/>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40" name="Oval 91"/>
            <p:cNvSpPr>
              <a:spLocks noChangeArrowheads="1"/>
            </p:cNvSpPr>
            <p:nvPr/>
          </p:nvSpPr>
          <p:spPr bwMode="auto">
            <a:xfrm>
              <a:off x="4944" y="768"/>
              <a:ext cx="960" cy="1248"/>
            </a:xfrm>
            <a:prstGeom prst="ellips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41" name="Oval 92"/>
            <p:cNvSpPr>
              <a:spLocks noChangeArrowheads="1"/>
            </p:cNvSpPr>
            <p:nvPr/>
          </p:nvSpPr>
          <p:spPr bwMode="auto">
            <a:xfrm>
              <a:off x="4224" y="384"/>
              <a:ext cx="816" cy="528"/>
            </a:xfrm>
            <a:prstGeom prst="ellipse">
              <a:avLst/>
            </a:prstGeom>
            <a:noFill/>
            <a:ln w="12700" cap="rnd">
              <a:solidFill>
                <a:srgbClr val="FF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grpSp>
      <p:sp>
        <p:nvSpPr>
          <p:cNvPr id="42" name="Oval 93"/>
          <p:cNvSpPr>
            <a:spLocks noChangeArrowheads="1"/>
          </p:cNvSpPr>
          <p:nvPr/>
        </p:nvSpPr>
        <p:spPr bwMode="auto">
          <a:xfrm>
            <a:off x="657225" y="3767138"/>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a:solidFill>
                  <a:srgbClr val="000000"/>
                </a:solidFill>
                <a:latin typeface="Times New Roman" pitchFamily="18" charset="0"/>
              </a:rPr>
              <a:t>例</a:t>
            </a:r>
          </a:p>
        </p:txBody>
      </p:sp>
    </p:spTree>
    <p:extLst>
      <p:ext uri="{BB962C8B-B14F-4D97-AF65-F5344CB8AC3E}">
        <p14:creationId xmlns:p14="http://schemas.microsoft.com/office/powerpoint/2010/main" val="258827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animBg="1"/>
      <p:bldP spid="4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5.3.1  </a:t>
            </a:r>
            <a:r>
              <a:rPr kumimoji="1" lang="zh-CN" altLang="en-US" sz="3200" b="1" dirty="0">
                <a:latin typeface="Arial" charset="0"/>
                <a:ea typeface="宋体" charset="-122"/>
                <a:cs typeface="+mn-cs"/>
              </a:rPr>
              <a:t>二叉树的遍历方法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       后序遍历下图所示的二叉树</a:t>
            </a:r>
            <a:endParaRPr lang="en-US" altLang="zh-CN" sz="2800" b="1" dirty="0"/>
          </a:p>
        </p:txBody>
      </p:sp>
      <p:sp>
        <p:nvSpPr>
          <p:cNvPr id="4" name="日期占位符 3"/>
          <p:cNvSpPr>
            <a:spLocks noGrp="1"/>
          </p:cNvSpPr>
          <p:nvPr>
            <p:ph type="dt" sz="half" idx="10"/>
          </p:nvPr>
        </p:nvSpPr>
        <p:spPr/>
        <p:txBody>
          <a:bodyPr/>
          <a:lstStyle/>
          <a:p>
            <a:fld id="{DEA08CAD-F264-4511-92A4-2E44AF17E63D}"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54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Oval 64"/>
          <p:cNvSpPr>
            <a:spLocks noChangeArrowheads="1"/>
          </p:cNvSpPr>
          <p:nvPr/>
        </p:nvSpPr>
        <p:spPr bwMode="auto">
          <a:xfrm>
            <a:off x="304800" y="1219200"/>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dirty="0">
                <a:solidFill>
                  <a:srgbClr val="000000"/>
                </a:solidFill>
                <a:latin typeface="Times New Roman" pitchFamily="18" charset="0"/>
              </a:rPr>
              <a:t>练习</a:t>
            </a:r>
          </a:p>
        </p:txBody>
      </p:sp>
      <p:grpSp>
        <p:nvGrpSpPr>
          <p:cNvPr id="14" name="Group 67"/>
          <p:cNvGrpSpPr>
            <a:grpSpLocks/>
          </p:cNvGrpSpPr>
          <p:nvPr/>
        </p:nvGrpSpPr>
        <p:grpSpPr bwMode="auto">
          <a:xfrm>
            <a:off x="2362200" y="1668462"/>
            <a:ext cx="4724400" cy="3373438"/>
            <a:chOff x="1488" y="670"/>
            <a:chExt cx="2976" cy="2125"/>
          </a:xfrm>
        </p:grpSpPr>
        <p:sp>
          <p:nvSpPr>
            <p:cNvPr id="15" name="Line 39"/>
            <p:cNvSpPr>
              <a:spLocks noChangeShapeType="1"/>
            </p:cNvSpPr>
            <p:nvPr/>
          </p:nvSpPr>
          <p:spPr bwMode="auto">
            <a:xfrm flipH="1">
              <a:off x="2304" y="946"/>
              <a:ext cx="528" cy="321"/>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6" name="Line 40"/>
            <p:cNvSpPr>
              <a:spLocks noChangeShapeType="1"/>
            </p:cNvSpPr>
            <p:nvPr/>
          </p:nvSpPr>
          <p:spPr bwMode="auto">
            <a:xfrm>
              <a:off x="3120" y="946"/>
              <a:ext cx="480" cy="27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7" name="Line 41"/>
            <p:cNvSpPr>
              <a:spLocks noChangeShapeType="1"/>
            </p:cNvSpPr>
            <p:nvPr/>
          </p:nvSpPr>
          <p:spPr bwMode="auto">
            <a:xfrm flipH="1">
              <a:off x="2256" y="1864"/>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9" name="Line 42"/>
            <p:cNvSpPr>
              <a:spLocks noChangeShapeType="1"/>
            </p:cNvSpPr>
            <p:nvPr/>
          </p:nvSpPr>
          <p:spPr bwMode="auto">
            <a:xfrm>
              <a:off x="2304" y="1405"/>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0" name="Line 43"/>
            <p:cNvSpPr>
              <a:spLocks noChangeShapeType="1"/>
            </p:cNvSpPr>
            <p:nvPr/>
          </p:nvSpPr>
          <p:spPr bwMode="auto">
            <a:xfrm flipH="1">
              <a:off x="1824" y="1405"/>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1" name="Line 44"/>
            <p:cNvSpPr>
              <a:spLocks noChangeShapeType="1"/>
            </p:cNvSpPr>
            <p:nvPr/>
          </p:nvSpPr>
          <p:spPr bwMode="auto">
            <a:xfrm>
              <a:off x="2736" y="1864"/>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2" name="Line 45"/>
            <p:cNvSpPr>
              <a:spLocks noChangeShapeType="1"/>
            </p:cNvSpPr>
            <p:nvPr/>
          </p:nvSpPr>
          <p:spPr bwMode="auto">
            <a:xfrm flipH="1">
              <a:off x="2736" y="2277"/>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 name="Line 46"/>
            <p:cNvSpPr>
              <a:spLocks noChangeShapeType="1"/>
            </p:cNvSpPr>
            <p:nvPr/>
          </p:nvSpPr>
          <p:spPr bwMode="auto">
            <a:xfrm>
              <a:off x="3168" y="2277"/>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4" name="Line 47"/>
            <p:cNvSpPr>
              <a:spLocks noChangeShapeType="1"/>
            </p:cNvSpPr>
            <p:nvPr/>
          </p:nvSpPr>
          <p:spPr bwMode="auto">
            <a:xfrm flipH="1">
              <a:off x="3360" y="1405"/>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Line 48"/>
            <p:cNvSpPr>
              <a:spLocks noChangeShapeType="1"/>
            </p:cNvSpPr>
            <p:nvPr/>
          </p:nvSpPr>
          <p:spPr bwMode="auto">
            <a:xfrm>
              <a:off x="3840" y="1405"/>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Oval 9"/>
            <p:cNvSpPr>
              <a:spLocks noChangeArrowheads="1"/>
            </p:cNvSpPr>
            <p:nvPr/>
          </p:nvSpPr>
          <p:spPr bwMode="auto">
            <a:xfrm>
              <a:off x="3288" y="2481"/>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7" name="Text Box 10"/>
            <p:cNvSpPr txBox="1">
              <a:spLocks noChangeArrowheads="1"/>
            </p:cNvSpPr>
            <p:nvPr/>
          </p:nvSpPr>
          <p:spPr bwMode="auto">
            <a:xfrm>
              <a:off x="3168" y="2391"/>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d</a:t>
              </a:r>
            </a:p>
          </p:txBody>
        </p:sp>
        <p:sp>
          <p:nvSpPr>
            <p:cNvPr id="28" name="Oval 6"/>
            <p:cNvSpPr>
              <a:spLocks noChangeArrowheads="1"/>
            </p:cNvSpPr>
            <p:nvPr/>
          </p:nvSpPr>
          <p:spPr bwMode="auto">
            <a:xfrm>
              <a:off x="3192" y="1653"/>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9" name="Text Box 7"/>
            <p:cNvSpPr txBox="1">
              <a:spLocks noChangeArrowheads="1"/>
            </p:cNvSpPr>
            <p:nvPr/>
          </p:nvSpPr>
          <p:spPr bwMode="auto">
            <a:xfrm>
              <a:off x="3072" y="1543"/>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e</a:t>
              </a:r>
            </a:p>
          </p:txBody>
        </p:sp>
        <p:sp>
          <p:nvSpPr>
            <p:cNvPr id="30" name="Oval 12"/>
            <p:cNvSpPr>
              <a:spLocks noChangeArrowheads="1"/>
            </p:cNvSpPr>
            <p:nvPr/>
          </p:nvSpPr>
          <p:spPr bwMode="auto">
            <a:xfrm>
              <a:off x="2520" y="2479"/>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1" name="Text Box 13"/>
            <p:cNvSpPr txBox="1">
              <a:spLocks noChangeArrowheads="1"/>
            </p:cNvSpPr>
            <p:nvPr/>
          </p:nvSpPr>
          <p:spPr bwMode="auto">
            <a:xfrm>
              <a:off x="2400" y="2369"/>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c</a:t>
              </a:r>
            </a:p>
          </p:txBody>
        </p:sp>
        <p:sp>
          <p:nvSpPr>
            <p:cNvPr id="32" name="Oval 15"/>
            <p:cNvSpPr>
              <a:spLocks noChangeArrowheads="1"/>
            </p:cNvSpPr>
            <p:nvPr/>
          </p:nvSpPr>
          <p:spPr bwMode="auto">
            <a:xfrm>
              <a:off x="2088" y="2088"/>
              <a:ext cx="272" cy="247"/>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3" name="Text Box 16"/>
            <p:cNvSpPr txBox="1">
              <a:spLocks noChangeArrowheads="1"/>
            </p:cNvSpPr>
            <p:nvPr/>
          </p:nvSpPr>
          <p:spPr bwMode="auto">
            <a:xfrm>
              <a:off x="1968" y="2002"/>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b</a:t>
              </a:r>
            </a:p>
          </p:txBody>
        </p:sp>
        <p:sp>
          <p:nvSpPr>
            <p:cNvPr id="34" name="Oval 18"/>
            <p:cNvSpPr>
              <a:spLocks noChangeArrowheads="1"/>
            </p:cNvSpPr>
            <p:nvPr/>
          </p:nvSpPr>
          <p:spPr bwMode="auto">
            <a:xfrm>
              <a:off x="4008" y="1633"/>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5" name="Text Box 19"/>
            <p:cNvSpPr txBox="1">
              <a:spLocks noChangeArrowheads="1"/>
            </p:cNvSpPr>
            <p:nvPr/>
          </p:nvSpPr>
          <p:spPr bwMode="auto">
            <a:xfrm>
              <a:off x="3888" y="1543"/>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f</a:t>
              </a:r>
            </a:p>
          </p:txBody>
        </p:sp>
        <p:sp>
          <p:nvSpPr>
            <p:cNvPr id="36" name="Oval 21"/>
            <p:cNvSpPr>
              <a:spLocks noChangeArrowheads="1"/>
            </p:cNvSpPr>
            <p:nvPr/>
          </p:nvSpPr>
          <p:spPr bwMode="auto">
            <a:xfrm>
              <a:off x="1608" y="1607"/>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7" name="Text Box 22"/>
            <p:cNvSpPr txBox="1">
              <a:spLocks noChangeArrowheads="1"/>
            </p:cNvSpPr>
            <p:nvPr/>
          </p:nvSpPr>
          <p:spPr bwMode="auto">
            <a:xfrm>
              <a:off x="1488" y="1497"/>
              <a:ext cx="576" cy="403"/>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a</a:t>
              </a:r>
            </a:p>
          </p:txBody>
        </p:sp>
        <p:sp>
          <p:nvSpPr>
            <p:cNvPr id="38" name="Oval 24"/>
            <p:cNvSpPr>
              <a:spLocks noChangeArrowheads="1"/>
            </p:cNvSpPr>
            <p:nvPr/>
          </p:nvSpPr>
          <p:spPr bwMode="auto">
            <a:xfrm>
              <a:off x="2029" y="1165"/>
              <a:ext cx="272" cy="261"/>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9" name="Text Box 25"/>
            <p:cNvSpPr txBox="1">
              <a:spLocks noChangeArrowheads="1"/>
            </p:cNvSpPr>
            <p:nvPr/>
          </p:nvSpPr>
          <p:spPr bwMode="auto">
            <a:xfrm>
              <a:off x="1920" y="1083"/>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sp>
          <p:nvSpPr>
            <p:cNvPr id="40" name="Oval 27"/>
            <p:cNvSpPr>
              <a:spLocks noChangeArrowheads="1"/>
            </p:cNvSpPr>
            <p:nvPr/>
          </p:nvSpPr>
          <p:spPr bwMode="auto">
            <a:xfrm>
              <a:off x="2461" y="1625"/>
              <a:ext cx="272" cy="26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1" name="Text Box 28"/>
            <p:cNvSpPr txBox="1">
              <a:spLocks noChangeArrowheads="1"/>
            </p:cNvSpPr>
            <p:nvPr/>
          </p:nvSpPr>
          <p:spPr bwMode="auto">
            <a:xfrm>
              <a:off x="2352" y="1543"/>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sp>
          <p:nvSpPr>
            <p:cNvPr id="42" name="Oval 30"/>
            <p:cNvSpPr>
              <a:spLocks noChangeArrowheads="1"/>
            </p:cNvSpPr>
            <p:nvPr/>
          </p:nvSpPr>
          <p:spPr bwMode="auto">
            <a:xfrm>
              <a:off x="3565" y="1188"/>
              <a:ext cx="272" cy="261"/>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3" name="Text Box 31"/>
            <p:cNvSpPr txBox="1">
              <a:spLocks noChangeArrowheads="1"/>
            </p:cNvSpPr>
            <p:nvPr/>
          </p:nvSpPr>
          <p:spPr bwMode="auto">
            <a:xfrm>
              <a:off x="3456" y="1106"/>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sp>
          <p:nvSpPr>
            <p:cNvPr id="44" name="Oval 33"/>
            <p:cNvSpPr>
              <a:spLocks noChangeArrowheads="1"/>
            </p:cNvSpPr>
            <p:nvPr/>
          </p:nvSpPr>
          <p:spPr bwMode="auto">
            <a:xfrm>
              <a:off x="2941" y="2038"/>
              <a:ext cx="272" cy="261"/>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5" name="Text Box 34"/>
            <p:cNvSpPr txBox="1">
              <a:spLocks noChangeArrowheads="1"/>
            </p:cNvSpPr>
            <p:nvPr/>
          </p:nvSpPr>
          <p:spPr bwMode="auto">
            <a:xfrm>
              <a:off x="2832" y="1956"/>
              <a:ext cx="57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grpSp>
          <p:nvGrpSpPr>
            <p:cNvPr id="46" name="Group 35"/>
            <p:cNvGrpSpPr>
              <a:grpSpLocks/>
            </p:cNvGrpSpPr>
            <p:nvPr/>
          </p:nvGrpSpPr>
          <p:grpSpPr bwMode="auto">
            <a:xfrm>
              <a:off x="2736" y="670"/>
              <a:ext cx="576" cy="404"/>
              <a:chOff x="2552" y="3101"/>
              <a:chExt cx="576" cy="422"/>
            </a:xfrm>
          </p:grpSpPr>
          <p:sp>
            <p:nvSpPr>
              <p:cNvPr id="47" name="Oval 36"/>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8" name="Text Box 37"/>
              <p:cNvSpPr txBox="1">
                <a:spLocks noChangeArrowheads="1"/>
              </p:cNvSpPr>
              <p:nvPr/>
            </p:nvSpPr>
            <p:spPr bwMode="auto">
              <a:xfrm>
                <a:off x="2552" y="3101"/>
                <a:ext cx="576" cy="42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6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grpSp>
      </p:grpSp>
      <p:sp>
        <p:nvSpPr>
          <p:cNvPr id="49" name="Text Box 57"/>
          <p:cNvSpPr txBox="1">
            <a:spLocks noChangeArrowheads="1"/>
          </p:cNvSpPr>
          <p:nvPr/>
        </p:nvSpPr>
        <p:spPr bwMode="auto">
          <a:xfrm>
            <a:off x="1524000" y="5638800"/>
            <a:ext cx="5691188" cy="523875"/>
          </a:xfrm>
          <a:prstGeom prst="rect">
            <a:avLst/>
          </a:prstGeom>
          <a:noFill/>
          <a:ln w="12700" cap="rnd">
            <a:noFill/>
            <a:miter lim="800000"/>
            <a:headEnd/>
            <a:tailEnd/>
          </a:ln>
        </p:spPr>
        <p:txBody>
          <a:bodyPr>
            <a:spAutoFit/>
          </a:bodyPr>
          <a:lstStyle/>
          <a:p>
            <a:pPr eaLnBrk="0" fontAlgn="base" hangingPunct="0">
              <a:spcBef>
                <a:spcPct val="20000"/>
              </a:spcBef>
              <a:spcAft>
                <a:spcPct val="0"/>
              </a:spcAft>
            </a:pPr>
            <a:r>
              <a:rPr kumimoji="1" lang="zh-CN" altLang="en-US" sz="2800" b="1" dirty="0">
                <a:solidFill>
                  <a:srgbClr val="0000FF"/>
                </a:solidFill>
                <a:latin typeface="宋体" pitchFamily="2" charset="-122"/>
              </a:rPr>
              <a:t> 后缀表示（逆波兰式）</a:t>
            </a:r>
            <a:endParaRPr kumimoji="1" lang="en-US" altLang="zh-CN" sz="2800" b="1" dirty="0">
              <a:solidFill>
                <a:srgbClr val="000000"/>
              </a:solidFill>
              <a:latin typeface="宋体" pitchFamily="2" charset="-122"/>
            </a:endParaRPr>
          </a:p>
        </p:txBody>
      </p:sp>
      <p:sp>
        <p:nvSpPr>
          <p:cNvPr id="50" name="Text Box 55"/>
          <p:cNvSpPr txBox="1">
            <a:spLocks noChangeArrowheads="1"/>
          </p:cNvSpPr>
          <p:nvPr/>
        </p:nvSpPr>
        <p:spPr bwMode="auto">
          <a:xfrm>
            <a:off x="1524000" y="5029200"/>
            <a:ext cx="7939087" cy="519113"/>
          </a:xfrm>
          <a:prstGeom prst="rect">
            <a:avLst/>
          </a:prstGeom>
          <a:noFill/>
          <a:ln w="12700" cap="rnd">
            <a:noFill/>
            <a:miter lim="800000"/>
            <a:headEnd/>
            <a:tailEnd/>
          </a:ln>
        </p:spPr>
        <p:txBody>
          <a:bodyPr>
            <a:spAutoFit/>
          </a:bodyPr>
          <a:lstStyle/>
          <a:p>
            <a:pPr eaLnBrk="0" fontAlgn="base" hangingPunct="0">
              <a:spcBef>
                <a:spcPct val="20000"/>
              </a:spcBef>
              <a:spcAft>
                <a:spcPct val="0"/>
              </a:spcAft>
            </a:pPr>
            <a:r>
              <a:rPr kumimoji="1" lang="zh-CN" altLang="en-US" sz="2800" b="1" dirty="0">
                <a:solidFill>
                  <a:srgbClr val="0000FF"/>
                </a:solidFill>
                <a:latin typeface="黑体" pitchFamily="2" charset="-122"/>
                <a:ea typeface="黑体" pitchFamily="2" charset="-122"/>
              </a:rPr>
              <a:t> </a:t>
            </a:r>
            <a:r>
              <a:rPr kumimoji="1" lang="zh-CN" altLang="en-US" sz="2800" b="1" dirty="0">
                <a:solidFill>
                  <a:srgbClr val="0000FF"/>
                </a:solidFill>
                <a:latin typeface="宋体" pitchFamily="2" charset="-122"/>
              </a:rPr>
              <a:t>后序 </a:t>
            </a:r>
            <a:r>
              <a:rPr kumimoji="1" lang="en-US" altLang="zh-CN" sz="2800" b="1" dirty="0">
                <a:solidFill>
                  <a:srgbClr val="0000FF"/>
                </a:solidFill>
                <a:latin typeface="宋体" pitchFamily="2" charset="-122"/>
              </a:rPr>
              <a:t>a b c d - * + </a:t>
            </a:r>
            <a:r>
              <a:rPr kumimoji="1" lang="en-US" altLang="zh-CN" sz="2800" b="1" dirty="0">
                <a:solidFill>
                  <a:srgbClr val="000000"/>
                </a:solidFill>
                <a:latin typeface="宋体" pitchFamily="2" charset="-122"/>
              </a:rPr>
              <a:t>e f/ </a:t>
            </a:r>
            <a:r>
              <a:rPr kumimoji="1" lang="en-US" altLang="zh-CN" sz="2800" b="1" dirty="0">
                <a:solidFill>
                  <a:srgbClr val="FF3300"/>
                </a:solidFill>
                <a:latin typeface="宋体" pitchFamily="2" charset="-122"/>
              </a:rPr>
              <a:t>-</a:t>
            </a:r>
          </a:p>
        </p:txBody>
      </p:sp>
    </p:spTree>
    <p:extLst>
      <p:ext uri="{BB962C8B-B14F-4D97-AF65-F5344CB8AC3E}">
        <p14:creationId xmlns:p14="http://schemas.microsoft.com/office/powerpoint/2010/main" val="3547010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5.3.1  </a:t>
            </a:r>
            <a:r>
              <a:rPr kumimoji="1" lang="zh-CN" altLang="en-US" sz="3200" b="1" dirty="0">
                <a:latin typeface="Arial" charset="0"/>
                <a:ea typeface="宋体" charset="-122"/>
                <a:cs typeface="+mn-cs"/>
              </a:rPr>
              <a:t>二叉树的遍历方法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按层遍历</a:t>
            </a:r>
            <a:endParaRPr lang="en-US" altLang="zh-CN" sz="2800" b="1" dirty="0"/>
          </a:p>
        </p:txBody>
      </p:sp>
      <p:sp>
        <p:nvSpPr>
          <p:cNvPr id="4" name="日期占位符 3"/>
          <p:cNvSpPr>
            <a:spLocks noGrp="1"/>
          </p:cNvSpPr>
          <p:nvPr>
            <p:ph type="dt" sz="half" idx="10"/>
          </p:nvPr>
        </p:nvSpPr>
        <p:spPr/>
        <p:txBody>
          <a:bodyPr/>
          <a:lstStyle/>
          <a:p>
            <a:fld id="{ECEF8638-3603-4B3E-8951-4A90792FD1D3}"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55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13" name="Group 69"/>
          <p:cNvGrpSpPr>
            <a:grpSpLocks/>
          </p:cNvGrpSpPr>
          <p:nvPr/>
        </p:nvGrpSpPr>
        <p:grpSpPr bwMode="auto">
          <a:xfrm>
            <a:off x="1328737" y="2994025"/>
            <a:ext cx="4343400" cy="3025775"/>
            <a:chOff x="3264" y="384"/>
            <a:chExt cx="2736" cy="1906"/>
          </a:xfrm>
        </p:grpSpPr>
        <p:sp>
          <p:nvSpPr>
            <p:cNvPr id="14" name="Oval 70"/>
            <p:cNvSpPr>
              <a:spLocks noChangeArrowheads="1"/>
            </p:cNvSpPr>
            <p:nvPr/>
          </p:nvSpPr>
          <p:spPr bwMode="auto">
            <a:xfrm>
              <a:off x="4469" y="503"/>
              <a:ext cx="295"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5" name="Text Box 71"/>
            <p:cNvSpPr txBox="1">
              <a:spLocks noChangeArrowheads="1"/>
            </p:cNvSpPr>
            <p:nvPr/>
          </p:nvSpPr>
          <p:spPr bwMode="auto">
            <a:xfrm>
              <a:off x="4392" y="432"/>
              <a:ext cx="535"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A</a:t>
              </a:r>
            </a:p>
          </p:txBody>
        </p:sp>
        <p:sp>
          <p:nvSpPr>
            <p:cNvPr id="16" name="Oval 72"/>
            <p:cNvSpPr>
              <a:spLocks noChangeArrowheads="1"/>
            </p:cNvSpPr>
            <p:nvPr/>
          </p:nvSpPr>
          <p:spPr bwMode="auto">
            <a:xfrm>
              <a:off x="5542" y="1320"/>
              <a:ext cx="295"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7" name="Text Box 73"/>
            <p:cNvSpPr txBox="1">
              <a:spLocks noChangeArrowheads="1"/>
            </p:cNvSpPr>
            <p:nvPr/>
          </p:nvSpPr>
          <p:spPr bwMode="auto">
            <a:xfrm>
              <a:off x="5465" y="1249"/>
              <a:ext cx="535"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F</a:t>
              </a:r>
            </a:p>
          </p:txBody>
        </p:sp>
        <p:sp>
          <p:nvSpPr>
            <p:cNvPr id="19" name="Oval 74"/>
            <p:cNvSpPr>
              <a:spLocks noChangeArrowheads="1"/>
            </p:cNvSpPr>
            <p:nvPr/>
          </p:nvSpPr>
          <p:spPr bwMode="auto">
            <a:xfrm>
              <a:off x="3888" y="1835"/>
              <a:ext cx="296"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0" name="Text Box 75"/>
            <p:cNvSpPr txBox="1">
              <a:spLocks noChangeArrowheads="1"/>
            </p:cNvSpPr>
            <p:nvPr/>
          </p:nvSpPr>
          <p:spPr bwMode="auto">
            <a:xfrm>
              <a:off x="3810" y="1764"/>
              <a:ext cx="53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G</a:t>
              </a:r>
            </a:p>
          </p:txBody>
        </p:sp>
        <p:sp>
          <p:nvSpPr>
            <p:cNvPr id="21" name="Oval 76"/>
            <p:cNvSpPr>
              <a:spLocks noChangeArrowheads="1"/>
            </p:cNvSpPr>
            <p:nvPr/>
          </p:nvSpPr>
          <p:spPr bwMode="auto">
            <a:xfrm>
              <a:off x="4246" y="1385"/>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2" name="Text Box 77"/>
            <p:cNvSpPr txBox="1">
              <a:spLocks noChangeArrowheads="1"/>
            </p:cNvSpPr>
            <p:nvPr/>
          </p:nvSpPr>
          <p:spPr bwMode="auto">
            <a:xfrm>
              <a:off x="4169" y="1314"/>
              <a:ext cx="535"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E</a:t>
              </a:r>
            </a:p>
          </p:txBody>
        </p:sp>
        <p:sp>
          <p:nvSpPr>
            <p:cNvPr id="23" name="Oval 78"/>
            <p:cNvSpPr>
              <a:spLocks noChangeArrowheads="1"/>
            </p:cNvSpPr>
            <p:nvPr/>
          </p:nvSpPr>
          <p:spPr bwMode="auto">
            <a:xfrm>
              <a:off x="3486" y="1385"/>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4" name="Text Box 79"/>
            <p:cNvSpPr txBox="1">
              <a:spLocks noChangeArrowheads="1"/>
            </p:cNvSpPr>
            <p:nvPr/>
          </p:nvSpPr>
          <p:spPr bwMode="auto">
            <a:xfrm>
              <a:off x="3408" y="1314"/>
              <a:ext cx="535"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D</a:t>
              </a:r>
            </a:p>
          </p:txBody>
        </p:sp>
        <p:sp>
          <p:nvSpPr>
            <p:cNvPr id="25" name="Oval 80"/>
            <p:cNvSpPr>
              <a:spLocks noChangeArrowheads="1"/>
            </p:cNvSpPr>
            <p:nvPr/>
          </p:nvSpPr>
          <p:spPr bwMode="auto">
            <a:xfrm>
              <a:off x="5095" y="911"/>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6" name="Text Box 81"/>
            <p:cNvSpPr txBox="1">
              <a:spLocks noChangeArrowheads="1"/>
            </p:cNvSpPr>
            <p:nvPr/>
          </p:nvSpPr>
          <p:spPr bwMode="auto">
            <a:xfrm>
              <a:off x="5016" y="840"/>
              <a:ext cx="537"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C</a:t>
              </a:r>
            </a:p>
          </p:txBody>
        </p:sp>
        <p:sp>
          <p:nvSpPr>
            <p:cNvPr id="27" name="Oval 82"/>
            <p:cNvSpPr>
              <a:spLocks noChangeArrowheads="1"/>
            </p:cNvSpPr>
            <p:nvPr/>
          </p:nvSpPr>
          <p:spPr bwMode="auto">
            <a:xfrm>
              <a:off x="3888" y="952"/>
              <a:ext cx="296"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8" name="Text Box 83"/>
            <p:cNvSpPr txBox="1">
              <a:spLocks noChangeArrowheads="1"/>
            </p:cNvSpPr>
            <p:nvPr/>
          </p:nvSpPr>
          <p:spPr bwMode="auto">
            <a:xfrm>
              <a:off x="3810" y="881"/>
              <a:ext cx="536" cy="40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B</a:t>
              </a:r>
            </a:p>
          </p:txBody>
        </p:sp>
        <p:sp>
          <p:nvSpPr>
            <p:cNvPr id="29" name="Line 84"/>
            <p:cNvSpPr>
              <a:spLocks noChangeShapeType="1"/>
            </p:cNvSpPr>
            <p:nvPr/>
          </p:nvSpPr>
          <p:spPr bwMode="auto">
            <a:xfrm flipH="1">
              <a:off x="4123" y="718"/>
              <a:ext cx="358" cy="24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0" name="Line 85"/>
            <p:cNvSpPr>
              <a:spLocks noChangeShapeType="1"/>
            </p:cNvSpPr>
            <p:nvPr/>
          </p:nvSpPr>
          <p:spPr bwMode="auto">
            <a:xfrm>
              <a:off x="4749" y="718"/>
              <a:ext cx="357" cy="243"/>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1" name="Line 86"/>
            <p:cNvSpPr>
              <a:spLocks noChangeShapeType="1"/>
            </p:cNvSpPr>
            <p:nvPr/>
          </p:nvSpPr>
          <p:spPr bwMode="auto">
            <a:xfrm>
              <a:off x="4168" y="1176"/>
              <a:ext cx="223" cy="20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2" name="Line 87"/>
            <p:cNvSpPr>
              <a:spLocks noChangeShapeType="1"/>
            </p:cNvSpPr>
            <p:nvPr/>
          </p:nvSpPr>
          <p:spPr bwMode="auto">
            <a:xfrm flipH="1">
              <a:off x="4078" y="1626"/>
              <a:ext cx="227" cy="204"/>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3" name="Line 88"/>
            <p:cNvSpPr>
              <a:spLocks noChangeShapeType="1"/>
            </p:cNvSpPr>
            <p:nvPr/>
          </p:nvSpPr>
          <p:spPr bwMode="auto">
            <a:xfrm flipH="1">
              <a:off x="3676" y="1176"/>
              <a:ext cx="226" cy="20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4" name="Line 89"/>
            <p:cNvSpPr>
              <a:spLocks noChangeShapeType="1"/>
            </p:cNvSpPr>
            <p:nvPr/>
          </p:nvSpPr>
          <p:spPr bwMode="auto">
            <a:xfrm>
              <a:off x="5375" y="1127"/>
              <a:ext cx="223" cy="204"/>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5" name="Oval 90"/>
            <p:cNvSpPr>
              <a:spLocks noChangeArrowheads="1"/>
            </p:cNvSpPr>
            <p:nvPr/>
          </p:nvSpPr>
          <p:spPr bwMode="auto">
            <a:xfrm>
              <a:off x="3264" y="754"/>
              <a:ext cx="1392" cy="1536"/>
            </a:xfrm>
            <a:prstGeom prst="ellipse">
              <a:avLst/>
            </a:prstGeom>
            <a:noFill/>
            <a:ln w="12700" cap="rnd">
              <a:solidFill>
                <a:srgbClr val="0F6FC6"/>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6" name="Oval 91"/>
            <p:cNvSpPr>
              <a:spLocks noChangeArrowheads="1"/>
            </p:cNvSpPr>
            <p:nvPr/>
          </p:nvSpPr>
          <p:spPr bwMode="auto">
            <a:xfrm>
              <a:off x="4944" y="768"/>
              <a:ext cx="960" cy="1248"/>
            </a:xfrm>
            <a:prstGeom prst="ellips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7" name="Oval 92"/>
            <p:cNvSpPr>
              <a:spLocks noChangeArrowheads="1"/>
            </p:cNvSpPr>
            <p:nvPr/>
          </p:nvSpPr>
          <p:spPr bwMode="auto">
            <a:xfrm>
              <a:off x="4224" y="384"/>
              <a:ext cx="816" cy="528"/>
            </a:xfrm>
            <a:prstGeom prst="ellipse">
              <a:avLst/>
            </a:prstGeom>
            <a:noFill/>
            <a:ln w="12700" cap="rnd">
              <a:solidFill>
                <a:srgbClr val="FF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grpSp>
      <p:sp>
        <p:nvSpPr>
          <p:cNvPr id="38" name="Text Box 4"/>
          <p:cNvSpPr txBox="1">
            <a:spLocks noChangeArrowheads="1"/>
          </p:cNvSpPr>
          <p:nvPr/>
        </p:nvSpPr>
        <p:spPr bwMode="auto">
          <a:xfrm>
            <a:off x="609600" y="1841500"/>
            <a:ext cx="5113337" cy="106680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3200" b="1">
                <a:solidFill>
                  <a:srgbClr val="FFFF66"/>
                </a:solidFill>
                <a:latin typeface="黑体" pitchFamily="2" charset="-122"/>
                <a:ea typeface="黑体" pitchFamily="2" charset="-122"/>
              </a:rPr>
              <a:t> </a:t>
            </a:r>
            <a:r>
              <a:rPr kumimoji="1" lang="zh-CN" altLang="en-US" sz="3200" b="1">
                <a:solidFill>
                  <a:srgbClr val="0000FF"/>
                </a:solidFill>
                <a:latin typeface="黑体" pitchFamily="2" charset="-122"/>
                <a:ea typeface="黑体" pitchFamily="2" charset="-122"/>
              </a:rPr>
              <a:t>层次遍历序列：</a:t>
            </a:r>
            <a:r>
              <a:rPr kumimoji="1" lang="zh-CN" altLang="en-US" sz="3200" b="1">
                <a:solidFill>
                  <a:srgbClr val="FFFF66"/>
                </a:solidFill>
                <a:latin typeface="黑体" pitchFamily="2" charset="-122"/>
                <a:ea typeface="黑体" pitchFamily="2" charset="-122"/>
              </a:rPr>
              <a:t> </a:t>
            </a:r>
            <a:r>
              <a:rPr kumimoji="1" lang="en-US" altLang="zh-CN" sz="3200" b="1">
                <a:solidFill>
                  <a:srgbClr val="0033CC"/>
                </a:solidFill>
                <a:latin typeface="黑体" pitchFamily="2" charset="-122"/>
                <a:ea typeface="黑体" pitchFamily="2" charset="-122"/>
              </a:rPr>
              <a:t>A,B,C,D,E,F,G</a:t>
            </a:r>
          </a:p>
        </p:txBody>
      </p:sp>
    </p:spTree>
    <p:extLst>
      <p:ext uri="{BB962C8B-B14F-4D97-AF65-F5344CB8AC3E}">
        <p14:creationId xmlns:p14="http://schemas.microsoft.com/office/powerpoint/2010/main" val="340387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5.3.1  </a:t>
            </a:r>
            <a:r>
              <a:rPr kumimoji="1" lang="zh-CN" altLang="en-US" sz="3200" b="1" dirty="0">
                <a:latin typeface="Arial" charset="0"/>
                <a:ea typeface="宋体" charset="-122"/>
                <a:cs typeface="+mn-cs"/>
              </a:rPr>
              <a:t>二叉树的遍历方法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按层遍历</a:t>
            </a:r>
            <a:endParaRPr lang="en-US" altLang="zh-CN" sz="2800" b="1" dirty="0"/>
          </a:p>
        </p:txBody>
      </p:sp>
      <p:sp>
        <p:nvSpPr>
          <p:cNvPr id="4" name="日期占位符 3"/>
          <p:cNvSpPr>
            <a:spLocks noGrp="1"/>
          </p:cNvSpPr>
          <p:nvPr>
            <p:ph type="dt" sz="half" idx="10"/>
          </p:nvPr>
        </p:nvSpPr>
        <p:spPr/>
        <p:txBody>
          <a:bodyPr/>
          <a:lstStyle/>
          <a:p>
            <a:fld id="{864477FF-B85F-4990-B4AA-BB3B3A6B793E}"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56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4"/>
          <p:cNvSpPr>
            <a:spLocks noChangeArrowheads="1"/>
          </p:cNvSpPr>
          <p:nvPr/>
        </p:nvSpPr>
        <p:spPr bwMode="auto">
          <a:xfrm>
            <a:off x="775946" y="1752600"/>
            <a:ext cx="8215654" cy="3240087"/>
          </a:xfrm>
          <a:prstGeom prst="rect">
            <a:avLst/>
          </a:prstGeom>
          <a:noFill/>
          <a:ln w="9525">
            <a:solidFill>
              <a:srgbClr val="0000FF"/>
            </a:solidFill>
            <a:miter lim="800000"/>
            <a:headEnd/>
            <a:tailEnd/>
          </a:ln>
        </p:spPr>
        <p:txBody>
          <a:bodyPr/>
          <a:lstStyle/>
          <a:p>
            <a:pPr marL="273050" indent="-273050" eaLnBrk="0" fontAlgn="base" hangingPunct="0">
              <a:spcBef>
                <a:spcPct val="20000"/>
              </a:spcBef>
              <a:spcAft>
                <a:spcPct val="0"/>
              </a:spcAft>
              <a:buClr>
                <a:srgbClr val="0BD0D9"/>
              </a:buClr>
              <a:buSzPct val="95000"/>
              <a:buFont typeface="Wingdings 2" pitchFamily="18" charset="2"/>
              <a:buNone/>
            </a:pPr>
            <a:r>
              <a:rPr lang="zh-CN" altLang="en-US" sz="2400" b="1" dirty="0">
                <a:solidFill>
                  <a:srgbClr val="0033CC"/>
                </a:solidFill>
                <a:latin typeface="Constantia" pitchFamily="18" charset="0"/>
              </a:rPr>
              <a:t>按层遍历引入了</a:t>
            </a:r>
            <a:r>
              <a:rPr lang="zh-CN" altLang="en-US" sz="2400" b="1" dirty="0">
                <a:solidFill>
                  <a:srgbClr val="F81908"/>
                </a:solidFill>
                <a:latin typeface="Constantia" pitchFamily="18" charset="0"/>
              </a:rPr>
              <a:t>队列</a:t>
            </a:r>
            <a:r>
              <a:rPr lang="zh-CN" altLang="en-US" sz="2400" b="1" dirty="0">
                <a:solidFill>
                  <a:srgbClr val="0033CC"/>
                </a:solidFill>
                <a:latin typeface="Constantia" pitchFamily="18" charset="0"/>
              </a:rPr>
              <a:t>作为辅助工具。</a:t>
            </a:r>
          </a:p>
          <a:p>
            <a:pPr marL="273050" indent="-273050" eaLnBrk="0" fontAlgn="base" hangingPunct="0">
              <a:spcBef>
                <a:spcPct val="20000"/>
              </a:spcBef>
              <a:spcAft>
                <a:spcPct val="0"/>
              </a:spcAft>
              <a:buClr>
                <a:srgbClr val="0BD0D9"/>
              </a:buClr>
              <a:buSzPct val="95000"/>
              <a:buFont typeface="Wingdings 2" pitchFamily="18" charset="2"/>
              <a:buNone/>
            </a:pPr>
            <a:r>
              <a:rPr lang="zh-CN" altLang="en-US" sz="2400" b="1" dirty="0">
                <a:solidFill>
                  <a:srgbClr val="0033CC"/>
                </a:solidFill>
                <a:latin typeface="Constantia" pitchFamily="18" charset="0"/>
              </a:rPr>
              <a:t>算法思想为：</a:t>
            </a:r>
          </a:p>
          <a:p>
            <a:pPr marL="273050" indent="-273050" eaLnBrk="0" fontAlgn="base" hangingPunct="0">
              <a:spcBef>
                <a:spcPct val="20000"/>
              </a:spcBef>
              <a:spcAft>
                <a:spcPct val="0"/>
              </a:spcAft>
              <a:buClr>
                <a:srgbClr val="0BD0D9"/>
              </a:buClr>
              <a:buSzPct val="95000"/>
              <a:buFont typeface="Wingdings 2" pitchFamily="18" charset="2"/>
              <a:buNone/>
            </a:pPr>
            <a:r>
              <a:rPr lang="zh-CN" altLang="en-US" sz="2400" b="1" dirty="0">
                <a:solidFill>
                  <a:srgbClr val="0033CC"/>
                </a:solidFill>
                <a:latin typeface="Constantia" pitchFamily="18" charset="0"/>
              </a:rPr>
              <a:t>（</a:t>
            </a:r>
            <a:r>
              <a:rPr lang="en-US" altLang="zh-CN" sz="2400" b="1" dirty="0">
                <a:solidFill>
                  <a:srgbClr val="0033CC"/>
                </a:solidFill>
                <a:latin typeface="Constantia" pitchFamily="18" charset="0"/>
              </a:rPr>
              <a:t>1</a:t>
            </a:r>
            <a:r>
              <a:rPr lang="zh-CN" altLang="en-US" sz="2400" b="1" dirty="0">
                <a:solidFill>
                  <a:srgbClr val="0033CC"/>
                </a:solidFill>
                <a:latin typeface="Constantia" pitchFamily="18" charset="0"/>
              </a:rPr>
              <a:t>）将二叉树根入队列；</a:t>
            </a:r>
          </a:p>
          <a:p>
            <a:pPr marL="273050" indent="-273050" eaLnBrk="0" fontAlgn="base" hangingPunct="0">
              <a:spcBef>
                <a:spcPct val="20000"/>
              </a:spcBef>
              <a:spcAft>
                <a:spcPct val="0"/>
              </a:spcAft>
              <a:buClr>
                <a:srgbClr val="0BD0D9"/>
              </a:buClr>
              <a:buSzPct val="95000"/>
              <a:buFont typeface="Wingdings 2" pitchFamily="18" charset="2"/>
              <a:buNone/>
            </a:pPr>
            <a:r>
              <a:rPr lang="zh-CN" altLang="en-US" sz="2400" b="1" dirty="0">
                <a:solidFill>
                  <a:srgbClr val="0033CC"/>
                </a:solidFill>
                <a:latin typeface="Constantia" pitchFamily="18" charset="0"/>
              </a:rPr>
              <a:t>（</a:t>
            </a:r>
            <a:r>
              <a:rPr lang="en-US" altLang="zh-CN" sz="2400" b="1" dirty="0">
                <a:solidFill>
                  <a:srgbClr val="0033CC"/>
                </a:solidFill>
                <a:latin typeface="Constantia" pitchFamily="18" charset="0"/>
              </a:rPr>
              <a:t>2</a:t>
            </a:r>
            <a:r>
              <a:rPr lang="zh-CN" altLang="en-US" sz="2400" b="1" dirty="0">
                <a:solidFill>
                  <a:srgbClr val="0033CC"/>
                </a:solidFill>
                <a:latin typeface="Constantia" pitchFamily="18" charset="0"/>
              </a:rPr>
              <a:t>）将队头元素出队列，并判断此元素是否有左右孩子，若有，则将它的左右孩子入列，否则转（</a:t>
            </a:r>
            <a:r>
              <a:rPr lang="en-US" altLang="zh-CN" sz="2400" b="1" dirty="0">
                <a:solidFill>
                  <a:srgbClr val="0033CC"/>
                </a:solidFill>
                <a:latin typeface="Constantia" pitchFamily="18" charset="0"/>
              </a:rPr>
              <a:t>3</a:t>
            </a:r>
            <a:r>
              <a:rPr lang="zh-CN" altLang="en-US" sz="2400" b="1" dirty="0">
                <a:solidFill>
                  <a:srgbClr val="0033CC"/>
                </a:solidFill>
                <a:latin typeface="Constantia" pitchFamily="18" charset="0"/>
              </a:rPr>
              <a:t>）；</a:t>
            </a:r>
          </a:p>
          <a:p>
            <a:pPr marL="273050" indent="-273050" eaLnBrk="0" fontAlgn="base" hangingPunct="0">
              <a:spcBef>
                <a:spcPct val="20000"/>
              </a:spcBef>
              <a:spcAft>
                <a:spcPct val="0"/>
              </a:spcAft>
              <a:buClr>
                <a:srgbClr val="0BD0D9"/>
              </a:buClr>
              <a:buSzPct val="95000"/>
              <a:buFont typeface="Wingdings 2" pitchFamily="18" charset="2"/>
              <a:buNone/>
            </a:pPr>
            <a:r>
              <a:rPr lang="zh-CN" altLang="en-US" sz="2400" b="1" dirty="0">
                <a:solidFill>
                  <a:srgbClr val="0033CC"/>
                </a:solidFill>
                <a:latin typeface="Constantia" pitchFamily="18" charset="0"/>
              </a:rPr>
              <a:t>（</a:t>
            </a:r>
            <a:r>
              <a:rPr lang="en-US" altLang="zh-CN" sz="2400" b="1" dirty="0">
                <a:solidFill>
                  <a:srgbClr val="0033CC"/>
                </a:solidFill>
                <a:latin typeface="Constantia" pitchFamily="18" charset="0"/>
              </a:rPr>
              <a:t>3</a:t>
            </a:r>
            <a:r>
              <a:rPr lang="zh-CN" altLang="en-US" sz="2400" b="1" dirty="0">
                <a:solidFill>
                  <a:srgbClr val="0033CC"/>
                </a:solidFill>
                <a:latin typeface="Constantia" pitchFamily="18" charset="0"/>
              </a:rPr>
              <a:t>）重复步骤（</a:t>
            </a:r>
            <a:r>
              <a:rPr lang="en-US" altLang="zh-CN" sz="2400" b="1" dirty="0">
                <a:solidFill>
                  <a:srgbClr val="0033CC"/>
                </a:solidFill>
                <a:latin typeface="Constantia" pitchFamily="18" charset="0"/>
              </a:rPr>
              <a:t>2</a:t>
            </a:r>
            <a:r>
              <a:rPr lang="zh-CN" altLang="en-US" sz="2400" b="1" dirty="0">
                <a:solidFill>
                  <a:srgbClr val="0033CC"/>
                </a:solidFill>
                <a:latin typeface="Constantia" pitchFamily="18" charset="0"/>
              </a:rPr>
              <a:t>），直到队列为空 。</a:t>
            </a:r>
            <a:endParaRPr lang="en-US" altLang="zh-CN" sz="2400" b="1" dirty="0">
              <a:solidFill>
                <a:srgbClr val="0033CC"/>
              </a:solidFill>
              <a:latin typeface="Constantia" pitchFamily="18" charset="0"/>
            </a:endParaRPr>
          </a:p>
        </p:txBody>
      </p:sp>
      <p:grpSp>
        <p:nvGrpSpPr>
          <p:cNvPr id="14" name="Group 69"/>
          <p:cNvGrpSpPr>
            <a:grpSpLocks/>
          </p:cNvGrpSpPr>
          <p:nvPr/>
        </p:nvGrpSpPr>
        <p:grpSpPr bwMode="auto">
          <a:xfrm>
            <a:off x="5527675" y="4221163"/>
            <a:ext cx="3529013" cy="2519362"/>
            <a:chOff x="3264" y="384"/>
            <a:chExt cx="2736" cy="1906"/>
          </a:xfrm>
        </p:grpSpPr>
        <p:sp>
          <p:nvSpPr>
            <p:cNvPr id="15" name="Oval 70"/>
            <p:cNvSpPr>
              <a:spLocks noChangeArrowheads="1"/>
            </p:cNvSpPr>
            <p:nvPr/>
          </p:nvSpPr>
          <p:spPr bwMode="auto">
            <a:xfrm>
              <a:off x="4469" y="503"/>
              <a:ext cx="295"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16" name="Text Box 71"/>
            <p:cNvSpPr txBox="1">
              <a:spLocks noChangeArrowheads="1"/>
            </p:cNvSpPr>
            <p:nvPr/>
          </p:nvSpPr>
          <p:spPr bwMode="auto">
            <a:xfrm>
              <a:off x="4393" y="432"/>
              <a:ext cx="534" cy="44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A</a:t>
              </a:r>
            </a:p>
          </p:txBody>
        </p:sp>
        <p:sp>
          <p:nvSpPr>
            <p:cNvPr id="17" name="Oval 72"/>
            <p:cNvSpPr>
              <a:spLocks noChangeArrowheads="1"/>
            </p:cNvSpPr>
            <p:nvPr/>
          </p:nvSpPr>
          <p:spPr bwMode="auto">
            <a:xfrm>
              <a:off x="5542" y="1320"/>
              <a:ext cx="295"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19" name="Text Box 73"/>
            <p:cNvSpPr txBox="1">
              <a:spLocks noChangeArrowheads="1"/>
            </p:cNvSpPr>
            <p:nvPr/>
          </p:nvSpPr>
          <p:spPr bwMode="auto">
            <a:xfrm>
              <a:off x="5465" y="1249"/>
              <a:ext cx="535" cy="44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F</a:t>
              </a:r>
            </a:p>
          </p:txBody>
        </p:sp>
        <p:sp>
          <p:nvSpPr>
            <p:cNvPr id="20" name="Oval 74"/>
            <p:cNvSpPr>
              <a:spLocks noChangeArrowheads="1"/>
            </p:cNvSpPr>
            <p:nvPr/>
          </p:nvSpPr>
          <p:spPr bwMode="auto">
            <a:xfrm>
              <a:off x="3888" y="1835"/>
              <a:ext cx="296"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1" name="Text Box 75"/>
            <p:cNvSpPr txBox="1">
              <a:spLocks noChangeArrowheads="1"/>
            </p:cNvSpPr>
            <p:nvPr/>
          </p:nvSpPr>
          <p:spPr bwMode="auto">
            <a:xfrm>
              <a:off x="3810" y="1764"/>
              <a:ext cx="536" cy="44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G</a:t>
              </a:r>
            </a:p>
          </p:txBody>
        </p:sp>
        <p:sp>
          <p:nvSpPr>
            <p:cNvPr id="22" name="Oval 76"/>
            <p:cNvSpPr>
              <a:spLocks noChangeArrowheads="1"/>
            </p:cNvSpPr>
            <p:nvPr/>
          </p:nvSpPr>
          <p:spPr bwMode="auto">
            <a:xfrm>
              <a:off x="4246" y="1385"/>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3" name="Text Box 77"/>
            <p:cNvSpPr txBox="1">
              <a:spLocks noChangeArrowheads="1"/>
            </p:cNvSpPr>
            <p:nvPr/>
          </p:nvSpPr>
          <p:spPr bwMode="auto">
            <a:xfrm>
              <a:off x="4169" y="1314"/>
              <a:ext cx="535" cy="44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E</a:t>
              </a:r>
            </a:p>
          </p:txBody>
        </p:sp>
        <p:sp>
          <p:nvSpPr>
            <p:cNvPr id="24" name="Oval 78"/>
            <p:cNvSpPr>
              <a:spLocks noChangeArrowheads="1"/>
            </p:cNvSpPr>
            <p:nvPr/>
          </p:nvSpPr>
          <p:spPr bwMode="auto">
            <a:xfrm>
              <a:off x="3486" y="1385"/>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5" name="Text Box 79"/>
            <p:cNvSpPr txBox="1">
              <a:spLocks noChangeArrowheads="1"/>
            </p:cNvSpPr>
            <p:nvPr/>
          </p:nvSpPr>
          <p:spPr bwMode="auto">
            <a:xfrm>
              <a:off x="3408" y="1314"/>
              <a:ext cx="535" cy="44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D</a:t>
              </a:r>
            </a:p>
          </p:txBody>
        </p:sp>
        <p:sp>
          <p:nvSpPr>
            <p:cNvPr id="26" name="Oval 80"/>
            <p:cNvSpPr>
              <a:spLocks noChangeArrowheads="1"/>
            </p:cNvSpPr>
            <p:nvPr/>
          </p:nvSpPr>
          <p:spPr bwMode="auto">
            <a:xfrm>
              <a:off x="5095" y="911"/>
              <a:ext cx="295" cy="270"/>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7" name="Text Box 81"/>
            <p:cNvSpPr txBox="1">
              <a:spLocks noChangeArrowheads="1"/>
            </p:cNvSpPr>
            <p:nvPr/>
          </p:nvSpPr>
          <p:spPr bwMode="auto">
            <a:xfrm>
              <a:off x="5017" y="840"/>
              <a:ext cx="536" cy="44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DBF5F9"/>
                  </a:solidFill>
                  <a:effectLst/>
                  <a:uLnTx/>
                  <a:uFillTx/>
                  <a:latin typeface="黑体" pitchFamily="2" charset="-122"/>
                  <a:ea typeface="黑体" pitchFamily="2"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C</a:t>
              </a:r>
            </a:p>
          </p:txBody>
        </p:sp>
        <p:sp>
          <p:nvSpPr>
            <p:cNvPr id="28" name="Oval 82"/>
            <p:cNvSpPr>
              <a:spLocks noChangeArrowheads="1"/>
            </p:cNvSpPr>
            <p:nvPr/>
          </p:nvSpPr>
          <p:spPr bwMode="auto">
            <a:xfrm>
              <a:off x="3888" y="952"/>
              <a:ext cx="296" cy="269"/>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9" name="Text Box 83"/>
            <p:cNvSpPr txBox="1">
              <a:spLocks noChangeArrowheads="1"/>
            </p:cNvSpPr>
            <p:nvPr/>
          </p:nvSpPr>
          <p:spPr bwMode="auto">
            <a:xfrm>
              <a:off x="3810" y="881"/>
              <a:ext cx="536" cy="44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B</a:t>
              </a:r>
            </a:p>
          </p:txBody>
        </p:sp>
        <p:sp>
          <p:nvSpPr>
            <p:cNvPr id="30" name="Line 84"/>
            <p:cNvSpPr>
              <a:spLocks noChangeShapeType="1"/>
            </p:cNvSpPr>
            <p:nvPr/>
          </p:nvSpPr>
          <p:spPr bwMode="auto">
            <a:xfrm flipH="1">
              <a:off x="4123" y="718"/>
              <a:ext cx="358" cy="24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1" name="Line 85"/>
            <p:cNvSpPr>
              <a:spLocks noChangeShapeType="1"/>
            </p:cNvSpPr>
            <p:nvPr/>
          </p:nvSpPr>
          <p:spPr bwMode="auto">
            <a:xfrm>
              <a:off x="4749" y="718"/>
              <a:ext cx="357" cy="243"/>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2" name="Line 86"/>
            <p:cNvSpPr>
              <a:spLocks noChangeShapeType="1"/>
            </p:cNvSpPr>
            <p:nvPr/>
          </p:nvSpPr>
          <p:spPr bwMode="auto">
            <a:xfrm>
              <a:off x="4168" y="1176"/>
              <a:ext cx="223" cy="20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3" name="Line 87"/>
            <p:cNvSpPr>
              <a:spLocks noChangeShapeType="1"/>
            </p:cNvSpPr>
            <p:nvPr/>
          </p:nvSpPr>
          <p:spPr bwMode="auto">
            <a:xfrm flipH="1">
              <a:off x="4078" y="1626"/>
              <a:ext cx="227" cy="204"/>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4" name="Line 88"/>
            <p:cNvSpPr>
              <a:spLocks noChangeShapeType="1"/>
            </p:cNvSpPr>
            <p:nvPr/>
          </p:nvSpPr>
          <p:spPr bwMode="auto">
            <a:xfrm flipH="1">
              <a:off x="3676" y="1176"/>
              <a:ext cx="226" cy="20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5" name="Line 89"/>
            <p:cNvSpPr>
              <a:spLocks noChangeShapeType="1"/>
            </p:cNvSpPr>
            <p:nvPr/>
          </p:nvSpPr>
          <p:spPr bwMode="auto">
            <a:xfrm>
              <a:off x="5375" y="1127"/>
              <a:ext cx="223" cy="204"/>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6" name="Oval 90"/>
            <p:cNvSpPr>
              <a:spLocks noChangeArrowheads="1"/>
            </p:cNvSpPr>
            <p:nvPr/>
          </p:nvSpPr>
          <p:spPr bwMode="auto">
            <a:xfrm>
              <a:off x="3264" y="754"/>
              <a:ext cx="1392" cy="1536"/>
            </a:xfrm>
            <a:prstGeom prst="ellipse">
              <a:avLst/>
            </a:prstGeom>
            <a:noFill/>
            <a:ln w="12700" cap="rnd">
              <a:solidFill>
                <a:srgbClr val="0F6FC6"/>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37" name="Oval 91"/>
            <p:cNvSpPr>
              <a:spLocks noChangeArrowheads="1"/>
            </p:cNvSpPr>
            <p:nvPr/>
          </p:nvSpPr>
          <p:spPr bwMode="auto">
            <a:xfrm>
              <a:off x="4944" y="768"/>
              <a:ext cx="960" cy="1248"/>
            </a:xfrm>
            <a:prstGeom prst="ellips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38" name="Oval 92"/>
            <p:cNvSpPr>
              <a:spLocks noChangeArrowheads="1"/>
            </p:cNvSpPr>
            <p:nvPr/>
          </p:nvSpPr>
          <p:spPr bwMode="auto">
            <a:xfrm>
              <a:off x="4224" y="384"/>
              <a:ext cx="816" cy="528"/>
            </a:xfrm>
            <a:prstGeom prst="ellipse">
              <a:avLst/>
            </a:prstGeom>
            <a:noFill/>
            <a:ln w="12700" cap="rnd">
              <a:solidFill>
                <a:srgbClr val="FF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grpSp>
      <p:sp>
        <p:nvSpPr>
          <p:cNvPr id="39" name="Text Box 4"/>
          <p:cNvSpPr txBox="1">
            <a:spLocks noChangeArrowheads="1"/>
          </p:cNvSpPr>
          <p:nvPr/>
        </p:nvSpPr>
        <p:spPr bwMode="auto">
          <a:xfrm>
            <a:off x="601662" y="5026025"/>
            <a:ext cx="5113338" cy="52322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800" b="1" dirty="0">
                <a:solidFill>
                  <a:srgbClr val="003300"/>
                </a:solidFill>
                <a:latin typeface="黑体" pitchFamily="2" charset="-122"/>
                <a:ea typeface="黑体" pitchFamily="2" charset="-122"/>
              </a:rPr>
              <a:t>课后思考：按层遍历算法</a:t>
            </a:r>
            <a:endParaRPr kumimoji="1" lang="en-US" altLang="zh-CN" sz="2800" b="1" dirty="0">
              <a:solidFill>
                <a:srgbClr val="003300"/>
              </a:solidFill>
              <a:latin typeface="黑体" pitchFamily="2" charset="-122"/>
              <a:ea typeface="黑体" pitchFamily="2" charset="-122"/>
            </a:endParaRPr>
          </a:p>
        </p:txBody>
      </p:sp>
    </p:spTree>
    <p:extLst>
      <p:ext uri="{BB962C8B-B14F-4D97-AF65-F5344CB8AC3E}">
        <p14:creationId xmlns:p14="http://schemas.microsoft.com/office/powerpoint/2010/main" val="2500475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 </a:t>
            </a:r>
            <a:r>
              <a:rPr kumimoji="1" lang="zh-CN" altLang="en-US" sz="3200" b="1" dirty="0">
                <a:latin typeface="Arial" charset="0"/>
                <a:ea typeface="宋体" charset="-122"/>
                <a:cs typeface="+mn-cs"/>
              </a:rPr>
              <a:t>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endParaRPr lang="en-US" altLang="zh-CN" sz="2800" b="1" dirty="0"/>
          </a:p>
        </p:txBody>
      </p:sp>
      <p:sp>
        <p:nvSpPr>
          <p:cNvPr id="4" name="日期占位符 3"/>
          <p:cNvSpPr>
            <a:spLocks noGrp="1"/>
          </p:cNvSpPr>
          <p:nvPr>
            <p:ph type="dt" sz="half" idx="10"/>
          </p:nvPr>
        </p:nvSpPr>
        <p:spPr/>
        <p:txBody>
          <a:bodyPr/>
          <a:lstStyle/>
          <a:p>
            <a:fld id="{15C83073-FB3C-46F6-A013-55F6CC7CAC6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57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pic>
        <p:nvPicPr>
          <p:cNvPr id="36" name="Picture 6"/>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73050" y="5084763"/>
            <a:ext cx="1298575" cy="1152525"/>
          </a:xfrm>
          <a:prstGeom prst="rect">
            <a:avLst/>
          </a:prstGeom>
          <a:noFill/>
          <a:ln w="9525">
            <a:noFill/>
            <a:miter lim="800000"/>
            <a:headEnd/>
            <a:tailEnd/>
          </a:ln>
        </p:spPr>
      </p:pic>
      <p:sp>
        <p:nvSpPr>
          <p:cNvPr id="15" name="Rectangle 16"/>
          <p:cNvSpPr>
            <a:spLocks noChangeArrowheads="1"/>
          </p:cNvSpPr>
          <p:nvPr/>
        </p:nvSpPr>
        <p:spPr bwMode="auto">
          <a:xfrm>
            <a:off x="1054100" y="1557338"/>
            <a:ext cx="7556500" cy="3241913"/>
          </a:xfrm>
          <a:prstGeom prst="rect">
            <a:avLst/>
          </a:prstGeom>
          <a:noFill/>
          <a:ln w="38100" cmpd="dbl">
            <a:solidFill>
              <a:srgbClr val="0707F9"/>
            </a:solidFill>
            <a:miter lim="800000"/>
            <a:headEnd/>
            <a:tailEnd/>
          </a:ln>
        </p:spPr>
        <p:txBody>
          <a:bodyPr>
            <a:spAutoFit/>
          </a:bodyPr>
          <a:lstStyle/>
          <a:p>
            <a:pPr fontAlgn="base">
              <a:lnSpc>
                <a:spcPct val="200000"/>
              </a:lnSpc>
              <a:spcBef>
                <a:spcPct val="0"/>
              </a:spcBef>
              <a:spcAft>
                <a:spcPct val="0"/>
              </a:spcAft>
            </a:pPr>
            <a:r>
              <a:rPr kumimoji="1" lang="zh-CN" altLang="en-US" sz="3600" dirty="0">
                <a:solidFill>
                  <a:srgbClr val="0707F9"/>
                </a:solidFill>
                <a:latin typeface="Times New Roman" pitchFamily="18" charset="0"/>
              </a:rPr>
              <a:t> </a:t>
            </a:r>
            <a:r>
              <a:rPr kumimoji="1" lang="en-US" altLang="zh-CN" sz="3600" b="1" dirty="0">
                <a:solidFill>
                  <a:srgbClr val="0707F9"/>
                </a:solidFill>
                <a:latin typeface="Times New Roman" pitchFamily="18" charset="0"/>
              </a:rPr>
              <a:t>5.3.1  </a:t>
            </a:r>
            <a:r>
              <a:rPr kumimoji="1" lang="zh-CN" altLang="en-US" sz="3600" b="1" dirty="0">
                <a:solidFill>
                  <a:srgbClr val="0707F9"/>
                </a:solidFill>
                <a:latin typeface="Times New Roman" pitchFamily="18" charset="0"/>
              </a:rPr>
              <a:t>二叉树的遍历方法</a:t>
            </a:r>
          </a:p>
          <a:p>
            <a:pPr fontAlgn="base">
              <a:lnSpc>
                <a:spcPct val="200000"/>
              </a:lnSpc>
              <a:spcBef>
                <a:spcPct val="0"/>
              </a:spcBef>
              <a:spcAft>
                <a:spcPct val="0"/>
              </a:spcAft>
            </a:pPr>
            <a:r>
              <a:rPr kumimoji="1" lang="en-US" altLang="zh-CN" sz="3600" b="1" dirty="0">
                <a:solidFill>
                  <a:srgbClr val="FF0000"/>
                </a:solidFill>
                <a:latin typeface="Times New Roman" pitchFamily="18" charset="0"/>
              </a:rPr>
              <a:t> 5.3.2  </a:t>
            </a:r>
            <a:r>
              <a:rPr kumimoji="1" lang="zh-CN" altLang="en-US" sz="3600" b="1" dirty="0">
                <a:solidFill>
                  <a:srgbClr val="FF0000"/>
                </a:solidFill>
                <a:latin typeface="Times New Roman" pitchFamily="18" charset="0"/>
              </a:rPr>
              <a:t>遍历的递归算法</a:t>
            </a:r>
          </a:p>
          <a:p>
            <a:pPr fontAlgn="base">
              <a:lnSpc>
                <a:spcPct val="200000"/>
              </a:lnSpc>
              <a:spcBef>
                <a:spcPct val="0"/>
              </a:spcBef>
              <a:spcAft>
                <a:spcPct val="0"/>
              </a:spcAft>
            </a:pPr>
            <a:r>
              <a:rPr kumimoji="1" lang="en-US" altLang="zh-CN" sz="3600" b="1" dirty="0">
                <a:solidFill>
                  <a:srgbClr val="0707F9"/>
                </a:solidFill>
                <a:latin typeface="Times New Roman" pitchFamily="18" charset="0"/>
              </a:rPr>
              <a:t> 5.3.3  </a:t>
            </a:r>
            <a:r>
              <a:rPr kumimoji="1" lang="zh-CN" altLang="en-US" sz="3600" b="1" dirty="0">
                <a:solidFill>
                  <a:srgbClr val="0707F9"/>
                </a:solidFill>
                <a:latin typeface="Times New Roman" pitchFamily="18" charset="0"/>
              </a:rPr>
              <a:t>遍历的非递归算法</a:t>
            </a:r>
          </a:p>
        </p:txBody>
      </p:sp>
    </p:spTree>
    <p:extLst>
      <p:ext uri="{BB962C8B-B14F-4D97-AF65-F5344CB8AC3E}">
        <p14:creationId xmlns:p14="http://schemas.microsoft.com/office/powerpoint/2010/main" val="40290795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5.3.2  </a:t>
            </a:r>
            <a:r>
              <a:rPr kumimoji="1" lang="zh-CN" altLang="en-US" sz="3200" b="1" dirty="0">
                <a:latin typeface="Arial" charset="0"/>
                <a:ea typeface="宋体" charset="-122"/>
                <a:cs typeface="+mn-cs"/>
              </a:rPr>
              <a:t>遍历的递归算法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先序遍历（</a:t>
            </a:r>
            <a:r>
              <a:rPr lang="en-US" altLang="zh-CN" sz="2800" b="1" dirty="0"/>
              <a:t>T L R</a:t>
            </a:r>
            <a:r>
              <a:rPr lang="zh-CN" altLang="en-US" sz="2800" b="1" dirty="0"/>
              <a:t>）的定义</a:t>
            </a:r>
            <a:endParaRPr lang="en-US" altLang="zh-CN" sz="2800" b="1" dirty="0"/>
          </a:p>
        </p:txBody>
      </p:sp>
      <p:sp>
        <p:nvSpPr>
          <p:cNvPr id="4" name="日期占位符 3"/>
          <p:cNvSpPr>
            <a:spLocks noGrp="1"/>
          </p:cNvSpPr>
          <p:nvPr>
            <p:ph type="dt" sz="half" idx="10"/>
          </p:nvPr>
        </p:nvSpPr>
        <p:spPr/>
        <p:txBody>
          <a:bodyPr/>
          <a:lstStyle/>
          <a:p>
            <a:fld id="{62EC0C6F-6890-4020-B64D-26573B6E4FD3}"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58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4"/>
          <p:cNvSpPr txBox="1">
            <a:spLocks noChangeArrowheads="1"/>
          </p:cNvSpPr>
          <p:nvPr/>
        </p:nvSpPr>
        <p:spPr bwMode="auto">
          <a:xfrm>
            <a:off x="554038" y="1682750"/>
            <a:ext cx="4876800" cy="1784350"/>
          </a:xfrm>
          <a:prstGeom prst="rect">
            <a:avLst/>
          </a:prstGeom>
          <a:noFill/>
          <a:ln w="12700" cap="rnd">
            <a:solidFill>
              <a:srgbClr val="04617B"/>
            </a:solidFill>
            <a:miter lim="800000"/>
            <a:headEnd/>
            <a:tailEnd/>
          </a:ln>
        </p:spPr>
        <p:txBody>
          <a:bodyPr>
            <a:spAutoFit/>
          </a:bodyPr>
          <a:lstStyle/>
          <a:p>
            <a:pPr marL="0" marR="0" lvl="0" indent="0" defTabSz="914400" eaLnBrk="0" fontAlgn="base" latinLnBrk="0" hangingPunct="0">
              <a:lnSpc>
                <a:spcPct val="100000"/>
              </a:lnSpc>
              <a:spcBef>
                <a:spcPct val="2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 若二叉树非空</a:t>
            </a:r>
          </a:p>
          <a:p>
            <a:pPr marL="0" marR="0" lvl="0" indent="0" defTabSz="914400" eaLnBrk="0" fontAlgn="base" latinLnBrk="0" hangingPunct="0">
              <a:lnSpc>
                <a:spcPct val="100000"/>
              </a:lnSpc>
              <a:spcBef>
                <a:spcPct val="2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    （1）访问根结点；</a:t>
            </a:r>
          </a:p>
          <a:p>
            <a:pPr marL="0" marR="0" lvl="0" indent="0" defTabSz="914400" eaLnBrk="0" fontAlgn="base" latinLnBrk="0" hangingPunct="0">
              <a:lnSpc>
                <a:spcPct val="100000"/>
              </a:lnSpc>
              <a:spcBef>
                <a:spcPct val="2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    （2）先序遍历左子树</a:t>
            </a:r>
          </a:p>
          <a:p>
            <a:pPr marL="0" marR="0" lvl="0" indent="0" defTabSz="914400" eaLnBrk="0" fontAlgn="base" latinLnBrk="0" hangingPunct="0">
              <a:lnSpc>
                <a:spcPct val="100000"/>
              </a:lnSpc>
              <a:spcBef>
                <a:spcPct val="2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    （3）先序遍历右子树；</a:t>
            </a:r>
            <a:endParaRPr kumimoji="1" lang="zh-CN" altLang="en-US" sz="36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sp>
        <p:nvSpPr>
          <p:cNvPr id="14" name="Text Box 9"/>
          <p:cNvSpPr txBox="1">
            <a:spLocks noChangeArrowheads="1"/>
          </p:cNvSpPr>
          <p:nvPr/>
        </p:nvSpPr>
        <p:spPr bwMode="auto">
          <a:xfrm>
            <a:off x="533400" y="3661589"/>
            <a:ext cx="8229600" cy="2739211"/>
          </a:xfrm>
          <a:prstGeom prst="rect">
            <a:avLst/>
          </a:prstGeom>
          <a:noFill/>
          <a:ln w="12700" cap="rnd">
            <a:noFill/>
            <a:miter lim="800000"/>
            <a:headEnd/>
            <a:tailEnd/>
          </a:ln>
        </p:spPr>
        <p:txBody>
          <a:bodyPr wrap="square">
            <a:spAutoFit/>
          </a:bodyPr>
          <a:lstStyle/>
          <a:p>
            <a:pPr eaLnBrk="0" fontAlgn="base" hangingPunct="0">
              <a:spcBef>
                <a:spcPct val="20000"/>
              </a:spcBef>
              <a:spcAft>
                <a:spcPct val="0"/>
              </a:spcAft>
            </a:pPr>
            <a:r>
              <a:rPr kumimoji="1" lang="zh-CN" altLang="en-US" sz="2800" b="1" dirty="0">
                <a:solidFill>
                  <a:srgbClr val="339933"/>
                </a:solidFill>
                <a:latin typeface="宋体" pitchFamily="2" charset="-122"/>
              </a:rPr>
              <a:t>上面先序遍历的定义等价于：</a:t>
            </a:r>
          </a:p>
          <a:p>
            <a:pPr eaLnBrk="0" fontAlgn="base" hangingPunct="0">
              <a:spcBef>
                <a:spcPct val="20000"/>
              </a:spcBef>
              <a:spcAft>
                <a:spcPct val="0"/>
              </a:spcAft>
            </a:pPr>
            <a:r>
              <a:rPr kumimoji="1" lang="zh-CN" altLang="en-US" sz="2400" b="1" dirty="0">
                <a:solidFill>
                  <a:srgbClr val="0000FF"/>
                </a:solidFill>
                <a:latin typeface="宋体" pitchFamily="2" charset="-122"/>
              </a:rPr>
              <a:t>若二叉树为空，结束    </a:t>
            </a:r>
            <a:r>
              <a:rPr kumimoji="1" lang="zh-CN" altLang="en-US" sz="2400" b="1" dirty="0">
                <a:solidFill>
                  <a:srgbClr val="0000FF"/>
                </a:solidFill>
                <a:latin typeface="Times New Roman" pitchFamily="18" charset="0"/>
              </a:rPr>
              <a:t>——</a:t>
            </a:r>
            <a:r>
              <a:rPr kumimoji="1" lang="zh-CN" altLang="en-US" sz="2400" b="1" dirty="0">
                <a:solidFill>
                  <a:srgbClr val="000000"/>
                </a:solidFill>
                <a:latin typeface="宋体" pitchFamily="2" charset="-122"/>
              </a:rPr>
              <a:t>基本项</a:t>
            </a:r>
            <a:r>
              <a:rPr kumimoji="1" lang="zh-CN" altLang="en-US" sz="2400" b="1" dirty="0">
                <a:solidFill>
                  <a:srgbClr val="0000FF"/>
                </a:solidFill>
                <a:latin typeface="宋体" pitchFamily="2" charset="-122"/>
              </a:rPr>
              <a:t>（也叫终止项）</a:t>
            </a:r>
          </a:p>
          <a:p>
            <a:pPr eaLnBrk="0" fontAlgn="base" hangingPunct="0">
              <a:spcBef>
                <a:spcPct val="20000"/>
              </a:spcBef>
              <a:spcAft>
                <a:spcPct val="0"/>
              </a:spcAft>
            </a:pPr>
            <a:r>
              <a:rPr kumimoji="1" lang="zh-CN" altLang="en-US" sz="2400" b="1" dirty="0">
                <a:solidFill>
                  <a:srgbClr val="0000FF"/>
                </a:solidFill>
                <a:latin typeface="宋体" pitchFamily="2" charset="-122"/>
              </a:rPr>
              <a:t>若二叉树非空          </a:t>
            </a:r>
            <a:r>
              <a:rPr kumimoji="1" lang="zh-CN" altLang="en-US" sz="2400" b="1" dirty="0">
                <a:solidFill>
                  <a:srgbClr val="0000FF"/>
                </a:solidFill>
                <a:latin typeface="Times New Roman" pitchFamily="18" charset="0"/>
              </a:rPr>
              <a:t>——</a:t>
            </a:r>
            <a:r>
              <a:rPr kumimoji="1" lang="zh-CN" altLang="en-US" sz="2400" b="1" dirty="0">
                <a:solidFill>
                  <a:srgbClr val="000000"/>
                </a:solidFill>
                <a:latin typeface="宋体" pitchFamily="2" charset="-122"/>
              </a:rPr>
              <a:t>递归项</a:t>
            </a:r>
          </a:p>
          <a:p>
            <a:pPr eaLnBrk="0" fontAlgn="base" hangingPunct="0">
              <a:spcBef>
                <a:spcPct val="20000"/>
              </a:spcBef>
              <a:spcAft>
                <a:spcPct val="0"/>
              </a:spcAft>
            </a:pPr>
            <a:r>
              <a:rPr kumimoji="1" lang="zh-CN" altLang="en-US" sz="2400" b="1" dirty="0">
                <a:solidFill>
                  <a:srgbClr val="FFFFA5"/>
                </a:solidFill>
                <a:latin typeface="宋体" pitchFamily="2" charset="-122"/>
              </a:rPr>
              <a:t>    </a:t>
            </a:r>
            <a:r>
              <a:rPr kumimoji="1" lang="zh-CN" altLang="en-US" sz="2400" b="1" dirty="0">
                <a:solidFill>
                  <a:srgbClr val="0000FF"/>
                </a:solidFill>
                <a:latin typeface="宋体" pitchFamily="2" charset="-122"/>
              </a:rPr>
              <a:t>（1）访问根结点；</a:t>
            </a:r>
          </a:p>
          <a:p>
            <a:pPr eaLnBrk="0" fontAlgn="base" hangingPunct="0">
              <a:spcBef>
                <a:spcPct val="20000"/>
              </a:spcBef>
              <a:spcAft>
                <a:spcPct val="0"/>
              </a:spcAft>
            </a:pPr>
            <a:r>
              <a:rPr kumimoji="1" lang="zh-CN" altLang="en-US" sz="2400" b="1" dirty="0">
                <a:solidFill>
                  <a:srgbClr val="0000FF"/>
                </a:solidFill>
                <a:latin typeface="宋体" pitchFamily="2" charset="-122"/>
              </a:rPr>
              <a:t>    （2）先序遍历左子树；</a:t>
            </a:r>
            <a:endParaRPr kumimoji="1" lang="en-US" altLang="zh-CN" sz="2400" b="1" dirty="0">
              <a:solidFill>
                <a:srgbClr val="0000FF"/>
              </a:solidFill>
              <a:latin typeface="宋体" pitchFamily="2" charset="-122"/>
            </a:endParaRPr>
          </a:p>
          <a:p>
            <a:pPr eaLnBrk="0" fontAlgn="base" hangingPunct="0">
              <a:spcBef>
                <a:spcPct val="20000"/>
              </a:spcBef>
              <a:spcAft>
                <a:spcPct val="0"/>
              </a:spcAft>
            </a:pPr>
            <a:r>
              <a:rPr kumimoji="1" lang="zh-CN" altLang="en-US" sz="2400" b="1" dirty="0">
                <a:solidFill>
                  <a:srgbClr val="FFFFA5"/>
                </a:solidFill>
                <a:latin typeface="宋体" pitchFamily="2" charset="-122"/>
              </a:rPr>
              <a:t>    </a:t>
            </a:r>
            <a:r>
              <a:rPr kumimoji="1" lang="zh-CN" altLang="en-US" sz="2400" b="1" dirty="0">
                <a:solidFill>
                  <a:srgbClr val="0000FF"/>
                </a:solidFill>
                <a:latin typeface="宋体" pitchFamily="2" charset="-122"/>
              </a:rPr>
              <a:t>（3）先序遍历右子树；</a:t>
            </a:r>
          </a:p>
        </p:txBody>
      </p:sp>
    </p:spTree>
    <p:extLst>
      <p:ext uri="{BB962C8B-B14F-4D97-AF65-F5344CB8AC3E}">
        <p14:creationId xmlns:p14="http://schemas.microsoft.com/office/powerpoint/2010/main" val="1914237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5.3.2  </a:t>
            </a:r>
            <a:r>
              <a:rPr kumimoji="1" lang="zh-CN" altLang="en-US" sz="3200" b="1" dirty="0">
                <a:latin typeface="Arial" charset="0"/>
                <a:ea typeface="宋体" charset="-122"/>
                <a:cs typeface="+mn-cs"/>
              </a:rPr>
              <a:t>遍历的递归算法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先序遍历递归算法</a:t>
            </a:r>
            <a:endParaRPr lang="en-US" altLang="zh-CN" sz="2800" b="1" dirty="0"/>
          </a:p>
        </p:txBody>
      </p:sp>
      <p:sp>
        <p:nvSpPr>
          <p:cNvPr id="4" name="日期占位符 3"/>
          <p:cNvSpPr>
            <a:spLocks noGrp="1"/>
          </p:cNvSpPr>
          <p:nvPr>
            <p:ph type="dt" sz="half" idx="10"/>
          </p:nvPr>
        </p:nvSpPr>
        <p:spPr/>
        <p:txBody>
          <a:bodyPr/>
          <a:lstStyle/>
          <a:p>
            <a:fld id="{DAA494AE-0ECC-4D1E-BF18-938E8CA8958E}"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59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5" name="Rectangle 4"/>
          <p:cNvSpPr>
            <a:spLocks noChangeArrowheads="1"/>
          </p:cNvSpPr>
          <p:nvPr/>
        </p:nvSpPr>
        <p:spPr bwMode="auto">
          <a:xfrm>
            <a:off x="457200" y="1717675"/>
            <a:ext cx="5948363" cy="5216525"/>
          </a:xfrm>
          <a:prstGeom prst="rect">
            <a:avLst/>
          </a:prstGeom>
          <a:noFill/>
          <a:ln w="12700" cap="rnd">
            <a:noFill/>
            <a:miter lim="800000"/>
            <a:headEnd/>
            <a:tailEnd/>
          </a:ln>
        </p:spPr>
        <p:txBody>
          <a:bodyPr>
            <a:spAutoFit/>
          </a:bodyPr>
          <a:lstStyle/>
          <a:p>
            <a:pPr marL="457200" indent="-457200" eaLnBrk="0" fontAlgn="base" hangingPunct="0">
              <a:spcBef>
                <a:spcPct val="0"/>
              </a:spcBef>
              <a:spcAft>
                <a:spcPct val="0"/>
              </a:spcAft>
            </a:pPr>
            <a:r>
              <a:rPr kumimoji="1" lang="en-US" altLang="zh-CN" sz="2800" b="1">
                <a:solidFill>
                  <a:srgbClr val="0000FF"/>
                </a:solidFill>
                <a:latin typeface="Times New Roman" pitchFamily="18" charset="0"/>
              </a:rPr>
              <a:t>   void prev (BinTree   T) </a:t>
            </a:r>
          </a:p>
          <a:p>
            <a:pPr marL="457200" indent="-457200" eaLnBrk="0" fontAlgn="base" hangingPunct="0">
              <a:spcBef>
                <a:spcPct val="0"/>
              </a:spcBef>
              <a:spcAft>
                <a:spcPct val="0"/>
              </a:spcAft>
            </a:pPr>
            <a:r>
              <a:rPr kumimoji="1" lang="en-US" altLang="zh-CN" sz="2800" b="1">
                <a:solidFill>
                  <a:srgbClr val="0000FF"/>
                </a:solidFill>
                <a:latin typeface="Times New Roman" pitchFamily="18" charset="0"/>
              </a:rPr>
              <a:t>    {</a:t>
            </a:r>
            <a:r>
              <a:rPr kumimoji="1" lang="zh-CN" altLang="en-US" sz="2800" b="1">
                <a:solidFill>
                  <a:srgbClr val="0000FF"/>
                </a:solidFill>
                <a:latin typeface="Times New Roman" pitchFamily="18" charset="0"/>
              </a:rPr>
              <a:t> </a:t>
            </a:r>
            <a:r>
              <a:rPr kumimoji="1" lang="en-US" altLang="zh-CN" sz="2800" b="1">
                <a:solidFill>
                  <a:srgbClr val="0000FF"/>
                </a:solidFill>
                <a:latin typeface="Times New Roman" pitchFamily="18" charset="0"/>
              </a:rPr>
              <a:t>if (T) </a:t>
            </a:r>
          </a:p>
          <a:p>
            <a:pPr marL="457200" indent="-457200" eaLnBrk="0" fontAlgn="base" hangingPunct="0">
              <a:spcBef>
                <a:spcPct val="0"/>
              </a:spcBef>
              <a:spcAft>
                <a:spcPct val="0"/>
              </a:spcAft>
            </a:pPr>
            <a:r>
              <a:rPr kumimoji="1" lang="en-US" altLang="zh-CN" sz="2800" b="1">
                <a:solidFill>
                  <a:srgbClr val="FFFFA5"/>
                </a:solidFill>
                <a:latin typeface="Times New Roman" pitchFamily="18" charset="0"/>
              </a:rPr>
              <a:t>      </a:t>
            </a:r>
            <a:r>
              <a:rPr kumimoji="1" lang="en-US" altLang="zh-CN" sz="2800" b="1">
                <a:solidFill>
                  <a:srgbClr val="0000FF"/>
                </a:solidFill>
                <a:latin typeface="Times New Roman" pitchFamily="18" charset="0"/>
              </a:rPr>
              <a:t>{ </a:t>
            </a:r>
            <a:r>
              <a:rPr kumimoji="1" lang="en-US" altLang="zh-CN" sz="2800" b="1">
                <a:solidFill>
                  <a:srgbClr val="FF3300"/>
                </a:solidFill>
                <a:latin typeface="Times New Roman" pitchFamily="18" charset="0"/>
              </a:rPr>
              <a:t>visit(T-&gt;data)； </a:t>
            </a:r>
          </a:p>
          <a:p>
            <a:pPr marL="457200" indent="-457200" eaLnBrk="0" fontAlgn="base" hangingPunct="0">
              <a:spcBef>
                <a:spcPct val="0"/>
              </a:spcBef>
              <a:spcAft>
                <a:spcPct val="0"/>
              </a:spcAft>
            </a:pPr>
            <a:r>
              <a:rPr kumimoji="1" lang="en-US" altLang="zh-CN" sz="2800" b="1">
                <a:solidFill>
                  <a:srgbClr val="FF3300"/>
                </a:solidFill>
                <a:latin typeface="Times New Roman" pitchFamily="18" charset="0"/>
              </a:rPr>
              <a:t>         prev(T-&gt;lch);                     </a:t>
            </a:r>
            <a:endParaRPr kumimoji="1" lang="zh-CN" altLang="en-US" sz="2800" b="1">
              <a:solidFill>
                <a:srgbClr val="FF3300"/>
              </a:solidFill>
              <a:latin typeface="Times New Roman" pitchFamily="18" charset="0"/>
            </a:endParaRPr>
          </a:p>
          <a:p>
            <a:pPr marL="457200" indent="-457200" eaLnBrk="0" fontAlgn="base" hangingPunct="0">
              <a:spcBef>
                <a:spcPct val="0"/>
              </a:spcBef>
              <a:spcAft>
                <a:spcPct val="0"/>
              </a:spcAft>
            </a:pPr>
            <a:r>
              <a:rPr kumimoji="1" lang="zh-CN" altLang="en-US" sz="2800" b="1">
                <a:solidFill>
                  <a:srgbClr val="FF3300"/>
                </a:solidFill>
                <a:latin typeface="Times New Roman" pitchFamily="18" charset="0"/>
              </a:rPr>
              <a:t>          </a:t>
            </a:r>
            <a:r>
              <a:rPr kumimoji="1" lang="en-US" altLang="zh-CN" sz="2800" b="1">
                <a:solidFill>
                  <a:srgbClr val="FF3300"/>
                </a:solidFill>
                <a:latin typeface="Times New Roman" pitchFamily="18" charset="0"/>
              </a:rPr>
              <a:t>prev(T-&gt;rch);</a:t>
            </a:r>
          </a:p>
          <a:p>
            <a:pPr marL="457200" indent="-457200" eaLnBrk="0" fontAlgn="base" hangingPunct="0">
              <a:spcBef>
                <a:spcPct val="0"/>
              </a:spcBef>
              <a:spcAft>
                <a:spcPct val="0"/>
              </a:spcAft>
            </a:pPr>
            <a:r>
              <a:rPr kumimoji="1" lang="zh-CN" altLang="en-US" sz="2800" b="1">
                <a:solidFill>
                  <a:srgbClr val="0000FF"/>
                </a:solidFill>
                <a:latin typeface="Times New Roman" pitchFamily="18" charset="0"/>
              </a:rPr>
              <a:t>      }</a:t>
            </a:r>
          </a:p>
          <a:p>
            <a:pPr marL="457200" indent="-457200" eaLnBrk="0" fontAlgn="base" hangingPunct="0">
              <a:spcBef>
                <a:spcPct val="0"/>
              </a:spcBef>
              <a:spcAft>
                <a:spcPct val="0"/>
              </a:spcAft>
            </a:pPr>
            <a:r>
              <a:rPr kumimoji="1" lang="en-US" altLang="zh-CN" sz="2800" b="1">
                <a:solidFill>
                  <a:srgbClr val="0000FF"/>
                </a:solidFill>
                <a:latin typeface="Times New Roman" pitchFamily="18" charset="0"/>
              </a:rPr>
              <a:t>    }</a:t>
            </a:r>
          </a:p>
          <a:p>
            <a:pPr marL="457200" indent="-457200" eaLnBrk="0" fontAlgn="base" hangingPunct="0">
              <a:spcBef>
                <a:spcPct val="0"/>
              </a:spcBef>
              <a:spcAft>
                <a:spcPct val="0"/>
              </a:spcAft>
            </a:pPr>
            <a:r>
              <a:rPr kumimoji="1" lang="zh-CN" altLang="en-US" sz="2800" b="1">
                <a:solidFill>
                  <a:srgbClr val="0000FF"/>
                </a:solidFill>
                <a:latin typeface="Times New Roman" pitchFamily="18" charset="0"/>
              </a:rPr>
              <a:t>先序序列为</a:t>
            </a:r>
          </a:p>
          <a:p>
            <a:pPr marL="457200" indent="-457200" eaLnBrk="0" fontAlgn="base" hangingPunct="0">
              <a:spcBef>
                <a:spcPct val="0"/>
              </a:spcBef>
              <a:spcAft>
                <a:spcPct val="0"/>
              </a:spcAft>
            </a:pPr>
            <a:r>
              <a:rPr kumimoji="1" lang="zh-CN" altLang="en-US" sz="2800" b="1">
                <a:solidFill>
                  <a:srgbClr val="0000FF"/>
                </a:solidFill>
                <a:latin typeface="Times New Roman" pitchFamily="18" charset="0"/>
              </a:rPr>
              <a:t>    + * </a:t>
            </a:r>
            <a:r>
              <a:rPr kumimoji="1" lang="en-US" altLang="zh-CN" sz="2800" b="1">
                <a:solidFill>
                  <a:srgbClr val="0000FF"/>
                </a:solidFill>
                <a:latin typeface="Times New Roman" pitchFamily="18" charset="0"/>
              </a:rPr>
              <a:t>a </a:t>
            </a:r>
            <a:r>
              <a:rPr kumimoji="1" lang="en-US" altLang="zh-CN" sz="2800" b="1">
                <a:solidFill>
                  <a:srgbClr val="0000FF"/>
                </a:solidFill>
                <a:latin typeface="Arial" pitchFamily="34" charset="0"/>
              </a:rPr>
              <a:t>–</a:t>
            </a:r>
            <a:r>
              <a:rPr kumimoji="1" lang="en-US" altLang="zh-CN" sz="2800" b="1">
                <a:solidFill>
                  <a:srgbClr val="0000FF"/>
                </a:solidFill>
                <a:latin typeface="Times New Roman" pitchFamily="18" charset="0"/>
              </a:rPr>
              <a:t> b c / d e</a:t>
            </a:r>
          </a:p>
          <a:p>
            <a:pPr marL="457200" indent="-457200" eaLnBrk="0" fontAlgn="base" hangingPunct="0">
              <a:spcBef>
                <a:spcPct val="0"/>
              </a:spcBef>
              <a:spcAft>
                <a:spcPct val="0"/>
              </a:spcAft>
            </a:pPr>
            <a:r>
              <a:rPr kumimoji="1" lang="zh-CN" altLang="en-US" sz="2800" b="1">
                <a:solidFill>
                  <a:srgbClr val="0000FF"/>
                </a:solidFill>
                <a:latin typeface="Times New Roman" pitchFamily="18" charset="0"/>
              </a:rPr>
              <a:t>称为</a:t>
            </a:r>
            <a:r>
              <a:rPr kumimoji="1" lang="zh-CN" altLang="en-US" sz="2800" b="1">
                <a:solidFill>
                  <a:srgbClr val="F81908"/>
                </a:solidFill>
                <a:latin typeface="Times New Roman" pitchFamily="18" charset="0"/>
              </a:rPr>
              <a:t>前缀表达式</a:t>
            </a:r>
          </a:p>
          <a:p>
            <a:pPr marL="457200" indent="-457200" eaLnBrk="0" fontAlgn="base" hangingPunct="0">
              <a:spcBef>
                <a:spcPct val="0"/>
              </a:spcBef>
              <a:spcAft>
                <a:spcPct val="0"/>
              </a:spcAft>
            </a:pPr>
            <a:endParaRPr kumimoji="1" lang="en-US" altLang="zh-CN" sz="2800" b="1">
              <a:solidFill>
                <a:srgbClr val="0000FF"/>
              </a:solidFill>
              <a:latin typeface="Times New Roman" pitchFamily="18" charset="0"/>
            </a:endParaRPr>
          </a:p>
          <a:p>
            <a:pPr marL="457200" indent="-457200" eaLnBrk="0" fontAlgn="base" hangingPunct="0">
              <a:spcBef>
                <a:spcPct val="0"/>
              </a:spcBef>
              <a:spcAft>
                <a:spcPct val="0"/>
              </a:spcAft>
            </a:pPr>
            <a:endParaRPr kumimoji="1" lang="en-US" altLang="zh-CN" sz="2800" b="1">
              <a:solidFill>
                <a:srgbClr val="FFFFA5"/>
              </a:solidFill>
              <a:latin typeface="Times New Roman" pitchFamily="18" charset="0"/>
            </a:endParaRPr>
          </a:p>
        </p:txBody>
      </p:sp>
      <p:grpSp>
        <p:nvGrpSpPr>
          <p:cNvPr id="16" name="Group 92"/>
          <p:cNvGrpSpPr>
            <a:grpSpLocks/>
          </p:cNvGrpSpPr>
          <p:nvPr/>
        </p:nvGrpSpPr>
        <p:grpSpPr bwMode="auto">
          <a:xfrm>
            <a:off x="3886200" y="1924050"/>
            <a:ext cx="5410200" cy="3451225"/>
            <a:chOff x="2832" y="864"/>
            <a:chExt cx="3408" cy="2174"/>
          </a:xfrm>
        </p:grpSpPr>
        <p:grpSp>
          <p:nvGrpSpPr>
            <p:cNvPr id="17" name="Group 55"/>
            <p:cNvGrpSpPr>
              <a:grpSpLocks/>
            </p:cNvGrpSpPr>
            <p:nvPr/>
          </p:nvGrpSpPr>
          <p:grpSpPr bwMode="auto">
            <a:xfrm>
              <a:off x="5424" y="2160"/>
              <a:ext cx="816" cy="302"/>
              <a:chOff x="3935" y="2880"/>
              <a:chExt cx="1009" cy="420"/>
            </a:xfrm>
          </p:grpSpPr>
          <p:grpSp>
            <p:nvGrpSpPr>
              <p:cNvPr id="78" name="Group 56"/>
              <p:cNvGrpSpPr>
                <a:grpSpLocks/>
              </p:cNvGrpSpPr>
              <p:nvPr/>
            </p:nvGrpSpPr>
            <p:grpSpPr bwMode="auto">
              <a:xfrm>
                <a:off x="3984" y="2880"/>
                <a:ext cx="839" cy="384"/>
                <a:chOff x="960" y="2544"/>
                <a:chExt cx="768" cy="288"/>
              </a:xfrm>
            </p:grpSpPr>
            <p:sp>
              <p:nvSpPr>
                <p:cNvPr id="80" name="Rectangle 57"/>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81" name="Line 58"/>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2" name="Line 59"/>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79" name="Text Box 60"/>
              <p:cNvSpPr txBox="1">
                <a:spLocks noChangeArrowheads="1"/>
              </p:cNvSpPr>
              <p:nvPr/>
            </p:nvSpPr>
            <p:spPr bwMode="auto">
              <a:xfrm>
                <a:off x="3935" y="2899"/>
                <a:ext cx="1009"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e ∧</a:t>
                </a:r>
              </a:p>
            </p:txBody>
          </p:sp>
        </p:grpSp>
        <p:grpSp>
          <p:nvGrpSpPr>
            <p:cNvPr id="19" name="Group 85"/>
            <p:cNvGrpSpPr>
              <a:grpSpLocks/>
            </p:cNvGrpSpPr>
            <p:nvPr/>
          </p:nvGrpSpPr>
          <p:grpSpPr bwMode="auto">
            <a:xfrm>
              <a:off x="2832" y="864"/>
              <a:ext cx="3072" cy="2174"/>
              <a:chOff x="2832" y="864"/>
              <a:chExt cx="3072" cy="2174"/>
            </a:xfrm>
          </p:grpSpPr>
          <p:sp>
            <p:nvSpPr>
              <p:cNvPr id="20" name="Line 45"/>
              <p:cNvSpPr>
                <a:spLocks noChangeShapeType="1"/>
              </p:cNvSpPr>
              <p:nvPr/>
            </p:nvSpPr>
            <p:spPr bwMode="auto">
              <a:xfrm flipH="1">
                <a:off x="3840" y="1440"/>
                <a:ext cx="336" cy="240"/>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1" name="Line 46"/>
              <p:cNvSpPr>
                <a:spLocks noChangeShapeType="1"/>
              </p:cNvSpPr>
              <p:nvPr/>
            </p:nvSpPr>
            <p:spPr bwMode="auto">
              <a:xfrm>
                <a:off x="4656" y="1392"/>
                <a:ext cx="672"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2" name="Line 47"/>
              <p:cNvSpPr>
                <a:spLocks noChangeShapeType="1"/>
              </p:cNvSpPr>
              <p:nvPr/>
            </p:nvSpPr>
            <p:spPr bwMode="auto">
              <a:xfrm flipH="1">
                <a:off x="3168" y="1920"/>
                <a:ext cx="313"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 name="Line 48"/>
              <p:cNvSpPr>
                <a:spLocks noChangeShapeType="1"/>
              </p:cNvSpPr>
              <p:nvPr/>
            </p:nvSpPr>
            <p:spPr bwMode="auto">
              <a:xfrm flipH="1">
                <a:off x="4992" y="1920"/>
                <a:ext cx="157" cy="240"/>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4" name="Line 49"/>
              <p:cNvSpPr>
                <a:spLocks noChangeShapeType="1"/>
              </p:cNvSpPr>
              <p:nvPr/>
            </p:nvSpPr>
            <p:spPr bwMode="auto">
              <a:xfrm>
                <a:off x="3984" y="1920"/>
                <a:ext cx="336"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Line 61"/>
              <p:cNvSpPr>
                <a:spLocks noChangeShapeType="1"/>
              </p:cNvSpPr>
              <p:nvPr/>
            </p:nvSpPr>
            <p:spPr bwMode="auto">
              <a:xfrm>
                <a:off x="5568" y="1920"/>
                <a:ext cx="336"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Line 62"/>
              <p:cNvSpPr>
                <a:spLocks noChangeShapeType="1"/>
              </p:cNvSpPr>
              <p:nvPr/>
            </p:nvSpPr>
            <p:spPr bwMode="auto">
              <a:xfrm flipH="1">
                <a:off x="3600" y="2400"/>
                <a:ext cx="409" cy="336"/>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7" name="Line 75"/>
              <p:cNvSpPr>
                <a:spLocks noChangeShapeType="1"/>
              </p:cNvSpPr>
              <p:nvPr/>
            </p:nvSpPr>
            <p:spPr bwMode="auto">
              <a:xfrm>
                <a:off x="4464" y="2448"/>
                <a:ext cx="384" cy="336"/>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28" name="Group 7"/>
              <p:cNvGrpSpPr>
                <a:grpSpLocks/>
              </p:cNvGrpSpPr>
              <p:nvPr/>
            </p:nvGrpSpPr>
            <p:grpSpPr bwMode="auto">
              <a:xfrm>
                <a:off x="2832" y="2160"/>
                <a:ext cx="960" cy="302"/>
                <a:chOff x="2448" y="3408"/>
                <a:chExt cx="1007" cy="420"/>
              </a:xfrm>
            </p:grpSpPr>
            <p:grpSp>
              <p:nvGrpSpPr>
                <p:cNvPr id="73" name="Group 8"/>
                <p:cNvGrpSpPr>
                  <a:grpSpLocks/>
                </p:cNvGrpSpPr>
                <p:nvPr/>
              </p:nvGrpSpPr>
              <p:grpSpPr bwMode="auto">
                <a:xfrm>
                  <a:off x="2496" y="3408"/>
                  <a:ext cx="839" cy="384"/>
                  <a:chOff x="960" y="2544"/>
                  <a:chExt cx="768" cy="288"/>
                </a:xfrm>
              </p:grpSpPr>
              <p:sp>
                <p:nvSpPr>
                  <p:cNvPr id="75" name="Rectangle 9"/>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6" name="Line 10"/>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7" name="Line 11"/>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74" name="Text Box 12"/>
                <p:cNvSpPr txBox="1">
                  <a:spLocks noChangeArrowheads="1"/>
                </p:cNvSpPr>
                <p:nvPr/>
              </p:nvSpPr>
              <p:spPr bwMode="auto">
                <a:xfrm>
                  <a:off x="2448" y="3427"/>
                  <a:ext cx="1007"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a </a:t>
                  </a: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grpSp>
            <p:nvGrpSpPr>
              <p:cNvPr id="29" name="Group 14"/>
              <p:cNvGrpSpPr>
                <a:grpSpLocks/>
              </p:cNvGrpSpPr>
              <p:nvPr/>
            </p:nvGrpSpPr>
            <p:grpSpPr bwMode="auto">
              <a:xfrm>
                <a:off x="4080" y="1152"/>
                <a:ext cx="760" cy="327"/>
                <a:chOff x="3696" y="1680"/>
                <a:chExt cx="760" cy="327"/>
              </a:xfrm>
            </p:grpSpPr>
            <p:grpSp>
              <p:nvGrpSpPr>
                <p:cNvPr id="68" name="Group 15"/>
                <p:cNvGrpSpPr>
                  <a:grpSpLocks/>
                </p:cNvGrpSpPr>
                <p:nvPr/>
              </p:nvGrpSpPr>
              <p:grpSpPr bwMode="auto">
                <a:xfrm>
                  <a:off x="3732" y="1715"/>
                  <a:ext cx="633" cy="277"/>
                  <a:chOff x="960" y="2544"/>
                  <a:chExt cx="768" cy="288"/>
                </a:xfrm>
              </p:grpSpPr>
              <p:sp>
                <p:nvSpPr>
                  <p:cNvPr id="70" name="Rectangle 16"/>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1" name="Line 17"/>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2" name="Line 18"/>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69" name="Text Box 19"/>
                <p:cNvSpPr txBox="1">
                  <a:spLocks noChangeArrowheads="1"/>
                </p:cNvSpPr>
                <p:nvPr/>
              </p:nvSpPr>
              <p:spPr bwMode="auto">
                <a:xfrm>
                  <a:off x="3696" y="1680"/>
                  <a:ext cx="760" cy="32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0000"/>
                      </a:solidFill>
                      <a:effectLst/>
                      <a:uLnTx/>
                      <a:uFillTx/>
                      <a:latin typeface="隶书" pitchFamily="49" charset="-122"/>
                      <a:ea typeface="隶书" pitchFamily="49" charset="-122"/>
                    </a:rPr>
                    <a:t>+</a:t>
                  </a:r>
                </a:p>
              </p:txBody>
            </p:sp>
          </p:grpSp>
          <p:grpSp>
            <p:nvGrpSpPr>
              <p:cNvPr id="30" name="Group 20"/>
              <p:cNvGrpSpPr>
                <a:grpSpLocks/>
              </p:cNvGrpSpPr>
              <p:nvPr/>
            </p:nvGrpSpPr>
            <p:grpSpPr bwMode="auto">
              <a:xfrm>
                <a:off x="3408" y="1680"/>
                <a:ext cx="760" cy="327"/>
                <a:chOff x="2976" y="2592"/>
                <a:chExt cx="1009" cy="454"/>
              </a:xfrm>
            </p:grpSpPr>
            <p:grpSp>
              <p:nvGrpSpPr>
                <p:cNvPr id="63" name="Group 21"/>
                <p:cNvGrpSpPr>
                  <a:grpSpLocks/>
                </p:cNvGrpSpPr>
                <p:nvPr/>
              </p:nvGrpSpPr>
              <p:grpSpPr bwMode="auto">
                <a:xfrm>
                  <a:off x="3024" y="2592"/>
                  <a:ext cx="839" cy="384"/>
                  <a:chOff x="960" y="2544"/>
                  <a:chExt cx="768" cy="288"/>
                </a:xfrm>
              </p:grpSpPr>
              <p:sp>
                <p:nvSpPr>
                  <p:cNvPr id="65" name="Rectangle 22"/>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6" name="Line 23"/>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7" name="Line 24"/>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64" name="Text Box 25"/>
                <p:cNvSpPr txBox="1">
                  <a:spLocks noChangeArrowheads="1"/>
                </p:cNvSpPr>
                <p:nvPr/>
              </p:nvSpPr>
              <p:spPr bwMode="auto">
                <a:xfrm>
                  <a:off x="2976" y="2592"/>
                  <a:ext cx="1009" cy="45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31" name="Group 26"/>
              <p:cNvGrpSpPr>
                <a:grpSpLocks/>
              </p:cNvGrpSpPr>
              <p:nvPr/>
            </p:nvGrpSpPr>
            <p:grpSpPr bwMode="auto">
              <a:xfrm>
                <a:off x="4944" y="1680"/>
                <a:ext cx="868" cy="302"/>
                <a:chOff x="4368" y="2592"/>
                <a:chExt cx="1152" cy="419"/>
              </a:xfrm>
            </p:grpSpPr>
            <p:grpSp>
              <p:nvGrpSpPr>
                <p:cNvPr id="58" name="Group 27"/>
                <p:cNvGrpSpPr>
                  <a:grpSpLocks/>
                </p:cNvGrpSpPr>
                <p:nvPr/>
              </p:nvGrpSpPr>
              <p:grpSpPr bwMode="auto">
                <a:xfrm>
                  <a:off x="4464" y="2592"/>
                  <a:ext cx="839" cy="384"/>
                  <a:chOff x="960" y="2544"/>
                  <a:chExt cx="768" cy="288"/>
                </a:xfrm>
              </p:grpSpPr>
              <p:sp>
                <p:nvSpPr>
                  <p:cNvPr id="60" name="Rectangle 28"/>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1" name="Line 29"/>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2" name="Line 30"/>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9" name="Text Box 31"/>
                <p:cNvSpPr txBox="1">
                  <a:spLocks noChangeArrowheads="1"/>
                </p:cNvSpPr>
                <p:nvPr/>
              </p:nvSpPr>
              <p:spPr bwMode="auto">
                <a:xfrm>
                  <a:off x="4368" y="2611"/>
                  <a:ext cx="1152" cy="4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32" name="Group 32"/>
              <p:cNvGrpSpPr>
                <a:grpSpLocks/>
              </p:cNvGrpSpPr>
              <p:nvPr/>
            </p:nvGrpSpPr>
            <p:grpSpPr bwMode="auto">
              <a:xfrm>
                <a:off x="4656" y="2160"/>
                <a:ext cx="760" cy="302"/>
                <a:chOff x="3935" y="2880"/>
                <a:chExt cx="1009" cy="420"/>
              </a:xfrm>
            </p:grpSpPr>
            <p:grpSp>
              <p:nvGrpSpPr>
                <p:cNvPr id="53" name="Group 33"/>
                <p:cNvGrpSpPr>
                  <a:grpSpLocks/>
                </p:cNvGrpSpPr>
                <p:nvPr/>
              </p:nvGrpSpPr>
              <p:grpSpPr bwMode="auto">
                <a:xfrm>
                  <a:off x="3984" y="2880"/>
                  <a:ext cx="839" cy="384"/>
                  <a:chOff x="960" y="2544"/>
                  <a:chExt cx="768" cy="288"/>
                </a:xfrm>
              </p:grpSpPr>
              <p:sp>
                <p:nvSpPr>
                  <p:cNvPr id="55" name="Rectangle 34"/>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6" name="Line 35"/>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7" name="Line 36"/>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4" name="Text Box 37"/>
                <p:cNvSpPr txBox="1">
                  <a:spLocks noChangeArrowheads="1"/>
                </p:cNvSpPr>
                <p:nvPr/>
              </p:nvSpPr>
              <p:spPr bwMode="auto">
                <a:xfrm>
                  <a:off x="3935" y="2899"/>
                  <a:ext cx="1009"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d </a:t>
                  </a:r>
                  <a:r>
                    <a:rPr kumimoji="1" lang="en-US" altLang="zh-CN" sz="20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33" name="Group 38"/>
              <p:cNvGrpSpPr>
                <a:grpSpLocks/>
              </p:cNvGrpSpPr>
              <p:nvPr/>
            </p:nvGrpSpPr>
            <p:grpSpPr bwMode="auto">
              <a:xfrm>
                <a:off x="3888" y="2160"/>
                <a:ext cx="760" cy="301"/>
                <a:chOff x="2928" y="4224"/>
                <a:chExt cx="1008" cy="418"/>
              </a:xfrm>
            </p:grpSpPr>
            <p:grpSp>
              <p:nvGrpSpPr>
                <p:cNvPr id="48" name="Group 39"/>
                <p:cNvGrpSpPr>
                  <a:grpSpLocks/>
                </p:cNvGrpSpPr>
                <p:nvPr/>
              </p:nvGrpSpPr>
              <p:grpSpPr bwMode="auto">
                <a:xfrm>
                  <a:off x="2976" y="4224"/>
                  <a:ext cx="839" cy="384"/>
                  <a:chOff x="960" y="2544"/>
                  <a:chExt cx="768" cy="288"/>
                </a:xfrm>
              </p:grpSpPr>
              <p:sp>
                <p:nvSpPr>
                  <p:cNvPr id="50" name="Rectangle 40"/>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1" name="Line 41"/>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2" name="Line 42"/>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9" name="Text Box 43"/>
                <p:cNvSpPr txBox="1">
                  <a:spLocks noChangeArrowheads="1"/>
                </p:cNvSpPr>
                <p:nvPr/>
              </p:nvSpPr>
              <p:spPr bwMode="auto">
                <a:xfrm>
                  <a:off x="2928" y="4242"/>
                  <a:ext cx="1008" cy="4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20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0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sp>
            <p:nvSpPr>
              <p:cNvPr id="34" name="Text Box 50"/>
              <p:cNvSpPr txBox="1">
                <a:spLocks noChangeArrowheads="1"/>
              </p:cNvSpPr>
              <p:nvPr/>
            </p:nvSpPr>
            <p:spPr bwMode="auto">
              <a:xfrm>
                <a:off x="3456" y="864"/>
                <a:ext cx="624" cy="327"/>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800" b="1" i="0" u="none" strike="noStrike" kern="0" cap="none" spc="0" normalizeH="0" baseline="0" noProof="0">
                    <a:ln>
                      <a:noFill/>
                    </a:ln>
                    <a:solidFill>
                      <a:srgbClr val="000000"/>
                    </a:solidFill>
                    <a:effectLst/>
                    <a:uLnTx/>
                    <a:uFillTx/>
                    <a:latin typeface="宋体" pitchFamily="2" charset="-122"/>
                  </a:rPr>
                  <a:t>T</a:t>
                </a:r>
              </a:p>
            </p:txBody>
          </p:sp>
          <p:sp>
            <p:nvSpPr>
              <p:cNvPr id="35" name="Line 51"/>
              <p:cNvSpPr>
                <a:spLocks noChangeShapeType="1"/>
              </p:cNvSpPr>
              <p:nvPr/>
            </p:nvSpPr>
            <p:spPr bwMode="auto">
              <a:xfrm>
                <a:off x="3792" y="1296"/>
                <a:ext cx="288" cy="0"/>
              </a:xfrm>
              <a:prstGeom prst="line">
                <a:avLst/>
              </a:prstGeom>
              <a:noFill/>
              <a:ln w="38100" cap="rnd">
                <a:solidFill>
                  <a:srgbClr val="000000"/>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36" name="Group 63"/>
              <p:cNvGrpSpPr>
                <a:grpSpLocks/>
              </p:cNvGrpSpPr>
              <p:nvPr/>
            </p:nvGrpSpPr>
            <p:grpSpPr bwMode="auto">
              <a:xfrm>
                <a:off x="3072" y="2736"/>
                <a:ext cx="960" cy="302"/>
                <a:chOff x="2448" y="3408"/>
                <a:chExt cx="1007" cy="420"/>
              </a:xfrm>
            </p:grpSpPr>
            <p:grpSp>
              <p:nvGrpSpPr>
                <p:cNvPr id="43" name="Group 64"/>
                <p:cNvGrpSpPr>
                  <a:grpSpLocks/>
                </p:cNvGrpSpPr>
                <p:nvPr/>
              </p:nvGrpSpPr>
              <p:grpSpPr bwMode="auto">
                <a:xfrm>
                  <a:off x="2496" y="3408"/>
                  <a:ext cx="839" cy="384"/>
                  <a:chOff x="960" y="2544"/>
                  <a:chExt cx="768" cy="288"/>
                </a:xfrm>
              </p:grpSpPr>
              <p:sp>
                <p:nvSpPr>
                  <p:cNvPr id="45" name="Rectangle 65"/>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6" name="Line 66"/>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7" name="Line 67"/>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4" name="Text Box 68"/>
                <p:cNvSpPr txBox="1">
                  <a:spLocks noChangeArrowheads="1"/>
                </p:cNvSpPr>
                <p:nvPr/>
              </p:nvSpPr>
              <p:spPr bwMode="auto">
                <a:xfrm>
                  <a:off x="2448" y="3427"/>
                  <a:ext cx="1007"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b </a:t>
                  </a: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grpSp>
            <p:nvGrpSpPr>
              <p:cNvPr id="37" name="Group 69"/>
              <p:cNvGrpSpPr>
                <a:grpSpLocks/>
              </p:cNvGrpSpPr>
              <p:nvPr/>
            </p:nvGrpSpPr>
            <p:grpSpPr bwMode="auto">
              <a:xfrm>
                <a:off x="4368" y="2736"/>
                <a:ext cx="960" cy="302"/>
                <a:chOff x="2448" y="3408"/>
                <a:chExt cx="1007" cy="420"/>
              </a:xfrm>
            </p:grpSpPr>
            <p:grpSp>
              <p:nvGrpSpPr>
                <p:cNvPr id="38" name="Group 70"/>
                <p:cNvGrpSpPr>
                  <a:grpSpLocks/>
                </p:cNvGrpSpPr>
                <p:nvPr/>
              </p:nvGrpSpPr>
              <p:grpSpPr bwMode="auto">
                <a:xfrm>
                  <a:off x="2496" y="3408"/>
                  <a:ext cx="839" cy="384"/>
                  <a:chOff x="960" y="2544"/>
                  <a:chExt cx="768" cy="288"/>
                </a:xfrm>
              </p:grpSpPr>
              <p:sp>
                <p:nvSpPr>
                  <p:cNvPr id="40" name="Rectangle 71"/>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1" name="Line 72"/>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2" name="Line 73"/>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39" name="Text Box 74"/>
                <p:cNvSpPr txBox="1">
                  <a:spLocks noChangeArrowheads="1"/>
                </p:cNvSpPr>
                <p:nvPr/>
              </p:nvSpPr>
              <p:spPr bwMode="auto">
                <a:xfrm>
                  <a:off x="2448" y="3427"/>
                  <a:ext cx="1007"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c </a:t>
                  </a: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grpSp>
      </p:grpSp>
      <p:sp>
        <p:nvSpPr>
          <p:cNvPr id="83" name="Text Box 77"/>
          <p:cNvSpPr txBox="1">
            <a:spLocks noChangeArrowheads="1"/>
          </p:cNvSpPr>
          <p:nvPr/>
        </p:nvSpPr>
        <p:spPr bwMode="auto">
          <a:xfrm>
            <a:off x="5334000" y="5791200"/>
            <a:ext cx="2157412" cy="519113"/>
          </a:xfrm>
          <a:prstGeom prst="rect">
            <a:avLst/>
          </a:prstGeom>
          <a:noFill/>
          <a:ln w="12700" cap="rnd">
            <a:noFill/>
            <a:miter lim="800000"/>
            <a:headEnd/>
            <a:tailEnd/>
          </a:ln>
        </p:spPr>
        <p:txBody>
          <a:bodyPr wrap="none">
            <a:spAutoFit/>
          </a:bodyPr>
          <a:lstStyle/>
          <a:p>
            <a:pPr algn="ctr" eaLnBrk="0" fontAlgn="base" hangingPunct="0">
              <a:spcBef>
                <a:spcPct val="0"/>
              </a:spcBef>
              <a:spcAft>
                <a:spcPct val="0"/>
              </a:spcAft>
            </a:pPr>
            <a:r>
              <a:rPr kumimoji="1" lang="en-US" altLang="zh-CN" sz="2800" b="1" dirty="0">
                <a:solidFill>
                  <a:srgbClr val="000000"/>
                </a:solidFill>
                <a:latin typeface="隶书" pitchFamily="49" charset="-122"/>
                <a:ea typeface="隶书" pitchFamily="49" charset="-122"/>
              </a:rPr>
              <a:t>a*(b-c)+d/e</a:t>
            </a:r>
          </a:p>
        </p:txBody>
      </p:sp>
    </p:spTree>
    <p:extLst>
      <p:ext uri="{BB962C8B-B14F-4D97-AF65-F5344CB8AC3E}">
        <p14:creationId xmlns:p14="http://schemas.microsoft.com/office/powerpoint/2010/main" val="116986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5.3.2  </a:t>
            </a:r>
            <a:r>
              <a:rPr kumimoji="1" lang="zh-CN" altLang="en-US" sz="3200" b="1" dirty="0">
                <a:latin typeface="Arial" charset="0"/>
                <a:ea typeface="宋体" charset="-122"/>
                <a:cs typeface="+mn-cs"/>
              </a:rPr>
              <a:t>遍历的递归算法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中序遍历递归算法</a:t>
            </a:r>
            <a:endParaRPr lang="en-US" altLang="zh-CN" sz="2800" b="1" dirty="0"/>
          </a:p>
        </p:txBody>
      </p:sp>
      <p:sp>
        <p:nvSpPr>
          <p:cNvPr id="4" name="日期占位符 3"/>
          <p:cNvSpPr>
            <a:spLocks noGrp="1"/>
          </p:cNvSpPr>
          <p:nvPr>
            <p:ph type="dt" sz="half" idx="10"/>
          </p:nvPr>
        </p:nvSpPr>
        <p:spPr/>
        <p:txBody>
          <a:bodyPr/>
          <a:lstStyle/>
          <a:p>
            <a:fld id="{744B98A7-176C-489B-A8C4-878D61654A53}"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60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4"/>
          <p:cNvSpPr txBox="1">
            <a:spLocks noChangeArrowheads="1"/>
          </p:cNvSpPr>
          <p:nvPr/>
        </p:nvSpPr>
        <p:spPr bwMode="auto">
          <a:xfrm>
            <a:off x="381000" y="1412875"/>
            <a:ext cx="9525000" cy="5216525"/>
          </a:xfrm>
          <a:prstGeom prst="rect">
            <a:avLst/>
          </a:prstGeom>
          <a:noFill/>
          <a:ln w="12700" cap="rnd">
            <a:noFill/>
            <a:miter lim="800000"/>
            <a:headEnd/>
            <a:tailEnd/>
          </a:ln>
        </p:spPr>
        <p:txBody>
          <a:bodyPr>
            <a:spAutoFit/>
          </a:bodyPr>
          <a:lstStyle/>
          <a:p>
            <a:pPr marL="457200" indent="-457200" eaLnBrk="0" fontAlgn="base" hangingPunct="0">
              <a:spcBef>
                <a:spcPct val="50000"/>
              </a:spcBef>
              <a:spcAft>
                <a:spcPct val="0"/>
              </a:spcAft>
            </a:pPr>
            <a:br>
              <a:rPr kumimoji="1" lang="zh-CN" altLang="en-US" sz="2800" b="1">
                <a:solidFill>
                  <a:srgbClr val="FFFF66"/>
                </a:solidFill>
                <a:latin typeface="Times New Roman" pitchFamily="18" charset="0"/>
              </a:rPr>
            </a:br>
            <a:r>
              <a:rPr kumimoji="1" lang="en-US" altLang="zh-CN" sz="2800" b="1">
                <a:solidFill>
                  <a:srgbClr val="0000FF"/>
                </a:solidFill>
                <a:latin typeface="Times New Roman" pitchFamily="18" charset="0"/>
              </a:rPr>
              <a:t>void  Mid (BinTree   T) </a:t>
            </a:r>
          </a:p>
          <a:p>
            <a:pPr marL="457200" indent="-457200" eaLnBrk="0" fontAlgn="base" hangingPunct="0">
              <a:spcBef>
                <a:spcPct val="0"/>
              </a:spcBef>
              <a:spcAft>
                <a:spcPct val="0"/>
              </a:spcAft>
            </a:pPr>
            <a:r>
              <a:rPr kumimoji="1" lang="en-US" altLang="zh-CN" sz="2800" b="1">
                <a:solidFill>
                  <a:srgbClr val="0000FF"/>
                </a:solidFill>
                <a:latin typeface="Times New Roman" pitchFamily="18" charset="0"/>
              </a:rPr>
              <a:t>    {</a:t>
            </a:r>
            <a:r>
              <a:rPr kumimoji="1" lang="zh-CN" altLang="en-US" sz="2800" b="1">
                <a:solidFill>
                  <a:srgbClr val="0000FF"/>
                </a:solidFill>
                <a:latin typeface="Times New Roman" pitchFamily="18" charset="0"/>
              </a:rPr>
              <a:t> </a:t>
            </a:r>
            <a:r>
              <a:rPr kumimoji="1" lang="en-US" altLang="zh-CN" sz="2800" b="1">
                <a:solidFill>
                  <a:srgbClr val="0000FF"/>
                </a:solidFill>
                <a:latin typeface="Times New Roman" pitchFamily="18" charset="0"/>
              </a:rPr>
              <a:t>if (T) </a:t>
            </a:r>
          </a:p>
          <a:p>
            <a:pPr marL="457200" indent="-457200" eaLnBrk="0" fontAlgn="base" hangingPunct="0">
              <a:spcBef>
                <a:spcPct val="0"/>
              </a:spcBef>
              <a:spcAft>
                <a:spcPct val="0"/>
              </a:spcAft>
            </a:pPr>
            <a:r>
              <a:rPr kumimoji="1" lang="en-US" altLang="zh-CN" sz="2800" b="1">
                <a:solidFill>
                  <a:srgbClr val="0000FF"/>
                </a:solidFill>
                <a:latin typeface="Times New Roman" pitchFamily="18" charset="0"/>
              </a:rPr>
              <a:t>      {</a:t>
            </a:r>
            <a:r>
              <a:rPr kumimoji="1" lang="en-US" altLang="zh-CN" sz="2800" b="1">
                <a:solidFill>
                  <a:srgbClr val="FF3300"/>
                </a:solidFill>
                <a:latin typeface="Times New Roman" pitchFamily="18" charset="0"/>
              </a:rPr>
              <a:t>Mid(T-&gt;lch); </a:t>
            </a:r>
          </a:p>
          <a:p>
            <a:pPr marL="457200" indent="-457200" eaLnBrk="0" fontAlgn="base" hangingPunct="0">
              <a:spcBef>
                <a:spcPct val="0"/>
              </a:spcBef>
              <a:spcAft>
                <a:spcPct val="0"/>
              </a:spcAft>
            </a:pPr>
            <a:r>
              <a:rPr kumimoji="1" lang="en-US" altLang="zh-CN" sz="2800" b="1">
                <a:solidFill>
                  <a:srgbClr val="FF3300"/>
                </a:solidFill>
                <a:latin typeface="Times New Roman" pitchFamily="18" charset="0"/>
              </a:rPr>
              <a:t>        visit( T-&gt;data)； </a:t>
            </a:r>
          </a:p>
          <a:p>
            <a:pPr marL="457200" indent="-457200" eaLnBrk="0" fontAlgn="base" hangingPunct="0">
              <a:spcBef>
                <a:spcPct val="0"/>
              </a:spcBef>
              <a:spcAft>
                <a:spcPct val="0"/>
              </a:spcAft>
            </a:pPr>
            <a:r>
              <a:rPr kumimoji="1" lang="zh-CN" altLang="en-US" sz="2800" b="1">
                <a:solidFill>
                  <a:srgbClr val="FF3300"/>
                </a:solidFill>
                <a:latin typeface="Times New Roman" pitchFamily="18" charset="0"/>
              </a:rPr>
              <a:t>        </a:t>
            </a:r>
            <a:r>
              <a:rPr kumimoji="1" lang="en-US" altLang="zh-CN" sz="2800" b="1">
                <a:solidFill>
                  <a:srgbClr val="FF3300"/>
                </a:solidFill>
                <a:latin typeface="Times New Roman" pitchFamily="18" charset="0"/>
              </a:rPr>
              <a:t>Mid(T-&gt;rch);</a:t>
            </a:r>
          </a:p>
          <a:p>
            <a:pPr marL="457200" indent="-457200" eaLnBrk="0" fontAlgn="base" hangingPunct="0">
              <a:spcBef>
                <a:spcPct val="0"/>
              </a:spcBef>
              <a:spcAft>
                <a:spcPct val="0"/>
              </a:spcAft>
            </a:pPr>
            <a:r>
              <a:rPr kumimoji="1" lang="zh-CN" altLang="en-US" sz="2800" b="1">
                <a:solidFill>
                  <a:srgbClr val="0000FF"/>
                </a:solidFill>
                <a:latin typeface="Times New Roman" pitchFamily="18" charset="0"/>
              </a:rPr>
              <a:t>      }</a:t>
            </a:r>
          </a:p>
          <a:p>
            <a:pPr marL="457200" indent="-457200" eaLnBrk="0" fontAlgn="base" hangingPunct="0">
              <a:spcBef>
                <a:spcPct val="0"/>
              </a:spcBef>
              <a:spcAft>
                <a:spcPct val="0"/>
              </a:spcAft>
            </a:pPr>
            <a:r>
              <a:rPr kumimoji="1" lang="en-US" altLang="zh-CN" sz="2800" b="1">
                <a:solidFill>
                  <a:srgbClr val="0000FF"/>
                </a:solidFill>
                <a:latin typeface="Times New Roman" pitchFamily="18" charset="0"/>
              </a:rPr>
              <a:t>    }</a:t>
            </a:r>
          </a:p>
          <a:p>
            <a:pPr marL="457200" indent="-457200" eaLnBrk="0" fontAlgn="base" hangingPunct="0">
              <a:spcBef>
                <a:spcPct val="0"/>
              </a:spcBef>
              <a:spcAft>
                <a:spcPct val="0"/>
              </a:spcAft>
            </a:pPr>
            <a:r>
              <a:rPr kumimoji="1" lang="zh-CN" altLang="en-US" sz="2800" b="1">
                <a:solidFill>
                  <a:srgbClr val="0000FF"/>
                </a:solidFill>
                <a:latin typeface="Times New Roman" pitchFamily="18" charset="0"/>
              </a:rPr>
              <a:t>中序序列为</a:t>
            </a:r>
          </a:p>
          <a:p>
            <a:pPr marL="457200" indent="-457200" eaLnBrk="0" fontAlgn="base" hangingPunct="0">
              <a:spcBef>
                <a:spcPct val="0"/>
              </a:spcBef>
              <a:spcAft>
                <a:spcPct val="0"/>
              </a:spcAft>
            </a:pPr>
            <a:r>
              <a:rPr kumimoji="1" lang="zh-CN" altLang="en-US" sz="2800" b="1">
                <a:solidFill>
                  <a:srgbClr val="0000FF"/>
                </a:solidFill>
                <a:latin typeface="Times New Roman" pitchFamily="18" charset="0"/>
              </a:rPr>
              <a:t>    </a:t>
            </a:r>
            <a:r>
              <a:rPr kumimoji="1" lang="en-US" altLang="zh-CN" sz="2800" b="1">
                <a:solidFill>
                  <a:srgbClr val="0000FF"/>
                </a:solidFill>
                <a:latin typeface="Times New Roman" pitchFamily="18" charset="0"/>
              </a:rPr>
              <a:t>a * b </a:t>
            </a:r>
            <a:r>
              <a:rPr kumimoji="1" lang="en-US" altLang="zh-CN" sz="2800" b="1">
                <a:solidFill>
                  <a:srgbClr val="0000FF"/>
                </a:solidFill>
                <a:latin typeface="Arial" pitchFamily="34" charset="0"/>
              </a:rPr>
              <a:t>–</a:t>
            </a:r>
            <a:r>
              <a:rPr kumimoji="1" lang="en-US" altLang="zh-CN" sz="2800" b="1">
                <a:solidFill>
                  <a:srgbClr val="0000FF"/>
                </a:solidFill>
                <a:latin typeface="Times New Roman" pitchFamily="18" charset="0"/>
              </a:rPr>
              <a:t>  c+ d / e</a:t>
            </a:r>
          </a:p>
          <a:p>
            <a:pPr marL="457200" indent="-457200" eaLnBrk="0" fontAlgn="base" hangingPunct="0">
              <a:spcBef>
                <a:spcPct val="0"/>
              </a:spcBef>
              <a:spcAft>
                <a:spcPct val="0"/>
              </a:spcAft>
            </a:pPr>
            <a:r>
              <a:rPr kumimoji="1" lang="zh-CN" altLang="en-US" sz="2800" b="1">
                <a:solidFill>
                  <a:srgbClr val="0000FF"/>
                </a:solidFill>
                <a:latin typeface="Times New Roman" pitchFamily="18" charset="0"/>
              </a:rPr>
              <a:t>称为</a:t>
            </a:r>
            <a:r>
              <a:rPr kumimoji="1" lang="zh-CN" altLang="en-US" sz="2800" b="1">
                <a:solidFill>
                  <a:srgbClr val="F81908"/>
                </a:solidFill>
                <a:latin typeface="Times New Roman" pitchFamily="18" charset="0"/>
              </a:rPr>
              <a:t>中缀表达式</a:t>
            </a:r>
          </a:p>
          <a:p>
            <a:pPr marL="457200" indent="-457200" eaLnBrk="0" fontAlgn="base" hangingPunct="0">
              <a:spcBef>
                <a:spcPct val="0"/>
              </a:spcBef>
              <a:spcAft>
                <a:spcPct val="0"/>
              </a:spcAft>
            </a:pPr>
            <a:endParaRPr kumimoji="1" lang="en-US" altLang="zh-CN" sz="2800" b="1">
              <a:solidFill>
                <a:srgbClr val="F81908"/>
              </a:solidFill>
              <a:latin typeface="Times New Roman" pitchFamily="18" charset="0"/>
            </a:endParaRPr>
          </a:p>
        </p:txBody>
      </p:sp>
      <p:sp>
        <p:nvSpPr>
          <p:cNvPr id="14" name="Text Box 73"/>
          <p:cNvSpPr txBox="1">
            <a:spLocks noChangeArrowheads="1"/>
          </p:cNvSpPr>
          <p:nvPr/>
        </p:nvSpPr>
        <p:spPr bwMode="auto">
          <a:xfrm>
            <a:off x="6321425" y="5661025"/>
            <a:ext cx="2157413" cy="519113"/>
          </a:xfrm>
          <a:prstGeom prst="rect">
            <a:avLst/>
          </a:prstGeom>
          <a:noFill/>
          <a:ln w="12700" cap="rnd">
            <a:noFill/>
            <a:miter lim="800000"/>
            <a:headEnd/>
            <a:tailEnd/>
          </a:ln>
        </p:spPr>
        <p:txBody>
          <a:bodyPr wrap="none">
            <a:spAutoFit/>
          </a:bodyPr>
          <a:lstStyle/>
          <a:p>
            <a:pPr algn="ctr" eaLnBrk="0" fontAlgn="base" hangingPunct="0">
              <a:spcBef>
                <a:spcPct val="0"/>
              </a:spcBef>
              <a:spcAft>
                <a:spcPct val="0"/>
              </a:spcAft>
            </a:pPr>
            <a:r>
              <a:rPr kumimoji="1" lang="en-US" altLang="zh-CN" sz="2800" b="1">
                <a:solidFill>
                  <a:srgbClr val="000000"/>
                </a:solidFill>
                <a:latin typeface="隶书" pitchFamily="49" charset="-122"/>
                <a:ea typeface="隶书" pitchFamily="49" charset="-122"/>
              </a:rPr>
              <a:t>a*(b-c)+d/e</a:t>
            </a:r>
          </a:p>
        </p:txBody>
      </p:sp>
      <p:grpSp>
        <p:nvGrpSpPr>
          <p:cNvPr id="15" name="Group 77"/>
          <p:cNvGrpSpPr>
            <a:grpSpLocks/>
          </p:cNvGrpSpPr>
          <p:nvPr/>
        </p:nvGrpSpPr>
        <p:grpSpPr bwMode="auto">
          <a:xfrm>
            <a:off x="3886200" y="1295400"/>
            <a:ext cx="5410200" cy="3451225"/>
            <a:chOff x="2832" y="864"/>
            <a:chExt cx="3408" cy="2174"/>
          </a:xfrm>
        </p:grpSpPr>
        <p:grpSp>
          <p:nvGrpSpPr>
            <p:cNvPr id="16" name="Group 78"/>
            <p:cNvGrpSpPr>
              <a:grpSpLocks/>
            </p:cNvGrpSpPr>
            <p:nvPr/>
          </p:nvGrpSpPr>
          <p:grpSpPr bwMode="auto">
            <a:xfrm>
              <a:off x="5424" y="2160"/>
              <a:ext cx="816" cy="302"/>
              <a:chOff x="3935" y="2880"/>
              <a:chExt cx="1009" cy="420"/>
            </a:xfrm>
          </p:grpSpPr>
          <p:grpSp>
            <p:nvGrpSpPr>
              <p:cNvPr id="77" name="Group 79"/>
              <p:cNvGrpSpPr>
                <a:grpSpLocks/>
              </p:cNvGrpSpPr>
              <p:nvPr/>
            </p:nvGrpSpPr>
            <p:grpSpPr bwMode="auto">
              <a:xfrm>
                <a:off x="3984" y="2880"/>
                <a:ext cx="839" cy="384"/>
                <a:chOff x="960" y="2544"/>
                <a:chExt cx="768" cy="288"/>
              </a:xfrm>
            </p:grpSpPr>
            <p:sp>
              <p:nvSpPr>
                <p:cNvPr id="79" name="Rectangle 80"/>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80" name="Line 81"/>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1" name="Line 82"/>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78" name="Text Box 83"/>
              <p:cNvSpPr txBox="1">
                <a:spLocks noChangeArrowheads="1"/>
              </p:cNvSpPr>
              <p:nvPr/>
            </p:nvSpPr>
            <p:spPr bwMode="auto">
              <a:xfrm>
                <a:off x="3935" y="2899"/>
                <a:ext cx="1009"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e ∧</a:t>
                </a:r>
              </a:p>
            </p:txBody>
          </p:sp>
        </p:grpSp>
        <p:grpSp>
          <p:nvGrpSpPr>
            <p:cNvPr id="17" name="Group 84"/>
            <p:cNvGrpSpPr>
              <a:grpSpLocks/>
            </p:cNvGrpSpPr>
            <p:nvPr/>
          </p:nvGrpSpPr>
          <p:grpSpPr bwMode="auto">
            <a:xfrm>
              <a:off x="2832" y="864"/>
              <a:ext cx="3072" cy="2174"/>
              <a:chOff x="2832" y="864"/>
              <a:chExt cx="3072" cy="2174"/>
            </a:xfrm>
          </p:grpSpPr>
          <p:sp>
            <p:nvSpPr>
              <p:cNvPr id="19" name="Line 85"/>
              <p:cNvSpPr>
                <a:spLocks noChangeShapeType="1"/>
              </p:cNvSpPr>
              <p:nvPr/>
            </p:nvSpPr>
            <p:spPr bwMode="auto">
              <a:xfrm flipH="1">
                <a:off x="3840" y="1440"/>
                <a:ext cx="336" cy="240"/>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0" name="Line 86"/>
              <p:cNvSpPr>
                <a:spLocks noChangeShapeType="1"/>
              </p:cNvSpPr>
              <p:nvPr/>
            </p:nvSpPr>
            <p:spPr bwMode="auto">
              <a:xfrm>
                <a:off x="4656" y="1392"/>
                <a:ext cx="672"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1" name="Line 87"/>
              <p:cNvSpPr>
                <a:spLocks noChangeShapeType="1"/>
              </p:cNvSpPr>
              <p:nvPr/>
            </p:nvSpPr>
            <p:spPr bwMode="auto">
              <a:xfrm flipH="1">
                <a:off x="3168" y="1920"/>
                <a:ext cx="313"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2" name="Line 88"/>
              <p:cNvSpPr>
                <a:spLocks noChangeShapeType="1"/>
              </p:cNvSpPr>
              <p:nvPr/>
            </p:nvSpPr>
            <p:spPr bwMode="auto">
              <a:xfrm flipH="1">
                <a:off x="4992" y="1920"/>
                <a:ext cx="157" cy="240"/>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 name="Line 89"/>
              <p:cNvSpPr>
                <a:spLocks noChangeShapeType="1"/>
              </p:cNvSpPr>
              <p:nvPr/>
            </p:nvSpPr>
            <p:spPr bwMode="auto">
              <a:xfrm>
                <a:off x="3984" y="1920"/>
                <a:ext cx="336"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4" name="Line 90"/>
              <p:cNvSpPr>
                <a:spLocks noChangeShapeType="1"/>
              </p:cNvSpPr>
              <p:nvPr/>
            </p:nvSpPr>
            <p:spPr bwMode="auto">
              <a:xfrm>
                <a:off x="5568" y="1920"/>
                <a:ext cx="336"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Line 91"/>
              <p:cNvSpPr>
                <a:spLocks noChangeShapeType="1"/>
              </p:cNvSpPr>
              <p:nvPr/>
            </p:nvSpPr>
            <p:spPr bwMode="auto">
              <a:xfrm flipH="1">
                <a:off x="3600" y="2400"/>
                <a:ext cx="409" cy="336"/>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Line 92"/>
              <p:cNvSpPr>
                <a:spLocks noChangeShapeType="1"/>
              </p:cNvSpPr>
              <p:nvPr/>
            </p:nvSpPr>
            <p:spPr bwMode="auto">
              <a:xfrm>
                <a:off x="4464" y="2448"/>
                <a:ext cx="384" cy="336"/>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27" name="Group 93"/>
              <p:cNvGrpSpPr>
                <a:grpSpLocks/>
              </p:cNvGrpSpPr>
              <p:nvPr/>
            </p:nvGrpSpPr>
            <p:grpSpPr bwMode="auto">
              <a:xfrm>
                <a:off x="2832" y="2160"/>
                <a:ext cx="960" cy="302"/>
                <a:chOff x="2448" y="3408"/>
                <a:chExt cx="1007" cy="420"/>
              </a:xfrm>
            </p:grpSpPr>
            <p:grpSp>
              <p:nvGrpSpPr>
                <p:cNvPr id="72" name="Group 94"/>
                <p:cNvGrpSpPr>
                  <a:grpSpLocks/>
                </p:cNvGrpSpPr>
                <p:nvPr/>
              </p:nvGrpSpPr>
              <p:grpSpPr bwMode="auto">
                <a:xfrm>
                  <a:off x="2496" y="3408"/>
                  <a:ext cx="839" cy="384"/>
                  <a:chOff x="960" y="2544"/>
                  <a:chExt cx="768" cy="288"/>
                </a:xfrm>
              </p:grpSpPr>
              <p:sp>
                <p:nvSpPr>
                  <p:cNvPr id="74" name="Rectangle 95"/>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5" name="Line 96"/>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6" name="Line 97"/>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73" name="Text Box 98"/>
                <p:cNvSpPr txBox="1">
                  <a:spLocks noChangeArrowheads="1"/>
                </p:cNvSpPr>
                <p:nvPr/>
              </p:nvSpPr>
              <p:spPr bwMode="auto">
                <a:xfrm>
                  <a:off x="2448" y="3427"/>
                  <a:ext cx="1007"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a </a:t>
                  </a: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grpSp>
            <p:nvGrpSpPr>
              <p:cNvPr id="28" name="Group 99"/>
              <p:cNvGrpSpPr>
                <a:grpSpLocks/>
              </p:cNvGrpSpPr>
              <p:nvPr/>
            </p:nvGrpSpPr>
            <p:grpSpPr bwMode="auto">
              <a:xfrm>
                <a:off x="4080" y="1152"/>
                <a:ext cx="760" cy="327"/>
                <a:chOff x="3696" y="1680"/>
                <a:chExt cx="760" cy="327"/>
              </a:xfrm>
            </p:grpSpPr>
            <p:grpSp>
              <p:nvGrpSpPr>
                <p:cNvPr id="67" name="Group 100"/>
                <p:cNvGrpSpPr>
                  <a:grpSpLocks/>
                </p:cNvGrpSpPr>
                <p:nvPr/>
              </p:nvGrpSpPr>
              <p:grpSpPr bwMode="auto">
                <a:xfrm>
                  <a:off x="3732" y="1715"/>
                  <a:ext cx="633" cy="277"/>
                  <a:chOff x="960" y="2544"/>
                  <a:chExt cx="768" cy="288"/>
                </a:xfrm>
              </p:grpSpPr>
              <p:sp>
                <p:nvSpPr>
                  <p:cNvPr id="69" name="Rectangle 101"/>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0" name="Line 102"/>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1" name="Line 103"/>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68" name="Text Box 104"/>
                <p:cNvSpPr txBox="1">
                  <a:spLocks noChangeArrowheads="1"/>
                </p:cNvSpPr>
                <p:nvPr/>
              </p:nvSpPr>
              <p:spPr bwMode="auto">
                <a:xfrm>
                  <a:off x="3696" y="1680"/>
                  <a:ext cx="760" cy="32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0000"/>
                      </a:solidFill>
                      <a:effectLst/>
                      <a:uLnTx/>
                      <a:uFillTx/>
                      <a:latin typeface="隶书" pitchFamily="49" charset="-122"/>
                      <a:ea typeface="隶书" pitchFamily="49" charset="-122"/>
                    </a:rPr>
                    <a:t>+</a:t>
                  </a:r>
                </a:p>
              </p:txBody>
            </p:sp>
          </p:grpSp>
          <p:grpSp>
            <p:nvGrpSpPr>
              <p:cNvPr id="29" name="Group 105"/>
              <p:cNvGrpSpPr>
                <a:grpSpLocks/>
              </p:cNvGrpSpPr>
              <p:nvPr/>
            </p:nvGrpSpPr>
            <p:grpSpPr bwMode="auto">
              <a:xfrm>
                <a:off x="3408" y="1680"/>
                <a:ext cx="760" cy="327"/>
                <a:chOff x="2976" y="2592"/>
                <a:chExt cx="1009" cy="454"/>
              </a:xfrm>
            </p:grpSpPr>
            <p:grpSp>
              <p:nvGrpSpPr>
                <p:cNvPr id="62" name="Group 106"/>
                <p:cNvGrpSpPr>
                  <a:grpSpLocks/>
                </p:cNvGrpSpPr>
                <p:nvPr/>
              </p:nvGrpSpPr>
              <p:grpSpPr bwMode="auto">
                <a:xfrm>
                  <a:off x="3024" y="2592"/>
                  <a:ext cx="839" cy="384"/>
                  <a:chOff x="960" y="2544"/>
                  <a:chExt cx="768" cy="288"/>
                </a:xfrm>
              </p:grpSpPr>
              <p:sp>
                <p:nvSpPr>
                  <p:cNvPr id="64" name="Rectangle 107"/>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5" name="Line 108"/>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6" name="Line 109"/>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63" name="Text Box 110"/>
                <p:cNvSpPr txBox="1">
                  <a:spLocks noChangeArrowheads="1"/>
                </p:cNvSpPr>
                <p:nvPr/>
              </p:nvSpPr>
              <p:spPr bwMode="auto">
                <a:xfrm>
                  <a:off x="2976" y="2592"/>
                  <a:ext cx="1009" cy="45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dirty="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dirty="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dirty="0">
                      <a:ln>
                        <a:noFill/>
                      </a:ln>
                      <a:solidFill>
                        <a:srgbClr val="003300"/>
                      </a:solidFill>
                      <a:effectLst/>
                      <a:uLnTx/>
                      <a:uFillTx/>
                      <a:latin typeface="隶书" pitchFamily="49" charset="-122"/>
                      <a:ea typeface="隶书" pitchFamily="49" charset="-122"/>
                    </a:rPr>
                    <a:t>*</a:t>
                  </a:r>
                </a:p>
              </p:txBody>
            </p:sp>
          </p:grpSp>
          <p:grpSp>
            <p:nvGrpSpPr>
              <p:cNvPr id="30" name="Group 111"/>
              <p:cNvGrpSpPr>
                <a:grpSpLocks/>
              </p:cNvGrpSpPr>
              <p:nvPr/>
            </p:nvGrpSpPr>
            <p:grpSpPr bwMode="auto">
              <a:xfrm>
                <a:off x="4944" y="1680"/>
                <a:ext cx="868" cy="302"/>
                <a:chOff x="4368" y="2592"/>
                <a:chExt cx="1152" cy="419"/>
              </a:xfrm>
            </p:grpSpPr>
            <p:grpSp>
              <p:nvGrpSpPr>
                <p:cNvPr id="57" name="Group 112"/>
                <p:cNvGrpSpPr>
                  <a:grpSpLocks/>
                </p:cNvGrpSpPr>
                <p:nvPr/>
              </p:nvGrpSpPr>
              <p:grpSpPr bwMode="auto">
                <a:xfrm>
                  <a:off x="4464" y="2592"/>
                  <a:ext cx="839" cy="384"/>
                  <a:chOff x="960" y="2544"/>
                  <a:chExt cx="768" cy="288"/>
                </a:xfrm>
              </p:grpSpPr>
              <p:sp>
                <p:nvSpPr>
                  <p:cNvPr id="59" name="Rectangle 113"/>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0" name="Line 114"/>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1" name="Line 115"/>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8" name="Text Box 116"/>
                <p:cNvSpPr txBox="1">
                  <a:spLocks noChangeArrowheads="1"/>
                </p:cNvSpPr>
                <p:nvPr/>
              </p:nvSpPr>
              <p:spPr bwMode="auto">
                <a:xfrm>
                  <a:off x="4368" y="2611"/>
                  <a:ext cx="1152" cy="4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31" name="Group 117"/>
              <p:cNvGrpSpPr>
                <a:grpSpLocks/>
              </p:cNvGrpSpPr>
              <p:nvPr/>
            </p:nvGrpSpPr>
            <p:grpSpPr bwMode="auto">
              <a:xfrm>
                <a:off x="4656" y="2160"/>
                <a:ext cx="760" cy="302"/>
                <a:chOff x="3935" y="2880"/>
                <a:chExt cx="1009" cy="420"/>
              </a:xfrm>
            </p:grpSpPr>
            <p:grpSp>
              <p:nvGrpSpPr>
                <p:cNvPr id="52" name="Group 118"/>
                <p:cNvGrpSpPr>
                  <a:grpSpLocks/>
                </p:cNvGrpSpPr>
                <p:nvPr/>
              </p:nvGrpSpPr>
              <p:grpSpPr bwMode="auto">
                <a:xfrm>
                  <a:off x="3984" y="2880"/>
                  <a:ext cx="839" cy="384"/>
                  <a:chOff x="960" y="2544"/>
                  <a:chExt cx="768" cy="288"/>
                </a:xfrm>
              </p:grpSpPr>
              <p:sp>
                <p:nvSpPr>
                  <p:cNvPr id="54" name="Rectangle 119"/>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5" name="Line 120"/>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6" name="Line 121"/>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3" name="Text Box 122"/>
                <p:cNvSpPr txBox="1">
                  <a:spLocks noChangeArrowheads="1"/>
                </p:cNvSpPr>
                <p:nvPr/>
              </p:nvSpPr>
              <p:spPr bwMode="auto">
                <a:xfrm>
                  <a:off x="3935" y="2899"/>
                  <a:ext cx="1009"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d </a:t>
                  </a:r>
                  <a:r>
                    <a:rPr kumimoji="1" lang="en-US" altLang="zh-CN" sz="20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32" name="Group 123"/>
              <p:cNvGrpSpPr>
                <a:grpSpLocks/>
              </p:cNvGrpSpPr>
              <p:nvPr/>
            </p:nvGrpSpPr>
            <p:grpSpPr bwMode="auto">
              <a:xfrm>
                <a:off x="3888" y="2160"/>
                <a:ext cx="760" cy="301"/>
                <a:chOff x="2928" y="4224"/>
                <a:chExt cx="1008" cy="418"/>
              </a:xfrm>
            </p:grpSpPr>
            <p:grpSp>
              <p:nvGrpSpPr>
                <p:cNvPr id="47" name="Group 124"/>
                <p:cNvGrpSpPr>
                  <a:grpSpLocks/>
                </p:cNvGrpSpPr>
                <p:nvPr/>
              </p:nvGrpSpPr>
              <p:grpSpPr bwMode="auto">
                <a:xfrm>
                  <a:off x="2976" y="4224"/>
                  <a:ext cx="839" cy="384"/>
                  <a:chOff x="960" y="2544"/>
                  <a:chExt cx="768" cy="288"/>
                </a:xfrm>
              </p:grpSpPr>
              <p:sp>
                <p:nvSpPr>
                  <p:cNvPr id="49" name="Rectangle 125"/>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0" name="Line 126"/>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1" name="Line 127"/>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8" name="Text Box 128"/>
                <p:cNvSpPr txBox="1">
                  <a:spLocks noChangeArrowheads="1"/>
                </p:cNvSpPr>
                <p:nvPr/>
              </p:nvSpPr>
              <p:spPr bwMode="auto">
                <a:xfrm>
                  <a:off x="2928" y="4242"/>
                  <a:ext cx="1008" cy="4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20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0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sp>
            <p:nvSpPr>
              <p:cNvPr id="33" name="Text Box 129"/>
              <p:cNvSpPr txBox="1">
                <a:spLocks noChangeArrowheads="1"/>
              </p:cNvSpPr>
              <p:nvPr/>
            </p:nvSpPr>
            <p:spPr bwMode="auto">
              <a:xfrm>
                <a:off x="3456" y="864"/>
                <a:ext cx="624" cy="327"/>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800" b="1" i="0" u="none" strike="noStrike" kern="0" cap="none" spc="0" normalizeH="0" baseline="0" noProof="0">
                    <a:ln>
                      <a:noFill/>
                    </a:ln>
                    <a:solidFill>
                      <a:srgbClr val="000000"/>
                    </a:solidFill>
                    <a:effectLst/>
                    <a:uLnTx/>
                    <a:uFillTx/>
                    <a:latin typeface="宋体" pitchFamily="2" charset="-122"/>
                  </a:rPr>
                  <a:t>T</a:t>
                </a:r>
              </a:p>
            </p:txBody>
          </p:sp>
          <p:sp>
            <p:nvSpPr>
              <p:cNvPr id="34" name="Line 130"/>
              <p:cNvSpPr>
                <a:spLocks noChangeShapeType="1"/>
              </p:cNvSpPr>
              <p:nvPr/>
            </p:nvSpPr>
            <p:spPr bwMode="auto">
              <a:xfrm>
                <a:off x="3792" y="1296"/>
                <a:ext cx="288" cy="0"/>
              </a:xfrm>
              <a:prstGeom prst="line">
                <a:avLst/>
              </a:prstGeom>
              <a:noFill/>
              <a:ln w="38100" cap="rnd">
                <a:solidFill>
                  <a:srgbClr val="000000"/>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35" name="Group 131"/>
              <p:cNvGrpSpPr>
                <a:grpSpLocks/>
              </p:cNvGrpSpPr>
              <p:nvPr/>
            </p:nvGrpSpPr>
            <p:grpSpPr bwMode="auto">
              <a:xfrm>
                <a:off x="3072" y="2736"/>
                <a:ext cx="960" cy="302"/>
                <a:chOff x="2448" y="3408"/>
                <a:chExt cx="1007" cy="420"/>
              </a:xfrm>
            </p:grpSpPr>
            <p:grpSp>
              <p:nvGrpSpPr>
                <p:cNvPr id="42" name="Group 132"/>
                <p:cNvGrpSpPr>
                  <a:grpSpLocks/>
                </p:cNvGrpSpPr>
                <p:nvPr/>
              </p:nvGrpSpPr>
              <p:grpSpPr bwMode="auto">
                <a:xfrm>
                  <a:off x="2496" y="3408"/>
                  <a:ext cx="839" cy="384"/>
                  <a:chOff x="960" y="2544"/>
                  <a:chExt cx="768" cy="288"/>
                </a:xfrm>
              </p:grpSpPr>
              <p:sp>
                <p:nvSpPr>
                  <p:cNvPr id="44" name="Rectangle 133"/>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5" name="Line 134"/>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6" name="Line 135"/>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3" name="Text Box 136"/>
                <p:cNvSpPr txBox="1">
                  <a:spLocks noChangeArrowheads="1"/>
                </p:cNvSpPr>
                <p:nvPr/>
              </p:nvSpPr>
              <p:spPr bwMode="auto">
                <a:xfrm>
                  <a:off x="2448" y="3427"/>
                  <a:ext cx="1007"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b </a:t>
                  </a: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grpSp>
            <p:nvGrpSpPr>
              <p:cNvPr id="36" name="Group 137"/>
              <p:cNvGrpSpPr>
                <a:grpSpLocks/>
              </p:cNvGrpSpPr>
              <p:nvPr/>
            </p:nvGrpSpPr>
            <p:grpSpPr bwMode="auto">
              <a:xfrm>
                <a:off x="4368" y="2736"/>
                <a:ext cx="960" cy="302"/>
                <a:chOff x="2448" y="3408"/>
                <a:chExt cx="1007" cy="420"/>
              </a:xfrm>
            </p:grpSpPr>
            <p:grpSp>
              <p:nvGrpSpPr>
                <p:cNvPr id="37" name="Group 138"/>
                <p:cNvGrpSpPr>
                  <a:grpSpLocks/>
                </p:cNvGrpSpPr>
                <p:nvPr/>
              </p:nvGrpSpPr>
              <p:grpSpPr bwMode="auto">
                <a:xfrm>
                  <a:off x="2496" y="3408"/>
                  <a:ext cx="839" cy="384"/>
                  <a:chOff x="960" y="2544"/>
                  <a:chExt cx="768" cy="288"/>
                </a:xfrm>
              </p:grpSpPr>
              <p:sp>
                <p:nvSpPr>
                  <p:cNvPr id="39" name="Rectangle 139"/>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0" name="Line 140"/>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1" name="Line 141"/>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38" name="Text Box 142"/>
                <p:cNvSpPr txBox="1">
                  <a:spLocks noChangeArrowheads="1"/>
                </p:cNvSpPr>
                <p:nvPr/>
              </p:nvSpPr>
              <p:spPr bwMode="auto">
                <a:xfrm>
                  <a:off x="2448" y="3427"/>
                  <a:ext cx="1007"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c </a:t>
                  </a: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grpSp>
      </p:grpSp>
    </p:spTree>
    <p:extLst>
      <p:ext uri="{BB962C8B-B14F-4D97-AF65-F5344CB8AC3E}">
        <p14:creationId xmlns:p14="http://schemas.microsoft.com/office/powerpoint/2010/main" val="1069363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5.3.2  </a:t>
            </a:r>
            <a:r>
              <a:rPr kumimoji="1" lang="zh-CN" altLang="en-US" sz="3200" b="1" dirty="0">
                <a:latin typeface="Arial" charset="0"/>
                <a:ea typeface="宋体" charset="-122"/>
                <a:cs typeface="+mn-cs"/>
              </a:rPr>
              <a:t>遍历的递归算法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后序遍历递归算法</a:t>
            </a:r>
            <a:endParaRPr lang="en-US" altLang="zh-CN" sz="2800" b="1" dirty="0"/>
          </a:p>
        </p:txBody>
      </p:sp>
      <p:sp>
        <p:nvSpPr>
          <p:cNvPr id="4" name="日期占位符 3"/>
          <p:cNvSpPr>
            <a:spLocks noGrp="1"/>
          </p:cNvSpPr>
          <p:nvPr>
            <p:ph type="dt" sz="half" idx="10"/>
          </p:nvPr>
        </p:nvSpPr>
        <p:spPr/>
        <p:txBody>
          <a:bodyPr/>
          <a:lstStyle/>
          <a:p>
            <a:fld id="{A7479657-013B-4FAD-8144-9D54C3E98D81}"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61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5"/>
          <p:cNvSpPr txBox="1">
            <a:spLocks noChangeArrowheads="1"/>
          </p:cNvSpPr>
          <p:nvPr/>
        </p:nvSpPr>
        <p:spPr bwMode="auto">
          <a:xfrm>
            <a:off x="228600" y="1336675"/>
            <a:ext cx="6477000" cy="5216525"/>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800" b="1" dirty="0">
                <a:solidFill>
                  <a:srgbClr val="04617B"/>
                </a:solidFill>
                <a:latin typeface="Arial" pitchFamily="34" charset="0"/>
              </a:rPr>
              <a:t> </a:t>
            </a:r>
            <a:br>
              <a:rPr kumimoji="1" lang="zh-CN" altLang="en-US" sz="2800" b="1" dirty="0">
                <a:solidFill>
                  <a:srgbClr val="04617B"/>
                </a:solidFill>
                <a:latin typeface="Times New Roman" pitchFamily="18" charset="0"/>
              </a:rPr>
            </a:br>
            <a:r>
              <a:rPr kumimoji="1" lang="en-US" altLang="zh-CN" sz="2800" b="1" dirty="0">
                <a:solidFill>
                  <a:srgbClr val="0000FF"/>
                </a:solidFill>
                <a:latin typeface="Times New Roman" pitchFamily="18" charset="0"/>
              </a:rPr>
              <a:t>void Post(</a:t>
            </a:r>
            <a:r>
              <a:rPr kumimoji="1" lang="en-US" altLang="zh-CN" sz="2800" b="1" dirty="0" err="1">
                <a:solidFill>
                  <a:srgbClr val="0000FF"/>
                </a:solidFill>
                <a:latin typeface="Times New Roman" pitchFamily="18" charset="0"/>
              </a:rPr>
              <a:t>BinTree</a:t>
            </a:r>
            <a:r>
              <a:rPr kumimoji="1" lang="en-US" altLang="zh-CN" sz="2800" b="1" dirty="0">
                <a:solidFill>
                  <a:srgbClr val="0000FF"/>
                </a:solidFill>
                <a:latin typeface="Times New Roman" pitchFamily="18" charset="0"/>
              </a:rPr>
              <a:t>   T) </a:t>
            </a:r>
          </a:p>
          <a:p>
            <a:pPr eaLnBrk="0" fontAlgn="base" hangingPunct="0">
              <a:spcBef>
                <a:spcPct val="0"/>
              </a:spcBef>
              <a:spcAft>
                <a:spcPct val="0"/>
              </a:spcAft>
            </a:pPr>
            <a:r>
              <a:rPr kumimoji="1" lang="en-US" altLang="zh-CN" sz="2800" b="1" dirty="0">
                <a:solidFill>
                  <a:srgbClr val="0000FF"/>
                </a:solidFill>
                <a:latin typeface="Times New Roman" pitchFamily="18" charset="0"/>
              </a:rPr>
              <a:t> {</a:t>
            </a:r>
            <a:r>
              <a:rPr kumimoji="1" lang="zh-CN" altLang="en-US" sz="2800" b="1" dirty="0">
                <a:solidFill>
                  <a:srgbClr val="0000FF"/>
                </a:solidFill>
                <a:latin typeface="Times New Roman" pitchFamily="18" charset="0"/>
              </a:rPr>
              <a:t> </a:t>
            </a:r>
            <a:r>
              <a:rPr kumimoji="1" lang="en-US" altLang="zh-CN" sz="2800" b="1" dirty="0">
                <a:solidFill>
                  <a:srgbClr val="0000FF"/>
                </a:solidFill>
                <a:latin typeface="Times New Roman" pitchFamily="18" charset="0"/>
              </a:rPr>
              <a:t>if (T) </a:t>
            </a:r>
          </a:p>
          <a:p>
            <a:pPr eaLnBrk="0" fontAlgn="base" hangingPunct="0">
              <a:spcBef>
                <a:spcPct val="0"/>
              </a:spcBef>
              <a:spcAft>
                <a:spcPct val="0"/>
              </a:spcAft>
            </a:pPr>
            <a:r>
              <a:rPr kumimoji="1" lang="en-US" altLang="zh-CN" sz="2800" b="1" dirty="0">
                <a:solidFill>
                  <a:srgbClr val="0000FF"/>
                </a:solidFill>
                <a:latin typeface="Times New Roman" pitchFamily="18" charset="0"/>
              </a:rPr>
              <a:t>   {</a:t>
            </a:r>
            <a:r>
              <a:rPr kumimoji="1" lang="en-US" altLang="zh-CN" sz="2800" b="1" dirty="0">
                <a:solidFill>
                  <a:srgbClr val="FF3300"/>
                </a:solidFill>
                <a:latin typeface="Times New Roman" pitchFamily="18" charset="0"/>
              </a:rPr>
              <a:t>Post(T-&gt;</a:t>
            </a:r>
            <a:r>
              <a:rPr kumimoji="1" lang="en-US" altLang="zh-CN" sz="2800" b="1" dirty="0" err="1">
                <a:solidFill>
                  <a:srgbClr val="FF3300"/>
                </a:solidFill>
                <a:latin typeface="Times New Roman" pitchFamily="18" charset="0"/>
              </a:rPr>
              <a:t>lch</a:t>
            </a:r>
            <a:r>
              <a:rPr kumimoji="1" lang="en-US" altLang="zh-CN" sz="2800" b="1" dirty="0">
                <a:solidFill>
                  <a:srgbClr val="FF3300"/>
                </a:solidFill>
                <a:latin typeface="Times New Roman" pitchFamily="18" charset="0"/>
              </a:rPr>
              <a:t>);                     </a:t>
            </a:r>
            <a:endParaRPr kumimoji="1" lang="zh-CN" altLang="en-US" sz="2800" b="1" dirty="0">
              <a:solidFill>
                <a:srgbClr val="FF3300"/>
              </a:solidFill>
              <a:latin typeface="Times New Roman" pitchFamily="18" charset="0"/>
            </a:endParaRPr>
          </a:p>
          <a:p>
            <a:pPr eaLnBrk="0" fontAlgn="base" hangingPunct="0">
              <a:spcBef>
                <a:spcPct val="0"/>
              </a:spcBef>
              <a:spcAft>
                <a:spcPct val="0"/>
              </a:spcAft>
            </a:pPr>
            <a:r>
              <a:rPr kumimoji="1" lang="zh-CN" altLang="en-US" sz="2800" b="1" dirty="0">
                <a:solidFill>
                  <a:srgbClr val="FF3300"/>
                </a:solidFill>
                <a:latin typeface="Times New Roman" pitchFamily="18" charset="0"/>
              </a:rPr>
              <a:t>      </a:t>
            </a:r>
            <a:r>
              <a:rPr kumimoji="1" lang="en-US" altLang="zh-CN" sz="2800" b="1" dirty="0">
                <a:solidFill>
                  <a:srgbClr val="FF3300"/>
                </a:solidFill>
                <a:latin typeface="Times New Roman" pitchFamily="18" charset="0"/>
              </a:rPr>
              <a:t>Post(T-&gt;</a:t>
            </a:r>
            <a:r>
              <a:rPr kumimoji="1" lang="en-US" altLang="zh-CN" sz="2800" b="1" dirty="0" err="1">
                <a:solidFill>
                  <a:srgbClr val="FF3300"/>
                </a:solidFill>
                <a:latin typeface="Times New Roman" pitchFamily="18" charset="0"/>
              </a:rPr>
              <a:t>rch</a:t>
            </a:r>
            <a:r>
              <a:rPr kumimoji="1" lang="en-US" altLang="zh-CN" sz="2800" b="1" dirty="0">
                <a:solidFill>
                  <a:srgbClr val="FF3300"/>
                </a:solidFill>
                <a:latin typeface="Times New Roman" pitchFamily="18" charset="0"/>
              </a:rPr>
              <a:t>);</a:t>
            </a:r>
          </a:p>
          <a:p>
            <a:pPr eaLnBrk="0" fontAlgn="base" hangingPunct="0">
              <a:spcBef>
                <a:spcPct val="0"/>
              </a:spcBef>
              <a:spcAft>
                <a:spcPct val="0"/>
              </a:spcAft>
            </a:pPr>
            <a:r>
              <a:rPr kumimoji="1" lang="en-US" altLang="zh-CN" sz="2800" b="1" dirty="0">
                <a:solidFill>
                  <a:srgbClr val="FF3300"/>
                </a:solidFill>
                <a:latin typeface="Times New Roman" pitchFamily="18" charset="0"/>
              </a:rPr>
              <a:t>      </a:t>
            </a:r>
            <a:r>
              <a:rPr kumimoji="1" lang="en-US" altLang="zh-CN" sz="2800" b="1" dirty="0" err="1">
                <a:solidFill>
                  <a:srgbClr val="FF3300"/>
                </a:solidFill>
                <a:latin typeface="Times New Roman" pitchFamily="18" charset="0"/>
              </a:rPr>
              <a:t>visti</a:t>
            </a:r>
            <a:r>
              <a:rPr kumimoji="1" lang="en-US" altLang="zh-CN" sz="2800" b="1" dirty="0">
                <a:solidFill>
                  <a:srgbClr val="FF3300"/>
                </a:solidFill>
                <a:latin typeface="Times New Roman" pitchFamily="18" charset="0"/>
              </a:rPr>
              <a:t>( T-&gt;data)； </a:t>
            </a:r>
          </a:p>
          <a:p>
            <a:pPr eaLnBrk="0" fontAlgn="base" hangingPunct="0">
              <a:spcBef>
                <a:spcPct val="0"/>
              </a:spcBef>
              <a:spcAft>
                <a:spcPct val="0"/>
              </a:spcAft>
            </a:pPr>
            <a:r>
              <a:rPr kumimoji="1" lang="zh-CN" altLang="en-US" sz="2800" b="1" dirty="0">
                <a:solidFill>
                  <a:srgbClr val="FFFFA5"/>
                </a:solidFill>
                <a:latin typeface="Times New Roman" pitchFamily="18" charset="0"/>
              </a:rPr>
              <a:t>     </a:t>
            </a:r>
            <a:r>
              <a:rPr kumimoji="1" lang="zh-CN" altLang="en-US" sz="2800" b="1" dirty="0">
                <a:solidFill>
                  <a:srgbClr val="0000FF"/>
                </a:solidFill>
                <a:latin typeface="Times New Roman" pitchFamily="18" charset="0"/>
              </a:rPr>
              <a:t>}</a:t>
            </a:r>
          </a:p>
          <a:p>
            <a:pPr eaLnBrk="0" fontAlgn="base" hangingPunct="0">
              <a:spcBef>
                <a:spcPct val="0"/>
              </a:spcBef>
              <a:spcAft>
                <a:spcPct val="0"/>
              </a:spcAft>
            </a:pPr>
            <a:r>
              <a:rPr kumimoji="1" lang="en-US" altLang="zh-CN" sz="2800" b="1" dirty="0">
                <a:solidFill>
                  <a:srgbClr val="0000FF"/>
                </a:solidFill>
                <a:latin typeface="Times New Roman" pitchFamily="18" charset="0"/>
              </a:rPr>
              <a:t>  }</a:t>
            </a:r>
          </a:p>
          <a:p>
            <a:pPr eaLnBrk="0" fontAlgn="base" hangingPunct="0">
              <a:spcBef>
                <a:spcPct val="0"/>
              </a:spcBef>
              <a:spcAft>
                <a:spcPct val="0"/>
              </a:spcAft>
            </a:pPr>
            <a:r>
              <a:rPr kumimoji="1" lang="zh-CN" altLang="en-US" sz="2800" b="1" dirty="0">
                <a:solidFill>
                  <a:srgbClr val="0000FF"/>
                </a:solidFill>
                <a:latin typeface="Times New Roman" pitchFamily="18" charset="0"/>
              </a:rPr>
              <a:t>       后序序列为    </a:t>
            </a:r>
            <a:r>
              <a:rPr kumimoji="1" lang="en-US" altLang="zh-CN" sz="2800" b="1" dirty="0">
                <a:solidFill>
                  <a:srgbClr val="0000FF"/>
                </a:solidFill>
                <a:latin typeface="Times New Roman" pitchFamily="18" charset="0"/>
              </a:rPr>
              <a:t>a b c </a:t>
            </a:r>
            <a:r>
              <a:rPr kumimoji="1" lang="en-US" altLang="zh-CN" sz="2800" b="1" dirty="0">
                <a:solidFill>
                  <a:srgbClr val="0000FF"/>
                </a:solidFill>
                <a:latin typeface="Arial" pitchFamily="34" charset="0"/>
              </a:rPr>
              <a:t>–</a:t>
            </a:r>
            <a:r>
              <a:rPr kumimoji="1" lang="en-US" altLang="zh-CN" sz="2800" b="1" dirty="0">
                <a:solidFill>
                  <a:srgbClr val="0000FF"/>
                </a:solidFill>
                <a:latin typeface="Times New Roman" pitchFamily="18" charset="0"/>
              </a:rPr>
              <a:t> * d e / +</a:t>
            </a:r>
          </a:p>
          <a:p>
            <a:pPr eaLnBrk="0" fontAlgn="base" hangingPunct="0">
              <a:spcBef>
                <a:spcPct val="0"/>
              </a:spcBef>
              <a:spcAft>
                <a:spcPct val="0"/>
              </a:spcAft>
            </a:pPr>
            <a:r>
              <a:rPr kumimoji="1" lang="zh-CN" altLang="en-US" sz="2800" b="1" dirty="0">
                <a:solidFill>
                  <a:srgbClr val="0000FF"/>
                </a:solidFill>
                <a:latin typeface="Times New Roman" pitchFamily="18" charset="0"/>
              </a:rPr>
              <a:t>       称为</a:t>
            </a:r>
            <a:r>
              <a:rPr kumimoji="1" lang="zh-CN" altLang="en-US" sz="2800" b="1" dirty="0">
                <a:solidFill>
                  <a:srgbClr val="F81908"/>
                </a:solidFill>
                <a:latin typeface="Times New Roman" pitchFamily="18" charset="0"/>
              </a:rPr>
              <a:t>后缀表达式</a:t>
            </a:r>
          </a:p>
          <a:p>
            <a:pPr eaLnBrk="0" fontAlgn="base" hangingPunct="0">
              <a:spcBef>
                <a:spcPct val="0"/>
              </a:spcBef>
              <a:spcAft>
                <a:spcPct val="0"/>
              </a:spcAft>
            </a:pPr>
            <a:endParaRPr kumimoji="1" lang="en-US" altLang="zh-CN" sz="2800" b="1" dirty="0">
              <a:solidFill>
                <a:srgbClr val="0000FF"/>
              </a:solidFill>
              <a:latin typeface="Times New Roman" pitchFamily="18" charset="0"/>
            </a:endParaRPr>
          </a:p>
          <a:p>
            <a:pPr eaLnBrk="0" fontAlgn="base" hangingPunct="0">
              <a:spcBef>
                <a:spcPct val="0"/>
              </a:spcBef>
              <a:spcAft>
                <a:spcPct val="0"/>
              </a:spcAft>
            </a:pPr>
            <a:endParaRPr kumimoji="1" lang="en-US" altLang="zh-CN" sz="2800" b="1" dirty="0">
              <a:solidFill>
                <a:srgbClr val="FFFFA5"/>
              </a:solidFill>
              <a:latin typeface="Times New Roman" pitchFamily="18" charset="0"/>
            </a:endParaRPr>
          </a:p>
        </p:txBody>
      </p:sp>
      <p:sp>
        <p:nvSpPr>
          <p:cNvPr id="14" name="Text Box 73"/>
          <p:cNvSpPr txBox="1">
            <a:spLocks noChangeArrowheads="1"/>
          </p:cNvSpPr>
          <p:nvPr/>
        </p:nvSpPr>
        <p:spPr bwMode="auto">
          <a:xfrm>
            <a:off x="6324600" y="4724400"/>
            <a:ext cx="2157412" cy="519113"/>
          </a:xfrm>
          <a:prstGeom prst="rect">
            <a:avLst/>
          </a:prstGeom>
          <a:noFill/>
          <a:ln w="12700" cap="rnd">
            <a:noFill/>
            <a:miter lim="800000"/>
            <a:headEnd/>
            <a:tailEnd/>
          </a:ln>
        </p:spPr>
        <p:txBody>
          <a:bodyPr wrap="none">
            <a:spAutoFit/>
          </a:bodyPr>
          <a:lstStyle/>
          <a:p>
            <a:pPr algn="ctr" eaLnBrk="0" fontAlgn="base" hangingPunct="0">
              <a:spcBef>
                <a:spcPct val="0"/>
              </a:spcBef>
              <a:spcAft>
                <a:spcPct val="0"/>
              </a:spcAft>
            </a:pPr>
            <a:r>
              <a:rPr kumimoji="1" lang="en-US" altLang="zh-CN" sz="2800" b="1" dirty="0">
                <a:solidFill>
                  <a:srgbClr val="000000"/>
                </a:solidFill>
                <a:latin typeface="隶书" pitchFamily="49" charset="-122"/>
                <a:ea typeface="隶书" pitchFamily="49" charset="-122"/>
              </a:rPr>
              <a:t>a*(b-c)+d/e</a:t>
            </a:r>
          </a:p>
        </p:txBody>
      </p:sp>
      <p:grpSp>
        <p:nvGrpSpPr>
          <p:cNvPr id="15" name="Group 76"/>
          <p:cNvGrpSpPr>
            <a:grpSpLocks/>
          </p:cNvGrpSpPr>
          <p:nvPr/>
        </p:nvGrpSpPr>
        <p:grpSpPr bwMode="auto">
          <a:xfrm>
            <a:off x="4038600" y="1120775"/>
            <a:ext cx="5257800" cy="3451225"/>
            <a:chOff x="2832" y="864"/>
            <a:chExt cx="3408" cy="2174"/>
          </a:xfrm>
        </p:grpSpPr>
        <p:grpSp>
          <p:nvGrpSpPr>
            <p:cNvPr id="16" name="Group 77"/>
            <p:cNvGrpSpPr>
              <a:grpSpLocks/>
            </p:cNvGrpSpPr>
            <p:nvPr/>
          </p:nvGrpSpPr>
          <p:grpSpPr bwMode="auto">
            <a:xfrm>
              <a:off x="5424" y="2160"/>
              <a:ext cx="816" cy="302"/>
              <a:chOff x="3935" y="2880"/>
              <a:chExt cx="1009" cy="420"/>
            </a:xfrm>
          </p:grpSpPr>
          <p:grpSp>
            <p:nvGrpSpPr>
              <p:cNvPr id="77" name="Group 78"/>
              <p:cNvGrpSpPr>
                <a:grpSpLocks/>
              </p:cNvGrpSpPr>
              <p:nvPr/>
            </p:nvGrpSpPr>
            <p:grpSpPr bwMode="auto">
              <a:xfrm>
                <a:off x="3984" y="2880"/>
                <a:ext cx="839" cy="384"/>
                <a:chOff x="960" y="2544"/>
                <a:chExt cx="768" cy="288"/>
              </a:xfrm>
            </p:grpSpPr>
            <p:sp>
              <p:nvSpPr>
                <p:cNvPr id="79" name="Rectangle 79"/>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80" name="Line 80"/>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1" name="Line 81"/>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78" name="Text Box 82"/>
              <p:cNvSpPr txBox="1">
                <a:spLocks noChangeArrowheads="1"/>
              </p:cNvSpPr>
              <p:nvPr/>
            </p:nvSpPr>
            <p:spPr bwMode="auto">
              <a:xfrm>
                <a:off x="3935" y="2899"/>
                <a:ext cx="1009"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e ∧</a:t>
                </a:r>
              </a:p>
            </p:txBody>
          </p:sp>
        </p:grpSp>
        <p:grpSp>
          <p:nvGrpSpPr>
            <p:cNvPr id="17" name="Group 83"/>
            <p:cNvGrpSpPr>
              <a:grpSpLocks/>
            </p:cNvGrpSpPr>
            <p:nvPr/>
          </p:nvGrpSpPr>
          <p:grpSpPr bwMode="auto">
            <a:xfrm>
              <a:off x="2832" y="864"/>
              <a:ext cx="3072" cy="2174"/>
              <a:chOff x="2832" y="864"/>
              <a:chExt cx="3072" cy="2174"/>
            </a:xfrm>
          </p:grpSpPr>
          <p:sp>
            <p:nvSpPr>
              <p:cNvPr id="19" name="Line 84"/>
              <p:cNvSpPr>
                <a:spLocks noChangeShapeType="1"/>
              </p:cNvSpPr>
              <p:nvPr/>
            </p:nvSpPr>
            <p:spPr bwMode="auto">
              <a:xfrm flipH="1">
                <a:off x="3840" y="1440"/>
                <a:ext cx="336" cy="240"/>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0" name="Line 85"/>
              <p:cNvSpPr>
                <a:spLocks noChangeShapeType="1"/>
              </p:cNvSpPr>
              <p:nvPr/>
            </p:nvSpPr>
            <p:spPr bwMode="auto">
              <a:xfrm>
                <a:off x="4656" y="1392"/>
                <a:ext cx="672"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1" name="Line 86"/>
              <p:cNvSpPr>
                <a:spLocks noChangeShapeType="1"/>
              </p:cNvSpPr>
              <p:nvPr/>
            </p:nvSpPr>
            <p:spPr bwMode="auto">
              <a:xfrm flipH="1">
                <a:off x="3168" y="1920"/>
                <a:ext cx="313"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2" name="Line 87"/>
              <p:cNvSpPr>
                <a:spLocks noChangeShapeType="1"/>
              </p:cNvSpPr>
              <p:nvPr/>
            </p:nvSpPr>
            <p:spPr bwMode="auto">
              <a:xfrm flipH="1">
                <a:off x="4992" y="1920"/>
                <a:ext cx="157" cy="240"/>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 name="Line 88"/>
              <p:cNvSpPr>
                <a:spLocks noChangeShapeType="1"/>
              </p:cNvSpPr>
              <p:nvPr/>
            </p:nvSpPr>
            <p:spPr bwMode="auto">
              <a:xfrm>
                <a:off x="3984" y="1920"/>
                <a:ext cx="336"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4" name="Line 89"/>
              <p:cNvSpPr>
                <a:spLocks noChangeShapeType="1"/>
              </p:cNvSpPr>
              <p:nvPr/>
            </p:nvSpPr>
            <p:spPr bwMode="auto">
              <a:xfrm>
                <a:off x="5568" y="1920"/>
                <a:ext cx="336"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Line 90"/>
              <p:cNvSpPr>
                <a:spLocks noChangeShapeType="1"/>
              </p:cNvSpPr>
              <p:nvPr/>
            </p:nvSpPr>
            <p:spPr bwMode="auto">
              <a:xfrm flipH="1">
                <a:off x="3600" y="2400"/>
                <a:ext cx="409" cy="336"/>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Line 91"/>
              <p:cNvSpPr>
                <a:spLocks noChangeShapeType="1"/>
              </p:cNvSpPr>
              <p:nvPr/>
            </p:nvSpPr>
            <p:spPr bwMode="auto">
              <a:xfrm>
                <a:off x="4464" y="2448"/>
                <a:ext cx="384" cy="336"/>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27" name="Group 92"/>
              <p:cNvGrpSpPr>
                <a:grpSpLocks/>
              </p:cNvGrpSpPr>
              <p:nvPr/>
            </p:nvGrpSpPr>
            <p:grpSpPr bwMode="auto">
              <a:xfrm>
                <a:off x="2832" y="2160"/>
                <a:ext cx="960" cy="302"/>
                <a:chOff x="2448" y="3408"/>
                <a:chExt cx="1007" cy="420"/>
              </a:xfrm>
            </p:grpSpPr>
            <p:grpSp>
              <p:nvGrpSpPr>
                <p:cNvPr id="72" name="Group 93"/>
                <p:cNvGrpSpPr>
                  <a:grpSpLocks/>
                </p:cNvGrpSpPr>
                <p:nvPr/>
              </p:nvGrpSpPr>
              <p:grpSpPr bwMode="auto">
                <a:xfrm>
                  <a:off x="2496" y="3408"/>
                  <a:ext cx="839" cy="384"/>
                  <a:chOff x="960" y="2544"/>
                  <a:chExt cx="768" cy="288"/>
                </a:xfrm>
              </p:grpSpPr>
              <p:sp>
                <p:nvSpPr>
                  <p:cNvPr id="74" name="Rectangle 94"/>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5" name="Line 95"/>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6" name="Line 96"/>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73" name="Text Box 97"/>
                <p:cNvSpPr txBox="1">
                  <a:spLocks noChangeArrowheads="1"/>
                </p:cNvSpPr>
                <p:nvPr/>
              </p:nvSpPr>
              <p:spPr bwMode="auto">
                <a:xfrm>
                  <a:off x="2448" y="3427"/>
                  <a:ext cx="1007"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a </a:t>
                  </a: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grpSp>
            <p:nvGrpSpPr>
              <p:cNvPr id="28" name="Group 98"/>
              <p:cNvGrpSpPr>
                <a:grpSpLocks/>
              </p:cNvGrpSpPr>
              <p:nvPr/>
            </p:nvGrpSpPr>
            <p:grpSpPr bwMode="auto">
              <a:xfrm>
                <a:off x="4080" y="1152"/>
                <a:ext cx="760" cy="327"/>
                <a:chOff x="3696" y="1680"/>
                <a:chExt cx="760" cy="327"/>
              </a:xfrm>
            </p:grpSpPr>
            <p:grpSp>
              <p:nvGrpSpPr>
                <p:cNvPr id="67" name="Group 99"/>
                <p:cNvGrpSpPr>
                  <a:grpSpLocks/>
                </p:cNvGrpSpPr>
                <p:nvPr/>
              </p:nvGrpSpPr>
              <p:grpSpPr bwMode="auto">
                <a:xfrm>
                  <a:off x="3732" y="1715"/>
                  <a:ext cx="633" cy="277"/>
                  <a:chOff x="960" y="2544"/>
                  <a:chExt cx="768" cy="288"/>
                </a:xfrm>
              </p:grpSpPr>
              <p:sp>
                <p:nvSpPr>
                  <p:cNvPr id="69" name="Rectangle 100"/>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0" name="Line 101"/>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1" name="Line 102"/>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68" name="Text Box 103"/>
                <p:cNvSpPr txBox="1">
                  <a:spLocks noChangeArrowheads="1"/>
                </p:cNvSpPr>
                <p:nvPr/>
              </p:nvSpPr>
              <p:spPr bwMode="auto">
                <a:xfrm>
                  <a:off x="3696" y="1680"/>
                  <a:ext cx="760" cy="32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0000"/>
                      </a:solidFill>
                      <a:effectLst/>
                      <a:uLnTx/>
                      <a:uFillTx/>
                      <a:latin typeface="隶书" pitchFamily="49" charset="-122"/>
                      <a:ea typeface="隶书" pitchFamily="49" charset="-122"/>
                    </a:rPr>
                    <a:t>+</a:t>
                  </a:r>
                </a:p>
              </p:txBody>
            </p:sp>
          </p:grpSp>
          <p:grpSp>
            <p:nvGrpSpPr>
              <p:cNvPr id="29" name="Group 104"/>
              <p:cNvGrpSpPr>
                <a:grpSpLocks/>
              </p:cNvGrpSpPr>
              <p:nvPr/>
            </p:nvGrpSpPr>
            <p:grpSpPr bwMode="auto">
              <a:xfrm>
                <a:off x="3408" y="1680"/>
                <a:ext cx="760" cy="327"/>
                <a:chOff x="2976" y="2592"/>
                <a:chExt cx="1009" cy="454"/>
              </a:xfrm>
            </p:grpSpPr>
            <p:grpSp>
              <p:nvGrpSpPr>
                <p:cNvPr id="62" name="Group 105"/>
                <p:cNvGrpSpPr>
                  <a:grpSpLocks/>
                </p:cNvGrpSpPr>
                <p:nvPr/>
              </p:nvGrpSpPr>
              <p:grpSpPr bwMode="auto">
                <a:xfrm>
                  <a:off x="3024" y="2592"/>
                  <a:ext cx="839" cy="384"/>
                  <a:chOff x="960" y="2544"/>
                  <a:chExt cx="768" cy="288"/>
                </a:xfrm>
              </p:grpSpPr>
              <p:sp>
                <p:nvSpPr>
                  <p:cNvPr id="64" name="Rectangle 106"/>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5" name="Line 107"/>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6" name="Line 108"/>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63" name="Text Box 109"/>
                <p:cNvSpPr txBox="1">
                  <a:spLocks noChangeArrowheads="1"/>
                </p:cNvSpPr>
                <p:nvPr/>
              </p:nvSpPr>
              <p:spPr bwMode="auto">
                <a:xfrm>
                  <a:off x="2976" y="2592"/>
                  <a:ext cx="1009" cy="45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30" name="Group 110"/>
              <p:cNvGrpSpPr>
                <a:grpSpLocks/>
              </p:cNvGrpSpPr>
              <p:nvPr/>
            </p:nvGrpSpPr>
            <p:grpSpPr bwMode="auto">
              <a:xfrm>
                <a:off x="4944" y="1680"/>
                <a:ext cx="868" cy="302"/>
                <a:chOff x="4368" y="2592"/>
                <a:chExt cx="1152" cy="419"/>
              </a:xfrm>
            </p:grpSpPr>
            <p:grpSp>
              <p:nvGrpSpPr>
                <p:cNvPr id="57" name="Group 111"/>
                <p:cNvGrpSpPr>
                  <a:grpSpLocks/>
                </p:cNvGrpSpPr>
                <p:nvPr/>
              </p:nvGrpSpPr>
              <p:grpSpPr bwMode="auto">
                <a:xfrm>
                  <a:off x="4464" y="2592"/>
                  <a:ext cx="839" cy="384"/>
                  <a:chOff x="960" y="2544"/>
                  <a:chExt cx="768" cy="288"/>
                </a:xfrm>
              </p:grpSpPr>
              <p:sp>
                <p:nvSpPr>
                  <p:cNvPr id="59" name="Rectangle 112"/>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0" name="Line 113"/>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1" name="Line 114"/>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8" name="Text Box 115"/>
                <p:cNvSpPr txBox="1">
                  <a:spLocks noChangeArrowheads="1"/>
                </p:cNvSpPr>
                <p:nvPr/>
              </p:nvSpPr>
              <p:spPr bwMode="auto">
                <a:xfrm>
                  <a:off x="4368" y="2611"/>
                  <a:ext cx="1152" cy="4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31" name="Group 116"/>
              <p:cNvGrpSpPr>
                <a:grpSpLocks/>
              </p:cNvGrpSpPr>
              <p:nvPr/>
            </p:nvGrpSpPr>
            <p:grpSpPr bwMode="auto">
              <a:xfrm>
                <a:off x="4656" y="2160"/>
                <a:ext cx="760" cy="302"/>
                <a:chOff x="3935" y="2880"/>
                <a:chExt cx="1009" cy="420"/>
              </a:xfrm>
            </p:grpSpPr>
            <p:grpSp>
              <p:nvGrpSpPr>
                <p:cNvPr id="52" name="Group 117"/>
                <p:cNvGrpSpPr>
                  <a:grpSpLocks/>
                </p:cNvGrpSpPr>
                <p:nvPr/>
              </p:nvGrpSpPr>
              <p:grpSpPr bwMode="auto">
                <a:xfrm>
                  <a:off x="3984" y="2880"/>
                  <a:ext cx="839" cy="384"/>
                  <a:chOff x="960" y="2544"/>
                  <a:chExt cx="768" cy="288"/>
                </a:xfrm>
              </p:grpSpPr>
              <p:sp>
                <p:nvSpPr>
                  <p:cNvPr id="54" name="Rectangle 118"/>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5" name="Line 119"/>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6" name="Line 120"/>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3" name="Text Box 121"/>
                <p:cNvSpPr txBox="1">
                  <a:spLocks noChangeArrowheads="1"/>
                </p:cNvSpPr>
                <p:nvPr/>
              </p:nvSpPr>
              <p:spPr bwMode="auto">
                <a:xfrm>
                  <a:off x="3935" y="2899"/>
                  <a:ext cx="1009"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d </a:t>
                  </a:r>
                  <a:r>
                    <a:rPr kumimoji="1" lang="en-US" altLang="zh-CN" sz="20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32" name="Group 122"/>
              <p:cNvGrpSpPr>
                <a:grpSpLocks/>
              </p:cNvGrpSpPr>
              <p:nvPr/>
            </p:nvGrpSpPr>
            <p:grpSpPr bwMode="auto">
              <a:xfrm>
                <a:off x="3888" y="2160"/>
                <a:ext cx="760" cy="301"/>
                <a:chOff x="2928" y="4224"/>
                <a:chExt cx="1008" cy="418"/>
              </a:xfrm>
            </p:grpSpPr>
            <p:grpSp>
              <p:nvGrpSpPr>
                <p:cNvPr id="47" name="Group 123"/>
                <p:cNvGrpSpPr>
                  <a:grpSpLocks/>
                </p:cNvGrpSpPr>
                <p:nvPr/>
              </p:nvGrpSpPr>
              <p:grpSpPr bwMode="auto">
                <a:xfrm>
                  <a:off x="2976" y="4224"/>
                  <a:ext cx="839" cy="384"/>
                  <a:chOff x="960" y="2544"/>
                  <a:chExt cx="768" cy="288"/>
                </a:xfrm>
              </p:grpSpPr>
              <p:sp>
                <p:nvSpPr>
                  <p:cNvPr id="49" name="Rectangle 124"/>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0" name="Line 125"/>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1" name="Line 126"/>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8" name="Text Box 127"/>
                <p:cNvSpPr txBox="1">
                  <a:spLocks noChangeArrowheads="1"/>
                </p:cNvSpPr>
                <p:nvPr/>
              </p:nvSpPr>
              <p:spPr bwMode="auto">
                <a:xfrm>
                  <a:off x="2928" y="4242"/>
                  <a:ext cx="1008" cy="4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20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0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sp>
            <p:nvSpPr>
              <p:cNvPr id="33" name="Text Box 128"/>
              <p:cNvSpPr txBox="1">
                <a:spLocks noChangeArrowheads="1"/>
              </p:cNvSpPr>
              <p:nvPr/>
            </p:nvSpPr>
            <p:spPr bwMode="auto">
              <a:xfrm>
                <a:off x="3456" y="864"/>
                <a:ext cx="624" cy="327"/>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800" b="1" i="0" u="none" strike="noStrike" kern="0" cap="none" spc="0" normalizeH="0" baseline="0" noProof="0">
                    <a:ln>
                      <a:noFill/>
                    </a:ln>
                    <a:solidFill>
                      <a:srgbClr val="000000"/>
                    </a:solidFill>
                    <a:effectLst/>
                    <a:uLnTx/>
                    <a:uFillTx/>
                    <a:latin typeface="宋体" pitchFamily="2" charset="-122"/>
                  </a:rPr>
                  <a:t>T</a:t>
                </a:r>
              </a:p>
            </p:txBody>
          </p:sp>
          <p:sp>
            <p:nvSpPr>
              <p:cNvPr id="34" name="Line 129"/>
              <p:cNvSpPr>
                <a:spLocks noChangeShapeType="1"/>
              </p:cNvSpPr>
              <p:nvPr/>
            </p:nvSpPr>
            <p:spPr bwMode="auto">
              <a:xfrm>
                <a:off x="3792" y="1296"/>
                <a:ext cx="288" cy="0"/>
              </a:xfrm>
              <a:prstGeom prst="line">
                <a:avLst/>
              </a:prstGeom>
              <a:noFill/>
              <a:ln w="38100" cap="rnd">
                <a:solidFill>
                  <a:srgbClr val="000000"/>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35" name="Group 130"/>
              <p:cNvGrpSpPr>
                <a:grpSpLocks/>
              </p:cNvGrpSpPr>
              <p:nvPr/>
            </p:nvGrpSpPr>
            <p:grpSpPr bwMode="auto">
              <a:xfrm>
                <a:off x="3072" y="2736"/>
                <a:ext cx="960" cy="302"/>
                <a:chOff x="2448" y="3408"/>
                <a:chExt cx="1007" cy="420"/>
              </a:xfrm>
            </p:grpSpPr>
            <p:grpSp>
              <p:nvGrpSpPr>
                <p:cNvPr id="42" name="Group 131"/>
                <p:cNvGrpSpPr>
                  <a:grpSpLocks/>
                </p:cNvGrpSpPr>
                <p:nvPr/>
              </p:nvGrpSpPr>
              <p:grpSpPr bwMode="auto">
                <a:xfrm>
                  <a:off x="2496" y="3408"/>
                  <a:ext cx="839" cy="384"/>
                  <a:chOff x="960" y="2544"/>
                  <a:chExt cx="768" cy="288"/>
                </a:xfrm>
              </p:grpSpPr>
              <p:sp>
                <p:nvSpPr>
                  <p:cNvPr id="44" name="Rectangle 132"/>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5" name="Line 133"/>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6" name="Line 134"/>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3" name="Text Box 135"/>
                <p:cNvSpPr txBox="1">
                  <a:spLocks noChangeArrowheads="1"/>
                </p:cNvSpPr>
                <p:nvPr/>
              </p:nvSpPr>
              <p:spPr bwMode="auto">
                <a:xfrm>
                  <a:off x="2448" y="3427"/>
                  <a:ext cx="1007"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b </a:t>
                  </a: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grpSp>
            <p:nvGrpSpPr>
              <p:cNvPr id="36" name="Group 136"/>
              <p:cNvGrpSpPr>
                <a:grpSpLocks/>
              </p:cNvGrpSpPr>
              <p:nvPr/>
            </p:nvGrpSpPr>
            <p:grpSpPr bwMode="auto">
              <a:xfrm>
                <a:off x="4368" y="2736"/>
                <a:ext cx="960" cy="302"/>
                <a:chOff x="2448" y="3408"/>
                <a:chExt cx="1007" cy="420"/>
              </a:xfrm>
            </p:grpSpPr>
            <p:grpSp>
              <p:nvGrpSpPr>
                <p:cNvPr id="37" name="Group 137"/>
                <p:cNvGrpSpPr>
                  <a:grpSpLocks/>
                </p:cNvGrpSpPr>
                <p:nvPr/>
              </p:nvGrpSpPr>
              <p:grpSpPr bwMode="auto">
                <a:xfrm>
                  <a:off x="2496" y="3408"/>
                  <a:ext cx="839" cy="384"/>
                  <a:chOff x="960" y="2544"/>
                  <a:chExt cx="768" cy="288"/>
                </a:xfrm>
              </p:grpSpPr>
              <p:sp>
                <p:nvSpPr>
                  <p:cNvPr id="39" name="Rectangle 138"/>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0" name="Line 139"/>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1" name="Line 140"/>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38" name="Text Box 141"/>
                <p:cNvSpPr txBox="1">
                  <a:spLocks noChangeArrowheads="1"/>
                </p:cNvSpPr>
                <p:nvPr/>
              </p:nvSpPr>
              <p:spPr bwMode="auto">
                <a:xfrm>
                  <a:off x="2448" y="3427"/>
                  <a:ext cx="1007"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c </a:t>
                  </a: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grpSp>
      </p:grpSp>
    </p:spTree>
    <p:extLst>
      <p:ext uri="{BB962C8B-B14F-4D97-AF65-F5344CB8AC3E}">
        <p14:creationId xmlns:p14="http://schemas.microsoft.com/office/powerpoint/2010/main" val="203616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 </a:t>
            </a:r>
            <a:r>
              <a:rPr kumimoji="1" lang="zh-CN" altLang="en-US" sz="3200" b="1" dirty="0">
                <a:latin typeface="Arial" charset="0"/>
                <a:ea typeface="宋体" charset="-122"/>
                <a:cs typeface="+mn-cs"/>
              </a:rPr>
              <a:t>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100"/>
              </a:lnSpc>
            </a:pPr>
            <a:endParaRPr lang="en-US" altLang="zh-CN" sz="2800" b="1" dirty="0"/>
          </a:p>
        </p:txBody>
      </p:sp>
      <p:sp>
        <p:nvSpPr>
          <p:cNvPr id="4" name="日期占位符 3"/>
          <p:cNvSpPr>
            <a:spLocks noGrp="1"/>
          </p:cNvSpPr>
          <p:nvPr>
            <p:ph type="dt" sz="half" idx="10"/>
          </p:nvPr>
        </p:nvSpPr>
        <p:spPr/>
        <p:txBody>
          <a:bodyPr/>
          <a:lstStyle/>
          <a:p>
            <a:fld id="{60CFD76C-8BCD-465D-9172-3A167D0749B2}"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62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pic>
        <p:nvPicPr>
          <p:cNvPr id="36" name="Picture 6"/>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73050" y="5084763"/>
            <a:ext cx="1298575" cy="1152525"/>
          </a:xfrm>
          <a:prstGeom prst="rect">
            <a:avLst/>
          </a:prstGeom>
          <a:noFill/>
          <a:ln w="9525">
            <a:noFill/>
            <a:miter lim="800000"/>
            <a:headEnd/>
            <a:tailEnd/>
          </a:ln>
        </p:spPr>
      </p:pic>
      <p:sp>
        <p:nvSpPr>
          <p:cNvPr id="15" name="Rectangle 16"/>
          <p:cNvSpPr>
            <a:spLocks noChangeArrowheads="1"/>
          </p:cNvSpPr>
          <p:nvPr/>
        </p:nvSpPr>
        <p:spPr bwMode="auto">
          <a:xfrm>
            <a:off x="1054100" y="1557338"/>
            <a:ext cx="7556500" cy="3241913"/>
          </a:xfrm>
          <a:prstGeom prst="rect">
            <a:avLst/>
          </a:prstGeom>
          <a:noFill/>
          <a:ln w="38100" cmpd="dbl">
            <a:solidFill>
              <a:srgbClr val="0707F9"/>
            </a:solidFill>
            <a:miter lim="800000"/>
            <a:headEnd/>
            <a:tailEnd/>
          </a:ln>
        </p:spPr>
        <p:txBody>
          <a:bodyPr>
            <a:spAutoFit/>
          </a:bodyPr>
          <a:lstStyle/>
          <a:p>
            <a:pPr fontAlgn="base">
              <a:lnSpc>
                <a:spcPct val="200000"/>
              </a:lnSpc>
              <a:spcBef>
                <a:spcPct val="0"/>
              </a:spcBef>
              <a:spcAft>
                <a:spcPct val="0"/>
              </a:spcAft>
            </a:pPr>
            <a:r>
              <a:rPr kumimoji="1" lang="zh-CN" altLang="en-US" sz="3600" dirty="0">
                <a:solidFill>
                  <a:srgbClr val="0707F9"/>
                </a:solidFill>
                <a:latin typeface="Times New Roman" pitchFamily="18" charset="0"/>
              </a:rPr>
              <a:t> </a:t>
            </a:r>
            <a:r>
              <a:rPr kumimoji="1" lang="en-US" altLang="zh-CN" sz="3600" b="1" dirty="0">
                <a:solidFill>
                  <a:srgbClr val="0707F9"/>
                </a:solidFill>
                <a:latin typeface="Times New Roman" pitchFamily="18" charset="0"/>
              </a:rPr>
              <a:t>5.3.1  </a:t>
            </a:r>
            <a:r>
              <a:rPr kumimoji="1" lang="zh-CN" altLang="en-US" sz="3600" b="1" dirty="0">
                <a:solidFill>
                  <a:srgbClr val="0707F9"/>
                </a:solidFill>
                <a:latin typeface="Times New Roman" pitchFamily="18" charset="0"/>
              </a:rPr>
              <a:t>二叉树的遍历方法</a:t>
            </a:r>
          </a:p>
          <a:p>
            <a:pPr fontAlgn="base">
              <a:lnSpc>
                <a:spcPct val="200000"/>
              </a:lnSpc>
              <a:spcBef>
                <a:spcPct val="0"/>
              </a:spcBef>
              <a:spcAft>
                <a:spcPct val="0"/>
              </a:spcAft>
            </a:pPr>
            <a:r>
              <a:rPr kumimoji="1" lang="en-US" altLang="zh-CN" sz="3600" b="1" dirty="0">
                <a:solidFill>
                  <a:srgbClr val="0707F9"/>
                </a:solidFill>
                <a:latin typeface="Times New Roman" pitchFamily="18" charset="0"/>
              </a:rPr>
              <a:t> 5.3.2  </a:t>
            </a:r>
            <a:r>
              <a:rPr kumimoji="1" lang="zh-CN" altLang="en-US" sz="3600" b="1" dirty="0">
                <a:solidFill>
                  <a:srgbClr val="0707F9"/>
                </a:solidFill>
                <a:latin typeface="Times New Roman" pitchFamily="18" charset="0"/>
              </a:rPr>
              <a:t>遍历的递归算法</a:t>
            </a:r>
          </a:p>
          <a:p>
            <a:pPr fontAlgn="base">
              <a:lnSpc>
                <a:spcPct val="200000"/>
              </a:lnSpc>
              <a:spcBef>
                <a:spcPct val="0"/>
              </a:spcBef>
              <a:spcAft>
                <a:spcPct val="0"/>
              </a:spcAft>
            </a:pPr>
            <a:r>
              <a:rPr kumimoji="1" lang="en-US" altLang="zh-CN" sz="3600" b="1" dirty="0">
                <a:solidFill>
                  <a:srgbClr val="FF0000"/>
                </a:solidFill>
                <a:latin typeface="Times New Roman" pitchFamily="18" charset="0"/>
              </a:rPr>
              <a:t> 5.3.3  </a:t>
            </a:r>
            <a:r>
              <a:rPr kumimoji="1" lang="zh-CN" altLang="en-US" sz="3600" b="1" dirty="0">
                <a:solidFill>
                  <a:srgbClr val="FF0000"/>
                </a:solidFill>
                <a:latin typeface="Times New Roman" pitchFamily="18" charset="0"/>
              </a:rPr>
              <a:t>遍历的非递归算法</a:t>
            </a:r>
          </a:p>
        </p:txBody>
      </p:sp>
    </p:spTree>
    <p:extLst>
      <p:ext uri="{BB962C8B-B14F-4D97-AF65-F5344CB8AC3E}">
        <p14:creationId xmlns:p14="http://schemas.microsoft.com/office/powerpoint/2010/main" val="40290795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5.3.3  </a:t>
            </a:r>
            <a:r>
              <a:rPr kumimoji="1" lang="zh-CN" altLang="en-US" sz="3200" b="1" dirty="0">
                <a:latin typeface="Arial" charset="0"/>
                <a:ea typeface="宋体" charset="-122"/>
                <a:cs typeface="+mn-cs"/>
              </a:rPr>
              <a:t>遍历的非递归算法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中序遍历的非递归算法</a:t>
            </a:r>
            <a:endParaRPr lang="en-US" altLang="zh-CN" sz="2800" b="1" dirty="0"/>
          </a:p>
        </p:txBody>
      </p:sp>
      <p:sp>
        <p:nvSpPr>
          <p:cNvPr id="4" name="日期占位符 3"/>
          <p:cNvSpPr>
            <a:spLocks noGrp="1"/>
          </p:cNvSpPr>
          <p:nvPr>
            <p:ph type="dt" sz="half" idx="10"/>
          </p:nvPr>
        </p:nvSpPr>
        <p:spPr/>
        <p:txBody>
          <a:bodyPr/>
          <a:lstStyle/>
          <a:p>
            <a:fld id="{3FEAF09C-E866-4073-B5B6-2715CC7C0794}"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63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45"/>
          <p:cNvSpPr txBox="1">
            <a:spLocks noChangeArrowheads="1"/>
          </p:cNvSpPr>
          <p:nvPr/>
        </p:nvSpPr>
        <p:spPr bwMode="auto">
          <a:xfrm>
            <a:off x="457200" y="1631250"/>
            <a:ext cx="5638980" cy="4845750"/>
          </a:xfrm>
          <a:prstGeom prst="rect">
            <a:avLst/>
          </a:prstGeom>
          <a:noFill/>
          <a:ln w="12700" cap="sq">
            <a:noFill/>
            <a:miter lim="800000"/>
            <a:headEnd type="none" w="sm" len="sm"/>
            <a:tailEnd type="none" w="sm" len="sm"/>
          </a:ln>
        </p:spPr>
        <p:txBody>
          <a:bodyPr wrap="none">
            <a:spAutoFit/>
          </a:bodyPr>
          <a:lstStyle/>
          <a:p>
            <a:pPr fontAlgn="base">
              <a:lnSpc>
                <a:spcPct val="130000"/>
              </a:lnSpc>
              <a:spcBef>
                <a:spcPct val="0"/>
              </a:spcBef>
              <a:spcAft>
                <a:spcPct val="0"/>
              </a:spcAft>
            </a:pPr>
            <a:r>
              <a:rPr kumimoji="1" lang="en-US" altLang="zh-CN" sz="2400" b="1" dirty="0" err="1">
                <a:solidFill>
                  <a:srgbClr val="0000FF"/>
                </a:solidFill>
                <a:latin typeface="Times New Roman" pitchFamily="18" charset="0"/>
              </a:rPr>
              <a:t>BiTNode</a:t>
            </a:r>
            <a:r>
              <a:rPr kumimoji="1" lang="en-US" altLang="zh-CN" sz="2400" b="1" dirty="0">
                <a:solidFill>
                  <a:srgbClr val="0000FF"/>
                </a:solidFill>
                <a:latin typeface="Times New Roman" pitchFamily="18" charset="0"/>
              </a:rPr>
              <a:t> *</a:t>
            </a:r>
            <a:r>
              <a:rPr kumimoji="1" lang="en-US" altLang="zh-CN" sz="2400" b="1" dirty="0" err="1">
                <a:solidFill>
                  <a:srgbClr val="FF3300"/>
                </a:solidFill>
                <a:latin typeface="Times New Roman" pitchFamily="18" charset="0"/>
              </a:rPr>
              <a:t>GoFarLeft</a:t>
            </a:r>
            <a:r>
              <a:rPr kumimoji="1" lang="en-US" altLang="zh-CN" sz="2400" b="1" dirty="0">
                <a:solidFill>
                  <a:srgbClr val="0000FF"/>
                </a:solidFill>
                <a:latin typeface="Times New Roman" pitchFamily="18" charset="0"/>
              </a:rPr>
              <a:t>(</a:t>
            </a:r>
            <a:r>
              <a:rPr kumimoji="1" lang="en-US" altLang="zh-CN" sz="2400" b="1" dirty="0" err="1">
                <a:solidFill>
                  <a:srgbClr val="0000FF"/>
                </a:solidFill>
                <a:latin typeface="Times New Roman" pitchFamily="18" charset="0"/>
              </a:rPr>
              <a:t>BiTree</a:t>
            </a:r>
            <a:r>
              <a:rPr kumimoji="1" lang="en-US" altLang="zh-CN" sz="2400" b="1" dirty="0">
                <a:solidFill>
                  <a:srgbClr val="0000FF"/>
                </a:solidFill>
                <a:latin typeface="Times New Roman" pitchFamily="18" charset="0"/>
              </a:rPr>
              <a:t> T, Stack *S)</a:t>
            </a:r>
          </a:p>
          <a:p>
            <a:pPr fontAlgn="base">
              <a:lnSpc>
                <a:spcPct val="130000"/>
              </a:lnSpc>
              <a:spcBef>
                <a:spcPct val="0"/>
              </a:spcBef>
              <a:spcAft>
                <a:spcPct val="0"/>
              </a:spcAft>
            </a:pPr>
            <a:r>
              <a:rPr kumimoji="1" lang="en-US" altLang="zh-CN" sz="2400" b="1" dirty="0">
                <a:solidFill>
                  <a:srgbClr val="0000FF"/>
                </a:solidFill>
                <a:latin typeface="Times New Roman" pitchFamily="18" charset="0"/>
              </a:rPr>
              <a:t>{//</a:t>
            </a:r>
            <a:r>
              <a:rPr kumimoji="1" lang="zh-CN" altLang="en-US" sz="2400" b="1" dirty="0">
                <a:solidFill>
                  <a:srgbClr val="000000"/>
                </a:solidFill>
                <a:latin typeface="Times New Roman" pitchFamily="18" charset="0"/>
              </a:rPr>
              <a:t>找到左子树的最左下的结点</a:t>
            </a:r>
            <a:endParaRPr kumimoji="1" lang="zh-CN" altLang="en-US" sz="2400" b="1" dirty="0">
              <a:solidFill>
                <a:srgbClr val="0000FF"/>
              </a:solidFill>
              <a:latin typeface="宋体" pitchFamily="2" charset="-122"/>
            </a:endParaRPr>
          </a:p>
          <a:p>
            <a:pPr fontAlgn="base">
              <a:lnSpc>
                <a:spcPct val="130000"/>
              </a:lnSpc>
              <a:spcBef>
                <a:spcPct val="0"/>
              </a:spcBef>
              <a:spcAft>
                <a:spcPct val="0"/>
              </a:spcAft>
            </a:pPr>
            <a:r>
              <a:rPr kumimoji="1" lang="en-US" altLang="zh-CN" sz="2400" b="1" dirty="0">
                <a:solidFill>
                  <a:srgbClr val="0000FF"/>
                </a:solidFill>
                <a:latin typeface="Times New Roman" pitchFamily="18" charset="0"/>
              </a:rPr>
              <a:t>   if (!T )  return NULL;</a:t>
            </a:r>
            <a:endParaRPr kumimoji="1" lang="en-US" altLang="zh-CN" sz="2400" b="1" dirty="0">
              <a:solidFill>
                <a:srgbClr val="0000FF"/>
              </a:solidFill>
              <a:latin typeface="宋体" pitchFamily="2" charset="-122"/>
            </a:endParaRPr>
          </a:p>
          <a:p>
            <a:pPr fontAlgn="base">
              <a:lnSpc>
                <a:spcPct val="130000"/>
              </a:lnSpc>
              <a:spcBef>
                <a:spcPct val="0"/>
              </a:spcBef>
              <a:spcAft>
                <a:spcPct val="0"/>
              </a:spcAft>
            </a:pPr>
            <a:r>
              <a:rPr kumimoji="1" lang="en-US" altLang="zh-CN" sz="2400" b="1" dirty="0">
                <a:solidFill>
                  <a:srgbClr val="0000FF"/>
                </a:solidFill>
                <a:latin typeface="Times New Roman" pitchFamily="18" charset="0"/>
              </a:rPr>
              <a:t>   while (T-&gt;</a:t>
            </a:r>
            <a:r>
              <a:rPr kumimoji="1" lang="en-US" altLang="zh-CN" sz="2400" b="1" dirty="0" err="1">
                <a:solidFill>
                  <a:srgbClr val="0000FF"/>
                </a:solidFill>
                <a:latin typeface="Times New Roman" pitchFamily="18" charset="0"/>
              </a:rPr>
              <a:t>lch</a:t>
            </a:r>
            <a:r>
              <a:rPr kumimoji="1" lang="en-US" altLang="zh-CN" sz="2400" b="1" dirty="0">
                <a:solidFill>
                  <a:srgbClr val="0000FF"/>
                </a:solidFill>
                <a:latin typeface="Times New Roman" pitchFamily="18" charset="0"/>
              </a:rPr>
              <a:t> )</a:t>
            </a:r>
            <a:r>
              <a:rPr kumimoji="1" lang="en-US" altLang="zh-CN" sz="2400" b="1" dirty="0">
                <a:solidFill>
                  <a:srgbClr val="0000FF"/>
                </a:solidFill>
                <a:latin typeface="宋体" pitchFamily="2" charset="-122"/>
              </a:rPr>
              <a:t>{</a:t>
            </a:r>
          </a:p>
          <a:p>
            <a:pPr fontAlgn="base">
              <a:lnSpc>
                <a:spcPct val="130000"/>
              </a:lnSpc>
              <a:spcBef>
                <a:spcPct val="0"/>
              </a:spcBef>
              <a:spcAft>
                <a:spcPct val="0"/>
              </a:spcAft>
            </a:pPr>
            <a:r>
              <a:rPr kumimoji="1" lang="en-US" altLang="zh-CN" sz="2400" b="1" dirty="0">
                <a:solidFill>
                  <a:srgbClr val="0000FF"/>
                </a:solidFill>
                <a:latin typeface="Times New Roman" pitchFamily="18" charset="0"/>
              </a:rPr>
              <a:t>      </a:t>
            </a:r>
            <a:r>
              <a:rPr kumimoji="1" lang="en-US" altLang="zh-CN" sz="2400" b="1" dirty="0">
                <a:solidFill>
                  <a:srgbClr val="FF3300"/>
                </a:solidFill>
                <a:latin typeface="Times New Roman" pitchFamily="18" charset="0"/>
              </a:rPr>
              <a:t>Push(S, T);</a:t>
            </a:r>
          </a:p>
          <a:p>
            <a:pPr fontAlgn="base">
              <a:lnSpc>
                <a:spcPct val="130000"/>
              </a:lnSpc>
              <a:spcBef>
                <a:spcPct val="0"/>
              </a:spcBef>
              <a:spcAft>
                <a:spcPct val="0"/>
              </a:spcAft>
            </a:pPr>
            <a:r>
              <a:rPr kumimoji="1" lang="en-US" altLang="zh-CN" sz="2400" b="1" dirty="0">
                <a:solidFill>
                  <a:srgbClr val="FF3300"/>
                </a:solidFill>
                <a:latin typeface="Times New Roman" pitchFamily="18" charset="0"/>
              </a:rPr>
              <a:t>      T = T-&gt;</a:t>
            </a:r>
            <a:r>
              <a:rPr kumimoji="1" lang="en-US" altLang="zh-CN" sz="2400" b="1" dirty="0" err="1">
                <a:solidFill>
                  <a:srgbClr val="FF3300"/>
                </a:solidFill>
                <a:latin typeface="Times New Roman" pitchFamily="18" charset="0"/>
              </a:rPr>
              <a:t>lch</a:t>
            </a:r>
            <a:r>
              <a:rPr kumimoji="1" lang="en-US" altLang="zh-CN" sz="2400" b="1" dirty="0">
                <a:solidFill>
                  <a:srgbClr val="FF3300"/>
                </a:solidFill>
                <a:latin typeface="Times New Roman" pitchFamily="18" charset="0"/>
              </a:rPr>
              <a:t>;</a:t>
            </a:r>
          </a:p>
          <a:p>
            <a:pPr fontAlgn="base">
              <a:lnSpc>
                <a:spcPct val="130000"/>
              </a:lnSpc>
              <a:spcBef>
                <a:spcPct val="0"/>
              </a:spcBef>
              <a:spcAft>
                <a:spcPct val="0"/>
              </a:spcAft>
            </a:pPr>
            <a:r>
              <a:rPr kumimoji="1" lang="en-US" altLang="zh-CN" sz="2400" b="1" dirty="0">
                <a:solidFill>
                  <a:srgbClr val="0000FF"/>
                </a:solidFill>
                <a:latin typeface="Times New Roman" pitchFamily="18" charset="0"/>
              </a:rPr>
              <a:t>   </a:t>
            </a:r>
            <a:r>
              <a:rPr kumimoji="1" lang="en-US" altLang="zh-CN" sz="2400" b="1" dirty="0">
                <a:solidFill>
                  <a:srgbClr val="0000FF"/>
                </a:solidFill>
                <a:latin typeface="宋体" pitchFamily="2" charset="-122"/>
              </a:rPr>
              <a:t>}</a:t>
            </a:r>
          </a:p>
          <a:p>
            <a:pPr fontAlgn="base">
              <a:lnSpc>
                <a:spcPct val="130000"/>
              </a:lnSpc>
              <a:spcBef>
                <a:spcPct val="0"/>
              </a:spcBef>
              <a:spcAft>
                <a:spcPct val="0"/>
              </a:spcAft>
            </a:pPr>
            <a:r>
              <a:rPr kumimoji="1" lang="en-US" altLang="zh-CN" sz="2400" b="1" dirty="0">
                <a:solidFill>
                  <a:srgbClr val="0000FF"/>
                </a:solidFill>
                <a:latin typeface="Times New Roman" pitchFamily="18" charset="0"/>
              </a:rPr>
              <a:t>   return T;</a:t>
            </a:r>
          </a:p>
          <a:p>
            <a:pPr fontAlgn="base">
              <a:lnSpc>
                <a:spcPct val="130000"/>
              </a:lnSpc>
              <a:spcBef>
                <a:spcPct val="0"/>
              </a:spcBef>
              <a:spcAft>
                <a:spcPct val="0"/>
              </a:spcAft>
            </a:pPr>
            <a:r>
              <a:rPr kumimoji="1" lang="en-US" altLang="zh-CN" sz="2400" b="1" dirty="0">
                <a:solidFill>
                  <a:srgbClr val="000000"/>
                </a:solidFill>
                <a:latin typeface="宋体" pitchFamily="2" charset="-122"/>
              </a:rPr>
              <a:t>}</a:t>
            </a:r>
          </a:p>
          <a:p>
            <a:pPr fontAlgn="base">
              <a:lnSpc>
                <a:spcPct val="130000"/>
              </a:lnSpc>
              <a:spcBef>
                <a:spcPct val="0"/>
              </a:spcBef>
              <a:spcAft>
                <a:spcPct val="0"/>
              </a:spcAft>
            </a:pPr>
            <a:endParaRPr kumimoji="1" lang="zh-CN" altLang="en-US" sz="2400" b="1" dirty="0">
              <a:solidFill>
                <a:srgbClr val="000000"/>
              </a:solidFill>
              <a:latin typeface="Times New Roman" pitchFamily="18" charset="0"/>
            </a:endParaRPr>
          </a:p>
        </p:txBody>
      </p:sp>
      <p:grpSp>
        <p:nvGrpSpPr>
          <p:cNvPr id="14" name="Group 46"/>
          <p:cNvGrpSpPr>
            <a:grpSpLocks/>
          </p:cNvGrpSpPr>
          <p:nvPr/>
        </p:nvGrpSpPr>
        <p:grpSpPr bwMode="auto">
          <a:xfrm>
            <a:off x="4648200" y="2743200"/>
            <a:ext cx="4724400" cy="2701925"/>
            <a:chOff x="3264" y="1605"/>
            <a:chExt cx="2976" cy="1702"/>
          </a:xfrm>
        </p:grpSpPr>
        <p:grpSp>
          <p:nvGrpSpPr>
            <p:cNvPr id="15" name="Group 4"/>
            <p:cNvGrpSpPr>
              <a:grpSpLocks/>
            </p:cNvGrpSpPr>
            <p:nvPr/>
          </p:nvGrpSpPr>
          <p:grpSpPr bwMode="auto">
            <a:xfrm>
              <a:off x="4848" y="2479"/>
              <a:ext cx="576" cy="370"/>
              <a:chOff x="3337" y="2856"/>
              <a:chExt cx="576" cy="387"/>
            </a:xfrm>
          </p:grpSpPr>
          <p:sp>
            <p:nvSpPr>
              <p:cNvPr id="49" name="Oval 5"/>
              <p:cNvSpPr>
                <a:spLocks noChangeArrowheads="1"/>
              </p:cNvSpPr>
              <p:nvPr/>
            </p:nvSpPr>
            <p:spPr bwMode="auto">
              <a:xfrm>
                <a:off x="3457" y="2971"/>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50" name="Text Box 6"/>
              <p:cNvSpPr txBox="1">
                <a:spLocks noChangeArrowheads="1"/>
              </p:cNvSpPr>
              <p:nvPr/>
            </p:nvSpPr>
            <p:spPr bwMode="auto">
              <a:xfrm>
                <a:off x="3337" y="2856"/>
                <a:ext cx="576" cy="38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d</a:t>
                </a:r>
              </a:p>
            </p:txBody>
          </p:sp>
        </p:grpSp>
        <p:grpSp>
          <p:nvGrpSpPr>
            <p:cNvPr id="16" name="Group 7"/>
            <p:cNvGrpSpPr>
              <a:grpSpLocks/>
            </p:cNvGrpSpPr>
            <p:nvPr/>
          </p:nvGrpSpPr>
          <p:grpSpPr bwMode="auto">
            <a:xfrm>
              <a:off x="3744" y="2938"/>
              <a:ext cx="576" cy="369"/>
              <a:chOff x="3840" y="2901"/>
              <a:chExt cx="576" cy="405"/>
            </a:xfrm>
          </p:grpSpPr>
          <p:sp>
            <p:nvSpPr>
              <p:cNvPr id="47" name="Oval 8"/>
              <p:cNvSpPr>
                <a:spLocks noChangeArrowheads="1"/>
              </p:cNvSpPr>
              <p:nvPr/>
            </p:nvSpPr>
            <p:spPr bwMode="auto">
              <a:xfrm>
                <a:off x="3960" y="2995"/>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48" name="Text Box 9"/>
              <p:cNvSpPr txBox="1">
                <a:spLocks noChangeArrowheads="1"/>
              </p:cNvSpPr>
              <p:nvPr/>
            </p:nvSpPr>
            <p:spPr bwMode="auto">
              <a:xfrm>
                <a:off x="3840" y="2901"/>
                <a:ext cx="576" cy="40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b</a:t>
                </a:r>
              </a:p>
            </p:txBody>
          </p:sp>
        </p:grpSp>
        <p:grpSp>
          <p:nvGrpSpPr>
            <p:cNvPr id="17" name="Group 10"/>
            <p:cNvGrpSpPr>
              <a:grpSpLocks/>
            </p:cNvGrpSpPr>
            <p:nvPr/>
          </p:nvGrpSpPr>
          <p:grpSpPr bwMode="auto">
            <a:xfrm>
              <a:off x="5664" y="2479"/>
              <a:ext cx="576" cy="369"/>
              <a:chOff x="3840" y="2901"/>
              <a:chExt cx="576" cy="386"/>
            </a:xfrm>
          </p:grpSpPr>
          <p:sp>
            <p:nvSpPr>
              <p:cNvPr id="45" name="Oval 11"/>
              <p:cNvSpPr>
                <a:spLocks noChangeArrowheads="1"/>
              </p:cNvSpPr>
              <p:nvPr/>
            </p:nvSpPr>
            <p:spPr bwMode="auto">
              <a:xfrm>
                <a:off x="3960" y="2995"/>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46" name="Text Box 12"/>
              <p:cNvSpPr txBox="1">
                <a:spLocks noChangeArrowheads="1"/>
              </p:cNvSpPr>
              <p:nvPr/>
            </p:nvSpPr>
            <p:spPr bwMode="auto">
              <a:xfrm>
                <a:off x="3840" y="2901"/>
                <a:ext cx="576" cy="38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e</a:t>
                </a:r>
              </a:p>
            </p:txBody>
          </p:sp>
        </p:grpSp>
        <p:grpSp>
          <p:nvGrpSpPr>
            <p:cNvPr id="19" name="Group 13"/>
            <p:cNvGrpSpPr>
              <a:grpSpLocks/>
            </p:cNvGrpSpPr>
            <p:nvPr/>
          </p:nvGrpSpPr>
          <p:grpSpPr bwMode="auto">
            <a:xfrm>
              <a:off x="3264" y="2433"/>
              <a:ext cx="576" cy="370"/>
              <a:chOff x="3337" y="2856"/>
              <a:chExt cx="576" cy="387"/>
            </a:xfrm>
          </p:grpSpPr>
          <p:sp>
            <p:nvSpPr>
              <p:cNvPr id="43" name="Oval 14"/>
              <p:cNvSpPr>
                <a:spLocks noChangeArrowheads="1"/>
              </p:cNvSpPr>
              <p:nvPr/>
            </p:nvSpPr>
            <p:spPr bwMode="auto">
              <a:xfrm>
                <a:off x="3457" y="2971"/>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44" name="Text Box 15"/>
              <p:cNvSpPr txBox="1">
                <a:spLocks noChangeArrowheads="1"/>
              </p:cNvSpPr>
              <p:nvPr/>
            </p:nvSpPr>
            <p:spPr bwMode="auto">
              <a:xfrm>
                <a:off x="3337" y="2856"/>
                <a:ext cx="576" cy="38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a</a:t>
                </a:r>
              </a:p>
            </p:txBody>
          </p:sp>
        </p:grpSp>
        <p:grpSp>
          <p:nvGrpSpPr>
            <p:cNvPr id="20" name="Group 16"/>
            <p:cNvGrpSpPr>
              <a:grpSpLocks/>
            </p:cNvGrpSpPr>
            <p:nvPr/>
          </p:nvGrpSpPr>
          <p:grpSpPr bwMode="auto">
            <a:xfrm>
              <a:off x="3696" y="2019"/>
              <a:ext cx="576" cy="369"/>
              <a:chOff x="2552" y="3101"/>
              <a:chExt cx="576" cy="385"/>
            </a:xfrm>
          </p:grpSpPr>
          <p:sp>
            <p:nvSpPr>
              <p:cNvPr id="41" name="Oval 17"/>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42" name="Text Box 18"/>
              <p:cNvSpPr txBox="1">
                <a:spLocks noChangeArrowheads="1"/>
              </p:cNvSpPr>
              <p:nvPr/>
            </p:nvSpPr>
            <p:spPr bwMode="auto">
              <a:xfrm>
                <a:off x="2552" y="3101"/>
                <a:ext cx="576" cy="38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2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grpSp>
        <p:grpSp>
          <p:nvGrpSpPr>
            <p:cNvPr id="21" name="Group 19"/>
            <p:cNvGrpSpPr>
              <a:grpSpLocks/>
            </p:cNvGrpSpPr>
            <p:nvPr/>
          </p:nvGrpSpPr>
          <p:grpSpPr bwMode="auto">
            <a:xfrm>
              <a:off x="4128" y="2479"/>
              <a:ext cx="576" cy="369"/>
              <a:chOff x="2552" y="3101"/>
              <a:chExt cx="576" cy="386"/>
            </a:xfrm>
          </p:grpSpPr>
          <p:sp>
            <p:nvSpPr>
              <p:cNvPr id="39" name="Oval 20"/>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40" name="Text Box 21"/>
              <p:cNvSpPr txBox="1">
                <a:spLocks noChangeArrowheads="1"/>
              </p:cNvSpPr>
              <p:nvPr/>
            </p:nvSpPr>
            <p:spPr bwMode="auto">
              <a:xfrm>
                <a:off x="2552" y="3101"/>
                <a:ext cx="576" cy="38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2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grpSp>
        <p:grpSp>
          <p:nvGrpSpPr>
            <p:cNvPr id="22" name="Group 22"/>
            <p:cNvGrpSpPr>
              <a:grpSpLocks/>
            </p:cNvGrpSpPr>
            <p:nvPr/>
          </p:nvGrpSpPr>
          <p:grpSpPr bwMode="auto">
            <a:xfrm>
              <a:off x="5232" y="2042"/>
              <a:ext cx="576" cy="369"/>
              <a:chOff x="2552" y="3101"/>
              <a:chExt cx="576" cy="385"/>
            </a:xfrm>
          </p:grpSpPr>
          <p:sp>
            <p:nvSpPr>
              <p:cNvPr id="37" name="Oval 23"/>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38" name="Text Box 24"/>
              <p:cNvSpPr txBox="1">
                <a:spLocks noChangeArrowheads="1"/>
              </p:cNvSpPr>
              <p:nvPr/>
            </p:nvSpPr>
            <p:spPr bwMode="auto">
              <a:xfrm>
                <a:off x="2552" y="3101"/>
                <a:ext cx="576" cy="38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2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grpSp>
        <p:grpSp>
          <p:nvGrpSpPr>
            <p:cNvPr id="23" name="Group 25"/>
            <p:cNvGrpSpPr>
              <a:grpSpLocks/>
            </p:cNvGrpSpPr>
            <p:nvPr/>
          </p:nvGrpSpPr>
          <p:grpSpPr bwMode="auto">
            <a:xfrm>
              <a:off x="4608" y="2854"/>
              <a:ext cx="576" cy="369"/>
              <a:chOff x="2552" y="3101"/>
              <a:chExt cx="576" cy="385"/>
            </a:xfrm>
          </p:grpSpPr>
          <p:sp>
            <p:nvSpPr>
              <p:cNvPr id="35" name="Oval 26"/>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36" name="Text Box 27"/>
              <p:cNvSpPr txBox="1">
                <a:spLocks noChangeArrowheads="1"/>
              </p:cNvSpPr>
              <p:nvPr/>
            </p:nvSpPr>
            <p:spPr bwMode="auto">
              <a:xfrm>
                <a:off x="2552" y="3101"/>
                <a:ext cx="576" cy="38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200" b="1" i="0" u="none" strike="noStrike" kern="0" cap="none" spc="0" normalizeH="0" baseline="0" noProof="0">
                    <a:ln>
                      <a:noFill/>
                    </a:ln>
                    <a:solidFill>
                      <a:srgbClr val="0000FF"/>
                    </a:solidFill>
                    <a:effectLst/>
                    <a:uLnTx/>
                    <a:uFillTx/>
                    <a:latin typeface="黑体" pitchFamily="2" charset="-122"/>
                    <a:ea typeface="黑体" pitchFamily="2" charset="-122"/>
                  </a:rPr>
                  <a:t>c</a:t>
                </a:r>
              </a:p>
            </p:txBody>
          </p:sp>
        </p:grpSp>
        <p:grpSp>
          <p:nvGrpSpPr>
            <p:cNvPr id="24" name="Group 28"/>
            <p:cNvGrpSpPr>
              <a:grpSpLocks/>
            </p:cNvGrpSpPr>
            <p:nvPr/>
          </p:nvGrpSpPr>
          <p:grpSpPr bwMode="auto">
            <a:xfrm>
              <a:off x="4512" y="1605"/>
              <a:ext cx="576" cy="369"/>
              <a:chOff x="2552" y="3101"/>
              <a:chExt cx="576" cy="385"/>
            </a:xfrm>
          </p:grpSpPr>
          <p:sp>
            <p:nvSpPr>
              <p:cNvPr id="33" name="Oval 29"/>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34" name="Text Box 30"/>
              <p:cNvSpPr txBox="1">
                <a:spLocks noChangeArrowheads="1"/>
              </p:cNvSpPr>
              <p:nvPr/>
            </p:nvSpPr>
            <p:spPr bwMode="auto">
              <a:xfrm>
                <a:off x="2552" y="3101"/>
                <a:ext cx="576" cy="38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zh-CN" altLang="en-US" sz="3200" b="1" i="0" u="none" strike="noStrike" kern="0" cap="none" spc="0" normalizeH="0" baseline="0" noProof="0">
                    <a:ln>
                      <a:noFill/>
                    </a:ln>
                    <a:solidFill>
                      <a:srgbClr val="0000FF"/>
                    </a:solidFill>
                    <a:effectLst/>
                    <a:uLnTx/>
                    <a:uFillTx/>
                    <a:latin typeface="黑体" pitchFamily="2" charset="-122"/>
                    <a:ea typeface="黑体" pitchFamily="2" charset="-122"/>
                  </a:rPr>
                  <a:t>+</a:t>
                </a:r>
              </a:p>
            </p:txBody>
          </p:sp>
        </p:grpSp>
        <p:sp>
          <p:nvSpPr>
            <p:cNvPr id="25" name="Line 31"/>
            <p:cNvSpPr>
              <a:spLocks noChangeShapeType="1"/>
            </p:cNvSpPr>
            <p:nvPr/>
          </p:nvSpPr>
          <p:spPr bwMode="auto">
            <a:xfrm flipH="1">
              <a:off x="4080" y="1891"/>
              <a:ext cx="528" cy="321"/>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6" name="Line 32"/>
            <p:cNvSpPr>
              <a:spLocks noChangeShapeType="1"/>
            </p:cNvSpPr>
            <p:nvPr/>
          </p:nvSpPr>
          <p:spPr bwMode="auto">
            <a:xfrm>
              <a:off x="4896" y="1891"/>
              <a:ext cx="480" cy="27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7" name="Line 33"/>
            <p:cNvSpPr>
              <a:spLocks noChangeShapeType="1"/>
            </p:cNvSpPr>
            <p:nvPr/>
          </p:nvSpPr>
          <p:spPr bwMode="auto">
            <a:xfrm flipH="1">
              <a:off x="4032" y="2809"/>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8" name="Line 34"/>
            <p:cNvSpPr>
              <a:spLocks noChangeShapeType="1"/>
            </p:cNvSpPr>
            <p:nvPr/>
          </p:nvSpPr>
          <p:spPr bwMode="auto">
            <a:xfrm>
              <a:off x="4080" y="2350"/>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9" name="Line 35"/>
            <p:cNvSpPr>
              <a:spLocks noChangeShapeType="1"/>
            </p:cNvSpPr>
            <p:nvPr/>
          </p:nvSpPr>
          <p:spPr bwMode="auto">
            <a:xfrm flipH="1">
              <a:off x="3600" y="2350"/>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0" name="Line 36"/>
            <p:cNvSpPr>
              <a:spLocks noChangeShapeType="1"/>
            </p:cNvSpPr>
            <p:nvPr/>
          </p:nvSpPr>
          <p:spPr bwMode="auto">
            <a:xfrm>
              <a:off x="4512" y="2809"/>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1" name="Line 37"/>
            <p:cNvSpPr>
              <a:spLocks noChangeShapeType="1"/>
            </p:cNvSpPr>
            <p:nvPr/>
          </p:nvSpPr>
          <p:spPr bwMode="auto">
            <a:xfrm flipH="1">
              <a:off x="5136" y="2350"/>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2" name="Line 38"/>
            <p:cNvSpPr>
              <a:spLocks noChangeShapeType="1"/>
            </p:cNvSpPr>
            <p:nvPr/>
          </p:nvSpPr>
          <p:spPr bwMode="auto">
            <a:xfrm>
              <a:off x="5616" y="2350"/>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grpSp>
      <p:sp>
        <p:nvSpPr>
          <p:cNvPr id="51" name="Rectangle 42"/>
          <p:cNvSpPr>
            <a:spLocks noChangeArrowheads="1"/>
          </p:cNvSpPr>
          <p:nvPr/>
        </p:nvSpPr>
        <p:spPr bwMode="auto">
          <a:xfrm>
            <a:off x="1279525" y="5727700"/>
            <a:ext cx="6842125" cy="584775"/>
          </a:xfrm>
          <a:prstGeom prst="rect">
            <a:avLst/>
          </a:prstGeom>
          <a:noFill/>
          <a:ln w="12700" cap="rnd" algn="ctr">
            <a:solidFill>
              <a:srgbClr val="008000"/>
            </a:solidFill>
            <a:miter lim="800000"/>
            <a:headEnd/>
            <a:tailEnd/>
          </a:ln>
        </p:spPr>
        <p:txBody>
          <a:bodyPr>
            <a:spAutoFit/>
          </a:bodyPr>
          <a:lstStyle/>
          <a:p>
            <a:pPr eaLnBrk="0" fontAlgn="base" hangingPunct="0">
              <a:spcBef>
                <a:spcPct val="0"/>
              </a:spcBef>
              <a:spcAft>
                <a:spcPct val="0"/>
              </a:spcAft>
            </a:pPr>
            <a:r>
              <a:rPr kumimoji="1" lang="zh-CN" altLang="en-US" sz="3200" b="1">
                <a:solidFill>
                  <a:srgbClr val="0000FF"/>
                </a:solidFill>
                <a:latin typeface="Times New Roman" pitchFamily="18" charset="0"/>
              </a:rPr>
              <a:t>中序序列为：    </a:t>
            </a:r>
            <a:r>
              <a:rPr kumimoji="1" lang="en-US" altLang="zh-CN" sz="3200" b="1">
                <a:solidFill>
                  <a:srgbClr val="0000FF"/>
                </a:solidFill>
                <a:latin typeface="Times New Roman" pitchFamily="18" charset="0"/>
              </a:rPr>
              <a:t>a * b –  c+ d / e</a:t>
            </a:r>
          </a:p>
        </p:txBody>
      </p:sp>
    </p:spTree>
    <p:extLst>
      <p:ext uri="{BB962C8B-B14F-4D97-AF65-F5344CB8AC3E}">
        <p14:creationId xmlns:p14="http://schemas.microsoft.com/office/powerpoint/2010/main" val="844102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5.3.3  </a:t>
            </a:r>
            <a:r>
              <a:rPr kumimoji="1" lang="zh-CN" altLang="en-US" sz="3200" b="1" dirty="0">
                <a:latin typeface="Arial" charset="0"/>
                <a:ea typeface="宋体" charset="-122"/>
                <a:cs typeface="+mn-cs"/>
              </a:rPr>
              <a:t>遍历的非递归算法</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中序遍历的非递归算法</a:t>
            </a:r>
            <a:endParaRPr lang="en-US" altLang="zh-CN" sz="2800" b="1" dirty="0"/>
          </a:p>
        </p:txBody>
      </p:sp>
      <p:sp>
        <p:nvSpPr>
          <p:cNvPr id="4" name="日期占位符 3"/>
          <p:cNvSpPr>
            <a:spLocks noGrp="1"/>
          </p:cNvSpPr>
          <p:nvPr>
            <p:ph type="dt" sz="half" idx="10"/>
          </p:nvPr>
        </p:nvSpPr>
        <p:spPr/>
        <p:txBody>
          <a:bodyPr/>
          <a:lstStyle/>
          <a:p>
            <a:fld id="{3F763CF4-93D4-432A-B63C-095F201675F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64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42">
            <a:hlinkClick r:id="rId4" action="ppaction://hlinksldjump"/>
          </p:cNvPr>
          <p:cNvSpPr txBox="1">
            <a:spLocks noChangeArrowheads="1"/>
          </p:cNvSpPr>
          <p:nvPr/>
        </p:nvSpPr>
        <p:spPr bwMode="auto">
          <a:xfrm>
            <a:off x="381000" y="1724085"/>
            <a:ext cx="8884163" cy="452431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2400" b="1" dirty="0">
                <a:solidFill>
                  <a:srgbClr val="0000FF"/>
                </a:solidFill>
                <a:latin typeface="宋体" pitchFamily="2" charset="-122"/>
              </a:rPr>
              <a:t>void </a:t>
            </a:r>
            <a:r>
              <a:rPr kumimoji="1" lang="en-US" altLang="zh-CN" sz="2400" b="1" dirty="0" err="1">
                <a:solidFill>
                  <a:srgbClr val="0000FF"/>
                </a:solidFill>
                <a:latin typeface="宋体" pitchFamily="2" charset="-122"/>
              </a:rPr>
              <a:t>Inorder_I</a:t>
            </a:r>
            <a:r>
              <a:rPr kumimoji="1" lang="en-US" altLang="zh-CN" sz="2400" b="1" dirty="0">
                <a:solidFill>
                  <a:srgbClr val="0000FF"/>
                </a:solidFill>
                <a:latin typeface="宋体" pitchFamily="2" charset="-122"/>
              </a:rPr>
              <a:t>(</a:t>
            </a:r>
            <a:r>
              <a:rPr kumimoji="1" lang="en-US" altLang="zh-CN" sz="2400" b="1" dirty="0" err="1">
                <a:solidFill>
                  <a:srgbClr val="0000FF"/>
                </a:solidFill>
                <a:latin typeface="宋体" pitchFamily="2" charset="-122"/>
              </a:rPr>
              <a:t>BiTree</a:t>
            </a:r>
            <a:r>
              <a:rPr kumimoji="1" lang="en-US" altLang="zh-CN" sz="2400" b="1" dirty="0">
                <a:solidFill>
                  <a:srgbClr val="0000FF"/>
                </a:solidFill>
                <a:latin typeface="宋体" pitchFamily="2" charset="-122"/>
              </a:rPr>
              <a:t> T)</a:t>
            </a:r>
          </a:p>
          <a:p>
            <a:pPr fontAlgn="base">
              <a:spcBef>
                <a:spcPct val="0"/>
              </a:spcBef>
              <a:spcAft>
                <a:spcPct val="0"/>
              </a:spcAft>
            </a:pPr>
            <a:r>
              <a:rPr kumimoji="1" lang="en-US" altLang="zh-CN" sz="2400" b="1" dirty="0">
                <a:solidFill>
                  <a:srgbClr val="0000FF"/>
                </a:solidFill>
                <a:latin typeface="宋体" pitchFamily="2" charset="-122"/>
              </a:rPr>
              <a:t>{</a:t>
            </a:r>
            <a:r>
              <a:rPr kumimoji="1" lang="en-US" altLang="zh-CN" sz="2400" b="1" dirty="0">
                <a:solidFill>
                  <a:srgbClr val="000000"/>
                </a:solidFill>
                <a:latin typeface="宋体" pitchFamily="2" charset="-122"/>
              </a:rPr>
              <a:t>   </a:t>
            </a:r>
            <a:r>
              <a:rPr kumimoji="1" lang="en-US" altLang="zh-CN" sz="2400" b="1" dirty="0">
                <a:solidFill>
                  <a:srgbClr val="0000FF"/>
                </a:solidFill>
                <a:latin typeface="宋体" pitchFamily="2" charset="-122"/>
              </a:rPr>
              <a:t>Stack *S;</a:t>
            </a:r>
          </a:p>
          <a:p>
            <a:pPr fontAlgn="base">
              <a:spcBef>
                <a:spcPct val="0"/>
              </a:spcBef>
              <a:spcAft>
                <a:spcPct val="0"/>
              </a:spcAft>
            </a:pPr>
            <a:r>
              <a:rPr kumimoji="1" lang="en-US" altLang="zh-CN" sz="2400" b="1" dirty="0">
                <a:solidFill>
                  <a:srgbClr val="000000"/>
                </a:solidFill>
                <a:latin typeface="宋体" pitchFamily="2" charset="-122"/>
              </a:rPr>
              <a:t>   </a:t>
            </a:r>
            <a:r>
              <a:rPr kumimoji="1" lang="en-US" altLang="zh-CN" sz="2400" b="1" dirty="0">
                <a:solidFill>
                  <a:srgbClr val="0000FF"/>
                </a:solidFill>
                <a:latin typeface="宋体" pitchFamily="2" charset="-122"/>
              </a:rPr>
              <a:t>t = </a:t>
            </a:r>
            <a:r>
              <a:rPr kumimoji="1" lang="en-US" altLang="zh-CN" sz="2400" b="1" dirty="0" err="1">
                <a:solidFill>
                  <a:srgbClr val="FF0000"/>
                </a:solidFill>
                <a:latin typeface="宋体" pitchFamily="2" charset="-122"/>
              </a:rPr>
              <a:t>GoFarLeft</a:t>
            </a:r>
            <a:r>
              <a:rPr kumimoji="1" lang="en-US" altLang="zh-CN" sz="2400" b="1" dirty="0">
                <a:solidFill>
                  <a:srgbClr val="0000FF"/>
                </a:solidFill>
                <a:latin typeface="宋体" pitchFamily="2" charset="-122"/>
              </a:rPr>
              <a:t>(T, S);</a:t>
            </a:r>
            <a:r>
              <a:rPr kumimoji="1" lang="en-US" altLang="zh-CN" sz="2400" b="1" dirty="0">
                <a:solidFill>
                  <a:srgbClr val="000000"/>
                </a:solidFill>
                <a:latin typeface="宋体" pitchFamily="2" charset="-122"/>
              </a:rPr>
              <a:t>  // </a:t>
            </a:r>
            <a:r>
              <a:rPr kumimoji="1" lang="zh-CN" altLang="en-US" sz="2400" b="1" dirty="0">
                <a:solidFill>
                  <a:srgbClr val="000000"/>
                </a:solidFill>
                <a:latin typeface="宋体" pitchFamily="2" charset="-122"/>
              </a:rPr>
              <a:t>找到最左下的结点</a:t>
            </a:r>
          </a:p>
          <a:p>
            <a:pPr fontAlgn="base">
              <a:spcBef>
                <a:spcPct val="0"/>
              </a:spcBef>
              <a:spcAft>
                <a:spcPct val="0"/>
              </a:spcAft>
            </a:pPr>
            <a:r>
              <a:rPr kumimoji="1" lang="zh-CN" altLang="en-US" sz="2400" b="1" dirty="0">
                <a:solidFill>
                  <a:srgbClr val="000000"/>
                </a:solidFill>
                <a:latin typeface="宋体" pitchFamily="2" charset="-122"/>
              </a:rPr>
              <a:t>   </a:t>
            </a:r>
            <a:r>
              <a:rPr kumimoji="1" lang="en-US" altLang="zh-CN" sz="2400" b="1" dirty="0">
                <a:solidFill>
                  <a:srgbClr val="0000FF"/>
                </a:solidFill>
                <a:latin typeface="宋体" pitchFamily="2" charset="-122"/>
              </a:rPr>
              <a:t>while(t){</a:t>
            </a:r>
          </a:p>
          <a:p>
            <a:pPr fontAlgn="base">
              <a:spcBef>
                <a:spcPct val="0"/>
              </a:spcBef>
              <a:spcAft>
                <a:spcPct val="0"/>
              </a:spcAft>
            </a:pPr>
            <a:r>
              <a:rPr kumimoji="1" lang="en-US" altLang="zh-CN" sz="2400" b="1" dirty="0">
                <a:solidFill>
                  <a:srgbClr val="000000"/>
                </a:solidFill>
                <a:latin typeface="宋体" pitchFamily="2" charset="-122"/>
              </a:rPr>
              <a:t>      </a:t>
            </a:r>
            <a:r>
              <a:rPr kumimoji="1" lang="en-US" altLang="zh-CN" sz="2400" b="1" dirty="0">
                <a:solidFill>
                  <a:srgbClr val="0000FF"/>
                </a:solidFill>
                <a:latin typeface="宋体" pitchFamily="2" charset="-122"/>
              </a:rPr>
              <a:t>visit(t-&gt;data);</a:t>
            </a:r>
          </a:p>
          <a:p>
            <a:pPr fontAlgn="base">
              <a:spcBef>
                <a:spcPct val="0"/>
              </a:spcBef>
              <a:spcAft>
                <a:spcPct val="0"/>
              </a:spcAft>
            </a:pPr>
            <a:r>
              <a:rPr kumimoji="1" lang="en-US" altLang="zh-CN" sz="2400" b="1" dirty="0">
                <a:solidFill>
                  <a:srgbClr val="0000FF"/>
                </a:solidFill>
                <a:latin typeface="宋体" pitchFamily="2" charset="-122"/>
              </a:rPr>
              <a:t>      if (t-&gt;</a:t>
            </a:r>
            <a:r>
              <a:rPr kumimoji="1" lang="en-US" altLang="zh-CN" sz="2400" b="1" dirty="0" err="1">
                <a:solidFill>
                  <a:srgbClr val="0000FF"/>
                </a:solidFill>
                <a:latin typeface="宋体" pitchFamily="2" charset="-122"/>
              </a:rPr>
              <a:t>rch</a:t>
            </a:r>
            <a:r>
              <a:rPr kumimoji="1" lang="en-US" altLang="zh-CN" sz="2400" b="1" dirty="0">
                <a:solidFill>
                  <a:srgbClr val="0000FF"/>
                </a:solidFill>
                <a:latin typeface="宋体" pitchFamily="2" charset="-122"/>
              </a:rPr>
              <a:t>)</a:t>
            </a:r>
          </a:p>
          <a:p>
            <a:pPr fontAlgn="base">
              <a:spcBef>
                <a:spcPct val="0"/>
              </a:spcBef>
              <a:spcAft>
                <a:spcPct val="0"/>
              </a:spcAft>
            </a:pPr>
            <a:r>
              <a:rPr kumimoji="1" lang="en-US" altLang="zh-CN" sz="2400" b="1" dirty="0">
                <a:solidFill>
                  <a:srgbClr val="0000FF"/>
                </a:solidFill>
                <a:latin typeface="宋体" pitchFamily="2" charset="-122"/>
              </a:rPr>
              <a:t>         t =</a:t>
            </a:r>
            <a:r>
              <a:rPr kumimoji="1" lang="en-US" altLang="zh-CN" sz="2400" b="1" dirty="0">
                <a:solidFill>
                  <a:srgbClr val="990033"/>
                </a:solidFill>
                <a:latin typeface="宋体" pitchFamily="2" charset="-122"/>
              </a:rPr>
              <a:t> </a:t>
            </a:r>
            <a:r>
              <a:rPr kumimoji="1" lang="en-US" altLang="zh-CN" sz="2400" b="1" dirty="0" err="1">
                <a:solidFill>
                  <a:srgbClr val="990033"/>
                </a:solidFill>
                <a:latin typeface="宋体" pitchFamily="2" charset="-122"/>
              </a:rPr>
              <a:t>GoFarLeft</a:t>
            </a:r>
            <a:r>
              <a:rPr kumimoji="1" lang="en-US" altLang="zh-CN" sz="2400" b="1" dirty="0">
                <a:solidFill>
                  <a:srgbClr val="990033"/>
                </a:solidFill>
                <a:latin typeface="宋体" pitchFamily="2" charset="-122"/>
              </a:rPr>
              <a:t>(t-&gt;</a:t>
            </a:r>
            <a:r>
              <a:rPr kumimoji="1" lang="en-US" altLang="zh-CN" sz="2400" b="1" dirty="0" err="1">
                <a:solidFill>
                  <a:srgbClr val="990033"/>
                </a:solidFill>
                <a:latin typeface="宋体" pitchFamily="2" charset="-122"/>
              </a:rPr>
              <a:t>rch</a:t>
            </a:r>
            <a:r>
              <a:rPr kumimoji="1" lang="en-US" altLang="zh-CN" sz="2400" b="1" dirty="0">
                <a:solidFill>
                  <a:srgbClr val="990033"/>
                </a:solidFill>
                <a:latin typeface="宋体" pitchFamily="2" charset="-122"/>
              </a:rPr>
              <a:t>, S);/</a:t>
            </a:r>
            <a:r>
              <a:rPr kumimoji="1" lang="en-US" altLang="zh-CN" sz="2400" b="1" dirty="0">
                <a:latin typeface="宋体" pitchFamily="2" charset="-122"/>
              </a:rPr>
              <a:t>/</a:t>
            </a:r>
            <a:r>
              <a:rPr kumimoji="1" lang="zh-CN" altLang="en-US" sz="1600" b="1" dirty="0">
                <a:latin typeface="宋体" pitchFamily="2" charset="-122"/>
              </a:rPr>
              <a:t>从右子树根结点出发，继续往左走</a:t>
            </a:r>
            <a:endParaRPr kumimoji="1" lang="en-US" altLang="zh-CN" sz="1600" b="1" dirty="0">
              <a:latin typeface="宋体" pitchFamily="2" charset="-122"/>
            </a:endParaRPr>
          </a:p>
          <a:p>
            <a:pPr fontAlgn="base">
              <a:spcBef>
                <a:spcPct val="0"/>
              </a:spcBef>
              <a:spcAft>
                <a:spcPct val="0"/>
              </a:spcAft>
            </a:pPr>
            <a:r>
              <a:rPr kumimoji="1" lang="en-US" altLang="zh-CN" sz="2400" b="1" dirty="0">
                <a:solidFill>
                  <a:srgbClr val="0000FF"/>
                </a:solidFill>
                <a:latin typeface="宋体" pitchFamily="2" charset="-122"/>
              </a:rPr>
              <a:t>     else if ( !</a:t>
            </a:r>
            <a:r>
              <a:rPr kumimoji="1" lang="en-US" altLang="zh-CN" sz="2400" b="1" dirty="0" err="1">
                <a:solidFill>
                  <a:srgbClr val="0000FF"/>
                </a:solidFill>
                <a:latin typeface="宋体" pitchFamily="2" charset="-122"/>
              </a:rPr>
              <a:t>StackEmpty</a:t>
            </a:r>
            <a:r>
              <a:rPr kumimoji="1" lang="en-US" altLang="zh-CN" sz="2400" b="1" dirty="0">
                <a:solidFill>
                  <a:srgbClr val="0000FF"/>
                </a:solidFill>
                <a:latin typeface="宋体" pitchFamily="2" charset="-122"/>
              </a:rPr>
              <a:t>(S ))    </a:t>
            </a:r>
            <a:r>
              <a:rPr kumimoji="1" lang="en-US" altLang="zh-CN" sz="2400" b="1" dirty="0">
                <a:solidFill>
                  <a:srgbClr val="000000"/>
                </a:solidFill>
                <a:latin typeface="宋体" pitchFamily="2" charset="-122"/>
              </a:rPr>
              <a:t>// </a:t>
            </a:r>
            <a:r>
              <a:rPr kumimoji="1" lang="zh-CN" altLang="en-US" sz="2400" b="1" dirty="0">
                <a:solidFill>
                  <a:srgbClr val="000000"/>
                </a:solidFill>
                <a:latin typeface="宋体" pitchFamily="2" charset="-122"/>
              </a:rPr>
              <a:t>栈不空时退栈</a:t>
            </a:r>
          </a:p>
          <a:p>
            <a:pPr fontAlgn="base">
              <a:spcBef>
                <a:spcPct val="0"/>
              </a:spcBef>
              <a:spcAft>
                <a:spcPct val="0"/>
              </a:spcAft>
            </a:pPr>
            <a:r>
              <a:rPr kumimoji="1" lang="zh-CN" altLang="en-US" sz="2400" b="1" dirty="0">
                <a:solidFill>
                  <a:srgbClr val="0000FF"/>
                </a:solidFill>
                <a:latin typeface="宋体" pitchFamily="2" charset="-122"/>
              </a:rPr>
              <a:t>        </a:t>
            </a:r>
            <a:r>
              <a:rPr kumimoji="1" lang="en-US" altLang="zh-CN" sz="2400" b="1" dirty="0">
                <a:solidFill>
                  <a:srgbClr val="0000FF"/>
                </a:solidFill>
                <a:latin typeface="宋体" pitchFamily="2" charset="-122"/>
              </a:rPr>
              <a:t>t = Pop(S);</a:t>
            </a:r>
          </a:p>
          <a:p>
            <a:pPr fontAlgn="base">
              <a:spcBef>
                <a:spcPct val="0"/>
              </a:spcBef>
              <a:spcAft>
                <a:spcPct val="0"/>
              </a:spcAft>
            </a:pPr>
            <a:r>
              <a:rPr kumimoji="1" lang="en-US" altLang="zh-CN" sz="2400" b="1" dirty="0">
                <a:solidFill>
                  <a:srgbClr val="0000FF"/>
                </a:solidFill>
                <a:latin typeface="宋体" pitchFamily="2" charset="-122"/>
              </a:rPr>
              <a:t>              else    t = NULL; </a:t>
            </a:r>
            <a:r>
              <a:rPr kumimoji="1" lang="en-US" altLang="zh-CN" sz="2400" b="1" dirty="0">
                <a:solidFill>
                  <a:srgbClr val="000000"/>
                </a:solidFill>
                <a:latin typeface="宋体" pitchFamily="2" charset="-122"/>
              </a:rPr>
              <a:t>//</a:t>
            </a:r>
            <a:r>
              <a:rPr kumimoji="1" lang="en-US" altLang="zh-CN" sz="2400" b="1" dirty="0">
                <a:solidFill>
                  <a:srgbClr val="0000FF"/>
                </a:solidFill>
                <a:latin typeface="宋体" pitchFamily="2" charset="-122"/>
              </a:rPr>
              <a:t> </a:t>
            </a:r>
            <a:r>
              <a:rPr kumimoji="1" lang="zh-CN" altLang="en-US" sz="2400" b="1" dirty="0">
                <a:solidFill>
                  <a:srgbClr val="000000"/>
                </a:solidFill>
                <a:latin typeface="宋体" pitchFamily="2" charset="-122"/>
              </a:rPr>
              <a:t>栈空表明遍历结束</a:t>
            </a:r>
            <a:endParaRPr kumimoji="1" lang="zh-CN" altLang="en-US" sz="2400" b="1" dirty="0">
              <a:solidFill>
                <a:srgbClr val="0000FF"/>
              </a:solidFill>
              <a:latin typeface="宋体" pitchFamily="2" charset="-122"/>
            </a:endParaRPr>
          </a:p>
          <a:p>
            <a:pPr fontAlgn="base">
              <a:spcBef>
                <a:spcPct val="0"/>
              </a:spcBef>
              <a:spcAft>
                <a:spcPct val="0"/>
              </a:spcAft>
            </a:pPr>
            <a:r>
              <a:rPr kumimoji="1" lang="zh-CN" altLang="en-US" sz="2400" b="1" dirty="0">
                <a:solidFill>
                  <a:srgbClr val="0000FF"/>
                </a:solidFill>
                <a:latin typeface="宋体" pitchFamily="2" charset="-122"/>
              </a:rPr>
              <a:t>    </a:t>
            </a:r>
            <a:r>
              <a:rPr kumimoji="1" lang="en-US" altLang="zh-CN" sz="2400" b="1" dirty="0">
                <a:solidFill>
                  <a:srgbClr val="0000FF"/>
                </a:solidFill>
                <a:latin typeface="宋体" pitchFamily="2" charset="-122"/>
              </a:rPr>
              <a:t>} // while</a:t>
            </a:r>
          </a:p>
          <a:p>
            <a:pPr fontAlgn="base">
              <a:spcBef>
                <a:spcPct val="0"/>
              </a:spcBef>
              <a:spcAft>
                <a:spcPct val="0"/>
              </a:spcAft>
            </a:pPr>
            <a:r>
              <a:rPr kumimoji="1" lang="en-US" altLang="zh-CN" sz="2400" b="1" dirty="0">
                <a:solidFill>
                  <a:srgbClr val="0000FF"/>
                </a:solidFill>
                <a:latin typeface="宋体" pitchFamily="2" charset="-122"/>
              </a:rPr>
              <a:t>}// </a:t>
            </a:r>
            <a:r>
              <a:rPr kumimoji="1" lang="en-US" altLang="zh-CN" sz="2400" b="1" dirty="0" err="1">
                <a:solidFill>
                  <a:srgbClr val="0000FF"/>
                </a:solidFill>
                <a:latin typeface="宋体" pitchFamily="2" charset="-122"/>
              </a:rPr>
              <a:t>Inorder_I</a:t>
            </a:r>
            <a:r>
              <a:rPr kumimoji="1" lang="en-US" altLang="zh-CN" sz="2400" b="1" dirty="0">
                <a:solidFill>
                  <a:srgbClr val="0000FF"/>
                </a:solidFill>
                <a:latin typeface="宋体" pitchFamily="2" charset="-122"/>
              </a:rPr>
              <a:t>           </a:t>
            </a:r>
            <a:endParaRPr kumimoji="1" lang="en-US" altLang="zh-CN" sz="2400" b="1" dirty="0">
              <a:solidFill>
                <a:srgbClr val="000000"/>
              </a:solidFill>
              <a:latin typeface="宋体" pitchFamily="2" charset="-122"/>
            </a:endParaRPr>
          </a:p>
        </p:txBody>
      </p:sp>
    </p:spTree>
    <p:extLst>
      <p:ext uri="{BB962C8B-B14F-4D97-AF65-F5344CB8AC3E}">
        <p14:creationId xmlns:p14="http://schemas.microsoft.com/office/powerpoint/2010/main" val="1795996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5.4  </a:t>
            </a:r>
            <a:r>
              <a:rPr kumimoji="1" lang="zh-CN" altLang="en-US" sz="3200" b="1" dirty="0">
                <a:latin typeface="Arial" charset="0"/>
                <a:ea typeface="宋体" charset="-122"/>
                <a:cs typeface="+mn-cs"/>
              </a:rPr>
              <a:t>遍历的应用</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p>
        </p:txBody>
      </p:sp>
      <p:sp>
        <p:nvSpPr>
          <p:cNvPr id="4" name="日期占位符 3"/>
          <p:cNvSpPr>
            <a:spLocks noGrp="1"/>
          </p:cNvSpPr>
          <p:nvPr>
            <p:ph type="dt" sz="half" idx="10"/>
          </p:nvPr>
        </p:nvSpPr>
        <p:spPr/>
        <p:txBody>
          <a:bodyPr/>
          <a:lstStyle/>
          <a:p>
            <a:fld id="{DBA394E5-9C8F-43ED-A778-5375B77EADD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65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3"/>
          <p:cNvSpPr txBox="1">
            <a:spLocks noChangeArrowheads="1"/>
          </p:cNvSpPr>
          <p:nvPr/>
        </p:nvSpPr>
        <p:spPr bwMode="auto">
          <a:xfrm>
            <a:off x="409232" y="1219200"/>
            <a:ext cx="8353768" cy="3120854"/>
          </a:xfrm>
          <a:prstGeom prst="rect">
            <a:avLst/>
          </a:prstGeom>
          <a:noFill/>
          <a:ln w="12700" cap="rnd">
            <a:solidFill>
              <a:srgbClr val="04617B"/>
            </a:solidFill>
            <a:miter lim="800000"/>
            <a:headEnd/>
            <a:tailEnd/>
          </a:ln>
        </p:spPr>
        <p:txBody>
          <a:bodyPr wrap="square">
            <a:spAutoFit/>
          </a:bodyPr>
          <a:lstStyle/>
          <a:p>
            <a:pPr marL="0" marR="0" lvl="0" indent="0" defTabSz="914400" eaLnBrk="0" fontAlgn="base" latinLnBrk="0" hangingPunct="0">
              <a:lnSpc>
                <a:spcPct val="130000"/>
              </a:lnSpc>
              <a:spcBef>
                <a:spcPct val="20000"/>
              </a:spcBef>
              <a:spcAft>
                <a:spcPct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宋体" pitchFamily="2" charset="-122"/>
              </a:rPr>
              <a:t>遍历是二叉树各种操作的基础，可以在遍历过程中对结点进行各种操作：</a:t>
            </a:r>
            <a:br>
              <a:rPr kumimoji="1" lang="zh-CN" altLang="en-US" sz="2400" b="1" i="0" u="none" strike="noStrike" kern="0" cap="none" spc="0" normalizeH="0" baseline="0" noProof="0" dirty="0">
                <a:ln>
                  <a:noFill/>
                </a:ln>
                <a:solidFill>
                  <a:srgbClr val="0000FF"/>
                </a:solidFill>
                <a:effectLst/>
                <a:uLnTx/>
                <a:uFillTx/>
                <a:latin typeface="宋体" pitchFamily="2" charset="-122"/>
              </a:rPr>
            </a:br>
            <a:r>
              <a:rPr kumimoji="1" lang="zh-CN" altLang="en-US" sz="2400" b="1" i="0" u="none" strike="noStrike" kern="0" cap="none" spc="0" normalizeH="0" baseline="0" noProof="0" dirty="0">
                <a:ln>
                  <a:noFill/>
                </a:ln>
                <a:solidFill>
                  <a:srgbClr val="0000FF"/>
                </a:solidFill>
                <a:effectLst/>
                <a:uLnTx/>
                <a:uFillTx/>
                <a:latin typeface="宋体" pitchFamily="2" charset="-122"/>
              </a:rPr>
              <a:t>（1）求结点的双亲、孩子结点、结点的层次；</a:t>
            </a:r>
            <a:br>
              <a:rPr kumimoji="1" lang="zh-CN" altLang="en-US" sz="2400" b="1" i="0" u="none" strike="noStrike" kern="0" cap="none" spc="0" normalizeH="0" baseline="0" noProof="0" dirty="0">
                <a:ln>
                  <a:noFill/>
                </a:ln>
                <a:solidFill>
                  <a:srgbClr val="0000FF"/>
                </a:solidFill>
                <a:effectLst/>
                <a:uLnTx/>
                <a:uFillTx/>
                <a:latin typeface="宋体" pitchFamily="2" charset="-122"/>
              </a:rPr>
            </a:br>
            <a:r>
              <a:rPr kumimoji="1" lang="zh-CN" altLang="en-US" sz="2400" b="1" i="0" u="none" strike="noStrike" kern="0" cap="none" spc="0" normalizeH="0" baseline="0" noProof="0" dirty="0">
                <a:ln>
                  <a:noFill/>
                </a:ln>
                <a:solidFill>
                  <a:srgbClr val="0000FF"/>
                </a:solidFill>
                <a:effectLst/>
                <a:uLnTx/>
                <a:uFillTx/>
                <a:latin typeface="宋体" pitchFamily="2" charset="-122"/>
              </a:rPr>
              <a:t>（2）求孩子结点；</a:t>
            </a:r>
          </a:p>
          <a:p>
            <a:pPr marL="0" marR="0" lvl="0" indent="0" defTabSz="914400" eaLnBrk="0" fontAlgn="base" latinLnBrk="0" hangingPunct="0">
              <a:lnSpc>
                <a:spcPct val="130000"/>
              </a:lnSpc>
              <a:spcBef>
                <a:spcPct val="20000"/>
              </a:spcBef>
              <a:spcAft>
                <a:spcPct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宋体" pitchFamily="2" charset="-122"/>
              </a:rPr>
              <a:t>（3）求结点的层次；</a:t>
            </a:r>
            <a:endParaRPr kumimoji="1" lang="en-US" altLang="zh-CN" sz="2400" b="1" i="0" u="none" strike="noStrike" kern="0" cap="none" spc="0" normalizeH="0" baseline="0" noProof="0" dirty="0">
              <a:ln>
                <a:noFill/>
              </a:ln>
              <a:solidFill>
                <a:srgbClr val="0000FF"/>
              </a:solidFill>
              <a:effectLst/>
              <a:uLnTx/>
              <a:uFillTx/>
              <a:latin typeface="宋体" pitchFamily="2" charset="-122"/>
            </a:endParaRPr>
          </a:p>
          <a:p>
            <a:pPr marL="0" marR="0" lvl="0" indent="0" defTabSz="914400" eaLnBrk="0" fontAlgn="base" latinLnBrk="0" hangingPunct="0">
              <a:lnSpc>
                <a:spcPct val="130000"/>
              </a:lnSpc>
              <a:spcBef>
                <a:spcPct val="20000"/>
              </a:spcBef>
              <a:spcAft>
                <a:spcPct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宋体" pitchFamily="2" charset="-122"/>
              </a:rPr>
              <a:t>（</a:t>
            </a:r>
            <a:r>
              <a:rPr kumimoji="1" lang="en-US" altLang="zh-CN" sz="2400" b="1" i="0" u="none" strike="noStrike" kern="0" cap="none" spc="0" normalizeH="0" baseline="0" noProof="0" dirty="0">
                <a:ln>
                  <a:noFill/>
                </a:ln>
                <a:solidFill>
                  <a:srgbClr val="0000FF"/>
                </a:solidFill>
                <a:effectLst/>
                <a:uLnTx/>
                <a:uFillTx/>
                <a:latin typeface="宋体" pitchFamily="2" charset="-122"/>
              </a:rPr>
              <a:t>4</a:t>
            </a:r>
            <a:r>
              <a:rPr kumimoji="1" lang="zh-CN" altLang="en-US" sz="2400" b="1" i="0" u="none" strike="noStrike" kern="0" cap="none" spc="0" normalizeH="0" baseline="0" noProof="0" dirty="0">
                <a:ln>
                  <a:noFill/>
                </a:ln>
                <a:solidFill>
                  <a:srgbClr val="0000FF"/>
                </a:solidFill>
                <a:effectLst/>
                <a:uLnTx/>
                <a:uFillTx/>
                <a:latin typeface="宋体" pitchFamily="2" charset="-122"/>
              </a:rPr>
              <a:t>）遍历过程中生成结点，建立二叉树；</a:t>
            </a:r>
          </a:p>
        </p:txBody>
      </p:sp>
      <p:sp>
        <p:nvSpPr>
          <p:cNvPr id="14" name="Rectangle 6"/>
          <p:cNvSpPr>
            <a:spLocks noChangeArrowheads="1"/>
          </p:cNvSpPr>
          <p:nvPr/>
        </p:nvSpPr>
        <p:spPr bwMode="auto">
          <a:xfrm>
            <a:off x="1706563" y="4524375"/>
            <a:ext cx="6675437" cy="1800225"/>
          </a:xfrm>
          <a:prstGeom prst="rect">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a:lstStyle/>
          <a:p>
            <a:pPr marL="273050" marR="0" lvl="0" indent="-273050" defTabSz="914400" eaLnBrk="0" fontAlgn="base" latinLnBrk="0" hangingPunct="0">
              <a:lnSpc>
                <a:spcPct val="150000"/>
              </a:lnSpc>
              <a:spcBef>
                <a:spcPct val="20000"/>
              </a:spcBef>
              <a:spcAft>
                <a:spcPct val="0"/>
              </a:spcAft>
              <a:buClr>
                <a:srgbClr val="0BD0D9"/>
              </a:buClr>
              <a:buSzPct val="95000"/>
              <a:buFontTx/>
              <a:buNone/>
              <a:tabLst/>
              <a:defRPr/>
            </a:pPr>
            <a:r>
              <a:rPr kumimoji="0" lang="zh-CN" altLang="en-US" sz="2800" b="1" i="0" u="none" strike="noStrike" kern="0" cap="none" spc="0" normalizeH="0" baseline="0" noProof="0" dirty="0">
                <a:ln>
                  <a:noFill/>
                </a:ln>
                <a:solidFill>
                  <a:srgbClr val="0000FF"/>
                </a:solidFill>
                <a:effectLst/>
                <a:uLnTx/>
                <a:uFillTx/>
                <a:latin typeface="Constantia"/>
                <a:ea typeface="宋体"/>
                <a:cs typeface="+mn-cs"/>
              </a:rPr>
              <a:t>遍历二叉树的过程实质</a:t>
            </a:r>
            <a:r>
              <a:rPr kumimoji="0" lang="zh-CN" altLang="en-US" sz="2800" b="1" i="0" u="none" strike="noStrike" kern="0" cap="none" spc="0" normalizeH="0" baseline="0" noProof="0" dirty="0">
                <a:ln>
                  <a:noFill/>
                </a:ln>
                <a:solidFill>
                  <a:srgbClr val="000000"/>
                </a:solidFill>
                <a:effectLst/>
                <a:uLnTx/>
                <a:uFillTx/>
                <a:latin typeface="Constantia"/>
                <a:ea typeface="宋体"/>
                <a:cs typeface="+mn-cs"/>
              </a:rPr>
              <a:t>是把二叉树</a:t>
            </a:r>
            <a:endParaRPr kumimoji="0" lang="en-US" altLang="zh-CN" sz="2800" b="1" i="0" u="none" strike="noStrike" kern="0" cap="none" spc="0" normalizeH="0" baseline="0" noProof="0" dirty="0">
              <a:ln>
                <a:noFill/>
              </a:ln>
              <a:solidFill>
                <a:srgbClr val="000000"/>
              </a:solidFill>
              <a:effectLst/>
              <a:uLnTx/>
              <a:uFillTx/>
              <a:latin typeface="Constantia"/>
              <a:ea typeface="宋体"/>
              <a:cs typeface="+mn-cs"/>
            </a:endParaRPr>
          </a:p>
          <a:p>
            <a:pPr marL="273050" marR="0" lvl="0" indent="-273050" defTabSz="914400" eaLnBrk="0" fontAlgn="base" latinLnBrk="0" hangingPunct="0">
              <a:lnSpc>
                <a:spcPct val="150000"/>
              </a:lnSpc>
              <a:spcBef>
                <a:spcPct val="20000"/>
              </a:spcBef>
              <a:spcAft>
                <a:spcPct val="0"/>
              </a:spcAft>
              <a:buClr>
                <a:srgbClr val="0BD0D9"/>
              </a:buClr>
              <a:buSzPct val="95000"/>
              <a:buFontTx/>
              <a:buNone/>
              <a:tabLst/>
              <a:defRPr/>
            </a:pPr>
            <a:r>
              <a:rPr kumimoji="0" lang="zh-CN" altLang="en-US" sz="2800" b="1" i="0" u="none" strike="noStrike" kern="0" cap="none" spc="0" normalizeH="0" baseline="0" noProof="0" dirty="0">
                <a:ln>
                  <a:noFill/>
                </a:ln>
                <a:solidFill>
                  <a:srgbClr val="000000"/>
                </a:solidFill>
                <a:effectLst/>
                <a:uLnTx/>
                <a:uFillTx/>
                <a:latin typeface="Constantia"/>
                <a:ea typeface="宋体"/>
                <a:cs typeface="+mn-cs"/>
              </a:rPr>
              <a:t>的结点进行</a:t>
            </a:r>
            <a:r>
              <a:rPr kumimoji="0" lang="zh-CN" altLang="en-US" sz="2800" b="1" i="0" u="none" strike="noStrike" kern="0" cap="none" spc="0" normalizeH="0" baseline="0" noProof="0" dirty="0">
                <a:ln>
                  <a:noFill/>
                </a:ln>
                <a:solidFill>
                  <a:srgbClr val="FF0000"/>
                </a:solidFill>
                <a:effectLst/>
                <a:uLnTx/>
                <a:uFillTx/>
                <a:latin typeface="Constantia"/>
                <a:ea typeface="宋体"/>
                <a:cs typeface="+mn-cs"/>
              </a:rPr>
              <a:t>线性排列</a:t>
            </a:r>
            <a:r>
              <a:rPr kumimoji="0" lang="zh-CN" altLang="en-US" sz="2800" b="1" i="0" u="none" strike="noStrike" kern="0" cap="none" spc="0" normalizeH="0" baseline="0" noProof="0" dirty="0">
                <a:ln>
                  <a:noFill/>
                </a:ln>
                <a:solidFill>
                  <a:srgbClr val="000000"/>
                </a:solidFill>
                <a:effectLst/>
                <a:uLnTx/>
                <a:uFillTx/>
                <a:latin typeface="Constantia"/>
                <a:ea typeface="宋体"/>
                <a:cs typeface="+mn-cs"/>
              </a:rPr>
              <a:t>的过程。</a:t>
            </a:r>
          </a:p>
        </p:txBody>
      </p:sp>
    </p:spTree>
    <p:extLst>
      <p:ext uri="{BB962C8B-B14F-4D97-AF65-F5344CB8AC3E}">
        <p14:creationId xmlns:p14="http://schemas.microsoft.com/office/powerpoint/2010/main" val="1033975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5.4  </a:t>
            </a:r>
            <a:r>
              <a:rPr kumimoji="1" lang="zh-CN" altLang="en-US" sz="3200" b="1" dirty="0">
                <a:latin typeface="Arial" charset="0"/>
                <a:ea typeface="宋体" charset="-122"/>
                <a:cs typeface="+mn-cs"/>
              </a:rPr>
              <a:t>遍历的应用</a:t>
            </a:r>
          </a:p>
        </p:txBody>
      </p:sp>
      <p:sp>
        <p:nvSpPr>
          <p:cNvPr id="3" name="内容占位符 2"/>
          <p:cNvSpPr>
            <a:spLocks noGrp="1"/>
          </p:cNvSpPr>
          <p:nvPr>
            <p:ph idx="1"/>
          </p:nvPr>
        </p:nvSpPr>
        <p:spPr>
          <a:xfrm>
            <a:off x="457200" y="1143000"/>
            <a:ext cx="8229600" cy="5105400"/>
          </a:xfrm>
        </p:spPr>
        <p:txBody>
          <a:bodyPr>
            <a:normAutofit/>
          </a:bodyPr>
          <a:lstStyle/>
          <a:p>
            <a:pPr marL="0" lvl="0" indent="0" fontAlgn="base">
              <a:lnSpc>
                <a:spcPct val="200000"/>
              </a:lnSpc>
              <a:spcBef>
                <a:spcPct val="0"/>
              </a:spcBef>
              <a:spcAft>
                <a:spcPct val="0"/>
              </a:spcAft>
              <a:buNone/>
            </a:pPr>
            <a:r>
              <a:rPr kumimoji="1" lang="zh-CN" altLang="en-US" dirty="0">
                <a:solidFill>
                  <a:srgbClr val="0707F9"/>
                </a:solidFill>
                <a:latin typeface="Times New Roman" pitchFamily="18" charset="0"/>
                <a:ea typeface="宋体" pitchFamily="2" charset="-122"/>
              </a:rPr>
              <a:t> </a:t>
            </a:r>
            <a:r>
              <a:rPr kumimoji="1" lang="en-US" altLang="zh-CN" b="1" dirty="0">
                <a:solidFill>
                  <a:srgbClr val="0707F9"/>
                </a:solidFill>
                <a:latin typeface="Times New Roman" pitchFamily="18" charset="0"/>
                <a:ea typeface="宋体" pitchFamily="2" charset="-122"/>
              </a:rPr>
              <a:t>5.4.1 </a:t>
            </a:r>
            <a:r>
              <a:rPr kumimoji="1" lang="zh-CN" altLang="en-US" b="1" dirty="0">
                <a:solidFill>
                  <a:srgbClr val="0707F9"/>
                </a:solidFill>
                <a:latin typeface="Times New Roman" pitchFamily="18" charset="0"/>
                <a:ea typeface="宋体" pitchFamily="2" charset="-122"/>
              </a:rPr>
              <a:t>遍历的基本应用</a:t>
            </a:r>
          </a:p>
          <a:p>
            <a:pPr marL="0" lvl="0" indent="0" fontAlgn="base">
              <a:lnSpc>
                <a:spcPct val="200000"/>
              </a:lnSpc>
              <a:spcBef>
                <a:spcPct val="0"/>
              </a:spcBef>
              <a:spcAft>
                <a:spcPct val="0"/>
              </a:spcAft>
              <a:buNone/>
            </a:pPr>
            <a:r>
              <a:rPr kumimoji="1" lang="en-US" altLang="zh-CN" b="1" dirty="0">
                <a:solidFill>
                  <a:srgbClr val="0707F9"/>
                </a:solidFill>
                <a:latin typeface="Times New Roman" pitchFamily="18" charset="0"/>
                <a:ea typeface="宋体" pitchFamily="2" charset="-122"/>
              </a:rPr>
              <a:t> 5.4.2 </a:t>
            </a:r>
            <a:r>
              <a:rPr kumimoji="1" lang="zh-CN" altLang="en-US" b="1" dirty="0">
                <a:solidFill>
                  <a:srgbClr val="0707F9"/>
                </a:solidFill>
                <a:latin typeface="Times New Roman" pitchFamily="18" charset="0"/>
                <a:ea typeface="宋体" pitchFamily="2" charset="-122"/>
              </a:rPr>
              <a:t>二叉树的遍历与存储结构的应用</a:t>
            </a:r>
          </a:p>
          <a:p>
            <a:pPr marL="0" lvl="0" indent="0" fontAlgn="base">
              <a:lnSpc>
                <a:spcPct val="200000"/>
              </a:lnSpc>
              <a:spcBef>
                <a:spcPct val="0"/>
              </a:spcBef>
              <a:spcAft>
                <a:spcPct val="0"/>
              </a:spcAft>
              <a:buNone/>
            </a:pPr>
            <a:r>
              <a:rPr kumimoji="1" lang="en-US" altLang="zh-CN" b="1" dirty="0">
                <a:solidFill>
                  <a:srgbClr val="FF3300"/>
                </a:solidFill>
                <a:latin typeface="Times New Roman" pitchFamily="18" charset="0"/>
                <a:ea typeface="宋体" pitchFamily="2" charset="-122"/>
              </a:rPr>
              <a:t> </a:t>
            </a:r>
            <a:r>
              <a:rPr kumimoji="1" lang="en-US" altLang="zh-CN" b="1" dirty="0">
                <a:solidFill>
                  <a:srgbClr val="0000FF"/>
                </a:solidFill>
                <a:latin typeface="Times New Roman" pitchFamily="18" charset="0"/>
                <a:ea typeface="宋体" pitchFamily="2" charset="-122"/>
              </a:rPr>
              <a:t>5.4.3 </a:t>
            </a:r>
            <a:r>
              <a:rPr kumimoji="1" lang="zh-CN" altLang="en-US" b="1" dirty="0">
                <a:solidFill>
                  <a:srgbClr val="0707F9"/>
                </a:solidFill>
                <a:latin typeface="Times New Roman" pitchFamily="18" charset="0"/>
                <a:ea typeface="宋体" pitchFamily="2" charset="-122"/>
              </a:rPr>
              <a:t>二叉树的相似与等价</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2546063E-5001-4BBD-A04F-20060054A62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66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20869518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5.4  </a:t>
            </a:r>
            <a:r>
              <a:rPr kumimoji="1" lang="zh-CN" altLang="en-US" sz="3200" b="1" dirty="0">
                <a:latin typeface="Arial" charset="0"/>
                <a:ea typeface="宋体" charset="-122"/>
                <a:cs typeface="+mn-cs"/>
              </a:rPr>
              <a:t>遍历的应用</a:t>
            </a:r>
          </a:p>
        </p:txBody>
      </p:sp>
      <p:sp>
        <p:nvSpPr>
          <p:cNvPr id="3" name="内容占位符 2"/>
          <p:cNvSpPr>
            <a:spLocks noGrp="1"/>
          </p:cNvSpPr>
          <p:nvPr>
            <p:ph idx="1"/>
          </p:nvPr>
        </p:nvSpPr>
        <p:spPr>
          <a:xfrm>
            <a:off x="457200" y="1143000"/>
            <a:ext cx="8229600" cy="5105400"/>
          </a:xfrm>
        </p:spPr>
        <p:txBody>
          <a:bodyPr>
            <a:normAutofit/>
          </a:bodyPr>
          <a:lstStyle/>
          <a:p>
            <a:pPr marL="0" lvl="0" indent="0" fontAlgn="base">
              <a:lnSpc>
                <a:spcPct val="200000"/>
              </a:lnSpc>
              <a:spcBef>
                <a:spcPct val="0"/>
              </a:spcBef>
              <a:spcAft>
                <a:spcPct val="0"/>
              </a:spcAft>
              <a:buNone/>
            </a:pPr>
            <a:r>
              <a:rPr kumimoji="1" lang="zh-CN" altLang="en-US" dirty="0">
                <a:solidFill>
                  <a:srgbClr val="FF0000"/>
                </a:solidFill>
                <a:latin typeface="Times New Roman" pitchFamily="18" charset="0"/>
                <a:ea typeface="宋体" pitchFamily="2" charset="-122"/>
              </a:rPr>
              <a:t> </a:t>
            </a:r>
            <a:r>
              <a:rPr kumimoji="1" lang="en-US" altLang="zh-CN" b="1" dirty="0">
                <a:solidFill>
                  <a:srgbClr val="FF0000"/>
                </a:solidFill>
                <a:latin typeface="Times New Roman" pitchFamily="18" charset="0"/>
                <a:ea typeface="宋体" pitchFamily="2" charset="-122"/>
              </a:rPr>
              <a:t>5.4.1 </a:t>
            </a:r>
            <a:r>
              <a:rPr kumimoji="1" lang="zh-CN" altLang="en-US" b="1" dirty="0">
                <a:solidFill>
                  <a:srgbClr val="FF0000"/>
                </a:solidFill>
                <a:latin typeface="Times New Roman" pitchFamily="18" charset="0"/>
                <a:ea typeface="宋体" pitchFamily="2" charset="-122"/>
              </a:rPr>
              <a:t>遍历的基本应用</a:t>
            </a:r>
          </a:p>
          <a:p>
            <a:pPr marL="0" lvl="0" indent="0" fontAlgn="base">
              <a:lnSpc>
                <a:spcPct val="200000"/>
              </a:lnSpc>
              <a:spcBef>
                <a:spcPct val="0"/>
              </a:spcBef>
              <a:spcAft>
                <a:spcPct val="0"/>
              </a:spcAft>
              <a:buNone/>
            </a:pPr>
            <a:r>
              <a:rPr kumimoji="1" lang="en-US" altLang="zh-CN" b="1" dirty="0">
                <a:solidFill>
                  <a:srgbClr val="0707F9"/>
                </a:solidFill>
                <a:latin typeface="Times New Roman" pitchFamily="18" charset="0"/>
                <a:ea typeface="宋体" pitchFamily="2" charset="-122"/>
              </a:rPr>
              <a:t> 5.4.2 </a:t>
            </a:r>
            <a:r>
              <a:rPr kumimoji="1" lang="zh-CN" altLang="en-US" b="1" dirty="0">
                <a:solidFill>
                  <a:srgbClr val="0707F9"/>
                </a:solidFill>
                <a:latin typeface="Times New Roman" pitchFamily="18" charset="0"/>
                <a:ea typeface="宋体" pitchFamily="2" charset="-122"/>
              </a:rPr>
              <a:t>二叉树的遍历与存储结构的应用</a:t>
            </a:r>
          </a:p>
          <a:p>
            <a:pPr marL="0" lvl="0" indent="0" fontAlgn="base">
              <a:lnSpc>
                <a:spcPct val="200000"/>
              </a:lnSpc>
              <a:spcBef>
                <a:spcPct val="0"/>
              </a:spcBef>
              <a:spcAft>
                <a:spcPct val="0"/>
              </a:spcAft>
              <a:buNone/>
            </a:pPr>
            <a:r>
              <a:rPr kumimoji="1" lang="en-US" altLang="zh-CN" b="1" dirty="0">
                <a:solidFill>
                  <a:srgbClr val="FF3300"/>
                </a:solidFill>
                <a:latin typeface="Times New Roman" pitchFamily="18" charset="0"/>
                <a:ea typeface="宋体" pitchFamily="2" charset="-122"/>
              </a:rPr>
              <a:t> </a:t>
            </a:r>
            <a:r>
              <a:rPr kumimoji="1" lang="en-US" altLang="zh-CN" b="1" dirty="0">
                <a:solidFill>
                  <a:srgbClr val="0000FF"/>
                </a:solidFill>
                <a:latin typeface="Times New Roman" pitchFamily="18" charset="0"/>
                <a:ea typeface="宋体" pitchFamily="2" charset="-122"/>
              </a:rPr>
              <a:t>5.4.3 </a:t>
            </a:r>
            <a:r>
              <a:rPr kumimoji="1" lang="zh-CN" altLang="en-US" b="1" dirty="0">
                <a:solidFill>
                  <a:srgbClr val="0707F9"/>
                </a:solidFill>
                <a:latin typeface="Times New Roman" pitchFamily="18" charset="0"/>
                <a:ea typeface="宋体" pitchFamily="2" charset="-122"/>
              </a:rPr>
              <a:t>二叉树的相似与等价</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6F25A5E2-C4DF-49C4-8041-AAF92318CC4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67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32404315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5.4.1 </a:t>
            </a:r>
            <a:r>
              <a:rPr kumimoji="1" lang="zh-CN" altLang="en-US" sz="3200" b="1" dirty="0">
                <a:latin typeface="Arial" charset="0"/>
                <a:ea typeface="宋体" charset="-122"/>
                <a:cs typeface="+mn-cs"/>
              </a:rPr>
              <a:t>遍历的基本应用</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二叉树的生成</a:t>
            </a:r>
            <a:endParaRPr lang="en-US" altLang="zh-CN" sz="2800" b="1" dirty="0"/>
          </a:p>
        </p:txBody>
      </p:sp>
      <p:sp>
        <p:nvSpPr>
          <p:cNvPr id="4" name="日期占位符 3"/>
          <p:cNvSpPr>
            <a:spLocks noGrp="1"/>
          </p:cNvSpPr>
          <p:nvPr>
            <p:ph type="dt" sz="half" idx="10"/>
          </p:nvPr>
        </p:nvSpPr>
        <p:spPr/>
        <p:txBody>
          <a:bodyPr/>
          <a:lstStyle/>
          <a:p>
            <a:fld id="{401761A3-5CD6-4D8A-88FA-2225D54A088C}"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68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4"/>
          <p:cNvSpPr>
            <a:spLocks noChangeArrowheads="1"/>
          </p:cNvSpPr>
          <p:nvPr/>
        </p:nvSpPr>
        <p:spPr bwMode="auto">
          <a:xfrm>
            <a:off x="674688" y="1965325"/>
            <a:ext cx="7807325" cy="3978275"/>
          </a:xfrm>
          <a:prstGeom prst="rect">
            <a:avLst/>
          </a:prstGeom>
          <a:noFill/>
          <a:ln w="38100" cmpd="dbl">
            <a:solidFill>
              <a:srgbClr val="0707F9"/>
            </a:solidFill>
            <a:miter lim="800000"/>
            <a:headEnd/>
            <a:tailEnd/>
          </a:ln>
        </p:spPr>
        <p:txBody>
          <a:bodyPr>
            <a:spAutoFit/>
          </a:bodyPr>
          <a:lstStyle/>
          <a:p>
            <a:pPr eaLnBrk="0" fontAlgn="base" hangingPunct="0">
              <a:lnSpc>
                <a:spcPct val="150000"/>
              </a:lnSpc>
              <a:spcBef>
                <a:spcPct val="0"/>
              </a:spcBef>
              <a:spcAft>
                <a:spcPct val="0"/>
              </a:spcAft>
            </a:pPr>
            <a:r>
              <a:rPr kumimoji="1" lang="zh-CN" altLang="en-US" sz="2800" b="1">
                <a:solidFill>
                  <a:srgbClr val="0707F9"/>
                </a:solidFill>
                <a:latin typeface="Times New Roman" pitchFamily="18" charset="0"/>
              </a:rPr>
              <a:t>递归建立二叉树</a:t>
            </a:r>
          </a:p>
          <a:p>
            <a:pPr eaLnBrk="0" fontAlgn="base" hangingPunct="0">
              <a:lnSpc>
                <a:spcPct val="150000"/>
              </a:lnSpc>
              <a:spcBef>
                <a:spcPct val="0"/>
              </a:spcBef>
              <a:spcAft>
                <a:spcPct val="0"/>
              </a:spcAft>
            </a:pPr>
            <a:r>
              <a:rPr kumimoji="1" lang="zh-CN" altLang="en-US" sz="2800" b="1">
                <a:solidFill>
                  <a:srgbClr val="0707F9"/>
                </a:solidFill>
                <a:latin typeface="Times New Roman" pitchFamily="18" charset="0"/>
              </a:rPr>
              <a:t>   我们按</a:t>
            </a:r>
            <a:r>
              <a:rPr kumimoji="1" lang="zh-CN" altLang="en-US" sz="2800" b="1">
                <a:solidFill>
                  <a:srgbClr val="FF0000"/>
                </a:solidFill>
                <a:latin typeface="Times New Roman" pitchFamily="18" charset="0"/>
              </a:rPr>
              <a:t>先序</a:t>
            </a:r>
            <a:r>
              <a:rPr kumimoji="1" lang="zh-CN" altLang="en-US" sz="2800" b="1">
                <a:solidFill>
                  <a:srgbClr val="0707F9"/>
                </a:solidFill>
                <a:latin typeface="Times New Roman" pitchFamily="18" charset="0"/>
              </a:rPr>
              <a:t>递归遍历的思想来建立二叉树。</a:t>
            </a:r>
          </a:p>
          <a:p>
            <a:pPr eaLnBrk="0" fontAlgn="base" hangingPunct="0">
              <a:lnSpc>
                <a:spcPct val="150000"/>
              </a:lnSpc>
              <a:spcBef>
                <a:spcPct val="0"/>
              </a:spcBef>
              <a:spcAft>
                <a:spcPct val="0"/>
              </a:spcAft>
            </a:pPr>
            <a:r>
              <a:rPr kumimoji="1" lang="zh-CN" altLang="en-US" sz="2800" b="1">
                <a:solidFill>
                  <a:srgbClr val="0707F9"/>
                </a:solidFill>
                <a:latin typeface="Times New Roman" pitchFamily="18" charset="0"/>
              </a:rPr>
              <a:t>其建立思想如下：</a:t>
            </a:r>
          </a:p>
          <a:p>
            <a:pPr eaLnBrk="0" fontAlgn="base" hangingPunct="0">
              <a:lnSpc>
                <a:spcPct val="150000"/>
              </a:lnSpc>
              <a:spcBef>
                <a:spcPct val="0"/>
              </a:spcBef>
              <a:spcAft>
                <a:spcPct val="0"/>
              </a:spcAft>
            </a:pPr>
            <a:r>
              <a:rPr kumimoji="1" lang="zh-CN" altLang="en-US" sz="2800" b="1">
                <a:solidFill>
                  <a:srgbClr val="0707F9"/>
                </a:solidFill>
                <a:latin typeface="Times New Roman" pitchFamily="18" charset="0"/>
              </a:rPr>
              <a:t>（</a:t>
            </a:r>
            <a:r>
              <a:rPr kumimoji="1" lang="en-US" altLang="zh-CN" sz="2800" b="1">
                <a:solidFill>
                  <a:srgbClr val="0707F9"/>
                </a:solidFill>
                <a:latin typeface="Times New Roman" pitchFamily="18" charset="0"/>
              </a:rPr>
              <a:t>1</a:t>
            </a:r>
            <a:r>
              <a:rPr kumimoji="1" lang="zh-CN" altLang="en-US" sz="2800" b="1">
                <a:solidFill>
                  <a:srgbClr val="0707F9"/>
                </a:solidFill>
                <a:latin typeface="Times New Roman" pitchFamily="18" charset="0"/>
              </a:rPr>
              <a:t>）建立二叉树的</a:t>
            </a:r>
            <a:r>
              <a:rPr kumimoji="1" lang="zh-CN" altLang="en-US" sz="2800" b="1">
                <a:solidFill>
                  <a:srgbClr val="FF0000"/>
                </a:solidFill>
                <a:latin typeface="Times New Roman" pitchFamily="18" charset="0"/>
              </a:rPr>
              <a:t>根</a:t>
            </a:r>
            <a:r>
              <a:rPr kumimoji="1" lang="zh-CN" altLang="en-US" sz="2800" b="1">
                <a:solidFill>
                  <a:srgbClr val="0707F9"/>
                </a:solidFill>
                <a:latin typeface="Times New Roman" pitchFamily="18" charset="0"/>
              </a:rPr>
              <a:t>结点；</a:t>
            </a:r>
          </a:p>
          <a:p>
            <a:pPr eaLnBrk="0" fontAlgn="base" hangingPunct="0">
              <a:lnSpc>
                <a:spcPct val="150000"/>
              </a:lnSpc>
              <a:spcBef>
                <a:spcPct val="0"/>
              </a:spcBef>
              <a:spcAft>
                <a:spcPct val="0"/>
              </a:spcAft>
            </a:pPr>
            <a:r>
              <a:rPr kumimoji="1" lang="zh-CN" altLang="en-US" sz="2800" b="1">
                <a:solidFill>
                  <a:srgbClr val="0707F9"/>
                </a:solidFill>
                <a:latin typeface="Times New Roman" pitchFamily="18" charset="0"/>
              </a:rPr>
              <a:t>（</a:t>
            </a:r>
            <a:r>
              <a:rPr kumimoji="1" lang="en-US" altLang="zh-CN" sz="2800" b="1">
                <a:solidFill>
                  <a:srgbClr val="0707F9"/>
                </a:solidFill>
                <a:latin typeface="Times New Roman" pitchFamily="18" charset="0"/>
              </a:rPr>
              <a:t>2</a:t>
            </a:r>
            <a:r>
              <a:rPr kumimoji="1" lang="zh-CN" altLang="en-US" sz="2800" b="1">
                <a:solidFill>
                  <a:srgbClr val="0707F9"/>
                </a:solidFill>
                <a:latin typeface="Times New Roman" pitchFamily="18" charset="0"/>
              </a:rPr>
              <a:t>）先序建立二叉树的</a:t>
            </a:r>
            <a:r>
              <a:rPr kumimoji="1" lang="zh-CN" altLang="en-US" sz="2800" b="1">
                <a:solidFill>
                  <a:srgbClr val="FF0000"/>
                </a:solidFill>
                <a:latin typeface="Times New Roman" pitchFamily="18" charset="0"/>
              </a:rPr>
              <a:t>左子树</a:t>
            </a:r>
            <a:r>
              <a:rPr kumimoji="1" lang="zh-CN" altLang="en-US" sz="2800" b="1">
                <a:solidFill>
                  <a:srgbClr val="0707F9"/>
                </a:solidFill>
                <a:latin typeface="Times New Roman" pitchFamily="18" charset="0"/>
              </a:rPr>
              <a:t>；</a:t>
            </a:r>
          </a:p>
          <a:p>
            <a:pPr eaLnBrk="0" fontAlgn="base" hangingPunct="0">
              <a:lnSpc>
                <a:spcPct val="150000"/>
              </a:lnSpc>
              <a:spcBef>
                <a:spcPct val="0"/>
              </a:spcBef>
              <a:spcAft>
                <a:spcPct val="0"/>
              </a:spcAft>
            </a:pPr>
            <a:r>
              <a:rPr kumimoji="1" lang="zh-CN" altLang="en-US" sz="2800" b="1">
                <a:solidFill>
                  <a:srgbClr val="0707F9"/>
                </a:solidFill>
                <a:latin typeface="Times New Roman" pitchFamily="18" charset="0"/>
              </a:rPr>
              <a:t>（</a:t>
            </a:r>
            <a:r>
              <a:rPr kumimoji="1" lang="en-US" altLang="zh-CN" sz="2800" b="1">
                <a:solidFill>
                  <a:srgbClr val="0707F9"/>
                </a:solidFill>
                <a:latin typeface="Times New Roman" pitchFamily="18" charset="0"/>
              </a:rPr>
              <a:t>3</a:t>
            </a:r>
            <a:r>
              <a:rPr kumimoji="1" lang="zh-CN" altLang="en-US" sz="2800" b="1">
                <a:solidFill>
                  <a:srgbClr val="0707F9"/>
                </a:solidFill>
                <a:latin typeface="Times New Roman" pitchFamily="18" charset="0"/>
              </a:rPr>
              <a:t>）先序建立二叉树的</a:t>
            </a:r>
            <a:r>
              <a:rPr kumimoji="1" lang="zh-CN" altLang="en-US" sz="2800" b="1">
                <a:solidFill>
                  <a:srgbClr val="FF0000"/>
                </a:solidFill>
                <a:latin typeface="Times New Roman" pitchFamily="18" charset="0"/>
              </a:rPr>
              <a:t>右子树</a:t>
            </a:r>
            <a:r>
              <a:rPr kumimoji="1" lang="zh-CN" altLang="en-US" sz="2800" b="1">
                <a:solidFill>
                  <a:srgbClr val="0707F9"/>
                </a:solidFill>
                <a:latin typeface="Times New Roman" pitchFamily="18" charset="0"/>
              </a:rPr>
              <a:t>。</a:t>
            </a:r>
          </a:p>
        </p:txBody>
      </p:sp>
    </p:spTree>
    <p:extLst>
      <p:ext uri="{BB962C8B-B14F-4D97-AF65-F5344CB8AC3E}">
        <p14:creationId xmlns:p14="http://schemas.microsoft.com/office/powerpoint/2010/main" val="3564814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5.4.1  </a:t>
            </a:r>
            <a:r>
              <a:rPr kumimoji="1" lang="zh-CN" altLang="en-US" sz="3200" b="1" dirty="0">
                <a:latin typeface="Arial" charset="0"/>
                <a:ea typeface="宋体" charset="-122"/>
                <a:cs typeface="+mn-cs"/>
              </a:rPr>
              <a:t>遍历的基本应用</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二叉树的生成</a:t>
            </a:r>
            <a:endParaRPr lang="en-US" altLang="zh-CN" sz="2800" b="1" dirty="0"/>
          </a:p>
        </p:txBody>
      </p:sp>
      <p:sp>
        <p:nvSpPr>
          <p:cNvPr id="4" name="日期占位符 3"/>
          <p:cNvSpPr>
            <a:spLocks noGrp="1"/>
          </p:cNvSpPr>
          <p:nvPr>
            <p:ph type="dt" sz="half" idx="10"/>
          </p:nvPr>
        </p:nvSpPr>
        <p:spPr/>
        <p:txBody>
          <a:bodyPr/>
          <a:lstStyle/>
          <a:p>
            <a:fld id="{46329EC5-5F53-4F02-8268-F2354729B2AD}"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69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2"/>
          <p:cNvSpPr txBox="1">
            <a:spLocks/>
          </p:cNvSpPr>
          <p:nvPr/>
        </p:nvSpPr>
        <p:spPr bwMode="auto">
          <a:xfrm>
            <a:off x="857250" y="1490662"/>
            <a:ext cx="4032250" cy="566738"/>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lvl1pPr algn="l" rtl="0" eaLnBrk="0" fontAlgn="base" hangingPunct="0">
              <a:spcBef>
                <a:spcPct val="0"/>
              </a:spcBef>
              <a:spcAft>
                <a:spcPct val="0"/>
              </a:spcAft>
              <a:defRPr kumimoji="1" sz="2400" b="1">
                <a:solidFill>
                  <a:srgbClr val="6600CC"/>
                </a:solidFill>
                <a:latin typeface="+mj-lt"/>
                <a:ea typeface="+mj-ea"/>
                <a:cs typeface="+mj-cs"/>
              </a:defRPr>
            </a:lvl1pPr>
            <a:lvl2pPr algn="l" rtl="0" eaLnBrk="0" fontAlgn="base" hangingPunct="0">
              <a:spcBef>
                <a:spcPct val="0"/>
              </a:spcBef>
              <a:spcAft>
                <a:spcPct val="0"/>
              </a:spcAft>
              <a:defRPr kumimoji="1" sz="2400" b="1">
                <a:solidFill>
                  <a:srgbClr val="6600CC"/>
                </a:solidFill>
                <a:latin typeface="Times New Roman" pitchFamily="18" charset="0"/>
                <a:ea typeface="宋体" pitchFamily="2" charset="-122"/>
              </a:defRPr>
            </a:lvl2pPr>
            <a:lvl3pPr algn="l" rtl="0" eaLnBrk="0" fontAlgn="base" hangingPunct="0">
              <a:spcBef>
                <a:spcPct val="0"/>
              </a:spcBef>
              <a:spcAft>
                <a:spcPct val="0"/>
              </a:spcAft>
              <a:defRPr kumimoji="1" sz="2400" b="1">
                <a:solidFill>
                  <a:srgbClr val="6600CC"/>
                </a:solidFill>
                <a:latin typeface="Times New Roman" pitchFamily="18" charset="0"/>
                <a:ea typeface="宋体" pitchFamily="2" charset="-122"/>
              </a:defRPr>
            </a:lvl3pPr>
            <a:lvl4pPr algn="l" rtl="0" eaLnBrk="0" fontAlgn="base" hangingPunct="0">
              <a:spcBef>
                <a:spcPct val="0"/>
              </a:spcBef>
              <a:spcAft>
                <a:spcPct val="0"/>
              </a:spcAft>
              <a:defRPr kumimoji="1" sz="2400" b="1">
                <a:solidFill>
                  <a:srgbClr val="6600CC"/>
                </a:solidFill>
                <a:latin typeface="Times New Roman" pitchFamily="18" charset="0"/>
                <a:ea typeface="宋体" pitchFamily="2" charset="-122"/>
              </a:defRPr>
            </a:lvl4pPr>
            <a:lvl5pPr algn="l" rtl="0" eaLnBrk="0" fontAlgn="base" hangingPunct="0">
              <a:spcBef>
                <a:spcPct val="0"/>
              </a:spcBef>
              <a:spcAft>
                <a:spcPct val="0"/>
              </a:spcAft>
              <a:defRPr kumimoji="1" sz="2400" b="1">
                <a:solidFill>
                  <a:srgbClr val="6600CC"/>
                </a:solidFill>
                <a:latin typeface="Times New Roman" pitchFamily="18" charset="0"/>
                <a:ea typeface="宋体" pitchFamily="2" charset="-122"/>
              </a:defRPr>
            </a:lvl5pPr>
            <a:lvl6pPr marL="457200" algn="l" rtl="0" fontAlgn="base">
              <a:spcBef>
                <a:spcPct val="0"/>
              </a:spcBef>
              <a:spcAft>
                <a:spcPct val="0"/>
              </a:spcAft>
              <a:defRPr kumimoji="1" sz="2400" b="1">
                <a:solidFill>
                  <a:srgbClr val="6600CC"/>
                </a:solidFill>
                <a:latin typeface="Times New Roman" pitchFamily="18" charset="0"/>
                <a:ea typeface="宋体" pitchFamily="2" charset="-122"/>
              </a:defRPr>
            </a:lvl6pPr>
            <a:lvl7pPr marL="914400" algn="l" rtl="0" fontAlgn="base">
              <a:spcBef>
                <a:spcPct val="0"/>
              </a:spcBef>
              <a:spcAft>
                <a:spcPct val="0"/>
              </a:spcAft>
              <a:defRPr kumimoji="1" sz="2400" b="1">
                <a:solidFill>
                  <a:srgbClr val="6600CC"/>
                </a:solidFill>
                <a:latin typeface="Times New Roman" pitchFamily="18" charset="0"/>
                <a:ea typeface="宋体" pitchFamily="2" charset="-122"/>
              </a:defRPr>
            </a:lvl7pPr>
            <a:lvl8pPr marL="1371600" algn="l" rtl="0" fontAlgn="base">
              <a:spcBef>
                <a:spcPct val="0"/>
              </a:spcBef>
              <a:spcAft>
                <a:spcPct val="0"/>
              </a:spcAft>
              <a:defRPr kumimoji="1" sz="2400" b="1">
                <a:solidFill>
                  <a:srgbClr val="6600CC"/>
                </a:solidFill>
                <a:latin typeface="Times New Roman" pitchFamily="18" charset="0"/>
                <a:ea typeface="宋体" pitchFamily="2" charset="-122"/>
              </a:defRPr>
            </a:lvl8pPr>
            <a:lvl9pPr marL="1828800" algn="l" rtl="0" fontAlgn="base">
              <a:spcBef>
                <a:spcPct val="0"/>
              </a:spcBef>
              <a:spcAft>
                <a:spcPct val="0"/>
              </a:spcAft>
              <a:defRPr kumimoji="1" sz="2400" b="1">
                <a:solidFill>
                  <a:srgbClr val="6600CC"/>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a:ea typeface="宋体"/>
                <a:cs typeface="+mj-cs"/>
              </a:rPr>
              <a:t>二叉树的生成的递归算法</a:t>
            </a:r>
            <a:endParaRPr kumimoji="1" lang="zh-CN" altLang="en-US" sz="2400" b="1" i="0" u="none" strike="noStrike" kern="0" cap="none" spc="0" normalizeH="0" baseline="0" noProof="0" dirty="0">
              <a:ln>
                <a:noFill/>
              </a:ln>
              <a:solidFill>
                <a:srgbClr val="000000"/>
              </a:solidFill>
              <a:effectLst/>
              <a:uLnTx/>
              <a:uFillTx/>
              <a:latin typeface="Times New Roman"/>
              <a:ea typeface="宋体"/>
              <a:cs typeface="+mj-cs"/>
            </a:endParaRPr>
          </a:p>
        </p:txBody>
      </p:sp>
      <p:sp>
        <p:nvSpPr>
          <p:cNvPr id="14" name="Rectangle 3"/>
          <p:cNvSpPr txBox="1">
            <a:spLocks/>
          </p:cNvSpPr>
          <p:nvPr/>
        </p:nvSpPr>
        <p:spPr bwMode="auto">
          <a:xfrm>
            <a:off x="928688" y="2206625"/>
            <a:ext cx="7605712" cy="4117975"/>
          </a:xfrm>
          <a:prstGeom prst="rect">
            <a:avLst/>
          </a:prstGeom>
          <a:noFill/>
          <a:ln w="9525">
            <a:solidFill>
              <a:srgbClr val="0000FF"/>
            </a:solid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Clr>
                <a:srgbClr val="0BD0D9"/>
              </a:buClr>
              <a:buSzPct val="95000"/>
              <a:buFont typeface="Wingdings 2" pitchFamily="18" charset="2"/>
              <a:buNone/>
              <a:defRPr sz="2800">
                <a:solidFill>
                  <a:schemeClr val="tx1"/>
                </a:solidFill>
                <a:latin typeface="+mn-lt"/>
                <a:ea typeface="+mn-ea"/>
                <a:cs typeface="+mn-cs"/>
              </a:defRPr>
            </a:lvl1pPr>
            <a:lvl2pPr marL="457200" indent="0" algn="ctr" rtl="0" eaLnBrk="0" fontAlgn="base" hangingPunct="0">
              <a:spcBef>
                <a:spcPct val="20000"/>
              </a:spcBef>
              <a:spcAft>
                <a:spcPct val="0"/>
              </a:spcAft>
              <a:buClr>
                <a:schemeClr val="accent1"/>
              </a:buClr>
              <a:buSzPct val="85000"/>
              <a:buFont typeface="Wingdings 2" pitchFamily="18" charset="2"/>
              <a:buNone/>
              <a:defRPr sz="2800">
                <a:solidFill>
                  <a:schemeClr val="tx1"/>
                </a:solidFill>
                <a:latin typeface="+mn-lt"/>
                <a:ea typeface="+mn-ea"/>
              </a:defRPr>
            </a:lvl2pPr>
            <a:lvl3pPr marL="914400" indent="0" algn="ctr" rtl="0" eaLnBrk="0" fontAlgn="base" hangingPunct="0">
              <a:spcBef>
                <a:spcPct val="20000"/>
              </a:spcBef>
              <a:spcAft>
                <a:spcPct val="0"/>
              </a:spcAft>
              <a:buClr>
                <a:schemeClr val="accent2"/>
              </a:buClr>
              <a:buSzPct val="70000"/>
              <a:buFont typeface="Wingdings 2" pitchFamily="18" charset="2"/>
              <a:buNone/>
              <a:defRPr sz="2800">
                <a:solidFill>
                  <a:schemeClr val="tx1"/>
                </a:solidFill>
                <a:latin typeface="+mn-lt"/>
                <a:ea typeface="+mn-ea"/>
              </a:defRPr>
            </a:lvl3pPr>
            <a:lvl4pPr marL="1371600" indent="0" algn="ctr" rtl="0" eaLnBrk="0" fontAlgn="base" hangingPunct="0">
              <a:spcBef>
                <a:spcPct val="20000"/>
              </a:spcBef>
              <a:spcAft>
                <a:spcPct val="0"/>
              </a:spcAft>
              <a:buClr>
                <a:srgbClr val="0BD0D9"/>
              </a:buClr>
              <a:buSzPct val="65000"/>
              <a:buFont typeface="Wingdings 2" pitchFamily="18" charset="2"/>
              <a:buNone/>
              <a:defRPr sz="2800">
                <a:solidFill>
                  <a:schemeClr val="tx1"/>
                </a:solidFill>
                <a:latin typeface="+mn-lt"/>
                <a:ea typeface="+mn-ea"/>
              </a:defRPr>
            </a:lvl4pPr>
            <a:lvl5pPr marL="1828800" indent="0" algn="ctr" rtl="0" eaLnBrk="0" fontAlgn="base" hangingPunct="0">
              <a:spcBef>
                <a:spcPct val="20000"/>
              </a:spcBef>
              <a:spcAft>
                <a:spcPct val="0"/>
              </a:spcAft>
              <a:buClr>
                <a:srgbClr val="10CF9B"/>
              </a:buClr>
              <a:buSzPct val="65000"/>
              <a:buFont typeface="Wingdings 2" pitchFamily="18" charset="2"/>
              <a:buNone/>
              <a:defRPr sz="2800">
                <a:solidFill>
                  <a:schemeClr val="tx1"/>
                </a:solidFill>
                <a:latin typeface="+mn-lt"/>
                <a:ea typeface="+mn-ea"/>
              </a:defRPr>
            </a:lvl5pPr>
            <a:lvl6pPr marL="2286000" indent="0" algn="ctr" rtl="0" fontAlgn="base">
              <a:spcBef>
                <a:spcPct val="20000"/>
              </a:spcBef>
              <a:spcAft>
                <a:spcPct val="0"/>
              </a:spcAft>
              <a:buClr>
                <a:srgbClr val="10CF9B"/>
              </a:buClr>
              <a:buSzPct val="65000"/>
              <a:buFont typeface="Wingdings 2" pitchFamily="18" charset="2"/>
              <a:buNone/>
              <a:defRPr sz="2800">
                <a:solidFill>
                  <a:schemeClr val="tx1"/>
                </a:solidFill>
                <a:latin typeface="+mn-lt"/>
                <a:ea typeface="+mn-ea"/>
              </a:defRPr>
            </a:lvl6pPr>
            <a:lvl7pPr marL="2743200" indent="0" algn="ctr" rtl="0" fontAlgn="base">
              <a:spcBef>
                <a:spcPct val="20000"/>
              </a:spcBef>
              <a:spcAft>
                <a:spcPct val="0"/>
              </a:spcAft>
              <a:buClr>
                <a:srgbClr val="10CF9B"/>
              </a:buClr>
              <a:buSzPct val="65000"/>
              <a:buFont typeface="Wingdings 2" pitchFamily="18" charset="2"/>
              <a:buNone/>
              <a:defRPr sz="2800">
                <a:solidFill>
                  <a:schemeClr val="tx1"/>
                </a:solidFill>
                <a:latin typeface="+mn-lt"/>
                <a:ea typeface="+mn-ea"/>
              </a:defRPr>
            </a:lvl7pPr>
            <a:lvl8pPr marL="3200400" indent="0" algn="ctr" rtl="0" fontAlgn="base">
              <a:spcBef>
                <a:spcPct val="20000"/>
              </a:spcBef>
              <a:spcAft>
                <a:spcPct val="0"/>
              </a:spcAft>
              <a:buClr>
                <a:srgbClr val="10CF9B"/>
              </a:buClr>
              <a:buSzPct val="65000"/>
              <a:buFont typeface="Wingdings 2" pitchFamily="18" charset="2"/>
              <a:buNone/>
              <a:defRPr sz="2800">
                <a:solidFill>
                  <a:schemeClr val="tx1"/>
                </a:solidFill>
                <a:latin typeface="+mn-lt"/>
                <a:ea typeface="+mn-ea"/>
              </a:defRPr>
            </a:lvl8pPr>
            <a:lvl9pPr marL="3657600" indent="0" algn="ctr" rtl="0" fontAlgn="base">
              <a:spcBef>
                <a:spcPct val="20000"/>
              </a:spcBef>
              <a:spcAft>
                <a:spcPct val="0"/>
              </a:spcAft>
              <a:buClr>
                <a:srgbClr val="10CF9B"/>
              </a:buClr>
              <a:buSzPct val="65000"/>
              <a:buFont typeface="Wingdings 2" pitchFamily="18" charset="2"/>
              <a:buNone/>
              <a:defRPr sz="2800">
                <a:solidFill>
                  <a:schemeClr val="tx1"/>
                </a:solidFill>
                <a:latin typeface="+mn-lt"/>
                <a:ea typeface="+mn-ea"/>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a:ln>
                  <a:noFill/>
                </a:ln>
                <a:solidFill>
                  <a:srgbClr val="0000FF"/>
                </a:solidFill>
                <a:effectLst/>
                <a:uLnTx/>
                <a:uFillTx/>
                <a:latin typeface="Times New Roman"/>
                <a:ea typeface="宋体"/>
                <a:cs typeface="+mn-cs"/>
              </a:rPr>
              <a:t>bitree *creat()</a:t>
            </a: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a:ln>
                  <a:noFill/>
                </a:ln>
                <a:solidFill>
                  <a:srgbClr val="0000FF"/>
                </a:solidFill>
                <a:effectLst/>
                <a:uLnTx/>
                <a:uFillTx/>
                <a:latin typeface="Times New Roman"/>
                <a:ea typeface="宋体"/>
                <a:cs typeface="+mn-cs"/>
              </a:rPr>
              <a:t>{</a:t>
            </a: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a:ln>
                  <a:noFill/>
                </a:ln>
                <a:solidFill>
                  <a:srgbClr val="0000FF"/>
                </a:solidFill>
                <a:effectLst/>
                <a:uLnTx/>
                <a:uFillTx/>
                <a:latin typeface="Times New Roman"/>
                <a:ea typeface="宋体"/>
                <a:cs typeface="+mn-cs"/>
              </a:rPr>
              <a:t>   bitree *t;</a:t>
            </a: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a:ln>
                  <a:noFill/>
                </a:ln>
                <a:solidFill>
                  <a:srgbClr val="0000FF"/>
                </a:solidFill>
                <a:effectLst/>
                <a:uLnTx/>
                <a:uFillTx/>
                <a:latin typeface="Times New Roman"/>
                <a:ea typeface="宋体"/>
                <a:cs typeface="+mn-cs"/>
              </a:rPr>
              <a:t>   t=(bitree*)malloc(sizeof(bitree));</a:t>
            </a: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a:ln>
                  <a:noFill/>
                </a:ln>
                <a:solidFill>
                  <a:srgbClr val="FF0000"/>
                </a:solidFill>
                <a:effectLst/>
                <a:uLnTx/>
                <a:uFillTx/>
                <a:latin typeface="Times New Roman"/>
                <a:ea typeface="宋体"/>
                <a:cs typeface="+mn-cs"/>
              </a:rPr>
              <a:t>   t-&gt;data=x;</a:t>
            </a: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a:ln>
                  <a:noFill/>
                </a:ln>
                <a:solidFill>
                  <a:srgbClr val="FF0000"/>
                </a:solidFill>
                <a:effectLst/>
                <a:uLnTx/>
                <a:uFillTx/>
                <a:latin typeface="Times New Roman"/>
                <a:ea typeface="宋体"/>
                <a:cs typeface="+mn-cs"/>
              </a:rPr>
              <a:t>   t-&gt;lch=creat();</a:t>
            </a: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a:ln>
                  <a:noFill/>
                </a:ln>
                <a:solidFill>
                  <a:srgbClr val="FF0000"/>
                </a:solidFill>
                <a:effectLst/>
                <a:uLnTx/>
                <a:uFillTx/>
                <a:latin typeface="Times New Roman"/>
                <a:ea typeface="宋体"/>
                <a:cs typeface="+mn-cs"/>
              </a:rPr>
              <a:t>   t-&gt;rch=creat();</a:t>
            </a: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a:ln>
                  <a:noFill/>
                </a:ln>
                <a:solidFill>
                  <a:srgbClr val="0000FF"/>
                </a:solidFill>
                <a:effectLst/>
                <a:uLnTx/>
                <a:uFillTx/>
                <a:latin typeface="Times New Roman"/>
                <a:ea typeface="宋体"/>
                <a:cs typeface="+mn-cs"/>
              </a:rPr>
              <a:t>   return t;</a:t>
            </a: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a:ln>
                  <a:noFill/>
                </a:ln>
                <a:solidFill>
                  <a:srgbClr val="0000FF"/>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00FF"/>
              </a:solidFill>
              <a:effectLst/>
              <a:uLnTx/>
              <a:uFillTx/>
              <a:latin typeface="Times New Roman"/>
              <a:ea typeface="宋体"/>
              <a:cs typeface="+mn-cs"/>
            </a:endParaRPr>
          </a:p>
        </p:txBody>
      </p:sp>
    </p:spTree>
    <p:extLst>
      <p:ext uri="{BB962C8B-B14F-4D97-AF65-F5344CB8AC3E}">
        <p14:creationId xmlns:p14="http://schemas.microsoft.com/office/powerpoint/2010/main" val="3409249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5.4.1  </a:t>
            </a:r>
            <a:r>
              <a:rPr kumimoji="1" lang="zh-CN" altLang="en-US" sz="3200" b="1" dirty="0">
                <a:latin typeface="Arial" charset="0"/>
                <a:ea typeface="宋体" charset="-122"/>
                <a:cs typeface="+mn-cs"/>
              </a:rPr>
              <a:t>遍历的基本应用</a:t>
            </a:r>
          </a:p>
        </p:txBody>
      </p:sp>
      <p:sp>
        <p:nvSpPr>
          <p:cNvPr id="3" name="内容占位符 2"/>
          <p:cNvSpPr>
            <a:spLocks noGrp="1"/>
          </p:cNvSpPr>
          <p:nvPr>
            <p:ph idx="1"/>
          </p:nvPr>
        </p:nvSpPr>
        <p:spPr>
          <a:xfrm>
            <a:off x="457200" y="1143000"/>
            <a:ext cx="8229600" cy="5105400"/>
          </a:xfrm>
        </p:spPr>
        <p:txBody>
          <a:bodyPr>
            <a:normAutofit/>
          </a:bodyPr>
          <a:lstStyle/>
          <a:p>
            <a:pPr marL="457200" lvl="1" indent="0">
              <a:lnSpc>
                <a:spcPts val="3600"/>
              </a:lnSpc>
              <a:buNone/>
            </a:pPr>
            <a:endParaRPr lang="en-US" altLang="zh-CN" sz="2400" b="1" dirty="0"/>
          </a:p>
        </p:txBody>
      </p:sp>
      <p:sp>
        <p:nvSpPr>
          <p:cNvPr id="4" name="日期占位符 3"/>
          <p:cNvSpPr>
            <a:spLocks noGrp="1"/>
          </p:cNvSpPr>
          <p:nvPr>
            <p:ph type="dt" sz="half" idx="10"/>
          </p:nvPr>
        </p:nvSpPr>
        <p:spPr/>
        <p:txBody>
          <a:bodyPr/>
          <a:lstStyle/>
          <a:p>
            <a:fld id="{176FC1F2-DC5C-4F7A-8A23-E1416B1B519C}"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70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4" name="Text Box 4"/>
          <p:cNvSpPr txBox="1">
            <a:spLocks noChangeArrowheads="1"/>
          </p:cNvSpPr>
          <p:nvPr/>
        </p:nvSpPr>
        <p:spPr bwMode="auto">
          <a:xfrm>
            <a:off x="441325" y="1168400"/>
            <a:ext cx="8245475" cy="1196975"/>
          </a:xfrm>
          <a:prstGeom prst="rect">
            <a:avLst/>
          </a:prstGeom>
          <a:noFill/>
          <a:ln w="9525">
            <a:solidFill>
              <a:srgbClr val="04617B"/>
            </a:solidFill>
            <a:miter lim="800000"/>
            <a:headEnd/>
            <a:tailEnd/>
          </a:ln>
        </p:spPr>
        <p:txBody>
          <a:bodyPr wrap="square">
            <a:spAutoFit/>
          </a:bodyPr>
          <a:lstStyle/>
          <a:p>
            <a:pPr marL="0" marR="0" lvl="0" indent="0" defTabSz="914400" eaLnBrk="1" fontAlgn="base" latinLnBrk="0" hangingPunct="1">
              <a:lnSpc>
                <a:spcPct val="100000"/>
              </a:lnSpc>
              <a:spcBef>
                <a:spcPct val="0"/>
              </a:spcBef>
              <a:spcAft>
                <a:spcPct val="0"/>
              </a:spcAft>
              <a:buClrTx/>
              <a:buSzTx/>
              <a:buFont typeface="Wingdings" pitchFamily="2" charset="2"/>
              <a:buChar char="p"/>
              <a:tabLst/>
              <a:defRPr/>
            </a:pPr>
            <a:r>
              <a:rPr kumimoji="1" lang="zh-CN" altLang="en-US" sz="2400" b="1" i="0" u="none" strike="noStrike" kern="0" cap="none" spc="0" normalizeH="0" baseline="0" noProof="0" dirty="0">
                <a:ln>
                  <a:noFill/>
                </a:ln>
                <a:solidFill>
                  <a:srgbClr val="6600CC"/>
                </a:solidFill>
                <a:effectLst/>
                <a:uLnTx/>
                <a:uFillTx/>
                <a:latin typeface="宋体" pitchFamily="2" charset="-122"/>
              </a:rPr>
              <a:t> 求二叉树的叶子数。</a:t>
            </a:r>
          </a:p>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宋体" pitchFamily="2" charset="-122"/>
              </a:rPr>
              <a:t>算法思想：采用任何遍历方法，遍历时判断访问的结点是不是叶子，若是则叶子数加</a:t>
            </a:r>
            <a:r>
              <a:rPr kumimoji="1" lang="en-US" altLang="zh-CN" sz="2400" b="1" i="0" u="none" strike="noStrike" kern="0" cap="none" spc="0" normalizeH="0" baseline="0" noProof="0" dirty="0">
                <a:ln>
                  <a:noFill/>
                </a:ln>
                <a:solidFill>
                  <a:srgbClr val="000000"/>
                </a:solidFill>
                <a:effectLst/>
                <a:uLnTx/>
                <a:uFillTx/>
                <a:latin typeface="宋体" pitchFamily="2" charset="-122"/>
              </a:rPr>
              <a:t>1</a:t>
            </a:r>
            <a:r>
              <a:rPr kumimoji="1" lang="zh-CN" altLang="en-US" sz="2400" b="1" i="0" u="none" strike="noStrike" kern="0" cap="none" spc="0" normalizeH="0" baseline="0" noProof="0" dirty="0">
                <a:ln>
                  <a:noFill/>
                </a:ln>
                <a:solidFill>
                  <a:srgbClr val="000000"/>
                </a:solidFill>
                <a:effectLst/>
                <a:uLnTx/>
                <a:uFillTx/>
                <a:latin typeface="宋体" pitchFamily="2" charset="-122"/>
              </a:rPr>
              <a:t>。</a:t>
            </a:r>
          </a:p>
        </p:txBody>
      </p:sp>
      <p:sp>
        <p:nvSpPr>
          <p:cNvPr id="15" name="Text Box 5"/>
          <p:cNvSpPr txBox="1">
            <a:spLocks noChangeArrowheads="1"/>
          </p:cNvSpPr>
          <p:nvPr/>
        </p:nvSpPr>
        <p:spPr bwMode="auto">
          <a:xfrm>
            <a:off x="455612" y="2438400"/>
            <a:ext cx="9145588" cy="3970318"/>
          </a:xfrm>
          <a:prstGeom prst="rect">
            <a:avLst/>
          </a:prstGeom>
          <a:noFill/>
          <a:ln w="9525">
            <a:noFill/>
            <a:miter lim="800000"/>
            <a:headEnd/>
            <a:tailEnd/>
          </a:ln>
        </p:spPr>
        <p:txBody>
          <a:bodyPr>
            <a:spAutoFit/>
          </a:bodyPr>
          <a:lstStyle/>
          <a:p>
            <a:pPr fontAlgn="base">
              <a:spcBef>
                <a:spcPct val="0"/>
              </a:spcBef>
              <a:spcAft>
                <a:spcPct val="0"/>
              </a:spcAft>
            </a:pPr>
            <a:r>
              <a:rPr kumimoji="1" lang="en-US" altLang="zh-CN" sz="2800" b="1" dirty="0" err="1">
                <a:solidFill>
                  <a:srgbClr val="0000FF"/>
                </a:solidFill>
                <a:latin typeface="Times New Roman" pitchFamily="18" charset="0"/>
              </a:rPr>
              <a:t>int</a:t>
            </a:r>
            <a:r>
              <a:rPr kumimoji="1" lang="en-US" altLang="zh-CN" sz="2800" b="1" dirty="0">
                <a:solidFill>
                  <a:srgbClr val="0000FF"/>
                </a:solidFill>
                <a:latin typeface="Times New Roman" pitchFamily="18" charset="0"/>
              </a:rPr>
              <a:t> </a:t>
            </a:r>
            <a:r>
              <a:rPr kumimoji="1" lang="en-US" altLang="zh-CN" sz="2800" b="1" dirty="0" err="1">
                <a:solidFill>
                  <a:srgbClr val="0000FF"/>
                </a:solidFill>
                <a:latin typeface="Times New Roman" pitchFamily="18" charset="0"/>
              </a:rPr>
              <a:t>countleaf</a:t>
            </a:r>
            <a:r>
              <a:rPr kumimoji="1" lang="en-US" altLang="zh-CN" sz="2800" b="1" dirty="0">
                <a:solidFill>
                  <a:srgbClr val="0000FF"/>
                </a:solidFill>
                <a:latin typeface="Times New Roman" pitchFamily="18" charset="0"/>
              </a:rPr>
              <a:t>(</a:t>
            </a:r>
            <a:r>
              <a:rPr kumimoji="1" lang="en-US" altLang="zh-CN" sz="2800" b="1" dirty="0" err="1">
                <a:solidFill>
                  <a:srgbClr val="0000FF"/>
                </a:solidFill>
                <a:latin typeface="Times New Roman" pitchFamily="18" charset="0"/>
              </a:rPr>
              <a:t>bitree</a:t>
            </a:r>
            <a:r>
              <a:rPr kumimoji="1" lang="en-US" altLang="zh-CN" sz="2800" b="1" dirty="0">
                <a:solidFill>
                  <a:srgbClr val="0000FF"/>
                </a:solidFill>
                <a:latin typeface="Times New Roman" pitchFamily="18" charset="0"/>
              </a:rPr>
              <a:t> t ,</a:t>
            </a:r>
            <a:r>
              <a:rPr kumimoji="1" lang="en-US" altLang="zh-CN" sz="2800" b="1" dirty="0" err="1">
                <a:solidFill>
                  <a:srgbClr val="0000FF"/>
                </a:solidFill>
                <a:latin typeface="Times New Roman" pitchFamily="18" charset="0"/>
              </a:rPr>
              <a:t>int</a:t>
            </a:r>
            <a:r>
              <a:rPr kumimoji="1" lang="en-US" altLang="zh-CN" sz="2800" b="1" dirty="0">
                <a:solidFill>
                  <a:srgbClr val="0000FF"/>
                </a:solidFill>
                <a:latin typeface="Times New Roman" pitchFamily="18" charset="0"/>
              </a:rPr>
              <a:t> </a:t>
            </a:r>
            <a:r>
              <a:rPr kumimoji="1" lang="en-US" altLang="zh-CN" sz="2800" b="1" dirty="0" err="1">
                <a:solidFill>
                  <a:srgbClr val="0000FF"/>
                </a:solidFill>
                <a:latin typeface="Times New Roman" pitchFamily="18" charset="0"/>
              </a:rPr>
              <a:t>num</a:t>
            </a:r>
            <a:r>
              <a:rPr kumimoji="1" lang="en-US" altLang="zh-CN" sz="2800" b="1" dirty="0">
                <a:solidFill>
                  <a:srgbClr val="0000FF"/>
                </a:solidFill>
                <a:latin typeface="Times New Roman" pitchFamily="18" charset="0"/>
              </a:rPr>
              <a:t>)</a:t>
            </a:r>
          </a:p>
          <a:p>
            <a:pPr fontAlgn="base">
              <a:spcBef>
                <a:spcPct val="0"/>
              </a:spcBef>
              <a:spcAft>
                <a:spcPct val="0"/>
              </a:spcAft>
            </a:pPr>
            <a:r>
              <a:rPr kumimoji="1" lang="en-US" altLang="zh-CN" sz="2800" b="1" dirty="0">
                <a:solidFill>
                  <a:srgbClr val="0000FF"/>
                </a:solidFill>
                <a:latin typeface="Times New Roman" pitchFamily="18" charset="0"/>
              </a:rPr>
              <a:t>{ if(t!=NULL)</a:t>
            </a:r>
          </a:p>
          <a:p>
            <a:pPr fontAlgn="base">
              <a:spcBef>
                <a:spcPct val="0"/>
              </a:spcBef>
              <a:spcAft>
                <a:spcPct val="0"/>
              </a:spcAft>
            </a:pPr>
            <a:r>
              <a:rPr kumimoji="1" lang="en-US" altLang="zh-CN" sz="2800" b="1" dirty="0">
                <a:solidFill>
                  <a:srgbClr val="0000FF"/>
                </a:solidFill>
                <a:latin typeface="Times New Roman" pitchFamily="18" charset="0"/>
              </a:rPr>
              <a:t>  {if</a:t>
            </a:r>
            <a:r>
              <a:rPr kumimoji="1" lang="en-US" altLang="zh-CN" sz="2800" b="1" dirty="0">
                <a:solidFill>
                  <a:srgbClr val="F81908"/>
                </a:solidFill>
                <a:latin typeface="Times New Roman" pitchFamily="18" charset="0"/>
              </a:rPr>
              <a:t>((t-&gt;</a:t>
            </a:r>
            <a:r>
              <a:rPr kumimoji="1" lang="en-US" altLang="zh-CN" sz="2800" b="1" dirty="0" err="1">
                <a:solidFill>
                  <a:srgbClr val="F81908"/>
                </a:solidFill>
                <a:latin typeface="Times New Roman" pitchFamily="18" charset="0"/>
              </a:rPr>
              <a:t>lch</a:t>
            </a:r>
            <a:r>
              <a:rPr kumimoji="1" lang="en-US" altLang="zh-CN" sz="2800" b="1" dirty="0">
                <a:solidFill>
                  <a:srgbClr val="F81908"/>
                </a:solidFill>
                <a:latin typeface="Times New Roman" pitchFamily="18" charset="0"/>
              </a:rPr>
              <a:t>==NULL) &amp;&amp;(t- &gt;</a:t>
            </a:r>
            <a:r>
              <a:rPr kumimoji="1" lang="en-US" altLang="zh-CN" sz="2800" b="1" dirty="0" err="1">
                <a:solidFill>
                  <a:srgbClr val="F81908"/>
                </a:solidFill>
                <a:latin typeface="Times New Roman" pitchFamily="18" charset="0"/>
              </a:rPr>
              <a:t>rch</a:t>
            </a:r>
            <a:r>
              <a:rPr kumimoji="1" lang="en-US" altLang="zh-CN" sz="2800" b="1" dirty="0">
                <a:solidFill>
                  <a:srgbClr val="F81908"/>
                </a:solidFill>
                <a:latin typeface="Times New Roman" pitchFamily="18" charset="0"/>
              </a:rPr>
              <a:t>)==NULL)) </a:t>
            </a:r>
          </a:p>
          <a:p>
            <a:pPr fontAlgn="base">
              <a:spcBef>
                <a:spcPct val="0"/>
              </a:spcBef>
              <a:spcAft>
                <a:spcPct val="0"/>
              </a:spcAft>
            </a:pPr>
            <a:r>
              <a:rPr kumimoji="1" lang="en-US" altLang="zh-CN" sz="2800" b="1" dirty="0">
                <a:solidFill>
                  <a:srgbClr val="F81908"/>
                </a:solidFill>
                <a:latin typeface="Times New Roman" pitchFamily="18" charset="0"/>
              </a:rPr>
              <a:t>        </a:t>
            </a:r>
            <a:r>
              <a:rPr kumimoji="1" lang="en-US" altLang="zh-CN" sz="2800" b="1" dirty="0" err="1">
                <a:solidFill>
                  <a:srgbClr val="F81908"/>
                </a:solidFill>
                <a:latin typeface="Times New Roman" pitchFamily="18" charset="0"/>
              </a:rPr>
              <a:t>num</a:t>
            </a:r>
            <a:r>
              <a:rPr kumimoji="1" lang="en-US" altLang="zh-CN" sz="2800" b="1" dirty="0">
                <a:solidFill>
                  <a:srgbClr val="F81908"/>
                </a:solidFill>
                <a:latin typeface="Times New Roman" pitchFamily="18" charset="0"/>
              </a:rPr>
              <a:t>++;</a:t>
            </a:r>
          </a:p>
          <a:p>
            <a:pPr fontAlgn="base">
              <a:spcBef>
                <a:spcPct val="0"/>
              </a:spcBef>
              <a:spcAft>
                <a:spcPct val="0"/>
              </a:spcAft>
            </a:pPr>
            <a:r>
              <a:rPr kumimoji="1" lang="en-US" altLang="zh-CN" sz="2800" b="1" dirty="0">
                <a:solidFill>
                  <a:srgbClr val="0000FF"/>
                </a:solidFill>
                <a:latin typeface="Times New Roman" pitchFamily="18" charset="0"/>
              </a:rPr>
              <a:t>   </a:t>
            </a:r>
            <a:r>
              <a:rPr kumimoji="1" lang="en-US" altLang="zh-CN" sz="2800" b="1" dirty="0" err="1">
                <a:solidFill>
                  <a:srgbClr val="FF3300"/>
                </a:solidFill>
                <a:latin typeface="Times New Roman" pitchFamily="18" charset="0"/>
              </a:rPr>
              <a:t>num</a:t>
            </a:r>
            <a:r>
              <a:rPr kumimoji="1" lang="en-US" altLang="zh-CN" sz="2800" b="1" dirty="0">
                <a:solidFill>
                  <a:srgbClr val="FF3300"/>
                </a:solidFill>
                <a:latin typeface="Times New Roman" pitchFamily="18" charset="0"/>
              </a:rPr>
              <a:t>=</a:t>
            </a:r>
            <a:r>
              <a:rPr kumimoji="1" lang="en-US" altLang="zh-CN" sz="2800" b="1" dirty="0" err="1">
                <a:solidFill>
                  <a:srgbClr val="FF3300"/>
                </a:solidFill>
                <a:latin typeface="Times New Roman" pitchFamily="18" charset="0"/>
              </a:rPr>
              <a:t>countleaf</a:t>
            </a:r>
            <a:r>
              <a:rPr kumimoji="1" lang="en-US" altLang="zh-CN" sz="2800" b="1" dirty="0">
                <a:solidFill>
                  <a:srgbClr val="FF3300"/>
                </a:solidFill>
                <a:latin typeface="Times New Roman" pitchFamily="18" charset="0"/>
              </a:rPr>
              <a:t>(t-&gt;</a:t>
            </a:r>
            <a:r>
              <a:rPr kumimoji="1" lang="en-US" altLang="zh-CN" sz="2800" b="1" dirty="0" err="1">
                <a:solidFill>
                  <a:srgbClr val="FF3300"/>
                </a:solidFill>
                <a:latin typeface="Times New Roman" pitchFamily="18" charset="0"/>
              </a:rPr>
              <a:t>lch,num</a:t>
            </a:r>
            <a:r>
              <a:rPr kumimoji="1" lang="en-US" altLang="zh-CN" sz="2800" b="1" dirty="0">
                <a:solidFill>
                  <a:srgbClr val="FF3300"/>
                </a:solidFill>
                <a:latin typeface="Times New Roman" pitchFamily="18" charset="0"/>
              </a:rPr>
              <a:t>);</a:t>
            </a:r>
          </a:p>
          <a:p>
            <a:pPr fontAlgn="base">
              <a:spcBef>
                <a:spcPct val="0"/>
              </a:spcBef>
              <a:spcAft>
                <a:spcPct val="0"/>
              </a:spcAft>
            </a:pPr>
            <a:r>
              <a:rPr kumimoji="1" lang="en-US" altLang="zh-CN" sz="2800" b="1" dirty="0">
                <a:solidFill>
                  <a:srgbClr val="FF3300"/>
                </a:solidFill>
                <a:latin typeface="Times New Roman" pitchFamily="18" charset="0"/>
              </a:rPr>
              <a:t>   </a:t>
            </a:r>
            <a:r>
              <a:rPr kumimoji="1" lang="en-US" altLang="zh-CN" sz="2800" b="1" dirty="0" err="1">
                <a:solidFill>
                  <a:srgbClr val="FF3300"/>
                </a:solidFill>
                <a:latin typeface="Times New Roman" pitchFamily="18" charset="0"/>
              </a:rPr>
              <a:t>num</a:t>
            </a:r>
            <a:r>
              <a:rPr kumimoji="1" lang="en-US" altLang="zh-CN" sz="2800" b="1" dirty="0">
                <a:solidFill>
                  <a:srgbClr val="FF3300"/>
                </a:solidFill>
                <a:latin typeface="Times New Roman" pitchFamily="18" charset="0"/>
              </a:rPr>
              <a:t>=</a:t>
            </a:r>
            <a:r>
              <a:rPr kumimoji="1" lang="en-US" altLang="zh-CN" sz="2800" b="1" dirty="0" err="1">
                <a:solidFill>
                  <a:srgbClr val="FF3300"/>
                </a:solidFill>
                <a:latin typeface="Times New Roman" pitchFamily="18" charset="0"/>
              </a:rPr>
              <a:t>countleaf</a:t>
            </a:r>
            <a:r>
              <a:rPr kumimoji="1" lang="en-US" altLang="zh-CN" sz="2800" b="1" dirty="0">
                <a:solidFill>
                  <a:srgbClr val="FF3300"/>
                </a:solidFill>
                <a:latin typeface="Times New Roman" pitchFamily="18" charset="0"/>
              </a:rPr>
              <a:t>(t-&gt;</a:t>
            </a:r>
            <a:r>
              <a:rPr kumimoji="1" lang="en-US" altLang="zh-CN" sz="2800" b="1" dirty="0" err="1">
                <a:solidFill>
                  <a:srgbClr val="FF3300"/>
                </a:solidFill>
                <a:latin typeface="Times New Roman" pitchFamily="18" charset="0"/>
              </a:rPr>
              <a:t>rch,num</a:t>
            </a:r>
            <a:r>
              <a:rPr kumimoji="1" lang="en-US" altLang="zh-CN" sz="2800" b="1" dirty="0">
                <a:solidFill>
                  <a:srgbClr val="FF3300"/>
                </a:solidFill>
                <a:latin typeface="Times New Roman" pitchFamily="18" charset="0"/>
              </a:rPr>
              <a:t>);</a:t>
            </a:r>
          </a:p>
          <a:p>
            <a:pPr fontAlgn="base">
              <a:spcBef>
                <a:spcPct val="0"/>
              </a:spcBef>
              <a:spcAft>
                <a:spcPct val="0"/>
              </a:spcAft>
            </a:pPr>
            <a:r>
              <a:rPr kumimoji="1" lang="en-US" altLang="zh-CN" sz="2800" b="1" dirty="0">
                <a:solidFill>
                  <a:srgbClr val="0000FF"/>
                </a:solidFill>
                <a:latin typeface="Times New Roman" pitchFamily="18" charset="0"/>
              </a:rPr>
              <a:t>  }</a:t>
            </a:r>
          </a:p>
          <a:p>
            <a:pPr fontAlgn="base">
              <a:spcBef>
                <a:spcPct val="0"/>
              </a:spcBef>
              <a:spcAft>
                <a:spcPct val="0"/>
              </a:spcAft>
            </a:pPr>
            <a:r>
              <a:rPr kumimoji="1" lang="en-US" altLang="zh-CN" sz="2800" b="1" dirty="0">
                <a:solidFill>
                  <a:srgbClr val="0000FF"/>
                </a:solidFill>
                <a:latin typeface="Times New Roman" pitchFamily="18" charset="0"/>
              </a:rPr>
              <a:t>return </a:t>
            </a:r>
            <a:r>
              <a:rPr kumimoji="1" lang="en-US" altLang="zh-CN" sz="2800" b="1" dirty="0" err="1">
                <a:solidFill>
                  <a:srgbClr val="0000FF"/>
                </a:solidFill>
                <a:latin typeface="Times New Roman" pitchFamily="18" charset="0"/>
              </a:rPr>
              <a:t>num</a:t>
            </a:r>
            <a:r>
              <a:rPr kumimoji="1" lang="en-US" altLang="zh-CN" sz="2800" b="1" dirty="0">
                <a:solidFill>
                  <a:srgbClr val="0000FF"/>
                </a:solidFill>
                <a:latin typeface="Times New Roman" pitchFamily="18" charset="0"/>
              </a:rPr>
              <a:t>;</a:t>
            </a:r>
          </a:p>
          <a:p>
            <a:pPr fontAlgn="base">
              <a:spcBef>
                <a:spcPct val="0"/>
              </a:spcBef>
              <a:spcAft>
                <a:spcPct val="0"/>
              </a:spcAft>
            </a:pPr>
            <a:r>
              <a:rPr kumimoji="1" lang="en-US" altLang="zh-CN" sz="2800" b="1" dirty="0">
                <a:solidFill>
                  <a:srgbClr val="0000FF"/>
                </a:solidFill>
                <a:latin typeface="Times New Roman" pitchFamily="18" charset="0"/>
              </a:rPr>
              <a:t>}</a:t>
            </a:r>
          </a:p>
        </p:txBody>
      </p:sp>
    </p:spTree>
    <p:extLst>
      <p:ext uri="{BB962C8B-B14F-4D97-AF65-F5344CB8AC3E}">
        <p14:creationId xmlns:p14="http://schemas.microsoft.com/office/powerpoint/2010/main" val="4291257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5.4.1  </a:t>
            </a:r>
            <a:r>
              <a:rPr kumimoji="1" lang="zh-CN" altLang="en-US" sz="3200" b="1" dirty="0">
                <a:latin typeface="Arial" charset="0"/>
                <a:ea typeface="宋体" charset="-122"/>
                <a:cs typeface="+mn-cs"/>
              </a:rPr>
              <a:t>遍历的基本应用</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400" b="1" dirty="0"/>
          </a:p>
        </p:txBody>
      </p:sp>
      <p:sp>
        <p:nvSpPr>
          <p:cNvPr id="4" name="日期占位符 3"/>
          <p:cNvSpPr>
            <a:spLocks noGrp="1"/>
          </p:cNvSpPr>
          <p:nvPr>
            <p:ph type="dt" sz="half" idx="10"/>
          </p:nvPr>
        </p:nvSpPr>
        <p:spPr/>
        <p:txBody>
          <a:bodyPr/>
          <a:lstStyle/>
          <a:p>
            <a:fld id="{FA816CB8-367C-4CFE-9063-4C00CE1B6647}"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71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4" name="Text Box 2"/>
          <p:cNvSpPr txBox="1">
            <a:spLocks noChangeArrowheads="1"/>
          </p:cNvSpPr>
          <p:nvPr/>
        </p:nvSpPr>
        <p:spPr bwMode="auto">
          <a:xfrm>
            <a:off x="295275" y="1195387"/>
            <a:ext cx="7324725" cy="933450"/>
          </a:xfrm>
          <a:prstGeom prst="rect">
            <a:avLst/>
          </a:prstGeom>
          <a:noFill/>
          <a:ln w="9525">
            <a:solidFill>
              <a:srgbClr val="04617B"/>
            </a:solidFill>
            <a:miter lim="800000"/>
            <a:headEnd/>
            <a:tailEnd/>
          </a:ln>
        </p:spPr>
        <p:txBody>
          <a:bodyPr>
            <a:spAutoFit/>
          </a:bodyPr>
          <a:lstStyle/>
          <a:p>
            <a:pPr marL="0" marR="0" lvl="0" indent="0" defTabSz="914400" eaLnBrk="1" fontAlgn="base" latinLnBrk="0" hangingPunct="1">
              <a:lnSpc>
                <a:spcPct val="100000"/>
              </a:lnSpc>
              <a:spcBef>
                <a:spcPts val="800"/>
              </a:spcBef>
              <a:spcAft>
                <a:spcPct val="0"/>
              </a:spcAft>
              <a:buClrTx/>
              <a:buSzTx/>
              <a:buFont typeface="Wingdings" pitchFamily="2" charset="2"/>
              <a:buChar char="p"/>
              <a:tabLst/>
              <a:defRPr/>
            </a:pPr>
            <a:r>
              <a:rPr kumimoji="1" lang="zh-CN" altLang="en-US" sz="2400" b="1" i="0" u="none" strike="noStrike" kern="0" cap="none" spc="0" normalizeH="0" baseline="0" noProof="0" dirty="0">
                <a:ln>
                  <a:noFill/>
                </a:ln>
                <a:solidFill>
                  <a:srgbClr val="6600CC"/>
                </a:solidFill>
                <a:effectLst/>
                <a:uLnTx/>
                <a:uFillTx/>
                <a:latin typeface="宋体" pitchFamily="2" charset="-122"/>
              </a:rPr>
              <a:t>  </a:t>
            </a:r>
            <a:r>
              <a:rPr kumimoji="1" lang="zh-CN" altLang="en-US" sz="2400" b="1" i="0" u="none" strike="noStrike" kern="0" cap="none" spc="0" normalizeH="0" baseline="0" noProof="0" dirty="0">
                <a:ln>
                  <a:noFill/>
                </a:ln>
                <a:solidFill>
                  <a:srgbClr val="0000FF"/>
                </a:solidFill>
                <a:effectLst/>
                <a:uLnTx/>
                <a:uFillTx/>
                <a:latin typeface="宋体" pitchFamily="2" charset="-122"/>
              </a:rPr>
              <a:t>求二叉树的深度</a:t>
            </a:r>
            <a:endParaRPr kumimoji="1" lang="en-US" altLang="zh-CN" sz="2400" b="1" i="0" u="none" strike="noStrike" kern="0" cap="none" spc="0" normalizeH="0" baseline="0" noProof="0" dirty="0">
              <a:ln>
                <a:noFill/>
              </a:ln>
              <a:solidFill>
                <a:srgbClr val="0000FF"/>
              </a:solidFill>
              <a:effectLst/>
              <a:uLnTx/>
              <a:uFillTx/>
              <a:latin typeface="宋体" pitchFamily="2" charset="-122"/>
            </a:endParaRPr>
          </a:p>
          <a:p>
            <a:pPr marL="0" marR="0" lvl="0" indent="0" defTabSz="914400" eaLnBrk="1" fontAlgn="base" latinLnBrk="0" hangingPunct="1">
              <a:lnSpc>
                <a:spcPct val="100000"/>
              </a:lnSpc>
              <a:spcBef>
                <a:spcPts val="8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宋体" pitchFamily="2" charset="-122"/>
              </a:rPr>
              <a:t>算法思想：从第一层的根结点开始往下递推可得到。</a:t>
            </a:r>
            <a:endParaRPr kumimoji="1"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p:txBody>
      </p:sp>
      <p:sp>
        <p:nvSpPr>
          <p:cNvPr id="15" name="Text Box 3"/>
          <p:cNvSpPr txBox="1">
            <a:spLocks noChangeArrowheads="1"/>
          </p:cNvSpPr>
          <p:nvPr/>
        </p:nvSpPr>
        <p:spPr bwMode="auto">
          <a:xfrm>
            <a:off x="1190625" y="2362200"/>
            <a:ext cx="6357937" cy="4154984"/>
          </a:xfrm>
          <a:prstGeom prst="rect">
            <a:avLst/>
          </a:prstGeom>
          <a:noFill/>
          <a:ln w="9525">
            <a:solidFill>
              <a:srgbClr val="336600"/>
            </a:solidFill>
            <a:miter lim="800000"/>
            <a:headEnd/>
            <a:tailEnd/>
          </a:ln>
        </p:spPr>
        <p:txBody>
          <a:bodyPr>
            <a:spAutoFit/>
          </a:bodyPr>
          <a:lstStyle/>
          <a:p>
            <a:pPr fontAlgn="base">
              <a:spcBef>
                <a:spcPct val="0"/>
              </a:spcBef>
              <a:spcAft>
                <a:spcPct val="0"/>
              </a:spcAft>
            </a:pPr>
            <a:r>
              <a:rPr kumimoji="1" lang="zh-CN" altLang="en-US" sz="2400" b="1">
                <a:solidFill>
                  <a:srgbClr val="000000"/>
                </a:solidFill>
                <a:latin typeface="宋体" pitchFamily="2" charset="-122"/>
              </a:rPr>
              <a:t>求二叉树深度的递归算法</a:t>
            </a:r>
            <a:r>
              <a:rPr kumimoji="1" lang="en-US" altLang="zh-CN" sz="2400" b="1">
                <a:solidFill>
                  <a:srgbClr val="000000"/>
                </a:solidFill>
                <a:latin typeface="宋体" pitchFamily="2" charset="-122"/>
              </a:rPr>
              <a:t>(</a:t>
            </a:r>
            <a:r>
              <a:rPr kumimoji="1" lang="zh-CN" altLang="en-US" sz="2400" b="1">
                <a:solidFill>
                  <a:srgbClr val="000000"/>
                </a:solidFill>
                <a:latin typeface="宋体" pitchFamily="2" charset="-122"/>
              </a:rPr>
              <a:t>后序遍历</a:t>
            </a:r>
            <a:r>
              <a:rPr kumimoji="1" lang="en-US" altLang="zh-CN" sz="2400" b="1">
                <a:solidFill>
                  <a:srgbClr val="000000"/>
                </a:solidFill>
                <a:latin typeface="宋体" pitchFamily="2" charset="-122"/>
              </a:rPr>
              <a:t>)</a:t>
            </a:r>
          </a:p>
          <a:p>
            <a:pPr fontAlgn="base">
              <a:spcBef>
                <a:spcPct val="0"/>
              </a:spcBef>
              <a:spcAft>
                <a:spcPct val="0"/>
              </a:spcAft>
            </a:pPr>
            <a:r>
              <a:rPr kumimoji="1" lang="en-US" altLang="zh-CN" sz="2400" b="1">
                <a:solidFill>
                  <a:srgbClr val="0000FF"/>
                </a:solidFill>
                <a:latin typeface="Times New Roman" pitchFamily="18" charset="0"/>
              </a:rPr>
              <a:t>Int treedepth(bitree *t)</a:t>
            </a:r>
          </a:p>
          <a:p>
            <a:pPr fontAlgn="base">
              <a:spcBef>
                <a:spcPct val="0"/>
              </a:spcBef>
              <a:spcAft>
                <a:spcPct val="0"/>
              </a:spcAft>
            </a:pPr>
            <a:r>
              <a:rPr kumimoji="1" lang="en-US" altLang="zh-CN" sz="2400" b="1">
                <a:solidFill>
                  <a:srgbClr val="0000FF"/>
                </a:solidFill>
                <a:latin typeface="Times New Roman" pitchFamily="18" charset="0"/>
              </a:rPr>
              <a:t> {int h,lh,rh;</a:t>
            </a:r>
          </a:p>
          <a:p>
            <a:pPr fontAlgn="base">
              <a:spcBef>
                <a:spcPct val="0"/>
              </a:spcBef>
              <a:spcAft>
                <a:spcPct val="0"/>
              </a:spcAft>
            </a:pPr>
            <a:r>
              <a:rPr kumimoji="1" lang="en-US" altLang="zh-CN" sz="2400" b="1">
                <a:solidFill>
                  <a:srgbClr val="0000FF"/>
                </a:solidFill>
                <a:latin typeface="Times New Roman" pitchFamily="18" charset="0"/>
              </a:rPr>
              <a:t>   if(t==NULL)    h=0;</a:t>
            </a:r>
          </a:p>
          <a:p>
            <a:pPr fontAlgn="base">
              <a:spcBef>
                <a:spcPct val="0"/>
              </a:spcBef>
              <a:spcAft>
                <a:spcPct val="0"/>
              </a:spcAft>
            </a:pPr>
            <a:r>
              <a:rPr kumimoji="1" lang="en-US" altLang="zh-CN" sz="2400" b="1">
                <a:solidFill>
                  <a:srgbClr val="0000FF"/>
                </a:solidFill>
                <a:latin typeface="Times New Roman" pitchFamily="18" charset="0"/>
              </a:rPr>
              <a:t>   else     { </a:t>
            </a:r>
            <a:r>
              <a:rPr kumimoji="1" lang="en-US" altLang="zh-CN" sz="2800" b="1">
                <a:solidFill>
                  <a:srgbClr val="FF3300"/>
                </a:solidFill>
                <a:latin typeface="Times New Roman" pitchFamily="18" charset="0"/>
              </a:rPr>
              <a:t>lh=treedepth(t-&gt;lch);  </a:t>
            </a:r>
          </a:p>
          <a:p>
            <a:pPr fontAlgn="base">
              <a:spcBef>
                <a:spcPct val="0"/>
              </a:spcBef>
              <a:spcAft>
                <a:spcPct val="0"/>
              </a:spcAft>
            </a:pPr>
            <a:r>
              <a:rPr kumimoji="1" lang="en-US" altLang="zh-CN" sz="2800" b="1">
                <a:solidFill>
                  <a:srgbClr val="FF3300"/>
                </a:solidFill>
                <a:latin typeface="Times New Roman" pitchFamily="18" charset="0"/>
              </a:rPr>
              <a:t>               rh=treedepth(t-&gt;rch);</a:t>
            </a:r>
          </a:p>
          <a:p>
            <a:pPr fontAlgn="base">
              <a:spcBef>
                <a:spcPct val="0"/>
              </a:spcBef>
              <a:spcAft>
                <a:spcPct val="0"/>
              </a:spcAft>
            </a:pPr>
            <a:r>
              <a:rPr kumimoji="1" lang="en-US" altLang="zh-CN" sz="2800" b="1">
                <a:solidFill>
                  <a:srgbClr val="FF3300"/>
                </a:solidFill>
                <a:latin typeface="Times New Roman" pitchFamily="18" charset="0"/>
              </a:rPr>
              <a:t>               if(lh&gt;=rh)  h=lh+1;</a:t>
            </a:r>
          </a:p>
          <a:p>
            <a:pPr fontAlgn="base">
              <a:spcBef>
                <a:spcPct val="0"/>
              </a:spcBef>
              <a:spcAft>
                <a:spcPct val="0"/>
              </a:spcAft>
            </a:pPr>
            <a:r>
              <a:rPr kumimoji="1" lang="en-US" altLang="zh-CN" sz="2800" b="1">
                <a:solidFill>
                  <a:srgbClr val="FF3300"/>
                </a:solidFill>
                <a:latin typeface="Times New Roman" pitchFamily="18" charset="0"/>
              </a:rPr>
              <a:t>                else   h=rh+1;</a:t>
            </a:r>
            <a:r>
              <a:rPr kumimoji="1" lang="en-US" altLang="zh-CN" sz="2800" b="1">
                <a:solidFill>
                  <a:srgbClr val="0000FF"/>
                </a:solidFill>
                <a:latin typeface="Times New Roman" pitchFamily="18" charset="0"/>
              </a:rPr>
              <a:t> </a:t>
            </a:r>
            <a:r>
              <a:rPr kumimoji="1" lang="en-US" altLang="zh-CN" sz="2400" b="1">
                <a:solidFill>
                  <a:srgbClr val="0000FF"/>
                </a:solidFill>
                <a:latin typeface="Times New Roman" pitchFamily="18" charset="0"/>
              </a:rPr>
              <a:t>}</a:t>
            </a:r>
          </a:p>
          <a:p>
            <a:pPr fontAlgn="base">
              <a:spcBef>
                <a:spcPct val="0"/>
              </a:spcBef>
              <a:spcAft>
                <a:spcPct val="0"/>
              </a:spcAft>
            </a:pPr>
            <a:r>
              <a:rPr kumimoji="1" lang="en-US" altLang="zh-CN" sz="2400" b="1">
                <a:solidFill>
                  <a:srgbClr val="0000FF"/>
                </a:solidFill>
                <a:latin typeface="Times New Roman" pitchFamily="18" charset="0"/>
              </a:rPr>
              <a:t>    return h;</a:t>
            </a:r>
          </a:p>
          <a:p>
            <a:pPr fontAlgn="base">
              <a:spcBef>
                <a:spcPct val="0"/>
              </a:spcBef>
              <a:spcAft>
                <a:spcPct val="0"/>
              </a:spcAft>
            </a:pPr>
            <a:r>
              <a:rPr kumimoji="1" lang="en-US" altLang="zh-CN" sz="2400" b="1">
                <a:solidFill>
                  <a:srgbClr val="0000FF"/>
                </a:solidFill>
                <a:latin typeface="Times New Roman" pitchFamily="18" charset="0"/>
              </a:rPr>
              <a:t>  }</a:t>
            </a:r>
          </a:p>
        </p:txBody>
      </p:sp>
    </p:spTree>
    <p:extLst>
      <p:ext uri="{BB962C8B-B14F-4D97-AF65-F5344CB8AC3E}">
        <p14:creationId xmlns:p14="http://schemas.microsoft.com/office/powerpoint/2010/main" val="3249927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5.4  </a:t>
            </a:r>
            <a:r>
              <a:rPr kumimoji="1" lang="zh-CN" altLang="en-US" sz="3200" b="1" dirty="0">
                <a:latin typeface="Arial" charset="0"/>
                <a:ea typeface="宋体" charset="-122"/>
                <a:cs typeface="+mn-cs"/>
              </a:rPr>
              <a:t>遍历的应用</a:t>
            </a:r>
          </a:p>
        </p:txBody>
      </p:sp>
      <p:sp>
        <p:nvSpPr>
          <p:cNvPr id="3" name="内容占位符 2"/>
          <p:cNvSpPr>
            <a:spLocks noGrp="1"/>
          </p:cNvSpPr>
          <p:nvPr>
            <p:ph idx="1"/>
          </p:nvPr>
        </p:nvSpPr>
        <p:spPr>
          <a:xfrm>
            <a:off x="457200" y="1143000"/>
            <a:ext cx="8229600" cy="5105400"/>
          </a:xfrm>
        </p:spPr>
        <p:txBody>
          <a:bodyPr>
            <a:normAutofit/>
          </a:bodyPr>
          <a:lstStyle/>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ea typeface="宋体" pitchFamily="2" charset="-122"/>
              </a:rPr>
              <a:t> </a:t>
            </a:r>
            <a:r>
              <a:rPr kumimoji="1" lang="en-US" altLang="zh-CN" b="1" dirty="0">
                <a:solidFill>
                  <a:srgbClr val="0707F9"/>
                </a:solidFill>
                <a:latin typeface="Times New Roman" pitchFamily="18" charset="0"/>
                <a:ea typeface="宋体" pitchFamily="2" charset="-122"/>
              </a:rPr>
              <a:t>5.4.1 </a:t>
            </a:r>
            <a:r>
              <a:rPr kumimoji="1" lang="zh-CN" altLang="en-US" b="1" dirty="0">
                <a:solidFill>
                  <a:srgbClr val="0707F9"/>
                </a:solidFill>
                <a:latin typeface="Times New Roman" pitchFamily="18" charset="0"/>
                <a:ea typeface="宋体" pitchFamily="2" charset="-122"/>
              </a:rPr>
              <a:t>遍历的基本应用</a:t>
            </a:r>
          </a:p>
          <a:p>
            <a:pPr marL="0" lvl="0" indent="0" fontAlgn="base">
              <a:lnSpc>
                <a:spcPct val="200000"/>
              </a:lnSpc>
              <a:spcBef>
                <a:spcPct val="0"/>
              </a:spcBef>
              <a:spcAft>
                <a:spcPct val="0"/>
              </a:spcAft>
              <a:buNone/>
            </a:pPr>
            <a:r>
              <a:rPr kumimoji="1" lang="en-US" altLang="zh-CN" b="1" dirty="0">
                <a:solidFill>
                  <a:srgbClr val="0707F9"/>
                </a:solidFill>
                <a:latin typeface="Times New Roman" pitchFamily="18" charset="0"/>
                <a:ea typeface="宋体" pitchFamily="2" charset="-122"/>
              </a:rPr>
              <a:t> </a:t>
            </a:r>
            <a:r>
              <a:rPr kumimoji="1" lang="en-US" altLang="zh-CN" b="1" dirty="0">
                <a:solidFill>
                  <a:srgbClr val="FF0000"/>
                </a:solidFill>
                <a:latin typeface="Times New Roman" pitchFamily="18" charset="0"/>
                <a:ea typeface="宋体" pitchFamily="2" charset="-122"/>
              </a:rPr>
              <a:t>5.4.2 </a:t>
            </a:r>
            <a:r>
              <a:rPr kumimoji="1" lang="zh-CN" altLang="en-US" b="1" dirty="0">
                <a:solidFill>
                  <a:srgbClr val="FF0000"/>
                </a:solidFill>
                <a:latin typeface="Times New Roman" pitchFamily="18" charset="0"/>
                <a:ea typeface="宋体" pitchFamily="2" charset="-122"/>
              </a:rPr>
              <a:t>二叉树的遍历与存储结构的应用</a:t>
            </a:r>
          </a:p>
          <a:p>
            <a:pPr marL="0" lvl="0" indent="0" fontAlgn="base">
              <a:lnSpc>
                <a:spcPct val="200000"/>
              </a:lnSpc>
              <a:spcBef>
                <a:spcPct val="0"/>
              </a:spcBef>
              <a:spcAft>
                <a:spcPct val="0"/>
              </a:spcAft>
              <a:buNone/>
            </a:pPr>
            <a:r>
              <a:rPr kumimoji="1" lang="en-US" altLang="zh-CN" b="1" dirty="0">
                <a:solidFill>
                  <a:srgbClr val="FF3300"/>
                </a:solidFill>
                <a:latin typeface="Times New Roman" pitchFamily="18" charset="0"/>
                <a:ea typeface="宋体" pitchFamily="2" charset="-122"/>
              </a:rPr>
              <a:t> </a:t>
            </a:r>
            <a:r>
              <a:rPr kumimoji="1" lang="en-US" altLang="zh-CN" b="1" dirty="0">
                <a:solidFill>
                  <a:srgbClr val="0000FF"/>
                </a:solidFill>
                <a:latin typeface="Times New Roman" pitchFamily="18" charset="0"/>
                <a:ea typeface="宋体" pitchFamily="2" charset="-122"/>
              </a:rPr>
              <a:t>5.4.3 </a:t>
            </a:r>
            <a:r>
              <a:rPr kumimoji="1" lang="zh-CN" altLang="en-US" b="1" dirty="0">
                <a:solidFill>
                  <a:srgbClr val="0707F9"/>
                </a:solidFill>
                <a:latin typeface="Times New Roman" pitchFamily="18" charset="0"/>
                <a:ea typeface="宋体" pitchFamily="2" charset="-122"/>
              </a:rPr>
              <a:t>二叉树的相似与等价</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BB905484-9D85-42F3-8848-3F5793F452C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72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29810438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fontAlgn="base">
              <a:lnSpc>
                <a:spcPct val="150000"/>
              </a:lnSpc>
              <a:spcBef>
                <a:spcPct val="5000"/>
              </a:spcBef>
              <a:spcAft>
                <a:spcPct val="5000"/>
              </a:spcAft>
            </a:pPr>
            <a:r>
              <a:rPr kumimoji="1" lang="en-US" altLang="zh-CN" sz="3200" b="1" dirty="0">
                <a:latin typeface="Arial" charset="0"/>
                <a:ea typeface="宋体" charset="-122"/>
                <a:cs typeface="+mn-cs"/>
              </a:rPr>
              <a:t>5.4.2  </a:t>
            </a:r>
            <a:r>
              <a:rPr kumimoji="1" lang="zh-CN" altLang="en-US" sz="3200" b="1" dirty="0">
                <a:latin typeface="Arial" charset="0"/>
                <a:ea typeface="宋体" charset="-122"/>
                <a:cs typeface="+mn-cs"/>
              </a:rPr>
              <a:t>二叉树的遍历与存储结构的应用</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400" b="1" dirty="0"/>
          </a:p>
        </p:txBody>
      </p:sp>
      <p:sp>
        <p:nvSpPr>
          <p:cNvPr id="4" name="日期占位符 3"/>
          <p:cNvSpPr>
            <a:spLocks noGrp="1"/>
          </p:cNvSpPr>
          <p:nvPr>
            <p:ph type="dt" sz="half" idx="10"/>
          </p:nvPr>
        </p:nvSpPr>
        <p:spPr/>
        <p:txBody>
          <a:bodyPr/>
          <a:lstStyle/>
          <a:p>
            <a:fld id="{E80C54AC-9C50-4A4B-A75B-39AC9FA4E2F1}"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73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
          <p:cNvSpPr txBox="1">
            <a:spLocks noChangeArrowheads="1"/>
          </p:cNvSpPr>
          <p:nvPr/>
        </p:nvSpPr>
        <p:spPr bwMode="auto">
          <a:xfrm>
            <a:off x="415925" y="1752600"/>
            <a:ext cx="8270875" cy="861774"/>
          </a:xfrm>
          <a:prstGeom prst="rect">
            <a:avLst/>
          </a:prstGeom>
          <a:noFill/>
          <a:ln w="9525">
            <a:solidFill>
              <a:srgbClr val="0000FF"/>
            </a:solidFill>
            <a:miter lim="800000"/>
            <a:headEnd/>
            <a:tailEnd/>
          </a:ln>
        </p:spPr>
        <p:txBody>
          <a:bodyPr wrap="square">
            <a:spAutoFit/>
          </a:bodyPr>
          <a:lstStyle/>
          <a:p>
            <a:pPr fontAlgn="base">
              <a:spcBef>
                <a:spcPct val="50000"/>
              </a:spcBef>
              <a:spcAft>
                <a:spcPct val="0"/>
              </a:spcAft>
              <a:buFont typeface="Wingdings" pitchFamily="2" charset="2"/>
              <a:buNone/>
            </a:pPr>
            <a:r>
              <a:rPr kumimoji="1" lang="zh-CN" altLang="en-US" sz="2000" b="1">
                <a:solidFill>
                  <a:srgbClr val="FF0000"/>
                </a:solidFill>
                <a:latin typeface="宋体" pitchFamily="2" charset="-122"/>
              </a:rPr>
              <a:t>问题：</a:t>
            </a:r>
            <a:r>
              <a:rPr kumimoji="1" lang="zh-CN" altLang="en-US" sz="2000" b="1">
                <a:solidFill>
                  <a:srgbClr val="0000FF"/>
                </a:solidFill>
                <a:latin typeface="宋体" pitchFamily="2" charset="-122"/>
              </a:rPr>
              <a:t>给定一个遍历序列，能否唯一确定一棵二叉树？</a:t>
            </a:r>
          </a:p>
          <a:p>
            <a:pPr fontAlgn="base">
              <a:spcBef>
                <a:spcPct val="50000"/>
              </a:spcBef>
              <a:spcAft>
                <a:spcPct val="0"/>
              </a:spcAft>
            </a:pPr>
            <a:r>
              <a:rPr kumimoji="1" lang="zh-CN" altLang="en-US" sz="2000" b="1">
                <a:solidFill>
                  <a:srgbClr val="0000FF"/>
                </a:solidFill>
                <a:latin typeface="宋体" pitchFamily="2" charset="-122"/>
              </a:rPr>
              <a:t>例如：先序序列为</a:t>
            </a:r>
            <a:r>
              <a:rPr kumimoji="1" lang="en-US" altLang="zh-CN" sz="2000" b="1">
                <a:solidFill>
                  <a:srgbClr val="0000FF"/>
                </a:solidFill>
                <a:latin typeface="宋体" pitchFamily="2" charset="-122"/>
              </a:rPr>
              <a:t>ABCD,</a:t>
            </a:r>
            <a:r>
              <a:rPr kumimoji="1" lang="zh-CN" altLang="en-US" sz="2000" b="1">
                <a:solidFill>
                  <a:srgbClr val="0000FF"/>
                </a:solidFill>
                <a:latin typeface="宋体" pitchFamily="2" charset="-122"/>
              </a:rPr>
              <a:t>其二叉树的结构是什么？</a:t>
            </a:r>
          </a:p>
        </p:txBody>
      </p:sp>
      <p:sp>
        <p:nvSpPr>
          <p:cNvPr id="14" name="AutoShape 3"/>
          <p:cNvSpPr>
            <a:spLocks noChangeArrowheads="1"/>
          </p:cNvSpPr>
          <p:nvPr/>
        </p:nvSpPr>
        <p:spPr bwMode="auto">
          <a:xfrm>
            <a:off x="3584575" y="4797425"/>
            <a:ext cx="3725863" cy="1439863"/>
          </a:xfrm>
          <a:prstGeom prst="cloudCallout">
            <a:avLst>
              <a:gd name="adj1" fmla="val -43731"/>
              <a:gd name="adj2" fmla="val 67972"/>
            </a:avLst>
          </a:prstGeom>
          <a:solidFill>
            <a:srgbClr val="C1E8ED"/>
          </a:solidFill>
          <a:ln w="12700" cap="rnd">
            <a:noFill/>
            <a:round/>
            <a:headEnd/>
            <a:tailEnd/>
          </a:ln>
        </p:spPr>
        <p:txBody>
          <a:bodyPr/>
          <a:lstStyle/>
          <a:p>
            <a:pPr algn="ctr" eaLnBrk="0" fontAlgn="base" hangingPunct="0">
              <a:spcBef>
                <a:spcPct val="0"/>
              </a:spcBef>
              <a:spcAft>
                <a:spcPct val="0"/>
              </a:spcAft>
            </a:pPr>
            <a:r>
              <a:rPr kumimoji="1" lang="zh-CN" altLang="en-US" sz="2000">
                <a:solidFill>
                  <a:srgbClr val="003300"/>
                </a:solidFill>
                <a:latin typeface="隶书" pitchFamily="49" charset="-122"/>
                <a:ea typeface="隶书" pitchFamily="49" charset="-122"/>
              </a:rPr>
              <a:t>答案是</a:t>
            </a:r>
          </a:p>
          <a:p>
            <a:pPr algn="ctr" eaLnBrk="0" fontAlgn="base" hangingPunct="0">
              <a:spcBef>
                <a:spcPct val="0"/>
              </a:spcBef>
              <a:spcAft>
                <a:spcPct val="0"/>
              </a:spcAft>
            </a:pPr>
            <a:r>
              <a:rPr kumimoji="1" lang="zh-CN" altLang="en-US" sz="2000">
                <a:solidFill>
                  <a:srgbClr val="003300"/>
                </a:solidFill>
                <a:latin typeface="隶书" pitchFamily="49" charset="-122"/>
                <a:ea typeface="隶书" pitchFamily="49" charset="-122"/>
              </a:rPr>
              <a:t>不唯一</a:t>
            </a:r>
          </a:p>
        </p:txBody>
      </p:sp>
      <p:grpSp>
        <p:nvGrpSpPr>
          <p:cNvPr id="15" name="Group 5"/>
          <p:cNvGrpSpPr>
            <a:grpSpLocks/>
          </p:cNvGrpSpPr>
          <p:nvPr/>
        </p:nvGrpSpPr>
        <p:grpSpPr bwMode="auto">
          <a:xfrm>
            <a:off x="206375" y="2852738"/>
            <a:ext cx="3090863" cy="2387600"/>
            <a:chOff x="217" y="1935"/>
            <a:chExt cx="1947" cy="1504"/>
          </a:xfrm>
        </p:grpSpPr>
        <p:sp>
          <p:nvSpPr>
            <p:cNvPr id="16" name="Oval 6"/>
            <p:cNvSpPr>
              <a:spLocks noChangeArrowheads="1"/>
            </p:cNvSpPr>
            <p:nvPr/>
          </p:nvSpPr>
          <p:spPr bwMode="auto">
            <a:xfrm>
              <a:off x="294" y="2006"/>
              <a:ext cx="295" cy="269"/>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Char char="Ø"/>
              </a:pPr>
              <a:endParaRPr lang="zh-CN" altLang="en-US" sz="2400">
                <a:solidFill>
                  <a:srgbClr val="0000FF"/>
                </a:solidFill>
                <a:latin typeface="Constantia" pitchFamily="18" charset="0"/>
              </a:endParaRPr>
            </a:p>
          </p:txBody>
        </p:sp>
        <p:sp>
          <p:nvSpPr>
            <p:cNvPr id="17" name="Text Box 7"/>
            <p:cNvSpPr txBox="1">
              <a:spLocks noChangeArrowheads="1"/>
            </p:cNvSpPr>
            <p:nvPr/>
          </p:nvSpPr>
          <p:spPr bwMode="auto">
            <a:xfrm>
              <a:off x="217" y="1935"/>
              <a:ext cx="535" cy="36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DBF5F9"/>
                  </a:solidFill>
                  <a:latin typeface="黑体" pitchFamily="2" charset="-122"/>
                  <a:ea typeface="黑体" pitchFamily="2" charset="-122"/>
                </a:rPr>
                <a:t> </a:t>
              </a:r>
              <a:r>
                <a:rPr lang="en-US" altLang="zh-CN" sz="3200" b="1">
                  <a:solidFill>
                    <a:srgbClr val="0000FF"/>
                  </a:solidFill>
                  <a:latin typeface="黑体" pitchFamily="2" charset="-122"/>
                  <a:ea typeface="黑体" pitchFamily="2" charset="-122"/>
                </a:rPr>
                <a:t>A</a:t>
              </a:r>
            </a:p>
          </p:txBody>
        </p:sp>
        <p:sp>
          <p:nvSpPr>
            <p:cNvPr id="19" name="Oval 8"/>
            <p:cNvSpPr>
              <a:spLocks noChangeArrowheads="1"/>
            </p:cNvSpPr>
            <p:nvPr/>
          </p:nvSpPr>
          <p:spPr bwMode="auto">
            <a:xfrm>
              <a:off x="1367" y="2823"/>
              <a:ext cx="295" cy="269"/>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Char char="Ø"/>
              </a:pPr>
              <a:endParaRPr lang="zh-CN" altLang="en-US" sz="2400">
                <a:solidFill>
                  <a:srgbClr val="0000FF"/>
                </a:solidFill>
                <a:latin typeface="Constantia" pitchFamily="18" charset="0"/>
              </a:endParaRPr>
            </a:p>
          </p:txBody>
        </p:sp>
        <p:sp>
          <p:nvSpPr>
            <p:cNvPr id="20" name="Text Box 9"/>
            <p:cNvSpPr txBox="1">
              <a:spLocks noChangeArrowheads="1"/>
            </p:cNvSpPr>
            <p:nvPr/>
          </p:nvSpPr>
          <p:spPr bwMode="auto">
            <a:xfrm>
              <a:off x="1290" y="2752"/>
              <a:ext cx="535" cy="36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400" b="1">
                  <a:solidFill>
                    <a:srgbClr val="DBF5F9"/>
                  </a:solidFill>
                  <a:latin typeface="隶书" pitchFamily="49" charset="-122"/>
                  <a:ea typeface="隶书" pitchFamily="49" charset="-122"/>
                </a:rPr>
                <a:t> </a:t>
              </a:r>
              <a:r>
                <a:rPr lang="en-US" altLang="zh-CN" sz="3200" b="1">
                  <a:solidFill>
                    <a:srgbClr val="0000FF"/>
                  </a:solidFill>
                  <a:latin typeface="黑体" pitchFamily="2" charset="-122"/>
                  <a:ea typeface="黑体" pitchFamily="2" charset="-122"/>
                </a:rPr>
                <a:t>C</a:t>
              </a:r>
            </a:p>
          </p:txBody>
        </p:sp>
        <p:sp>
          <p:nvSpPr>
            <p:cNvPr id="21" name="Oval 10"/>
            <p:cNvSpPr>
              <a:spLocks noChangeArrowheads="1"/>
            </p:cNvSpPr>
            <p:nvPr/>
          </p:nvSpPr>
          <p:spPr bwMode="auto">
            <a:xfrm>
              <a:off x="920" y="2414"/>
              <a:ext cx="295" cy="270"/>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Char char="Ø"/>
              </a:pPr>
              <a:endParaRPr lang="zh-CN" altLang="en-US" sz="2400">
                <a:solidFill>
                  <a:srgbClr val="0000FF"/>
                </a:solidFill>
                <a:latin typeface="Constantia" pitchFamily="18" charset="0"/>
              </a:endParaRPr>
            </a:p>
          </p:txBody>
        </p:sp>
        <p:sp>
          <p:nvSpPr>
            <p:cNvPr id="22" name="Text Box 11"/>
            <p:cNvSpPr txBox="1">
              <a:spLocks noChangeArrowheads="1"/>
            </p:cNvSpPr>
            <p:nvPr/>
          </p:nvSpPr>
          <p:spPr bwMode="auto">
            <a:xfrm>
              <a:off x="841" y="2343"/>
              <a:ext cx="537" cy="36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DBF5F9"/>
                  </a:solidFill>
                  <a:latin typeface="黑体" pitchFamily="2" charset="-122"/>
                  <a:ea typeface="黑体" pitchFamily="2" charset="-122"/>
                </a:rPr>
                <a:t> </a:t>
              </a:r>
              <a:r>
                <a:rPr lang="en-US" altLang="zh-CN" sz="3200" b="1">
                  <a:solidFill>
                    <a:srgbClr val="0000FF"/>
                  </a:solidFill>
                  <a:latin typeface="黑体" pitchFamily="2" charset="-122"/>
                  <a:ea typeface="黑体" pitchFamily="2" charset="-122"/>
                </a:rPr>
                <a:t>B</a:t>
              </a:r>
            </a:p>
          </p:txBody>
        </p:sp>
        <p:sp>
          <p:nvSpPr>
            <p:cNvPr id="23" name="Oval 12"/>
            <p:cNvSpPr>
              <a:spLocks noChangeArrowheads="1"/>
            </p:cNvSpPr>
            <p:nvPr/>
          </p:nvSpPr>
          <p:spPr bwMode="auto">
            <a:xfrm>
              <a:off x="1720" y="3158"/>
              <a:ext cx="296" cy="269"/>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Char char="Ø"/>
              </a:pPr>
              <a:endParaRPr lang="zh-CN" altLang="en-US" sz="2400">
                <a:solidFill>
                  <a:srgbClr val="0000FF"/>
                </a:solidFill>
                <a:latin typeface="Constantia" pitchFamily="18" charset="0"/>
              </a:endParaRPr>
            </a:p>
          </p:txBody>
        </p:sp>
        <p:sp>
          <p:nvSpPr>
            <p:cNvPr id="24" name="Line 13"/>
            <p:cNvSpPr>
              <a:spLocks noChangeShapeType="1"/>
            </p:cNvSpPr>
            <p:nvPr/>
          </p:nvSpPr>
          <p:spPr bwMode="auto">
            <a:xfrm>
              <a:off x="574" y="2221"/>
              <a:ext cx="357" cy="243"/>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25" name="Line 14"/>
            <p:cNvSpPr>
              <a:spLocks noChangeShapeType="1"/>
            </p:cNvSpPr>
            <p:nvPr/>
          </p:nvSpPr>
          <p:spPr bwMode="auto">
            <a:xfrm>
              <a:off x="1200" y="2630"/>
              <a:ext cx="223" cy="204"/>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26" name="Line 15"/>
            <p:cNvSpPr>
              <a:spLocks noChangeShapeType="1"/>
            </p:cNvSpPr>
            <p:nvPr/>
          </p:nvSpPr>
          <p:spPr bwMode="auto">
            <a:xfrm>
              <a:off x="1633" y="3067"/>
              <a:ext cx="223" cy="204"/>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27" name="Text Box 16"/>
            <p:cNvSpPr txBox="1">
              <a:spLocks noChangeArrowheads="1"/>
            </p:cNvSpPr>
            <p:nvPr/>
          </p:nvSpPr>
          <p:spPr bwMode="auto">
            <a:xfrm>
              <a:off x="1629" y="3071"/>
              <a:ext cx="535" cy="36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400" b="1">
                  <a:solidFill>
                    <a:srgbClr val="DBF5F9"/>
                  </a:solidFill>
                  <a:latin typeface="隶书" pitchFamily="49" charset="-122"/>
                  <a:ea typeface="隶书" pitchFamily="49" charset="-122"/>
                </a:rPr>
                <a:t> </a:t>
              </a:r>
              <a:r>
                <a:rPr lang="en-US" altLang="zh-CN" sz="3200" b="1">
                  <a:solidFill>
                    <a:srgbClr val="0000FF"/>
                  </a:solidFill>
                  <a:latin typeface="黑体" pitchFamily="2" charset="-122"/>
                  <a:ea typeface="黑体" pitchFamily="2" charset="-122"/>
                </a:rPr>
                <a:t>D</a:t>
              </a:r>
            </a:p>
          </p:txBody>
        </p:sp>
      </p:grpSp>
      <p:grpSp>
        <p:nvGrpSpPr>
          <p:cNvPr id="28" name="Group 17"/>
          <p:cNvGrpSpPr>
            <a:grpSpLocks/>
          </p:cNvGrpSpPr>
          <p:nvPr/>
        </p:nvGrpSpPr>
        <p:grpSpPr bwMode="auto">
          <a:xfrm>
            <a:off x="3416300" y="2636838"/>
            <a:ext cx="2976563" cy="1881187"/>
            <a:chOff x="1632" y="1935"/>
            <a:chExt cx="1875" cy="1185"/>
          </a:xfrm>
        </p:grpSpPr>
        <p:sp>
          <p:nvSpPr>
            <p:cNvPr id="29" name="Line 18"/>
            <p:cNvSpPr>
              <a:spLocks noChangeShapeType="1"/>
            </p:cNvSpPr>
            <p:nvPr/>
          </p:nvSpPr>
          <p:spPr bwMode="auto">
            <a:xfrm flipH="1">
              <a:off x="1896" y="2252"/>
              <a:ext cx="226" cy="362"/>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30" name="Oval 19"/>
            <p:cNvSpPr>
              <a:spLocks noChangeArrowheads="1"/>
            </p:cNvSpPr>
            <p:nvPr/>
          </p:nvSpPr>
          <p:spPr bwMode="auto">
            <a:xfrm>
              <a:off x="1976" y="2006"/>
              <a:ext cx="295" cy="269"/>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Char char="Ø"/>
              </a:pPr>
              <a:endParaRPr lang="zh-CN" altLang="en-US" sz="2400">
                <a:solidFill>
                  <a:srgbClr val="0000FF"/>
                </a:solidFill>
                <a:latin typeface="Constantia" pitchFamily="18" charset="0"/>
              </a:endParaRPr>
            </a:p>
          </p:txBody>
        </p:sp>
        <p:sp>
          <p:nvSpPr>
            <p:cNvPr id="31" name="Text Box 20"/>
            <p:cNvSpPr txBox="1">
              <a:spLocks noChangeArrowheads="1"/>
            </p:cNvSpPr>
            <p:nvPr/>
          </p:nvSpPr>
          <p:spPr bwMode="auto">
            <a:xfrm>
              <a:off x="1899" y="1935"/>
              <a:ext cx="535" cy="36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DBF5F9"/>
                  </a:solidFill>
                  <a:latin typeface="黑体" pitchFamily="2" charset="-122"/>
                  <a:ea typeface="黑体" pitchFamily="2" charset="-122"/>
                </a:rPr>
                <a:t> </a:t>
              </a:r>
              <a:r>
                <a:rPr lang="en-US" altLang="zh-CN" sz="3200" b="1">
                  <a:solidFill>
                    <a:srgbClr val="0000FF"/>
                  </a:solidFill>
                  <a:latin typeface="黑体" pitchFamily="2" charset="-122"/>
                  <a:ea typeface="黑体" pitchFamily="2" charset="-122"/>
                </a:rPr>
                <a:t>A</a:t>
              </a:r>
            </a:p>
          </p:txBody>
        </p:sp>
        <p:sp>
          <p:nvSpPr>
            <p:cNvPr id="32" name="Oval 21"/>
            <p:cNvSpPr>
              <a:spLocks noChangeArrowheads="1"/>
            </p:cNvSpPr>
            <p:nvPr/>
          </p:nvSpPr>
          <p:spPr bwMode="auto">
            <a:xfrm>
              <a:off x="3049" y="2823"/>
              <a:ext cx="295" cy="269"/>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Char char="Ø"/>
              </a:pPr>
              <a:endParaRPr lang="zh-CN" altLang="en-US" sz="2400">
                <a:solidFill>
                  <a:srgbClr val="0000FF"/>
                </a:solidFill>
                <a:latin typeface="Constantia" pitchFamily="18" charset="0"/>
              </a:endParaRPr>
            </a:p>
          </p:txBody>
        </p:sp>
        <p:sp>
          <p:nvSpPr>
            <p:cNvPr id="33" name="Text Box 22"/>
            <p:cNvSpPr txBox="1">
              <a:spLocks noChangeArrowheads="1"/>
            </p:cNvSpPr>
            <p:nvPr/>
          </p:nvSpPr>
          <p:spPr bwMode="auto">
            <a:xfrm>
              <a:off x="2972" y="2752"/>
              <a:ext cx="535" cy="36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400" b="1">
                  <a:solidFill>
                    <a:srgbClr val="DBF5F9"/>
                  </a:solidFill>
                  <a:latin typeface="隶书" pitchFamily="49" charset="-122"/>
                  <a:ea typeface="隶书" pitchFamily="49" charset="-122"/>
                </a:rPr>
                <a:t> </a:t>
              </a:r>
              <a:r>
                <a:rPr lang="en-US" altLang="zh-CN" sz="3200" b="1">
                  <a:solidFill>
                    <a:srgbClr val="0000FF"/>
                  </a:solidFill>
                  <a:latin typeface="黑体" pitchFamily="2" charset="-122"/>
                  <a:ea typeface="黑体" pitchFamily="2" charset="-122"/>
                </a:rPr>
                <a:t>D</a:t>
              </a:r>
            </a:p>
          </p:txBody>
        </p:sp>
        <p:sp>
          <p:nvSpPr>
            <p:cNvPr id="34" name="Oval 23"/>
            <p:cNvSpPr>
              <a:spLocks noChangeArrowheads="1"/>
            </p:cNvSpPr>
            <p:nvPr/>
          </p:nvSpPr>
          <p:spPr bwMode="auto">
            <a:xfrm>
              <a:off x="2602" y="2414"/>
              <a:ext cx="295" cy="270"/>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Char char="Ø"/>
              </a:pPr>
              <a:endParaRPr lang="zh-CN" altLang="en-US" sz="2400">
                <a:solidFill>
                  <a:srgbClr val="0000FF"/>
                </a:solidFill>
                <a:latin typeface="Constantia" pitchFamily="18" charset="0"/>
              </a:endParaRPr>
            </a:p>
          </p:txBody>
        </p:sp>
        <p:sp>
          <p:nvSpPr>
            <p:cNvPr id="35" name="Text Box 24"/>
            <p:cNvSpPr txBox="1">
              <a:spLocks noChangeArrowheads="1"/>
            </p:cNvSpPr>
            <p:nvPr/>
          </p:nvSpPr>
          <p:spPr bwMode="auto">
            <a:xfrm>
              <a:off x="2523" y="2343"/>
              <a:ext cx="537" cy="36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DBF5F9"/>
                  </a:solidFill>
                  <a:latin typeface="黑体" pitchFamily="2" charset="-122"/>
                  <a:ea typeface="黑体" pitchFamily="2" charset="-122"/>
                </a:rPr>
                <a:t> </a:t>
              </a:r>
              <a:r>
                <a:rPr lang="en-US" altLang="zh-CN" sz="3200" b="1">
                  <a:solidFill>
                    <a:srgbClr val="0000FF"/>
                  </a:solidFill>
                  <a:latin typeface="黑体" pitchFamily="2" charset="-122"/>
                  <a:ea typeface="黑体" pitchFamily="2" charset="-122"/>
                </a:rPr>
                <a:t>C</a:t>
              </a:r>
            </a:p>
          </p:txBody>
        </p:sp>
        <p:sp>
          <p:nvSpPr>
            <p:cNvPr id="36" name="Oval 25"/>
            <p:cNvSpPr>
              <a:spLocks noChangeArrowheads="1"/>
            </p:cNvSpPr>
            <p:nvPr/>
          </p:nvSpPr>
          <p:spPr bwMode="auto">
            <a:xfrm>
              <a:off x="1714" y="2568"/>
              <a:ext cx="296" cy="269"/>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Char char="Ø"/>
              </a:pPr>
              <a:endParaRPr lang="zh-CN" altLang="en-US" sz="2400">
                <a:solidFill>
                  <a:srgbClr val="0000FF"/>
                </a:solidFill>
                <a:latin typeface="Constantia" pitchFamily="18" charset="0"/>
              </a:endParaRPr>
            </a:p>
          </p:txBody>
        </p:sp>
        <p:sp>
          <p:nvSpPr>
            <p:cNvPr id="37" name="Line 26"/>
            <p:cNvSpPr>
              <a:spLocks noChangeShapeType="1"/>
            </p:cNvSpPr>
            <p:nvPr/>
          </p:nvSpPr>
          <p:spPr bwMode="auto">
            <a:xfrm>
              <a:off x="2256" y="2221"/>
              <a:ext cx="357" cy="243"/>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38" name="Line 27"/>
            <p:cNvSpPr>
              <a:spLocks noChangeShapeType="1"/>
            </p:cNvSpPr>
            <p:nvPr/>
          </p:nvSpPr>
          <p:spPr bwMode="auto">
            <a:xfrm>
              <a:off x="2882" y="2630"/>
              <a:ext cx="223" cy="204"/>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39" name="Text Box 28"/>
            <p:cNvSpPr txBox="1">
              <a:spLocks noChangeArrowheads="1"/>
            </p:cNvSpPr>
            <p:nvPr/>
          </p:nvSpPr>
          <p:spPr bwMode="auto">
            <a:xfrm>
              <a:off x="1632" y="2478"/>
              <a:ext cx="535" cy="36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400" b="1">
                  <a:solidFill>
                    <a:srgbClr val="DBF5F9"/>
                  </a:solidFill>
                  <a:latin typeface="隶书" pitchFamily="49" charset="-122"/>
                  <a:ea typeface="隶书" pitchFamily="49" charset="-122"/>
                </a:rPr>
                <a:t> </a:t>
              </a:r>
              <a:r>
                <a:rPr lang="en-US" altLang="zh-CN" sz="3200" b="1">
                  <a:solidFill>
                    <a:srgbClr val="0000FF"/>
                  </a:solidFill>
                  <a:latin typeface="黑体" pitchFamily="2" charset="-122"/>
                  <a:ea typeface="黑体" pitchFamily="2" charset="-122"/>
                </a:rPr>
                <a:t>B</a:t>
              </a:r>
            </a:p>
          </p:txBody>
        </p:sp>
      </p:grpSp>
      <p:sp>
        <p:nvSpPr>
          <p:cNvPr id="40" name="Text Box 29"/>
          <p:cNvSpPr txBox="1">
            <a:spLocks noChangeArrowheads="1"/>
          </p:cNvSpPr>
          <p:nvPr/>
        </p:nvSpPr>
        <p:spPr bwMode="auto">
          <a:xfrm>
            <a:off x="8675688" y="4081463"/>
            <a:ext cx="849312" cy="461665"/>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400" b="1">
                <a:solidFill>
                  <a:srgbClr val="DBF5F9"/>
                </a:solidFill>
                <a:latin typeface="隶书" pitchFamily="49" charset="-122"/>
                <a:ea typeface="隶书" pitchFamily="49" charset="-122"/>
              </a:rPr>
              <a:t> </a:t>
            </a:r>
            <a:endParaRPr lang="en-US" altLang="zh-CN" sz="3200" b="1">
              <a:solidFill>
                <a:srgbClr val="0000FF"/>
              </a:solidFill>
              <a:latin typeface="黑体" pitchFamily="2" charset="-122"/>
              <a:ea typeface="黑体" pitchFamily="2" charset="-122"/>
            </a:endParaRPr>
          </a:p>
        </p:txBody>
      </p:sp>
      <p:grpSp>
        <p:nvGrpSpPr>
          <p:cNvPr id="41" name="Group 30"/>
          <p:cNvGrpSpPr>
            <a:grpSpLocks/>
          </p:cNvGrpSpPr>
          <p:nvPr/>
        </p:nvGrpSpPr>
        <p:grpSpPr bwMode="auto">
          <a:xfrm>
            <a:off x="6972300" y="2784475"/>
            <a:ext cx="1843088" cy="2884488"/>
            <a:chOff x="4392" y="1754"/>
            <a:chExt cx="1161" cy="1817"/>
          </a:xfrm>
        </p:grpSpPr>
        <p:sp>
          <p:nvSpPr>
            <p:cNvPr id="42" name="Line 31"/>
            <p:cNvSpPr>
              <a:spLocks noChangeShapeType="1"/>
            </p:cNvSpPr>
            <p:nvPr/>
          </p:nvSpPr>
          <p:spPr bwMode="auto">
            <a:xfrm>
              <a:off x="4794" y="3022"/>
              <a:ext cx="367" cy="278"/>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43" name="Line 32"/>
            <p:cNvSpPr>
              <a:spLocks noChangeShapeType="1"/>
            </p:cNvSpPr>
            <p:nvPr/>
          </p:nvSpPr>
          <p:spPr bwMode="auto">
            <a:xfrm flipH="1">
              <a:off x="4753" y="2523"/>
              <a:ext cx="453" cy="363"/>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44" name="Oval 33"/>
            <p:cNvSpPr>
              <a:spLocks noChangeArrowheads="1"/>
            </p:cNvSpPr>
            <p:nvPr/>
          </p:nvSpPr>
          <p:spPr bwMode="auto">
            <a:xfrm>
              <a:off x="4469" y="1825"/>
              <a:ext cx="295" cy="269"/>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Char char="Ø"/>
              </a:pPr>
              <a:endParaRPr lang="zh-CN" altLang="en-US" sz="2400">
                <a:solidFill>
                  <a:srgbClr val="0000FF"/>
                </a:solidFill>
                <a:latin typeface="Constantia" pitchFamily="18" charset="0"/>
              </a:endParaRPr>
            </a:p>
          </p:txBody>
        </p:sp>
        <p:sp>
          <p:nvSpPr>
            <p:cNvPr id="45" name="Text Box 34"/>
            <p:cNvSpPr txBox="1">
              <a:spLocks noChangeArrowheads="1"/>
            </p:cNvSpPr>
            <p:nvPr/>
          </p:nvSpPr>
          <p:spPr bwMode="auto">
            <a:xfrm>
              <a:off x="4392" y="1754"/>
              <a:ext cx="535" cy="36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DBF5F9"/>
                  </a:solidFill>
                  <a:latin typeface="黑体" pitchFamily="2" charset="-122"/>
                  <a:ea typeface="黑体" pitchFamily="2" charset="-122"/>
                </a:rPr>
                <a:t> </a:t>
              </a:r>
              <a:r>
                <a:rPr lang="en-US" altLang="zh-CN" sz="3200" b="1">
                  <a:solidFill>
                    <a:srgbClr val="0000FF"/>
                  </a:solidFill>
                  <a:latin typeface="黑体" pitchFamily="2" charset="-122"/>
                  <a:ea typeface="黑体" pitchFamily="2" charset="-122"/>
                </a:rPr>
                <a:t>A</a:t>
              </a:r>
            </a:p>
          </p:txBody>
        </p:sp>
        <p:sp>
          <p:nvSpPr>
            <p:cNvPr id="46" name="Oval 35"/>
            <p:cNvSpPr>
              <a:spLocks noChangeArrowheads="1"/>
            </p:cNvSpPr>
            <p:nvPr/>
          </p:nvSpPr>
          <p:spPr bwMode="auto">
            <a:xfrm>
              <a:off x="5001" y="3294"/>
              <a:ext cx="296" cy="269"/>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Char char="Ø"/>
              </a:pPr>
              <a:endParaRPr lang="zh-CN" altLang="en-US" sz="2400">
                <a:solidFill>
                  <a:srgbClr val="0000FF"/>
                </a:solidFill>
                <a:latin typeface="Constantia" pitchFamily="18" charset="0"/>
              </a:endParaRPr>
            </a:p>
          </p:txBody>
        </p:sp>
        <p:sp>
          <p:nvSpPr>
            <p:cNvPr id="47" name="Oval 36"/>
            <p:cNvSpPr>
              <a:spLocks noChangeArrowheads="1"/>
            </p:cNvSpPr>
            <p:nvPr/>
          </p:nvSpPr>
          <p:spPr bwMode="auto">
            <a:xfrm>
              <a:off x="4554" y="2775"/>
              <a:ext cx="295" cy="270"/>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Char char="Ø"/>
              </a:pPr>
              <a:endParaRPr lang="zh-CN" altLang="en-US" sz="2400">
                <a:solidFill>
                  <a:srgbClr val="0000FF"/>
                </a:solidFill>
                <a:latin typeface="Constantia" pitchFamily="18" charset="0"/>
              </a:endParaRPr>
            </a:p>
          </p:txBody>
        </p:sp>
        <p:sp>
          <p:nvSpPr>
            <p:cNvPr id="48" name="Text Box 37"/>
            <p:cNvSpPr txBox="1">
              <a:spLocks noChangeArrowheads="1"/>
            </p:cNvSpPr>
            <p:nvPr/>
          </p:nvSpPr>
          <p:spPr bwMode="auto">
            <a:xfrm>
              <a:off x="4477" y="2704"/>
              <a:ext cx="535" cy="36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DBF5F9"/>
                  </a:solidFill>
                  <a:latin typeface="黑体" pitchFamily="2" charset="-122"/>
                  <a:ea typeface="黑体" pitchFamily="2" charset="-122"/>
                </a:rPr>
                <a:t> </a:t>
              </a:r>
              <a:r>
                <a:rPr lang="en-US" altLang="zh-CN" sz="3200" b="1">
                  <a:solidFill>
                    <a:srgbClr val="0000FF"/>
                  </a:solidFill>
                  <a:latin typeface="黑体" pitchFamily="2" charset="-122"/>
                  <a:ea typeface="黑体" pitchFamily="2" charset="-122"/>
                </a:rPr>
                <a:t>C</a:t>
              </a:r>
            </a:p>
          </p:txBody>
        </p:sp>
        <p:sp>
          <p:nvSpPr>
            <p:cNvPr id="49" name="Text Box 38"/>
            <p:cNvSpPr txBox="1">
              <a:spLocks noChangeArrowheads="1"/>
            </p:cNvSpPr>
            <p:nvPr/>
          </p:nvSpPr>
          <p:spPr bwMode="auto">
            <a:xfrm>
              <a:off x="4889" y="3203"/>
              <a:ext cx="535" cy="36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400" b="1">
                  <a:solidFill>
                    <a:srgbClr val="DBF5F9"/>
                  </a:solidFill>
                  <a:latin typeface="隶书" pitchFamily="49" charset="-122"/>
                  <a:ea typeface="隶书" pitchFamily="49" charset="-122"/>
                </a:rPr>
                <a:t> </a:t>
              </a:r>
              <a:r>
                <a:rPr lang="en-US" altLang="zh-CN" sz="3200" b="1">
                  <a:solidFill>
                    <a:srgbClr val="0000FF"/>
                  </a:solidFill>
                  <a:latin typeface="黑体" pitchFamily="2" charset="-122"/>
                  <a:ea typeface="黑体" pitchFamily="2" charset="-122"/>
                </a:rPr>
                <a:t>D</a:t>
              </a:r>
            </a:p>
          </p:txBody>
        </p:sp>
        <p:sp>
          <p:nvSpPr>
            <p:cNvPr id="50" name="Oval 39"/>
            <p:cNvSpPr>
              <a:spLocks noChangeArrowheads="1"/>
            </p:cNvSpPr>
            <p:nvPr/>
          </p:nvSpPr>
          <p:spPr bwMode="auto">
            <a:xfrm>
              <a:off x="5095" y="2233"/>
              <a:ext cx="295" cy="270"/>
            </a:xfrm>
            <a:prstGeom prst="ellipse">
              <a:avLst/>
            </a:prstGeom>
            <a:solidFill>
              <a:srgbClr val="FFFFCC"/>
            </a:solidFill>
            <a:ln w="12700" cap="rnd">
              <a:solidFill>
                <a:srgbClr val="FFFFCC"/>
              </a:solidFill>
              <a:round/>
              <a:headEnd/>
              <a:tailEnd/>
            </a:ln>
          </p:spPr>
          <p:txBody>
            <a:bodyPr wrap="none" anchor="ctr"/>
            <a:lstStyle/>
            <a:p>
              <a:pPr marL="533400" indent="-533400" algn="ctr" fontAlgn="base">
                <a:lnSpc>
                  <a:spcPct val="140000"/>
                </a:lnSpc>
                <a:spcBef>
                  <a:spcPct val="20000"/>
                </a:spcBef>
                <a:spcAft>
                  <a:spcPct val="0"/>
                </a:spcAft>
                <a:buClr>
                  <a:srgbClr val="FFFF00"/>
                </a:buClr>
                <a:buSzPct val="95000"/>
                <a:buFont typeface="Wingdings" pitchFamily="2" charset="2"/>
                <a:buChar char="Ø"/>
              </a:pPr>
              <a:endParaRPr lang="zh-CN" altLang="en-US" sz="2400">
                <a:solidFill>
                  <a:srgbClr val="0000FF"/>
                </a:solidFill>
                <a:latin typeface="Constantia" pitchFamily="18" charset="0"/>
              </a:endParaRPr>
            </a:p>
          </p:txBody>
        </p:sp>
        <p:sp>
          <p:nvSpPr>
            <p:cNvPr id="51" name="Text Box 40"/>
            <p:cNvSpPr txBox="1">
              <a:spLocks noChangeArrowheads="1"/>
            </p:cNvSpPr>
            <p:nvPr/>
          </p:nvSpPr>
          <p:spPr bwMode="auto">
            <a:xfrm>
              <a:off x="5016" y="2162"/>
              <a:ext cx="537" cy="368"/>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000" b="1">
                  <a:solidFill>
                    <a:srgbClr val="DBF5F9"/>
                  </a:solidFill>
                  <a:latin typeface="黑体" pitchFamily="2" charset="-122"/>
                  <a:ea typeface="黑体" pitchFamily="2" charset="-122"/>
                </a:rPr>
                <a:t> </a:t>
              </a:r>
              <a:r>
                <a:rPr lang="en-US" altLang="zh-CN" sz="3200" b="1">
                  <a:solidFill>
                    <a:srgbClr val="0000FF"/>
                  </a:solidFill>
                  <a:latin typeface="黑体" pitchFamily="2" charset="-122"/>
                  <a:ea typeface="黑体" pitchFamily="2" charset="-122"/>
                </a:rPr>
                <a:t>B</a:t>
              </a:r>
            </a:p>
          </p:txBody>
        </p:sp>
        <p:sp>
          <p:nvSpPr>
            <p:cNvPr id="52" name="Line 41"/>
            <p:cNvSpPr>
              <a:spLocks noChangeShapeType="1"/>
            </p:cNvSpPr>
            <p:nvPr/>
          </p:nvSpPr>
          <p:spPr bwMode="auto">
            <a:xfrm>
              <a:off x="4749" y="2040"/>
              <a:ext cx="357" cy="243"/>
            </a:xfrm>
            <a:prstGeom prst="line">
              <a:avLst/>
            </a:prstGeom>
            <a:noFill/>
            <a:ln w="38100" cap="rnd">
              <a:solidFill>
                <a:srgbClr val="FFFF66"/>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grpSp>
      <p:sp>
        <p:nvSpPr>
          <p:cNvPr id="53" name="Rectangle 42"/>
          <p:cNvSpPr>
            <a:spLocks noChangeArrowheads="1"/>
          </p:cNvSpPr>
          <p:nvPr/>
        </p:nvSpPr>
        <p:spPr bwMode="auto">
          <a:xfrm>
            <a:off x="247530" y="1238488"/>
            <a:ext cx="5408853" cy="461665"/>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buFont typeface="Wingdings" pitchFamily="2" charset="2"/>
              <a:buChar char="p"/>
            </a:pPr>
            <a:r>
              <a:rPr kumimoji="1" lang="zh-CN" altLang="en-US" sz="2400" b="1" dirty="0">
                <a:solidFill>
                  <a:srgbClr val="6600FF"/>
                </a:solidFill>
                <a:latin typeface="Times New Roman" pitchFamily="18" charset="0"/>
              </a:rPr>
              <a:t>二叉树的遍历与存储结构之间的转化</a:t>
            </a:r>
          </a:p>
        </p:txBody>
      </p:sp>
    </p:spTree>
    <p:extLst>
      <p:ext uri="{BB962C8B-B14F-4D97-AF65-F5344CB8AC3E}">
        <p14:creationId xmlns:p14="http://schemas.microsoft.com/office/powerpoint/2010/main" val="230788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fontAlgn="base">
              <a:lnSpc>
                <a:spcPct val="150000"/>
              </a:lnSpc>
              <a:spcBef>
                <a:spcPct val="5000"/>
              </a:spcBef>
              <a:spcAft>
                <a:spcPct val="5000"/>
              </a:spcAft>
            </a:pPr>
            <a:r>
              <a:rPr kumimoji="1" lang="en-US" altLang="zh-CN" sz="3200" b="1" dirty="0">
                <a:latin typeface="Arial" charset="0"/>
                <a:ea typeface="宋体" charset="-122"/>
                <a:cs typeface="+mn-cs"/>
              </a:rPr>
              <a:t>5.4.2  </a:t>
            </a:r>
            <a:r>
              <a:rPr kumimoji="1" lang="zh-CN" altLang="en-US" sz="3200" b="1" dirty="0">
                <a:latin typeface="Arial" charset="0"/>
                <a:ea typeface="宋体" charset="-122"/>
                <a:cs typeface="+mn-cs"/>
              </a:rPr>
              <a:t>二叉树的遍历与存储结构的应用</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400" b="1" dirty="0"/>
          </a:p>
        </p:txBody>
      </p:sp>
      <p:sp>
        <p:nvSpPr>
          <p:cNvPr id="4" name="日期占位符 3"/>
          <p:cNvSpPr>
            <a:spLocks noGrp="1"/>
          </p:cNvSpPr>
          <p:nvPr>
            <p:ph type="dt" sz="half" idx="10"/>
          </p:nvPr>
        </p:nvSpPr>
        <p:spPr/>
        <p:txBody>
          <a:bodyPr/>
          <a:lstStyle/>
          <a:p>
            <a:fld id="{47D53CE4-A55D-44BA-9915-F3148CE5FBBB}"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74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40" name="Text Box 29"/>
          <p:cNvSpPr txBox="1">
            <a:spLocks noChangeArrowheads="1"/>
          </p:cNvSpPr>
          <p:nvPr/>
        </p:nvSpPr>
        <p:spPr bwMode="auto">
          <a:xfrm>
            <a:off x="8675688" y="4081463"/>
            <a:ext cx="849312" cy="461665"/>
          </a:xfrm>
          <a:prstGeom prst="rect">
            <a:avLst/>
          </a:prstGeom>
          <a:noFill/>
          <a:ln w="12700" cap="rnd">
            <a:noFill/>
            <a:miter lim="800000"/>
            <a:headEnd/>
            <a:tailEnd/>
          </a:ln>
        </p:spPr>
        <p:txBody>
          <a:bodyPr>
            <a:spAutoFit/>
          </a:bodyPr>
          <a:lstStyle/>
          <a:p>
            <a:pPr eaLnBrk="0" fontAlgn="base" hangingPunct="0">
              <a:spcBef>
                <a:spcPct val="0"/>
              </a:spcBef>
              <a:spcAft>
                <a:spcPct val="0"/>
              </a:spcAft>
            </a:pPr>
            <a:r>
              <a:rPr lang="zh-CN" altLang="en-US" sz="2400" b="1">
                <a:solidFill>
                  <a:srgbClr val="DBF5F9"/>
                </a:solidFill>
                <a:latin typeface="隶书" pitchFamily="49" charset="-122"/>
                <a:ea typeface="隶书" pitchFamily="49" charset="-122"/>
              </a:rPr>
              <a:t> </a:t>
            </a:r>
            <a:endParaRPr lang="en-US" altLang="zh-CN" sz="3200" b="1">
              <a:solidFill>
                <a:srgbClr val="0000FF"/>
              </a:solidFill>
              <a:latin typeface="黑体" pitchFamily="2" charset="-122"/>
              <a:ea typeface="黑体" pitchFamily="2" charset="-122"/>
            </a:endParaRPr>
          </a:p>
        </p:txBody>
      </p:sp>
      <p:sp>
        <p:nvSpPr>
          <p:cNvPr id="54" name="Rectangle 3"/>
          <p:cNvSpPr>
            <a:spLocks noChangeArrowheads="1"/>
          </p:cNvSpPr>
          <p:nvPr/>
        </p:nvSpPr>
        <p:spPr bwMode="auto">
          <a:xfrm>
            <a:off x="200025" y="1371600"/>
            <a:ext cx="2270173" cy="461665"/>
          </a:xfrm>
          <a:prstGeom prst="rect">
            <a:avLst/>
          </a:prstGeom>
          <a:noFill/>
          <a:ln w="9525" algn="ctr">
            <a:noFill/>
            <a:miter lim="800000"/>
            <a:headEnd/>
            <a:tailEnd/>
          </a:ln>
        </p:spPr>
        <p:txBody>
          <a:bodyPr wrap="none">
            <a:spAutoFit/>
          </a:bodyPr>
          <a:lstStyle/>
          <a:p>
            <a:pPr marL="533400" indent="-533400" fontAlgn="base">
              <a:spcBef>
                <a:spcPct val="50000"/>
              </a:spcBef>
              <a:spcAft>
                <a:spcPct val="0"/>
              </a:spcAft>
              <a:buFont typeface="Wingdings" pitchFamily="2" charset="2"/>
              <a:buChar char="p"/>
            </a:pPr>
            <a:r>
              <a:rPr kumimoji="1" lang="zh-CN" altLang="en-US" sz="2400" b="1" dirty="0">
                <a:solidFill>
                  <a:srgbClr val="6600FF"/>
                </a:solidFill>
                <a:latin typeface="Constantia" pitchFamily="18" charset="0"/>
              </a:rPr>
              <a:t>构造二叉树</a:t>
            </a:r>
          </a:p>
        </p:txBody>
      </p:sp>
      <p:sp>
        <p:nvSpPr>
          <p:cNvPr id="55" name="Text Box 4"/>
          <p:cNvSpPr txBox="1">
            <a:spLocks noChangeArrowheads="1"/>
          </p:cNvSpPr>
          <p:nvPr/>
        </p:nvSpPr>
        <p:spPr bwMode="auto">
          <a:xfrm>
            <a:off x="273050" y="3786187"/>
            <a:ext cx="9217025" cy="2462213"/>
          </a:xfrm>
          <a:prstGeom prst="rect">
            <a:avLst/>
          </a:prstGeom>
          <a:noFill/>
          <a:ln w="9525">
            <a:noFill/>
            <a:miter lim="800000"/>
            <a:headEnd/>
            <a:tailEnd/>
          </a:ln>
        </p:spPr>
        <p:txBody>
          <a:bodyPr>
            <a:spAutoFit/>
          </a:bodyPr>
          <a:lstStyle/>
          <a:p>
            <a:pPr fontAlgn="base">
              <a:spcBef>
                <a:spcPct val="50000"/>
              </a:spcBef>
              <a:spcAft>
                <a:spcPct val="0"/>
              </a:spcAft>
            </a:pPr>
            <a:r>
              <a:rPr kumimoji="1" lang="en-US" altLang="zh-CN" sz="2800" b="1">
                <a:solidFill>
                  <a:srgbClr val="0000FF"/>
                </a:solidFill>
                <a:latin typeface="楷体_GB2312" pitchFamily="49" charset="-122"/>
                <a:ea typeface="楷体_GB2312" pitchFamily="49" charset="-122"/>
              </a:rPr>
              <a:t> </a:t>
            </a:r>
            <a:r>
              <a:rPr kumimoji="1" lang="zh-CN" altLang="en-US" sz="2800" b="1">
                <a:solidFill>
                  <a:srgbClr val="0000FF"/>
                </a:solidFill>
                <a:latin typeface="楷体_GB2312" pitchFamily="49" charset="-122"/>
                <a:ea typeface="楷体_GB2312" pitchFamily="49" charset="-122"/>
              </a:rPr>
              <a:t>给定某两种遍历序列能否唯一确定一棵二叉树？</a:t>
            </a:r>
          </a:p>
          <a:p>
            <a:pPr fontAlgn="base">
              <a:spcBef>
                <a:spcPct val="50000"/>
              </a:spcBef>
              <a:spcAft>
                <a:spcPct val="0"/>
              </a:spcAft>
            </a:pPr>
            <a:r>
              <a:rPr kumimoji="1" lang="zh-CN" altLang="en-US" sz="2800" b="1">
                <a:solidFill>
                  <a:srgbClr val="000000"/>
                </a:solidFill>
                <a:latin typeface="楷体_GB2312" pitchFamily="49" charset="-122"/>
                <a:ea typeface="楷体_GB2312" pitchFamily="49" charset="-122"/>
              </a:rPr>
              <a:t>    给定中序和后序</a:t>
            </a:r>
          </a:p>
          <a:p>
            <a:pPr fontAlgn="base">
              <a:spcBef>
                <a:spcPct val="50000"/>
              </a:spcBef>
              <a:spcAft>
                <a:spcPct val="0"/>
              </a:spcAft>
            </a:pPr>
            <a:r>
              <a:rPr kumimoji="1" lang="zh-CN" altLang="en-US" sz="2800" b="1">
                <a:solidFill>
                  <a:srgbClr val="000000"/>
                </a:solidFill>
                <a:latin typeface="楷体_GB2312" pitchFamily="49" charset="-122"/>
                <a:ea typeface="楷体_GB2312" pitchFamily="49" charset="-122"/>
              </a:rPr>
              <a:t>    给定中序和前序  </a:t>
            </a:r>
          </a:p>
          <a:p>
            <a:pPr fontAlgn="base">
              <a:spcBef>
                <a:spcPct val="50000"/>
              </a:spcBef>
              <a:spcAft>
                <a:spcPct val="0"/>
              </a:spcAft>
            </a:pPr>
            <a:r>
              <a:rPr kumimoji="1" lang="zh-CN" altLang="en-US" sz="2800" b="1">
                <a:solidFill>
                  <a:srgbClr val="000000"/>
                </a:solidFill>
                <a:latin typeface="楷体_GB2312" pitchFamily="49" charset="-122"/>
                <a:ea typeface="楷体_GB2312" pitchFamily="49" charset="-122"/>
              </a:rPr>
              <a:t>    给定先序和后序</a:t>
            </a:r>
            <a:r>
              <a:rPr kumimoji="1" lang="zh-CN" altLang="en-US" sz="2800" b="1">
                <a:solidFill>
                  <a:srgbClr val="FF0000"/>
                </a:solidFill>
                <a:latin typeface="楷体_GB2312" pitchFamily="49" charset="-122"/>
                <a:ea typeface="楷体_GB2312" pitchFamily="49" charset="-122"/>
              </a:rPr>
              <a:t>不能</a:t>
            </a:r>
            <a:r>
              <a:rPr kumimoji="1" lang="zh-CN" altLang="en-US" sz="2800" b="1">
                <a:solidFill>
                  <a:srgbClr val="000000"/>
                </a:solidFill>
                <a:latin typeface="楷体_GB2312" pitchFamily="49" charset="-122"/>
                <a:ea typeface="楷体_GB2312" pitchFamily="49" charset="-122"/>
              </a:rPr>
              <a:t>唯一确定一棵二叉树</a:t>
            </a:r>
            <a:endParaRPr kumimoji="1" lang="zh-CN" altLang="en-US" sz="2800">
              <a:solidFill>
                <a:srgbClr val="000000"/>
              </a:solidFill>
              <a:latin typeface="Tahoma" pitchFamily="34" charset="0"/>
            </a:endParaRPr>
          </a:p>
        </p:txBody>
      </p:sp>
      <p:sp>
        <p:nvSpPr>
          <p:cNvPr id="56" name="AutoShape 5"/>
          <p:cNvSpPr>
            <a:spLocks noChangeArrowheads="1"/>
          </p:cNvSpPr>
          <p:nvPr/>
        </p:nvSpPr>
        <p:spPr bwMode="auto">
          <a:xfrm>
            <a:off x="4089400" y="4760912"/>
            <a:ext cx="742950" cy="84138"/>
          </a:xfrm>
          <a:prstGeom prst="notchedRightArrow">
            <a:avLst>
              <a:gd name="adj1" fmla="val 50000"/>
              <a:gd name="adj2" fmla="val 220753"/>
            </a:avLst>
          </a:prstGeom>
          <a:solidFill>
            <a:srgbClr val="FF3300"/>
          </a:solidFill>
          <a:ln w="9525">
            <a:solidFill>
              <a:srgbClr val="000000"/>
            </a:solidFill>
            <a:miter lim="800000"/>
            <a:headEnd/>
            <a:tailEnd/>
          </a:ln>
        </p:spPr>
        <p:txBody>
          <a:bodyPr wrap="none" anchor="ctr"/>
          <a:lstStyle/>
          <a:p>
            <a:pPr marL="533400" marR="0" lvl="0" indent="-533400" algn="ctr" defTabSz="914400" eaLnBrk="1" fontAlgn="base" latinLnBrk="0" hangingPunct="1">
              <a:lnSpc>
                <a:spcPct val="140000"/>
              </a:lnSpc>
              <a:spcBef>
                <a:spcPct val="20000"/>
              </a:spcBef>
              <a:spcAft>
                <a:spcPct val="0"/>
              </a:spcAft>
              <a:buClr>
                <a:srgbClr val="FFFF00"/>
              </a:buClr>
              <a:buSzPct val="95000"/>
              <a:buFont typeface="Wingdings" pitchFamily="2" charset="2"/>
              <a:buNone/>
              <a:tabLst/>
              <a:defRPr/>
            </a:pPr>
            <a:endParaRPr kumimoji="0" lang="zh-CN" altLang="en-US" sz="2400" b="0" i="0" u="none" strike="noStrike" kern="0" cap="none" spc="0" normalizeH="0" baseline="0" noProof="0">
              <a:ln>
                <a:noFill/>
              </a:ln>
              <a:solidFill>
                <a:srgbClr val="0000FF"/>
              </a:solidFill>
              <a:effectLst/>
              <a:uLnTx/>
              <a:uFillTx/>
              <a:latin typeface="Constantia" pitchFamily="18" charset="0"/>
            </a:endParaRPr>
          </a:p>
        </p:txBody>
      </p:sp>
      <p:sp>
        <p:nvSpPr>
          <p:cNvPr id="57" name="Text Box 6"/>
          <p:cNvSpPr txBox="1">
            <a:spLocks noChangeArrowheads="1"/>
          </p:cNvSpPr>
          <p:nvPr/>
        </p:nvSpPr>
        <p:spPr bwMode="auto">
          <a:xfrm>
            <a:off x="4808538" y="4473575"/>
            <a:ext cx="4475162" cy="523220"/>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000000"/>
                </a:solidFill>
                <a:latin typeface="Times New Roman" pitchFamily="18" charset="0"/>
              </a:rPr>
              <a:t>唯一确定一棵二叉树</a:t>
            </a:r>
          </a:p>
        </p:txBody>
      </p:sp>
      <p:sp>
        <p:nvSpPr>
          <p:cNvPr id="58" name="AutoShape 7"/>
          <p:cNvSpPr>
            <a:spLocks noChangeArrowheads="1"/>
          </p:cNvSpPr>
          <p:nvPr/>
        </p:nvSpPr>
        <p:spPr bwMode="auto">
          <a:xfrm>
            <a:off x="4160838" y="5405437"/>
            <a:ext cx="742950" cy="84138"/>
          </a:xfrm>
          <a:prstGeom prst="notchedRightArrow">
            <a:avLst>
              <a:gd name="adj1" fmla="val 50000"/>
              <a:gd name="adj2" fmla="val 220753"/>
            </a:avLst>
          </a:prstGeom>
          <a:solidFill>
            <a:srgbClr val="FF3300"/>
          </a:solidFill>
          <a:ln w="9525">
            <a:solidFill>
              <a:srgbClr val="000000"/>
            </a:solidFill>
            <a:miter lim="800000"/>
            <a:headEnd/>
            <a:tailEnd/>
          </a:ln>
        </p:spPr>
        <p:txBody>
          <a:bodyPr wrap="none" anchor="ctr"/>
          <a:lstStyle/>
          <a:p>
            <a:pPr marL="533400" marR="0" lvl="0" indent="-533400" algn="ctr" defTabSz="914400" eaLnBrk="1" fontAlgn="base" latinLnBrk="0" hangingPunct="1">
              <a:lnSpc>
                <a:spcPct val="140000"/>
              </a:lnSpc>
              <a:spcBef>
                <a:spcPct val="20000"/>
              </a:spcBef>
              <a:spcAft>
                <a:spcPct val="0"/>
              </a:spcAft>
              <a:buClr>
                <a:srgbClr val="FFFF00"/>
              </a:buClr>
              <a:buSzPct val="95000"/>
              <a:buFont typeface="Wingdings" pitchFamily="2" charset="2"/>
              <a:buNone/>
              <a:tabLst/>
              <a:defRPr/>
            </a:pPr>
            <a:endParaRPr kumimoji="0" lang="zh-CN" altLang="en-US" sz="2400" b="0" i="0" u="none" strike="noStrike" kern="0" cap="none" spc="0" normalizeH="0" baseline="0" noProof="0">
              <a:ln>
                <a:noFill/>
              </a:ln>
              <a:solidFill>
                <a:srgbClr val="0000FF"/>
              </a:solidFill>
              <a:effectLst/>
              <a:uLnTx/>
              <a:uFillTx/>
              <a:latin typeface="Constantia" pitchFamily="18" charset="0"/>
            </a:endParaRPr>
          </a:p>
        </p:txBody>
      </p:sp>
      <p:sp>
        <p:nvSpPr>
          <p:cNvPr id="59" name="Text Box 8"/>
          <p:cNvSpPr txBox="1">
            <a:spLocks noChangeArrowheads="1"/>
          </p:cNvSpPr>
          <p:nvPr/>
        </p:nvSpPr>
        <p:spPr bwMode="auto">
          <a:xfrm>
            <a:off x="4879975" y="5118100"/>
            <a:ext cx="4475163" cy="523220"/>
          </a:xfrm>
          <a:prstGeom prst="rect">
            <a:avLst/>
          </a:prstGeom>
          <a:noFill/>
          <a:ln w="9525">
            <a:noFill/>
            <a:miter lim="800000"/>
            <a:headEnd/>
            <a:tailEnd/>
          </a:ln>
        </p:spPr>
        <p:txBody>
          <a:bodyPr>
            <a:spAutoFit/>
          </a:bodyPr>
          <a:lstStyle/>
          <a:p>
            <a:pPr fontAlgn="base">
              <a:spcBef>
                <a:spcPct val="50000"/>
              </a:spcBef>
              <a:spcAft>
                <a:spcPct val="0"/>
              </a:spcAft>
            </a:pPr>
            <a:r>
              <a:rPr kumimoji="1" lang="zh-CN" altLang="en-US" sz="2800" b="1">
                <a:solidFill>
                  <a:srgbClr val="000000"/>
                </a:solidFill>
                <a:latin typeface="Times New Roman" pitchFamily="18" charset="0"/>
              </a:rPr>
              <a:t>唯一确定一棵二叉树</a:t>
            </a:r>
          </a:p>
        </p:txBody>
      </p:sp>
      <p:sp>
        <p:nvSpPr>
          <p:cNvPr id="60" name="Text Box 9"/>
          <p:cNvSpPr txBox="1">
            <a:spLocks noChangeArrowheads="1"/>
          </p:cNvSpPr>
          <p:nvPr/>
        </p:nvSpPr>
        <p:spPr bwMode="auto">
          <a:xfrm>
            <a:off x="273050" y="2260600"/>
            <a:ext cx="8566150" cy="1200329"/>
          </a:xfrm>
          <a:prstGeom prst="rect">
            <a:avLst/>
          </a:prstGeom>
          <a:noFill/>
          <a:ln w="9525">
            <a:solidFill>
              <a:srgbClr val="0000FF"/>
            </a:solidFill>
            <a:miter lim="800000"/>
            <a:headEnd/>
            <a:tailEnd/>
          </a:ln>
        </p:spPr>
        <p:txBody>
          <a:bodyPr wrap="square">
            <a:spAutoFit/>
          </a:bodyPr>
          <a:lstStyle/>
          <a:p>
            <a:pPr fontAlgn="base">
              <a:spcBef>
                <a:spcPct val="50000"/>
              </a:spcBef>
              <a:spcAft>
                <a:spcPct val="0"/>
              </a:spcAft>
            </a:pPr>
            <a:r>
              <a:rPr kumimoji="1" lang="zh-CN" altLang="en-US" sz="3600" b="1">
                <a:solidFill>
                  <a:srgbClr val="FF0000"/>
                </a:solidFill>
                <a:latin typeface="华文隶书" pitchFamily="2" charset="-122"/>
                <a:ea typeface="华文隶书" pitchFamily="2" charset="-122"/>
              </a:rPr>
              <a:t>关键</a:t>
            </a:r>
            <a:r>
              <a:rPr kumimoji="1" lang="zh-CN" altLang="en-US" sz="2400" b="1">
                <a:solidFill>
                  <a:srgbClr val="0000FF"/>
                </a:solidFill>
                <a:latin typeface="楷体_GB2312" pitchFamily="49" charset="-122"/>
                <a:ea typeface="楷体_GB2312" pitchFamily="49" charset="-122"/>
              </a:rPr>
              <a:t>（</a:t>
            </a:r>
            <a:r>
              <a:rPr kumimoji="1" lang="en-US" altLang="zh-CN" sz="2400" b="1">
                <a:solidFill>
                  <a:srgbClr val="0000FF"/>
                </a:solidFill>
                <a:latin typeface="楷体_GB2312" pitchFamily="49" charset="-122"/>
                <a:ea typeface="楷体_GB2312" pitchFamily="49" charset="-122"/>
              </a:rPr>
              <a:t>1</a:t>
            </a:r>
            <a:r>
              <a:rPr kumimoji="1" lang="zh-CN" altLang="en-US" sz="2400" b="1">
                <a:solidFill>
                  <a:srgbClr val="0000FF"/>
                </a:solidFill>
                <a:latin typeface="楷体_GB2312" pitchFamily="49" charset="-122"/>
                <a:ea typeface="楷体_GB2312" pitchFamily="49" charset="-122"/>
              </a:rPr>
              <a:t>）确定二叉树的根结点；</a:t>
            </a:r>
          </a:p>
          <a:p>
            <a:pPr fontAlgn="base">
              <a:spcBef>
                <a:spcPct val="50000"/>
              </a:spcBef>
              <a:spcAft>
                <a:spcPct val="0"/>
              </a:spcAft>
            </a:pPr>
            <a:r>
              <a:rPr kumimoji="1" lang="zh-CN" altLang="en-US" sz="2400" b="1">
                <a:solidFill>
                  <a:srgbClr val="0000FF"/>
                </a:solidFill>
                <a:latin typeface="楷体_GB2312" pitchFamily="49" charset="-122"/>
                <a:ea typeface="楷体_GB2312" pitchFamily="49" charset="-122"/>
              </a:rPr>
              <a:t>      （</a:t>
            </a:r>
            <a:r>
              <a:rPr kumimoji="1" lang="en-US" altLang="zh-CN" sz="2400" b="1">
                <a:solidFill>
                  <a:srgbClr val="0000FF"/>
                </a:solidFill>
                <a:latin typeface="楷体_GB2312" pitchFamily="49" charset="-122"/>
                <a:ea typeface="楷体_GB2312" pitchFamily="49" charset="-122"/>
              </a:rPr>
              <a:t>2</a:t>
            </a:r>
            <a:r>
              <a:rPr kumimoji="1" lang="zh-CN" altLang="en-US" sz="2400" b="1">
                <a:solidFill>
                  <a:srgbClr val="0000FF"/>
                </a:solidFill>
                <a:latin typeface="楷体_GB2312" pitchFamily="49" charset="-122"/>
                <a:ea typeface="楷体_GB2312" pitchFamily="49" charset="-122"/>
              </a:rPr>
              <a:t>）结点的左右次序。</a:t>
            </a:r>
          </a:p>
        </p:txBody>
      </p:sp>
    </p:spTree>
    <p:extLst>
      <p:ext uri="{BB962C8B-B14F-4D97-AF65-F5344CB8AC3E}">
        <p14:creationId xmlns:p14="http://schemas.microsoft.com/office/powerpoint/2010/main" val="1427509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p:bldP spid="58" grpId="0" animBg="1"/>
      <p:bldP spid="59"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fontAlgn="base">
              <a:lnSpc>
                <a:spcPct val="150000"/>
              </a:lnSpc>
              <a:spcBef>
                <a:spcPct val="5000"/>
              </a:spcBef>
              <a:spcAft>
                <a:spcPct val="5000"/>
              </a:spcAft>
            </a:pPr>
            <a:r>
              <a:rPr kumimoji="1" lang="en-US" altLang="zh-CN" sz="3200" b="1" dirty="0">
                <a:latin typeface="Arial" charset="0"/>
                <a:ea typeface="宋体" charset="-122"/>
                <a:cs typeface="+mn-cs"/>
              </a:rPr>
              <a:t>5.4.2  </a:t>
            </a:r>
            <a:r>
              <a:rPr kumimoji="1" lang="zh-CN" altLang="en-US" sz="3200" b="1" dirty="0">
                <a:latin typeface="Arial" charset="0"/>
                <a:ea typeface="宋体" charset="-122"/>
                <a:cs typeface="+mn-cs"/>
              </a:rPr>
              <a:t>二叉树的遍历与存储结构的应用</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400" b="1" dirty="0"/>
          </a:p>
        </p:txBody>
      </p:sp>
      <p:sp>
        <p:nvSpPr>
          <p:cNvPr id="4" name="日期占位符 3"/>
          <p:cNvSpPr>
            <a:spLocks noGrp="1"/>
          </p:cNvSpPr>
          <p:nvPr>
            <p:ph type="dt" sz="half" idx="10"/>
          </p:nvPr>
        </p:nvSpPr>
        <p:spPr/>
        <p:txBody>
          <a:bodyPr/>
          <a:lstStyle/>
          <a:p>
            <a:fld id="{136F7079-AFB4-475A-B0B9-7F9A468BAA97}"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75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20" name="Line 2"/>
          <p:cNvSpPr>
            <a:spLocks noChangeShapeType="1"/>
          </p:cNvSpPr>
          <p:nvPr/>
        </p:nvSpPr>
        <p:spPr bwMode="auto">
          <a:xfrm flipV="1">
            <a:off x="5613400" y="4173538"/>
            <a:ext cx="431800" cy="431800"/>
          </a:xfrm>
          <a:prstGeom prst="line">
            <a:avLst/>
          </a:prstGeom>
          <a:noFill/>
          <a:ln w="9525">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1" name="Text Box 3"/>
          <p:cNvSpPr txBox="1">
            <a:spLocks noChangeArrowheads="1"/>
          </p:cNvSpPr>
          <p:nvPr/>
        </p:nvSpPr>
        <p:spPr bwMode="auto">
          <a:xfrm>
            <a:off x="200025" y="1752600"/>
            <a:ext cx="8639175" cy="1421928"/>
          </a:xfrm>
          <a:prstGeom prst="rect">
            <a:avLst/>
          </a:prstGeom>
          <a:noFill/>
          <a:ln w="12700">
            <a:solidFill>
              <a:srgbClr val="0000FF"/>
            </a:solidFill>
            <a:miter lim="800000"/>
            <a:headEnd/>
            <a:tailEnd/>
          </a:ln>
        </p:spPr>
        <p:txBody>
          <a:bodyPr wrap="square">
            <a:spAutoFit/>
          </a:bodyPr>
          <a:lstStyle/>
          <a:p>
            <a:pPr fontAlgn="base">
              <a:spcBef>
                <a:spcPct val="30000"/>
              </a:spcBef>
              <a:spcAft>
                <a:spcPct val="0"/>
              </a:spcAft>
            </a:pPr>
            <a:r>
              <a:rPr kumimoji="1" lang="zh-CN" altLang="en-US" sz="2400" b="1" dirty="0">
                <a:solidFill>
                  <a:srgbClr val="0000FF"/>
                </a:solidFill>
                <a:latin typeface="楷体_GB2312" pitchFamily="49" charset="-122"/>
                <a:ea typeface="楷体_GB2312" pitchFamily="49" charset="-122"/>
              </a:rPr>
              <a:t>        给定二叉树先序和中序遍历序列，如何构造二叉树？</a:t>
            </a:r>
          </a:p>
          <a:p>
            <a:pPr fontAlgn="base">
              <a:spcBef>
                <a:spcPct val="30000"/>
              </a:spcBef>
              <a:spcAft>
                <a:spcPct val="0"/>
              </a:spcAft>
            </a:pPr>
            <a:r>
              <a:rPr kumimoji="1" lang="zh-CN" altLang="en-US" sz="2400" b="1" dirty="0">
                <a:solidFill>
                  <a:srgbClr val="0000FF"/>
                </a:solidFill>
                <a:latin typeface="楷体_GB2312" pitchFamily="49" charset="-122"/>
                <a:ea typeface="楷体_GB2312" pitchFamily="49" charset="-122"/>
              </a:rPr>
              <a:t>      先序：</a:t>
            </a:r>
            <a:r>
              <a:rPr kumimoji="1" lang="en-US" altLang="zh-CN" sz="2400" b="1" dirty="0">
                <a:solidFill>
                  <a:srgbClr val="0000FF"/>
                </a:solidFill>
                <a:latin typeface="楷体_GB2312" pitchFamily="49" charset="-122"/>
                <a:ea typeface="楷体_GB2312" pitchFamily="49" charset="-122"/>
              </a:rPr>
              <a:t>1 2 4 6 3 5 7 8</a:t>
            </a:r>
          </a:p>
          <a:p>
            <a:pPr fontAlgn="base">
              <a:spcBef>
                <a:spcPct val="30000"/>
              </a:spcBef>
              <a:spcAft>
                <a:spcPct val="0"/>
              </a:spcAft>
            </a:pPr>
            <a:r>
              <a:rPr kumimoji="1" lang="en-US" altLang="zh-CN" sz="2400" b="1" dirty="0">
                <a:solidFill>
                  <a:srgbClr val="0000FF"/>
                </a:solidFill>
                <a:latin typeface="楷体_GB2312" pitchFamily="49" charset="-122"/>
                <a:ea typeface="楷体_GB2312" pitchFamily="49" charset="-122"/>
              </a:rPr>
              <a:t>      </a:t>
            </a:r>
            <a:r>
              <a:rPr kumimoji="1" lang="zh-CN" altLang="en-US" sz="2400" b="1" dirty="0">
                <a:solidFill>
                  <a:srgbClr val="0000FF"/>
                </a:solidFill>
                <a:latin typeface="楷体_GB2312" pitchFamily="49" charset="-122"/>
                <a:ea typeface="楷体_GB2312" pitchFamily="49" charset="-122"/>
              </a:rPr>
              <a:t>中序：</a:t>
            </a:r>
            <a:r>
              <a:rPr kumimoji="1" lang="en-US" altLang="zh-CN" sz="2400" b="1" dirty="0">
                <a:solidFill>
                  <a:srgbClr val="0000FF"/>
                </a:solidFill>
                <a:latin typeface="楷体_GB2312" pitchFamily="49" charset="-122"/>
                <a:ea typeface="楷体_GB2312" pitchFamily="49" charset="-122"/>
              </a:rPr>
              <a:t>2 6 4 1 3 7 5 8</a:t>
            </a:r>
          </a:p>
        </p:txBody>
      </p:sp>
      <p:sp>
        <p:nvSpPr>
          <p:cNvPr id="22" name="Oval 5"/>
          <p:cNvSpPr>
            <a:spLocks noChangeArrowheads="1"/>
          </p:cNvSpPr>
          <p:nvPr/>
        </p:nvSpPr>
        <p:spPr bwMode="auto">
          <a:xfrm>
            <a:off x="1608138" y="3308350"/>
            <a:ext cx="681037" cy="647700"/>
          </a:xfrm>
          <a:prstGeom prst="ellipse">
            <a:avLst/>
          </a:prstGeom>
          <a:solidFill>
            <a:srgbClr val="C1E8ED"/>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FF0000"/>
                </a:solidFill>
                <a:effectLst/>
                <a:uLnTx/>
                <a:uFillTx/>
                <a:latin typeface="Tahoma" pitchFamily="34" charset="0"/>
              </a:rPr>
              <a:t>1</a:t>
            </a:r>
          </a:p>
        </p:txBody>
      </p:sp>
      <p:sp>
        <p:nvSpPr>
          <p:cNvPr id="23" name="AutoShape 6"/>
          <p:cNvSpPr>
            <a:spLocks noChangeArrowheads="1"/>
          </p:cNvSpPr>
          <p:nvPr/>
        </p:nvSpPr>
        <p:spPr bwMode="auto">
          <a:xfrm rot="10800000">
            <a:off x="112713" y="4460875"/>
            <a:ext cx="1455737" cy="1800225"/>
          </a:xfrm>
          <a:prstGeom prst="wedgeEllipseCallout">
            <a:avLst>
              <a:gd name="adj1" fmla="val -78681"/>
              <a:gd name="adj2" fmla="val 76454"/>
            </a:avLst>
          </a:prstGeom>
          <a:solidFill>
            <a:srgbClr val="C1E8ED"/>
          </a:solidFill>
          <a:ln w="9525">
            <a:solidFill>
              <a:srgbClr val="000000"/>
            </a:solidFill>
            <a:miter lim="800000"/>
            <a:headEnd/>
            <a:tailEnd/>
          </a:ln>
        </p:spPr>
        <p:txBody>
          <a:bodyPr rot="10800000"/>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Tahoma" pitchFamily="34" charset="0"/>
              </a:rPr>
              <a:t>前 </a:t>
            </a:r>
            <a:r>
              <a:rPr kumimoji="1" lang="en-US" altLang="zh-CN" sz="2000" b="1" i="0" u="none" strike="noStrike" kern="0" cap="none" spc="0" normalizeH="0" baseline="0" noProof="0">
                <a:ln>
                  <a:noFill/>
                </a:ln>
                <a:solidFill>
                  <a:srgbClr val="0000FF"/>
                </a:solidFill>
                <a:effectLst/>
                <a:uLnTx/>
                <a:uFillTx/>
                <a:latin typeface="Tahoma" pitchFamily="34" charset="0"/>
              </a:rPr>
              <a:t>246</a:t>
            </a: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Tahoma" pitchFamily="34" charset="0"/>
              </a:rPr>
              <a:t>中</a:t>
            </a:r>
          </a:p>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Tahoma" pitchFamily="34" charset="0"/>
              </a:rPr>
              <a:t>264</a:t>
            </a:r>
          </a:p>
        </p:txBody>
      </p:sp>
      <p:sp>
        <p:nvSpPr>
          <p:cNvPr id="24" name="AutoShape 7"/>
          <p:cNvSpPr>
            <a:spLocks noChangeArrowheads="1"/>
          </p:cNvSpPr>
          <p:nvPr/>
        </p:nvSpPr>
        <p:spPr bwMode="auto">
          <a:xfrm rot="10800000">
            <a:off x="1639888" y="4389438"/>
            <a:ext cx="1368425" cy="2087562"/>
          </a:xfrm>
          <a:prstGeom prst="wedgeEllipseCallout">
            <a:avLst>
              <a:gd name="adj1" fmla="val 28190"/>
              <a:gd name="adj2" fmla="val 69162"/>
            </a:avLst>
          </a:prstGeom>
          <a:solidFill>
            <a:srgbClr val="C1E8ED"/>
          </a:solidFill>
          <a:ln w="9525">
            <a:solidFill>
              <a:srgbClr val="000000"/>
            </a:solidFill>
            <a:miter lim="800000"/>
            <a:headEnd/>
            <a:tailEnd/>
          </a:ln>
        </p:spPr>
        <p:txBody>
          <a:bodyPr rot="10800000"/>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Tahoma" pitchFamily="34" charset="0"/>
              </a:rPr>
              <a:t>前</a:t>
            </a:r>
            <a:r>
              <a:rPr kumimoji="1" lang="en-US" altLang="zh-CN" sz="2000" b="1" i="0" u="none" strike="noStrike" kern="0" cap="none" spc="0" normalizeH="0" baseline="0" noProof="0">
                <a:ln>
                  <a:noFill/>
                </a:ln>
                <a:solidFill>
                  <a:srgbClr val="0000FF"/>
                </a:solidFill>
                <a:effectLst/>
                <a:uLnTx/>
                <a:uFillTx/>
                <a:latin typeface="Tahoma" pitchFamily="34" charset="0"/>
              </a:rPr>
              <a:t>3578</a:t>
            </a: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Tahoma" pitchFamily="34" charset="0"/>
              </a:rPr>
              <a:t>中</a:t>
            </a:r>
            <a:r>
              <a:rPr kumimoji="1" lang="en-US" altLang="zh-CN" sz="2000" b="1" i="0" u="none" strike="noStrike" kern="0" cap="none" spc="0" normalizeH="0" baseline="0" noProof="0">
                <a:ln>
                  <a:noFill/>
                </a:ln>
                <a:solidFill>
                  <a:srgbClr val="0000FF"/>
                </a:solidFill>
                <a:effectLst/>
                <a:uLnTx/>
                <a:uFillTx/>
                <a:latin typeface="Tahoma" pitchFamily="34" charset="0"/>
              </a:rPr>
              <a:t>3758</a:t>
            </a:r>
          </a:p>
        </p:txBody>
      </p:sp>
      <p:sp>
        <p:nvSpPr>
          <p:cNvPr id="25" name="Oval 8"/>
          <p:cNvSpPr>
            <a:spLocks noChangeArrowheads="1"/>
          </p:cNvSpPr>
          <p:nvPr/>
        </p:nvSpPr>
        <p:spPr bwMode="auto">
          <a:xfrm>
            <a:off x="209550" y="1862137"/>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400" b="1">
                <a:solidFill>
                  <a:srgbClr val="000000"/>
                </a:solidFill>
                <a:latin typeface="Times New Roman" pitchFamily="18" charset="0"/>
              </a:rPr>
              <a:t>例</a:t>
            </a:r>
          </a:p>
        </p:txBody>
      </p:sp>
      <p:sp>
        <p:nvSpPr>
          <p:cNvPr id="26" name="Oval 9"/>
          <p:cNvSpPr>
            <a:spLocks noChangeArrowheads="1"/>
          </p:cNvSpPr>
          <p:nvPr/>
        </p:nvSpPr>
        <p:spPr bwMode="auto">
          <a:xfrm>
            <a:off x="3440113" y="3562350"/>
            <a:ext cx="681037" cy="647700"/>
          </a:xfrm>
          <a:prstGeom prst="ellipse">
            <a:avLst/>
          </a:prstGeom>
          <a:solidFill>
            <a:srgbClr val="C1E8ED"/>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FF0000"/>
                </a:solidFill>
                <a:effectLst/>
                <a:uLnTx/>
                <a:uFillTx/>
                <a:latin typeface="Tahoma" pitchFamily="34" charset="0"/>
              </a:rPr>
              <a:t>左</a:t>
            </a:r>
            <a:r>
              <a:rPr kumimoji="1" lang="en-US" altLang="zh-CN" sz="2000" b="1" i="0" u="none" strike="noStrike" kern="0" cap="none" spc="0" normalizeH="0" baseline="0" noProof="0">
                <a:ln>
                  <a:noFill/>
                </a:ln>
                <a:solidFill>
                  <a:srgbClr val="FF0000"/>
                </a:solidFill>
                <a:effectLst/>
                <a:uLnTx/>
                <a:uFillTx/>
                <a:latin typeface="Tahoma" pitchFamily="34" charset="0"/>
              </a:rPr>
              <a:t>2</a:t>
            </a:r>
          </a:p>
        </p:txBody>
      </p:sp>
      <p:sp>
        <p:nvSpPr>
          <p:cNvPr id="27" name="AutoShape 10"/>
          <p:cNvSpPr>
            <a:spLocks noChangeArrowheads="1"/>
          </p:cNvSpPr>
          <p:nvPr/>
        </p:nvSpPr>
        <p:spPr bwMode="auto">
          <a:xfrm rot="10800000">
            <a:off x="3848100" y="4786313"/>
            <a:ext cx="1320800" cy="1331912"/>
          </a:xfrm>
          <a:prstGeom prst="wedgeEllipseCallout">
            <a:avLst>
              <a:gd name="adj1" fmla="val 43028"/>
              <a:gd name="adj2" fmla="val 96361"/>
            </a:avLst>
          </a:prstGeom>
          <a:solidFill>
            <a:srgbClr val="C1E8ED"/>
          </a:solidFill>
          <a:ln w="9525">
            <a:solidFill>
              <a:srgbClr val="000000"/>
            </a:solidFill>
            <a:miter lim="800000"/>
            <a:headEnd/>
            <a:tailEnd/>
          </a:ln>
        </p:spPr>
        <p:txBody>
          <a:bodyPr rot="10800000"/>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192AC7"/>
                </a:solidFill>
                <a:effectLst/>
                <a:uLnTx/>
                <a:uFillTx/>
                <a:latin typeface="Tahoma" pitchFamily="34" charset="0"/>
              </a:rPr>
              <a:t>前 </a:t>
            </a:r>
            <a:r>
              <a:rPr kumimoji="1" lang="en-US" altLang="zh-CN" sz="2000" b="1" i="0" u="none" strike="noStrike" kern="0" cap="none" spc="0" normalizeH="0" baseline="0" noProof="0">
                <a:ln>
                  <a:noFill/>
                </a:ln>
                <a:solidFill>
                  <a:srgbClr val="192AC7"/>
                </a:solidFill>
                <a:effectLst/>
                <a:uLnTx/>
                <a:uFillTx/>
                <a:latin typeface="Tahoma" pitchFamily="34" charset="0"/>
              </a:rPr>
              <a:t>46</a:t>
            </a: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192AC7"/>
                </a:solidFill>
                <a:effectLst/>
                <a:uLnTx/>
                <a:uFillTx/>
                <a:latin typeface="Tahoma" pitchFamily="34" charset="0"/>
              </a:rPr>
              <a:t>中</a:t>
            </a:r>
            <a:r>
              <a:rPr kumimoji="1" lang="en-US" altLang="zh-CN" sz="2000" b="1" i="0" u="none" strike="noStrike" kern="0" cap="none" spc="0" normalizeH="0" baseline="0" noProof="0">
                <a:ln>
                  <a:noFill/>
                </a:ln>
                <a:solidFill>
                  <a:srgbClr val="192AC7"/>
                </a:solidFill>
                <a:effectLst/>
                <a:uLnTx/>
                <a:uFillTx/>
                <a:latin typeface="Tahoma" pitchFamily="34" charset="0"/>
              </a:rPr>
              <a:t>64</a:t>
            </a:r>
          </a:p>
        </p:txBody>
      </p:sp>
      <p:sp>
        <p:nvSpPr>
          <p:cNvPr id="28" name="Oval 11"/>
          <p:cNvSpPr>
            <a:spLocks noChangeArrowheads="1"/>
          </p:cNvSpPr>
          <p:nvPr/>
        </p:nvSpPr>
        <p:spPr bwMode="auto">
          <a:xfrm>
            <a:off x="5802313" y="3668713"/>
            <a:ext cx="681037" cy="647700"/>
          </a:xfrm>
          <a:prstGeom prst="ellipse">
            <a:avLst/>
          </a:prstGeom>
          <a:solidFill>
            <a:srgbClr val="C1E8ED"/>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FF0000"/>
                </a:solidFill>
                <a:effectLst/>
                <a:uLnTx/>
                <a:uFillTx/>
                <a:latin typeface="Tahoma" pitchFamily="34" charset="0"/>
              </a:rPr>
              <a:t>右</a:t>
            </a:r>
            <a:r>
              <a:rPr kumimoji="1" lang="en-US" altLang="zh-CN" sz="2000" b="1" i="0" u="none" strike="noStrike" kern="0" cap="none" spc="0" normalizeH="0" baseline="0" noProof="0">
                <a:ln>
                  <a:noFill/>
                </a:ln>
                <a:solidFill>
                  <a:srgbClr val="FF0000"/>
                </a:solidFill>
                <a:effectLst/>
                <a:uLnTx/>
                <a:uFillTx/>
                <a:latin typeface="Tahoma" pitchFamily="34" charset="0"/>
              </a:rPr>
              <a:t>4</a:t>
            </a:r>
          </a:p>
        </p:txBody>
      </p:sp>
      <p:sp>
        <p:nvSpPr>
          <p:cNvPr id="29" name="Oval 12"/>
          <p:cNvSpPr>
            <a:spLocks noChangeArrowheads="1"/>
          </p:cNvSpPr>
          <p:nvPr/>
        </p:nvSpPr>
        <p:spPr bwMode="auto">
          <a:xfrm>
            <a:off x="5181600" y="4459288"/>
            <a:ext cx="614363" cy="577850"/>
          </a:xfrm>
          <a:prstGeom prst="ellipse">
            <a:avLst/>
          </a:prstGeom>
          <a:solidFill>
            <a:srgbClr val="C1E8ED"/>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192AC7"/>
                </a:solidFill>
                <a:effectLst/>
                <a:uLnTx/>
                <a:uFillTx/>
                <a:latin typeface="Tahoma" pitchFamily="34" charset="0"/>
              </a:rPr>
              <a:t>6</a:t>
            </a:r>
          </a:p>
        </p:txBody>
      </p:sp>
      <p:grpSp>
        <p:nvGrpSpPr>
          <p:cNvPr id="30" name="Group 13"/>
          <p:cNvGrpSpPr>
            <a:grpSpLocks/>
          </p:cNvGrpSpPr>
          <p:nvPr/>
        </p:nvGrpSpPr>
        <p:grpSpPr bwMode="auto">
          <a:xfrm>
            <a:off x="6546850" y="3884613"/>
            <a:ext cx="2593975" cy="2305050"/>
            <a:chOff x="1033" y="1570"/>
            <a:chExt cx="1634" cy="1452"/>
          </a:xfrm>
        </p:grpSpPr>
        <p:sp>
          <p:nvSpPr>
            <p:cNvPr id="31" name="Line 14"/>
            <p:cNvSpPr>
              <a:spLocks noChangeShapeType="1"/>
            </p:cNvSpPr>
            <p:nvPr/>
          </p:nvSpPr>
          <p:spPr bwMode="auto">
            <a:xfrm flipH="1">
              <a:off x="1434" y="1842"/>
              <a:ext cx="179" cy="182"/>
            </a:xfrm>
            <a:prstGeom prst="line">
              <a:avLst/>
            </a:prstGeom>
            <a:noFill/>
            <a:ln w="9525">
              <a:solidFill>
                <a:srgbClr val="000000"/>
              </a:solidFill>
              <a:miter lim="800000"/>
              <a:headEnd/>
              <a:tailEnd/>
            </a:ln>
          </p:spPr>
          <p:txBody>
            <a:bodyPr wrap="none"/>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2" name="Line 15"/>
            <p:cNvSpPr>
              <a:spLocks noChangeShapeType="1"/>
            </p:cNvSpPr>
            <p:nvPr/>
          </p:nvSpPr>
          <p:spPr bwMode="auto">
            <a:xfrm flipH="1" flipV="1">
              <a:off x="1351" y="2160"/>
              <a:ext cx="154" cy="201"/>
            </a:xfrm>
            <a:prstGeom prst="line">
              <a:avLst/>
            </a:prstGeom>
            <a:noFill/>
            <a:ln w="9525">
              <a:solidFill>
                <a:srgbClr val="000000"/>
              </a:solidFill>
              <a:miter lim="800000"/>
              <a:headEnd/>
              <a:tailEnd/>
            </a:ln>
          </p:spPr>
          <p:txBody>
            <a:bodyPr wrap="none"/>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3" name="Line 16"/>
            <p:cNvSpPr>
              <a:spLocks noChangeShapeType="1"/>
            </p:cNvSpPr>
            <p:nvPr/>
          </p:nvSpPr>
          <p:spPr bwMode="auto">
            <a:xfrm flipH="1">
              <a:off x="1306" y="2523"/>
              <a:ext cx="138" cy="153"/>
            </a:xfrm>
            <a:prstGeom prst="line">
              <a:avLst/>
            </a:prstGeom>
            <a:noFill/>
            <a:ln w="9525">
              <a:solidFill>
                <a:srgbClr val="000000"/>
              </a:solidFill>
              <a:miter lim="800000"/>
              <a:headEnd/>
              <a:tailEnd/>
            </a:ln>
          </p:spPr>
          <p:txBody>
            <a:bodyPr wrap="none"/>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4" name="Oval 17"/>
            <p:cNvSpPr>
              <a:spLocks noChangeArrowheads="1"/>
            </p:cNvSpPr>
            <p:nvPr/>
          </p:nvSpPr>
          <p:spPr bwMode="auto">
            <a:xfrm>
              <a:off x="1578" y="1570"/>
              <a:ext cx="306" cy="329"/>
            </a:xfrm>
            <a:prstGeom prst="ellipse">
              <a:avLst/>
            </a:prstGeom>
            <a:solidFill>
              <a:srgbClr val="C1E8ED"/>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192AC7"/>
                  </a:solidFill>
                  <a:effectLst/>
                  <a:uLnTx/>
                  <a:uFillTx/>
                  <a:latin typeface="Tahoma" pitchFamily="34" charset="0"/>
                </a:rPr>
                <a:t>1</a:t>
              </a:r>
            </a:p>
          </p:txBody>
        </p:sp>
        <p:sp>
          <p:nvSpPr>
            <p:cNvPr id="35" name="AutoShape 18"/>
            <p:cNvSpPr>
              <a:spLocks noChangeArrowheads="1"/>
            </p:cNvSpPr>
            <p:nvPr/>
          </p:nvSpPr>
          <p:spPr bwMode="auto">
            <a:xfrm rot="10800000">
              <a:off x="1805" y="1797"/>
              <a:ext cx="862" cy="1225"/>
            </a:xfrm>
            <a:prstGeom prst="wedgeEllipseCallout">
              <a:avLst>
                <a:gd name="adj1" fmla="val 56380"/>
                <a:gd name="adj2" fmla="val 47551"/>
              </a:avLst>
            </a:prstGeom>
            <a:solidFill>
              <a:srgbClr val="C1E8ED"/>
            </a:solidFill>
            <a:ln w="9525">
              <a:solidFill>
                <a:srgbClr val="000000"/>
              </a:solidFill>
              <a:miter lim="800000"/>
              <a:headEnd/>
              <a:tailEnd/>
            </a:ln>
          </p:spPr>
          <p:txBody>
            <a:bodyPr rot="10800000"/>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192AC7"/>
                  </a:solidFill>
                  <a:effectLst/>
                  <a:uLnTx/>
                  <a:uFillTx/>
                  <a:latin typeface="Tahoma" pitchFamily="34" charset="0"/>
                </a:rPr>
                <a:t>前</a:t>
              </a:r>
              <a:r>
                <a:rPr kumimoji="1" lang="en-US" altLang="zh-CN" sz="2000" b="1" i="0" u="none" strike="noStrike" kern="0" cap="none" spc="0" normalizeH="0" baseline="0" noProof="0">
                  <a:ln>
                    <a:noFill/>
                  </a:ln>
                  <a:solidFill>
                    <a:srgbClr val="192AC7"/>
                  </a:solidFill>
                  <a:effectLst/>
                  <a:uLnTx/>
                  <a:uFillTx/>
                  <a:latin typeface="Tahoma" pitchFamily="34" charset="0"/>
                </a:rPr>
                <a:t>3578</a:t>
              </a: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192AC7"/>
                  </a:solidFill>
                  <a:effectLst/>
                  <a:uLnTx/>
                  <a:uFillTx/>
                  <a:latin typeface="Tahoma" pitchFamily="34" charset="0"/>
                </a:rPr>
                <a:t>中</a:t>
              </a:r>
              <a:r>
                <a:rPr kumimoji="1" lang="en-US" altLang="zh-CN" sz="2000" b="1" i="0" u="none" strike="noStrike" kern="0" cap="none" spc="0" normalizeH="0" baseline="0" noProof="0">
                  <a:ln>
                    <a:noFill/>
                  </a:ln>
                  <a:solidFill>
                    <a:srgbClr val="192AC7"/>
                  </a:solidFill>
                  <a:effectLst/>
                  <a:uLnTx/>
                  <a:uFillTx/>
                  <a:latin typeface="Tahoma" pitchFamily="34" charset="0"/>
                </a:rPr>
                <a:t>3758</a:t>
              </a:r>
            </a:p>
          </p:txBody>
        </p:sp>
        <p:sp>
          <p:nvSpPr>
            <p:cNvPr id="36" name="Oval 19"/>
            <p:cNvSpPr>
              <a:spLocks noChangeArrowheads="1"/>
            </p:cNvSpPr>
            <p:nvPr/>
          </p:nvSpPr>
          <p:spPr bwMode="auto">
            <a:xfrm>
              <a:off x="1124" y="1933"/>
              <a:ext cx="305" cy="275"/>
            </a:xfrm>
            <a:prstGeom prst="ellipse">
              <a:avLst/>
            </a:prstGeom>
            <a:solidFill>
              <a:srgbClr val="C1E8ED"/>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192AC7"/>
                  </a:solidFill>
                  <a:effectLst/>
                  <a:uLnTx/>
                  <a:uFillTx/>
                  <a:latin typeface="Tahoma" pitchFamily="34" charset="0"/>
                </a:rPr>
                <a:t>2</a:t>
              </a:r>
            </a:p>
          </p:txBody>
        </p:sp>
        <p:sp>
          <p:nvSpPr>
            <p:cNvPr id="37" name="Oval 20"/>
            <p:cNvSpPr>
              <a:spLocks noChangeArrowheads="1"/>
            </p:cNvSpPr>
            <p:nvPr/>
          </p:nvSpPr>
          <p:spPr bwMode="auto">
            <a:xfrm>
              <a:off x="1396" y="2296"/>
              <a:ext cx="322" cy="297"/>
            </a:xfrm>
            <a:prstGeom prst="ellipse">
              <a:avLst/>
            </a:prstGeom>
            <a:solidFill>
              <a:srgbClr val="C1E8ED"/>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192AC7"/>
                  </a:solidFill>
                  <a:effectLst/>
                  <a:uLnTx/>
                  <a:uFillTx/>
                  <a:latin typeface="Tahoma" pitchFamily="34" charset="0"/>
                </a:rPr>
                <a:t>4</a:t>
              </a:r>
            </a:p>
          </p:txBody>
        </p:sp>
        <p:sp>
          <p:nvSpPr>
            <p:cNvPr id="38" name="Oval 21"/>
            <p:cNvSpPr>
              <a:spLocks noChangeArrowheads="1"/>
            </p:cNvSpPr>
            <p:nvPr/>
          </p:nvSpPr>
          <p:spPr bwMode="auto">
            <a:xfrm>
              <a:off x="1033" y="2614"/>
              <a:ext cx="310" cy="281"/>
            </a:xfrm>
            <a:prstGeom prst="ellipse">
              <a:avLst/>
            </a:prstGeom>
            <a:solidFill>
              <a:srgbClr val="C1E8ED"/>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192AC7"/>
                  </a:solidFill>
                  <a:effectLst/>
                  <a:uLnTx/>
                  <a:uFillTx/>
                  <a:latin typeface="Tahoma" pitchFamily="34" charset="0"/>
                </a:rPr>
                <a:t>6</a:t>
              </a:r>
            </a:p>
          </p:txBody>
        </p:sp>
      </p:grpSp>
      <p:sp>
        <p:nvSpPr>
          <p:cNvPr id="39" name="Rectangle 23"/>
          <p:cNvSpPr>
            <a:spLocks noChangeArrowheads="1"/>
          </p:cNvSpPr>
          <p:nvPr/>
        </p:nvSpPr>
        <p:spPr bwMode="auto">
          <a:xfrm>
            <a:off x="200025" y="1276290"/>
            <a:ext cx="2270173" cy="461665"/>
          </a:xfrm>
          <a:prstGeom prst="rect">
            <a:avLst/>
          </a:prstGeom>
          <a:noFill/>
          <a:ln w="9525" algn="ctr">
            <a:noFill/>
            <a:miter lim="800000"/>
            <a:headEnd/>
            <a:tailEnd/>
          </a:ln>
        </p:spPr>
        <p:txBody>
          <a:bodyPr wrap="none">
            <a:spAutoFit/>
          </a:bodyPr>
          <a:lstStyle/>
          <a:p>
            <a:pPr marL="533400" indent="-533400" fontAlgn="base">
              <a:spcBef>
                <a:spcPct val="50000"/>
              </a:spcBef>
              <a:spcAft>
                <a:spcPct val="0"/>
              </a:spcAft>
              <a:buFont typeface="Wingdings" pitchFamily="2" charset="2"/>
              <a:buChar char="p"/>
            </a:pPr>
            <a:r>
              <a:rPr kumimoji="1" lang="zh-CN" altLang="en-US" sz="2400" b="1" dirty="0">
                <a:solidFill>
                  <a:srgbClr val="6600FF"/>
                </a:solidFill>
                <a:latin typeface="Constantia" pitchFamily="18" charset="0"/>
              </a:rPr>
              <a:t>构造二叉树</a:t>
            </a:r>
          </a:p>
        </p:txBody>
      </p:sp>
    </p:spTree>
    <p:extLst>
      <p:ext uri="{BB962C8B-B14F-4D97-AF65-F5344CB8AC3E}">
        <p14:creationId xmlns:p14="http://schemas.microsoft.com/office/powerpoint/2010/main" val="2559927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23" grpId="0" animBg="1"/>
      <p:bldP spid="24" grpId="0" animBg="1"/>
      <p:bldP spid="26" grpId="0" animBg="1"/>
      <p:bldP spid="27" grpId="0" animBg="1"/>
      <p:bldP spid="28" grpId="0" animBg="1"/>
      <p:bldP spid="29"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fontAlgn="base">
              <a:lnSpc>
                <a:spcPct val="150000"/>
              </a:lnSpc>
              <a:spcBef>
                <a:spcPct val="5000"/>
              </a:spcBef>
              <a:spcAft>
                <a:spcPct val="5000"/>
              </a:spcAft>
            </a:pPr>
            <a:r>
              <a:rPr kumimoji="1" lang="en-US" altLang="zh-CN" sz="3200" b="1" dirty="0">
                <a:latin typeface="Arial" charset="0"/>
                <a:ea typeface="宋体" charset="-122"/>
                <a:cs typeface="+mn-cs"/>
              </a:rPr>
              <a:t>5.4.2  </a:t>
            </a:r>
            <a:r>
              <a:rPr kumimoji="1" lang="zh-CN" altLang="en-US" sz="3200" b="1" dirty="0">
                <a:latin typeface="Arial" charset="0"/>
                <a:ea typeface="宋体" charset="-122"/>
                <a:cs typeface="+mn-cs"/>
              </a:rPr>
              <a:t>二叉树的遍历与存储结构的应用</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400" b="1" dirty="0"/>
          </a:p>
        </p:txBody>
      </p:sp>
      <p:sp>
        <p:nvSpPr>
          <p:cNvPr id="4" name="日期占位符 3"/>
          <p:cNvSpPr>
            <a:spLocks noGrp="1"/>
          </p:cNvSpPr>
          <p:nvPr>
            <p:ph type="dt" sz="half" idx="10"/>
          </p:nvPr>
        </p:nvSpPr>
        <p:spPr/>
        <p:txBody>
          <a:bodyPr/>
          <a:lstStyle/>
          <a:p>
            <a:fld id="{8ED4F3BF-F9AB-4867-BC10-E961CF5C544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76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
          <p:cNvSpPr txBox="1">
            <a:spLocks noChangeArrowheads="1"/>
          </p:cNvSpPr>
          <p:nvPr/>
        </p:nvSpPr>
        <p:spPr bwMode="auto">
          <a:xfrm>
            <a:off x="344488" y="1219200"/>
            <a:ext cx="8418512" cy="5143500"/>
          </a:xfrm>
          <a:prstGeom prst="rect">
            <a:avLst/>
          </a:prstGeom>
          <a:noFill/>
          <a:ln w="9525">
            <a:solidFill>
              <a:srgbClr val="0000FF"/>
            </a:solidFill>
            <a:miter lim="800000"/>
            <a:headEnd/>
            <a:tailEnd/>
          </a:ln>
        </p:spPr>
        <p:txBody>
          <a:bodyPr wrap="square">
            <a:spAutoFit/>
          </a:bodyPr>
          <a:lstStyle/>
          <a:p>
            <a:pPr algn="just" fontAlgn="base">
              <a:lnSpc>
                <a:spcPct val="125000"/>
              </a:lnSpc>
              <a:spcBef>
                <a:spcPct val="5000"/>
              </a:spcBef>
              <a:spcAft>
                <a:spcPct val="0"/>
              </a:spcAft>
            </a:pPr>
            <a:r>
              <a:rPr kumimoji="1" lang="zh-CN" altLang="en-US" sz="3200" b="1" dirty="0">
                <a:solidFill>
                  <a:srgbClr val="FF0000"/>
                </a:solidFill>
                <a:latin typeface="宋体" pitchFamily="2" charset="-122"/>
              </a:rPr>
              <a:t>结论：</a:t>
            </a:r>
          </a:p>
          <a:p>
            <a:pPr algn="just" fontAlgn="base">
              <a:lnSpc>
                <a:spcPct val="125000"/>
              </a:lnSpc>
              <a:spcBef>
                <a:spcPct val="5000"/>
              </a:spcBef>
              <a:spcAft>
                <a:spcPct val="0"/>
              </a:spcAft>
              <a:buFont typeface="Wingdings" pitchFamily="2" charset="2"/>
              <a:buChar char="p"/>
            </a:pPr>
            <a:r>
              <a:rPr kumimoji="1" lang="zh-CN" altLang="en-US" sz="2800" b="1" dirty="0">
                <a:solidFill>
                  <a:srgbClr val="0000FF"/>
                </a:solidFill>
                <a:latin typeface="宋体" pitchFamily="2" charset="-122"/>
              </a:rPr>
              <a:t>“遍历”是二叉树各种操作的基础；</a:t>
            </a:r>
          </a:p>
          <a:p>
            <a:pPr algn="just" fontAlgn="base">
              <a:lnSpc>
                <a:spcPct val="125000"/>
              </a:lnSpc>
              <a:spcBef>
                <a:spcPct val="5000"/>
              </a:spcBef>
              <a:spcAft>
                <a:spcPct val="0"/>
              </a:spcAft>
              <a:buFont typeface="Wingdings" pitchFamily="2" charset="2"/>
              <a:buChar char="p"/>
            </a:pPr>
            <a:r>
              <a:rPr kumimoji="1" lang="zh-CN" altLang="en-US" sz="2800" b="1" dirty="0">
                <a:solidFill>
                  <a:srgbClr val="0000FF"/>
                </a:solidFill>
                <a:latin typeface="宋体" pitchFamily="2" charset="-122"/>
              </a:rPr>
              <a:t> 可以在遍历过程中对结点进行各种操作，</a:t>
            </a:r>
          </a:p>
          <a:p>
            <a:pPr lvl="1" algn="just" fontAlgn="base">
              <a:lnSpc>
                <a:spcPct val="125000"/>
              </a:lnSpc>
              <a:spcBef>
                <a:spcPct val="5000"/>
              </a:spcBef>
              <a:spcAft>
                <a:spcPct val="0"/>
              </a:spcAft>
              <a:buFont typeface="Wingdings" pitchFamily="2" charset="2"/>
              <a:buChar char="Ø"/>
            </a:pPr>
            <a:r>
              <a:rPr kumimoji="1" lang="zh-CN" altLang="en-US" sz="2800" b="1" dirty="0">
                <a:solidFill>
                  <a:srgbClr val="0000FF"/>
                </a:solidFill>
                <a:latin typeface="宋体" pitchFamily="2" charset="-122"/>
              </a:rPr>
              <a:t>对于一棵已知树可求结点的双亲；</a:t>
            </a:r>
          </a:p>
          <a:p>
            <a:pPr lvl="1" algn="just" fontAlgn="base">
              <a:lnSpc>
                <a:spcPct val="125000"/>
              </a:lnSpc>
              <a:spcBef>
                <a:spcPct val="5000"/>
              </a:spcBef>
              <a:spcAft>
                <a:spcPct val="0"/>
              </a:spcAft>
              <a:buFont typeface="Wingdings" pitchFamily="2" charset="2"/>
              <a:buChar char="Ø"/>
            </a:pPr>
            <a:r>
              <a:rPr kumimoji="1" lang="zh-CN" altLang="en-US" sz="2800" b="1" dirty="0">
                <a:solidFill>
                  <a:srgbClr val="0000FF"/>
                </a:solidFill>
                <a:latin typeface="宋体" pitchFamily="2" charset="-122"/>
              </a:rPr>
              <a:t>求结点的孩子结点；</a:t>
            </a:r>
          </a:p>
          <a:p>
            <a:pPr lvl="1" algn="just" fontAlgn="base">
              <a:lnSpc>
                <a:spcPct val="125000"/>
              </a:lnSpc>
              <a:spcBef>
                <a:spcPct val="5000"/>
              </a:spcBef>
              <a:spcAft>
                <a:spcPct val="0"/>
              </a:spcAft>
              <a:buFont typeface="Wingdings" pitchFamily="2" charset="2"/>
              <a:buChar char="Ø"/>
            </a:pPr>
            <a:r>
              <a:rPr kumimoji="1" lang="zh-CN" altLang="en-US" sz="2800" b="1" dirty="0">
                <a:solidFill>
                  <a:srgbClr val="0000FF"/>
                </a:solidFill>
                <a:latin typeface="宋体" pitchFamily="2" charset="-122"/>
              </a:rPr>
              <a:t>判定结点所在层次；</a:t>
            </a:r>
          </a:p>
          <a:p>
            <a:pPr lvl="1" algn="just" fontAlgn="base">
              <a:lnSpc>
                <a:spcPct val="125000"/>
              </a:lnSpc>
              <a:spcBef>
                <a:spcPct val="5000"/>
              </a:spcBef>
              <a:spcAft>
                <a:spcPct val="0"/>
              </a:spcAft>
              <a:buFont typeface="Wingdings" pitchFamily="2" charset="2"/>
              <a:buChar char="Ø"/>
            </a:pPr>
            <a:r>
              <a:rPr kumimoji="1" lang="zh-CN" altLang="en-US" sz="2800" b="1" dirty="0">
                <a:solidFill>
                  <a:srgbClr val="0000FF"/>
                </a:solidFill>
                <a:latin typeface="宋体" pitchFamily="2" charset="-122"/>
              </a:rPr>
              <a:t>树的深度；</a:t>
            </a:r>
          </a:p>
          <a:p>
            <a:pPr lvl="1" algn="just" fontAlgn="base">
              <a:lnSpc>
                <a:spcPct val="125000"/>
              </a:lnSpc>
              <a:spcBef>
                <a:spcPct val="5000"/>
              </a:spcBef>
              <a:spcAft>
                <a:spcPct val="0"/>
              </a:spcAft>
              <a:buFont typeface="Wingdings" pitchFamily="2" charset="2"/>
              <a:buChar char="Ø"/>
            </a:pPr>
            <a:r>
              <a:rPr kumimoji="1" lang="zh-CN" altLang="en-US" sz="2800" b="1" dirty="0">
                <a:solidFill>
                  <a:srgbClr val="0000FF"/>
                </a:solidFill>
                <a:latin typeface="宋体" pitchFamily="2" charset="-122"/>
              </a:rPr>
              <a:t>生成二叉树</a:t>
            </a:r>
          </a:p>
          <a:p>
            <a:pPr lvl="1" algn="just" fontAlgn="base">
              <a:lnSpc>
                <a:spcPct val="125000"/>
              </a:lnSpc>
              <a:spcBef>
                <a:spcPct val="5000"/>
              </a:spcBef>
              <a:spcAft>
                <a:spcPct val="0"/>
              </a:spcAft>
              <a:buFont typeface="Wingdings" pitchFamily="2" charset="2"/>
              <a:buChar char="Ø"/>
            </a:pPr>
            <a:r>
              <a:rPr kumimoji="1" lang="en-US" altLang="zh-CN" sz="2800" b="1" dirty="0">
                <a:solidFill>
                  <a:srgbClr val="0000FF"/>
                </a:solidFill>
                <a:latin typeface="宋体" pitchFamily="2" charset="-122"/>
              </a:rPr>
              <a:t>……</a:t>
            </a:r>
          </a:p>
        </p:txBody>
      </p:sp>
    </p:spTree>
    <p:extLst>
      <p:ext uri="{BB962C8B-B14F-4D97-AF65-F5344CB8AC3E}">
        <p14:creationId xmlns:p14="http://schemas.microsoft.com/office/powerpoint/2010/main" val="1327826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5.4  </a:t>
            </a:r>
            <a:r>
              <a:rPr kumimoji="1" lang="zh-CN" altLang="en-US" sz="3200" b="1" dirty="0">
                <a:latin typeface="Arial" charset="0"/>
                <a:ea typeface="宋体" charset="-122"/>
                <a:cs typeface="+mn-cs"/>
              </a:rPr>
              <a:t>遍历的应用</a:t>
            </a:r>
          </a:p>
        </p:txBody>
      </p:sp>
      <p:sp>
        <p:nvSpPr>
          <p:cNvPr id="3" name="内容占位符 2"/>
          <p:cNvSpPr>
            <a:spLocks noGrp="1"/>
          </p:cNvSpPr>
          <p:nvPr>
            <p:ph idx="1"/>
          </p:nvPr>
        </p:nvSpPr>
        <p:spPr>
          <a:xfrm>
            <a:off x="457200" y="1143000"/>
            <a:ext cx="8229600" cy="5105400"/>
          </a:xfrm>
        </p:spPr>
        <p:txBody>
          <a:bodyPr>
            <a:normAutofit/>
          </a:bodyPr>
          <a:lstStyle/>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ea typeface="宋体" pitchFamily="2" charset="-122"/>
              </a:rPr>
              <a:t> </a:t>
            </a:r>
            <a:r>
              <a:rPr kumimoji="1" lang="en-US" altLang="zh-CN" b="1" dirty="0">
                <a:solidFill>
                  <a:srgbClr val="0707F9"/>
                </a:solidFill>
                <a:latin typeface="Times New Roman" pitchFamily="18" charset="0"/>
                <a:ea typeface="宋体" pitchFamily="2" charset="-122"/>
              </a:rPr>
              <a:t>5.4.1 </a:t>
            </a:r>
            <a:r>
              <a:rPr kumimoji="1" lang="zh-CN" altLang="en-US" b="1" dirty="0">
                <a:solidFill>
                  <a:srgbClr val="0707F9"/>
                </a:solidFill>
                <a:latin typeface="Times New Roman" pitchFamily="18" charset="0"/>
                <a:ea typeface="宋体" pitchFamily="2" charset="-122"/>
              </a:rPr>
              <a:t>遍历的基本应用</a:t>
            </a:r>
          </a:p>
          <a:p>
            <a:pPr marL="0" lvl="0" indent="0" fontAlgn="base">
              <a:lnSpc>
                <a:spcPct val="200000"/>
              </a:lnSpc>
              <a:spcBef>
                <a:spcPct val="0"/>
              </a:spcBef>
              <a:spcAft>
                <a:spcPct val="0"/>
              </a:spcAft>
              <a:buNone/>
            </a:pPr>
            <a:r>
              <a:rPr kumimoji="1" lang="en-US" altLang="zh-CN" b="1" dirty="0">
                <a:solidFill>
                  <a:srgbClr val="0707F9"/>
                </a:solidFill>
                <a:latin typeface="Times New Roman" pitchFamily="18" charset="0"/>
                <a:ea typeface="宋体" pitchFamily="2" charset="-122"/>
              </a:rPr>
              <a:t> 5.4.2 </a:t>
            </a:r>
            <a:r>
              <a:rPr kumimoji="1" lang="zh-CN" altLang="en-US" b="1" dirty="0">
                <a:solidFill>
                  <a:srgbClr val="0707F9"/>
                </a:solidFill>
                <a:latin typeface="Times New Roman" pitchFamily="18" charset="0"/>
                <a:ea typeface="宋体" pitchFamily="2" charset="-122"/>
              </a:rPr>
              <a:t>二叉树的遍历与存储结构的应用</a:t>
            </a:r>
          </a:p>
          <a:p>
            <a:pPr marL="0" lvl="0" indent="0" fontAlgn="base">
              <a:lnSpc>
                <a:spcPct val="200000"/>
              </a:lnSpc>
              <a:spcBef>
                <a:spcPct val="0"/>
              </a:spcBef>
              <a:spcAft>
                <a:spcPct val="0"/>
              </a:spcAft>
              <a:buNone/>
            </a:pPr>
            <a:r>
              <a:rPr kumimoji="1" lang="en-US" altLang="zh-CN" b="1" dirty="0">
                <a:solidFill>
                  <a:srgbClr val="FF3300"/>
                </a:solidFill>
                <a:latin typeface="Times New Roman" pitchFamily="18" charset="0"/>
                <a:ea typeface="宋体" pitchFamily="2" charset="-122"/>
              </a:rPr>
              <a:t> </a:t>
            </a:r>
            <a:r>
              <a:rPr kumimoji="1" lang="en-US" altLang="zh-CN" b="1" dirty="0">
                <a:solidFill>
                  <a:srgbClr val="FF0000"/>
                </a:solidFill>
                <a:latin typeface="Times New Roman" pitchFamily="18" charset="0"/>
                <a:ea typeface="宋体" pitchFamily="2" charset="-122"/>
              </a:rPr>
              <a:t>5.4.3 </a:t>
            </a:r>
            <a:r>
              <a:rPr kumimoji="1" lang="zh-CN" altLang="en-US" b="1" dirty="0">
                <a:solidFill>
                  <a:srgbClr val="FF0000"/>
                </a:solidFill>
                <a:latin typeface="Times New Roman" pitchFamily="18" charset="0"/>
                <a:ea typeface="宋体" pitchFamily="2" charset="-122"/>
              </a:rPr>
              <a:t>二叉树的相似与等价</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9BA05EA3-6F50-47D5-B25F-A334A76E66D6}"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77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9329848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fontAlgn="base">
              <a:lnSpc>
                <a:spcPct val="150000"/>
              </a:lnSpc>
              <a:spcBef>
                <a:spcPct val="5000"/>
              </a:spcBef>
              <a:spcAft>
                <a:spcPct val="5000"/>
              </a:spcAft>
            </a:pPr>
            <a:r>
              <a:rPr kumimoji="1" lang="en-US" altLang="zh-CN" sz="3200" b="1" dirty="0">
                <a:latin typeface="Arial" charset="0"/>
                <a:ea typeface="宋体" charset="-122"/>
                <a:cs typeface="+mn-cs"/>
              </a:rPr>
              <a:t>5.4.2  </a:t>
            </a:r>
            <a:r>
              <a:rPr kumimoji="1" lang="zh-CN" altLang="en-US" sz="3200" b="1" dirty="0">
                <a:latin typeface="Arial" charset="0"/>
                <a:ea typeface="宋体" charset="-122"/>
                <a:cs typeface="+mn-cs"/>
              </a:rPr>
              <a:t>二叉树的相似与等价</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400" b="1" dirty="0"/>
              <a:t>二叉树的相似与等价的含义</a:t>
            </a:r>
            <a:endParaRPr lang="en-US" altLang="zh-CN" sz="2400" b="1" dirty="0"/>
          </a:p>
        </p:txBody>
      </p:sp>
      <p:sp>
        <p:nvSpPr>
          <p:cNvPr id="4" name="日期占位符 3"/>
          <p:cNvSpPr>
            <a:spLocks noGrp="1"/>
          </p:cNvSpPr>
          <p:nvPr>
            <p:ph type="dt" sz="half" idx="10"/>
          </p:nvPr>
        </p:nvSpPr>
        <p:spPr/>
        <p:txBody>
          <a:bodyPr/>
          <a:lstStyle/>
          <a:p>
            <a:fld id="{2E7EDDFF-E7F7-4354-9657-59C4A15F75C0}"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78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4"/>
          <p:cNvSpPr txBox="1">
            <a:spLocks noChangeArrowheads="1"/>
          </p:cNvSpPr>
          <p:nvPr/>
        </p:nvSpPr>
        <p:spPr bwMode="auto">
          <a:xfrm>
            <a:off x="0" y="1617662"/>
            <a:ext cx="9261475" cy="2268538"/>
          </a:xfrm>
          <a:prstGeom prst="rect">
            <a:avLst/>
          </a:prstGeom>
          <a:noFill/>
          <a:ln w="9525">
            <a:noFill/>
            <a:miter lim="800000"/>
            <a:headEnd/>
            <a:tailEnd/>
          </a:ln>
        </p:spPr>
        <p:txBody>
          <a:bodyPr lIns="90000" tIns="46800" rIns="90000" bIns="46800">
            <a:spAutoFit/>
          </a:bodyPr>
          <a:lstStyle/>
          <a:p>
            <a:pPr fontAlgn="base">
              <a:lnSpc>
                <a:spcPct val="170000"/>
              </a:lnSpc>
              <a:spcBef>
                <a:spcPct val="0"/>
              </a:spcBef>
              <a:spcAft>
                <a:spcPct val="0"/>
              </a:spcAft>
            </a:pPr>
            <a:r>
              <a:rPr kumimoji="1" lang="zh-CN" altLang="en-US" sz="2800" b="1" dirty="0">
                <a:solidFill>
                  <a:srgbClr val="0000FF"/>
                </a:solidFill>
                <a:latin typeface="Times New Roman" pitchFamily="18" charset="0"/>
              </a:rPr>
              <a:t>两株二叉树具有</a:t>
            </a:r>
            <a:r>
              <a:rPr kumimoji="1" lang="zh-CN" altLang="en-US" sz="2800" b="1" dirty="0">
                <a:solidFill>
                  <a:srgbClr val="FF3300"/>
                </a:solidFill>
                <a:latin typeface="Times New Roman" pitchFamily="18" charset="0"/>
              </a:rPr>
              <a:t>相同结构</a:t>
            </a:r>
            <a:r>
              <a:rPr kumimoji="1" lang="zh-CN" altLang="en-US" sz="2800" b="1" dirty="0">
                <a:solidFill>
                  <a:srgbClr val="0000FF"/>
                </a:solidFill>
                <a:latin typeface="Times New Roman" pitchFamily="18" charset="0"/>
              </a:rPr>
              <a:t>指：</a:t>
            </a:r>
          </a:p>
          <a:p>
            <a:pPr fontAlgn="base">
              <a:lnSpc>
                <a:spcPct val="170000"/>
              </a:lnSpc>
              <a:spcBef>
                <a:spcPct val="0"/>
              </a:spcBef>
              <a:spcAft>
                <a:spcPct val="0"/>
              </a:spcAft>
            </a:pPr>
            <a:r>
              <a:rPr kumimoji="1" lang="zh-CN" altLang="en-US" sz="2800" b="1" dirty="0">
                <a:solidFill>
                  <a:srgbClr val="0000FF"/>
                </a:solidFill>
                <a:latin typeface="Times New Roman" pitchFamily="18" charset="0"/>
              </a:rPr>
              <a:t>      （</a:t>
            </a:r>
            <a:r>
              <a:rPr kumimoji="1" lang="en-US" altLang="zh-CN" sz="2800" b="1" dirty="0">
                <a:solidFill>
                  <a:srgbClr val="0000FF"/>
                </a:solidFill>
                <a:latin typeface="Times New Roman" pitchFamily="18" charset="0"/>
              </a:rPr>
              <a:t>1</a:t>
            </a:r>
            <a:r>
              <a:rPr kumimoji="1" lang="zh-CN" altLang="en-US" sz="2800" b="1" dirty="0">
                <a:solidFill>
                  <a:srgbClr val="0000FF"/>
                </a:solidFill>
                <a:latin typeface="Times New Roman" pitchFamily="18" charset="0"/>
              </a:rPr>
              <a:t>）它们都是空的 ；</a:t>
            </a:r>
          </a:p>
          <a:p>
            <a:pPr fontAlgn="base">
              <a:lnSpc>
                <a:spcPct val="170000"/>
              </a:lnSpc>
              <a:spcBef>
                <a:spcPct val="0"/>
              </a:spcBef>
              <a:spcAft>
                <a:spcPct val="0"/>
              </a:spcAft>
            </a:pPr>
            <a:r>
              <a:rPr kumimoji="1" lang="zh-CN" altLang="en-US" sz="2800" b="1" dirty="0">
                <a:solidFill>
                  <a:srgbClr val="0000FF"/>
                </a:solidFill>
                <a:latin typeface="Times New Roman" pitchFamily="18" charset="0"/>
              </a:rPr>
              <a:t>      （</a:t>
            </a:r>
            <a:r>
              <a:rPr kumimoji="1" lang="en-US" altLang="zh-CN" sz="2800" b="1" dirty="0">
                <a:solidFill>
                  <a:srgbClr val="0000FF"/>
                </a:solidFill>
                <a:latin typeface="Times New Roman" pitchFamily="18" charset="0"/>
              </a:rPr>
              <a:t>2</a:t>
            </a:r>
            <a:r>
              <a:rPr kumimoji="1" lang="zh-CN" altLang="en-US" sz="2800" b="1" dirty="0">
                <a:solidFill>
                  <a:srgbClr val="0000FF"/>
                </a:solidFill>
                <a:latin typeface="Times New Roman" pitchFamily="18" charset="0"/>
              </a:rPr>
              <a:t>）它们都是非空的，且左右子树分别具有相同结构。 </a:t>
            </a:r>
          </a:p>
        </p:txBody>
      </p:sp>
      <p:sp>
        <p:nvSpPr>
          <p:cNvPr id="14" name="Text Box 5"/>
          <p:cNvSpPr txBox="1">
            <a:spLocks noChangeArrowheads="1"/>
          </p:cNvSpPr>
          <p:nvPr/>
        </p:nvSpPr>
        <p:spPr bwMode="auto">
          <a:xfrm>
            <a:off x="714375" y="4151313"/>
            <a:ext cx="7559675" cy="2249487"/>
          </a:xfrm>
          <a:prstGeom prst="rect">
            <a:avLst/>
          </a:prstGeom>
          <a:noFill/>
          <a:ln w="12700">
            <a:solidFill>
              <a:srgbClr val="04617B"/>
            </a:solidFill>
            <a:miter lim="800000"/>
            <a:headEnd/>
            <a:tailEnd/>
          </a:ln>
          <a:effectLst/>
        </p:spPr>
        <p:txBody>
          <a:bodyPr lIns="90000" tIns="46800" rIns="90000" bIns="46800">
            <a:spAutoFit/>
          </a:bodyPr>
          <a:lstStyle/>
          <a:p>
            <a:pPr marL="0" marR="0" lvl="0" indent="0" defTabSz="914400" eaLnBrk="1" fontAlgn="base" latinLnBrk="0" hangingPunct="1">
              <a:lnSpc>
                <a:spcPct val="125000"/>
              </a:lnSpc>
              <a:spcBef>
                <a:spcPct val="0"/>
              </a:spcBef>
              <a:spcAft>
                <a:spcPct val="0"/>
              </a:spcAft>
              <a:buClrTx/>
              <a:buSzTx/>
              <a:buFontTx/>
              <a:buBlip>
                <a:blip r:embed="rId4"/>
              </a:buBlip>
              <a:tabLst/>
              <a:defRPr/>
            </a:pPr>
            <a:r>
              <a:rPr kumimoji="1" lang="zh-CN" altLang="en-US" sz="2800" b="1" i="0" u="none" strike="noStrike" kern="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rPr>
              <a:t>定义具有相同结构的二叉树为</a:t>
            </a:r>
            <a:r>
              <a:rPr kumimoji="1" lang="zh-CN" altLang="en-US" sz="4400" b="1" i="0" u="none" strike="noStrike" kern="0" cap="none" spc="0" normalizeH="0" baseline="0" noProof="0" dirty="0">
                <a:ln>
                  <a:noFill/>
                </a:ln>
                <a:solidFill>
                  <a:srgbClr val="FF3300"/>
                </a:solidFill>
                <a:effectLst>
                  <a:outerShdw blurRad="38100" dist="38100" dir="2700000" algn="tl">
                    <a:srgbClr val="000000"/>
                  </a:outerShdw>
                </a:effectLst>
                <a:uLnTx/>
                <a:uFillTx/>
                <a:latin typeface="隶书" pitchFamily="49" charset="-122"/>
                <a:ea typeface="隶书" pitchFamily="49" charset="-122"/>
              </a:rPr>
              <a:t>相似</a:t>
            </a:r>
            <a:r>
              <a:rPr kumimoji="1" lang="zh-CN" altLang="en-US" sz="2800" b="1" i="0" u="none" strike="noStrike" kern="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rPr>
              <a:t>二叉树。</a:t>
            </a:r>
          </a:p>
          <a:p>
            <a:pPr marL="0" marR="0" lvl="0" indent="0" defTabSz="914400" eaLnBrk="1" fontAlgn="base" latinLnBrk="0" hangingPunct="1">
              <a:lnSpc>
                <a:spcPct val="125000"/>
              </a:lnSpc>
              <a:spcBef>
                <a:spcPct val="0"/>
              </a:spcBef>
              <a:spcAft>
                <a:spcPct val="0"/>
              </a:spcAft>
              <a:buClrTx/>
              <a:buSzTx/>
              <a:buFontTx/>
              <a:buBlip>
                <a:blip r:embed="rId4"/>
              </a:buBlip>
              <a:tabLst/>
              <a:defRPr/>
            </a:pPr>
            <a:r>
              <a:rPr kumimoji="1" lang="zh-CN" altLang="en-US" sz="2800" b="1" i="0" u="none" strike="noStrike" kern="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rPr>
              <a:t>相似且相应结点包含相同信息的二叉树称为</a:t>
            </a:r>
          </a:p>
          <a:p>
            <a:pPr marL="0" marR="0" lvl="0" indent="0" defTabSz="914400" eaLnBrk="1" fontAlgn="base" latinLnBrk="0" hangingPunct="1">
              <a:lnSpc>
                <a:spcPct val="125000"/>
              </a:lnSpc>
              <a:spcBef>
                <a:spcPct val="0"/>
              </a:spcBef>
              <a:spcAft>
                <a:spcPct val="0"/>
              </a:spcAft>
              <a:buClrTx/>
              <a:buSzTx/>
              <a:buFontTx/>
              <a:buNone/>
              <a:tabLst/>
              <a:defRPr/>
            </a:pPr>
            <a:r>
              <a:rPr kumimoji="1" lang="zh-CN" altLang="en-US" sz="2800" b="1" i="0" u="none" strike="noStrike" kern="0" cap="none" spc="0" normalizeH="0" baseline="0" noProof="0" dirty="0">
                <a:ln>
                  <a:noFill/>
                </a:ln>
                <a:solidFill>
                  <a:srgbClr val="FF3300"/>
                </a:solidFill>
                <a:effectLst>
                  <a:outerShdw blurRad="38100" dist="38100" dir="2700000" algn="tl">
                    <a:srgbClr val="000000"/>
                  </a:outerShdw>
                </a:effectLst>
                <a:uLnTx/>
                <a:uFillTx/>
                <a:latin typeface="隶书" pitchFamily="49" charset="-122"/>
                <a:ea typeface="隶书" pitchFamily="49" charset="-122"/>
              </a:rPr>
              <a:t> </a:t>
            </a:r>
            <a:r>
              <a:rPr kumimoji="1" lang="zh-CN" altLang="en-US" sz="4000" b="1" i="0" u="none" strike="noStrike" kern="0" cap="none" spc="0" normalizeH="0" baseline="0" noProof="0" dirty="0">
                <a:ln>
                  <a:noFill/>
                </a:ln>
                <a:solidFill>
                  <a:srgbClr val="FF3300"/>
                </a:solidFill>
                <a:effectLst>
                  <a:outerShdw blurRad="38100" dist="38100" dir="2700000" algn="tl">
                    <a:srgbClr val="000000"/>
                  </a:outerShdw>
                </a:effectLst>
                <a:uLnTx/>
                <a:uFillTx/>
                <a:latin typeface="隶书" pitchFamily="49" charset="-122"/>
                <a:ea typeface="隶书" pitchFamily="49" charset="-122"/>
              </a:rPr>
              <a:t>等价</a:t>
            </a:r>
            <a:r>
              <a:rPr kumimoji="1" lang="zh-CN" altLang="en-US" sz="2800" b="1" i="0" u="none" strike="noStrike" kern="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rPr>
              <a:t>二叉树。</a:t>
            </a:r>
          </a:p>
        </p:txBody>
      </p:sp>
      <p:sp>
        <p:nvSpPr>
          <p:cNvPr id="15" name="AutoShape 7"/>
          <p:cNvSpPr>
            <a:spLocks noChangeArrowheads="1"/>
          </p:cNvSpPr>
          <p:nvPr/>
        </p:nvSpPr>
        <p:spPr bwMode="auto">
          <a:xfrm>
            <a:off x="5437187" y="1704975"/>
            <a:ext cx="3635375" cy="803275"/>
          </a:xfrm>
          <a:prstGeom prst="wedgeEllipseCallout">
            <a:avLst>
              <a:gd name="adj1" fmla="val -49704"/>
              <a:gd name="adj2" fmla="val 81806"/>
            </a:avLst>
          </a:prstGeom>
          <a:solidFill>
            <a:srgbClr val="009DD9">
              <a:lumMod val="20000"/>
              <a:lumOff val="80000"/>
            </a:srgbClr>
          </a:solidFill>
          <a:ln w="9525">
            <a:solidFill>
              <a:srgbClr val="FFFFFF"/>
            </a:solidFill>
            <a:miter lim="800000"/>
            <a:headEnd/>
            <a:tailEnd/>
          </a:ln>
        </p:spPr>
        <p:txBody>
          <a:bodyPr lIns="90000" tIns="46800" rIns="90000" bIns="46800"/>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800" b="1" i="0" u="none" strike="noStrike" kern="0" cap="none" spc="0" normalizeH="0" baseline="0" noProof="0" dirty="0">
                <a:ln>
                  <a:noFill/>
                </a:ln>
                <a:solidFill>
                  <a:srgbClr val="0000FF"/>
                </a:solidFill>
                <a:effectLst/>
                <a:uLnTx/>
                <a:uFillTx/>
                <a:latin typeface="Times New Roman" pitchFamily="18" charset="0"/>
              </a:rPr>
              <a:t>“形状”相同</a:t>
            </a:r>
          </a:p>
        </p:txBody>
      </p:sp>
    </p:spTree>
    <p:extLst>
      <p:ext uri="{BB962C8B-B14F-4D97-AF65-F5344CB8AC3E}">
        <p14:creationId xmlns:p14="http://schemas.microsoft.com/office/powerpoint/2010/main" val="303594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5.4.2  </a:t>
            </a:r>
            <a:r>
              <a:rPr kumimoji="1" lang="zh-CN" altLang="en-US" sz="3200" b="1" dirty="0">
                <a:latin typeface="Arial" charset="0"/>
                <a:ea typeface="宋体" charset="-122"/>
                <a:cs typeface="+mn-cs"/>
              </a:rPr>
              <a:t>二叉树的相似与等价</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判断两株二叉树是否等价</a:t>
            </a:r>
            <a:endParaRPr lang="en-US" altLang="zh-CN" sz="2800" b="1" dirty="0"/>
          </a:p>
        </p:txBody>
      </p:sp>
      <p:sp>
        <p:nvSpPr>
          <p:cNvPr id="4" name="日期占位符 3"/>
          <p:cNvSpPr>
            <a:spLocks noGrp="1"/>
          </p:cNvSpPr>
          <p:nvPr>
            <p:ph type="dt" sz="half" idx="10"/>
          </p:nvPr>
        </p:nvSpPr>
        <p:spPr/>
        <p:txBody>
          <a:bodyPr/>
          <a:lstStyle/>
          <a:p>
            <a:fld id="{EA95B9B9-6AF1-43A5-8EED-4CA5E552A182}"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79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3"/>
          <p:cNvSpPr txBox="1">
            <a:spLocks noChangeArrowheads="1"/>
          </p:cNvSpPr>
          <p:nvPr/>
        </p:nvSpPr>
        <p:spPr bwMode="auto">
          <a:xfrm>
            <a:off x="609600" y="1600200"/>
            <a:ext cx="8534399" cy="4969695"/>
          </a:xfrm>
          <a:prstGeom prst="rect">
            <a:avLst/>
          </a:prstGeom>
          <a:noFill/>
          <a:ln w="9525">
            <a:solidFill>
              <a:srgbClr val="336600"/>
            </a:solidFill>
            <a:miter lim="800000"/>
            <a:headEnd/>
            <a:tailEnd/>
          </a:ln>
        </p:spPr>
        <p:txBody>
          <a:bodyPr wrap="square" lIns="90000" tIns="46800" rIns="90000" bIns="46800">
            <a:spAutoFit/>
          </a:bodyPr>
          <a:lstStyle/>
          <a:p>
            <a:pPr fontAlgn="base">
              <a:lnSpc>
                <a:spcPct val="110000"/>
              </a:lnSpc>
              <a:spcBef>
                <a:spcPct val="0"/>
              </a:spcBef>
              <a:spcAft>
                <a:spcPct val="0"/>
              </a:spcAft>
            </a:pPr>
            <a:r>
              <a:rPr kumimoji="1" lang="en-US" altLang="zh-CN" sz="2400" b="1">
                <a:solidFill>
                  <a:srgbClr val="0000FF"/>
                </a:solidFill>
                <a:latin typeface="Times New Roman" pitchFamily="18" charset="0"/>
              </a:rPr>
              <a:t>int   EQUAL( t1</a:t>
            </a:r>
            <a:r>
              <a:rPr kumimoji="1" lang="zh-CN" altLang="en-US" sz="2400" b="1">
                <a:solidFill>
                  <a:srgbClr val="0000FF"/>
                </a:solidFill>
                <a:latin typeface="Times New Roman" pitchFamily="18" charset="0"/>
              </a:rPr>
              <a:t> </a:t>
            </a:r>
            <a:r>
              <a:rPr kumimoji="1" lang="en-US" altLang="zh-CN" sz="2400" b="1">
                <a:solidFill>
                  <a:srgbClr val="0000FF"/>
                </a:solidFill>
                <a:latin typeface="Times New Roman" pitchFamily="18" charset="0"/>
              </a:rPr>
              <a:t>,  t2 )</a:t>
            </a:r>
          </a:p>
          <a:p>
            <a:pPr fontAlgn="base">
              <a:lnSpc>
                <a:spcPct val="110000"/>
              </a:lnSpc>
              <a:spcBef>
                <a:spcPct val="0"/>
              </a:spcBef>
              <a:spcAft>
                <a:spcPct val="0"/>
              </a:spcAft>
            </a:pPr>
            <a:r>
              <a:rPr kumimoji="1" lang="en-US" altLang="zh-CN" sz="2400" b="1">
                <a:solidFill>
                  <a:srgbClr val="0000FF"/>
                </a:solidFill>
                <a:latin typeface="Times New Roman" pitchFamily="18" charset="0"/>
              </a:rPr>
              <a:t>BTREE  t1 , t2 ;</a:t>
            </a:r>
          </a:p>
          <a:p>
            <a:pPr fontAlgn="base">
              <a:lnSpc>
                <a:spcPct val="110000"/>
              </a:lnSpc>
              <a:spcBef>
                <a:spcPct val="0"/>
              </a:spcBef>
              <a:spcAft>
                <a:spcPct val="0"/>
              </a:spcAft>
            </a:pPr>
            <a:r>
              <a:rPr kumimoji="1" lang="en-US" altLang="zh-CN" sz="2400" b="1">
                <a:solidFill>
                  <a:srgbClr val="0000FF"/>
                </a:solidFill>
                <a:latin typeface="Times New Roman" pitchFamily="18" charset="0"/>
              </a:rPr>
              <a:t>{  int  x ;</a:t>
            </a:r>
          </a:p>
          <a:p>
            <a:pPr fontAlgn="base">
              <a:lnSpc>
                <a:spcPct val="110000"/>
              </a:lnSpc>
              <a:spcBef>
                <a:spcPct val="0"/>
              </a:spcBef>
              <a:spcAft>
                <a:spcPct val="0"/>
              </a:spcAft>
            </a:pPr>
            <a:r>
              <a:rPr kumimoji="1" lang="en-US" altLang="zh-CN" sz="2400" b="1">
                <a:solidFill>
                  <a:srgbClr val="0000FF"/>
                </a:solidFill>
                <a:latin typeface="Times New Roman" pitchFamily="18" charset="0"/>
              </a:rPr>
              <a:t>    x = 0 ;</a:t>
            </a:r>
          </a:p>
          <a:p>
            <a:pPr fontAlgn="base">
              <a:lnSpc>
                <a:spcPct val="110000"/>
              </a:lnSpc>
              <a:spcBef>
                <a:spcPct val="0"/>
              </a:spcBef>
              <a:spcAft>
                <a:spcPct val="0"/>
              </a:spcAft>
            </a:pPr>
            <a:r>
              <a:rPr kumimoji="1" lang="en-US" altLang="zh-CN" sz="2400" b="1">
                <a:solidFill>
                  <a:srgbClr val="0000FF"/>
                </a:solidFill>
                <a:latin typeface="Times New Roman" pitchFamily="18" charset="0"/>
              </a:rPr>
              <a:t>    if ( ISEMPTY(t1) &amp;&amp; ISEMPTY(t2) </a:t>
            </a:r>
            <a:r>
              <a:rPr kumimoji="1" lang="en-US" altLang="zh-CN" sz="2400" b="1">
                <a:solidFill>
                  <a:srgbClr val="000000"/>
                </a:solidFill>
                <a:latin typeface="Times New Roman" pitchFamily="18" charset="0"/>
              </a:rPr>
              <a:t>)//</a:t>
            </a:r>
            <a:r>
              <a:rPr kumimoji="1" lang="zh-CN" altLang="en-US" sz="2400" b="1">
                <a:solidFill>
                  <a:srgbClr val="000000"/>
                </a:solidFill>
                <a:latin typeface="Times New Roman" pitchFamily="18" charset="0"/>
              </a:rPr>
              <a:t>二叉树空</a:t>
            </a:r>
          </a:p>
          <a:p>
            <a:pPr fontAlgn="base">
              <a:lnSpc>
                <a:spcPct val="110000"/>
              </a:lnSpc>
              <a:spcBef>
                <a:spcPct val="0"/>
              </a:spcBef>
              <a:spcAft>
                <a:spcPct val="0"/>
              </a:spcAft>
            </a:pPr>
            <a:r>
              <a:rPr kumimoji="1" lang="en-US" altLang="zh-CN" sz="2400" b="1">
                <a:solidFill>
                  <a:srgbClr val="0000FF"/>
                </a:solidFill>
                <a:latin typeface="Times New Roman" pitchFamily="18" charset="0"/>
              </a:rPr>
              <a:t>        x = 1 ;</a:t>
            </a:r>
          </a:p>
          <a:p>
            <a:pPr fontAlgn="base">
              <a:lnSpc>
                <a:spcPct val="110000"/>
              </a:lnSpc>
              <a:spcBef>
                <a:spcPct val="0"/>
              </a:spcBef>
              <a:spcAft>
                <a:spcPct val="0"/>
              </a:spcAft>
            </a:pPr>
            <a:r>
              <a:rPr kumimoji="1" lang="en-US" altLang="zh-CN" sz="2400" b="1">
                <a:solidFill>
                  <a:srgbClr val="0000FF"/>
                </a:solidFill>
                <a:latin typeface="Times New Roman" pitchFamily="18" charset="0"/>
              </a:rPr>
              <a:t>    else if ( !ISEMPTY( t1 ) &amp;&amp; ! ISEMPTY( t2) ) </a:t>
            </a:r>
            <a:r>
              <a:rPr kumimoji="1" lang="en-US" altLang="zh-CN" sz="2400" b="1">
                <a:solidFill>
                  <a:srgbClr val="000000"/>
                </a:solidFill>
                <a:latin typeface="Times New Roman" pitchFamily="18" charset="0"/>
              </a:rPr>
              <a:t>//</a:t>
            </a:r>
            <a:r>
              <a:rPr kumimoji="1" lang="zh-CN" altLang="en-US" sz="2400" b="1">
                <a:solidFill>
                  <a:srgbClr val="000000"/>
                </a:solidFill>
                <a:latin typeface="Times New Roman" pitchFamily="18" charset="0"/>
              </a:rPr>
              <a:t>二叉树不空</a:t>
            </a:r>
          </a:p>
          <a:p>
            <a:pPr fontAlgn="base">
              <a:lnSpc>
                <a:spcPct val="110000"/>
              </a:lnSpc>
              <a:spcBef>
                <a:spcPct val="0"/>
              </a:spcBef>
              <a:spcAft>
                <a:spcPct val="0"/>
              </a:spcAft>
            </a:pPr>
            <a:r>
              <a:rPr kumimoji="1" lang="en-US" altLang="zh-CN" sz="2400" b="1">
                <a:solidFill>
                  <a:srgbClr val="0000FF"/>
                </a:solidFill>
                <a:latin typeface="Times New Roman" pitchFamily="18" charset="0"/>
              </a:rPr>
              <a:t>        if (  DATA( t1 ) == DATA( t2 )  )</a:t>
            </a:r>
          </a:p>
          <a:p>
            <a:pPr fontAlgn="base">
              <a:lnSpc>
                <a:spcPct val="110000"/>
              </a:lnSpc>
              <a:spcBef>
                <a:spcPct val="0"/>
              </a:spcBef>
              <a:spcAft>
                <a:spcPct val="0"/>
              </a:spcAft>
            </a:pPr>
            <a:r>
              <a:rPr kumimoji="1" lang="en-US" altLang="zh-CN" sz="2400" b="1">
                <a:solidFill>
                  <a:srgbClr val="0000FF"/>
                </a:solidFill>
                <a:latin typeface="Times New Roman" pitchFamily="18" charset="0"/>
              </a:rPr>
              <a:t>            if ( </a:t>
            </a:r>
            <a:r>
              <a:rPr kumimoji="1" lang="en-US" altLang="zh-CN" sz="2400" b="1">
                <a:solidFill>
                  <a:srgbClr val="FF3300"/>
                </a:solidFill>
                <a:latin typeface="Times New Roman" pitchFamily="18" charset="0"/>
              </a:rPr>
              <a:t>EQUAL( LCHILD( t1 ) , LCHILD( t2 ) ) )</a:t>
            </a:r>
          </a:p>
          <a:p>
            <a:pPr fontAlgn="base">
              <a:lnSpc>
                <a:spcPct val="110000"/>
              </a:lnSpc>
              <a:spcBef>
                <a:spcPct val="0"/>
              </a:spcBef>
              <a:spcAft>
                <a:spcPct val="0"/>
              </a:spcAft>
            </a:pPr>
            <a:r>
              <a:rPr kumimoji="1" lang="en-US" altLang="zh-CN" sz="2400" b="1">
                <a:solidFill>
                  <a:srgbClr val="FF3300"/>
                </a:solidFill>
                <a:latin typeface="Times New Roman" pitchFamily="18" charset="0"/>
              </a:rPr>
              <a:t>               x= EQUAL( RCHILD( t1) , RCHILD( t2)</a:t>
            </a:r>
            <a:r>
              <a:rPr kumimoji="1" lang="en-US" altLang="zh-CN" sz="2400" b="1">
                <a:solidFill>
                  <a:srgbClr val="0000FF"/>
                </a:solidFill>
                <a:latin typeface="Times New Roman" pitchFamily="18" charset="0"/>
              </a:rPr>
              <a:t> )</a:t>
            </a:r>
          </a:p>
          <a:p>
            <a:pPr fontAlgn="base">
              <a:lnSpc>
                <a:spcPct val="110000"/>
              </a:lnSpc>
              <a:spcBef>
                <a:spcPct val="0"/>
              </a:spcBef>
              <a:spcAft>
                <a:spcPct val="0"/>
              </a:spcAft>
            </a:pPr>
            <a:r>
              <a:rPr kumimoji="1" lang="en-US" altLang="zh-CN" sz="2400" b="1">
                <a:solidFill>
                  <a:srgbClr val="0000FF"/>
                </a:solidFill>
                <a:latin typeface="Times New Roman" pitchFamily="18" charset="0"/>
              </a:rPr>
              <a:t>    return( x ) ;</a:t>
            </a:r>
          </a:p>
          <a:p>
            <a:pPr fontAlgn="base">
              <a:lnSpc>
                <a:spcPct val="110000"/>
              </a:lnSpc>
              <a:spcBef>
                <a:spcPct val="0"/>
              </a:spcBef>
              <a:spcAft>
                <a:spcPct val="0"/>
              </a:spcAft>
            </a:pPr>
            <a:r>
              <a:rPr kumimoji="1" lang="en-US" altLang="zh-CN" sz="2400" b="1">
                <a:solidFill>
                  <a:srgbClr val="0000FF"/>
                </a:solidFill>
                <a:latin typeface="Times New Roman" pitchFamily="18" charset="0"/>
              </a:rPr>
              <a:t>} /* EQUAL */</a:t>
            </a:r>
          </a:p>
        </p:txBody>
      </p:sp>
    </p:spTree>
    <p:extLst>
      <p:ext uri="{BB962C8B-B14F-4D97-AF65-F5344CB8AC3E}">
        <p14:creationId xmlns:p14="http://schemas.microsoft.com/office/powerpoint/2010/main" val="27755761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5.4.2  </a:t>
            </a:r>
            <a:r>
              <a:rPr kumimoji="1" lang="zh-CN" altLang="en-US" sz="3200" b="1" dirty="0">
                <a:latin typeface="Arial" charset="0"/>
                <a:ea typeface="宋体" charset="-122"/>
                <a:cs typeface="+mn-cs"/>
              </a:rPr>
              <a:t>二叉树的相似与等价</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二叉树的复制</a:t>
            </a:r>
            <a:endParaRPr lang="en-US" altLang="zh-CN" sz="2800" b="1" dirty="0"/>
          </a:p>
        </p:txBody>
      </p:sp>
      <p:sp>
        <p:nvSpPr>
          <p:cNvPr id="4" name="日期占位符 3"/>
          <p:cNvSpPr>
            <a:spLocks noGrp="1"/>
          </p:cNvSpPr>
          <p:nvPr>
            <p:ph type="dt" sz="half" idx="10"/>
          </p:nvPr>
        </p:nvSpPr>
        <p:spPr/>
        <p:txBody>
          <a:bodyPr/>
          <a:lstStyle/>
          <a:p>
            <a:fld id="{76AF9DA5-FACA-4C46-9DF0-0B4669B564A0}"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80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3"/>
          <p:cNvSpPr txBox="1">
            <a:spLocks noChangeArrowheads="1"/>
          </p:cNvSpPr>
          <p:nvPr/>
        </p:nvSpPr>
        <p:spPr bwMode="auto">
          <a:xfrm>
            <a:off x="3162300" y="1230312"/>
            <a:ext cx="5905500" cy="5322888"/>
          </a:xfrm>
          <a:prstGeom prst="rect">
            <a:avLst/>
          </a:prstGeom>
          <a:noFill/>
          <a:ln w="9525">
            <a:solidFill>
              <a:srgbClr val="04617B"/>
            </a:solidFill>
            <a:miter lim="800000"/>
            <a:headEnd/>
            <a:tailEnd/>
          </a:ln>
        </p:spPr>
        <p:txBody>
          <a:bodyPr wrap="none" lIns="90000" tIns="46800" rIns="90000" bIns="46800">
            <a:spAutoFit/>
          </a:bodyPr>
          <a:lstStyle/>
          <a:p>
            <a:pPr marL="0" marR="0" lvl="0" indent="0" defTabSz="914400" eaLnBrk="1" fontAlgn="base" latinLnBrk="0" hangingPunct="1">
              <a:lnSpc>
                <a:spcPct val="11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BTREE   COPY( BTREE   oldtree )</a:t>
            </a:r>
          </a:p>
          <a:p>
            <a:pPr marL="0" marR="0" lvl="0" indent="0" defTabSz="914400" eaLnBrk="1" fontAlgn="base" latinLnBrk="0" hangingPunct="1">
              <a:lnSpc>
                <a:spcPct val="11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  </a:t>
            </a:r>
          </a:p>
          <a:p>
            <a:pPr marL="0" marR="0" lvl="0" indent="0" defTabSz="914400" eaLnBrk="1" fontAlgn="base" latinLnBrk="0" hangingPunct="1">
              <a:lnSpc>
                <a:spcPct val="11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    BTREE   temp ;</a:t>
            </a:r>
          </a:p>
          <a:p>
            <a:pPr marL="0" marR="0" lvl="0" indent="0" defTabSz="914400" eaLnBrk="1" fontAlgn="base" latinLnBrk="0" hangingPunct="1">
              <a:lnSpc>
                <a:spcPct val="11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    if ( oldtree != NULL )</a:t>
            </a:r>
          </a:p>
          <a:p>
            <a:pPr marL="0" marR="0" lvl="0" indent="0" defTabSz="914400" eaLnBrk="1" fontAlgn="base" latinLnBrk="0" hangingPunct="1">
              <a:lnSpc>
                <a:spcPct val="11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       {    </a:t>
            </a:r>
          </a:p>
          <a:p>
            <a:pPr marL="0" marR="0" lvl="0" indent="0" defTabSz="914400" eaLnBrk="1" fontAlgn="base" latinLnBrk="0" hangingPunct="1">
              <a:lnSpc>
                <a:spcPct val="11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           temp = new  Node ;</a:t>
            </a:r>
          </a:p>
          <a:p>
            <a:pPr marL="0" marR="0" lvl="0" indent="0" defTabSz="914400" eaLnBrk="1" fontAlgn="base" latinLnBrk="0" hangingPunct="1">
              <a:lnSpc>
                <a:spcPct val="11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           </a:t>
            </a:r>
            <a:r>
              <a:rPr kumimoji="1" lang="en-US" altLang="zh-CN" sz="2400" b="1" i="0" u="none" strike="noStrike" kern="0" cap="none" spc="0" normalizeH="0" baseline="0" noProof="0">
                <a:ln>
                  <a:noFill/>
                </a:ln>
                <a:solidFill>
                  <a:srgbClr val="FF3300"/>
                </a:solidFill>
                <a:effectLst/>
                <a:uLnTx/>
                <a:uFillTx/>
                <a:latin typeface="Times New Roman" pitchFamily="18" charset="0"/>
              </a:rPr>
              <a:t>temp -&gt; lch = COPY( oldtree-&gt;lch ) ;</a:t>
            </a:r>
          </a:p>
          <a:p>
            <a:pPr marL="0" marR="0" lvl="0" indent="0" defTabSz="914400" eaLnBrk="1" fontAlgn="base" latinLnBrk="0" hangingPunct="1">
              <a:lnSpc>
                <a:spcPct val="11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FF3300"/>
                </a:solidFill>
                <a:effectLst/>
                <a:uLnTx/>
                <a:uFillTx/>
                <a:latin typeface="Times New Roman" pitchFamily="18" charset="0"/>
              </a:rPr>
              <a:t>           temp -&gt; rch = COPY( oldtree-&gt;rch ) ;</a:t>
            </a:r>
          </a:p>
          <a:p>
            <a:pPr marL="0" marR="0" lvl="0" indent="0" defTabSz="914400" eaLnBrk="1" fontAlgn="base" latinLnBrk="0" hangingPunct="1">
              <a:lnSpc>
                <a:spcPct val="11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FF3300"/>
                </a:solidFill>
                <a:effectLst/>
                <a:uLnTx/>
                <a:uFillTx/>
                <a:latin typeface="Times New Roman" pitchFamily="18" charset="0"/>
              </a:rPr>
              <a:t>           temp -&gt; data = oldtree-&gt;data ;</a:t>
            </a:r>
          </a:p>
          <a:p>
            <a:pPr marL="0" marR="0" lvl="0" indent="0" defTabSz="914400" eaLnBrk="1" fontAlgn="base" latinLnBrk="0" hangingPunct="1">
              <a:lnSpc>
                <a:spcPct val="11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           return ( temp );</a:t>
            </a:r>
          </a:p>
          <a:p>
            <a:pPr marL="0" marR="0" lvl="0" indent="0" defTabSz="914400" eaLnBrk="1" fontAlgn="base" latinLnBrk="0" hangingPunct="1">
              <a:lnSpc>
                <a:spcPct val="11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        }</a:t>
            </a:r>
          </a:p>
          <a:p>
            <a:pPr marL="0" marR="0" lvl="0" indent="0" defTabSz="914400" eaLnBrk="1" fontAlgn="base" latinLnBrk="0" hangingPunct="1">
              <a:lnSpc>
                <a:spcPct val="11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    return ( NULL ) ;</a:t>
            </a:r>
          </a:p>
          <a:p>
            <a:pPr marL="0" marR="0" lvl="0" indent="0" defTabSz="914400" eaLnBrk="1" fontAlgn="base" latinLnBrk="0" hangingPunct="1">
              <a:lnSpc>
                <a:spcPct val="11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 </a:t>
            </a:r>
          </a:p>
        </p:txBody>
      </p:sp>
    </p:spTree>
    <p:extLst>
      <p:ext uri="{BB962C8B-B14F-4D97-AF65-F5344CB8AC3E}">
        <p14:creationId xmlns:p14="http://schemas.microsoft.com/office/powerpoint/2010/main" val="2919485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endParaRPr kumimoji="1" lang="zh-CN" altLang="en-US" sz="3200" b="1" dirty="0">
              <a:latin typeface="Arial" charset="0"/>
              <a:ea typeface="宋体" charset="-122"/>
              <a:cs typeface="+mn-cs"/>
            </a:endParaRP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p>
        </p:txBody>
      </p:sp>
      <p:sp>
        <p:nvSpPr>
          <p:cNvPr id="4" name="日期占位符 3"/>
          <p:cNvSpPr>
            <a:spLocks noGrp="1"/>
          </p:cNvSpPr>
          <p:nvPr>
            <p:ph type="dt" sz="half" idx="10"/>
          </p:nvPr>
        </p:nvSpPr>
        <p:spPr/>
        <p:txBody>
          <a:bodyPr/>
          <a:lstStyle/>
          <a:p>
            <a:fld id="{4E100989-D47D-43A5-9EC0-CF13B4B5236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81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13" name="Group 76"/>
          <p:cNvGrpSpPr>
            <a:grpSpLocks/>
          </p:cNvGrpSpPr>
          <p:nvPr/>
        </p:nvGrpSpPr>
        <p:grpSpPr bwMode="auto">
          <a:xfrm>
            <a:off x="1452563" y="188912"/>
            <a:ext cx="5410200" cy="3451226"/>
            <a:chOff x="2832" y="864"/>
            <a:chExt cx="3408" cy="2174"/>
          </a:xfrm>
        </p:grpSpPr>
        <p:grpSp>
          <p:nvGrpSpPr>
            <p:cNvPr id="14" name="Group 77"/>
            <p:cNvGrpSpPr>
              <a:grpSpLocks/>
            </p:cNvGrpSpPr>
            <p:nvPr/>
          </p:nvGrpSpPr>
          <p:grpSpPr bwMode="auto">
            <a:xfrm>
              <a:off x="5428" y="2160"/>
              <a:ext cx="817" cy="302"/>
              <a:chOff x="3935" y="2880"/>
              <a:chExt cx="1009" cy="420"/>
            </a:xfrm>
          </p:grpSpPr>
          <p:grpSp>
            <p:nvGrpSpPr>
              <p:cNvPr id="75" name="Group 78"/>
              <p:cNvGrpSpPr>
                <a:grpSpLocks/>
              </p:cNvGrpSpPr>
              <p:nvPr/>
            </p:nvGrpSpPr>
            <p:grpSpPr bwMode="auto">
              <a:xfrm>
                <a:off x="3984" y="2880"/>
                <a:ext cx="839" cy="384"/>
                <a:chOff x="960" y="2544"/>
                <a:chExt cx="768" cy="288"/>
              </a:xfrm>
            </p:grpSpPr>
            <p:sp>
              <p:nvSpPr>
                <p:cNvPr id="77" name="Rectangle 79"/>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8" name="Line 80"/>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9" name="Line 81"/>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76" name="Text Box 82"/>
              <p:cNvSpPr txBox="1">
                <a:spLocks noChangeArrowheads="1"/>
              </p:cNvSpPr>
              <p:nvPr/>
            </p:nvSpPr>
            <p:spPr bwMode="auto">
              <a:xfrm>
                <a:off x="3935" y="2899"/>
                <a:ext cx="1009"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e ∧</a:t>
                </a:r>
              </a:p>
            </p:txBody>
          </p:sp>
        </p:grpSp>
        <p:grpSp>
          <p:nvGrpSpPr>
            <p:cNvPr id="15" name="Group 83"/>
            <p:cNvGrpSpPr>
              <a:grpSpLocks/>
            </p:cNvGrpSpPr>
            <p:nvPr/>
          </p:nvGrpSpPr>
          <p:grpSpPr bwMode="auto">
            <a:xfrm>
              <a:off x="2832" y="864"/>
              <a:ext cx="3072" cy="2174"/>
              <a:chOff x="2832" y="864"/>
              <a:chExt cx="3072" cy="2174"/>
            </a:xfrm>
          </p:grpSpPr>
          <p:sp>
            <p:nvSpPr>
              <p:cNvPr id="16" name="Line 84"/>
              <p:cNvSpPr>
                <a:spLocks noChangeShapeType="1"/>
              </p:cNvSpPr>
              <p:nvPr/>
            </p:nvSpPr>
            <p:spPr bwMode="auto">
              <a:xfrm flipH="1">
                <a:off x="3840" y="1440"/>
                <a:ext cx="336" cy="240"/>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7" name="Line 85"/>
              <p:cNvSpPr>
                <a:spLocks noChangeShapeType="1"/>
              </p:cNvSpPr>
              <p:nvPr/>
            </p:nvSpPr>
            <p:spPr bwMode="auto">
              <a:xfrm>
                <a:off x="4656" y="1392"/>
                <a:ext cx="672"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9" name="Line 86"/>
              <p:cNvSpPr>
                <a:spLocks noChangeShapeType="1"/>
              </p:cNvSpPr>
              <p:nvPr/>
            </p:nvSpPr>
            <p:spPr bwMode="auto">
              <a:xfrm flipH="1">
                <a:off x="3168" y="1920"/>
                <a:ext cx="313"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0" name="Line 87"/>
              <p:cNvSpPr>
                <a:spLocks noChangeShapeType="1"/>
              </p:cNvSpPr>
              <p:nvPr/>
            </p:nvSpPr>
            <p:spPr bwMode="auto">
              <a:xfrm flipH="1">
                <a:off x="4992" y="1920"/>
                <a:ext cx="157" cy="240"/>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1" name="Line 88"/>
              <p:cNvSpPr>
                <a:spLocks noChangeShapeType="1"/>
              </p:cNvSpPr>
              <p:nvPr/>
            </p:nvSpPr>
            <p:spPr bwMode="auto">
              <a:xfrm>
                <a:off x="3984" y="1920"/>
                <a:ext cx="336"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2" name="Line 89"/>
              <p:cNvSpPr>
                <a:spLocks noChangeShapeType="1"/>
              </p:cNvSpPr>
              <p:nvPr/>
            </p:nvSpPr>
            <p:spPr bwMode="auto">
              <a:xfrm>
                <a:off x="5568" y="1920"/>
                <a:ext cx="336" cy="288"/>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 name="Line 90"/>
              <p:cNvSpPr>
                <a:spLocks noChangeShapeType="1"/>
              </p:cNvSpPr>
              <p:nvPr/>
            </p:nvSpPr>
            <p:spPr bwMode="auto">
              <a:xfrm flipH="1">
                <a:off x="3600" y="2400"/>
                <a:ext cx="409" cy="336"/>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4" name="Line 91"/>
              <p:cNvSpPr>
                <a:spLocks noChangeShapeType="1"/>
              </p:cNvSpPr>
              <p:nvPr/>
            </p:nvSpPr>
            <p:spPr bwMode="auto">
              <a:xfrm>
                <a:off x="4464" y="2448"/>
                <a:ext cx="384" cy="336"/>
              </a:xfrm>
              <a:prstGeom prst="line">
                <a:avLst/>
              </a:prstGeom>
              <a:noFill/>
              <a:ln w="38100">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25" name="Group 92"/>
              <p:cNvGrpSpPr>
                <a:grpSpLocks/>
              </p:cNvGrpSpPr>
              <p:nvPr/>
            </p:nvGrpSpPr>
            <p:grpSpPr bwMode="auto">
              <a:xfrm>
                <a:off x="2832" y="2160"/>
                <a:ext cx="960" cy="302"/>
                <a:chOff x="2448" y="3408"/>
                <a:chExt cx="1007" cy="420"/>
              </a:xfrm>
            </p:grpSpPr>
            <p:grpSp>
              <p:nvGrpSpPr>
                <p:cNvPr id="70" name="Group 93"/>
                <p:cNvGrpSpPr>
                  <a:grpSpLocks/>
                </p:cNvGrpSpPr>
                <p:nvPr/>
              </p:nvGrpSpPr>
              <p:grpSpPr bwMode="auto">
                <a:xfrm>
                  <a:off x="2496" y="3408"/>
                  <a:ext cx="839" cy="384"/>
                  <a:chOff x="960" y="2544"/>
                  <a:chExt cx="768" cy="288"/>
                </a:xfrm>
              </p:grpSpPr>
              <p:sp>
                <p:nvSpPr>
                  <p:cNvPr id="72" name="Rectangle 94"/>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3" name="Line 95"/>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4" name="Line 96"/>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71" name="Text Box 97"/>
                <p:cNvSpPr txBox="1">
                  <a:spLocks noChangeArrowheads="1"/>
                </p:cNvSpPr>
                <p:nvPr/>
              </p:nvSpPr>
              <p:spPr bwMode="auto">
                <a:xfrm>
                  <a:off x="2448" y="3427"/>
                  <a:ext cx="1007"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a </a:t>
                  </a: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grpSp>
            <p:nvGrpSpPr>
              <p:cNvPr id="26" name="Group 98"/>
              <p:cNvGrpSpPr>
                <a:grpSpLocks/>
              </p:cNvGrpSpPr>
              <p:nvPr/>
            </p:nvGrpSpPr>
            <p:grpSpPr bwMode="auto">
              <a:xfrm>
                <a:off x="4080" y="1152"/>
                <a:ext cx="760" cy="327"/>
                <a:chOff x="3696" y="1680"/>
                <a:chExt cx="760" cy="327"/>
              </a:xfrm>
            </p:grpSpPr>
            <p:grpSp>
              <p:nvGrpSpPr>
                <p:cNvPr id="65" name="Group 99"/>
                <p:cNvGrpSpPr>
                  <a:grpSpLocks/>
                </p:cNvGrpSpPr>
                <p:nvPr/>
              </p:nvGrpSpPr>
              <p:grpSpPr bwMode="auto">
                <a:xfrm>
                  <a:off x="3732" y="1715"/>
                  <a:ext cx="633" cy="277"/>
                  <a:chOff x="960" y="2544"/>
                  <a:chExt cx="768" cy="288"/>
                </a:xfrm>
              </p:grpSpPr>
              <p:sp>
                <p:nvSpPr>
                  <p:cNvPr id="67" name="Rectangle 100"/>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8" name="Line 101"/>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9" name="Line 102"/>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66" name="Text Box 103"/>
                <p:cNvSpPr txBox="1">
                  <a:spLocks noChangeArrowheads="1"/>
                </p:cNvSpPr>
                <p:nvPr/>
              </p:nvSpPr>
              <p:spPr bwMode="auto">
                <a:xfrm>
                  <a:off x="3696" y="1680"/>
                  <a:ext cx="760" cy="32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0000"/>
                      </a:solidFill>
                      <a:effectLst/>
                      <a:uLnTx/>
                      <a:uFillTx/>
                      <a:latin typeface="隶书" pitchFamily="49" charset="-122"/>
                      <a:ea typeface="隶书" pitchFamily="49" charset="-122"/>
                    </a:rPr>
                    <a:t>+</a:t>
                  </a:r>
                </a:p>
              </p:txBody>
            </p:sp>
          </p:grpSp>
          <p:grpSp>
            <p:nvGrpSpPr>
              <p:cNvPr id="27" name="Group 104"/>
              <p:cNvGrpSpPr>
                <a:grpSpLocks/>
              </p:cNvGrpSpPr>
              <p:nvPr/>
            </p:nvGrpSpPr>
            <p:grpSpPr bwMode="auto">
              <a:xfrm>
                <a:off x="3408" y="1680"/>
                <a:ext cx="760" cy="327"/>
                <a:chOff x="2976" y="2592"/>
                <a:chExt cx="1009" cy="454"/>
              </a:xfrm>
            </p:grpSpPr>
            <p:grpSp>
              <p:nvGrpSpPr>
                <p:cNvPr id="60" name="Group 105"/>
                <p:cNvGrpSpPr>
                  <a:grpSpLocks/>
                </p:cNvGrpSpPr>
                <p:nvPr/>
              </p:nvGrpSpPr>
              <p:grpSpPr bwMode="auto">
                <a:xfrm>
                  <a:off x="3024" y="2592"/>
                  <a:ext cx="839" cy="384"/>
                  <a:chOff x="960" y="2544"/>
                  <a:chExt cx="768" cy="288"/>
                </a:xfrm>
              </p:grpSpPr>
              <p:sp>
                <p:nvSpPr>
                  <p:cNvPr id="62" name="Rectangle 106"/>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3" name="Line 107"/>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4" name="Line 108"/>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61" name="Text Box 109"/>
                <p:cNvSpPr txBox="1">
                  <a:spLocks noChangeArrowheads="1"/>
                </p:cNvSpPr>
                <p:nvPr/>
              </p:nvSpPr>
              <p:spPr bwMode="auto">
                <a:xfrm>
                  <a:off x="2976" y="2592"/>
                  <a:ext cx="1009" cy="45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2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28" name="Group 110"/>
              <p:cNvGrpSpPr>
                <a:grpSpLocks/>
              </p:cNvGrpSpPr>
              <p:nvPr/>
            </p:nvGrpSpPr>
            <p:grpSpPr bwMode="auto">
              <a:xfrm>
                <a:off x="4944" y="1680"/>
                <a:ext cx="868" cy="302"/>
                <a:chOff x="4368" y="2592"/>
                <a:chExt cx="1152" cy="419"/>
              </a:xfrm>
            </p:grpSpPr>
            <p:grpSp>
              <p:nvGrpSpPr>
                <p:cNvPr id="55" name="Group 111"/>
                <p:cNvGrpSpPr>
                  <a:grpSpLocks/>
                </p:cNvGrpSpPr>
                <p:nvPr/>
              </p:nvGrpSpPr>
              <p:grpSpPr bwMode="auto">
                <a:xfrm>
                  <a:off x="4464" y="2592"/>
                  <a:ext cx="839" cy="384"/>
                  <a:chOff x="960" y="2544"/>
                  <a:chExt cx="768" cy="288"/>
                </a:xfrm>
              </p:grpSpPr>
              <p:sp>
                <p:nvSpPr>
                  <p:cNvPr id="57" name="Rectangle 112"/>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8" name="Line 113"/>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9" name="Line 114"/>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6" name="Text Box 115"/>
                <p:cNvSpPr txBox="1">
                  <a:spLocks noChangeArrowheads="1"/>
                </p:cNvSpPr>
                <p:nvPr/>
              </p:nvSpPr>
              <p:spPr bwMode="auto">
                <a:xfrm>
                  <a:off x="4368" y="2611"/>
                  <a:ext cx="1152" cy="4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29" name="Group 116"/>
              <p:cNvGrpSpPr>
                <a:grpSpLocks/>
              </p:cNvGrpSpPr>
              <p:nvPr/>
            </p:nvGrpSpPr>
            <p:grpSpPr bwMode="auto">
              <a:xfrm>
                <a:off x="4656" y="2160"/>
                <a:ext cx="760" cy="302"/>
                <a:chOff x="3935" y="2880"/>
                <a:chExt cx="1009" cy="420"/>
              </a:xfrm>
            </p:grpSpPr>
            <p:grpSp>
              <p:nvGrpSpPr>
                <p:cNvPr id="50" name="Group 117"/>
                <p:cNvGrpSpPr>
                  <a:grpSpLocks/>
                </p:cNvGrpSpPr>
                <p:nvPr/>
              </p:nvGrpSpPr>
              <p:grpSpPr bwMode="auto">
                <a:xfrm>
                  <a:off x="3984" y="2880"/>
                  <a:ext cx="839" cy="384"/>
                  <a:chOff x="960" y="2544"/>
                  <a:chExt cx="768" cy="288"/>
                </a:xfrm>
              </p:grpSpPr>
              <p:sp>
                <p:nvSpPr>
                  <p:cNvPr id="52" name="Rectangle 118"/>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3" name="Line 119"/>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4" name="Line 120"/>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1" name="Text Box 121"/>
                <p:cNvSpPr txBox="1">
                  <a:spLocks noChangeArrowheads="1"/>
                </p:cNvSpPr>
                <p:nvPr/>
              </p:nvSpPr>
              <p:spPr bwMode="auto">
                <a:xfrm>
                  <a:off x="3935" y="2899"/>
                  <a:ext cx="1009"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d </a:t>
                  </a:r>
                  <a:r>
                    <a:rPr kumimoji="1" lang="en-US" altLang="zh-CN" sz="2000" b="1" i="0" u="none" strike="noStrike" kern="0" cap="none" spc="0" normalizeH="0" baseline="0" noProof="0">
                      <a:ln>
                        <a:noFill/>
                      </a:ln>
                      <a:solidFill>
                        <a:srgbClr val="003300"/>
                      </a:solidFill>
                      <a:effectLst/>
                      <a:uLnTx/>
                      <a:uFillTx/>
                      <a:latin typeface="隶书" pitchFamily="49" charset="-122"/>
                      <a:ea typeface="隶书" pitchFamily="49" charset="-122"/>
                    </a:rPr>
                    <a:t>/\</a:t>
                  </a:r>
                </a:p>
              </p:txBody>
            </p:sp>
          </p:grpSp>
          <p:grpSp>
            <p:nvGrpSpPr>
              <p:cNvPr id="30" name="Group 122"/>
              <p:cNvGrpSpPr>
                <a:grpSpLocks/>
              </p:cNvGrpSpPr>
              <p:nvPr/>
            </p:nvGrpSpPr>
            <p:grpSpPr bwMode="auto">
              <a:xfrm>
                <a:off x="3891" y="2170"/>
                <a:ext cx="761" cy="302"/>
                <a:chOff x="2928" y="4224"/>
                <a:chExt cx="1008" cy="418"/>
              </a:xfrm>
            </p:grpSpPr>
            <p:grpSp>
              <p:nvGrpSpPr>
                <p:cNvPr id="45" name="Group 123"/>
                <p:cNvGrpSpPr>
                  <a:grpSpLocks/>
                </p:cNvGrpSpPr>
                <p:nvPr/>
              </p:nvGrpSpPr>
              <p:grpSpPr bwMode="auto">
                <a:xfrm>
                  <a:off x="2976" y="4224"/>
                  <a:ext cx="839" cy="384"/>
                  <a:chOff x="960" y="2544"/>
                  <a:chExt cx="768" cy="288"/>
                </a:xfrm>
              </p:grpSpPr>
              <p:sp>
                <p:nvSpPr>
                  <p:cNvPr id="47" name="Rectangle 124"/>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8" name="Line 125"/>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9" name="Line 126"/>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6" name="Text Box 127"/>
                <p:cNvSpPr txBox="1">
                  <a:spLocks noChangeArrowheads="1"/>
                </p:cNvSpPr>
                <p:nvPr/>
              </p:nvSpPr>
              <p:spPr bwMode="auto">
                <a:xfrm>
                  <a:off x="2928" y="4242"/>
                  <a:ext cx="1008" cy="4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zh-CN" altLang="en-US" sz="20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0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sp>
            <p:nvSpPr>
              <p:cNvPr id="31" name="Text Box 128"/>
              <p:cNvSpPr txBox="1">
                <a:spLocks noChangeArrowheads="1"/>
              </p:cNvSpPr>
              <p:nvPr/>
            </p:nvSpPr>
            <p:spPr bwMode="auto">
              <a:xfrm>
                <a:off x="3456" y="864"/>
                <a:ext cx="624" cy="327"/>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800" b="1" i="0" u="none" strike="noStrike" kern="0" cap="none" spc="0" normalizeH="0" baseline="0" noProof="0">
                    <a:ln>
                      <a:noFill/>
                    </a:ln>
                    <a:solidFill>
                      <a:srgbClr val="000000"/>
                    </a:solidFill>
                    <a:effectLst/>
                    <a:uLnTx/>
                    <a:uFillTx/>
                    <a:latin typeface="宋体" pitchFamily="2" charset="-122"/>
                  </a:rPr>
                  <a:t>T</a:t>
                </a:r>
              </a:p>
            </p:txBody>
          </p:sp>
          <p:sp>
            <p:nvSpPr>
              <p:cNvPr id="32" name="Line 129"/>
              <p:cNvSpPr>
                <a:spLocks noChangeShapeType="1"/>
              </p:cNvSpPr>
              <p:nvPr/>
            </p:nvSpPr>
            <p:spPr bwMode="auto">
              <a:xfrm>
                <a:off x="3792" y="1296"/>
                <a:ext cx="288" cy="0"/>
              </a:xfrm>
              <a:prstGeom prst="line">
                <a:avLst/>
              </a:prstGeom>
              <a:noFill/>
              <a:ln w="38100" cap="rnd">
                <a:solidFill>
                  <a:srgbClr val="000000"/>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33" name="Group 130"/>
              <p:cNvGrpSpPr>
                <a:grpSpLocks/>
              </p:cNvGrpSpPr>
              <p:nvPr/>
            </p:nvGrpSpPr>
            <p:grpSpPr bwMode="auto">
              <a:xfrm>
                <a:off x="3072" y="2736"/>
                <a:ext cx="960" cy="302"/>
                <a:chOff x="2448" y="3408"/>
                <a:chExt cx="1007" cy="420"/>
              </a:xfrm>
            </p:grpSpPr>
            <p:grpSp>
              <p:nvGrpSpPr>
                <p:cNvPr id="40" name="Group 131"/>
                <p:cNvGrpSpPr>
                  <a:grpSpLocks/>
                </p:cNvGrpSpPr>
                <p:nvPr/>
              </p:nvGrpSpPr>
              <p:grpSpPr bwMode="auto">
                <a:xfrm>
                  <a:off x="2496" y="3408"/>
                  <a:ext cx="839" cy="384"/>
                  <a:chOff x="960" y="2544"/>
                  <a:chExt cx="768" cy="288"/>
                </a:xfrm>
              </p:grpSpPr>
              <p:sp>
                <p:nvSpPr>
                  <p:cNvPr id="42" name="Rectangle 132"/>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3" name="Line 133"/>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4" name="Line 134"/>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1" name="Text Box 135"/>
                <p:cNvSpPr txBox="1">
                  <a:spLocks noChangeArrowheads="1"/>
                </p:cNvSpPr>
                <p:nvPr/>
              </p:nvSpPr>
              <p:spPr bwMode="auto">
                <a:xfrm>
                  <a:off x="2448" y="3427"/>
                  <a:ext cx="1007"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b </a:t>
                  </a: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grpSp>
            <p:nvGrpSpPr>
              <p:cNvPr id="34" name="Group 136"/>
              <p:cNvGrpSpPr>
                <a:grpSpLocks/>
              </p:cNvGrpSpPr>
              <p:nvPr/>
            </p:nvGrpSpPr>
            <p:grpSpPr bwMode="auto">
              <a:xfrm>
                <a:off x="4368" y="2736"/>
                <a:ext cx="960" cy="302"/>
                <a:chOff x="2448" y="3408"/>
                <a:chExt cx="1007" cy="420"/>
              </a:xfrm>
            </p:grpSpPr>
            <p:grpSp>
              <p:nvGrpSpPr>
                <p:cNvPr id="35" name="Group 137"/>
                <p:cNvGrpSpPr>
                  <a:grpSpLocks/>
                </p:cNvGrpSpPr>
                <p:nvPr/>
              </p:nvGrpSpPr>
              <p:grpSpPr bwMode="auto">
                <a:xfrm>
                  <a:off x="2496" y="3408"/>
                  <a:ext cx="839" cy="384"/>
                  <a:chOff x="960" y="2544"/>
                  <a:chExt cx="768" cy="288"/>
                </a:xfrm>
              </p:grpSpPr>
              <p:sp>
                <p:nvSpPr>
                  <p:cNvPr id="37" name="Rectangle 138"/>
                  <p:cNvSpPr>
                    <a:spLocks noChangeArrowheads="1"/>
                  </p:cNvSpPr>
                  <p:nvPr/>
                </p:nvSpPr>
                <p:spPr bwMode="auto">
                  <a:xfrm>
                    <a:off x="960" y="2544"/>
                    <a:ext cx="768" cy="288"/>
                  </a:xfrm>
                  <a:prstGeom prst="rect">
                    <a:avLst/>
                  </a:prstGeom>
                  <a:solidFill>
                    <a:srgbClr val="CCFFFF"/>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8" name="Line 139"/>
                  <p:cNvSpPr>
                    <a:spLocks noChangeShapeType="1"/>
                  </p:cNvSpPr>
                  <p:nvPr/>
                </p:nvSpPr>
                <p:spPr bwMode="auto">
                  <a:xfrm>
                    <a:off x="1200"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9" name="Line 140"/>
                  <p:cNvSpPr>
                    <a:spLocks noChangeShapeType="1"/>
                  </p:cNvSpPr>
                  <p:nvPr/>
                </p:nvSpPr>
                <p:spPr bwMode="auto">
                  <a:xfrm>
                    <a:off x="1488" y="254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36" name="Text Box 141"/>
                <p:cNvSpPr txBox="1">
                  <a:spLocks noChangeArrowheads="1"/>
                </p:cNvSpPr>
                <p:nvPr/>
              </p:nvSpPr>
              <p:spPr bwMode="auto">
                <a:xfrm>
                  <a:off x="2448" y="3427"/>
                  <a:ext cx="1007" cy="4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r>
                    <a:rPr kumimoji="1" lang="zh-CN" altLang="en-US" sz="1800" b="1" i="0" u="none" strike="noStrike" kern="0" cap="none" spc="0" normalizeH="0" baseline="0" noProof="0">
                      <a:ln>
                        <a:noFill/>
                      </a:ln>
                      <a:solidFill>
                        <a:srgbClr val="003300"/>
                      </a:solidFill>
                      <a:effectLst/>
                      <a:uLnTx/>
                      <a:uFillTx/>
                      <a:latin typeface="隶书" pitchFamily="49" charset="-122"/>
                      <a:ea typeface="隶书" pitchFamily="49" charset="-122"/>
                    </a:rPr>
                    <a:t>  </a:t>
                  </a:r>
                  <a:r>
                    <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rPr>
                    <a:t>c </a:t>
                  </a:r>
                  <a:r>
                    <a:rPr kumimoji="1" lang="zh-CN" altLang="en-US" sz="2400" b="1" i="0" u="none" strike="noStrike" kern="0" cap="none" spc="0" normalizeH="0" baseline="0" noProof="0">
                      <a:ln>
                        <a:noFill/>
                      </a:ln>
                      <a:solidFill>
                        <a:srgbClr val="003300"/>
                      </a:solidFill>
                      <a:effectLst/>
                      <a:uLnTx/>
                      <a:uFillTx/>
                      <a:latin typeface="隶书" pitchFamily="49" charset="-122"/>
                      <a:ea typeface="隶书" pitchFamily="49" charset="-122"/>
                    </a:rPr>
                    <a:t>∧</a:t>
                  </a:r>
                  <a:endParaRPr kumimoji="1" lang="en-US" altLang="zh-CN" sz="2400" b="1" i="0" u="none" strike="noStrike" kern="0" cap="none" spc="0" normalizeH="0" baseline="0" noProof="0">
                    <a:ln>
                      <a:noFill/>
                    </a:ln>
                    <a:solidFill>
                      <a:srgbClr val="003300"/>
                    </a:solidFill>
                    <a:effectLst/>
                    <a:uLnTx/>
                    <a:uFillTx/>
                    <a:latin typeface="隶书" pitchFamily="49" charset="-122"/>
                    <a:ea typeface="隶书" pitchFamily="49" charset="-122"/>
                  </a:endParaRPr>
                </a:p>
              </p:txBody>
            </p:sp>
          </p:grpSp>
        </p:grpSp>
      </p:grpSp>
      <p:sp>
        <p:nvSpPr>
          <p:cNvPr id="80" name="AutoShape 10"/>
          <p:cNvSpPr>
            <a:spLocks noChangeArrowheads="1"/>
          </p:cNvSpPr>
          <p:nvPr/>
        </p:nvSpPr>
        <p:spPr bwMode="auto">
          <a:xfrm>
            <a:off x="762000" y="4267200"/>
            <a:ext cx="8137525" cy="936625"/>
          </a:xfrm>
          <a:prstGeom prst="cloudCallout">
            <a:avLst>
              <a:gd name="adj1" fmla="val -43759"/>
              <a:gd name="adj2" fmla="val 79153"/>
            </a:avLst>
          </a:prstGeom>
          <a:solidFill>
            <a:srgbClr val="FFFFFF"/>
          </a:solidFill>
          <a:ln w="25400" cap="flat" cmpd="sng" algn="ctr">
            <a:solidFill>
              <a:srgbClr val="0F6FC6"/>
            </a:solidFill>
            <a:prstDash val="solid"/>
            <a:headEnd/>
            <a:tailEnd/>
          </a:ln>
          <a:effec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800" b="1" i="0" u="none" strike="noStrike" kern="0" cap="none" spc="0" normalizeH="0" baseline="0" noProof="0" dirty="0">
                <a:ln>
                  <a:noFill/>
                </a:ln>
                <a:solidFill>
                  <a:srgbClr val="0000FF"/>
                </a:solidFill>
                <a:effectLst/>
                <a:uLnTx/>
                <a:uFillTx/>
                <a:latin typeface="Constantia"/>
                <a:ea typeface="华文隶书" pitchFamily="2" charset="-122"/>
                <a:cs typeface="+mn-cs"/>
              </a:rPr>
              <a:t>如何利用二叉链表的空指针域？</a:t>
            </a:r>
          </a:p>
        </p:txBody>
      </p:sp>
      <p:sp>
        <p:nvSpPr>
          <p:cNvPr id="81" name="双波形 80"/>
          <p:cNvSpPr/>
          <p:nvPr/>
        </p:nvSpPr>
        <p:spPr bwMode="auto">
          <a:xfrm>
            <a:off x="1666875" y="5562600"/>
            <a:ext cx="6929438" cy="858837"/>
          </a:xfrm>
          <a:prstGeom prst="doubleWave">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1" i="0" u="none" strike="noStrike" kern="0" cap="none" spc="0" normalizeH="0" baseline="0" noProof="0" dirty="0">
                <a:ln>
                  <a:noFill/>
                </a:ln>
                <a:solidFill>
                  <a:srgbClr val="0000FF"/>
                </a:solidFill>
                <a:effectLst/>
                <a:uLnTx/>
                <a:uFillTx/>
                <a:latin typeface="Constantia"/>
                <a:ea typeface="宋体"/>
                <a:cs typeface="+mn-cs"/>
              </a:rPr>
              <a:t>线性链表</a:t>
            </a:r>
            <a:r>
              <a:rPr kumimoji="1" lang="en-US" altLang="zh-CN" sz="3600" b="1" i="0" u="none" strike="noStrike" kern="0" cap="none" spc="0" normalizeH="0" baseline="0" noProof="0" dirty="0">
                <a:ln>
                  <a:noFill/>
                </a:ln>
                <a:solidFill>
                  <a:srgbClr val="0000FF"/>
                </a:solidFill>
                <a:effectLst/>
                <a:uLnTx/>
                <a:uFillTx/>
                <a:latin typeface="Constantia"/>
                <a:ea typeface="宋体"/>
                <a:cs typeface="+mn-cs"/>
              </a:rPr>
              <a:t>:</a:t>
            </a:r>
            <a:r>
              <a:rPr kumimoji="1" lang="zh-CN" altLang="en-US" sz="3600" b="1" i="0" u="none" strike="noStrike" kern="0" cap="none" spc="0" normalizeH="0" baseline="0" noProof="0" dirty="0">
                <a:ln>
                  <a:noFill/>
                </a:ln>
                <a:solidFill>
                  <a:srgbClr val="0000FF"/>
                </a:solidFill>
                <a:effectLst/>
                <a:uLnTx/>
                <a:uFillTx/>
                <a:latin typeface="Constantia"/>
                <a:ea typeface="宋体"/>
                <a:cs typeface="+mn-cs"/>
              </a:rPr>
              <a:t>从单向链表</a:t>
            </a:r>
            <a:r>
              <a:rPr kumimoji="1" lang="en-US" altLang="zh-CN" sz="3600" b="1" i="0" u="none" strike="noStrike" kern="0" cap="none" spc="0" normalizeH="0" baseline="0" noProof="0" dirty="0">
                <a:ln>
                  <a:noFill/>
                </a:ln>
                <a:solidFill>
                  <a:srgbClr val="0000FF"/>
                </a:solidFill>
                <a:effectLst/>
                <a:uLnTx/>
                <a:uFillTx/>
                <a:latin typeface="Constantia"/>
                <a:ea typeface="宋体"/>
                <a:cs typeface="+mn-cs"/>
                <a:sym typeface="Wingdings" pitchFamily="2" charset="2"/>
              </a:rPr>
              <a:t></a:t>
            </a:r>
            <a:r>
              <a:rPr kumimoji="1" lang="zh-CN" altLang="en-US" sz="3600" b="1" i="0" u="none" strike="noStrike" kern="0" cap="none" spc="0" normalizeH="0" baseline="0" noProof="0" dirty="0">
                <a:ln>
                  <a:noFill/>
                </a:ln>
                <a:solidFill>
                  <a:srgbClr val="0000FF"/>
                </a:solidFill>
                <a:effectLst/>
                <a:uLnTx/>
                <a:uFillTx/>
                <a:latin typeface="Constantia"/>
                <a:ea typeface="宋体"/>
                <a:cs typeface="+mn-cs"/>
              </a:rPr>
              <a:t>双向链表</a:t>
            </a:r>
            <a:endParaRPr kumimoji="1" lang="zh-CN" altLang="en-US" sz="3600" b="0" i="0" u="none" strike="noStrike" kern="0" cap="none" spc="0" normalizeH="0" baseline="0" noProof="0" dirty="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2112982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endParaRPr kumimoji="1" lang="zh-CN" altLang="en-US" sz="3200" b="1" dirty="0">
              <a:latin typeface="Arial" charset="0"/>
              <a:ea typeface="宋体" charset="-122"/>
              <a:cs typeface="+mn-cs"/>
            </a:endParaRP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p>
        </p:txBody>
      </p:sp>
      <p:sp>
        <p:nvSpPr>
          <p:cNvPr id="4" name="日期占位符 3"/>
          <p:cNvSpPr>
            <a:spLocks noGrp="1"/>
          </p:cNvSpPr>
          <p:nvPr>
            <p:ph type="dt" sz="half" idx="10"/>
          </p:nvPr>
        </p:nvSpPr>
        <p:spPr/>
        <p:txBody>
          <a:bodyPr/>
          <a:lstStyle/>
          <a:p>
            <a:fld id="{6861BA6C-9A3E-4BEC-B9E5-EDE7359FB37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82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3"/>
          <p:cNvSpPr txBox="1">
            <a:spLocks noChangeArrowheads="1"/>
          </p:cNvSpPr>
          <p:nvPr/>
        </p:nvSpPr>
        <p:spPr bwMode="auto">
          <a:xfrm>
            <a:off x="304800" y="838200"/>
            <a:ext cx="8640763" cy="4521200"/>
          </a:xfrm>
          <a:prstGeom prst="rect">
            <a:avLst/>
          </a:prstGeom>
          <a:noFill/>
          <a:ln w="12700">
            <a:solidFill>
              <a:srgbClr val="04617B"/>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L="533400" marR="0" lvl="0" indent="-533400" algn="l" defTabSz="914400" rtl="0" eaLnBrk="1" fontAlgn="base" latinLnBrk="0" hangingPunct="1">
              <a:lnSpc>
                <a:spcPts val="4000"/>
              </a:lnSpc>
              <a:spcBef>
                <a:spcPct val="20000"/>
              </a:spcBef>
              <a:spcAft>
                <a:spcPct val="0"/>
              </a:spcAft>
              <a:buClr>
                <a:srgbClr val="0000FF"/>
              </a:buClr>
              <a:buSzPct val="95000"/>
              <a:buFont typeface="Wingdings" pitchFamily="2" charset="2"/>
              <a:buChar char="Ø"/>
              <a:tabLst/>
              <a:defRPr/>
            </a:pPr>
            <a:r>
              <a:rPr kumimoji="0" lang="zh-CN" altLang="en-US" sz="2400" b="1" i="0" u="none" strike="noStrike" kern="0" cap="none" spc="0" normalizeH="0" baseline="0" noProof="0" dirty="0">
                <a:ln>
                  <a:noFill/>
                </a:ln>
                <a:solidFill>
                  <a:srgbClr val="0000FF"/>
                </a:solidFill>
                <a:effectLst/>
                <a:uLnTx/>
                <a:uFillTx/>
                <a:latin typeface="Constantia"/>
                <a:ea typeface="宋体"/>
                <a:cs typeface="+mn-cs"/>
              </a:rPr>
              <a:t>正像线性链表可以从单向链表发展到双向链表一样，</a:t>
            </a:r>
            <a:r>
              <a:rPr kumimoji="0" lang="zh-CN" altLang="en-US" sz="2400" b="1" i="0" u="none" strike="noStrike" kern="0" cap="none" spc="0" normalizeH="0" baseline="0" noProof="0" dirty="0">
                <a:ln>
                  <a:noFill/>
                </a:ln>
                <a:solidFill>
                  <a:srgbClr val="FF3300"/>
                </a:solidFill>
                <a:effectLst/>
                <a:uLnTx/>
                <a:uFillTx/>
                <a:latin typeface="Constantia"/>
                <a:ea typeface="宋体"/>
                <a:cs typeface="+mn-cs"/>
              </a:rPr>
              <a:t>二叉链表也可以采用双向链表</a:t>
            </a:r>
            <a:r>
              <a:rPr kumimoji="0" lang="zh-CN" altLang="en-US" sz="2400" b="1" i="0" u="none" strike="noStrike" kern="0" cap="none" spc="0" normalizeH="0" baseline="0" noProof="0" dirty="0">
                <a:ln>
                  <a:noFill/>
                </a:ln>
                <a:solidFill>
                  <a:srgbClr val="0000FF"/>
                </a:solidFill>
                <a:effectLst/>
                <a:uLnTx/>
                <a:uFillTx/>
                <a:latin typeface="Constantia"/>
                <a:ea typeface="宋体"/>
                <a:cs typeface="+mn-cs"/>
              </a:rPr>
              <a:t>。</a:t>
            </a:r>
            <a:endParaRPr kumimoji="0" lang="en-US" altLang="zh-CN" sz="2400" b="1" i="0" u="none" strike="noStrike" kern="0" cap="none" spc="0" normalizeH="0" baseline="0" noProof="0" dirty="0">
              <a:ln>
                <a:noFill/>
              </a:ln>
              <a:solidFill>
                <a:srgbClr val="0000FF"/>
              </a:solidFill>
              <a:effectLst/>
              <a:uLnTx/>
              <a:uFillTx/>
              <a:latin typeface="Constantia"/>
              <a:ea typeface="宋体"/>
              <a:cs typeface="+mn-cs"/>
            </a:endParaRPr>
          </a:p>
          <a:p>
            <a:pPr marL="533400" marR="0" lvl="0" indent="-533400" algn="l" defTabSz="914400" rtl="0" eaLnBrk="1" fontAlgn="base" latinLnBrk="0" hangingPunct="1">
              <a:lnSpc>
                <a:spcPts val="4000"/>
              </a:lnSpc>
              <a:spcBef>
                <a:spcPct val="20000"/>
              </a:spcBef>
              <a:spcAft>
                <a:spcPct val="0"/>
              </a:spcAft>
              <a:buClr>
                <a:srgbClr val="0000FF"/>
              </a:buClr>
              <a:buSzPct val="95000"/>
              <a:buFont typeface="Wingdings" pitchFamily="2" charset="2"/>
              <a:buChar char="Ø"/>
              <a:tabLst/>
              <a:defRPr/>
            </a:pPr>
            <a:r>
              <a:rPr kumimoji="0" lang="zh-CN" altLang="en-US" sz="2400" b="1" i="0" u="none" strike="noStrike" kern="0" cap="none" spc="0" normalizeH="0" baseline="0" noProof="0" dirty="0">
                <a:ln>
                  <a:noFill/>
                </a:ln>
                <a:solidFill>
                  <a:srgbClr val="FF3300"/>
                </a:solidFill>
                <a:effectLst/>
                <a:uLnTx/>
                <a:uFillTx/>
                <a:latin typeface="Constantia"/>
                <a:ea typeface="宋体"/>
                <a:cs typeface="+mn-cs"/>
              </a:rPr>
              <a:t>二叉链表是一种单向链接结构</a:t>
            </a:r>
            <a:r>
              <a:rPr kumimoji="0" lang="zh-CN" altLang="en-US" sz="2400" b="1" i="0" u="none" strike="noStrike" kern="0" cap="none" spc="0" normalizeH="0" baseline="0" noProof="0" dirty="0">
                <a:ln>
                  <a:noFill/>
                </a:ln>
                <a:solidFill>
                  <a:srgbClr val="0000FF"/>
                </a:solidFill>
                <a:effectLst/>
                <a:uLnTx/>
                <a:uFillTx/>
                <a:latin typeface="Constantia"/>
                <a:ea typeface="宋体"/>
                <a:cs typeface="+mn-cs"/>
              </a:rPr>
              <a:t>，从一个结点出发，沿着指针走向只能到达其子孙结点，却无法返回其祖先结点。</a:t>
            </a:r>
          </a:p>
          <a:p>
            <a:pPr marL="533400" marR="0" lvl="0" indent="-533400" algn="l" defTabSz="914400" rtl="0" eaLnBrk="1" fontAlgn="base" latinLnBrk="0" hangingPunct="1">
              <a:lnSpc>
                <a:spcPts val="4000"/>
              </a:lnSpc>
              <a:spcBef>
                <a:spcPct val="20000"/>
              </a:spcBef>
              <a:spcAft>
                <a:spcPct val="0"/>
              </a:spcAft>
              <a:buClr>
                <a:srgbClr val="0000FF"/>
              </a:buClr>
              <a:buSzPct val="95000"/>
              <a:buFont typeface="Wingdings" pitchFamily="2" charset="2"/>
              <a:buChar char="Ø"/>
              <a:tabLst/>
              <a:defRPr/>
            </a:pPr>
            <a:r>
              <a:rPr kumimoji="1" lang="zh-CN" altLang="en-US" sz="2400" b="1" i="0" u="none" strike="noStrike" kern="0" cap="none" spc="0" normalizeH="0" baseline="0" noProof="0" dirty="0">
                <a:ln>
                  <a:noFill/>
                </a:ln>
                <a:solidFill>
                  <a:srgbClr val="0000FF"/>
                </a:solidFill>
                <a:effectLst/>
                <a:uLnTx/>
                <a:uFillTx/>
                <a:latin typeface="Constantia"/>
                <a:ea typeface="宋体"/>
                <a:cs typeface="+mn-cs"/>
              </a:rPr>
              <a:t>按某种遍历方式对二叉树进行遍历，可以将二叉树中的结点排列成一个线性序列。但是，</a:t>
            </a:r>
            <a:r>
              <a:rPr kumimoji="1" lang="zh-CN" altLang="en-US" sz="2400" b="1" i="0" u="none" strike="noStrike" kern="0" cap="none" spc="0" normalizeH="0" baseline="0" noProof="0" dirty="0">
                <a:ln>
                  <a:noFill/>
                </a:ln>
                <a:solidFill>
                  <a:srgbClr val="FF0000"/>
                </a:solidFill>
                <a:effectLst/>
                <a:uLnTx/>
                <a:uFillTx/>
                <a:latin typeface="Constantia"/>
                <a:ea typeface="宋体"/>
                <a:cs typeface="+mn-cs"/>
              </a:rPr>
              <a:t>二叉树的存储结构不能反映结点的前驱和后继关系</a:t>
            </a:r>
            <a:r>
              <a:rPr kumimoji="1" lang="zh-CN" altLang="en-US" sz="2400" b="1" i="0" u="none" strike="noStrike" kern="0" cap="none" spc="0" normalizeH="0" baseline="0" noProof="0" dirty="0">
                <a:ln>
                  <a:noFill/>
                </a:ln>
                <a:solidFill>
                  <a:srgbClr val="0000FF"/>
                </a:solidFill>
                <a:effectLst/>
                <a:uLnTx/>
                <a:uFillTx/>
                <a:latin typeface="Constantia"/>
                <a:ea typeface="宋体"/>
                <a:cs typeface="+mn-cs"/>
              </a:rPr>
              <a:t>，只能在对二叉树</a:t>
            </a:r>
            <a:r>
              <a:rPr kumimoji="1" lang="zh-CN" altLang="en-US" sz="2400" b="1" i="0" u="none" strike="noStrike" kern="0" cap="none" spc="0" normalizeH="0" baseline="0" noProof="0" dirty="0">
                <a:ln>
                  <a:noFill/>
                </a:ln>
                <a:solidFill>
                  <a:srgbClr val="FF0000"/>
                </a:solidFill>
                <a:effectLst/>
                <a:uLnTx/>
                <a:uFillTx/>
                <a:latin typeface="Constantia"/>
                <a:ea typeface="宋体"/>
                <a:cs typeface="+mn-cs"/>
              </a:rPr>
              <a:t>遍历的动态过程</a:t>
            </a:r>
            <a:r>
              <a:rPr kumimoji="1" lang="zh-CN" altLang="en-US" sz="2400" b="1" i="0" u="none" strike="noStrike" kern="0" cap="none" spc="0" normalizeH="0" baseline="0" noProof="0" dirty="0">
                <a:ln>
                  <a:noFill/>
                </a:ln>
                <a:solidFill>
                  <a:srgbClr val="0000FF"/>
                </a:solidFill>
                <a:effectLst/>
                <a:uLnTx/>
                <a:uFillTx/>
                <a:latin typeface="Constantia"/>
                <a:ea typeface="宋体"/>
                <a:cs typeface="+mn-cs"/>
              </a:rPr>
              <a:t>中得到这些信息。</a:t>
            </a:r>
            <a:endParaRPr kumimoji="1" lang="en-US" altLang="zh-CN" sz="2400" b="1" i="0" u="none" strike="noStrike" kern="0" cap="none" spc="0" normalizeH="0" baseline="0" noProof="0" dirty="0">
              <a:ln>
                <a:noFill/>
              </a:ln>
              <a:solidFill>
                <a:srgbClr val="0000FF"/>
              </a:solidFill>
              <a:effectLst/>
              <a:uLnTx/>
              <a:uFillTx/>
              <a:latin typeface="Constantia"/>
              <a:ea typeface="宋体"/>
              <a:cs typeface="+mn-cs"/>
            </a:endParaRPr>
          </a:p>
        </p:txBody>
      </p:sp>
      <p:sp>
        <p:nvSpPr>
          <p:cNvPr id="14" name="Text Box 9"/>
          <p:cNvSpPr txBox="1">
            <a:spLocks noChangeArrowheads="1"/>
          </p:cNvSpPr>
          <p:nvPr/>
        </p:nvSpPr>
        <p:spPr bwMode="auto">
          <a:xfrm>
            <a:off x="76200" y="333375"/>
            <a:ext cx="1677988" cy="457200"/>
          </a:xfrm>
          <a:prstGeom prst="rect">
            <a:avLst/>
          </a:prstGeom>
          <a:noFill/>
          <a:ln w="9525">
            <a:noFill/>
            <a:miter lim="800000"/>
            <a:headEnd/>
            <a:tailEnd/>
          </a:ln>
        </p:spPr>
        <p:txBody>
          <a:bodyPr wrap="none" lIns="90000" tIns="46800" rIns="90000" bIns="46800">
            <a:spAutoFit/>
          </a:bodyPr>
          <a:lstStyle/>
          <a:p>
            <a:pPr fontAlgn="base">
              <a:spcBef>
                <a:spcPct val="0"/>
              </a:spcBef>
              <a:spcAft>
                <a:spcPct val="0"/>
              </a:spcAft>
              <a:buFont typeface="Wingdings" pitchFamily="2" charset="2"/>
              <a:buChar char="p"/>
            </a:pPr>
            <a:r>
              <a:rPr kumimoji="1" lang="zh-CN" altLang="en-US" sz="2400" b="1" dirty="0">
                <a:solidFill>
                  <a:srgbClr val="6600CC"/>
                </a:solidFill>
                <a:latin typeface="Times New Roman" pitchFamily="18" charset="0"/>
              </a:rPr>
              <a:t>知识回顾</a:t>
            </a:r>
          </a:p>
        </p:txBody>
      </p:sp>
      <p:sp>
        <p:nvSpPr>
          <p:cNvPr id="15" name="双波形 14"/>
          <p:cNvSpPr/>
          <p:nvPr/>
        </p:nvSpPr>
        <p:spPr bwMode="auto">
          <a:xfrm>
            <a:off x="3429000" y="5257800"/>
            <a:ext cx="3714750" cy="858837"/>
          </a:xfrm>
          <a:prstGeom prst="doubleWave">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1" i="0" u="none" strike="noStrike" kern="0" cap="none" spc="0" normalizeH="0" baseline="0" noProof="0" dirty="0">
                <a:ln>
                  <a:noFill/>
                </a:ln>
                <a:solidFill>
                  <a:srgbClr val="000000"/>
                </a:solidFill>
                <a:effectLst/>
                <a:uLnTx/>
                <a:uFillTx/>
                <a:latin typeface="Times New Roman" pitchFamily="18" charset="0"/>
                <a:ea typeface="宋体"/>
                <a:cs typeface="+mn-cs"/>
              </a:rPr>
              <a:t>线索二叉树</a:t>
            </a:r>
          </a:p>
        </p:txBody>
      </p:sp>
    </p:spTree>
    <p:extLst>
      <p:ext uri="{BB962C8B-B14F-4D97-AF65-F5344CB8AC3E}">
        <p14:creationId xmlns:p14="http://schemas.microsoft.com/office/powerpoint/2010/main" val="3420548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  </a:t>
            </a:r>
            <a:r>
              <a:rPr kumimoji="1" lang="zh-CN" altLang="en-US" sz="3200" b="1" dirty="0">
                <a:latin typeface="Arial" charset="0"/>
                <a:ea typeface="宋体" charset="-122"/>
                <a:cs typeface="+mn-cs"/>
              </a:rPr>
              <a:t>线索二叉树</a:t>
            </a:r>
          </a:p>
        </p:txBody>
      </p:sp>
      <p:sp>
        <p:nvSpPr>
          <p:cNvPr id="3" name="内容占位符 2"/>
          <p:cNvSpPr>
            <a:spLocks noGrp="1"/>
          </p:cNvSpPr>
          <p:nvPr>
            <p:ph idx="1"/>
          </p:nvPr>
        </p:nvSpPr>
        <p:spPr>
          <a:xfrm>
            <a:off x="457200" y="1143000"/>
            <a:ext cx="8229600" cy="5105400"/>
          </a:xfrm>
        </p:spPr>
        <p:txBody>
          <a:bodyPr>
            <a:normAutofit/>
          </a:bodyPr>
          <a:lstStyle/>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ea typeface="宋体" pitchFamily="2" charset="-122"/>
              </a:rPr>
              <a:t> </a:t>
            </a:r>
            <a:r>
              <a:rPr kumimoji="1" lang="en-US" altLang="zh-CN" b="1" dirty="0">
                <a:solidFill>
                  <a:srgbClr val="0707F9"/>
                </a:solidFill>
                <a:latin typeface="Times New Roman" pitchFamily="18" charset="0"/>
                <a:ea typeface="宋体" pitchFamily="2" charset="-122"/>
              </a:rPr>
              <a:t>5.5.1  </a:t>
            </a:r>
            <a:r>
              <a:rPr kumimoji="1" lang="zh-CN" altLang="en-US" b="1" dirty="0">
                <a:solidFill>
                  <a:srgbClr val="0707F9"/>
                </a:solidFill>
                <a:latin typeface="Times New Roman" pitchFamily="18" charset="0"/>
                <a:ea typeface="宋体" pitchFamily="2" charset="-122"/>
              </a:rPr>
              <a:t>线索二叉树的表示</a:t>
            </a:r>
          </a:p>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ea typeface="宋体" pitchFamily="2" charset="-122"/>
              </a:rPr>
              <a:t> </a:t>
            </a:r>
            <a:r>
              <a:rPr kumimoji="1" lang="en-US" altLang="zh-CN" b="1" dirty="0">
                <a:solidFill>
                  <a:srgbClr val="0707F9"/>
                </a:solidFill>
                <a:latin typeface="Times New Roman" pitchFamily="18" charset="0"/>
                <a:ea typeface="宋体" pitchFamily="2" charset="-122"/>
              </a:rPr>
              <a:t>5.5.2  </a:t>
            </a:r>
            <a:r>
              <a:rPr kumimoji="1" lang="zh-CN" altLang="en-US" b="1" dirty="0">
                <a:solidFill>
                  <a:srgbClr val="0707F9"/>
                </a:solidFill>
                <a:latin typeface="Times New Roman" pitchFamily="18" charset="0"/>
                <a:ea typeface="宋体" pitchFamily="2" charset="-122"/>
              </a:rPr>
              <a:t>二叉树的线索化</a:t>
            </a:r>
          </a:p>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ea typeface="宋体" pitchFamily="2" charset="-122"/>
              </a:rPr>
              <a:t> </a:t>
            </a:r>
            <a:r>
              <a:rPr kumimoji="1" lang="en-US" altLang="zh-CN" b="1" dirty="0">
                <a:solidFill>
                  <a:srgbClr val="0707F9"/>
                </a:solidFill>
                <a:latin typeface="Times New Roman" pitchFamily="18" charset="0"/>
                <a:ea typeface="宋体" pitchFamily="2" charset="-122"/>
              </a:rPr>
              <a:t>5.5.3  </a:t>
            </a:r>
            <a:r>
              <a:rPr kumimoji="1" lang="zh-CN" altLang="en-US" b="1" dirty="0">
                <a:solidFill>
                  <a:srgbClr val="0707F9"/>
                </a:solidFill>
                <a:latin typeface="Times New Roman" pitchFamily="18" charset="0"/>
                <a:ea typeface="宋体" pitchFamily="2" charset="-122"/>
              </a:rPr>
              <a:t>线索二叉树的遍历</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F519E874-E5DF-4BF4-A6A0-81483D3D8089}"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83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32061778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  </a:t>
            </a:r>
            <a:r>
              <a:rPr kumimoji="1" lang="zh-CN" altLang="en-US" sz="3200" b="1" dirty="0">
                <a:latin typeface="Arial" charset="0"/>
                <a:ea typeface="宋体" charset="-122"/>
                <a:cs typeface="+mn-cs"/>
              </a:rPr>
              <a:t>线索二叉树</a:t>
            </a:r>
          </a:p>
        </p:txBody>
      </p:sp>
      <p:sp>
        <p:nvSpPr>
          <p:cNvPr id="3" name="内容占位符 2"/>
          <p:cNvSpPr>
            <a:spLocks noGrp="1"/>
          </p:cNvSpPr>
          <p:nvPr>
            <p:ph idx="1"/>
          </p:nvPr>
        </p:nvSpPr>
        <p:spPr>
          <a:xfrm>
            <a:off x="457200" y="1143000"/>
            <a:ext cx="8229600" cy="5105400"/>
          </a:xfrm>
        </p:spPr>
        <p:txBody>
          <a:bodyPr>
            <a:normAutofit/>
          </a:bodyPr>
          <a:lstStyle/>
          <a:p>
            <a:pPr marL="0" indent="0" fontAlgn="base">
              <a:lnSpc>
                <a:spcPct val="200000"/>
              </a:lnSpc>
              <a:spcBef>
                <a:spcPct val="0"/>
              </a:spcBef>
              <a:spcAft>
                <a:spcPct val="0"/>
              </a:spcAft>
              <a:buNone/>
            </a:pPr>
            <a:r>
              <a:rPr kumimoji="1" lang="zh-CN" altLang="en-US" b="1" dirty="0">
                <a:solidFill>
                  <a:srgbClr val="FF0000"/>
                </a:solidFill>
                <a:latin typeface="Times New Roman" pitchFamily="18" charset="0"/>
                <a:ea typeface="宋体" pitchFamily="2" charset="-122"/>
              </a:rPr>
              <a:t> </a:t>
            </a:r>
            <a:r>
              <a:rPr kumimoji="1" lang="en-US" altLang="zh-CN" b="1" dirty="0">
                <a:solidFill>
                  <a:srgbClr val="FF0000"/>
                </a:solidFill>
                <a:latin typeface="Times New Roman" pitchFamily="18" charset="0"/>
                <a:ea typeface="宋体" pitchFamily="2" charset="-122"/>
              </a:rPr>
              <a:t>5.5.1  </a:t>
            </a:r>
            <a:r>
              <a:rPr kumimoji="1" lang="zh-CN" altLang="en-US" b="1" dirty="0">
                <a:solidFill>
                  <a:srgbClr val="FF0000"/>
                </a:solidFill>
                <a:latin typeface="Times New Roman" pitchFamily="18" charset="0"/>
                <a:ea typeface="宋体" pitchFamily="2" charset="-122"/>
              </a:rPr>
              <a:t>线索二叉树的表示</a:t>
            </a:r>
          </a:p>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ea typeface="宋体" pitchFamily="2" charset="-122"/>
              </a:rPr>
              <a:t> </a:t>
            </a:r>
            <a:r>
              <a:rPr kumimoji="1" lang="en-US" altLang="zh-CN" b="1" dirty="0">
                <a:solidFill>
                  <a:srgbClr val="0707F9"/>
                </a:solidFill>
                <a:latin typeface="Times New Roman" pitchFamily="18" charset="0"/>
                <a:ea typeface="宋体" pitchFamily="2" charset="-122"/>
              </a:rPr>
              <a:t>5.5.2  </a:t>
            </a:r>
            <a:r>
              <a:rPr kumimoji="1" lang="zh-CN" altLang="en-US" b="1" dirty="0">
                <a:solidFill>
                  <a:srgbClr val="0707F9"/>
                </a:solidFill>
                <a:latin typeface="Times New Roman" pitchFamily="18" charset="0"/>
                <a:ea typeface="宋体" pitchFamily="2" charset="-122"/>
              </a:rPr>
              <a:t>二叉树的线索化</a:t>
            </a:r>
          </a:p>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ea typeface="宋体" pitchFamily="2" charset="-122"/>
              </a:rPr>
              <a:t> </a:t>
            </a:r>
            <a:r>
              <a:rPr kumimoji="1" lang="en-US" altLang="zh-CN" b="1" dirty="0">
                <a:solidFill>
                  <a:srgbClr val="0707F9"/>
                </a:solidFill>
                <a:latin typeface="Times New Roman" pitchFamily="18" charset="0"/>
                <a:ea typeface="宋体" pitchFamily="2" charset="-122"/>
              </a:rPr>
              <a:t>5.5.3  </a:t>
            </a:r>
            <a:r>
              <a:rPr kumimoji="1" lang="zh-CN" altLang="en-US" b="1" dirty="0">
                <a:solidFill>
                  <a:srgbClr val="0707F9"/>
                </a:solidFill>
                <a:latin typeface="Times New Roman" pitchFamily="18" charset="0"/>
                <a:ea typeface="宋体" pitchFamily="2" charset="-122"/>
              </a:rPr>
              <a:t>线索二叉树的遍历</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0E850348-E959-429F-AB65-495A3D3DDB01}"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84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27611431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5.5.1  </a:t>
            </a:r>
            <a:r>
              <a:rPr kumimoji="1" lang="zh-CN" altLang="en-US" sz="3200" b="1" dirty="0">
                <a:latin typeface="Arial" charset="0"/>
                <a:ea typeface="宋体" charset="-122"/>
                <a:cs typeface="+mn-cs"/>
              </a:rPr>
              <a:t>线索二叉树的表示</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线索二叉树的概念</a:t>
            </a:r>
            <a:endParaRPr lang="en-US" altLang="zh-CN" sz="2800" b="1" dirty="0"/>
          </a:p>
        </p:txBody>
      </p:sp>
      <p:sp>
        <p:nvSpPr>
          <p:cNvPr id="4" name="日期占位符 3"/>
          <p:cNvSpPr>
            <a:spLocks noGrp="1"/>
          </p:cNvSpPr>
          <p:nvPr>
            <p:ph type="dt" sz="half" idx="10"/>
          </p:nvPr>
        </p:nvSpPr>
        <p:spPr/>
        <p:txBody>
          <a:bodyPr/>
          <a:lstStyle/>
          <a:p>
            <a:fld id="{ADD80006-0FCF-45C4-B3A8-6436833DB319}"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85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3"/>
          <p:cNvSpPr txBox="1">
            <a:spLocks noChangeArrowheads="1"/>
          </p:cNvSpPr>
          <p:nvPr/>
        </p:nvSpPr>
        <p:spPr bwMode="auto">
          <a:xfrm>
            <a:off x="609600" y="1592262"/>
            <a:ext cx="8305800" cy="2438400"/>
          </a:xfrm>
          <a:prstGeom prst="rect">
            <a:avLst/>
          </a:prstGeom>
          <a:noFill/>
          <a:ln w="9525">
            <a:solidFill>
              <a:srgbClr val="04617B"/>
            </a:solidFill>
            <a:miter lim="800000"/>
            <a:headEnd/>
            <a:tailEnd/>
          </a:ln>
        </p:spPr>
        <p:txBody>
          <a:bodyPr wrap="square">
            <a:spAutoFit/>
          </a:bodyPr>
          <a:lstStyle/>
          <a:p>
            <a:pPr marL="0" marR="0" lvl="0" indent="0" algn="just" defTabSz="914400" eaLnBrk="1" fontAlgn="base" latinLnBrk="0" hangingPunct="1">
              <a:lnSpc>
                <a:spcPct val="150000"/>
              </a:lnSpc>
              <a:spcBef>
                <a:spcPct val="40000"/>
              </a:spcBef>
              <a:spcAft>
                <a:spcPct val="0"/>
              </a:spcAft>
              <a:buClr>
                <a:srgbClr val="0000FF"/>
              </a:buClr>
              <a:buSzTx/>
              <a:buFont typeface="Wingdings" pitchFamily="2" charset="2"/>
              <a:buChar char="Ø"/>
              <a:tabLst/>
              <a:defRPr/>
            </a:pPr>
            <a:r>
              <a:rPr kumimoji="1" lang="zh-CN" altLang="en-US" sz="2400" b="1" i="0" u="none" strike="noStrike" kern="0" cap="none" spc="0" normalizeH="0" baseline="0" noProof="0" dirty="0">
                <a:ln>
                  <a:noFill/>
                </a:ln>
                <a:solidFill>
                  <a:srgbClr val="0000FF"/>
                </a:solidFill>
                <a:effectLst/>
                <a:uLnTx/>
                <a:uFillTx/>
                <a:latin typeface="Times New Roman" pitchFamily="18" charset="0"/>
              </a:rPr>
              <a:t>考虑利用这些</a:t>
            </a:r>
            <a:r>
              <a:rPr kumimoji="1" lang="zh-CN" altLang="en-US" sz="2400" b="1" i="0" u="none" strike="noStrike" kern="0" cap="none" spc="0" normalizeH="0" baseline="0" noProof="0" dirty="0">
                <a:ln>
                  <a:noFill/>
                </a:ln>
                <a:solidFill>
                  <a:srgbClr val="FF0000"/>
                </a:solidFill>
                <a:effectLst/>
                <a:uLnTx/>
                <a:uFillTx/>
                <a:latin typeface="Times New Roman" pitchFamily="18" charset="0"/>
              </a:rPr>
              <a:t>空链域</a:t>
            </a:r>
            <a:r>
              <a:rPr kumimoji="1" lang="zh-CN" altLang="en-US" sz="2400" b="1" i="0" u="none" strike="noStrike" kern="0" cap="none" spc="0" normalizeH="0" baseline="0" noProof="0" dirty="0">
                <a:ln>
                  <a:noFill/>
                </a:ln>
                <a:solidFill>
                  <a:srgbClr val="0000FF"/>
                </a:solidFill>
                <a:effectLst/>
                <a:uLnTx/>
                <a:uFillTx/>
                <a:latin typeface="Times New Roman" pitchFamily="18" charset="0"/>
              </a:rPr>
              <a:t>来存放遍历后结点的</a:t>
            </a:r>
            <a:r>
              <a:rPr kumimoji="1" lang="zh-CN" altLang="en-US" sz="2400" b="1" i="0" u="none" strike="noStrike" kern="0" cap="none" spc="0" normalizeH="0" baseline="0" noProof="0" dirty="0">
                <a:ln>
                  <a:noFill/>
                </a:ln>
                <a:solidFill>
                  <a:srgbClr val="FF0000"/>
                </a:solidFill>
                <a:effectLst/>
                <a:uLnTx/>
                <a:uFillTx/>
                <a:latin typeface="Times New Roman" pitchFamily="18" charset="0"/>
              </a:rPr>
              <a:t>前驱和后继</a:t>
            </a:r>
            <a:r>
              <a:rPr kumimoji="1" lang="zh-CN" altLang="en-US" sz="2400" b="1" i="0" u="none" strike="noStrike" kern="0" cap="none" spc="0" normalizeH="0" baseline="0" noProof="0" dirty="0">
                <a:ln>
                  <a:noFill/>
                </a:ln>
                <a:solidFill>
                  <a:srgbClr val="0000FF"/>
                </a:solidFill>
                <a:effectLst/>
                <a:uLnTx/>
                <a:uFillTx/>
                <a:latin typeface="Times New Roman" pitchFamily="18" charset="0"/>
              </a:rPr>
              <a:t>信息，这就是线索二叉树构成的思想。</a:t>
            </a:r>
            <a:endParaRPr kumimoji="1" lang="zh-CN" altLang="en-US" sz="2400" b="1" i="0" u="none" strike="noStrike" kern="0" cap="none" spc="0" normalizeH="0" baseline="0" noProof="0" dirty="0">
              <a:ln>
                <a:noFill/>
              </a:ln>
              <a:solidFill>
                <a:srgbClr val="0000FF"/>
              </a:solidFill>
              <a:effectLst/>
              <a:uLnTx/>
              <a:uFillTx/>
              <a:latin typeface="宋体" pitchFamily="2" charset="-122"/>
            </a:endParaRPr>
          </a:p>
          <a:p>
            <a:pPr marL="0" marR="0" lvl="0" indent="0" algn="just" defTabSz="914400" eaLnBrk="1" fontAlgn="base" latinLnBrk="0" hangingPunct="1">
              <a:lnSpc>
                <a:spcPct val="150000"/>
              </a:lnSpc>
              <a:spcBef>
                <a:spcPct val="40000"/>
              </a:spcBef>
              <a:spcAft>
                <a:spcPct val="0"/>
              </a:spcAft>
              <a:buClr>
                <a:srgbClr val="0000FF"/>
              </a:buClr>
              <a:buSzTx/>
              <a:buFont typeface="Wingdings" pitchFamily="2" charset="2"/>
              <a:buChar char="Ø"/>
              <a:tabLst/>
              <a:defRPr/>
            </a:pPr>
            <a:r>
              <a:rPr kumimoji="0" lang="zh-CN" altLang="en-US" sz="2400" b="1" i="0" u="none" strike="noStrike" kern="0" cap="none" spc="0" normalizeH="0" baseline="0" noProof="0" dirty="0">
                <a:ln>
                  <a:noFill/>
                </a:ln>
                <a:solidFill>
                  <a:srgbClr val="0000FF"/>
                </a:solidFill>
                <a:effectLst/>
                <a:uLnTx/>
                <a:uFillTx/>
                <a:latin typeface="Times New Roman" pitchFamily="18" charset="0"/>
              </a:rPr>
              <a:t>采用既可以指示其前驱又可以指示后继的双向链接结构的二叉树被称为</a:t>
            </a:r>
            <a:r>
              <a:rPr kumimoji="0" lang="zh-CN" altLang="en-US" sz="2400" b="1" i="0" u="none" strike="noStrike" kern="0" cap="none" spc="0" normalizeH="0" baseline="0" noProof="0" dirty="0">
                <a:ln>
                  <a:noFill/>
                </a:ln>
                <a:solidFill>
                  <a:srgbClr val="FF3300"/>
                </a:solidFill>
                <a:effectLst/>
                <a:uLnTx/>
                <a:uFillTx/>
                <a:latin typeface="Times New Roman" pitchFamily="18" charset="0"/>
              </a:rPr>
              <a:t>线索二叉树</a:t>
            </a:r>
            <a:r>
              <a:rPr kumimoji="0" lang="zh-CN" altLang="en-US" sz="2400" b="1" i="0" u="none" strike="noStrike" kern="0" cap="none" spc="0" normalizeH="0" baseline="0" noProof="0" dirty="0">
                <a:ln>
                  <a:noFill/>
                </a:ln>
                <a:solidFill>
                  <a:srgbClr val="0000FF"/>
                </a:solidFill>
                <a:effectLst/>
                <a:uLnTx/>
                <a:uFillTx/>
                <a:latin typeface="Times New Roman" pitchFamily="18" charset="0"/>
              </a:rPr>
              <a:t>。</a:t>
            </a:r>
            <a:r>
              <a:rPr kumimoji="1" lang="zh-CN" altLang="en-US" sz="2400" b="1" i="0" u="none" strike="noStrike" kern="0" cap="none" spc="0" normalizeH="0" baseline="0" noProof="0" dirty="0">
                <a:ln>
                  <a:noFill/>
                </a:ln>
                <a:solidFill>
                  <a:srgbClr val="003366"/>
                </a:solidFill>
                <a:effectLst/>
                <a:uLnTx/>
                <a:uFillTx/>
                <a:latin typeface="宋体" pitchFamily="2" charset="-122"/>
              </a:rPr>
              <a:t>   </a:t>
            </a:r>
            <a:r>
              <a:rPr kumimoji="1" lang="zh-CN" altLang="en-US" sz="2400" b="1" i="0" u="none" strike="noStrike" kern="0" cap="none" spc="0" normalizeH="0" baseline="0" noProof="0" dirty="0">
                <a:ln>
                  <a:noFill/>
                </a:ln>
                <a:solidFill>
                  <a:srgbClr val="FFFF00"/>
                </a:solidFill>
                <a:effectLst/>
                <a:uLnTx/>
                <a:uFillTx/>
                <a:latin typeface="宋体" pitchFamily="2" charset="-122"/>
              </a:rPr>
              <a:t> </a:t>
            </a:r>
          </a:p>
        </p:txBody>
      </p:sp>
      <p:sp>
        <p:nvSpPr>
          <p:cNvPr id="14" name="Text Box 11"/>
          <p:cNvSpPr txBox="1">
            <a:spLocks noChangeArrowheads="1"/>
          </p:cNvSpPr>
          <p:nvPr/>
        </p:nvSpPr>
        <p:spPr bwMode="auto">
          <a:xfrm>
            <a:off x="3298825" y="4338637"/>
            <a:ext cx="3033713" cy="558800"/>
          </a:xfrm>
          <a:prstGeom prst="rect">
            <a:avLst/>
          </a:prstGeom>
          <a:noFill/>
          <a:ln w="9525">
            <a:solidFill>
              <a:srgbClr val="336600"/>
            </a:solidFill>
            <a:miter lim="800000"/>
            <a:headEnd/>
            <a:tailEnd/>
          </a:ln>
        </p:spPr>
        <p:txBody>
          <a:bodyPr>
            <a:spAutoFit/>
          </a:bodyPr>
          <a:lstStyle/>
          <a:p>
            <a:pPr algn="just" fontAlgn="base">
              <a:lnSpc>
                <a:spcPct val="125000"/>
              </a:lnSpc>
              <a:spcBef>
                <a:spcPct val="0"/>
              </a:spcBef>
              <a:spcAft>
                <a:spcPct val="0"/>
              </a:spcAft>
            </a:pPr>
            <a:r>
              <a:rPr kumimoji="1" lang="zh-CN" altLang="en-US" sz="2400" b="1">
                <a:solidFill>
                  <a:srgbClr val="0000FF"/>
                </a:solidFill>
                <a:latin typeface="宋体" pitchFamily="2" charset="-122"/>
              </a:rPr>
              <a:t>利用空链域存储信息</a:t>
            </a:r>
          </a:p>
        </p:txBody>
      </p:sp>
      <p:sp>
        <p:nvSpPr>
          <p:cNvPr id="15" name="Text Box 12"/>
          <p:cNvSpPr txBox="1">
            <a:spLocks noChangeArrowheads="1"/>
          </p:cNvSpPr>
          <p:nvPr/>
        </p:nvSpPr>
        <p:spPr bwMode="auto">
          <a:xfrm>
            <a:off x="2865438" y="5689600"/>
            <a:ext cx="4032250" cy="558800"/>
          </a:xfrm>
          <a:prstGeom prst="rect">
            <a:avLst/>
          </a:prstGeom>
          <a:noFill/>
          <a:ln w="9525">
            <a:solidFill>
              <a:srgbClr val="336600"/>
            </a:solidFill>
            <a:miter lim="800000"/>
            <a:headEnd/>
            <a:tailEnd/>
          </a:ln>
        </p:spPr>
        <p:txBody>
          <a:bodyPr>
            <a:spAutoFit/>
          </a:bodyPr>
          <a:lstStyle/>
          <a:p>
            <a:pPr algn="just" fontAlgn="base">
              <a:lnSpc>
                <a:spcPct val="125000"/>
              </a:lnSpc>
              <a:spcBef>
                <a:spcPct val="0"/>
              </a:spcBef>
              <a:spcAft>
                <a:spcPct val="0"/>
              </a:spcAft>
            </a:pPr>
            <a:r>
              <a:rPr kumimoji="1" lang="zh-CN" altLang="en-US" sz="2400" b="1">
                <a:solidFill>
                  <a:srgbClr val="0000FF"/>
                </a:solidFill>
                <a:latin typeface="宋体" pitchFamily="2" charset="-122"/>
              </a:rPr>
              <a:t>链式存储结构</a:t>
            </a:r>
            <a:r>
              <a:rPr kumimoji="1" lang="en-US" altLang="zh-CN" sz="2400" b="1">
                <a:solidFill>
                  <a:srgbClr val="0000FF"/>
                </a:solidFill>
                <a:latin typeface="宋体" pitchFamily="2" charset="-122"/>
              </a:rPr>
              <a:t>——</a:t>
            </a:r>
            <a:r>
              <a:rPr kumimoji="1" lang="zh-CN" altLang="en-US" sz="2400" b="1">
                <a:solidFill>
                  <a:srgbClr val="0000FF"/>
                </a:solidFill>
                <a:latin typeface="宋体" pitchFamily="2" charset="-122"/>
              </a:rPr>
              <a:t>线索链表</a:t>
            </a:r>
          </a:p>
        </p:txBody>
      </p:sp>
      <p:sp>
        <p:nvSpPr>
          <p:cNvPr id="16" name="Line 13"/>
          <p:cNvSpPr>
            <a:spLocks noChangeShapeType="1"/>
          </p:cNvSpPr>
          <p:nvPr/>
        </p:nvSpPr>
        <p:spPr bwMode="auto">
          <a:xfrm>
            <a:off x="4810125" y="4897437"/>
            <a:ext cx="0" cy="792163"/>
          </a:xfrm>
          <a:prstGeom prst="line">
            <a:avLst/>
          </a:prstGeom>
          <a:noFill/>
          <a:ln w="28575"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Tree>
    <p:extLst>
      <p:ext uri="{BB962C8B-B14F-4D97-AF65-F5344CB8AC3E}">
        <p14:creationId xmlns:p14="http://schemas.microsoft.com/office/powerpoint/2010/main" val="2820223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5.5.1  </a:t>
            </a:r>
            <a:r>
              <a:rPr kumimoji="1" lang="zh-CN" altLang="en-US" sz="3200" b="1" dirty="0">
                <a:latin typeface="Arial" charset="0"/>
                <a:ea typeface="宋体" charset="-122"/>
                <a:cs typeface="+mn-cs"/>
              </a:rPr>
              <a:t>线索二叉树的表示</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线索链表的结点结构</a:t>
            </a:r>
            <a:endParaRPr lang="en-US" altLang="zh-CN" sz="2800" b="1" dirty="0"/>
          </a:p>
        </p:txBody>
      </p:sp>
      <p:sp>
        <p:nvSpPr>
          <p:cNvPr id="4" name="日期占位符 3"/>
          <p:cNvSpPr>
            <a:spLocks noGrp="1"/>
          </p:cNvSpPr>
          <p:nvPr>
            <p:ph type="dt" sz="half" idx="10"/>
          </p:nvPr>
        </p:nvSpPr>
        <p:spPr/>
        <p:txBody>
          <a:bodyPr/>
          <a:lstStyle/>
          <a:p>
            <a:fld id="{972096BD-D1D7-4E3E-823F-CCF249F504EE}"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86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13" name="Group 19"/>
          <p:cNvGrpSpPr>
            <a:grpSpLocks/>
          </p:cNvGrpSpPr>
          <p:nvPr/>
        </p:nvGrpSpPr>
        <p:grpSpPr bwMode="auto">
          <a:xfrm>
            <a:off x="1403350" y="1793875"/>
            <a:ext cx="5905500" cy="604837"/>
            <a:chOff x="988" y="665"/>
            <a:chExt cx="4160" cy="480"/>
          </a:xfrm>
        </p:grpSpPr>
        <p:sp>
          <p:nvSpPr>
            <p:cNvPr id="14" name="Rectangle 3"/>
            <p:cNvSpPr>
              <a:spLocks noChangeArrowheads="1"/>
            </p:cNvSpPr>
            <p:nvPr/>
          </p:nvSpPr>
          <p:spPr bwMode="auto">
            <a:xfrm>
              <a:off x="988" y="665"/>
              <a:ext cx="4160" cy="480"/>
            </a:xfrm>
            <a:prstGeom prst="rect">
              <a:avLst/>
            </a:prstGeom>
            <a:no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a:ln>
                    <a:noFill/>
                  </a:ln>
                  <a:solidFill>
                    <a:srgbClr val="0000FF"/>
                  </a:solidFill>
                  <a:effectLst/>
                  <a:uLnTx/>
                  <a:uFillTx/>
                  <a:latin typeface="Times New Roman" pitchFamily="18" charset="0"/>
                </a:rPr>
                <a:t>  lch      ltag        data      rtag     rch</a:t>
              </a:r>
            </a:p>
          </p:txBody>
        </p:sp>
        <p:sp>
          <p:nvSpPr>
            <p:cNvPr id="15" name="Line 4"/>
            <p:cNvSpPr>
              <a:spLocks noChangeShapeType="1"/>
            </p:cNvSpPr>
            <p:nvPr/>
          </p:nvSpPr>
          <p:spPr bwMode="auto">
            <a:xfrm>
              <a:off x="1820" y="665"/>
              <a:ext cx="0" cy="480"/>
            </a:xfrm>
            <a:prstGeom prst="line">
              <a:avLst/>
            </a:prstGeom>
            <a:noFill/>
            <a:ln w="9525">
              <a:solidFill>
                <a:srgbClr val="000000"/>
              </a:solidFill>
              <a:round/>
              <a:headEnd/>
              <a:tailEnd/>
            </a:ln>
          </p:spPr>
          <p:txBody>
            <a:bodyPr wrap="none"/>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6" name="Line 5"/>
            <p:cNvSpPr>
              <a:spLocks noChangeShapeType="1"/>
            </p:cNvSpPr>
            <p:nvPr/>
          </p:nvSpPr>
          <p:spPr bwMode="auto">
            <a:xfrm>
              <a:off x="2704" y="665"/>
              <a:ext cx="0" cy="480"/>
            </a:xfrm>
            <a:prstGeom prst="line">
              <a:avLst/>
            </a:prstGeom>
            <a:noFill/>
            <a:ln w="9525">
              <a:solidFill>
                <a:srgbClr val="000000"/>
              </a:solidFill>
              <a:round/>
              <a:headEnd/>
              <a:tailEnd/>
            </a:ln>
          </p:spPr>
          <p:txBody>
            <a:bodyPr wrap="none"/>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7" name="Line 6"/>
            <p:cNvSpPr>
              <a:spLocks noChangeShapeType="1"/>
            </p:cNvSpPr>
            <p:nvPr/>
          </p:nvSpPr>
          <p:spPr bwMode="auto">
            <a:xfrm>
              <a:off x="3588" y="665"/>
              <a:ext cx="0" cy="480"/>
            </a:xfrm>
            <a:prstGeom prst="line">
              <a:avLst/>
            </a:prstGeom>
            <a:noFill/>
            <a:ln w="9525">
              <a:solidFill>
                <a:srgbClr val="000000"/>
              </a:solidFill>
              <a:round/>
              <a:headEnd/>
              <a:tailEnd/>
            </a:ln>
          </p:spPr>
          <p:txBody>
            <a:bodyPr wrap="none"/>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9" name="Line 7"/>
            <p:cNvSpPr>
              <a:spLocks noChangeShapeType="1"/>
            </p:cNvSpPr>
            <p:nvPr/>
          </p:nvSpPr>
          <p:spPr bwMode="auto">
            <a:xfrm>
              <a:off x="4368" y="665"/>
              <a:ext cx="0" cy="480"/>
            </a:xfrm>
            <a:prstGeom prst="line">
              <a:avLst/>
            </a:prstGeom>
            <a:noFill/>
            <a:ln w="9525">
              <a:solidFill>
                <a:srgbClr val="000000"/>
              </a:solidFill>
              <a:round/>
              <a:headEnd/>
              <a:tailEnd/>
            </a:ln>
          </p:spPr>
          <p:txBody>
            <a:bodyPr wrap="none"/>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20" name="Text Box 24"/>
          <p:cNvSpPr txBox="1">
            <a:spLocks noChangeArrowheads="1"/>
          </p:cNvSpPr>
          <p:nvPr/>
        </p:nvSpPr>
        <p:spPr bwMode="auto">
          <a:xfrm>
            <a:off x="76200" y="2967037"/>
            <a:ext cx="4087812" cy="3205163"/>
          </a:xfrm>
          <a:prstGeom prst="rect">
            <a:avLst/>
          </a:prstGeom>
          <a:noFill/>
          <a:ln w="9525">
            <a:solidFill>
              <a:srgbClr val="336600"/>
            </a:solidFill>
            <a:miter lim="800000"/>
            <a:headEnd/>
            <a:tailEnd/>
          </a:ln>
        </p:spPr>
        <p:txBody>
          <a:bodyPr wrap="square">
            <a:spAutoFit/>
          </a:bodyPr>
          <a:lstStyle/>
          <a:p>
            <a:pPr algn="just" fontAlgn="base">
              <a:spcBef>
                <a:spcPct val="50000"/>
              </a:spcBef>
              <a:spcAft>
                <a:spcPct val="0"/>
              </a:spcAft>
            </a:pPr>
            <a:r>
              <a:rPr kumimoji="1" lang="en-US" altLang="zh-CN" sz="2400" b="1">
                <a:solidFill>
                  <a:srgbClr val="0000FF"/>
                </a:solidFill>
                <a:latin typeface="宋体" pitchFamily="2" charset="-122"/>
              </a:rPr>
              <a:t>typedef </a:t>
            </a:r>
            <a:r>
              <a:rPr kumimoji="1" lang="en-US" altLang="zh-CN" sz="2400" b="1">
                <a:solidFill>
                  <a:srgbClr val="FF3300"/>
                </a:solidFill>
                <a:latin typeface="宋体" pitchFamily="2" charset="-122"/>
              </a:rPr>
              <a:t>struct node</a:t>
            </a:r>
          </a:p>
          <a:p>
            <a:pPr algn="just" fontAlgn="base">
              <a:spcBef>
                <a:spcPct val="50000"/>
              </a:spcBef>
              <a:spcAft>
                <a:spcPct val="0"/>
              </a:spcAft>
            </a:pPr>
            <a:r>
              <a:rPr kumimoji="1" lang="en-US" altLang="zh-CN" sz="2400" b="1">
                <a:solidFill>
                  <a:srgbClr val="0000FF"/>
                </a:solidFill>
                <a:latin typeface="宋体" pitchFamily="2" charset="-122"/>
              </a:rPr>
              <a:t>  {datatype data;</a:t>
            </a:r>
          </a:p>
          <a:p>
            <a:pPr algn="just" fontAlgn="base">
              <a:spcBef>
                <a:spcPct val="50000"/>
              </a:spcBef>
              <a:spcAft>
                <a:spcPct val="0"/>
              </a:spcAft>
            </a:pPr>
            <a:r>
              <a:rPr kumimoji="1" lang="en-US" altLang="zh-CN" sz="2400" b="1">
                <a:solidFill>
                  <a:srgbClr val="0000FF"/>
                </a:solidFill>
                <a:latin typeface="宋体" pitchFamily="2" charset="-122"/>
              </a:rPr>
              <a:t>   </a:t>
            </a:r>
            <a:r>
              <a:rPr kumimoji="1" lang="en-US" altLang="zh-CN" sz="2400" b="1">
                <a:solidFill>
                  <a:srgbClr val="FF3300"/>
                </a:solidFill>
                <a:latin typeface="宋体" pitchFamily="2" charset="-122"/>
              </a:rPr>
              <a:t>struct node</a:t>
            </a:r>
            <a:r>
              <a:rPr kumimoji="1" lang="en-US" altLang="zh-CN" sz="2400" b="1">
                <a:solidFill>
                  <a:srgbClr val="0000FF"/>
                </a:solidFill>
                <a:latin typeface="宋体" pitchFamily="2" charset="-122"/>
              </a:rPr>
              <a:t> *lch,*rch;</a:t>
            </a:r>
          </a:p>
          <a:p>
            <a:pPr algn="just" fontAlgn="base">
              <a:spcBef>
                <a:spcPct val="50000"/>
              </a:spcBef>
              <a:spcAft>
                <a:spcPct val="0"/>
              </a:spcAft>
            </a:pPr>
            <a:r>
              <a:rPr kumimoji="1" lang="en-US" altLang="zh-CN" sz="2400" b="1">
                <a:solidFill>
                  <a:srgbClr val="0000FF"/>
                </a:solidFill>
                <a:latin typeface="宋体" pitchFamily="2" charset="-122"/>
              </a:rPr>
              <a:t>   int ltag,rtag;</a:t>
            </a:r>
          </a:p>
          <a:p>
            <a:pPr algn="just" fontAlgn="base">
              <a:spcBef>
                <a:spcPct val="50000"/>
              </a:spcBef>
              <a:spcAft>
                <a:spcPct val="0"/>
              </a:spcAft>
            </a:pPr>
            <a:r>
              <a:rPr kumimoji="1" lang="en-US" altLang="zh-CN" sz="2400" b="1">
                <a:solidFill>
                  <a:srgbClr val="0000FF"/>
                </a:solidFill>
                <a:latin typeface="宋体" pitchFamily="2" charset="-122"/>
              </a:rPr>
              <a:t>  }threadbithptr;</a:t>
            </a:r>
          </a:p>
          <a:p>
            <a:pPr fontAlgn="base">
              <a:spcBef>
                <a:spcPct val="50000"/>
              </a:spcBef>
              <a:spcAft>
                <a:spcPct val="0"/>
              </a:spcAft>
            </a:pPr>
            <a:endParaRPr kumimoji="1" lang="zh-CN" altLang="en-US" sz="2400" b="1">
              <a:solidFill>
                <a:srgbClr val="0000FF"/>
              </a:solidFill>
              <a:latin typeface="宋体" pitchFamily="2" charset="-122"/>
            </a:endParaRPr>
          </a:p>
        </p:txBody>
      </p:sp>
      <p:sp>
        <p:nvSpPr>
          <p:cNvPr id="21" name="Text Box 25"/>
          <p:cNvSpPr txBox="1">
            <a:spLocks noChangeArrowheads="1"/>
          </p:cNvSpPr>
          <p:nvPr/>
        </p:nvSpPr>
        <p:spPr bwMode="auto">
          <a:xfrm>
            <a:off x="4384675" y="2944812"/>
            <a:ext cx="4883150" cy="1016000"/>
          </a:xfrm>
          <a:prstGeom prst="rect">
            <a:avLst/>
          </a:prstGeom>
          <a:noFill/>
          <a:ln w="9525">
            <a:noFill/>
            <a:miter lim="800000"/>
            <a:headEnd/>
            <a:tailEnd/>
          </a:ln>
        </p:spPr>
        <p:txBody>
          <a:bodyPr>
            <a:spAutoFit/>
          </a:bodyPr>
          <a:lstStyle/>
          <a:p>
            <a:pPr algn="just" fontAlgn="base">
              <a:spcBef>
                <a:spcPct val="50000"/>
              </a:spcBef>
              <a:spcAft>
                <a:spcPct val="0"/>
              </a:spcAft>
            </a:pPr>
            <a:r>
              <a:rPr kumimoji="1" lang="zh-CN" altLang="en-US" sz="2400" b="1">
                <a:solidFill>
                  <a:srgbClr val="0000FF"/>
                </a:solidFill>
                <a:latin typeface="Times New Roman" pitchFamily="18" charset="0"/>
              </a:rPr>
              <a:t>其中：</a:t>
            </a:r>
            <a:r>
              <a:rPr kumimoji="1" lang="en-US" altLang="zh-CN" sz="2400" b="1">
                <a:solidFill>
                  <a:srgbClr val="0000FF"/>
                </a:solidFill>
                <a:latin typeface="Times New Roman" pitchFamily="18" charset="0"/>
              </a:rPr>
              <a:t>ltag</a:t>
            </a:r>
            <a:r>
              <a:rPr kumimoji="1" lang="zh-CN" altLang="en-US" sz="2400" b="1">
                <a:solidFill>
                  <a:srgbClr val="0000FF"/>
                </a:solidFill>
                <a:latin typeface="Times New Roman" pitchFamily="18" charset="0"/>
              </a:rPr>
              <a:t>，</a:t>
            </a:r>
            <a:r>
              <a:rPr kumimoji="1" lang="en-US" altLang="zh-CN" sz="2400" b="1">
                <a:solidFill>
                  <a:srgbClr val="0000FF"/>
                </a:solidFill>
                <a:latin typeface="Times New Roman" pitchFamily="18" charset="0"/>
              </a:rPr>
              <a:t>rtag</a:t>
            </a:r>
            <a:r>
              <a:rPr kumimoji="1" lang="zh-CN" altLang="en-US" sz="2400" b="1">
                <a:solidFill>
                  <a:srgbClr val="0000FF"/>
                </a:solidFill>
                <a:latin typeface="Times New Roman" pitchFamily="18" charset="0"/>
              </a:rPr>
              <a:t>为两个标志域</a:t>
            </a:r>
          </a:p>
          <a:p>
            <a:pPr fontAlgn="base">
              <a:spcBef>
                <a:spcPct val="50000"/>
              </a:spcBef>
              <a:spcAft>
                <a:spcPct val="0"/>
              </a:spcAft>
            </a:pPr>
            <a:endParaRPr kumimoji="1" lang="zh-CN" altLang="en-US" sz="2400" b="1">
              <a:solidFill>
                <a:srgbClr val="0000FF"/>
              </a:solidFill>
              <a:latin typeface="Times New Roman" pitchFamily="18" charset="0"/>
            </a:endParaRPr>
          </a:p>
        </p:txBody>
      </p:sp>
      <p:sp>
        <p:nvSpPr>
          <p:cNvPr id="22" name="Text Box 26"/>
          <p:cNvSpPr txBox="1">
            <a:spLocks noChangeArrowheads="1"/>
          </p:cNvSpPr>
          <p:nvPr/>
        </p:nvSpPr>
        <p:spPr bwMode="auto">
          <a:xfrm>
            <a:off x="4114800" y="3779837"/>
            <a:ext cx="1711325" cy="419100"/>
          </a:xfrm>
          <a:prstGeom prst="rect">
            <a:avLst/>
          </a:prstGeom>
          <a:noFill/>
          <a:ln w="9525">
            <a:noFill/>
            <a:miter lim="800000"/>
            <a:headEnd/>
            <a:tailEnd/>
          </a:ln>
        </p:spPr>
        <p:txBody>
          <a:bodyPr/>
          <a:lstStyle/>
          <a:p>
            <a:pPr algn="just" eaLnBrk="0" fontAlgn="base" hangingPunct="0">
              <a:spcBef>
                <a:spcPct val="0"/>
              </a:spcBef>
              <a:spcAft>
                <a:spcPct val="0"/>
              </a:spcAft>
            </a:pPr>
            <a:r>
              <a:rPr lang="en-US" altLang="zh-CN" sz="2400" b="1">
                <a:solidFill>
                  <a:srgbClr val="0000FF"/>
                </a:solidFill>
                <a:latin typeface="Times New Roman" pitchFamily="18" charset="0"/>
              </a:rPr>
              <a:t>ltag=</a:t>
            </a:r>
          </a:p>
        </p:txBody>
      </p:sp>
      <p:sp>
        <p:nvSpPr>
          <p:cNvPr id="23" name="AutoShape 27"/>
          <p:cNvSpPr>
            <a:spLocks/>
          </p:cNvSpPr>
          <p:nvPr/>
        </p:nvSpPr>
        <p:spPr bwMode="auto">
          <a:xfrm>
            <a:off x="5119688" y="3706812"/>
            <a:ext cx="207962" cy="700088"/>
          </a:xfrm>
          <a:prstGeom prst="leftBrace">
            <a:avLst>
              <a:gd name="adj1" fmla="val 28054"/>
              <a:gd name="adj2" fmla="val 50000"/>
            </a:avLst>
          </a:prstGeom>
          <a:noFill/>
          <a:ln w="9525">
            <a:solidFill>
              <a:srgbClr val="0000FF"/>
            </a:solidFill>
            <a:round/>
            <a:headEnd/>
            <a:tailEnd/>
          </a:ln>
        </p:spPr>
        <p:txBody>
          <a:bodyPr/>
          <a:lstStyle/>
          <a:p>
            <a:pPr algn="ctr" eaLnBrk="0" fontAlgn="base" hangingPunct="0">
              <a:spcBef>
                <a:spcPct val="0"/>
              </a:spcBef>
              <a:spcAft>
                <a:spcPct val="0"/>
              </a:spcAft>
            </a:pPr>
            <a:endParaRPr kumimoji="1" lang="zh-CN" altLang="en-US" sz="2400">
              <a:solidFill>
                <a:srgbClr val="000000"/>
              </a:solidFill>
              <a:latin typeface="Times New Roman" pitchFamily="18" charset="0"/>
            </a:endParaRPr>
          </a:p>
        </p:txBody>
      </p:sp>
      <p:sp>
        <p:nvSpPr>
          <p:cNvPr id="24" name="Text Box 28"/>
          <p:cNvSpPr txBox="1">
            <a:spLocks noChangeArrowheads="1"/>
          </p:cNvSpPr>
          <p:nvPr/>
        </p:nvSpPr>
        <p:spPr bwMode="auto">
          <a:xfrm>
            <a:off x="5326063" y="3592512"/>
            <a:ext cx="3941762" cy="1195388"/>
          </a:xfrm>
          <a:prstGeom prst="rect">
            <a:avLst/>
          </a:prstGeom>
          <a:noFill/>
          <a:ln w="9525">
            <a:noFill/>
            <a:miter lim="800000"/>
            <a:headEnd/>
            <a:tailEnd/>
          </a:ln>
        </p:spPr>
        <p:txBody>
          <a:bodyPr/>
          <a:lstStyle/>
          <a:p>
            <a:pPr algn="just" eaLnBrk="0" fontAlgn="base" hangingPunct="0">
              <a:spcBef>
                <a:spcPct val="0"/>
              </a:spcBef>
              <a:spcAft>
                <a:spcPct val="0"/>
              </a:spcAft>
              <a:buFont typeface="Times New Roman" pitchFamily="18" charset="0"/>
              <a:buChar char="0"/>
            </a:pPr>
            <a:r>
              <a:rPr lang="zh-CN" altLang="en-US" sz="2400" b="1">
                <a:solidFill>
                  <a:srgbClr val="0000FF"/>
                </a:solidFill>
                <a:latin typeface="楷体_GB2312" pitchFamily="49" charset="-122"/>
                <a:ea typeface="楷体_GB2312" pitchFamily="49" charset="-122"/>
              </a:rPr>
              <a:t>  </a:t>
            </a:r>
            <a:r>
              <a:rPr lang="en-US" altLang="zh-CN" sz="2400" b="1">
                <a:solidFill>
                  <a:srgbClr val="0000FF"/>
                </a:solidFill>
                <a:latin typeface="宋体" pitchFamily="2" charset="-122"/>
              </a:rPr>
              <a:t>lch</a:t>
            </a:r>
            <a:r>
              <a:rPr lang="zh-CN" altLang="en-US" sz="2400" b="1">
                <a:solidFill>
                  <a:srgbClr val="0000FF"/>
                </a:solidFill>
                <a:latin typeface="宋体" pitchFamily="2" charset="-122"/>
              </a:rPr>
              <a:t>域指示结点的左孩子</a:t>
            </a:r>
          </a:p>
          <a:p>
            <a:pPr eaLnBrk="0" fontAlgn="base" hangingPunct="0">
              <a:spcBef>
                <a:spcPct val="0"/>
              </a:spcBef>
              <a:spcAft>
                <a:spcPct val="0"/>
              </a:spcAft>
              <a:buFont typeface="Times New Roman" pitchFamily="18" charset="0"/>
              <a:buChar char="1"/>
            </a:pPr>
            <a:r>
              <a:rPr lang="zh-CN" altLang="en-US" sz="2400" b="1">
                <a:solidFill>
                  <a:srgbClr val="0000FF"/>
                </a:solidFill>
                <a:latin typeface="宋体" pitchFamily="2" charset="-122"/>
              </a:rPr>
              <a:t>  </a:t>
            </a:r>
            <a:r>
              <a:rPr lang="en-US" altLang="zh-CN" sz="2400" b="1">
                <a:solidFill>
                  <a:srgbClr val="0000FF"/>
                </a:solidFill>
                <a:latin typeface="宋体" pitchFamily="2" charset="-122"/>
              </a:rPr>
              <a:t>lch</a:t>
            </a:r>
            <a:r>
              <a:rPr lang="zh-CN" altLang="en-US" sz="2400" b="1">
                <a:solidFill>
                  <a:srgbClr val="0000FF"/>
                </a:solidFill>
                <a:latin typeface="宋体" pitchFamily="2" charset="-122"/>
              </a:rPr>
              <a:t>域指示结点的前驱</a:t>
            </a:r>
          </a:p>
        </p:txBody>
      </p:sp>
      <p:sp>
        <p:nvSpPr>
          <p:cNvPr id="25" name="Text Box 29"/>
          <p:cNvSpPr txBox="1">
            <a:spLocks noChangeArrowheads="1"/>
          </p:cNvSpPr>
          <p:nvPr/>
        </p:nvSpPr>
        <p:spPr bwMode="auto">
          <a:xfrm>
            <a:off x="4125913" y="4930775"/>
            <a:ext cx="1628775" cy="419100"/>
          </a:xfrm>
          <a:prstGeom prst="rect">
            <a:avLst/>
          </a:prstGeom>
          <a:noFill/>
          <a:ln w="9525">
            <a:noFill/>
            <a:miter lim="800000"/>
            <a:headEnd/>
            <a:tailEnd/>
          </a:ln>
        </p:spPr>
        <p:txBody>
          <a:bodyPr/>
          <a:lstStyle/>
          <a:p>
            <a:pPr algn="just" eaLnBrk="0" fontAlgn="base" hangingPunct="0">
              <a:spcBef>
                <a:spcPct val="0"/>
              </a:spcBef>
              <a:spcAft>
                <a:spcPct val="0"/>
              </a:spcAft>
            </a:pPr>
            <a:r>
              <a:rPr lang="en-US" altLang="zh-CN" sz="2400" b="1">
                <a:solidFill>
                  <a:srgbClr val="0000FF"/>
                </a:solidFill>
                <a:latin typeface="Times New Roman" pitchFamily="18" charset="0"/>
              </a:rPr>
              <a:t>rtag=</a:t>
            </a:r>
          </a:p>
        </p:txBody>
      </p:sp>
      <p:sp>
        <p:nvSpPr>
          <p:cNvPr id="26" name="AutoShape 30"/>
          <p:cNvSpPr>
            <a:spLocks/>
          </p:cNvSpPr>
          <p:nvPr/>
        </p:nvSpPr>
        <p:spPr bwMode="auto">
          <a:xfrm>
            <a:off x="5160963" y="4859337"/>
            <a:ext cx="207962" cy="700088"/>
          </a:xfrm>
          <a:prstGeom prst="leftBrace">
            <a:avLst>
              <a:gd name="adj1" fmla="val 28054"/>
              <a:gd name="adj2" fmla="val 50000"/>
            </a:avLst>
          </a:prstGeom>
          <a:noFill/>
          <a:ln w="9525">
            <a:solidFill>
              <a:srgbClr val="0000FF"/>
            </a:solidFill>
            <a:round/>
            <a:headEnd/>
            <a:tailEnd/>
          </a:ln>
        </p:spPr>
        <p:txBody>
          <a:bodyPr/>
          <a:lstStyle/>
          <a:p>
            <a:pPr algn="ctr" eaLnBrk="0" fontAlgn="base" hangingPunct="0">
              <a:spcBef>
                <a:spcPct val="0"/>
              </a:spcBef>
              <a:spcAft>
                <a:spcPct val="0"/>
              </a:spcAft>
            </a:pPr>
            <a:endParaRPr kumimoji="1" lang="zh-CN" altLang="en-US" sz="2400">
              <a:solidFill>
                <a:srgbClr val="000000"/>
              </a:solidFill>
              <a:latin typeface="Times New Roman" pitchFamily="18" charset="0"/>
            </a:endParaRPr>
          </a:p>
        </p:txBody>
      </p:sp>
      <p:sp>
        <p:nvSpPr>
          <p:cNvPr id="27" name="Text Box 31"/>
          <p:cNvSpPr txBox="1">
            <a:spLocks noChangeArrowheads="1"/>
          </p:cNvSpPr>
          <p:nvPr/>
        </p:nvSpPr>
        <p:spPr bwMode="auto">
          <a:xfrm>
            <a:off x="5322888" y="4714875"/>
            <a:ext cx="3944937" cy="776287"/>
          </a:xfrm>
          <a:prstGeom prst="rect">
            <a:avLst/>
          </a:prstGeom>
          <a:noFill/>
          <a:ln w="9525">
            <a:noFill/>
            <a:miter lim="800000"/>
            <a:headEnd/>
            <a:tailEnd/>
          </a:ln>
        </p:spPr>
        <p:txBody>
          <a:bodyPr/>
          <a:lstStyle/>
          <a:p>
            <a:pPr algn="just" eaLnBrk="0" fontAlgn="base" hangingPunct="0">
              <a:spcBef>
                <a:spcPct val="0"/>
              </a:spcBef>
              <a:spcAft>
                <a:spcPct val="0"/>
              </a:spcAft>
              <a:buFont typeface="Times New Roman" pitchFamily="18" charset="0"/>
              <a:buChar char="0"/>
            </a:pPr>
            <a:r>
              <a:rPr lang="zh-CN" altLang="en-US" sz="2400" b="1">
                <a:solidFill>
                  <a:srgbClr val="0000FF"/>
                </a:solidFill>
                <a:latin typeface="楷体_GB2312" pitchFamily="49" charset="-122"/>
                <a:ea typeface="楷体_GB2312" pitchFamily="49" charset="-122"/>
              </a:rPr>
              <a:t> </a:t>
            </a:r>
            <a:r>
              <a:rPr lang="zh-CN" altLang="en-US" sz="2400" b="1">
                <a:solidFill>
                  <a:srgbClr val="FFFF00"/>
                </a:solidFill>
                <a:latin typeface="楷体_GB2312" pitchFamily="49" charset="-122"/>
                <a:ea typeface="楷体_GB2312" pitchFamily="49" charset="-122"/>
              </a:rPr>
              <a:t> </a:t>
            </a:r>
            <a:r>
              <a:rPr lang="en-US" altLang="zh-CN" sz="2400" b="1">
                <a:solidFill>
                  <a:srgbClr val="0000FF"/>
                </a:solidFill>
                <a:latin typeface="宋体" pitchFamily="2" charset="-122"/>
              </a:rPr>
              <a:t>rch</a:t>
            </a:r>
            <a:r>
              <a:rPr lang="zh-CN" altLang="en-US" sz="2400" b="1">
                <a:solidFill>
                  <a:srgbClr val="0000FF"/>
                </a:solidFill>
                <a:latin typeface="宋体" pitchFamily="2" charset="-122"/>
              </a:rPr>
              <a:t>域指示结点的右孩子</a:t>
            </a:r>
          </a:p>
          <a:p>
            <a:pPr eaLnBrk="0" fontAlgn="base" hangingPunct="0">
              <a:spcBef>
                <a:spcPct val="0"/>
              </a:spcBef>
              <a:spcAft>
                <a:spcPct val="0"/>
              </a:spcAft>
              <a:buFont typeface="Times New Roman" pitchFamily="18" charset="0"/>
              <a:buChar char="1"/>
            </a:pPr>
            <a:r>
              <a:rPr lang="zh-CN" altLang="en-US" sz="2400" b="1">
                <a:solidFill>
                  <a:srgbClr val="0000FF"/>
                </a:solidFill>
                <a:latin typeface="宋体" pitchFamily="2" charset="-122"/>
              </a:rPr>
              <a:t>  </a:t>
            </a:r>
            <a:r>
              <a:rPr lang="en-US" altLang="zh-CN" sz="2400" b="1">
                <a:solidFill>
                  <a:srgbClr val="0000FF"/>
                </a:solidFill>
                <a:latin typeface="宋体" pitchFamily="2" charset="-122"/>
              </a:rPr>
              <a:t>rch</a:t>
            </a:r>
            <a:r>
              <a:rPr lang="zh-CN" altLang="en-US" sz="2400" b="1">
                <a:solidFill>
                  <a:srgbClr val="0000FF"/>
                </a:solidFill>
                <a:latin typeface="宋体" pitchFamily="2" charset="-122"/>
              </a:rPr>
              <a:t>域指示结点的后继</a:t>
            </a:r>
          </a:p>
        </p:txBody>
      </p:sp>
    </p:spTree>
    <p:extLst>
      <p:ext uri="{BB962C8B-B14F-4D97-AF65-F5344CB8AC3E}">
        <p14:creationId xmlns:p14="http://schemas.microsoft.com/office/powerpoint/2010/main" val="319852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animBg="1"/>
      <p:bldP spid="24" grpId="0"/>
      <p:bldP spid="25" grpId="0"/>
      <p:bldP spid="26" grpId="0" animBg="1"/>
      <p:bldP spid="27"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5.5.1 </a:t>
            </a:r>
            <a:r>
              <a:rPr kumimoji="1" lang="zh-CN" altLang="en-US" sz="3200" b="1" dirty="0">
                <a:latin typeface="Arial" charset="0"/>
                <a:ea typeface="宋体" charset="-122"/>
                <a:cs typeface="+mn-cs"/>
              </a:rPr>
              <a:t>线索二叉树的表示</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400" b="1" dirty="0"/>
              <a:t>二叉树存储结构</a:t>
            </a:r>
            <a:r>
              <a:rPr lang="en-US" altLang="zh-CN" sz="2400" b="1" dirty="0"/>
              <a:t>--</a:t>
            </a:r>
            <a:r>
              <a:rPr lang="zh-CN" altLang="en-US" sz="2400" b="1" dirty="0"/>
              <a:t>线索链表</a:t>
            </a:r>
            <a:endParaRPr lang="en-US" altLang="zh-CN" sz="2400" b="1" dirty="0"/>
          </a:p>
        </p:txBody>
      </p:sp>
      <p:sp>
        <p:nvSpPr>
          <p:cNvPr id="4" name="日期占位符 3"/>
          <p:cNvSpPr>
            <a:spLocks noGrp="1"/>
          </p:cNvSpPr>
          <p:nvPr>
            <p:ph type="dt" sz="half" idx="10"/>
          </p:nvPr>
        </p:nvSpPr>
        <p:spPr/>
        <p:txBody>
          <a:bodyPr/>
          <a:lstStyle/>
          <a:p>
            <a:fld id="{81B44521-9DB4-4265-BA3D-CFC0724AE6B6}"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87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aphicFrame>
        <p:nvGraphicFramePr>
          <p:cNvPr id="28" name="Group 2"/>
          <p:cNvGraphicFramePr>
            <a:graphicFrameLocks noGrp="1"/>
          </p:cNvGraphicFramePr>
          <p:nvPr/>
        </p:nvGraphicFramePr>
        <p:xfrm>
          <a:off x="4178300" y="2027238"/>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271462">
                  <a:extLst>
                    <a:ext uri="{9D8B030D-6E8A-4147-A177-3AD203B41FA5}">
                      <a16:colId xmlns:a16="http://schemas.microsoft.com/office/drawing/2014/main" val="20001"/>
                    </a:ext>
                  </a:extLst>
                </a:gridCol>
                <a:gridCol w="271463">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43180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29" name="Group 16"/>
          <p:cNvGraphicFramePr>
            <a:graphicFrameLocks noGrp="1"/>
          </p:cNvGraphicFramePr>
          <p:nvPr/>
        </p:nvGraphicFramePr>
        <p:xfrm>
          <a:off x="3098800" y="3128963"/>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271462">
                  <a:extLst>
                    <a:ext uri="{9D8B030D-6E8A-4147-A177-3AD203B41FA5}">
                      <a16:colId xmlns:a16="http://schemas.microsoft.com/office/drawing/2014/main" val="20001"/>
                    </a:ext>
                  </a:extLst>
                </a:gridCol>
                <a:gridCol w="271463">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30" name="Group 173"/>
          <p:cNvGraphicFramePr>
            <a:graphicFrameLocks noGrp="1"/>
          </p:cNvGraphicFramePr>
          <p:nvPr/>
        </p:nvGraphicFramePr>
        <p:xfrm>
          <a:off x="5330825" y="2962275"/>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271462">
                  <a:extLst>
                    <a:ext uri="{9D8B030D-6E8A-4147-A177-3AD203B41FA5}">
                      <a16:colId xmlns:a16="http://schemas.microsoft.com/office/drawing/2014/main" val="20001"/>
                    </a:ext>
                  </a:extLst>
                </a:gridCol>
                <a:gridCol w="271463">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43338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31" name="Group 44"/>
          <p:cNvGraphicFramePr>
            <a:graphicFrameLocks noGrp="1"/>
          </p:cNvGraphicFramePr>
          <p:nvPr/>
        </p:nvGraphicFramePr>
        <p:xfrm>
          <a:off x="4249738" y="4330700"/>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1462">
                  <a:extLst>
                    <a:ext uri="{9D8B030D-6E8A-4147-A177-3AD203B41FA5}">
                      <a16:colId xmlns:a16="http://schemas.microsoft.com/office/drawing/2014/main" val="20002"/>
                    </a:ext>
                  </a:extLst>
                </a:gridCol>
                <a:gridCol w="265113">
                  <a:extLst>
                    <a:ext uri="{9D8B030D-6E8A-4147-A177-3AD203B41FA5}">
                      <a16:colId xmlns:a16="http://schemas.microsoft.com/office/drawing/2014/main" val="20003"/>
                    </a:ext>
                  </a:extLst>
                </a:gridCol>
                <a:gridCol w="277812">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32" name="Group 152"/>
          <p:cNvGraphicFramePr>
            <a:graphicFrameLocks noGrp="1"/>
          </p:cNvGraphicFramePr>
          <p:nvPr/>
        </p:nvGraphicFramePr>
        <p:xfrm>
          <a:off x="2522538" y="4114800"/>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1462">
                  <a:extLst>
                    <a:ext uri="{9D8B030D-6E8A-4147-A177-3AD203B41FA5}">
                      <a16:colId xmlns:a16="http://schemas.microsoft.com/office/drawing/2014/main" val="20002"/>
                    </a:ext>
                  </a:extLst>
                </a:gridCol>
                <a:gridCol w="265113">
                  <a:extLst>
                    <a:ext uri="{9D8B030D-6E8A-4147-A177-3AD203B41FA5}">
                      <a16:colId xmlns:a16="http://schemas.microsoft.com/office/drawing/2014/main" val="20003"/>
                    </a:ext>
                  </a:extLst>
                </a:gridCol>
                <a:gridCol w="277812">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33" name="Group 121"/>
          <p:cNvGraphicFramePr>
            <a:graphicFrameLocks noGrp="1"/>
          </p:cNvGraphicFramePr>
          <p:nvPr/>
        </p:nvGraphicFramePr>
        <p:xfrm>
          <a:off x="3675063" y="5554663"/>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1462">
                  <a:extLst>
                    <a:ext uri="{9D8B030D-6E8A-4147-A177-3AD203B41FA5}">
                      <a16:colId xmlns:a16="http://schemas.microsoft.com/office/drawing/2014/main" val="20002"/>
                    </a:ext>
                  </a:extLst>
                </a:gridCol>
                <a:gridCol w="271463">
                  <a:extLst>
                    <a:ext uri="{9D8B030D-6E8A-4147-A177-3AD203B41FA5}">
                      <a16:colId xmlns:a16="http://schemas.microsoft.com/office/drawing/2014/main" val="20003"/>
                    </a:ext>
                  </a:extLst>
                </a:gridCol>
                <a:gridCol w="271462">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34" name="Group 86"/>
          <p:cNvGraphicFramePr>
            <a:graphicFrameLocks noGrp="1"/>
          </p:cNvGraphicFramePr>
          <p:nvPr/>
        </p:nvGraphicFramePr>
        <p:xfrm>
          <a:off x="5475288" y="5554663"/>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33363">
                  <a:extLst>
                    <a:ext uri="{9D8B030D-6E8A-4147-A177-3AD203B41FA5}">
                      <a16:colId xmlns:a16="http://schemas.microsoft.com/office/drawing/2014/main" val="20001"/>
                    </a:ext>
                  </a:extLst>
                </a:gridCol>
                <a:gridCol w="309562">
                  <a:extLst>
                    <a:ext uri="{9D8B030D-6E8A-4147-A177-3AD203B41FA5}">
                      <a16:colId xmlns:a16="http://schemas.microsoft.com/office/drawing/2014/main" val="20002"/>
                    </a:ext>
                  </a:extLst>
                </a:gridCol>
                <a:gridCol w="271463">
                  <a:extLst>
                    <a:ext uri="{9D8B030D-6E8A-4147-A177-3AD203B41FA5}">
                      <a16:colId xmlns:a16="http://schemas.microsoft.com/office/drawing/2014/main" val="20003"/>
                    </a:ext>
                  </a:extLst>
                </a:gridCol>
                <a:gridCol w="271462">
                  <a:extLst>
                    <a:ext uri="{9D8B030D-6E8A-4147-A177-3AD203B41FA5}">
                      <a16:colId xmlns:a16="http://schemas.microsoft.com/office/drawing/2014/main" val="20004"/>
                    </a:ext>
                  </a:extLst>
                </a:gridCol>
              </a:tblGrid>
              <a:tr h="39528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35" name="Freeform 159"/>
          <p:cNvSpPr>
            <a:spLocks/>
          </p:cNvSpPr>
          <p:nvPr/>
        </p:nvSpPr>
        <p:spPr bwMode="auto">
          <a:xfrm>
            <a:off x="5114925" y="2459038"/>
            <a:ext cx="374650" cy="1116012"/>
          </a:xfrm>
          <a:custGeom>
            <a:avLst/>
            <a:gdLst>
              <a:gd name="T0" fmla="*/ 2147483647 w 236"/>
              <a:gd name="T1" fmla="*/ 2147483647 h 748"/>
              <a:gd name="T2" fmla="*/ 2147483647 w 236"/>
              <a:gd name="T3" fmla="*/ 2147483647 h 748"/>
              <a:gd name="T4" fmla="*/ 2147483647 w 236"/>
              <a:gd name="T5" fmla="*/ 2147483647 h 748"/>
              <a:gd name="T6" fmla="*/ 2147483647 w 236"/>
              <a:gd name="T7" fmla="*/ 2147483647 h 748"/>
              <a:gd name="T8" fmla="*/ 2147483647 w 236"/>
              <a:gd name="T9" fmla="*/ 2147483647 h 748"/>
              <a:gd name="T10" fmla="*/ 2147483647 w 236"/>
              <a:gd name="T11" fmla="*/ 2147483647 h 748"/>
              <a:gd name="T12" fmla="*/ 2147483647 w 236"/>
              <a:gd name="T13" fmla="*/ 2147483647 h 748"/>
              <a:gd name="T14" fmla="*/ 2147483647 w 236"/>
              <a:gd name="T15" fmla="*/ 2147483647 h 748"/>
              <a:gd name="T16" fmla="*/ 2147483647 w 236"/>
              <a:gd name="T17" fmla="*/ 2147483647 h 748"/>
              <a:gd name="T18" fmla="*/ 2147483647 w 236"/>
              <a:gd name="T19" fmla="*/ 0 h 7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6"/>
              <a:gd name="T31" fmla="*/ 0 h 748"/>
              <a:gd name="T32" fmla="*/ 236 w 236"/>
              <a:gd name="T33" fmla="*/ 748 h 7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6" h="748">
                <a:moveTo>
                  <a:pt x="228" y="583"/>
                </a:moveTo>
                <a:cubicBezTo>
                  <a:pt x="230" y="591"/>
                  <a:pt x="236" y="598"/>
                  <a:pt x="235" y="606"/>
                </a:cubicBezTo>
                <a:cubicBezTo>
                  <a:pt x="233" y="615"/>
                  <a:pt x="224" y="620"/>
                  <a:pt x="220" y="628"/>
                </a:cubicBezTo>
                <a:cubicBezTo>
                  <a:pt x="204" y="661"/>
                  <a:pt x="184" y="689"/>
                  <a:pt x="153" y="710"/>
                </a:cubicBezTo>
                <a:cubicBezTo>
                  <a:pt x="148" y="718"/>
                  <a:pt x="146" y="728"/>
                  <a:pt x="138" y="733"/>
                </a:cubicBezTo>
                <a:cubicBezTo>
                  <a:pt x="125" y="741"/>
                  <a:pt x="93" y="748"/>
                  <a:pt x="93" y="748"/>
                </a:cubicBezTo>
                <a:cubicBezTo>
                  <a:pt x="84" y="718"/>
                  <a:pt x="79" y="706"/>
                  <a:pt x="48" y="695"/>
                </a:cubicBezTo>
                <a:cubicBezTo>
                  <a:pt x="40" y="670"/>
                  <a:pt x="33" y="650"/>
                  <a:pt x="18" y="628"/>
                </a:cubicBezTo>
                <a:cubicBezTo>
                  <a:pt x="0" y="572"/>
                  <a:pt x="4" y="591"/>
                  <a:pt x="3" y="486"/>
                </a:cubicBezTo>
                <a:cubicBezTo>
                  <a:pt x="1" y="324"/>
                  <a:pt x="3" y="162"/>
                  <a:pt x="3"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6" name="Line 160"/>
          <p:cNvSpPr>
            <a:spLocks noChangeShapeType="1"/>
          </p:cNvSpPr>
          <p:nvPr/>
        </p:nvSpPr>
        <p:spPr bwMode="auto">
          <a:xfrm flipH="1">
            <a:off x="3746500" y="2314575"/>
            <a:ext cx="503238" cy="792163"/>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7" name="Line 161"/>
          <p:cNvSpPr>
            <a:spLocks noChangeShapeType="1"/>
          </p:cNvSpPr>
          <p:nvPr/>
        </p:nvSpPr>
        <p:spPr bwMode="auto">
          <a:xfrm flipH="1">
            <a:off x="2954338" y="3467100"/>
            <a:ext cx="287337" cy="647700"/>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8" name="Freeform 162"/>
          <p:cNvSpPr>
            <a:spLocks/>
          </p:cNvSpPr>
          <p:nvPr/>
        </p:nvSpPr>
        <p:spPr bwMode="auto">
          <a:xfrm>
            <a:off x="3675063" y="3611563"/>
            <a:ext cx="358775" cy="1187450"/>
          </a:xfrm>
          <a:custGeom>
            <a:avLst/>
            <a:gdLst>
              <a:gd name="T0" fmla="*/ 2147483647 w 228"/>
              <a:gd name="T1" fmla="*/ 2147483647 h 748"/>
              <a:gd name="T2" fmla="*/ 2147483647 w 228"/>
              <a:gd name="T3" fmla="*/ 2147483647 h 748"/>
              <a:gd name="T4" fmla="*/ 2147483647 w 228"/>
              <a:gd name="T5" fmla="*/ 2147483647 h 748"/>
              <a:gd name="T6" fmla="*/ 2147483647 w 228"/>
              <a:gd name="T7" fmla="*/ 2147483647 h 748"/>
              <a:gd name="T8" fmla="*/ 2147483647 w 228"/>
              <a:gd name="T9" fmla="*/ 2147483647 h 748"/>
              <a:gd name="T10" fmla="*/ 2147483647 w 228"/>
              <a:gd name="T11" fmla="*/ 2147483647 h 748"/>
              <a:gd name="T12" fmla="*/ 2147483647 w 228"/>
              <a:gd name="T13" fmla="*/ 2147483647 h 748"/>
              <a:gd name="T14" fmla="*/ 2147483647 w 228"/>
              <a:gd name="T15" fmla="*/ 2147483647 h 748"/>
              <a:gd name="T16" fmla="*/ 2147483647 w 228"/>
              <a:gd name="T17" fmla="*/ 2147483647 h 748"/>
              <a:gd name="T18" fmla="*/ 2147483647 w 228"/>
              <a:gd name="T19" fmla="*/ 2147483647 h 748"/>
              <a:gd name="T20" fmla="*/ 2147483647 w 228"/>
              <a:gd name="T21" fmla="*/ 2147483647 h 748"/>
              <a:gd name="T22" fmla="*/ 2147483647 w 228"/>
              <a:gd name="T23" fmla="*/ 0 h 7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8"/>
              <a:gd name="T37" fmla="*/ 0 h 748"/>
              <a:gd name="T38" fmla="*/ 228 w 228"/>
              <a:gd name="T39" fmla="*/ 748 h 7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8" h="748">
                <a:moveTo>
                  <a:pt x="34" y="538"/>
                </a:moveTo>
                <a:cubicBezTo>
                  <a:pt x="0" y="637"/>
                  <a:pt x="9" y="716"/>
                  <a:pt x="101" y="748"/>
                </a:cubicBezTo>
                <a:cubicBezTo>
                  <a:pt x="165" y="725"/>
                  <a:pt x="156" y="692"/>
                  <a:pt x="176" y="635"/>
                </a:cubicBezTo>
                <a:cubicBezTo>
                  <a:pt x="182" y="618"/>
                  <a:pt x="206" y="591"/>
                  <a:pt x="206" y="591"/>
                </a:cubicBezTo>
                <a:cubicBezTo>
                  <a:pt x="228" y="391"/>
                  <a:pt x="223" y="501"/>
                  <a:pt x="213" y="261"/>
                </a:cubicBezTo>
                <a:cubicBezTo>
                  <a:pt x="216" y="254"/>
                  <a:pt x="223" y="246"/>
                  <a:pt x="221" y="239"/>
                </a:cubicBezTo>
                <a:cubicBezTo>
                  <a:pt x="215" y="222"/>
                  <a:pt x="201" y="209"/>
                  <a:pt x="191" y="194"/>
                </a:cubicBezTo>
                <a:cubicBezTo>
                  <a:pt x="187" y="188"/>
                  <a:pt x="188" y="178"/>
                  <a:pt x="183" y="172"/>
                </a:cubicBezTo>
                <a:cubicBezTo>
                  <a:pt x="177" y="165"/>
                  <a:pt x="168" y="162"/>
                  <a:pt x="161" y="157"/>
                </a:cubicBezTo>
                <a:cubicBezTo>
                  <a:pt x="154" y="138"/>
                  <a:pt x="154" y="116"/>
                  <a:pt x="146" y="97"/>
                </a:cubicBezTo>
                <a:cubicBezTo>
                  <a:pt x="139" y="81"/>
                  <a:pt x="126" y="67"/>
                  <a:pt x="116" y="52"/>
                </a:cubicBezTo>
                <a:cubicBezTo>
                  <a:pt x="106" y="37"/>
                  <a:pt x="98" y="12"/>
                  <a:pt x="86"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9" name="Line 163"/>
          <p:cNvSpPr>
            <a:spLocks noChangeShapeType="1"/>
          </p:cNvSpPr>
          <p:nvPr/>
        </p:nvSpPr>
        <p:spPr bwMode="auto">
          <a:xfrm flipH="1">
            <a:off x="3962400" y="4619625"/>
            <a:ext cx="431800" cy="935038"/>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0" name="Freeform 164"/>
          <p:cNvSpPr>
            <a:spLocks/>
          </p:cNvSpPr>
          <p:nvPr/>
        </p:nvSpPr>
        <p:spPr bwMode="auto">
          <a:xfrm>
            <a:off x="3265488" y="3638550"/>
            <a:ext cx="898525" cy="2439988"/>
          </a:xfrm>
          <a:custGeom>
            <a:avLst/>
            <a:gdLst>
              <a:gd name="T0" fmla="*/ 2147483647 w 566"/>
              <a:gd name="T1" fmla="*/ 2147483647 h 1537"/>
              <a:gd name="T2" fmla="*/ 2147483647 w 566"/>
              <a:gd name="T3" fmla="*/ 2147483647 h 1537"/>
              <a:gd name="T4" fmla="*/ 2147483647 w 566"/>
              <a:gd name="T5" fmla="*/ 2147483647 h 1537"/>
              <a:gd name="T6" fmla="*/ 2147483647 w 566"/>
              <a:gd name="T7" fmla="*/ 2147483647 h 1537"/>
              <a:gd name="T8" fmla="*/ 2147483647 w 566"/>
              <a:gd name="T9" fmla="*/ 2147483647 h 1537"/>
              <a:gd name="T10" fmla="*/ 2147483647 w 566"/>
              <a:gd name="T11" fmla="*/ 2147483647 h 1537"/>
              <a:gd name="T12" fmla="*/ 2147483647 w 566"/>
              <a:gd name="T13" fmla="*/ 2147483647 h 1537"/>
              <a:gd name="T14" fmla="*/ 2147483647 w 566"/>
              <a:gd name="T15" fmla="*/ 2147483647 h 1537"/>
              <a:gd name="T16" fmla="*/ 2147483647 w 566"/>
              <a:gd name="T17" fmla="*/ 2147483647 h 1537"/>
              <a:gd name="T18" fmla="*/ 2147483647 w 566"/>
              <a:gd name="T19" fmla="*/ 2147483647 h 1537"/>
              <a:gd name="T20" fmla="*/ 2147483647 w 566"/>
              <a:gd name="T21" fmla="*/ 2147483647 h 1537"/>
              <a:gd name="T22" fmla="*/ 2147483647 w 566"/>
              <a:gd name="T23" fmla="*/ 2147483647 h 1537"/>
              <a:gd name="T24" fmla="*/ 2147483647 w 566"/>
              <a:gd name="T25" fmla="*/ 2147483647 h 1537"/>
              <a:gd name="T26" fmla="*/ 2147483647 w 566"/>
              <a:gd name="T27" fmla="*/ 2147483647 h 1537"/>
              <a:gd name="T28" fmla="*/ 2147483647 w 566"/>
              <a:gd name="T29" fmla="*/ 2147483647 h 1537"/>
              <a:gd name="T30" fmla="*/ 2147483647 w 566"/>
              <a:gd name="T31" fmla="*/ 2147483647 h 1537"/>
              <a:gd name="T32" fmla="*/ 2147483647 w 566"/>
              <a:gd name="T33" fmla="*/ 2147483647 h 1537"/>
              <a:gd name="T34" fmla="*/ 2147483647 w 566"/>
              <a:gd name="T35" fmla="*/ 2147483647 h 1537"/>
              <a:gd name="T36" fmla="*/ 2147483647 w 566"/>
              <a:gd name="T37" fmla="*/ 2147483647 h 1537"/>
              <a:gd name="T38" fmla="*/ 2147483647 w 566"/>
              <a:gd name="T39" fmla="*/ 0 h 15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66"/>
              <a:gd name="T61" fmla="*/ 0 h 1537"/>
              <a:gd name="T62" fmla="*/ 566 w 566"/>
              <a:gd name="T63" fmla="*/ 1537 h 153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66" h="1537">
                <a:moveTo>
                  <a:pt x="344" y="1421"/>
                </a:moveTo>
                <a:cubicBezTo>
                  <a:pt x="339" y="1429"/>
                  <a:pt x="335" y="1438"/>
                  <a:pt x="329" y="1444"/>
                </a:cubicBezTo>
                <a:cubicBezTo>
                  <a:pt x="323" y="1450"/>
                  <a:pt x="312" y="1452"/>
                  <a:pt x="306" y="1459"/>
                </a:cubicBezTo>
                <a:cubicBezTo>
                  <a:pt x="276" y="1496"/>
                  <a:pt x="327" y="1471"/>
                  <a:pt x="277" y="1489"/>
                </a:cubicBezTo>
                <a:cubicBezTo>
                  <a:pt x="227" y="1537"/>
                  <a:pt x="163" y="1507"/>
                  <a:pt x="105" y="1489"/>
                </a:cubicBezTo>
                <a:cubicBezTo>
                  <a:pt x="77" y="1470"/>
                  <a:pt x="80" y="1455"/>
                  <a:pt x="52" y="1436"/>
                </a:cubicBezTo>
                <a:cubicBezTo>
                  <a:pt x="30" y="1368"/>
                  <a:pt x="0" y="1330"/>
                  <a:pt x="45" y="1242"/>
                </a:cubicBezTo>
                <a:cubicBezTo>
                  <a:pt x="62" y="1209"/>
                  <a:pt x="68" y="1214"/>
                  <a:pt x="105" y="1189"/>
                </a:cubicBezTo>
                <a:cubicBezTo>
                  <a:pt x="112" y="1184"/>
                  <a:pt x="127" y="1174"/>
                  <a:pt x="127" y="1174"/>
                </a:cubicBezTo>
                <a:cubicBezTo>
                  <a:pt x="145" y="1148"/>
                  <a:pt x="157" y="1132"/>
                  <a:pt x="187" y="1122"/>
                </a:cubicBezTo>
                <a:cubicBezTo>
                  <a:pt x="204" y="1098"/>
                  <a:pt x="243" y="1073"/>
                  <a:pt x="269" y="1055"/>
                </a:cubicBezTo>
                <a:cubicBezTo>
                  <a:pt x="285" y="1031"/>
                  <a:pt x="308" y="1021"/>
                  <a:pt x="321" y="995"/>
                </a:cubicBezTo>
                <a:cubicBezTo>
                  <a:pt x="348" y="942"/>
                  <a:pt x="383" y="879"/>
                  <a:pt x="434" y="845"/>
                </a:cubicBezTo>
                <a:cubicBezTo>
                  <a:pt x="445" y="829"/>
                  <a:pt x="463" y="818"/>
                  <a:pt x="471" y="800"/>
                </a:cubicBezTo>
                <a:cubicBezTo>
                  <a:pt x="477" y="786"/>
                  <a:pt x="476" y="770"/>
                  <a:pt x="479" y="755"/>
                </a:cubicBezTo>
                <a:cubicBezTo>
                  <a:pt x="487" y="718"/>
                  <a:pt x="497" y="680"/>
                  <a:pt x="508" y="643"/>
                </a:cubicBezTo>
                <a:cubicBezTo>
                  <a:pt x="490" y="566"/>
                  <a:pt x="526" y="493"/>
                  <a:pt x="546" y="419"/>
                </a:cubicBezTo>
                <a:cubicBezTo>
                  <a:pt x="563" y="289"/>
                  <a:pt x="566" y="329"/>
                  <a:pt x="553" y="120"/>
                </a:cubicBezTo>
                <a:cubicBezTo>
                  <a:pt x="551" y="92"/>
                  <a:pt x="537" y="49"/>
                  <a:pt x="531" y="22"/>
                </a:cubicBezTo>
                <a:cubicBezTo>
                  <a:pt x="529" y="14"/>
                  <a:pt x="523" y="0"/>
                  <a:pt x="523"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1" name="Line 165"/>
          <p:cNvSpPr>
            <a:spLocks noChangeShapeType="1"/>
          </p:cNvSpPr>
          <p:nvPr/>
        </p:nvSpPr>
        <p:spPr bwMode="auto">
          <a:xfrm>
            <a:off x="4322763" y="3467100"/>
            <a:ext cx="647700" cy="863600"/>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2" name="Freeform 166"/>
          <p:cNvSpPr>
            <a:spLocks/>
          </p:cNvSpPr>
          <p:nvPr/>
        </p:nvSpPr>
        <p:spPr bwMode="auto">
          <a:xfrm>
            <a:off x="4683125" y="4762500"/>
            <a:ext cx="508000" cy="1460500"/>
          </a:xfrm>
          <a:custGeom>
            <a:avLst/>
            <a:gdLst>
              <a:gd name="T0" fmla="*/ 2147483647 w 320"/>
              <a:gd name="T1" fmla="*/ 2147483647 h 920"/>
              <a:gd name="T2" fmla="*/ 2147483647 w 320"/>
              <a:gd name="T3" fmla="*/ 2147483647 h 920"/>
              <a:gd name="T4" fmla="*/ 2147483647 w 320"/>
              <a:gd name="T5" fmla="*/ 2147483647 h 920"/>
              <a:gd name="T6" fmla="*/ 2147483647 w 320"/>
              <a:gd name="T7" fmla="*/ 2147483647 h 920"/>
              <a:gd name="T8" fmla="*/ 2147483647 w 320"/>
              <a:gd name="T9" fmla="*/ 2147483647 h 920"/>
              <a:gd name="T10" fmla="*/ 2147483647 w 320"/>
              <a:gd name="T11" fmla="*/ 2147483647 h 920"/>
              <a:gd name="T12" fmla="*/ 2147483647 w 320"/>
              <a:gd name="T13" fmla="*/ 2147483647 h 920"/>
              <a:gd name="T14" fmla="*/ 2147483647 w 320"/>
              <a:gd name="T15" fmla="*/ 2147483647 h 920"/>
              <a:gd name="T16" fmla="*/ 2147483647 w 320"/>
              <a:gd name="T17" fmla="*/ 2147483647 h 920"/>
              <a:gd name="T18" fmla="*/ 2147483647 w 320"/>
              <a:gd name="T19" fmla="*/ 2147483647 h 920"/>
              <a:gd name="T20" fmla="*/ 2147483647 w 320"/>
              <a:gd name="T21" fmla="*/ 2147483647 h 920"/>
              <a:gd name="T22" fmla="*/ 2147483647 w 320"/>
              <a:gd name="T23" fmla="*/ 2147483647 h 920"/>
              <a:gd name="T24" fmla="*/ 2147483647 w 320"/>
              <a:gd name="T25" fmla="*/ 2147483647 h 920"/>
              <a:gd name="T26" fmla="*/ 2147483647 w 320"/>
              <a:gd name="T27" fmla="*/ 2147483647 h 920"/>
              <a:gd name="T28" fmla="*/ 2147483647 w 320"/>
              <a:gd name="T29" fmla="*/ 2147483647 h 920"/>
              <a:gd name="T30" fmla="*/ 2147483647 w 320"/>
              <a:gd name="T31" fmla="*/ 2147483647 h 920"/>
              <a:gd name="T32" fmla="*/ 2147483647 w 320"/>
              <a:gd name="T33" fmla="*/ 2147483647 h 920"/>
              <a:gd name="T34" fmla="*/ 2147483647 w 320"/>
              <a:gd name="T35" fmla="*/ 2147483647 h 9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0"/>
              <a:gd name="T55" fmla="*/ 0 h 920"/>
              <a:gd name="T56" fmla="*/ 320 w 320"/>
              <a:gd name="T57" fmla="*/ 920 h 92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0" h="920">
                <a:moveTo>
                  <a:pt x="86" y="712"/>
                </a:moveTo>
                <a:cubicBezTo>
                  <a:pt x="78" y="737"/>
                  <a:pt x="70" y="761"/>
                  <a:pt x="64" y="787"/>
                </a:cubicBezTo>
                <a:cubicBezTo>
                  <a:pt x="66" y="807"/>
                  <a:pt x="63" y="829"/>
                  <a:pt x="71" y="847"/>
                </a:cubicBezTo>
                <a:cubicBezTo>
                  <a:pt x="74" y="854"/>
                  <a:pt x="88" y="849"/>
                  <a:pt x="94" y="854"/>
                </a:cubicBezTo>
                <a:cubicBezTo>
                  <a:pt x="101" y="860"/>
                  <a:pt x="101" y="872"/>
                  <a:pt x="109" y="877"/>
                </a:cubicBezTo>
                <a:cubicBezTo>
                  <a:pt x="122" y="885"/>
                  <a:pt x="154" y="892"/>
                  <a:pt x="154" y="892"/>
                </a:cubicBezTo>
                <a:cubicBezTo>
                  <a:pt x="156" y="899"/>
                  <a:pt x="154" y="910"/>
                  <a:pt x="161" y="914"/>
                </a:cubicBezTo>
                <a:cubicBezTo>
                  <a:pt x="173" y="920"/>
                  <a:pt x="216" y="877"/>
                  <a:pt x="228" y="869"/>
                </a:cubicBezTo>
                <a:cubicBezTo>
                  <a:pt x="256" y="827"/>
                  <a:pt x="264" y="796"/>
                  <a:pt x="281" y="750"/>
                </a:cubicBezTo>
                <a:cubicBezTo>
                  <a:pt x="268" y="714"/>
                  <a:pt x="290" y="683"/>
                  <a:pt x="296" y="645"/>
                </a:cubicBezTo>
                <a:cubicBezTo>
                  <a:pt x="308" y="565"/>
                  <a:pt x="294" y="609"/>
                  <a:pt x="311" y="563"/>
                </a:cubicBezTo>
                <a:cubicBezTo>
                  <a:pt x="320" y="496"/>
                  <a:pt x="320" y="416"/>
                  <a:pt x="258" y="376"/>
                </a:cubicBezTo>
                <a:cubicBezTo>
                  <a:pt x="253" y="368"/>
                  <a:pt x="249" y="360"/>
                  <a:pt x="243" y="353"/>
                </a:cubicBezTo>
                <a:cubicBezTo>
                  <a:pt x="237" y="347"/>
                  <a:pt x="227" y="345"/>
                  <a:pt x="221" y="338"/>
                </a:cubicBezTo>
                <a:cubicBezTo>
                  <a:pt x="166" y="274"/>
                  <a:pt x="219" y="307"/>
                  <a:pt x="161" y="278"/>
                </a:cubicBezTo>
                <a:cubicBezTo>
                  <a:pt x="140" y="215"/>
                  <a:pt x="122" y="146"/>
                  <a:pt x="64" y="106"/>
                </a:cubicBezTo>
                <a:cubicBezTo>
                  <a:pt x="56" y="83"/>
                  <a:pt x="41" y="49"/>
                  <a:pt x="26" y="31"/>
                </a:cubicBezTo>
                <a:cubicBezTo>
                  <a:pt x="0" y="0"/>
                  <a:pt x="4" y="34"/>
                  <a:pt x="4" y="2"/>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3" name="Freeform 167"/>
          <p:cNvSpPr>
            <a:spLocks/>
          </p:cNvSpPr>
          <p:nvPr/>
        </p:nvSpPr>
        <p:spPr bwMode="auto">
          <a:xfrm>
            <a:off x="5237163" y="4822825"/>
            <a:ext cx="414337" cy="1463675"/>
          </a:xfrm>
          <a:custGeom>
            <a:avLst/>
            <a:gdLst>
              <a:gd name="T0" fmla="*/ 2147483647 w 261"/>
              <a:gd name="T1" fmla="*/ 2147483647 h 922"/>
              <a:gd name="T2" fmla="*/ 2147483647 w 261"/>
              <a:gd name="T3" fmla="*/ 2147483647 h 922"/>
              <a:gd name="T4" fmla="*/ 2147483647 w 261"/>
              <a:gd name="T5" fmla="*/ 2147483647 h 922"/>
              <a:gd name="T6" fmla="*/ 2147483647 w 261"/>
              <a:gd name="T7" fmla="*/ 2147483647 h 922"/>
              <a:gd name="T8" fmla="*/ 2147483647 w 261"/>
              <a:gd name="T9" fmla="*/ 2147483647 h 922"/>
              <a:gd name="T10" fmla="*/ 2147483647 w 261"/>
              <a:gd name="T11" fmla="*/ 2147483647 h 922"/>
              <a:gd name="T12" fmla="*/ 0 w 261"/>
              <a:gd name="T13" fmla="*/ 2147483647 h 922"/>
              <a:gd name="T14" fmla="*/ 0 60000 65536"/>
              <a:gd name="T15" fmla="*/ 0 60000 65536"/>
              <a:gd name="T16" fmla="*/ 0 60000 65536"/>
              <a:gd name="T17" fmla="*/ 0 60000 65536"/>
              <a:gd name="T18" fmla="*/ 0 60000 65536"/>
              <a:gd name="T19" fmla="*/ 0 60000 65536"/>
              <a:gd name="T20" fmla="*/ 0 60000 65536"/>
              <a:gd name="T21" fmla="*/ 0 w 261"/>
              <a:gd name="T22" fmla="*/ 0 h 922"/>
              <a:gd name="T23" fmla="*/ 261 w 261"/>
              <a:gd name="T24" fmla="*/ 922 h 9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1" h="922">
                <a:moveTo>
                  <a:pt x="254" y="660"/>
                </a:moveTo>
                <a:cubicBezTo>
                  <a:pt x="246" y="798"/>
                  <a:pt x="261" y="879"/>
                  <a:pt x="119" y="922"/>
                </a:cubicBezTo>
                <a:cubicBezTo>
                  <a:pt x="111" y="898"/>
                  <a:pt x="82" y="855"/>
                  <a:pt x="82" y="855"/>
                </a:cubicBezTo>
                <a:cubicBezTo>
                  <a:pt x="68" y="763"/>
                  <a:pt x="63" y="671"/>
                  <a:pt x="52" y="578"/>
                </a:cubicBezTo>
                <a:cubicBezTo>
                  <a:pt x="48" y="512"/>
                  <a:pt x="60" y="293"/>
                  <a:pt x="44" y="249"/>
                </a:cubicBezTo>
                <a:cubicBezTo>
                  <a:pt x="38" y="176"/>
                  <a:pt x="31" y="110"/>
                  <a:pt x="15" y="39"/>
                </a:cubicBezTo>
                <a:cubicBezTo>
                  <a:pt x="6" y="0"/>
                  <a:pt x="20" y="2"/>
                  <a:pt x="0" y="2"/>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4" name="Line 168"/>
          <p:cNvSpPr>
            <a:spLocks noChangeShapeType="1"/>
          </p:cNvSpPr>
          <p:nvPr/>
        </p:nvSpPr>
        <p:spPr bwMode="auto">
          <a:xfrm>
            <a:off x="5475288" y="4619625"/>
            <a:ext cx="719137" cy="935038"/>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5" name="Freeform 169"/>
          <p:cNvSpPr>
            <a:spLocks/>
          </p:cNvSpPr>
          <p:nvPr/>
        </p:nvSpPr>
        <p:spPr bwMode="auto">
          <a:xfrm>
            <a:off x="4845050" y="2533650"/>
            <a:ext cx="2157413" cy="3775075"/>
          </a:xfrm>
          <a:custGeom>
            <a:avLst/>
            <a:gdLst>
              <a:gd name="T0" fmla="*/ 2147483647 w 1359"/>
              <a:gd name="T1" fmla="*/ 2147483647 h 2378"/>
              <a:gd name="T2" fmla="*/ 2147483647 w 1359"/>
              <a:gd name="T3" fmla="*/ 2147483647 h 2378"/>
              <a:gd name="T4" fmla="*/ 2147483647 w 1359"/>
              <a:gd name="T5" fmla="*/ 2147483647 h 2378"/>
              <a:gd name="T6" fmla="*/ 2147483647 w 1359"/>
              <a:gd name="T7" fmla="*/ 2147483647 h 2378"/>
              <a:gd name="T8" fmla="*/ 2147483647 w 1359"/>
              <a:gd name="T9" fmla="*/ 2147483647 h 2378"/>
              <a:gd name="T10" fmla="*/ 2147483647 w 1359"/>
              <a:gd name="T11" fmla="*/ 2147483647 h 2378"/>
              <a:gd name="T12" fmla="*/ 2147483647 w 1359"/>
              <a:gd name="T13" fmla="*/ 2147483647 h 2378"/>
              <a:gd name="T14" fmla="*/ 2147483647 w 1359"/>
              <a:gd name="T15" fmla="*/ 2147483647 h 2378"/>
              <a:gd name="T16" fmla="*/ 2147483647 w 1359"/>
              <a:gd name="T17" fmla="*/ 2147483647 h 2378"/>
              <a:gd name="T18" fmla="*/ 2147483647 w 1359"/>
              <a:gd name="T19" fmla="*/ 2147483647 h 2378"/>
              <a:gd name="T20" fmla="*/ 2147483647 w 1359"/>
              <a:gd name="T21" fmla="*/ 2147483647 h 2378"/>
              <a:gd name="T22" fmla="*/ 2147483647 w 1359"/>
              <a:gd name="T23" fmla="*/ 2147483647 h 2378"/>
              <a:gd name="T24" fmla="*/ 2147483647 w 1359"/>
              <a:gd name="T25" fmla="*/ 2147483647 h 2378"/>
              <a:gd name="T26" fmla="*/ 2147483647 w 1359"/>
              <a:gd name="T27" fmla="*/ 2147483647 h 2378"/>
              <a:gd name="T28" fmla="*/ 2147483647 w 1359"/>
              <a:gd name="T29" fmla="*/ 2147483647 h 2378"/>
              <a:gd name="T30" fmla="*/ 2147483647 w 1359"/>
              <a:gd name="T31" fmla="*/ 2147483647 h 2378"/>
              <a:gd name="T32" fmla="*/ 2147483647 w 1359"/>
              <a:gd name="T33" fmla="*/ 2147483647 h 2378"/>
              <a:gd name="T34" fmla="*/ 2147483647 w 1359"/>
              <a:gd name="T35" fmla="*/ 2147483647 h 2378"/>
              <a:gd name="T36" fmla="*/ 2147483647 w 1359"/>
              <a:gd name="T37" fmla="*/ 2147483647 h 2378"/>
              <a:gd name="T38" fmla="*/ 2147483647 w 1359"/>
              <a:gd name="T39" fmla="*/ 2147483647 h 2378"/>
              <a:gd name="T40" fmla="*/ 2147483647 w 1359"/>
              <a:gd name="T41" fmla="*/ 2147483647 h 2378"/>
              <a:gd name="T42" fmla="*/ 2147483647 w 1359"/>
              <a:gd name="T43" fmla="*/ 2147483647 h 2378"/>
              <a:gd name="T44" fmla="*/ 2147483647 w 1359"/>
              <a:gd name="T45" fmla="*/ 2147483647 h 2378"/>
              <a:gd name="T46" fmla="*/ 2147483647 w 1359"/>
              <a:gd name="T47" fmla="*/ 2147483647 h 2378"/>
              <a:gd name="T48" fmla="*/ 2147483647 w 1359"/>
              <a:gd name="T49" fmla="*/ 2147483647 h 2378"/>
              <a:gd name="T50" fmla="*/ 0 w 1359"/>
              <a:gd name="T51" fmla="*/ 0 h 237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9"/>
              <a:gd name="T79" fmla="*/ 0 h 2378"/>
              <a:gd name="T80" fmla="*/ 1359 w 1359"/>
              <a:gd name="T81" fmla="*/ 2378 h 237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9" h="2378">
                <a:moveTo>
                  <a:pt x="1152" y="2125"/>
                </a:moveTo>
                <a:cubicBezTo>
                  <a:pt x="1136" y="2187"/>
                  <a:pt x="1127" y="2315"/>
                  <a:pt x="1189" y="2357"/>
                </a:cubicBezTo>
                <a:cubicBezTo>
                  <a:pt x="1279" y="2351"/>
                  <a:pt x="1327" y="2378"/>
                  <a:pt x="1346" y="2297"/>
                </a:cubicBezTo>
                <a:cubicBezTo>
                  <a:pt x="1358" y="2119"/>
                  <a:pt x="1359" y="2162"/>
                  <a:pt x="1346" y="1923"/>
                </a:cubicBezTo>
                <a:cubicBezTo>
                  <a:pt x="1344" y="1895"/>
                  <a:pt x="1334" y="1879"/>
                  <a:pt x="1309" y="1870"/>
                </a:cubicBezTo>
                <a:cubicBezTo>
                  <a:pt x="1277" y="1823"/>
                  <a:pt x="1313" y="1870"/>
                  <a:pt x="1271" y="1833"/>
                </a:cubicBezTo>
                <a:cubicBezTo>
                  <a:pt x="1233" y="1799"/>
                  <a:pt x="1197" y="1762"/>
                  <a:pt x="1159" y="1728"/>
                </a:cubicBezTo>
                <a:cubicBezTo>
                  <a:pt x="1121" y="1695"/>
                  <a:pt x="1097" y="1650"/>
                  <a:pt x="1054" y="1624"/>
                </a:cubicBezTo>
                <a:cubicBezTo>
                  <a:pt x="1049" y="1616"/>
                  <a:pt x="1045" y="1608"/>
                  <a:pt x="1039" y="1601"/>
                </a:cubicBezTo>
                <a:cubicBezTo>
                  <a:pt x="1032" y="1593"/>
                  <a:pt x="1023" y="1587"/>
                  <a:pt x="1017" y="1579"/>
                </a:cubicBezTo>
                <a:cubicBezTo>
                  <a:pt x="990" y="1541"/>
                  <a:pt x="968" y="1498"/>
                  <a:pt x="942" y="1459"/>
                </a:cubicBezTo>
                <a:cubicBezTo>
                  <a:pt x="921" y="1428"/>
                  <a:pt x="887" y="1401"/>
                  <a:pt x="867" y="1369"/>
                </a:cubicBezTo>
                <a:cubicBezTo>
                  <a:pt x="840" y="1326"/>
                  <a:pt x="823" y="1276"/>
                  <a:pt x="793" y="1235"/>
                </a:cubicBezTo>
                <a:cubicBezTo>
                  <a:pt x="787" y="1226"/>
                  <a:pt x="777" y="1220"/>
                  <a:pt x="770" y="1212"/>
                </a:cubicBezTo>
                <a:cubicBezTo>
                  <a:pt x="764" y="1205"/>
                  <a:pt x="760" y="1197"/>
                  <a:pt x="755" y="1190"/>
                </a:cubicBezTo>
                <a:cubicBezTo>
                  <a:pt x="744" y="1144"/>
                  <a:pt x="712" y="1103"/>
                  <a:pt x="673" y="1077"/>
                </a:cubicBezTo>
                <a:cubicBezTo>
                  <a:pt x="663" y="1062"/>
                  <a:pt x="658" y="1043"/>
                  <a:pt x="643" y="1033"/>
                </a:cubicBezTo>
                <a:cubicBezTo>
                  <a:pt x="621" y="1018"/>
                  <a:pt x="595" y="1007"/>
                  <a:pt x="576" y="988"/>
                </a:cubicBezTo>
                <a:cubicBezTo>
                  <a:pt x="561" y="973"/>
                  <a:pt x="551" y="950"/>
                  <a:pt x="531" y="943"/>
                </a:cubicBezTo>
                <a:cubicBezTo>
                  <a:pt x="500" y="932"/>
                  <a:pt x="515" y="940"/>
                  <a:pt x="486" y="920"/>
                </a:cubicBezTo>
                <a:cubicBezTo>
                  <a:pt x="459" y="880"/>
                  <a:pt x="412" y="867"/>
                  <a:pt x="381" y="831"/>
                </a:cubicBezTo>
                <a:cubicBezTo>
                  <a:pt x="360" y="806"/>
                  <a:pt x="375" y="808"/>
                  <a:pt x="344" y="793"/>
                </a:cubicBezTo>
                <a:cubicBezTo>
                  <a:pt x="297" y="770"/>
                  <a:pt x="213" y="775"/>
                  <a:pt x="164" y="771"/>
                </a:cubicBezTo>
                <a:cubicBezTo>
                  <a:pt x="139" y="762"/>
                  <a:pt x="119" y="756"/>
                  <a:pt x="97" y="741"/>
                </a:cubicBezTo>
                <a:cubicBezTo>
                  <a:pt x="76" y="709"/>
                  <a:pt x="65" y="682"/>
                  <a:pt x="45" y="651"/>
                </a:cubicBezTo>
                <a:cubicBezTo>
                  <a:pt x="31" y="434"/>
                  <a:pt x="0" y="219"/>
                  <a:pt x="0"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6" name="Line 172"/>
          <p:cNvSpPr>
            <a:spLocks noChangeShapeType="1"/>
          </p:cNvSpPr>
          <p:nvPr/>
        </p:nvSpPr>
        <p:spPr bwMode="auto">
          <a:xfrm>
            <a:off x="5402263" y="2314575"/>
            <a:ext cx="576262" cy="647700"/>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7" name="Text Box 114"/>
          <p:cNvSpPr txBox="1">
            <a:spLocks noChangeArrowheads="1"/>
          </p:cNvSpPr>
          <p:nvPr/>
        </p:nvSpPr>
        <p:spPr bwMode="auto">
          <a:xfrm>
            <a:off x="4335463" y="6284913"/>
            <a:ext cx="1409700" cy="457200"/>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pPr>
            <a:r>
              <a:rPr kumimoji="1" lang="zh-CN" altLang="en-US" sz="2400" b="1">
                <a:solidFill>
                  <a:srgbClr val="000000"/>
                </a:solidFill>
                <a:latin typeface="Times New Roman" pitchFamily="18" charset="0"/>
              </a:rPr>
              <a:t>线索链表</a:t>
            </a:r>
          </a:p>
        </p:txBody>
      </p:sp>
      <p:sp>
        <p:nvSpPr>
          <p:cNvPr id="48" name="Text Box 115"/>
          <p:cNvSpPr txBox="1">
            <a:spLocks noChangeArrowheads="1"/>
          </p:cNvSpPr>
          <p:nvPr/>
        </p:nvSpPr>
        <p:spPr bwMode="auto">
          <a:xfrm>
            <a:off x="23813" y="5715000"/>
            <a:ext cx="2901950" cy="523875"/>
          </a:xfrm>
          <a:prstGeom prst="rect">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800" b="1" i="0" u="none" strike="noStrike" kern="0" cap="none" spc="0" normalizeH="0" baseline="0" noProof="0" dirty="0">
                <a:ln>
                  <a:noFill/>
                </a:ln>
                <a:solidFill>
                  <a:srgbClr val="0000FF"/>
                </a:solidFill>
                <a:effectLst/>
                <a:uLnTx/>
                <a:uFillTx/>
                <a:latin typeface="Constantia"/>
                <a:ea typeface="宋体"/>
                <a:cs typeface="+mn-cs"/>
              </a:rPr>
              <a:t>中序 </a:t>
            </a:r>
            <a:r>
              <a:rPr kumimoji="1" lang="en-US" altLang="zh-CN" sz="2800" b="1" i="0" u="none" strike="noStrike" kern="0" cap="none" spc="0" normalizeH="0" baseline="0" noProof="0" dirty="0" err="1">
                <a:ln>
                  <a:noFill/>
                </a:ln>
                <a:solidFill>
                  <a:srgbClr val="0000FF"/>
                </a:solidFill>
                <a:effectLst/>
                <a:uLnTx/>
                <a:uFillTx/>
                <a:latin typeface="Constantia"/>
                <a:ea typeface="宋体"/>
                <a:cs typeface="+mn-cs"/>
              </a:rPr>
              <a:t>a,e,b,f,c,g,d</a:t>
            </a:r>
            <a:endParaRPr kumimoji="1" lang="en-US" altLang="zh-CN" sz="2800" b="1" i="0" u="none" strike="noStrike" kern="0" cap="none" spc="0" normalizeH="0" baseline="0" noProof="0" dirty="0">
              <a:ln>
                <a:noFill/>
              </a:ln>
              <a:solidFill>
                <a:srgbClr val="0000FF"/>
              </a:solidFill>
              <a:effectLst/>
              <a:uLnTx/>
              <a:uFillTx/>
              <a:latin typeface="Constantia"/>
              <a:ea typeface="宋体"/>
              <a:cs typeface="+mn-cs"/>
            </a:endParaRPr>
          </a:p>
        </p:txBody>
      </p:sp>
      <p:grpSp>
        <p:nvGrpSpPr>
          <p:cNvPr id="49" name="Group 116"/>
          <p:cNvGrpSpPr>
            <a:grpSpLocks/>
          </p:cNvGrpSpPr>
          <p:nvPr/>
        </p:nvGrpSpPr>
        <p:grpSpPr bwMode="auto">
          <a:xfrm>
            <a:off x="125024" y="1524000"/>
            <a:ext cx="3075376" cy="2218359"/>
            <a:chOff x="-55" y="921"/>
            <a:chExt cx="2544" cy="1789"/>
          </a:xfrm>
        </p:grpSpPr>
        <p:grpSp>
          <p:nvGrpSpPr>
            <p:cNvPr id="50" name="Group 7"/>
            <p:cNvGrpSpPr>
              <a:grpSpLocks/>
            </p:cNvGrpSpPr>
            <p:nvPr/>
          </p:nvGrpSpPr>
          <p:grpSpPr bwMode="auto">
            <a:xfrm>
              <a:off x="425" y="2255"/>
              <a:ext cx="576" cy="455"/>
              <a:chOff x="3840" y="2901"/>
              <a:chExt cx="576" cy="500"/>
            </a:xfrm>
          </p:grpSpPr>
          <p:sp>
            <p:nvSpPr>
              <p:cNvPr id="75" name="Oval 8"/>
              <p:cNvSpPr>
                <a:spLocks noChangeArrowheads="1"/>
              </p:cNvSpPr>
              <p:nvPr/>
            </p:nvSpPr>
            <p:spPr bwMode="auto">
              <a:xfrm>
                <a:off x="3960" y="2995"/>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6" name="Text Box 9"/>
              <p:cNvSpPr txBox="1">
                <a:spLocks noChangeArrowheads="1"/>
              </p:cNvSpPr>
              <p:nvPr/>
            </p:nvSpPr>
            <p:spPr bwMode="auto">
              <a:xfrm>
                <a:off x="3840" y="2901"/>
                <a:ext cx="576" cy="5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b</a:t>
                </a:r>
              </a:p>
            </p:txBody>
          </p:sp>
        </p:grpSp>
        <p:grpSp>
          <p:nvGrpSpPr>
            <p:cNvPr id="51" name="Group 13"/>
            <p:cNvGrpSpPr>
              <a:grpSpLocks/>
            </p:cNvGrpSpPr>
            <p:nvPr/>
          </p:nvGrpSpPr>
          <p:grpSpPr bwMode="auto">
            <a:xfrm>
              <a:off x="-55" y="1749"/>
              <a:ext cx="576" cy="456"/>
              <a:chOff x="3337" y="2855"/>
              <a:chExt cx="576" cy="477"/>
            </a:xfrm>
          </p:grpSpPr>
          <p:sp>
            <p:nvSpPr>
              <p:cNvPr id="73" name="Oval 14"/>
              <p:cNvSpPr>
                <a:spLocks noChangeArrowheads="1"/>
              </p:cNvSpPr>
              <p:nvPr/>
            </p:nvSpPr>
            <p:spPr bwMode="auto">
              <a:xfrm>
                <a:off x="3457" y="2971"/>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4" name="Text Box 15"/>
              <p:cNvSpPr txBox="1">
                <a:spLocks noChangeArrowheads="1"/>
              </p:cNvSpPr>
              <p:nvPr/>
            </p:nvSpPr>
            <p:spPr bwMode="auto">
              <a:xfrm>
                <a:off x="3337" y="2855"/>
                <a:ext cx="576" cy="47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a</a:t>
                </a:r>
              </a:p>
            </p:txBody>
          </p:sp>
        </p:grpSp>
        <p:grpSp>
          <p:nvGrpSpPr>
            <p:cNvPr id="52" name="Group 16"/>
            <p:cNvGrpSpPr>
              <a:grpSpLocks/>
            </p:cNvGrpSpPr>
            <p:nvPr/>
          </p:nvGrpSpPr>
          <p:grpSpPr bwMode="auto">
            <a:xfrm>
              <a:off x="377" y="1335"/>
              <a:ext cx="576" cy="456"/>
              <a:chOff x="2552" y="3100"/>
              <a:chExt cx="576" cy="476"/>
            </a:xfrm>
          </p:grpSpPr>
          <p:sp>
            <p:nvSpPr>
              <p:cNvPr id="71" name="Oval 17"/>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2" name="Text Box 18"/>
              <p:cNvSpPr txBox="1">
                <a:spLocks noChangeArrowheads="1"/>
              </p:cNvSpPr>
              <p:nvPr/>
            </p:nvSpPr>
            <p:spPr bwMode="auto">
              <a:xfrm>
                <a:off x="2552" y="3100"/>
                <a:ext cx="576" cy="47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e</a:t>
                </a:r>
              </a:p>
            </p:txBody>
          </p:sp>
        </p:grpSp>
        <p:grpSp>
          <p:nvGrpSpPr>
            <p:cNvPr id="53" name="Group 19"/>
            <p:cNvGrpSpPr>
              <a:grpSpLocks/>
            </p:cNvGrpSpPr>
            <p:nvPr/>
          </p:nvGrpSpPr>
          <p:grpSpPr bwMode="auto">
            <a:xfrm>
              <a:off x="809" y="1795"/>
              <a:ext cx="576" cy="456"/>
              <a:chOff x="2552" y="3100"/>
              <a:chExt cx="576" cy="477"/>
            </a:xfrm>
          </p:grpSpPr>
          <p:sp>
            <p:nvSpPr>
              <p:cNvPr id="69" name="Oval 20"/>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0" name="Text Box 21"/>
              <p:cNvSpPr txBox="1">
                <a:spLocks noChangeArrowheads="1"/>
              </p:cNvSpPr>
              <p:nvPr/>
            </p:nvSpPr>
            <p:spPr bwMode="auto">
              <a:xfrm>
                <a:off x="2552" y="3100"/>
                <a:ext cx="576" cy="47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f</a:t>
                </a:r>
              </a:p>
            </p:txBody>
          </p:sp>
        </p:grpSp>
        <p:grpSp>
          <p:nvGrpSpPr>
            <p:cNvPr id="54" name="Group 22"/>
            <p:cNvGrpSpPr>
              <a:grpSpLocks/>
            </p:cNvGrpSpPr>
            <p:nvPr/>
          </p:nvGrpSpPr>
          <p:grpSpPr bwMode="auto">
            <a:xfrm>
              <a:off x="1913" y="1358"/>
              <a:ext cx="576" cy="457"/>
              <a:chOff x="2552" y="3100"/>
              <a:chExt cx="576" cy="477"/>
            </a:xfrm>
          </p:grpSpPr>
          <p:sp>
            <p:nvSpPr>
              <p:cNvPr id="67" name="Oval 23"/>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8" name="Text Box 24"/>
              <p:cNvSpPr txBox="1">
                <a:spLocks noChangeArrowheads="1"/>
              </p:cNvSpPr>
              <p:nvPr/>
            </p:nvSpPr>
            <p:spPr bwMode="auto">
              <a:xfrm>
                <a:off x="2552" y="3100"/>
                <a:ext cx="576" cy="47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d</a:t>
                </a:r>
              </a:p>
            </p:txBody>
          </p:sp>
        </p:grpSp>
        <p:grpSp>
          <p:nvGrpSpPr>
            <p:cNvPr id="55" name="Group 25"/>
            <p:cNvGrpSpPr>
              <a:grpSpLocks/>
            </p:cNvGrpSpPr>
            <p:nvPr/>
          </p:nvGrpSpPr>
          <p:grpSpPr bwMode="auto">
            <a:xfrm>
              <a:off x="1289" y="2170"/>
              <a:ext cx="576" cy="456"/>
              <a:chOff x="2552" y="3100"/>
              <a:chExt cx="576" cy="476"/>
            </a:xfrm>
          </p:grpSpPr>
          <p:sp>
            <p:nvSpPr>
              <p:cNvPr id="65" name="Oval 26"/>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6" name="Text Box 27"/>
              <p:cNvSpPr txBox="1">
                <a:spLocks noChangeArrowheads="1"/>
              </p:cNvSpPr>
              <p:nvPr/>
            </p:nvSpPr>
            <p:spPr bwMode="auto">
              <a:xfrm>
                <a:off x="2552" y="3100"/>
                <a:ext cx="576" cy="47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c</a:t>
                </a:r>
              </a:p>
            </p:txBody>
          </p:sp>
        </p:grpSp>
        <p:grpSp>
          <p:nvGrpSpPr>
            <p:cNvPr id="56" name="Group 28"/>
            <p:cNvGrpSpPr>
              <a:grpSpLocks/>
            </p:cNvGrpSpPr>
            <p:nvPr/>
          </p:nvGrpSpPr>
          <p:grpSpPr bwMode="auto">
            <a:xfrm>
              <a:off x="1193" y="921"/>
              <a:ext cx="576" cy="456"/>
              <a:chOff x="2552" y="3100"/>
              <a:chExt cx="576" cy="476"/>
            </a:xfrm>
          </p:grpSpPr>
          <p:sp>
            <p:nvSpPr>
              <p:cNvPr id="63" name="Oval 29"/>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4" name="Text Box 30"/>
              <p:cNvSpPr txBox="1">
                <a:spLocks noChangeArrowheads="1"/>
              </p:cNvSpPr>
              <p:nvPr/>
            </p:nvSpPr>
            <p:spPr bwMode="auto">
              <a:xfrm>
                <a:off x="2552" y="3100"/>
                <a:ext cx="576" cy="47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g</a:t>
                </a:r>
              </a:p>
            </p:txBody>
          </p:sp>
        </p:grpSp>
        <p:sp>
          <p:nvSpPr>
            <p:cNvPr id="57" name="Line 31"/>
            <p:cNvSpPr>
              <a:spLocks noChangeShapeType="1"/>
            </p:cNvSpPr>
            <p:nvPr/>
          </p:nvSpPr>
          <p:spPr bwMode="auto">
            <a:xfrm flipH="1">
              <a:off x="761" y="1211"/>
              <a:ext cx="528" cy="321"/>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8" name="Line 32"/>
            <p:cNvSpPr>
              <a:spLocks noChangeShapeType="1"/>
            </p:cNvSpPr>
            <p:nvPr/>
          </p:nvSpPr>
          <p:spPr bwMode="auto">
            <a:xfrm>
              <a:off x="1577" y="1211"/>
              <a:ext cx="480" cy="27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9" name="Line 33"/>
            <p:cNvSpPr>
              <a:spLocks noChangeShapeType="1"/>
            </p:cNvSpPr>
            <p:nvPr/>
          </p:nvSpPr>
          <p:spPr bwMode="auto">
            <a:xfrm flipH="1">
              <a:off x="713" y="2129"/>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0" name="Line 34"/>
            <p:cNvSpPr>
              <a:spLocks noChangeShapeType="1"/>
            </p:cNvSpPr>
            <p:nvPr/>
          </p:nvSpPr>
          <p:spPr bwMode="auto">
            <a:xfrm>
              <a:off x="761" y="1670"/>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1" name="Line 35"/>
            <p:cNvSpPr>
              <a:spLocks noChangeShapeType="1"/>
            </p:cNvSpPr>
            <p:nvPr/>
          </p:nvSpPr>
          <p:spPr bwMode="auto">
            <a:xfrm flipH="1">
              <a:off x="281" y="1670"/>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2" name="Line 36"/>
            <p:cNvSpPr>
              <a:spLocks noChangeShapeType="1"/>
            </p:cNvSpPr>
            <p:nvPr/>
          </p:nvSpPr>
          <p:spPr bwMode="auto">
            <a:xfrm>
              <a:off x="1193" y="2129"/>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77" name="Freeform 144"/>
          <p:cNvSpPr>
            <a:spLocks/>
          </p:cNvSpPr>
          <p:nvPr/>
        </p:nvSpPr>
        <p:spPr bwMode="auto">
          <a:xfrm>
            <a:off x="1881188" y="3860800"/>
            <a:ext cx="768350" cy="515938"/>
          </a:xfrm>
          <a:custGeom>
            <a:avLst/>
            <a:gdLst>
              <a:gd name="T0" fmla="*/ 2147483647 w 484"/>
              <a:gd name="T1" fmla="*/ 2147483647 h 325"/>
              <a:gd name="T2" fmla="*/ 2147483647 w 484"/>
              <a:gd name="T3" fmla="*/ 2147483647 h 325"/>
              <a:gd name="T4" fmla="*/ 2147483647 w 484"/>
              <a:gd name="T5" fmla="*/ 0 h 325"/>
              <a:gd name="T6" fmla="*/ 0 60000 65536"/>
              <a:gd name="T7" fmla="*/ 0 60000 65536"/>
              <a:gd name="T8" fmla="*/ 0 60000 65536"/>
              <a:gd name="T9" fmla="*/ 0 w 484"/>
              <a:gd name="T10" fmla="*/ 0 h 325"/>
              <a:gd name="T11" fmla="*/ 484 w 484"/>
              <a:gd name="T12" fmla="*/ 325 h 325"/>
            </a:gdLst>
            <a:ahLst/>
            <a:cxnLst>
              <a:cxn ang="T6">
                <a:pos x="T0" y="T1"/>
              </a:cxn>
              <a:cxn ang="T7">
                <a:pos x="T2" y="T3"/>
              </a:cxn>
              <a:cxn ang="T8">
                <a:pos x="T4" y="T5"/>
              </a:cxn>
            </a:cxnLst>
            <a:rect l="T9" t="T10" r="T11" b="T12"/>
            <a:pathLst>
              <a:path w="484" h="325">
                <a:moveTo>
                  <a:pt x="484" y="318"/>
                </a:moveTo>
                <a:cubicBezTo>
                  <a:pt x="317" y="321"/>
                  <a:pt x="150" y="325"/>
                  <a:pt x="75" y="272"/>
                </a:cubicBezTo>
                <a:cubicBezTo>
                  <a:pt x="0" y="219"/>
                  <a:pt x="37" y="45"/>
                  <a:pt x="30" y="0"/>
                </a:cubicBezTo>
              </a:path>
            </a:pathLst>
          </a:custGeom>
          <a:noFill/>
          <a:ln w="19050">
            <a:solidFill>
              <a:srgbClr val="000000"/>
            </a:solidFill>
            <a:prstDash val="dash"/>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srgbClr val="000000"/>
              </a:solidFill>
              <a:effectLst/>
              <a:uLnTx/>
              <a:uFillTx/>
              <a:latin typeface="Times New Roman" pitchFamily="18" charset="0"/>
            </a:endParaRPr>
          </a:p>
        </p:txBody>
      </p:sp>
      <p:sp>
        <p:nvSpPr>
          <p:cNvPr id="78" name="Freeform 145"/>
          <p:cNvSpPr>
            <a:spLocks/>
          </p:cNvSpPr>
          <p:nvPr/>
        </p:nvSpPr>
        <p:spPr bwMode="auto">
          <a:xfrm>
            <a:off x="6537325" y="2636838"/>
            <a:ext cx="1152525" cy="815975"/>
          </a:xfrm>
          <a:custGeom>
            <a:avLst/>
            <a:gdLst>
              <a:gd name="T0" fmla="*/ 0 w 726"/>
              <a:gd name="T1" fmla="*/ 2147483647 h 514"/>
              <a:gd name="T2" fmla="*/ 2147483647 w 726"/>
              <a:gd name="T3" fmla="*/ 2147483647 h 514"/>
              <a:gd name="T4" fmla="*/ 2147483647 w 726"/>
              <a:gd name="T5" fmla="*/ 0 h 514"/>
              <a:gd name="T6" fmla="*/ 0 60000 65536"/>
              <a:gd name="T7" fmla="*/ 0 60000 65536"/>
              <a:gd name="T8" fmla="*/ 0 60000 65536"/>
              <a:gd name="T9" fmla="*/ 0 w 726"/>
              <a:gd name="T10" fmla="*/ 0 h 514"/>
              <a:gd name="T11" fmla="*/ 726 w 726"/>
              <a:gd name="T12" fmla="*/ 514 h 514"/>
            </a:gdLst>
            <a:ahLst/>
            <a:cxnLst>
              <a:cxn ang="T6">
                <a:pos x="T0" y="T1"/>
              </a:cxn>
              <a:cxn ang="T7">
                <a:pos x="T2" y="T3"/>
              </a:cxn>
              <a:cxn ang="T8">
                <a:pos x="T4" y="T5"/>
              </a:cxn>
            </a:cxnLst>
            <a:rect l="T9" t="T10" r="T11" b="T12"/>
            <a:pathLst>
              <a:path w="726" h="514">
                <a:moveTo>
                  <a:pt x="0" y="363"/>
                </a:moveTo>
                <a:cubicBezTo>
                  <a:pt x="121" y="438"/>
                  <a:pt x="242" y="514"/>
                  <a:pt x="363" y="454"/>
                </a:cubicBezTo>
                <a:cubicBezTo>
                  <a:pt x="484" y="394"/>
                  <a:pt x="605" y="197"/>
                  <a:pt x="726" y="0"/>
                </a:cubicBezTo>
              </a:path>
            </a:pathLst>
          </a:custGeom>
          <a:noFill/>
          <a:ln w="19050">
            <a:solidFill>
              <a:srgbClr val="000000"/>
            </a:solidFill>
            <a:prstDash val="dash"/>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srgbClr val="000000"/>
              </a:solidFill>
              <a:effectLst/>
              <a:uLnTx/>
              <a:uFillTx/>
              <a:latin typeface="Times New Roman" pitchFamily="18" charset="0"/>
            </a:endParaRPr>
          </a:p>
        </p:txBody>
      </p:sp>
      <p:sp>
        <p:nvSpPr>
          <p:cNvPr id="79" name="Text Box 146"/>
          <p:cNvSpPr txBox="1">
            <a:spLocks noChangeArrowheads="1"/>
          </p:cNvSpPr>
          <p:nvPr/>
        </p:nvSpPr>
        <p:spPr bwMode="auto">
          <a:xfrm>
            <a:off x="7462838" y="2133600"/>
            <a:ext cx="696912" cy="461963"/>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pPr>
            <a:r>
              <a:rPr kumimoji="1" lang="en-US" altLang="zh-CN" sz="2400">
                <a:solidFill>
                  <a:srgbClr val="000000"/>
                </a:solidFill>
                <a:latin typeface="Times New Roman" pitchFamily="18" charset="0"/>
              </a:rPr>
              <a:t>NIL</a:t>
            </a:r>
          </a:p>
        </p:txBody>
      </p:sp>
      <p:sp>
        <p:nvSpPr>
          <p:cNvPr id="80" name="Text Box 147"/>
          <p:cNvSpPr txBox="1">
            <a:spLocks noChangeArrowheads="1"/>
          </p:cNvSpPr>
          <p:nvPr/>
        </p:nvSpPr>
        <p:spPr bwMode="auto">
          <a:xfrm>
            <a:off x="1343569" y="3499215"/>
            <a:ext cx="696912" cy="461962"/>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pPr>
            <a:r>
              <a:rPr kumimoji="1" lang="en-US" altLang="zh-CN" sz="2400" dirty="0">
                <a:solidFill>
                  <a:srgbClr val="000000"/>
                </a:solidFill>
                <a:latin typeface="Times New Roman" pitchFamily="18" charset="0"/>
              </a:rPr>
              <a:t>NIL</a:t>
            </a:r>
          </a:p>
        </p:txBody>
      </p:sp>
      <p:sp>
        <p:nvSpPr>
          <p:cNvPr id="81" name="Text Box 24"/>
          <p:cNvSpPr txBox="1">
            <a:spLocks noChangeArrowheads="1"/>
          </p:cNvSpPr>
          <p:nvPr/>
        </p:nvSpPr>
        <p:spPr bwMode="auto">
          <a:xfrm>
            <a:off x="4362450" y="1108501"/>
            <a:ext cx="5010150" cy="830997"/>
          </a:xfrm>
          <a:prstGeom prst="rect">
            <a:avLst/>
          </a:prstGeom>
          <a:noFill/>
          <a:ln w="9525">
            <a:solidFill>
              <a:srgbClr val="336600"/>
            </a:solidFill>
            <a:miter lim="800000"/>
            <a:headEnd/>
            <a:tailEnd/>
          </a:ln>
        </p:spPr>
        <p:txBody>
          <a:bodyPr wrap="square">
            <a:spAutoFit/>
          </a:bodyPr>
          <a:lstStyle/>
          <a:p>
            <a:pPr marL="0" lvl="2" algn="just" fontAlgn="base">
              <a:spcBef>
                <a:spcPct val="50000"/>
              </a:spcBef>
              <a:spcAft>
                <a:spcPct val="0"/>
              </a:spcAft>
            </a:pPr>
            <a:r>
              <a:rPr kumimoji="1" lang="zh-CN" altLang="en-US" sz="2400" b="1" dirty="0">
                <a:solidFill>
                  <a:srgbClr val="0000FF"/>
                </a:solidFill>
                <a:latin typeface="Times New Roman" pitchFamily="18" charset="0"/>
                <a:ea typeface="楷体_GB2312" pitchFamily="49" charset="-122"/>
              </a:rPr>
              <a:t>遍历指向该线性序列中的“前驱”和“后继” 的指针，称作“</a:t>
            </a:r>
            <a:r>
              <a:rPr kumimoji="1" lang="zh-CN" altLang="en-US" sz="2400" b="1" dirty="0">
                <a:solidFill>
                  <a:srgbClr val="FF0000"/>
                </a:solidFill>
                <a:latin typeface="Times New Roman" pitchFamily="18" charset="0"/>
                <a:ea typeface="楷体_GB2312" pitchFamily="49" charset="-122"/>
              </a:rPr>
              <a:t>线索</a:t>
            </a:r>
            <a:r>
              <a:rPr kumimoji="1" lang="zh-CN" altLang="en-US" sz="2400" b="1" dirty="0">
                <a:solidFill>
                  <a:srgbClr val="0000FF"/>
                </a:solidFill>
                <a:latin typeface="Times New Roman" pitchFamily="18" charset="0"/>
                <a:ea typeface="楷体_GB2312" pitchFamily="49" charset="-122"/>
              </a:rPr>
              <a:t>”。</a:t>
            </a:r>
            <a:endParaRPr kumimoji="1" lang="zh-CN" altLang="en-US" sz="2400" b="1" dirty="0">
              <a:solidFill>
                <a:srgbClr val="FF0000"/>
              </a:solidFill>
              <a:latin typeface="宋体" pitchFamily="2" charset="-122"/>
            </a:endParaRPr>
          </a:p>
        </p:txBody>
      </p:sp>
    </p:spTree>
    <p:extLst>
      <p:ext uri="{BB962C8B-B14F-4D97-AF65-F5344CB8AC3E}">
        <p14:creationId xmlns:p14="http://schemas.microsoft.com/office/powerpoint/2010/main" val="3570027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80"/>
                                        </p:tgtEl>
                                        <p:attrNameLst>
                                          <p:attrName>style.visibility</p:attrName>
                                        </p:attrNameLst>
                                      </p:cBhvr>
                                      <p:to>
                                        <p:strVal val="visible"/>
                                      </p:to>
                                    </p:set>
                                    <p:anim calcmode="lin" valueType="num">
                                      <p:cBhvr additive="base">
                                        <p:cTn id="11" dur="500" fill="hold"/>
                                        <p:tgtEl>
                                          <p:spTgt spid="80"/>
                                        </p:tgtEl>
                                        <p:attrNameLst>
                                          <p:attrName>ppt_x</p:attrName>
                                        </p:attrNameLst>
                                      </p:cBhvr>
                                      <p:tavLst>
                                        <p:tav tm="0">
                                          <p:val>
                                            <p:strVal val="#ppt_x"/>
                                          </p:val>
                                        </p:tav>
                                        <p:tav tm="100000">
                                          <p:val>
                                            <p:strVal val="#ppt_x"/>
                                          </p:val>
                                        </p:tav>
                                      </p:tavLst>
                                    </p:anim>
                                    <p:anim calcmode="lin" valueType="num">
                                      <p:cBhvr additive="base">
                                        <p:cTn id="12" dur="500" fill="hold"/>
                                        <p:tgtEl>
                                          <p:spTgt spid="8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anim calcmode="lin" valueType="num">
                                      <p:cBhvr additive="base">
                                        <p:cTn id="15" dur="500" fill="hold"/>
                                        <p:tgtEl>
                                          <p:spTgt spid="77"/>
                                        </p:tgtEl>
                                        <p:attrNameLst>
                                          <p:attrName>ppt_x</p:attrName>
                                        </p:attrNameLst>
                                      </p:cBhvr>
                                      <p:tavLst>
                                        <p:tav tm="0">
                                          <p:val>
                                            <p:strVal val="#ppt_x"/>
                                          </p:val>
                                        </p:tav>
                                        <p:tav tm="100000">
                                          <p:val>
                                            <p:strVal val="#ppt_x"/>
                                          </p:val>
                                        </p:tav>
                                      </p:tavLst>
                                    </p:anim>
                                    <p:anim calcmode="lin" valueType="num">
                                      <p:cBhvr additive="base">
                                        <p:cTn id="16"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 calcmode="lin" valueType="num">
                                      <p:cBhvr additive="base">
                                        <p:cTn id="27" dur="500" fill="hold"/>
                                        <p:tgtEl>
                                          <p:spTgt spid="40"/>
                                        </p:tgtEl>
                                        <p:attrNameLst>
                                          <p:attrName>ppt_x</p:attrName>
                                        </p:attrNameLst>
                                      </p:cBhvr>
                                      <p:tavLst>
                                        <p:tav tm="0">
                                          <p:val>
                                            <p:strVal val="#ppt_x"/>
                                          </p:val>
                                        </p:tav>
                                        <p:tav tm="100000">
                                          <p:val>
                                            <p:strVal val="#ppt_x"/>
                                          </p:val>
                                        </p:tav>
                                      </p:tavLst>
                                    </p:anim>
                                    <p:anim calcmode="lin" valueType="num">
                                      <p:cBhvr additive="base">
                                        <p:cTn id="2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2"/>
                                        </p:tgtEl>
                                        <p:attrNameLst>
                                          <p:attrName>style.visibility</p:attrName>
                                        </p:attrNameLst>
                                      </p:cBhvr>
                                      <p:to>
                                        <p:strVal val="visible"/>
                                      </p:to>
                                    </p:set>
                                    <p:anim calcmode="lin" valueType="num">
                                      <p:cBhvr additive="base">
                                        <p:cTn id="33" dur="500" fill="hold"/>
                                        <p:tgtEl>
                                          <p:spTgt spid="42"/>
                                        </p:tgtEl>
                                        <p:attrNameLst>
                                          <p:attrName>ppt_x</p:attrName>
                                        </p:attrNameLst>
                                      </p:cBhvr>
                                      <p:tavLst>
                                        <p:tav tm="0">
                                          <p:val>
                                            <p:strVal val="#ppt_x"/>
                                          </p:val>
                                        </p:tav>
                                        <p:tav tm="100000">
                                          <p:val>
                                            <p:strVal val="#ppt_x"/>
                                          </p:val>
                                        </p:tav>
                                      </p:tavLst>
                                    </p:anim>
                                    <p:anim calcmode="lin" valueType="num">
                                      <p:cBhvr additive="base">
                                        <p:cTn id="34"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43"/>
                                        </p:tgtEl>
                                        <p:attrNameLst>
                                          <p:attrName>style.visibility</p:attrName>
                                        </p:attrNameLst>
                                      </p:cBhvr>
                                      <p:to>
                                        <p:strVal val="visible"/>
                                      </p:to>
                                    </p:set>
                                    <p:anim calcmode="lin" valueType="num">
                                      <p:cBhvr additive="base">
                                        <p:cTn id="39" dur="500" fill="hold"/>
                                        <p:tgtEl>
                                          <p:spTgt spid="43"/>
                                        </p:tgtEl>
                                        <p:attrNameLst>
                                          <p:attrName>ppt_x</p:attrName>
                                        </p:attrNameLst>
                                      </p:cBhvr>
                                      <p:tavLst>
                                        <p:tav tm="0">
                                          <p:val>
                                            <p:strVal val="#ppt_x"/>
                                          </p:val>
                                        </p:tav>
                                        <p:tav tm="100000">
                                          <p:val>
                                            <p:strVal val="#ppt_x"/>
                                          </p:val>
                                        </p:tav>
                                      </p:tavLst>
                                    </p:anim>
                                    <p:anim calcmode="lin" valueType="num">
                                      <p:cBhvr additive="base">
                                        <p:cTn id="40"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45"/>
                                        </p:tgtEl>
                                        <p:attrNameLst>
                                          <p:attrName>style.visibility</p:attrName>
                                        </p:attrNameLst>
                                      </p:cBhvr>
                                      <p:to>
                                        <p:strVal val="visible"/>
                                      </p:to>
                                    </p:set>
                                    <p:anim calcmode="lin" valueType="num">
                                      <p:cBhvr additive="base">
                                        <p:cTn id="45" dur="500" fill="hold"/>
                                        <p:tgtEl>
                                          <p:spTgt spid="45"/>
                                        </p:tgtEl>
                                        <p:attrNameLst>
                                          <p:attrName>ppt_x</p:attrName>
                                        </p:attrNameLst>
                                      </p:cBhvr>
                                      <p:tavLst>
                                        <p:tav tm="0">
                                          <p:val>
                                            <p:strVal val="#ppt_x"/>
                                          </p:val>
                                        </p:tav>
                                        <p:tav tm="100000">
                                          <p:val>
                                            <p:strVal val="#ppt_x"/>
                                          </p:val>
                                        </p:tav>
                                      </p:tavLst>
                                    </p:anim>
                                    <p:anim calcmode="lin" valueType="num">
                                      <p:cBhvr additive="base">
                                        <p:cTn id="46"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anim calcmode="lin" valueType="num">
                                      <p:cBhvr additive="base">
                                        <p:cTn id="51" dur="500" fill="hold"/>
                                        <p:tgtEl>
                                          <p:spTgt spid="35"/>
                                        </p:tgtEl>
                                        <p:attrNameLst>
                                          <p:attrName>ppt_x</p:attrName>
                                        </p:attrNameLst>
                                      </p:cBhvr>
                                      <p:tavLst>
                                        <p:tav tm="0">
                                          <p:val>
                                            <p:strVal val="#ppt_x"/>
                                          </p:val>
                                        </p:tav>
                                        <p:tav tm="100000">
                                          <p:val>
                                            <p:strVal val="#ppt_x"/>
                                          </p:val>
                                        </p:tav>
                                      </p:tavLst>
                                    </p:anim>
                                    <p:anim calcmode="lin" valueType="num">
                                      <p:cBhvr additive="base">
                                        <p:cTn id="52"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79"/>
                                        </p:tgtEl>
                                        <p:attrNameLst>
                                          <p:attrName>style.visibility</p:attrName>
                                        </p:attrNameLst>
                                      </p:cBhvr>
                                      <p:to>
                                        <p:strVal val="visible"/>
                                      </p:to>
                                    </p:set>
                                    <p:anim calcmode="lin" valueType="num">
                                      <p:cBhvr additive="base">
                                        <p:cTn id="57" dur="500" fill="hold"/>
                                        <p:tgtEl>
                                          <p:spTgt spid="79"/>
                                        </p:tgtEl>
                                        <p:attrNameLst>
                                          <p:attrName>ppt_x</p:attrName>
                                        </p:attrNameLst>
                                      </p:cBhvr>
                                      <p:tavLst>
                                        <p:tav tm="0">
                                          <p:val>
                                            <p:strVal val="#ppt_x"/>
                                          </p:val>
                                        </p:tav>
                                        <p:tav tm="100000">
                                          <p:val>
                                            <p:strVal val="#ppt_x"/>
                                          </p:val>
                                        </p:tav>
                                      </p:tavLst>
                                    </p:anim>
                                    <p:anim calcmode="lin" valueType="num">
                                      <p:cBhvr additive="base">
                                        <p:cTn id="58" dur="500" fill="hold"/>
                                        <p:tgtEl>
                                          <p:spTgt spid="79"/>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78"/>
                                        </p:tgtEl>
                                        <p:attrNameLst>
                                          <p:attrName>style.visibility</p:attrName>
                                        </p:attrNameLst>
                                      </p:cBhvr>
                                      <p:to>
                                        <p:strVal val="visible"/>
                                      </p:to>
                                    </p:set>
                                    <p:anim calcmode="lin" valueType="num">
                                      <p:cBhvr additive="base">
                                        <p:cTn id="61" dur="500" fill="hold"/>
                                        <p:tgtEl>
                                          <p:spTgt spid="78"/>
                                        </p:tgtEl>
                                        <p:attrNameLst>
                                          <p:attrName>ppt_x</p:attrName>
                                        </p:attrNameLst>
                                      </p:cBhvr>
                                      <p:tavLst>
                                        <p:tav tm="0">
                                          <p:val>
                                            <p:strVal val="#ppt_x"/>
                                          </p:val>
                                        </p:tav>
                                        <p:tav tm="100000">
                                          <p:val>
                                            <p:strVal val="#ppt_x"/>
                                          </p:val>
                                        </p:tav>
                                      </p:tavLst>
                                    </p:anim>
                                    <p:anim calcmode="lin" valueType="num">
                                      <p:cBhvr additive="base">
                                        <p:cTn id="6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8" grpId="0" animBg="1"/>
      <p:bldP spid="40" grpId="0" animBg="1"/>
      <p:bldP spid="42" grpId="0" animBg="1"/>
      <p:bldP spid="43" grpId="0" animBg="1"/>
      <p:bldP spid="45" grpId="0" animBg="1"/>
      <p:bldP spid="48" grpId="0" animBg="1"/>
      <p:bldP spid="77" grpId="0" animBg="1"/>
      <p:bldP spid="78" grpId="0" animBg="1"/>
      <p:bldP spid="79" grpId="0"/>
      <p:bldP spid="80" grpId="0"/>
      <p:bldP spid="81"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5.5.1 </a:t>
            </a:r>
            <a:r>
              <a:rPr kumimoji="1" lang="zh-CN" altLang="en-US" sz="3200" b="1" dirty="0">
                <a:latin typeface="Arial" charset="0"/>
                <a:ea typeface="宋体" charset="-122"/>
                <a:cs typeface="+mn-cs"/>
              </a:rPr>
              <a:t>线索二叉树的表示</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线索二叉树的相关概念</a:t>
            </a:r>
            <a:endParaRPr lang="en-US" altLang="zh-CN" sz="2800" b="1" dirty="0"/>
          </a:p>
        </p:txBody>
      </p:sp>
      <p:sp>
        <p:nvSpPr>
          <p:cNvPr id="4" name="日期占位符 3"/>
          <p:cNvSpPr>
            <a:spLocks noGrp="1"/>
          </p:cNvSpPr>
          <p:nvPr>
            <p:ph type="dt" sz="half" idx="10"/>
          </p:nvPr>
        </p:nvSpPr>
        <p:spPr/>
        <p:txBody>
          <a:bodyPr/>
          <a:lstStyle/>
          <a:p>
            <a:fld id="{A93F8A71-12EB-47CC-B3D9-F5B21F025129}"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88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
          <p:cNvSpPr txBox="1">
            <a:spLocks noChangeArrowheads="1"/>
          </p:cNvSpPr>
          <p:nvPr/>
        </p:nvSpPr>
        <p:spPr bwMode="auto">
          <a:xfrm>
            <a:off x="685800" y="1917700"/>
            <a:ext cx="7993063" cy="3949700"/>
          </a:xfrm>
          <a:prstGeom prst="rect">
            <a:avLst/>
          </a:prstGeom>
          <a:noFill/>
          <a:ln w="9525">
            <a:solidFill>
              <a:srgbClr val="336600"/>
            </a:solidFill>
            <a:miter lim="800000"/>
            <a:headEnd/>
            <a:tailEnd/>
          </a:ln>
        </p:spPr>
        <p:txBody>
          <a:bodyPr>
            <a:spAutoFit/>
          </a:bodyPr>
          <a:lstStyle/>
          <a:p>
            <a:pPr algn="just" fontAlgn="base">
              <a:lnSpc>
                <a:spcPct val="140000"/>
              </a:lnSpc>
              <a:spcBef>
                <a:spcPct val="20000"/>
              </a:spcBef>
              <a:spcAft>
                <a:spcPct val="0"/>
              </a:spcAft>
              <a:buFont typeface="Wingdings" pitchFamily="2" charset="2"/>
              <a:buChar char="Ø"/>
            </a:pPr>
            <a:r>
              <a:rPr kumimoji="1" lang="zh-CN" altLang="en-US" sz="2800" b="1">
                <a:solidFill>
                  <a:srgbClr val="FF3300"/>
                </a:solidFill>
                <a:latin typeface="宋体" pitchFamily="2" charset="-122"/>
              </a:rPr>
              <a:t>线索链表：</a:t>
            </a:r>
            <a:r>
              <a:rPr kumimoji="1" lang="zh-CN" altLang="en-US" sz="2800" b="1">
                <a:solidFill>
                  <a:srgbClr val="0000FF"/>
                </a:solidFill>
                <a:latin typeface="宋体" pitchFamily="2" charset="-122"/>
              </a:rPr>
              <a:t>以上述结点结构构成的二叉链表作为二叉树的存储结构，叫线索链表。</a:t>
            </a:r>
          </a:p>
          <a:p>
            <a:pPr algn="just" fontAlgn="base">
              <a:lnSpc>
                <a:spcPct val="140000"/>
              </a:lnSpc>
              <a:spcBef>
                <a:spcPct val="20000"/>
              </a:spcBef>
              <a:spcAft>
                <a:spcPct val="0"/>
              </a:spcAft>
              <a:buFont typeface="Wingdings" pitchFamily="2" charset="2"/>
              <a:buChar char="Ø"/>
            </a:pPr>
            <a:r>
              <a:rPr kumimoji="1" lang="zh-CN" altLang="en-US" sz="2800" b="1">
                <a:solidFill>
                  <a:srgbClr val="FF3300"/>
                </a:solidFill>
                <a:latin typeface="宋体" pitchFamily="2" charset="-122"/>
              </a:rPr>
              <a:t>线索：</a:t>
            </a:r>
            <a:r>
              <a:rPr kumimoji="1" lang="zh-CN" altLang="en-US" sz="2800" b="1">
                <a:solidFill>
                  <a:srgbClr val="0000FF"/>
                </a:solidFill>
                <a:latin typeface="宋体" pitchFamily="2" charset="-122"/>
              </a:rPr>
              <a:t>指向前驱和后继的指针。</a:t>
            </a:r>
          </a:p>
          <a:p>
            <a:pPr algn="just" fontAlgn="base">
              <a:lnSpc>
                <a:spcPct val="140000"/>
              </a:lnSpc>
              <a:spcBef>
                <a:spcPct val="20000"/>
              </a:spcBef>
              <a:spcAft>
                <a:spcPct val="0"/>
              </a:spcAft>
              <a:buFont typeface="Wingdings" pitchFamily="2" charset="2"/>
              <a:buChar char="Ø"/>
            </a:pPr>
            <a:r>
              <a:rPr kumimoji="1" lang="zh-CN" altLang="en-US" sz="2800" b="1">
                <a:solidFill>
                  <a:srgbClr val="FF3300"/>
                </a:solidFill>
                <a:latin typeface="宋体" pitchFamily="2" charset="-122"/>
              </a:rPr>
              <a:t>线索二叉树：</a:t>
            </a:r>
            <a:r>
              <a:rPr kumimoji="1" lang="zh-CN" altLang="en-US" sz="2800" b="1">
                <a:solidFill>
                  <a:srgbClr val="0000FF"/>
                </a:solidFill>
                <a:latin typeface="宋体" pitchFamily="2" charset="-122"/>
              </a:rPr>
              <a:t>采用双向链接结构表示的二叉树。</a:t>
            </a:r>
          </a:p>
          <a:p>
            <a:pPr algn="just" fontAlgn="base">
              <a:lnSpc>
                <a:spcPct val="140000"/>
              </a:lnSpc>
              <a:spcBef>
                <a:spcPct val="20000"/>
              </a:spcBef>
              <a:spcAft>
                <a:spcPct val="0"/>
              </a:spcAft>
              <a:buFont typeface="Wingdings" pitchFamily="2" charset="2"/>
              <a:buChar char="Ø"/>
            </a:pPr>
            <a:r>
              <a:rPr kumimoji="1" lang="zh-CN" altLang="en-US" sz="2800" b="1">
                <a:solidFill>
                  <a:srgbClr val="FF3300"/>
                </a:solidFill>
                <a:latin typeface="宋体" pitchFamily="2" charset="-122"/>
              </a:rPr>
              <a:t>线索化：</a:t>
            </a:r>
            <a:r>
              <a:rPr kumimoji="1" lang="zh-CN" altLang="en-US" sz="2800" b="1">
                <a:solidFill>
                  <a:srgbClr val="0000FF"/>
                </a:solidFill>
                <a:latin typeface="宋体" pitchFamily="2" charset="-122"/>
              </a:rPr>
              <a:t>对二叉树以某种次序遍历使其变为线索二叉树的过程。</a:t>
            </a:r>
          </a:p>
        </p:txBody>
      </p:sp>
    </p:spTree>
    <p:extLst>
      <p:ext uri="{BB962C8B-B14F-4D97-AF65-F5344CB8AC3E}">
        <p14:creationId xmlns:p14="http://schemas.microsoft.com/office/powerpoint/2010/main" val="1457732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  </a:t>
            </a:r>
            <a:r>
              <a:rPr kumimoji="1" lang="zh-CN" altLang="en-US" sz="3200" b="1" dirty="0">
                <a:latin typeface="Arial" charset="0"/>
                <a:ea typeface="宋体" charset="-122"/>
                <a:cs typeface="+mn-cs"/>
              </a:rPr>
              <a:t>线索二叉树</a:t>
            </a:r>
          </a:p>
        </p:txBody>
      </p:sp>
      <p:sp>
        <p:nvSpPr>
          <p:cNvPr id="3" name="内容占位符 2"/>
          <p:cNvSpPr>
            <a:spLocks noGrp="1"/>
          </p:cNvSpPr>
          <p:nvPr>
            <p:ph idx="1"/>
          </p:nvPr>
        </p:nvSpPr>
        <p:spPr>
          <a:xfrm>
            <a:off x="457200" y="1143000"/>
            <a:ext cx="8229600" cy="5105400"/>
          </a:xfrm>
        </p:spPr>
        <p:txBody>
          <a:bodyPr>
            <a:normAutofit/>
          </a:bodyPr>
          <a:lstStyle/>
          <a:p>
            <a:pPr marL="0" indent="0" fontAlgn="base">
              <a:lnSpc>
                <a:spcPct val="200000"/>
              </a:lnSpc>
              <a:spcBef>
                <a:spcPct val="0"/>
              </a:spcBef>
              <a:spcAft>
                <a:spcPct val="0"/>
              </a:spcAft>
              <a:buNone/>
            </a:pPr>
            <a:r>
              <a:rPr kumimoji="1" lang="zh-CN" altLang="en-US" b="1" dirty="0">
                <a:solidFill>
                  <a:srgbClr val="FF0000"/>
                </a:solidFill>
                <a:latin typeface="Times New Roman" pitchFamily="18" charset="0"/>
                <a:ea typeface="宋体" pitchFamily="2" charset="-122"/>
              </a:rPr>
              <a:t> </a:t>
            </a:r>
            <a:r>
              <a:rPr kumimoji="1" lang="en-US" altLang="zh-CN" b="1" dirty="0">
                <a:solidFill>
                  <a:srgbClr val="0707F9"/>
                </a:solidFill>
                <a:latin typeface="Times New Roman" pitchFamily="18" charset="0"/>
                <a:ea typeface="宋体" pitchFamily="2" charset="-122"/>
              </a:rPr>
              <a:t>5.5.1  </a:t>
            </a:r>
            <a:r>
              <a:rPr kumimoji="1" lang="zh-CN" altLang="en-US" b="1" dirty="0">
                <a:solidFill>
                  <a:srgbClr val="0707F9"/>
                </a:solidFill>
                <a:latin typeface="Times New Roman" pitchFamily="18" charset="0"/>
                <a:ea typeface="宋体" pitchFamily="2" charset="-122"/>
              </a:rPr>
              <a:t>线索二叉树的表示</a:t>
            </a:r>
          </a:p>
          <a:p>
            <a:pPr marL="0" indent="0" fontAlgn="base">
              <a:lnSpc>
                <a:spcPct val="200000"/>
              </a:lnSpc>
              <a:spcBef>
                <a:spcPct val="0"/>
              </a:spcBef>
              <a:spcAft>
                <a:spcPct val="0"/>
              </a:spcAft>
              <a:buNone/>
            </a:pPr>
            <a:r>
              <a:rPr kumimoji="1" lang="zh-CN" altLang="en-US" b="1" dirty="0">
                <a:solidFill>
                  <a:srgbClr val="FF0000"/>
                </a:solidFill>
                <a:latin typeface="Times New Roman" pitchFamily="18" charset="0"/>
                <a:ea typeface="宋体" pitchFamily="2" charset="-122"/>
              </a:rPr>
              <a:t> </a:t>
            </a:r>
            <a:r>
              <a:rPr kumimoji="1" lang="en-US" altLang="zh-CN" b="1" dirty="0">
                <a:solidFill>
                  <a:srgbClr val="FF0000"/>
                </a:solidFill>
                <a:latin typeface="Times New Roman" pitchFamily="18" charset="0"/>
                <a:ea typeface="宋体" pitchFamily="2" charset="-122"/>
              </a:rPr>
              <a:t>5.5.2  </a:t>
            </a:r>
            <a:r>
              <a:rPr kumimoji="1" lang="zh-CN" altLang="en-US" b="1" dirty="0">
                <a:solidFill>
                  <a:srgbClr val="FF0000"/>
                </a:solidFill>
                <a:latin typeface="Times New Roman" pitchFamily="18" charset="0"/>
                <a:ea typeface="宋体" pitchFamily="2" charset="-122"/>
              </a:rPr>
              <a:t>二叉树的线索化</a:t>
            </a:r>
          </a:p>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ea typeface="宋体" pitchFamily="2" charset="-122"/>
              </a:rPr>
              <a:t> </a:t>
            </a:r>
            <a:r>
              <a:rPr kumimoji="1" lang="en-US" altLang="zh-CN" b="1" dirty="0">
                <a:solidFill>
                  <a:srgbClr val="0707F9"/>
                </a:solidFill>
                <a:latin typeface="Times New Roman" pitchFamily="18" charset="0"/>
                <a:ea typeface="宋体" pitchFamily="2" charset="-122"/>
              </a:rPr>
              <a:t>5.5.3  </a:t>
            </a:r>
            <a:r>
              <a:rPr kumimoji="1" lang="zh-CN" altLang="en-US" b="1" dirty="0">
                <a:solidFill>
                  <a:srgbClr val="0707F9"/>
                </a:solidFill>
                <a:latin typeface="Times New Roman" pitchFamily="18" charset="0"/>
                <a:ea typeface="宋体" pitchFamily="2" charset="-122"/>
              </a:rPr>
              <a:t>线索二叉树的遍历</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A7A486FC-14C5-40A9-8A83-878CF899A646}"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89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37784124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二叉树的线索化</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关于线索二叉链表的头结点的设定方法</a:t>
            </a:r>
            <a:r>
              <a:rPr lang="en-US" altLang="zh-CN" sz="2800" b="1" dirty="0"/>
              <a:t>1</a:t>
            </a:r>
          </a:p>
        </p:txBody>
      </p:sp>
      <p:sp>
        <p:nvSpPr>
          <p:cNvPr id="4" name="日期占位符 3"/>
          <p:cNvSpPr>
            <a:spLocks noGrp="1"/>
          </p:cNvSpPr>
          <p:nvPr>
            <p:ph type="dt" sz="half" idx="10"/>
          </p:nvPr>
        </p:nvSpPr>
        <p:spPr/>
        <p:txBody>
          <a:bodyPr/>
          <a:lstStyle/>
          <a:p>
            <a:fld id="{0DD29EB3-74B0-438D-9B95-87DCC393B88E}"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90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
          <p:cNvSpPr txBox="1">
            <a:spLocks noChangeArrowheads="1"/>
          </p:cNvSpPr>
          <p:nvPr/>
        </p:nvSpPr>
        <p:spPr bwMode="auto">
          <a:xfrm>
            <a:off x="152400" y="5026025"/>
            <a:ext cx="8929687" cy="1298575"/>
          </a:xfrm>
          <a:prstGeom prst="rect">
            <a:avLst/>
          </a:prstGeom>
          <a:noFill/>
          <a:ln w="9525">
            <a:solidFill>
              <a:srgbClr val="04617B"/>
            </a:solidFill>
            <a:miter lim="800000"/>
            <a:headEnd/>
            <a:tailEnd/>
          </a:ln>
        </p:spPr>
        <p:txBody>
          <a:bodyPr>
            <a:spAutoFit/>
          </a:bodyPr>
          <a:lstStyle/>
          <a:p>
            <a:pPr marL="0" marR="0" lvl="0" indent="0" algn="just" defTabSz="914400" eaLnBrk="1" fontAlgn="base" latinLnBrk="0" hangingPunct="1">
              <a:lnSpc>
                <a:spcPct val="140000"/>
              </a:lnSpc>
              <a:spcBef>
                <a:spcPct val="0"/>
              </a:spcBef>
              <a:spcAft>
                <a:spcPct val="0"/>
              </a:spcAft>
              <a:buClrTx/>
              <a:buSzTx/>
              <a:buFontTx/>
              <a:buNone/>
              <a:tabLst/>
              <a:defRPr/>
            </a:pPr>
            <a:r>
              <a:rPr kumimoji="1" lang="zh-CN" altLang="en-US" sz="2800" b="1" i="0" u="none" strike="noStrike" kern="0" cap="none" spc="0" normalizeH="0" baseline="0" noProof="0">
                <a:ln>
                  <a:noFill/>
                </a:ln>
                <a:solidFill>
                  <a:srgbClr val="0000FF"/>
                </a:solidFill>
                <a:effectLst/>
                <a:uLnTx/>
                <a:uFillTx/>
                <a:latin typeface="Times New Roman" pitchFamily="18" charset="0"/>
              </a:rPr>
              <a:t>线索二叉树的头结点：在某种</a:t>
            </a:r>
            <a:r>
              <a:rPr kumimoji="1" lang="zh-CN" altLang="en-US" sz="2800" b="1" i="0" u="none" strike="noStrike" kern="0" cap="none" spc="0" normalizeH="0" baseline="0" noProof="0">
                <a:ln>
                  <a:noFill/>
                </a:ln>
                <a:solidFill>
                  <a:srgbClr val="FF0000"/>
                </a:solidFill>
                <a:effectLst/>
                <a:uLnTx/>
                <a:uFillTx/>
                <a:latin typeface="Times New Roman" pitchFamily="18" charset="0"/>
              </a:rPr>
              <a:t>遍历</a:t>
            </a:r>
            <a:r>
              <a:rPr kumimoji="1" lang="zh-CN" altLang="en-US" sz="2800" b="1" i="0" u="none" strike="noStrike" kern="0" cap="none" spc="0" normalizeH="0" baseline="0" noProof="0">
                <a:ln>
                  <a:noFill/>
                </a:ln>
                <a:solidFill>
                  <a:srgbClr val="0000FF"/>
                </a:solidFill>
                <a:effectLst/>
                <a:uLnTx/>
                <a:uFillTx/>
                <a:latin typeface="Times New Roman" pitchFamily="18" charset="0"/>
              </a:rPr>
              <a:t>下的</a:t>
            </a:r>
            <a:r>
              <a:rPr kumimoji="1" lang="zh-CN" altLang="en-US" sz="2800" b="1" i="0" u="none" strike="noStrike" kern="0" cap="none" spc="0" normalizeH="0" baseline="0" noProof="0">
                <a:ln>
                  <a:noFill/>
                </a:ln>
                <a:solidFill>
                  <a:srgbClr val="FF0000"/>
                </a:solidFill>
                <a:effectLst/>
                <a:uLnTx/>
                <a:uFillTx/>
                <a:latin typeface="Times New Roman" pitchFamily="18" charset="0"/>
              </a:rPr>
              <a:t>第一个</a:t>
            </a:r>
            <a:r>
              <a:rPr kumimoji="1" lang="zh-CN" altLang="en-US" sz="2800" b="1" i="0" u="none" strike="noStrike" kern="0" cap="none" spc="0" normalizeH="0" baseline="0" noProof="0">
                <a:ln>
                  <a:noFill/>
                </a:ln>
                <a:solidFill>
                  <a:srgbClr val="0000FF"/>
                </a:solidFill>
                <a:effectLst/>
                <a:uLnTx/>
                <a:uFillTx/>
                <a:latin typeface="Times New Roman" pitchFamily="18" charset="0"/>
              </a:rPr>
              <a:t>结点的</a:t>
            </a:r>
            <a:r>
              <a:rPr kumimoji="1" lang="zh-CN" altLang="en-US" sz="2800" b="1" i="0" u="none" strike="noStrike" kern="0" cap="none" spc="0" normalizeH="0" baseline="0" noProof="0">
                <a:ln>
                  <a:noFill/>
                </a:ln>
                <a:solidFill>
                  <a:srgbClr val="FF0000"/>
                </a:solidFill>
                <a:effectLst/>
                <a:uLnTx/>
                <a:uFillTx/>
                <a:latin typeface="Times New Roman" pitchFamily="18" charset="0"/>
              </a:rPr>
              <a:t>前驱</a:t>
            </a:r>
            <a:r>
              <a:rPr kumimoji="1" lang="zh-CN" altLang="en-US" sz="2800" b="1" i="0" u="none" strike="noStrike" kern="0" cap="none" spc="0" normalizeH="0" baseline="0" noProof="0">
                <a:ln>
                  <a:noFill/>
                </a:ln>
                <a:solidFill>
                  <a:srgbClr val="0000FF"/>
                </a:solidFill>
                <a:effectLst/>
                <a:uLnTx/>
                <a:uFillTx/>
                <a:latin typeface="Times New Roman" pitchFamily="18" charset="0"/>
              </a:rPr>
              <a:t>线索和</a:t>
            </a:r>
            <a:r>
              <a:rPr kumimoji="1" lang="zh-CN" altLang="en-US" sz="2800" b="1" i="0" u="none" strike="noStrike" kern="0" cap="none" spc="0" normalizeH="0" baseline="0" noProof="0">
                <a:ln>
                  <a:noFill/>
                </a:ln>
                <a:solidFill>
                  <a:srgbClr val="FF0000"/>
                </a:solidFill>
                <a:effectLst/>
                <a:uLnTx/>
                <a:uFillTx/>
                <a:latin typeface="Times New Roman" pitchFamily="18" charset="0"/>
              </a:rPr>
              <a:t>最后</a:t>
            </a:r>
            <a:r>
              <a:rPr kumimoji="1" lang="zh-CN" altLang="en-US" sz="2800" b="1" i="0" u="none" strike="noStrike" kern="0" cap="none" spc="0" normalizeH="0" baseline="0" noProof="0">
                <a:ln>
                  <a:noFill/>
                </a:ln>
                <a:solidFill>
                  <a:srgbClr val="0000FF"/>
                </a:solidFill>
                <a:effectLst/>
                <a:uLnTx/>
                <a:uFillTx/>
                <a:latin typeface="Times New Roman" pitchFamily="18" charset="0"/>
              </a:rPr>
              <a:t>一个结点的</a:t>
            </a:r>
            <a:r>
              <a:rPr kumimoji="1" lang="zh-CN" altLang="en-US" sz="2800" b="1" i="0" u="none" strike="noStrike" kern="0" cap="none" spc="0" normalizeH="0" baseline="0" noProof="0">
                <a:ln>
                  <a:noFill/>
                </a:ln>
                <a:solidFill>
                  <a:srgbClr val="FF0000"/>
                </a:solidFill>
                <a:effectLst/>
                <a:uLnTx/>
                <a:uFillTx/>
                <a:latin typeface="Times New Roman" pitchFamily="18" charset="0"/>
              </a:rPr>
              <a:t>后继</a:t>
            </a:r>
            <a:r>
              <a:rPr kumimoji="1" lang="zh-CN" altLang="en-US" sz="2800" b="1" i="0" u="none" strike="noStrike" kern="0" cap="none" spc="0" normalizeH="0" baseline="0" noProof="0">
                <a:ln>
                  <a:noFill/>
                </a:ln>
                <a:solidFill>
                  <a:srgbClr val="0000FF"/>
                </a:solidFill>
                <a:effectLst/>
                <a:uLnTx/>
                <a:uFillTx/>
                <a:latin typeface="Times New Roman" pitchFamily="18" charset="0"/>
              </a:rPr>
              <a:t>线索</a:t>
            </a:r>
            <a:r>
              <a:rPr kumimoji="1" lang="zh-CN" altLang="en-US" sz="2800" b="1" i="0" u="none" strike="noStrike" kern="0" cap="none" spc="0" normalizeH="0" baseline="0" noProof="0">
                <a:ln>
                  <a:noFill/>
                </a:ln>
                <a:solidFill>
                  <a:srgbClr val="FF0000"/>
                </a:solidFill>
                <a:effectLst/>
                <a:uLnTx/>
                <a:uFillTx/>
                <a:latin typeface="Times New Roman" pitchFamily="18" charset="0"/>
              </a:rPr>
              <a:t>均指向头结点</a:t>
            </a:r>
            <a:r>
              <a:rPr kumimoji="1" lang="zh-CN" altLang="en-US" sz="2800" b="1" i="0" u="none" strike="noStrike" kern="0" cap="none" spc="0" normalizeH="0" baseline="0" noProof="0">
                <a:ln>
                  <a:noFill/>
                </a:ln>
                <a:solidFill>
                  <a:srgbClr val="0000FF"/>
                </a:solidFill>
                <a:effectLst/>
                <a:uLnTx/>
                <a:uFillTx/>
                <a:latin typeface="Times New Roman" pitchFamily="18" charset="0"/>
              </a:rPr>
              <a:t>。</a:t>
            </a:r>
          </a:p>
        </p:txBody>
      </p:sp>
      <p:sp>
        <p:nvSpPr>
          <p:cNvPr id="14" name="双波形 13"/>
          <p:cNvSpPr/>
          <p:nvPr/>
        </p:nvSpPr>
        <p:spPr bwMode="auto">
          <a:xfrm>
            <a:off x="1081087" y="1752600"/>
            <a:ext cx="7143750" cy="1840409"/>
          </a:xfrm>
          <a:prstGeom prst="doubleWave">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800" b="1" i="0" u="none" strike="noStrike" kern="0" cap="none" spc="0" normalizeH="0" baseline="0" noProof="0" dirty="0">
                <a:ln>
                  <a:noFill/>
                </a:ln>
                <a:solidFill>
                  <a:srgbClr val="0000FF"/>
                </a:solidFill>
                <a:effectLst/>
                <a:uLnTx/>
                <a:uFillTx/>
                <a:latin typeface="Constantia"/>
                <a:ea typeface="宋体"/>
                <a:cs typeface="+mn-cs"/>
              </a:rPr>
              <a:t>线性链表</a:t>
            </a:r>
            <a:r>
              <a:rPr kumimoji="1" lang="en-US" altLang="zh-CN" sz="2800" b="1" i="0" u="none" strike="noStrike" kern="0" cap="none" spc="0" normalizeH="0" baseline="0" noProof="0" dirty="0">
                <a:ln>
                  <a:noFill/>
                </a:ln>
                <a:solidFill>
                  <a:srgbClr val="0000FF"/>
                </a:solidFill>
                <a:effectLst/>
                <a:uLnTx/>
                <a:uFillTx/>
                <a:latin typeface="Constantia"/>
                <a:ea typeface="宋体"/>
                <a:cs typeface="+mn-cs"/>
              </a:rPr>
              <a:t>:</a:t>
            </a:r>
            <a:r>
              <a:rPr kumimoji="1" lang="zh-CN" altLang="en-US" sz="2800" b="1" i="0" u="none" strike="noStrike" kern="0" cap="none" spc="0" normalizeH="0" baseline="0" noProof="0" dirty="0">
                <a:ln>
                  <a:noFill/>
                </a:ln>
                <a:solidFill>
                  <a:srgbClr val="0000FF"/>
                </a:solidFill>
                <a:effectLst/>
                <a:uLnTx/>
                <a:uFillTx/>
                <a:latin typeface="Constantia"/>
                <a:ea typeface="宋体"/>
                <a:cs typeface="+mn-cs"/>
              </a:rPr>
              <a:t>从单向链表</a:t>
            </a:r>
            <a:r>
              <a:rPr kumimoji="1" lang="en-US" altLang="zh-CN" sz="2800" b="1" i="0" u="none" strike="noStrike" kern="0" cap="none" spc="0" normalizeH="0" baseline="0" noProof="0" dirty="0">
                <a:ln>
                  <a:noFill/>
                </a:ln>
                <a:solidFill>
                  <a:srgbClr val="0000FF"/>
                </a:solidFill>
                <a:effectLst/>
                <a:uLnTx/>
                <a:uFillTx/>
                <a:latin typeface="Constantia"/>
                <a:ea typeface="宋体"/>
                <a:cs typeface="+mn-cs"/>
                <a:sym typeface="Wingdings" pitchFamily="2" charset="2"/>
              </a:rPr>
              <a:t></a:t>
            </a:r>
            <a:r>
              <a:rPr kumimoji="1" lang="zh-CN" altLang="en-US" sz="2800" b="1" i="0" u="none" strike="noStrike" kern="0" cap="none" spc="0" normalizeH="0" baseline="0" noProof="0" dirty="0">
                <a:ln>
                  <a:noFill/>
                </a:ln>
                <a:solidFill>
                  <a:srgbClr val="0000FF"/>
                </a:solidFill>
                <a:effectLst/>
                <a:uLnTx/>
                <a:uFillTx/>
                <a:latin typeface="Constantia"/>
                <a:ea typeface="宋体"/>
                <a:cs typeface="+mn-cs"/>
              </a:rPr>
              <a:t>双向链表</a:t>
            </a:r>
            <a:endParaRPr kumimoji="1" lang="en-US" altLang="zh-CN" sz="2800" b="1" i="0" u="none" strike="noStrike" kern="0" cap="none" spc="0" normalizeH="0" baseline="0" noProof="0" dirty="0">
              <a:ln>
                <a:noFill/>
              </a:ln>
              <a:solidFill>
                <a:srgbClr val="0000FF"/>
              </a:solidFill>
              <a:effectLst/>
              <a:uLnTx/>
              <a:uFillTx/>
              <a:latin typeface="Constantia"/>
              <a:ea typeface="宋体"/>
              <a:cs typeface="+mn-cs"/>
            </a:endParaRPr>
          </a:p>
          <a:p>
            <a:pPr marL="0" marR="0" lvl="0" indent="0" algn="ctr" defTabSz="914400" eaLnBrk="0" fontAlgn="base" latinLnBrk="0" hangingPunct="0">
              <a:lnSpc>
                <a:spcPct val="100000"/>
              </a:lnSpc>
              <a:spcBef>
                <a:spcPct val="0"/>
              </a:spcBef>
              <a:spcAft>
                <a:spcPct val="0"/>
              </a:spcAft>
              <a:buClrTx/>
              <a:buSzTx/>
              <a:buFontTx/>
              <a:buNone/>
              <a:tabLst/>
              <a:defRPr/>
            </a:pPr>
            <a:endParaRPr kumimoji="1" lang="en-US" altLang="zh-CN" sz="2800" b="1" i="0" u="none" strike="noStrike" kern="0" cap="none" spc="0" normalizeH="0" baseline="0" noProof="0" dirty="0">
              <a:ln>
                <a:noFill/>
              </a:ln>
              <a:solidFill>
                <a:srgbClr val="0000FF"/>
              </a:solidFill>
              <a:effectLst/>
              <a:uLnTx/>
              <a:uFillTx/>
              <a:latin typeface="Constantia"/>
              <a:ea typeface="宋体"/>
              <a:cs typeface="+mn-cs"/>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800" b="1" i="0" u="none" strike="noStrike" kern="0" cap="none" spc="0" normalizeH="0" baseline="0" noProof="0" dirty="0">
                <a:ln>
                  <a:noFill/>
                </a:ln>
                <a:solidFill>
                  <a:srgbClr val="0000FF"/>
                </a:solidFill>
                <a:effectLst/>
                <a:uLnTx/>
                <a:uFillTx/>
                <a:latin typeface="Constantia"/>
                <a:ea typeface="宋体"/>
                <a:cs typeface="+mn-cs"/>
              </a:rPr>
              <a:t>二叉树：二叉链表</a:t>
            </a:r>
            <a:r>
              <a:rPr kumimoji="1" lang="en-US" altLang="zh-CN" sz="2800" b="1" i="0" u="none" strike="noStrike" kern="0" cap="none" spc="0" normalizeH="0" baseline="0" noProof="0" dirty="0">
                <a:ln>
                  <a:noFill/>
                </a:ln>
                <a:solidFill>
                  <a:srgbClr val="0000FF"/>
                </a:solidFill>
                <a:effectLst/>
                <a:uLnTx/>
                <a:uFillTx/>
                <a:latin typeface="Constantia"/>
                <a:ea typeface="宋体"/>
                <a:cs typeface="+mn-cs"/>
                <a:sym typeface="Wingdings" pitchFamily="2" charset="2"/>
              </a:rPr>
              <a:t></a:t>
            </a:r>
            <a:r>
              <a:rPr kumimoji="1" lang="zh-CN" altLang="en-US" sz="2800" b="1" i="0" u="none" strike="noStrike" kern="0" cap="none" spc="0" normalizeH="0" baseline="0" noProof="0" dirty="0">
                <a:ln>
                  <a:noFill/>
                </a:ln>
                <a:solidFill>
                  <a:srgbClr val="0000FF"/>
                </a:solidFill>
                <a:effectLst/>
                <a:uLnTx/>
                <a:uFillTx/>
                <a:latin typeface="Constantia"/>
                <a:ea typeface="宋体"/>
                <a:cs typeface="+mn-cs"/>
                <a:sym typeface="Wingdings" pitchFamily="2" charset="2"/>
              </a:rPr>
              <a:t>线索</a:t>
            </a:r>
            <a:r>
              <a:rPr kumimoji="1" lang="zh-CN" altLang="en-US" sz="2800" b="1" i="0" u="none" strike="noStrike" kern="0" cap="none" spc="0" normalizeH="0" baseline="0" noProof="0" dirty="0">
                <a:ln>
                  <a:noFill/>
                </a:ln>
                <a:solidFill>
                  <a:srgbClr val="0000FF"/>
                </a:solidFill>
                <a:effectLst/>
                <a:uLnTx/>
                <a:uFillTx/>
                <a:latin typeface="Constantia"/>
                <a:ea typeface="宋体"/>
                <a:cs typeface="+mn-cs"/>
              </a:rPr>
              <a:t>二叉链表</a:t>
            </a:r>
          </a:p>
        </p:txBody>
      </p:sp>
      <p:sp>
        <p:nvSpPr>
          <p:cNvPr id="15" name="线形标注 2 14"/>
          <p:cNvSpPr/>
          <p:nvPr/>
        </p:nvSpPr>
        <p:spPr bwMode="auto">
          <a:xfrm>
            <a:off x="3438525" y="3799582"/>
            <a:ext cx="2143125" cy="1077218"/>
          </a:xfrm>
          <a:prstGeom prst="borderCallout2">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200" b="0" i="0" u="none" strike="noStrike" kern="0" cap="none" spc="0" normalizeH="0" baseline="0" noProof="0" dirty="0">
                <a:ln>
                  <a:noFill/>
                </a:ln>
                <a:solidFill>
                  <a:srgbClr val="000000"/>
                </a:solidFill>
                <a:effectLst/>
                <a:uLnTx/>
                <a:uFillTx/>
                <a:latin typeface="Times New Roman" pitchFamily="18" charset="0"/>
                <a:ea typeface="宋体"/>
                <a:cs typeface="+mn-cs"/>
              </a:rPr>
              <a:t>如何设定头结点？</a:t>
            </a:r>
          </a:p>
        </p:txBody>
      </p:sp>
    </p:spTree>
    <p:extLst>
      <p:ext uri="{BB962C8B-B14F-4D97-AF65-F5344CB8AC3E}">
        <p14:creationId xmlns:p14="http://schemas.microsoft.com/office/powerpoint/2010/main" val="1566428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二叉树的线索化</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关于线索二叉链表的头结点的设定方法</a:t>
            </a:r>
            <a:r>
              <a:rPr lang="en-US" altLang="zh-CN" sz="2800" b="1" dirty="0"/>
              <a:t>1</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A22F0FF7-A1A8-46B2-80D0-31A453DC200C}"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91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
          <p:cNvSpPr txBox="1">
            <a:spLocks noChangeArrowheads="1"/>
          </p:cNvSpPr>
          <p:nvPr/>
        </p:nvSpPr>
        <p:spPr bwMode="auto">
          <a:xfrm>
            <a:off x="152400" y="1746250"/>
            <a:ext cx="8929687" cy="1227137"/>
          </a:xfrm>
          <a:prstGeom prst="rect">
            <a:avLst/>
          </a:prstGeom>
          <a:noFill/>
          <a:ln w="9525">
            <a:solidFill>
              <a:srgbClr val="04617B"/>
            </a:solidFill>
            <a:miter lim="800000"/>
            <a:headEnd/>
            <a:tailEnd/>
          </a:ln>
        </p:spPr>
        <p:txBody>
          <a:bodyPr>
            <a:spAutoFit/>
          </a:bodyPr>
          <a:lstStyle/>
          <a:p>
            <a:pPr marL="0" marR="0" lvl="0" indent="0" algn="just" defTabSz="914400" eaLnBrk="1" fontAlgn="base" latinLnBrk="0" hangingPunct="1">
              <a:lnSpc>
                <a:spcPct val="140000"/>
              </a:lnSpc>
              <a:spcBef>
                <a:spcPct val="0"/>
              </a:spcBef>
              <a:spcAft>
                <a:spcPct val="0"/>
              </a:spcAft>
              <a:buClrTx/>
              <a:buSzTx/>
              <a:buFontTx/>
              <a:buNone/>
              <a:tabLst/>
              <a:defRPr/>
            </a:pPr>
            <a:r>
              <a:rPr kumimoji="1" lang="zh-CN" altLang="en-US" sz="2800" b="1" i="0" u="none" strike="noStrike" kern="0" cap="none" spc="0" normalizeH="0" baseline="0" noProof="0" dirty="0">
                <a:ln>
                  <a:noFill/>
                </a:ln>
                <a:solidFill>
                  <a:srgbClr val="0000FF"/>
                </a:solidFill>
                <a:effectLst/>
                <a:uLnTx/>
                <a:uFillTx/>
                <a:latin typeface="Times New Roman" pitchFamily="18" charset="0"/>
              </a:rPr>
              <a:t>申请头结点：在</a:t>
            </a:r>
            <a:r>
              <a:rPr kumimoji="1" lang="zh-CN" altLang="en-US" sz="2800" b="1" i="0" u="none" strike="noStrike" kern="0" cap="none" spc="0" normalizeH="0" baseline="0" noProof="0" dirty="0">
                <a:ln>
                  <a:noFill/>
                </a:ln>
                <a:solidFill>
                  <a:srgbClr val="FF0000"/>
                </a:solidFill>
                <a:effectLst/>
                <a:uLnTx/>
                <a:uFillTx/>
                <a:latin typeface="Times New Roman" pitchFamily="18" charset="0"/>
              </a:rPr>
              <a:t>存储</a:t>
            </a:r>
            <a:r>
              <a:rPr kumimoji="1" lang="zh-CN" altLang="en-US" sz="2800" b="1" i="0" u="none" strike="noStrike" kern="0" cap="none" spc="0" normalizeH="0" baseline="0" noProof="0" dirty="0">
                <a:ln>
                  <a:noFill/>
                </a:ln>
                <a:solidFill>
                  <a:srgbClr val="0000FF"/>
                </a:solidFill>
                <a:effectLst/>
                <a:uLnTx/>
                <a:uFillTx/>
                <a:latin typeface="Times New Roman" pitchFamily="18" charset="0"/>
              </a:rPr>
              <a:t>线索二叉树时增设一个头结点，令其</a:t>
            </a:r>
            <a:r>
              <a:rPr kumimoji="1" lang="en-US" altLang="zh-CN" sz="2800" b="1" i="0" u="none" strike="noStrike" kern="0" cap="none" spc="0" normalizeH="0" baseline="0" noProof="0" dirty="0" err="1">
                <a:ln>
                  <a:noFill/>
                </a:ln>
                <a:solidFill>
                  <a:srgbClr val="0000FF"/>
                </a:solidFill>
                <a:effectLst/>
                <a:uLnTx/>
                <a:uFillTx/>
                <a:latin typeface="Times New Roman" pitchFamily="18" charset="0"/>
              </a:rPr>
              <a:t>lchild</a:t>
            </a:r>
            <a:r>
              <a:rPr kumimoji="1" lang="zh-CN" altLang="en-US" sz="2800" b="1" i="0" u="none" strike="noStrike" kern="0" cap="none" spc="0" normalizeH="0" baseline="0" noProof="0" dirty="0">
                <a:ln>
                  <a:noFill/>
                </a:ln>
                <a:solidFill>
                  <a:srgbClr val="0000FF"/>
                </a:solidFill>
                <a:effectLst/>
                <a:uLnTx/>
                <a:uFillTx/>
                <a:latin typeface="Times New Roman" pitchFamily="18" charset="0"/>
              </a:rPr>
              <a:t>指向二叉树的根结点，其</a:t>
            </a:r>
            <a:r>
              <a:rPr kumimoji="1" lang="en-US" altLang="zh-CN" sz="2800" b="1" i="0" u="none" strike="noStrike" kern="0" cap="none" spc="0" normalizeH="0" baseline="0" noProof="0" dirty="0" err="1">
                <a:ln>
                  <a:noFill/>
                </a:ln>
                <a:solidFill>
                  <a:srgbClr val="0000FF"/>
                </a:solidFill>
                <a:effectLst/>
                <a:uLnTx/>
                <a:uFillTx/>
                <a:latin typeface="Times New Roman" pitchFamily="18" charset="0"/>
              </a:rPr>
              <a:t>rchild</a:t>
            </a:r>
            <a:r>
              <a:rPr kumimoji="1" lang="zh-CN" altLang="en-US" sz="2800" b="1" i="0" u="none" strike="noStrike" kern="0" cap="none" spc="0" normalizeH="0" baseline="0" noProof="0" dirty="0">
                <a:ln>
                  <a:noFill/>
                </a:ln>
                <a:solidFill>
                  <a:srgbClr val="0000FF"/>
                </a:solidFill>
                <a:effectLst/>
                <a:uLnTx/>
                <a:uFillTx/>
                <a:latin typeface="Times New Roman" pitchFamily="18" charset="0"/>
              </a:rPr>
              <a:t>指向自身。</a:t>
            </a:r>
          </a:p>
        </p:txBody>
      </p:sp>
      <p:sp>
        <p:nvSpPr>
          <p:cNvPr id="14" name="Text Box 3"/>
          <p:cNvSpPr txBox="1">
            <a:spLocks noChangeArrowheads="1"/>
          </p:cNvSpPr>
          <p:nvPr/>
        </p:nvSpPr>
        <p:spPr bwMode="auto">
          <a:xfrm>
            <a:off x="0" y="3657757"/>
            <a:ext cx="4757737" cy="2117632"/>
          </a:xfrm>
          <a:prstGeom prst="rect">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lIns="90000" tIns="46800" rIns="90000" bIns="46800">
            <a:spAutoFit/>
          </a:bodyPr>
          <a:lstStyle/>
          <a:p>
            <a:pPr marL="0" marR="0" lvl="0" indent="0" defTabSz="914400" eaLnBrk="1" fontAlgn="base" latinLnBrk="0" hangingPunct="1">
              <a:lnSpc>
                <a:spcPct val="120000"/>
              </a:lnSpc>
              <a:spcBef>
                <a:spcPct val="0"/>
              </a:spcBef>
              <a:spcAft>
                <a:spcPct val="0"/>
              </a:spcAft>
              <a:buClrTx/>
              <a:buSzTx/>
              <a:buFontTx/>
              <a:buNone/>
              <a:tabLst/>
              <a:defRPr/>
            </a:pPr>
            <a:r>
              <a:rPr kumimoji="1" lang="zh-CN" altLang="en-US" sz="2800" b="1" i="0" u="none" strike="noStrike" kern="0" cap="none" spc="0" normalizeH="0" baseline="0" noProof="0" dirty="0">
                <a:ln>
                  <a:noFill/>
                </a:ln>
                <a:solidFill>
                  <a:srgbClr val="FFFF00"/>
                </a:solidFill>
                <a:effectLst/>
                <a:uLnTx/>
                <a:uFillTx/>
                <a:latin typeface="Times New Roman"/>
                <a:ea typeface="宋体"/>
                <a:cs typeface="+mn-cs"/>
              </a:rPr>
              <a:t> </a:t>
            </a:r>
            <a:r>
              <a:rPr kumimoji="1" lang="en-US" altLang="zh-CN" sz="2800" b="1" i="0" u="none" strike="noStrike" kern="0" cap="none" spc="0" normalizeH="0" baseline="0" noProof="0" dirty="0">
                <a:ln>
                  <a:noFill/>
                </a:ln>
                <a:solidFill>
                  <a:srgbClr val="0000FF"/>
                </a:solidFill>
                <a:effectLst/>
                <a:uLnTx/>
                <a:uFillTx/>
                <a:latin typeface="Times New Roman"/>
                <a:ea typeface="宋体"/>
                <a:cs typeface="+mn-cs"/>
              </a:rPr>
              <a:t>head-&gt;</a:t>
            </a:r>
            <a:r>
              <a:rPr kumimoji="1" lang="en-US" altLang="zh-CN" sz="2800" b="1" i="0" u="none" strike="noStrike" kern="0" cap="none" spc="0" normalizeH="0" baseline="0" noProof="0" dirty="0" err="1">
                <a:ln>
                  <a:noFill/>
                </a:ln>
                <a:solidFill>
                  <a:srgbClr val="0000FF"/>
                </a:solidFill>
                <a:effectLst/>
                <a:uLnTx/>
                <a:uFillTx/>
                <a:latin typeface="Times New Roman"/>
                <a:ea typeface="宋体"/>
                <a:cs typeface="+mn-cs"/>
              </a:rPr>
              <a:t>lch</a:t>
            </a:r>
            <a:r>
              <a:rPr kumimoji="1" lang="en-US" altLang="zh-CN" sz="2800" b="1" i="0" u="none" strike="noStrike" kern="0" cap="none" spc="0" normalizeH="0" baseline="0" noProof="0" dirty="0">
                <a:ln>
                  <a:noFill/>
                </a:ln>
                <a:solidFill>
                  <a:srgbClr val="0000FF"/>
                </a:solidFill>
                <a:effectLst/>
                <a:uLnTx/>
                <a:uFillTx/>
                <a:latin typeface="Times New Roman"/>
                <a:ea typeface="宋体"/>
                <a:cs typeface="+mn-cs"/>
              </a:rPr>
              <a:t> = T (</a:t>
            </a:r>
            <a:r>
              <a:rPr kumimoji="1" lang="zh-CN" altLang="en-US" sz="2800" b="1" i="0" u="none" strike="noStrike" kern="0" cap="none" spc="0" normalizeH="0" baseline="0" noProof="0" dirty="0">
                <a:ln>
                  <a:noFill/>
                </a:ln>
                <a:solidFill>
                  <a:srgbClr val="0000FF"/>
                </a:solidFill>
                <a:effectLst/>
                <a:uLnTx/>
                <a:uFillTx/>
                <a:latin typeface="Times New Roman"/>
                <a:ea typeface="宋体"/>
                <a:cs typeface="+mn-cs"/>
              </a:rPr>
              <a:t>二叉树的根</a:t>
            </a:r>
            <a:r>
              <a:rPr kumimoji="1" lang="en-US" altLang="zh-CN" sz="2800" b="1" i="0" u="none" strike="noStrike" kern="0" cap="none" spc="0" normalizeH="0" baseline="0" noProof="0" dirty="0">
                <a:ln>
                  <a:noFill/>
                </a:ln>
                <a:solidFill>
                  <a:srgbClr val="0000FF"/>
                </a:solidFill>
                <a:effectLst/>
                <a:uLnTx/>
                <a:uFillTx/>
                <a:latin typeface="Times New Roman"/>
                <a:ea typeface="宋体"/>
                <a:cs typeface="+mn-cs"/>
              </a:rPr>
              <a:t>) ;</a:t>
            </a:r>
          </a:p>
          <a:p>
            <a:pPr marL="0" marR="0" lvl="0" indent="0" defTabSz="914400" eaLnBrk="1" fontAlgn="base" latinLnBrk="0" hangingPunct="1">
              <a:lnSpc>
                <a:spcPct val="120000"/>
              </a:lnSpc>
              <a:spcBef>
                <a:spcPct val="0"/>
              </a:spcBef>
              <a:spcAft>
                <a:spcPct val="0"/>
              </a:spcAft>
              <a:buClrTx/>
              <a:buSzTx/>
              <a:buFontTx/>
              <a:buNone/>
              <a:tabLst/>
              <a:defRPr/>
            </a:pPr>
            <a:r>
              <a:rPr kumimoji="1" lang="en-US" altLang="zh-CN" sz="2800" b="1" i="0" u="none" strike="noStrike" kern="0" cap="none" spc="0" normalizeH="0" baseline="0" noProof="0" dirty="0">
                <a:ln>
                  <a:noFill/>
                </a:ln>
                <a:solidFill>
                  <a:srgbClr val="0000FF"/>
                </a:solidFill>
                <a:effectLst/>
                <a:uLnTx/>
                <a:uFillTx/>
                <a:latin typeface="Times New Roman"/>
                <a:ea typeface="宋体"/>
                <a:cs typeface="+mn-cs"/>
              </a:rPr>
              <a:t>  head-&gt;</a:t>
            </a:r>
            <a:r>
              <a:rPr kumimoji="1" lang="en-US" altLang="zh-CN" sz="2800" b="1" i="0" u="none" strike="noStrike" kern="0" cap="none" spc="0" normalizeH="0" baseline="0" noProof="0" dirty="0" err="1">
                <a:ln>
                  <a:noFill/>
                </a:ln>
                <a:solidFill>
                  <a:srgbClr val="0000FF"/>
                </a:solidFill>
                <a:effectLst/>
                <a:uLnTx/>
                <a:uFillTx/>
                <a:latin typeface="Times New Roman"/>
                <a:ea typeface="宋体"/>
                <a:cs typeface="+mn-cs"/>
              </a:rPr>
              <a:t>rch</a:t>
            </a:r>
            <a:r>
              <a:rPr kumimoji="1" lang="en-US" altLang="zh-CN" sz="2800" b="1" i="0" u="none" strike="noStrike" kern="0" cap="none" spc="0" normalizeH="0" baseline="0" noProof="0" dirty="0">
                <a:ln>
                  <a:noFill/>
                </a:ln>
                <a:solidFill>
                  <a:srgbClr val="0000FF"/>
                </a:solidFill>
                <a:effectLst/>
                <a:uLnTx/>
                <a:uFillTx/>
                <a:latin typeface="Times New Roman"/>
                <a:ea typeface="宋体"/>
                <a:cs typeface="+mn-cs"/>
              </a:rPr>
              <a:t> = head ;</a:t>
            </a:r>
          </a:p>
          <a:p>
            <a:pPr marL="0" marR="0" lvl="0" indent="0" defTabSz="914400" eaLnBrk="1" fontAlgn="base" latinLnBrk="0" hangingPunct="1">
              <a:lnSpc>
                <a:spcPct val="120000"/>
              </a:lnSpc>
              <a:spcBef>
                <a:spcPct val="0"/>
              </a:spcBef>
              <a:spcAft>
                <a:spcPct val="0"/>
              </a:spcAft>
              <a:buClrTx/>
              <a:buSzTx/>
              <a:buFontTx/>
              <a:buNone/>
              <a:tabLst/>
              <a:defRPr/>
            </a:pPr>
            <a:r>
              <a:rPr kumimoji="1" lang="en-US" altLang="zh-CN" sz="2800" b="1" i="0" u="none" strike="noStrike" kern="0" cap="none" spc="0" normalizeH="0" baseline="0" noProof="0" dirty="0">
                <a:ln>
                  <a:noFill/>
                </a:ln>
                <a:solidFill>
                  <a:srgbClr val="0000FF"/>
                </a:solidFill>
                <a:effectLst/>
                <a:uLnTx/>
                <a:uFillTx/>
                <a:latin typeface="Times New Roman"/>
                <a:ea typeface="宋体"/>
                <a:cs typeface="+mn-cs"/>
              </a:rPr>
              <a:t>  head-&gt;</a:t>
            </a:r>
            <a:r>
              <a:rPr kumimoji="1" lang="en-US" altLang="zh-CN" sz="2800" b="1" i="0" u="none" strike="noStrike" kern="0" cap="none" spc="0" normalizeH="0" baseline="0" noProof="0" dirty="0" err="1">
                <a:ln>
                  <a:noFill/>
                </a:ln>
                <a:solidFill>
                  <a:srgbClr val="0000FF"/>
                </a:solidFill>
                <a:effectLst/>
                <a:uLnTx/>
                <a:uFillTx/>
                <a:latin typeface="Times New Roman"/>
                <a:ea typeface="宋体"/>
                <a:cs typeface="+mn-cs"/>
              </a:rPr>
              <a:t>ltag</a:t>
            </a:r>
            <a:r>
              <a:rPr kumimoji="1" lang="en-US" altLang="zh-CN" sz="2800" b="1" i="0" u="none" strike="noStrike" kern="0" cap="none" spc="0" normalizeH="0" baseline="0" noProof="0" dirty="0">
                <a:ln>
                  <a:noFill/>
                </a:ln>
                <a:solidFill>
                  <a:srgbClr val="0000FF"/>
                </a:solidFill>
                <a:effectLst/>
                <a:uLnTx/>
                <a:uFillTx/>
                <a:latin typeface="Times New Roman"/>
                <a:ea typeface="宋体"/>
                <a:cs typeface="+mn-cs"/>
              </a:rPr>
              <a:t> = 0 ;</a:t>
            </a:r>
          </a:p>
          <a:p>
            <a:pPr marL="0" marR="0" lvl="0" indent="0" defTabSz="914400" eaLnBrk="1" fontAlgn="base" latinLnBrk="0" hangingPunct="1">
              <a:lnSpc>
                <a:spcPct val="120000"/>
              </a:lnSpc>
              <a:spcBef>
                <a:spcPct val="0"/>
              </a:spcBef>
              <a:spcAft>
                <a:spcPct val="0"/>
              </a:spcAft>
              <a:buClrTx/>
              <a:buSzTx/>
              <a:buFontTx/>
              <a:buNone/>
              <a:tabLst/>
              <a:defRPr/>
            </a:pPr>
            <a:r>
              <a:rPr kumimoji="1" lang="en-US" altLang="zh-CN" sz="2800" b="1" i="0" u="none" strike="noStrike" kern="0" cap="none" spc="0" normalizeH="0" baseline="0" noProof="0" dirty="0">
                <a:ln>
                  <a:noFill/>
                </a:ln>
                <a:solidFill>
                  <a:srgbClr val="0000FF"/>
                </a:solidFill>
                <a:effectLst/>
                <a:uLnTx/>
                <a:uFillTx/>
                <a:latin typeface="Times New Roman"/>
                <a:ea typeface="宋体"/>
                <a:cs typeface="+mn-cs"/>
              </a:rPr>
              <a:t>  head-&gt;</a:t>
            </a:r>
            <a:r>
              <a:rPr kumimoji="1" lang="en-US" altLang="zh-CN" sz="2800" b="1" i="0" u="none" strike="noStrike" kern="0" cap="none" spc="0" normalizeH="0" baseline="0" noProof="0" dirty="0" err="1">
                <a:ln>
                  <a:noFill/>
                </a:ln>
                <a:solidFill>
                  <a:srgbClr val="0000FF"/>
                </a:solidFill>
                <a:effectLst/>
                <a:uLnTx/>
                <a:uFillTx/>
                <a:latin typeface="Times New Roman"/>
                <a:ea typeface="宋体"/>
                <a:cs typeface="+mn-cs"/>
              </a:rPr>
              <a:t>rtag</a:t>
            </a:r>
            <a:r>
              <a:rPr kumimoji="1" lang="en-US" altLang="zh-CN" sz="2800" b="1" i="0" u="none" strike="noStrike" kern="0" cap="none" spc="0" normalizeH="0" baseline="0" noProof="0" dirty="0">
                <a:ln>
                  <a:noFill/>
                </a:ln>
                <a:solidFill>
                  <a:srgbClr val="0000FF"/>
                </a:solidFill>
                <a:effectLst/>
                <a:uLnTx/>
                <a:uFillTx/>
                <a:latin typeface="Times New Roman"/>
                <a:ea typeface="宋体"/>
                <a:cs typeface="+mn-cs"/>
              </a:rPr>
              <a:t> = 0 ;</a:t>
            </a:r>
          </a:p>
        </p:txBody>
      </p:sp>
      <p:sp>
        <p:nvSpPr>
          <p:cNvPr id="15" name="Text Box 6"/>
          <p:cNvSpPr txBox="1">
            <a:spLocks noChangeArrowheads="1"/>
          </p:cNvSpPr>
          <p:nvPr/>
        </p:nvSpPr>
        <p:spPr bwMode="auto">
          <a:xfrm>
            <a:off x="4876800" y="3633787"/>
            <a:ext cx="4114800" cy="2271841"/>
          </a:xfrm>
          <a:prstGeom prst="rect">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wrap="square" lIns="90000" tIns="46800" rIns="90000" bIns="46800">
            <a:spAutoFit/>
          </a:bodyPr>
          <a:lstStyle/>
          <a:p>
            <a:pPr marL="0" marR="0" lvl="0" indent="0" defTabSz="914400" eaLnBrk="1" fontAlgn="base" latinLnBrk="0" hangingPunct="1">
              <a:lnSpc>
                <a:spcPct val="12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Times New Roman"/>
                <a:ea typeface="宋体"/>
                <a:cs typeface="+mn-cs"/>
              </a:rPr>
              <a:t>当线索树为空时：</a:t>
            </a:r>
          </a:p>
          <a:p>
            <a:pPr marL="0" marR="0" lvl="0" indent="0" defTabSz="914400" eaLnBrk="1" fontAlgn="base" latinLnBrk="0" hangingPunct="1">
              <a:lnSpc>
                <a:spcPct val="12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Times New Roman"/>
                <a:ea typeface="宋体"/>
                <a:cs typeface="+mn-cs"/>
              </a:rPr>
              <a:t>        </a:t>
            </a:r>
            <a:r>
              <a:rPr kumimoji="1" lang="en-US" altLang="zh-CN" sz="2400" b="1" i="0" u="none" strike="noStrike" kern="0" cap="none" spc="0" normalizeH="0" baseline="0" noProof="0" dirty="0">
                <a:ln>
                  <a:noFill/>
                </a:ln>
                <a:solidFill>
                  <a:srgbClr val="0000FF"/>
                </a:solidFill>
                <a:effectLst/>
                <a:uLnTx/>
                <a:uFillTx/>
                <a:latin typeface="Times New Roman"/>
                <a:ea typeface="宋体"/>
                <a:cs typeface="+mn-cs"/>
              </a:rPr>
              <a:t>head-&gt;</a:t>
            </a:r>
            <a:r>
              <a:rPr kumimoji="1" lang="en-US" altLang="zh-CN" sz="2400" b="1" i="0" u="none" strike="noStrike" kern="0" cap="none" spc="0" normalizeH="0" baseline="0" noProof="0" dirty="0" err="1">
                <a:ln>
                  <a:noFill/>
                </a:ln>
                <a:solidFill>
                  <a:srgbClr val="0000FF"/>
                </a:solidFill>
                <a:effectLst/>
                <a:uLnTx/>
                <a:uFillTx/>
                <a:latin typeface="Times New Roman"/>
                <a:ea typeface="宋体"/>
                <a:cs typeface="+mn-cs"/>
              </a:rPr>
              <a:t>lch</a:t>
            </a:r>
            <a:r>
              <a:rPr kumimoji="1" lang="en-US" altLang="zh-CN" sz="2400" b="1" i="0" u="none" strike="noStrike" kern="0" cap="none" spc="0" normalizeH="0" baseline="0" noProof="0" dirty="0">
                <a:ln>
                  <a:noFill/>
                </a:ln>
                <a:solidFill>
                  <a:srgbClr val="0000FF"/>
                </a:solidFill>
                <a:effectLst/>
                <a:uLnTx/>
                <a:uFillTx/>
                <a:latin typeface="Times New Roman"/>
                <a:ea typeface="宋体"/>
                <a:cs typeface="+mn-cs"/>
              </a:rPr>
              <a:t> = head ;</a:t>
            </a:r>
          </a:p>
          <a:p>
            <a:pPr marL="0" marR="0" lvl="0" indent="0" defTabSz="914400" eaLnBrk="1" fontAlgn="base" latinLnBrk="0" hangingPunct="1">
              <a:lnSpc>
                <a:spcPct val="12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FF"/>
                </a:solidFill>
                <a:effectLst/>
                <a:uLnTx/>
                <a:uFillTx/>
                <a:latin typeface="Times New Roman"/>
                <a:ea typeface="宋体"/>
                <a:cs typeface="+mn-cs"/>
              </a:rPr>
              <a:t>        head-&gt;</a:t>
            </a:r>
            <a:r>
              <a:rPr kumimoji="1" lang="en-US" altLang="zh-CN" sz="2400" b="1" i="0" u="none" strike="noStrike" kern="0" cap="none" spc="0" normalizeH="0" baseline="0" noProof="0" dirty="0" err="1">
                <a:ln>
                  <a:noFill/>
                </a:ln>
                <a:solidFill>
                  <a:srgbClr val="0000FF"/>
                </a:solidFill>
                <a:effectLst/>
                <a:uLnTx/>
                <a:uFillTx/>
                <a:latin typeface="Times New Roman"/>
                <a:ea typeface="宋体"/>
                <a:cs typeface="+mn-cs"/>
              </a:rPr>
              <a:t>rch</a:t>
            </a:r>
            <a:r>
              <a:rPr kumimoji="1" lang="en-US" altLang="zh-CN" sz="2400" b="1" i="0" u="none" strike="noStrike" kern="0" cap="none" spc="0" normalizeH="0" baseline="0" noProof="0" dirty="0">
                <a:ln>
                  <a:noFill/>
                </a:ln>
                <a:solidFill>
                  <a:srgbClr val="0000FF"/>
                </a:solidFill>
                <a:effectLst/>
                <a:uLnTx/>
                <a:uFillTx/>
                <a:latin typeface="Times New Roman"/>
                <a:ea typeface="宋体"/>
                <a:cs typeface="+mn-cs"/>
              </a:rPr>
              <a:t> = head ;</a:t>
            </a:r>
          </a:p>
          <a:p>
            <a:pPr marL="0" marR="0" lvl="0" indent="0" defTabSz="914400" eaLnBrk="1" fontAlgn="base" latinLnBrk="0" hangingPunct="1">
              <a:lnSpc>
                <a:spcPct val="12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FF"/>
                </a:solidFill>
                <a:effectLst/>
                <a:uLnTx/>
                <a:uFillTx/>
                <a:latin typeface="Times New Roman"/>
                <a:ea typeface="宋体"/>
                <a:cs typeface="+mn-cs"/>
              </a:rPr>
              <a:t>        head-&gt;</a:t>
            </a:r>
            <a:r>
              <a:rPr kumimoji="1" lang="en-US" altLang="zh-CN" sz="2400" b="1" i="0" u="none" strike="noStrike" kern="0" cap="none" spc="0" normalizeH="0" baseline="0" noProof="0" dirty="0" err="1">
                <a:ln>
                  <a:noFill/>
                </a:ln>
                <a:solidFill>
                  <a:srgbClr val="0000FF"/>
                </a:solidFill>
                <a:effectLst/>
                <a:uLnTx/>
                <a:uFillTx/>
                <a:latin typeface="Times New Roman"/>
                <a:ea typeface="宋体"/>
                <a:cs typeface="+mn-cs"/>
              </a:rPr>
              <a:t>ltag</a:t>
            </a:r>
            <a:r>
              <a:rPr kumimoji="1" lang="en-US" altLang="zh-CN" sz="2400" b="1" i="0" u="none" strike="noStrike" kern="0" cap="none" spc="0" normalizeH="0" baseline="0" noProof="0" dirty="0">
                <a:ln>
                  <a:noFill/>
                </a:ln>
                <a:solidFill>
                  <a:srgbClr val="0000FF"/>
                </a:solidFill>
                <a:effectLst/>
                <a:uLnTx/>
                <a:uFillTx/>
                <a:latin typeface="Times New Roman"/>
                <a:ea typeface="宋体"/>
                <a:cs typeface="+mn-cs"/>
              </a:rPr>
              <a:t> = 1 ;</a:t>
            </a:r>
          </a:p>
          <a:p>
            <a:pPr marL="0" marR="0" lvl="0" indent="0" defTabSz="914400" eaLnBrk="1" fontAlgn="base" latinLnBrk="0" hangingPunct="1">
              <a:lnSpc>
                <a:spcPct val="12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FF"/>
                </a:solidFill>
                <a:effectLst/>
                <a:uLnTx/>
                <a:uFillTx/>
                <a:latin typeface="Times New Roman"/>
                <a:ea typeface="宋体"/>
                <a:cs typeface="+mn-cs"/>
              </a:rPr>
              <a:t>        head-&gt;</a:t>
            </a:r>
            <a:r>
              <a:rPr kumimoji="1" lang="en-US" altLang="zh-CN" sz="2400" b="1" i="0" u="none" strike="noStrike" kern="0" cap="none" spc="0" normalizeH="0" baseline="0" noProof="0" dirty="0" err="1">
                <a:ln>
                  <a:noFill/>
                </a:ln>
                <a:solidFill>
                  <a:srgbClr val="0000FF"/>
                </a:solidFill>
                <a:effectLst/>
                <a:uLnTx/>
                <a:uFillTx/>
                <a:latin typeface="Times New Roman"/>
                <a:ea typeface="宋体"/>
                <a:cs typeface="+mn-cs"/>
              </a:rPr>
              <a:t>rtag</a:t>
            </a:r>
            <a:r>
              <a:rPr kumimoji="1" lang="en-US" altLang="zh-CN" sz="2400" b="1" i="0" u="none" strike="noStrike" kern="0" cap="none" spc="0" normalizeH="0" baseline="0" noProof="0" dirty="0">
                <a:ln>
                  <a:noFill/>
                </a:ln>
                <a:solidFill>
                  <a:srgbClr val="0000FF"/>
                </a:solidFill>
                <a:effectLst/>
                <a:uLnTx/>
                <a:uFillTx/>
                <a:latin typeface="Times New Roman"/>
                <a:ea typeface="宋体"/>
                <a:cs typeface="+mn-cs"/>
              </a:rPr>
              <a:t> = 0;</a:t>
            </a:r>
          </a:p>
        </p:txBody>
      </p:sp>
    </p:spTree>
    <p:extLst>
      <p:ext uri="{BB962C8B-B14F-4D97-AF65-F5344CB8AC3E}">
        <p14:creationId xmlns:p14="http://schemas.microsoft.com/office/powerpoint/2010/main" val="3994802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endParaRPr kumimoji="1" lang="zh-CN" altLang="en-US" sz="3200" b="1" dirty="0">
              <a:latin typeface="Arial" charset="0"/>
              <a:ea typeface="宋体" charset="-122"/>
              <a:cs typeface="+mn-cs"/>
            </a:endParaRPr>
          </a:p>
        </p:txBody>
      </p:sp>
      <p:sp>
        <p:nvSpPr>
          <p:cNvPr id="3" name="内容占位符 2"/>
          <p:cNvSpPr>
            <a:spLocks noGrp="1"/>
          </p:cNvSpPr>
          <p:nvPr>
            <p:ph idx="1"/>
          </p:nvPr>
        </p:nvSpPr>
        <p:spPr>
          <a:xfrm>
            <a:off x="457200" y="228600"/>
            <a:ext cx="8229600" cy="5105400"/>
          </a:xfrm>
        </p:spPr>
        <p:txBody>
          <a:bodyPr>
            <a:normAutofit/>
          </a:bodyPr>
          <a:lstStyle/>
          <a:p>
            <a:pPr>
              <a:lnSpc>
                <a:spcPts val="3600"/>
              </a:lnSpc>
            </a:pPr>
            <a:r>
              <a:rPr lang="zh-CN" altLang="en-US" sz="2400" b="1" dirty="0"/>
              <a:t>关于线索二叉链表的头结点的设定方法</a:t>
            </a:r>
            <a:r>
              <a:rPr lang="en-US" altLang="zh-CN" sz="2400" b="1" dirty="0"/>
              <a:t>2</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6149FB6E-5D60-4579-A84E-65C698F0F2D2}"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92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aphicFrame>
        <p:nvGraphicFramePr>
          <p:cNvPr id="77" name="Group 48"/>
          <p:cNvGraphicFramePr>
            <a:graphicFrameLocks noGrp="1"/>
          </p:cNvGraphicFramePr>
          <p:nvPr>
            <p:extLst>
              <p:ext uri="{D42A27DB-BD31-4B8C-83A1-F6EECF244321}">
                <p14:modId xmlns:p14="http://schemas.microsoft.com/office/powerpoint/2010/main" val="1794138854"/>
              </p:ext>
            </p:extLst>
          </p:nvPr>
        </p:nvGraphicFramePr>
        <p:xfrm>
          <a:off x="4073525" y="1306513"/>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304800">
                  <a:extLst>
                    <a:ext uri="{9D8B030D-6E8A-4147-A177-3AD203B41FA5}">
                      <a16:colId xmlns:a16="http://schemas.microsoft.com/office/drawing/2014/main" val="20001"/>
                    </a:ext>
                  </a:extLst>
                </a:gridCol>
                <a:gridCol w="238125">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43180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78" name="Group 191"/>
          <p:cNvGraphicFramePr>
            <a:graphicFrameLocks noGrp="1"/>
          </p:cNvGraphicFramePr>
          <p:nvPr>
            <p:extLst>
              <p:ext uri="{D42A27DB-BD31-4B8C-83A1-F6EECF244321}">
                <p14:modId xmlns:p14="http://schemas.microsoft.com/office/powerpoint/2010/main" val="2564653434"/>
              </p:ext>
            </p:extLst>
          </p:nvPr>
        </p:nvGraphicFramePr>
        <p:xfrm>
          <a:off x="4073525" y="2027238"/>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271462">
                  <a:extLst>
                    <a:ext uri="{9D8B030D-6E8A-4147-A177-3AD203B41FA5}">
                      <a16:colId xmlns:a16="http://schemas.microsoft.com/office/drawing/2014/main" val="20001"/>
                    </a:ext>
                  </a:extLst>
                </a:gridCol>
                <a:gridCol w="271463">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43180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79" name="Line 44"/>
          <p:cNvSpPr>
            <a:spLocks noChangeShapeType="1"/>
          </p:cNvSpPr>
          <p:nvPr/>
        </p:nvSpPr>
        <p:spPr bwMode="auto">
          <a:xfrm>
            <a:off x="4217988" y="1595438"/>
            <a:ext cx="215900" cy="431800"/>
          </a:xfrm>
          <a:prstGeom prst="line">
            <a:avLst/>
          </a:prstGeom>
          <a:noFill/>
          <a:ln w="28575" cap="rnd">
            <a:solidFill>
              <a:srgbClr val="F81908"/>
            </a:solidFill>
            <a:round/>
            <a:headEnd/>
            <a:tailEnd type="triangle" w="med" len="med"/>
          </a:ln>
        </p:spPr>
        <p:txBody>
          <a:bodyPr>
            <a:spAutoFit/>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0" name="Rectangle 45"/>
          <p:cNvSpPr>
            <a:spLocks noChangeArrowheads="1"/>
          </p:cNvSpPr>
          <p:nvPr/>
        </p:nvSpPr>
        <p:spPr bwMode="auto">
          <a:xfrm>
            <a:off x="3511550" y="730250"/>
            <a:ext cx="811213" cy="457200"/>
          </a:xfrm>
          <a:prstGeom prst="rect">
            <a:avLst/>
          </a:prstGeom>
          <a:noFill/>
          <a:ln w="12700" cap="rnd" algn="ctr">
            <a:noFill/>
            <a:miter lim="800000"/>
            <a:headEnd/>
            <a:tailEnd/>
          </a:ln>
        </p:spPr>
        <p:txBody>
          <a:bodyPr wrap="none" anchor="ctr">
            <a:spAutoFit/>
          </a:bodyPr>
          <a:lstStyle/>
          <a:p>
            <a:pPr algn="ctr" eaLnBrk="0" fontAlgn="base" hangingPunct="0">
              <a:spcBef>
                <a:spcPct val="0"/>
              </a:spcBef>
              <a:spcAft>
                <a:spcPct val="0"/>
              </a:spcAft>
            </a:pPr>
            <a:r>
              <a:rPr kumimoji="1" lang="en-US" altLang="zh-CN" sz="2400" b="1">
                <a:solidFill>
                  <a:srgbClr val="000000"/>
                </a:solidFill>
                <a:latin typeface="Times New Roman" pitchFamily="18" charset="0"/>
              </a:rPr>
              <a:t>head</a:t>
            </a:r>
          </a:p>
        </p:txBody>
      </p:sp>
      <p:sp>
        <p:nvSpPr>
          <p:cNvPr id="81" name="Rectangle 49"/>
          <p:cNvSpPr>
            <a:spLocks noChangeArrowheads="1"/>
          </p:cNvSpPr>
          <p:nvPr/>
        </p:nvSpPr>
        <p:spPr bwMode="auto">
          <a:xfrm>
            <a:off x="4649788" y="1306513"/>
            <a:ext cx="252412" cy="468312"/>
          </a:xfrm>
          <a:prstGeom prst="rect">
            <a:avLst/>
          </a:prstGeom>
          <a:solidFill>
            <a:srgbClr val="969696"/>
          </a:solidFill>
          <a:ln w="12700" cap="rnd" algn="ctr">
            <a:noFill/>
            <a:miter lim="800000"/>
            <a:headEnd/>
            <a:tailEnd/>
          </a:ln>
        </p:spPr>
        <p:txBody>
          <a:bodyPr anchor="ctr">
            <a:spAutoFit/>
          </a:bodyP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82" name="Line 50"/>
          <p:cNvSpPr>
            <a:spLocks noChangeShapeType="1"/>
          </p:cNvSpPr>
          <p:nvPr/>
        </p:nvSpPr>
        <p:spPr bwMode="auto">
          <a:xfrm>
            <a:off x="4289425" y="1019175"/>
            <a:ext cx="431800" cy="287338"/>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aphicFrame>
        <p:nvGraphicFramePr>
          <p:cNvPr id="83" name="Group 192"/>
          <p:cNvGraphicFramePr>
            <a:graphicFrameLocks noGrp="1"/>
          </p:cNvGraphicFramePr>
          <p:nvPr>
            <p:extLst>
              <p:ext uri="{D42A27DB-BD31-4B8C-83A1-F6EECF244321}">
                <p14:modId xmlns:p14="http://schemas.microsoft.com/office/powerpoint/2010/main" val="986010336"/>
              </p:ext>
            </p:extLst>
          </p:nvPr>
        </p:nvGraphicFramePr>
        <p:xfrm>
          <a:off x="2994025" y="3128963"/>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271462">
                  <a:extLst>
                    <a:ext uri="{9D8B030D-6E8A-4147-A177-3AD203B41FA5}">
                      <a16:colId xmlns:a16="http://schemas.microsoft.com/office/drawing/2014/main" val="20001"/>
                    </a:ext>
                  </a:extLst>
                </a:gridCol>
                <a:gridCol w="271463">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84" name="Group 173"/>
          <p:cNvGraphicFramePr>
            <a:graphicFrameLocks noGrp="1"/>
          </p:cNvGraphicFramePr>
          <p:nvPr>
            <p:extLst>
              <p:ext uri="{D42A27DB-BD31-4B8C-83A1-F6EECF244321}">
                <p14:modId xmlns:p14="http://schemas.microsoft.com/office/powerpoint/2010/main" val="4102831077"/>
              </p:ext>
            </p:extLst>
          </p:nvPr>
        </p:nvGraphicFramePr>
        <p:xfrm>
          <a:off x="5226050" y="2962275"/>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271462">
                  <a:extLst>
                    <a:ext uri="{9D8B030D-6E8A-4147-A177-3AD203B41FA5}">
                      <a16:colId xmlns:a16="http://schemas.microsoft.com/office/drawing/2014/main" val="20001"/>
                    </a:ext>
                  </a:extLst>
                </a:gridCol>
                <a:gridCol w="271463">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43338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85" name="Group 193"/>
          <p:cNvGraphicFramePr>
            <a:graphicFrameLocks noGrp="1"/>
          </p:cNvGraphicFramePr>
          <p:nvPr>
            <p:extLst>
              <p:ext uri="{D42A27DB-BD31-4B8C-83A1-F6EECF244321}">
                <p14:modId xmlns:p14="http://schemas.microsoft.com/office/powerpoint/2010/main" val="966035150"/>
              </p:ext>
            </p:extLst>
          </p:nvPr>
        </p:nvGraphicFramePr>
        <p:xfrm>
          <a:off x="4144963" y="4330700"/>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1462">
                  <a:extLst>
                    <a:ext uri="{9D8B030D-6E8A-4147-A177-3AD203B41FA5}">
                      <a16:colId xmlns:a16="http://schemas.microsoft.com/office/drawing/2014/main" val="20002"/>
                    </a:ext>
                  </a:extLst>
                </a:gridCol>
                <a:gridCol w="265113">
                  <a:extLst>
                    <a:ext uri="{9D8B030D-6E8A-4147-A177-3AD203B41FA5}">
                      <a16:colId xmlns:a16="http://schemas.microsoft.com/office/drawing/2014/main" val="20003"/>
                    </a:ext>
                  </a:extLst>
                </a:gridCol>
                <a:gridCol w="277812">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86" name="Group 152"/>
          <p:cNvGraphicFramePr>
            <a:graphicFrameLocks noGrp="1"/>
          </p:cNvGraphicFramePr>
          <p:nvPr>
            <p:extLst>
              <p:ext uri="{D42A27DB-BD31-4B8C-83A1-F6EECF244321}">
                <p14:modId xmlns:p14="http://schemas.microsoft.com/office/powerpoint/2010/main" val="3676359369"/>
              </p:ext>
            </p:extLst>
          </p:nvPr>
        </p:nvGraphicFramePr>
        <p:xfrm>
          <a:off x="2417763" y="4114800"/>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1462">
                  <a:extLst>
                    <a:ext uri="{9D8B030D-6E8A-4147-A177-3AD203B41FA5}">
                      <a16:colId xmlns:a16="http://schemas.microsoft.com/office/drawing/2014/main" val="20002"/>
                    </a:ext>
                  </a:extLst>
                </a:gridCol>
                <a:gridCol w="265113">
                  <a:extLst>
                    <a:ext uri="{9D8B030D-6E8A-4147-A177-3AD203B41FA5}">
                      <a16:colId xmlns:a16="http://schemas.microsoft.com/office/drawing/2014/main" val="20003"/>
                    </a:ext>
                  </a:extLst>
                </a:gridCol>
                <a:gridCol w="277812">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87" name="Group 121"/>
          <p:cNvGraphicFramePr>
            <a:graphicFrameLocks noGrp="1"/>
          </p:cNvGraphicFramePr>
          <p:nvPr>
            <p:extLst>
              <p:ext uri="{D42A27DB-BD31-4B8C-83A1-F6EECF244321}">
                <p14:modId xmlns:p14="http://schemas.microsoft.com/office/powerpoint/2010/main" val="173619205"/>
              </p:ext>
            </p:extLst>
          </p:nvPr>
        </p:nvGraphicFramePr>
        <p:xfrm>
          <a:off x="3570288" y="5554663"/>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1462">
                  <a:extLst>
                    <a:ext uri="{9D8B030D-6E8A-4147-A177-3AD203B41FA5}">
                      <a16:colId xmlns:a16="http://schemas.microsoft.com/office/drawing/2014/main" val="20002"/>
                    </a:ext>
                  </a:extLst>
                </a:gridCol>
                <a:gridCol w="271463">
                  <a:extLst>
                    <a:ext uri="{9D8B030D-6E8A-4147-A177-3AD203B41FA5}">
                      <a16:colId xmlns:a16="http://schemas.microsoft.com/office/drawing/2014/main" val="20003"/>
                    </a:ext>
                  </a:extLst>
                </a:gridCol>
                <a:gridCol w="271462">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88" name="Group 104"/>
          <p:cNvGraphicFramePr>
            <a:graphicFrameLocks noGrp="1"/>
          </p:cNvGraphicFramePr>
          <p:nvPr>
            <p:extLst>
              <p:ext uri="{D42A27DB-BD31-4B8C-83A1-F6EECF244321}">
                <p14:modId xmlns:p14="http://schemas.microsoft.com/office/powerpoint/2010/main" val="2928942869"/>
              </p:ext>
            </p:extLst>
          </p:nvPr>
        </p:nvGraphicFramePr>
        <p:xfrm>
          <a:off x="5370513" y="5554663"/>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33363">
                  <a:extLst>
                    <a:ext uri="{9D8B030D-6E8A-4147-A177-3AD203B41FA5}">
                      <a16:colId xmlns:a16="http://schemas.microsoft.com/office/drawing/2014/main" val="20001"/>
                    </a:ext>
                  </a:extLst>
                </a:gridCol>
                <a:gridCol w="268287">
                  <a:extLst>
                    <a:ext uri="{9D8B030D-6E8A-4147-A177-3AD203B41FA5}">
                      <a16:colId xmlns:a16="http://schemas.microsoft.com/office/drawing/2014/main" val="20002"/>
                    </a:ext>
                  </a:extLst>
                </a:gridCol>
                <a:gridCol w="312738">
                  <a:extLst>
                    <a:ext uri="{9D8B030D-6E8A-4147-A177-3AD203B41FA5}">
                      <a16:colId xmlns:a16="http://schemas.microsoft.com/office/drawing/2014/main" val="20003"/>
                    </a:ext>
                  </a:extLst>
                </a:gridCol>
                <a:gridCol w="271462">
                  <a:extLst>
                    <a:ext uri="{9D8B030D-6E8A-4147-A177-3AD203B41FA5}">
                      <a16:colId xmlns:a16="http://schemas.microsoft.com/office/drawing/2014/main" val="20004"/>
                    </a:ext>
                  </a:extLst>
                </a:gridCol>
              </a:tblGrid>
              <a:tr h="39528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89" name="Freeform 159"/>
          <p:cNvSpPr>
            <a:spLocks/>
          </p:cNvSpPr>
          <p:nvPr/>
        </p:nvSpPr>
        <p:spPr bwMode="auto">
          <a:xfrm>
            <a:off x="5010150" y="2459038"/>
            <a:ext cx="374650" cy="1116012"/>
          </a:xfrm>
          <a:custGeom>
            <a:avLst/>
            <a:gdLst>
              <a:gd name="T0" fmla="*/ 2147483647 w 236"/>
              <a:gd name="T1" fmla="*/ 2147483647 h 748"/>
              <a:gd name="T2" fmla="*/ 2147483647 w 236"/>
              <a:gd name="T3" fmla="*/ 2147483647 h 748"/>
              <a:gd name="T4" fmla="*/ 2147483647 w 236"/>
              <a:gd name="T5" fmla="*/ 2147483647 h 748"/>
              <a:gd name="T6" fmla="*/ 2147483647 w 236"/>
              <a:gd name="T7" fmla="*/ 2147483647 h 748"/>
              <a:gd name="T8" fmla="*/ 2147483647 w 236"/>
              <a:gd name="T9" fmla="*/ 2147483647 h 748"/>
              <a:gd name="T10" fmla="*/ 2147483647 w 236"/>
              <a:gd name="T11" fmla="*/ 2147483647 h 748"/>
              <a:gd name="T12" fmla="*/ 2147483647 w 236"/>
              <a:gd name="T13" fmla="*/ 2147483647 h 748"/>
              <a:gd name="T14" fmla="*/ 2147483647 w 236"/>
              <a:gd name="T15" fmla="*/ 2147483647 h 748"/>
              <a:gd name="T16" fmla="*/ 2147483647 w 236"/>
              <a:gd name="T17" fmla="*/ 2147483647 h 748"/>
              <a:gd name="T18" fmla="*/ 2147483647 w 236"/>
              <a:gd name="T19" fmla="*/ 0 h 7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6"/>
              <a:gd name="T31" fmla="*/ 0 h 748"/>
              <a:gd name="T32" fmla="*/ 236 w 236"/>
              <a:gd name="T33" fmla="*/ 748 h 7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6" h="748">
                <a:moveTo>
                  <a:pt x="228" y="583"/>
                </a:moveTo>
                <a:cubicBezTo>
                  <a:pt x="230" y="591"/>
                  <a:pt x="236" y="598"/>
                  <a:pt x="235" y="606"/>
                </a:cubicBezTo>
                <a:cubicBezTo>
                  <a:pt x="233" y="615"/>
                  <a:pt x="224" y="620"/>
                  <a:pt x="220" y="628"/>
                </a:cubicBezTo>
                <a:cubicBezTo>
                  <a:pt x="204" y="661"/>
                  <a:pt x="184" y="689"/>
                  <a:pt x="153" y="710"/>
                </a:cubicBezTo>
                <a:cubicBezTo>
                  <a:pt x="148" y="718"/>
                  <a:pt x="146" y="728"/>
                  <a:pt x="138" y="733"/>
                </a:cubicBezTo>
                <a:cubicBezTo>
                  <a:pt x="125" y="741"/>
                  <a:pt x="93" y="748"/>
                  <a:pt x="93" y="748"/>
                </a:cubicBezTo>
                <a:cubicBezTo>
                  <a:pt x="84" y="718"/>
                  <a:pt x="79" y="706"/>
                  <a:pt x="48" y="695"/>
                </a:cubicBezTo>
                <a:cubicBezTo>
                  <a:pt x="40" y="670"/>
                  <a:pt x="33" y="650"/>
                  <a:pt x="18" y="628"/>
                </a:cubicBezTo>
                <a:cubicBezTo>
                  <a:pt x="0" y="572"/>
                  <a:pt x="4" y="591"/>
                  <a:pt x="3" y="486"/>
                </a:cubicBezTo>
                <a:cubicBezTo>
                  <a:pt x="1" y="324"/>
                  <a:pt x="3" y="162"/>
                  <a:pt x="3"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90" name="Line 160"/>
          <p:cNvSpPr>
            <a:spLocks noChangeShapeType="1"/>
          </p:cNvSpPr>
          <p:nvPr/>
        </p:nvSpPr>
        <p:spPr bwMode="auto">
          <a:xfrm flipH="1">
            <a:off x="3641725" y="2314575"/>
            <a:ext cx="503238" cy="792163"/>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1" name="Line 161"/>
          <p:cNvSpPr>
            <a:spLocks noChangeShapeType="1"/>
          </p:cNvSpPr>
          <p:nvPr/>
        </p:nvSpPr>
        <p:spPr bwMode="auto">
          <a:xfrm flipH="1">
            <a:off x="2849563" y="3467100"/>
            <a:ext cx="287337" cy="647700"/>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2" name="Freeform 162"/>
          <p:cNvSpPr>
            <a:spLocks/>
          </p:cNvSpPr>
          <p:nvPr/>
        </p:nvSpPr>
        <p:spPr bwMode="auto">
          <a:xfrm>
            <a:off x="3570288" y="3611563"/>
            <a:ext cx="358775" cy="1187450"/>
          </a:xfrm>
          <a:custGeom>
            <a:avLst/>
            <a:gdLst>
              <a:gd name="T0" fmla="*/ 2147483647 w 228"/>
              <a:gd name="T1" fmla="*/ 2147483647 h 748"/>
              <a:gd name="T2" fmla="*/ 2147483647 w 228"/>
              <a:gd name="T3" fmla="*/ 2147483647 h 748"/>
              <a:gd name="T4" fmla="*/ 2147483647 w 228"/>
              <a:gd name="T5" fmla="*/ 2147483647 h 748"/>
              <a:gd name="T6" fmla="*/ 2147483647 w 228"/>
              <a:gd name="T7" fmla="*/ 2147483647 h 748"/>
              <a:gd name="T8" fmla="*/ 2147483647 w 228"/>
              <a:gd name="T9" fmla="*/ 2147483647 h 748"/>
              <a:gd name="T10" fmla="*/ 2147483647 w 228"/>
              <a:gd name="T11" fmla="*/ 2147483647 h 748"/>
              <a:gd name="T12" fmla="*/ 2147483647 w 228"/>
              <a:gd name="T13" fmla="*/ 2147483647 h 748"/>
              <a:gd name="T14" fmla="*/ 2147483647 w 228"/>
              <a:gd name="T15" fmla="*/ 2147483647 h 748"/>
              <a:gd name="T16" fmla="*/ 2147483647 w 228"/>
              <a:gd name="T17" fmla="*/ 2147483647 h 748"/>
              <a:gd name="T18" fmla="*/ 2147483647 w 228"/>
              <a:gd name="T19" fmla="*/ 2147483647 h 748"/>
              <a:gd name="T20" fmla="*/ 2147483647 w 228"/>
              <a:gd name="T21" fmla="*/ 2147483647 h 748"/>
              <a:gd name="T22" fmla="*/ 2147483647 w 228"/>
              <a:gd name="T23" fmla="*/ 0 h 7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8"/>
              <a:gd name="T37" fmla="*/ 0 h 748"/>
              <a:gd name="T38" fmla="*/ 228 w 228"/>
              <a:gd name="T39" fmla="*/ 748 h 7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8" h="748">
                <a:moveTo>
                  <a:pt x="34" y="538"/>
                </a:moveTo>
                <a:cubicBezTo>
                  <a:pt x="0" y="637"/>
                  <a:pt x="9" y="716"/>
                  <a:pt x="101" y="748"/>
                </a:cubicBezTo>
                <a:cubicBezTo>
                  <a:pt x="165" y="725"/>
                  <a:pt x="156" y="692"/>
                  <a:pt x="176" y="635"/>
                </a:cubicBezTo>
                <a:cubicBezTo>
                  <a:pt x="182" y="618"/>
                  <a:pt x="206" y="591"/>
                  <a:pt x="206" y="591"/>
                </a:cubicBezTo>
                <a:cubicBezTo>
                  <a:pt x="228" y="391"/>
                  <a:pt x="223" y="501"/>
                  <a:pt x="213" y="261"/>
                </a:cubicBezTo>
                <a:cubicBezTo>
                  <a:pt x="216" y="254"/>
                  <a:pt x="223" y="246"/>
                  <a:pt x="221" y="239"/>
                </a:cubicBezTo>
                <a:cubicBezTo>
                  <a:pt x="215" y="222"/>
                  <a:pt x="201" y="209"/>
                  <a:pt x="191" y="194"/>
                </a:cubicBezTo>
                <a:cubicBezTo>
                  <a:pt x="187" y="188"/>
                  <a:pt x="188" y="178"/>
                  <a:pt x="183" y="172"/>
                </a:cubicBezTo>
                <a:cubicBezTo>
                  <a:pt x="177" y="165"/>
                  <a:pt x="168" y="162"/>
                  <a:pt x="161" y="157"/>
                </a:cubicBezTo>
                <a:cubicBezTo>
                  <a:pt x="154" y="138"/>
                  <a:pt x="154" y="116"/>
                  <a:pt x="146" y="97"/>
                </a:cubicBezTo>
                <a:cubicBezTo>
                  <a:pt x="139" y="81"/>
                  <a:pt x="126" y="67"/>
                  <a:pt x="116" y="52"/>
                </a:cubicBezTo>
                <a:cubicBezTo>
                  <a:pt x="106" y="37"/>
                  <a:pt x="98" y="12"/>
                  <a:pt x="86"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93" name="Line 163"/>
          <p:cNvSpPr>
            <a:spLocks noChangeShapeType="1"/>
          </p:cNvSpPr>
          <p:nvPr/>
        </p:nvSpPr>
        <p:spPr bwMode="auto">
          <a:xfrm flipH="1">
            <a:off x="3857625" y="4619625"/>
            <a:ext cx="431800" cy="935038"/>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4" name="Freeform 164"/>
          <p:cNvSpPr>
            <a:spLocks/>
          </p:cNvSpPr>
          <p:nvPr/>
        </p:nvSpPr>
        <p:spPr bwMode="auto">
          <a:xfrm>
            <a:off x="3160713" y="3638550"/>
            <a:ext cx="898525" cy="2439988"/>
          </a:xfrm>
          <a:custGeom>
            <a:avLst/>
            <a:gdLst>
              <a:gd name="T0" fmla="*/ 2147483647 w 566"/>
              <a:gd name="T1" fmla="*/ 2147483647 h 1537"/>
              <a:gd name="T2" fmla="*/ 2147483647 w 566"/>
              <a:gd name="T3" fmla="*/ 2147483647 h 1537"/>
              <a:gd name="T4" fmla="*/ 2147483647 w 566"/>
              <a:gd name="T5" fmla="*/ 2147483647 h 1537"/>
              <a:gd name="T6" fmla="*/ 2147483647 w 566"/>
              <a:gd name="T7" fmla="*/ 2147483647 h 1537"/>
              <a:gd name="T8" fmla="*/ 2147483647 w 566"/>
              <a:gd name="T9" fmla="*/ 2147483647 h 1537"/>
              <a:gd name="T10" fmla="*/ 2147483647 w 566"/>
              <a:gd name="T11" fmla="*/ 2147483647 h 1537"/>
              <a:gd name="T12" fmla="*/ 2147483647 w 566"/>
              <a:gd name="T13" fmla="*/ 2147483647 h 1537"/>
              <a:gd name="T14" fmla="*/ 2147483647 w 566"/>
              <a:gd name="T15" fmla="*/ 2147483647 h 1537"/>
              <a:gd name="T16" fmla="*/ 2147483647 w 566"/>
              <a:gd name="T17" fmla="*/ 2147483647 h 1537"/>
              <a:gd name="T18" fmla="*/ 2147483647 w 566"/>
              <a:gd name="T19" fmla="*/ 2147483647 h 1537"/>
              <a:gd name="T20" fmla="*/ 2147483647 w 566"/>
              <a:gd name="T21" fmla="*/ 2147483647 h 1537"/>
              <a:gd name="T22" fmla="*/ 2147483647 w 566"/>
              <a:gd name="T23" fmla="*/ 2147483647 h 1537"/>
              <a:gd name="T24" fmla="*/ 2147483647 w 566"/>
              <a:gd name="T25" fmla="*/ 2147483647 h 1537"/>
              <a:gd name="T26" fmla="*/ 2147483647 w 566"/>
              <a:gd name="T27" fmla="*/ 2147483647 h 1537"/>
              <a:gd name="T28" fmla="*/ 2147483647 w 566"/>
              <a:gd name="T29" fmla="*/ 2147483647 h 1537"/>
              <a:gd name="T30" fmla="*/ 2147483647 w 566"/>
              <a:gd name="T31" fmla="*/ 2147483647 h 1537"/>
              <a:gd name="T32" fmla="*/ 2147483647 w 566"/>
              <a:gd name="T33" fmla="*/ 2147483647 h 1537"/>
              <a:gd name="T34" fmla="*/ 2147483647 w 566"/>
              <a:gd name="T35" fmla="*/ 2147483647 h 1537"/>
              <a:gd name="T36" fmla="*/ 2147483647 w 566"/>
              <a:gd name="T37" fmla="*/ 2147483647 h 1537"/>
              <a:gd name="T38" fmla="*/ 2147483647 w 566"/>
              <a:gd name="T39" fmla="*/ 0 h 15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66"/>
              <a:gd name="T61" fmla="*/ 0 h 1537"/>
              <a:gd name="T62" fmla="*/ 566 w 566"/>
              <a:gd name="T63" fmla="*/ 1537 h 153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66" h="1537">
                <a:moveTo>
                  <a:pt x="344" y="1421"/>
                </a:moveTo>
                <a:cubicBezTo>
                  <a:pt x="339" y="1429"/>
                  <a:pt x="335" y="1438"/>
                  <a:pt x="329" y="1444"/>
                </a:cubicBezTo>
                <a:cubicBezTo>
                  <a:pt x="323" y="1450"/>
                  <a:pt x="312" y="1452"/>
                  <a:pt x="306" y="1459"/>
                </a:cubicBezTo>
                <a:cubicBezTo>
                  <a:pt x="276" y="1496"/>
                  <a:pt x="327" y="1471"/>
                  <a:pt x="277" y="1489"/>
                </a:cubicBezTo>
                <a:cubicBezTo>
                  <a:pt x="227" y="1537"/>
                  <a:pt x="163" y="1507"/>
                  <a:pt x="105" y="1489"/>
                </a:cubicBezTo>
                <a:cubicBezTo>
                  <a:pt x="77" y="1470"/>
                  <a:pt x="80" y="1455"/>
                  <a:pt x="52" y="1436"/>
                </a:cubicBezTo>
                <a:cubicBezTo>
                  <a:pt x="30" y="1368"/>
                  <a:pt x="0" y="1330"/>
                  <a:pt x="45" y="1242"/>
                </a:cubicBezTo>
                <a:cubicBezTo>
                  <a:pt x="62" y="1209"/>
                  <a:pt x="68" y="1214"/>
                  <a:pt x="105" y="1189"/>
                </a:cubicBezTo>
                <a:cubicBezTo>
                  <a:pt x="112" y="1184"/>
                  <a:pt x="127" y="1174"/>
                  <a:pt x="127" y="1174"/>
                </a:cubicBezTo>
                <a:cubicBezTo>
                  <a:pt x="145" y="1148"/>
                  <a:pt x="157" y="1132"/>
                  <a:pt x="187" y="1122"/>
                </a:cubicBezTo>
                <a:cubicBezTo>
                  <a:pt x="204" y="1098"/>
                  <a:pt x="243" y="1073"/>
                  <a:pt x="269" y="1055"/>
                </a:cubicBezTo>
                <a:cubicBezTo>
                  <a:pt x="285" y="1031"/>
                  <a:pt x="308" y="1021"/>
                  <a:pt x="321" y="995"/>
                </a:cubicBezTo>
                <a:cubicBezTo>
                  <a:pt x="348" y="942"/>
                  <a:pt x="383" y="879"/>
                  <a:pt x="434" y="845"/>
                </a:cubicBezTo>
                <a:cubicBezTo>
                  <a:pt x="445" y="829"/>
                  <a:pt x="463" y="818"/>
                  <a:pt x="471" y="800"/>
                </a:cubicBezTo>
                <a:cubicBezTo>
                  <a:pt x="477" y="786"/>
                  <a:pt x="476" y="770"/>
                  <a:pt x="479" y="755"/>
                </a:cubicBezTo>
                <a:cubicBezTo>
                  <a:pt x="487" y="718"/>
                  <a:pt x="497" y="680"/>
                  <a:pt x="508" y="643"/>
                </a:cubicBezTo>
                <a:cubicBezTo>
                  <a:pt x="490" y="566"/>
                  <a:pt x="526" y="493"/>
                  <a:pt x="546" y="419"/>
                </a:cubicBezTo>
                <a:cubicBezTo>
                  <a:pt x="563" y="289"/>
                  <a:pt x="566" y="329"/>
                  <a:pt x="553" y="120"/>
                </a:cubicBezTo>
                <a:cubicBezTo>
                  <a:pt x="551" y="92"/>
                  <a:pt x="537" y="49"/>
                  <a:pt x="531" y="22"/>
                </a:cubicBezTo>
                <a:cubicBezTo>
                  <a:pt x="529" y="14"/>
                  <a:pt x="523" y="0"/>
                  <a:pt x="523"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95" name="Line 165"/>
          <p:cNvSpPr>
            <a:spLocks noChangeShapeType="1"/>
          </p:cNvSpPr>
          <p:nvPr/>
        </p:nvSpPr>
        <p:spPr bwMode="auto">
          <a:xfrm>
            <a:off x="4217988" y="3467100"/>
            <a:ext cx="647700" cy="863600"/>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6" name="Freeform 166"/>
          <p:cNvSpPr>
            <a:spLocks/>
          </p:cNvSpPr>
          <p:nvPr/>
        </p:nvSpPr>
        <p:spPr bwMode="auto">
          <a:xfrm>
            <a:off x="4578350" y="4762500"/>
            <a:ext cx="508000" cy="1460500"/>
          </a:xfrm>
          <a:custGeom>
            <a:avLst/>
            <a:gdLst>
              <a:gd name="T0" fmla="*/ 2147483647 w 320"/>
              <a:gd name="T1" fmla="*/ 2147483647 h 920"/>
              <a:gd name="T2" fmla="*/ 2147483647 w 320"/>
              <a:gd name="T3" fmla="*/ 2147483647 h 920"/>
              <a:gd name="T4" fmla="*/ 2147483647 w 320"/>
              <a:gd name="T5" fmla="*/ 2147483647 h 920"/>
              <a:gd name="T6" fmla="*/ 2147483647 w 320"/>
              <a:gd name="T7" fmla="*/ 2147483647 h 920"/>
              <a:gd name="T8" fmla="*/ 2147483647 w 320"/>
              <a:gd name="T9" fmla="*/ 2147483647 h 920"/>
              <a:gd name="T10" fmla="*/ 2147483647 w 320"/>
              <a:gd name="T11" fmla="*/ 2147483647 h 920"/>
              <a:gd name="T12" fmla="*/ 2147483647 w 320"/>
              <a:gd name="T13" fmla="*/ 2147483647 h 920"/>
              <a:gd name="T14" fmla="*/ 2147483647 w 320"/>
              <a:gd name="T15" fmla="*/ 2147483647 h 920"/>
              <a:gd name="T16" fmla="*/ 2147483647 w 320"/>
              <a:gd name="T17" fmla="*/ 2147483647 h 920"/>
              <a:gd name="T18" fmla="*/ 2147483647 w 320"/>
              <a:gd name="T19" fmla="*/ 2147483647 h 920"/>
              <a:gd name="T20" fmla="*/ 2147483647 w 320"/>
              <a:gd name="T21" fmla="*/ 2147483647 h 920"/>
              <a:gd name="T22" fmla="*/ 2147483647 w 320"/>
              <a:gd name="T23" fmla="*/ 2147483647 h 920"/>
              <a:gd name="T24" fmla="*/ 2147483647 w 320"/>
              <a:gd name="T25" fmla="*/ 2147483647 h 920"/>
              <a:gd name="T26" fmla="*/ 2147483647 w 320"/>
              <a:gd name="T27" fmla="*/ 2147483647 h 920"/>
              <a:gd name="T28" fmla="*/ 2147483647 w 320"/>
              <a:gd name="T29" fmla="*/ 2147483647 h 920"/>
              <a:gd name="T30" fmla="*/ 2147483647 w 320"/>
              <a:gd name="T31" fmla="*/ 2147483647 h 920"/>
              <a:gd name="T32" fmla="*/ 2147483647 w 320"/>
              <a:gd name="T33" fmla="*/ 2147483647 h 920"/>
              <a:gd name="T34" fmla="*/ 2147483647 w 320"/>
              <a:gd name="T35" fmla="*/ 2147483647 h 9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0"/>
              <a:gd name="T55" fmla="*/ 0 h 920"/>
              <a:gd name="T56" fmla="*/ 320 w 320"/>
              <a:gd name="T57" fmla="*/ 920 h 92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0" h="920">
                <a:moveTo>
                  <a:pt x="86" y="712"/>
                </a:moveTo>
                <a:cubicBezTo>
                  <a:pt x="78" y="737"/>
                  <a:pt x="70" y="761"/>
                  <a:pt x="64" y="787"/>
                </a:cubicBezTo>
                <a:cubicBezTo>
                  <a:pt x="66" y="807"/>
                  <a:pt x="63" y="829"/>
                  <a:pt x="71" y="847"/>
                </a:cubicBezTo>
                <a:cubicBezTo>
                  <a:pt x="74" y="854"/>
                  <a:pt x="88" y="849"/>
                  <a:pt x="94" y="854"/>
                </a:cubicBezTo>
                <a:cubicBezTo>
                  <a:pt x="101" y="860"/>
                  <a:pt x="101" y="872"/>
                  <a:pt x="109" y="877"/>
                </a:cubicBezTo>
                <a:cubicBezTo>
                  <a:pt x="122" y="885"/>
                  <a:pt x="154" y="892"/>
                  <a:pt x="154" y="892"/>
                </a:cubicBezTo>
                <a:cubicBezTo>
                  <a:pt x="156" y="899"/>
                  <a:pt x="154" y="910"/>
                  <a:pt x="161" y="914"/>
                </a:cubicBezTo>
                <a:cubicBezTo>
                  <a:pt x="173" y="920"/>
                  <a:pt x="216" y="877"/>
                  <a:pt x="228" y="869"/>
                </a:cubicBezTo>
                <a:cubicBezTo>
                  <a:pt x="256" y="827"/>
                  <a:pt x="264" y="796"/>
                  <a:pt x="281" y="750"/>
                </a:cubicBezTo>
                <a:cubicBezTo>
                  <a:pt x="268" y="714"/>
                  <a:pt x="290" y="683"/>
                  <a:pt x="296" y="645"/>
                </a:cubicBezTo>
                <a:cubicBezTo>
                  <a:pt x="308" y="565"/>
                  <a:pt x="294" y="609"/>
                  <a:pt x="311" y="563"/>
                </a:cubicBezTo>
                <a:cubicBezTo>
                  <a:pt x="320" y="496"/>
                  <a:pt x="320" y="416"/>
                  <a:pt x="258" y="376"/>
                </a:cubicBezTo>
                <a:cubicBezTo>
                  <a:pt x="253" y="368"/>
                  <a:pt x="249" y="360"/>
                  <a:pt x="243" y="353"/>
                </a:cubicBezTo>
                <a:cubicBezTo>
                  <a:pt x="237" y="347"/>
                  <a:pt x="227" y="345"/>
                  <a:pt x="221" y="338"/>
                </a:cubicBezTo>
                <a:cubicBezTo>
                  <a:pt x="166" y="274"/>
                  <a:pt x="219" y="307"/>
                  <a:pt x="161" y="278"/>
                </a:cubicBezTo>
                <a:cubicBezTo>
                  <a:pt x="140" y="215"/>
                  <a:pt x="122" y="146"/>
                  <a:pt x="64" y="106"/>
                </a:cubicBezTo>
                <a:cubicBezTo>
                  <a:pt x="56" y="83"/>
                  <a:pt x="41" y="49"/>
                  <a:pt x="26" y="31"/>
                </a:cubicBezTo>
                <a:cubicBezTo>
                  <a:pt x="0" y="0"/>
                  <a:pt x="4" y="34"/>
                  <a:pt x="4" y="2"/>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97" name="Freeform 167"/>
          <p:cNvSpPr>
            <a:spLocks/>
          </p:cNvSpPr>
          <p:nvPr/>
        </p:nvSpPr>
        <p:spPr bwMode="auto">
          <a:xfrm>
            <a:off x="5132388" y="4822825"/>
            <a:ext cx="414337" cy="1463675"/>
          </a:xfrm>
          <a:custGeom>
            <a:avLst/>
            <a:gdLst>
              <a:gd name="T0" fmla="*/ 2147483647 w 261"/>
              <a:gd name="T1" fmla="*/ 2147483647 h 922"/>
              <a:gd name="T2" fmla="*/ 2147483647 w 261"/>
              <a:gd name="T3" fmla="*/ 2147483647 h 922"/>
              <a:gd name="T4" fmla="*/ 2147483647 w 261"/>
              <a:gd name="T5" fmla="*/ 2147483647 h 922"/>
              <a:gd name="T6" fmla="*/ 2147483647 w 261"/>
              <a:gd name="T7" fmla="*/ 2147483647 h 922"/>
              <a:gd name="T8" fmla="*/ 2147483647 w 261"/>
              <a:gd name="T9" fmla="*/ 2147483647 h 922"/>
              <a:gd name="T10" fmla="*/ 2147483647 w 261"/>
              <a:gd name="T11" fmla="*/ 2147483647 h 922"/>
              <a:gd name="T12" fmla="*/ 0 w 261"/>
              <a:gd name="T13" fmla="*/ 2147483647 h 922"/>
              <a:gd name="T14" fmla="*/ 0 60000 65536"/>
              <a:gd name="T15" fmla="*/ 0 60000 65536"/>
              <a:gd name="T16" fmla="*/ 0 60000 65536"/>
              <a:gd name="T17" fmla="*/ 0 60000 65536"/>
              <a:gd name="T18" fmla="*/ 0 60000 65536"/>
              <a:gd name="T19" fmla="*/ 0 60000 65536"/>
              <a:gd name="T20" fmla="*/ 0 60000 65536"/>
              <a:gd name="T21" fmla="*/ 0 w 261"/>
              <a:gd name="T22" fmla="*/ 0 h 922"/>
              <a:gd name="T23" fmla="*/ 261 w 261"/>
              <a:gd name="T24" fmla="*/ 922 h 9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1" h="922">
                <a:moveTo>
                  <a:pt x="254" y="660"/>
                </a:moveTo>
                <a:cubicBezTo>
                  <a:pt x="246" y="798"/>
                  <a:pt x="261" y="879"/>
                  <a:pt x="119" y="922"/>
                </a:cubicBezTo>
                <a:cubicBezTo>
                  <a:pt x="111" y="898"/>
                  <a:pt x="82" y="855"/>
                  <a:pt x="82" y="855"/>
                </a:cubicBezTo>
                <a:cubicBezTo>
                  <a:pt x="68" y="763"/>
                  <a:pt x="63" y="671"/>
                  <a:pt x="52" y="578"/>
                </a:cubicBezTo>
                <a:cubicBezTo>
                  <a:pt x="48" y="512"/>
                  <a:pt x="60" y="293"/>
                  <a:pt x="44" y="249"/>
                </a:cubicBezTo>
                <a:cubicBezTo>
                  <a:pt x="38" y="176"/>
                  <a:pt x="31" y="110"/>
                  <a:pt x="15" y="39"/>
                </a:cubicBezTo>
                <a:cubicBezTo>
                  <a:pt x="6" y="0"/>
                  <a:pt x="20" y="2"/>
                  <a:pt x="0" y="2"/>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98" name="Line 168"/>
          <p:cNvSpPr>
            <a:spLocks noChangeShapeType="1"/>
          </p:cNvSpPr>
          <p:nvPr/>
        </p:nvSpPr>
        <p:spPr bwMode="auto">
          <a:xfrm>
            <a:off x="5370513" y="4619625"/>
            <a:ext cx="719137" cy="935038"/>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9" name="Freeform 169"/>
          <p:cNvSpPr>
            <a:spLocks/>
          </p:cNvSpPr>
          <p:nvPr/>
        </p:nvSpPr>
        <p:spPr bwMode="auto">
          <a:xfrm>
            <a:off x="4740275" y="2533650"/>
            <a:ext cx="2157413" cy="3775075"/>
          </a:xfrm>
          <a:custGeom>
            <a:avLst/>
            <a:gdLst>
              <a:gd name="T0" fmla="*/ 2147483647 w 1359"/>
              <a:gd name="T1" fmla="*/ 2147483647 h 2378"/>
              <a:gd name="T2" fmla="*/ 2147483647 w 1359"/>
              <a:gd name="T3" fmla="*/ 2147483647 h 2378"/>
              <a:gd name="T4" fmla="*/ 2147483647 w 1359"/>
              <a:gd name="T5" fmla="*/ 2147483647 h 2378"/>
              <a:gd name="T6" fmla="*/ 2147483647 w 1359"/>
              <a:gd name="T7" fmla="*/ 2147483647 h 2378"/>
              <a:gd name="T8" fmla="*/ 2147483647 w 1359"/>
              <a:gd name="T9" fmla="*/ 2147483647 h 2378"/>
              <a:gd name="T10" fmla="*/ 2147483647 w 1359"/>
              <a:gd name="T11" fmla="*/ 2147483647 h 2378"/>
              <a:gd name="T12" fmla="*/ 2147483647 w 1359"/>
              <a:gd name="T13" fmla="*/ 2147483647 h 2378"/>
              <a:gd name="T14" fmla="*/ 2147483647 w 1359"/>
              <a:gd name="T15" fmla="*/ 2147483647 h 2378"/>
              <a:gd name="T16" fmla="*/ 2147483647 w 1359"/>
              <a:gd name="T17" fmla="*/ 2147483647 h 2378"/>
              <a:gd name="T18" fmla="*/ 2147483647 w 1359"/>
              <a:gd name="T19" fmla="*/ 2147483647 h 2378"/>
              <a:gd name="T20" fmla="*/ 2147483647 w 1359"/>
              <a:gd name="T21" fmla="*/ 2147483647 h 2378"/>
              <a:gd name="T22" fmla="*/ 2147483647 w 1359"/>
              <a:gd name="T23" fmla="*/ 2147483647 h 2378"/>
              <a:gd name="T24" fmla="*/ 2147483647 w 1359"/>
              <a:gd name="T25" fmla="*/ 2147483647 h 2378"/>
              <a:gd name="T26" fmla="*/ 2147483647 w 1359"/>
              <a:gd name="T27" fmla="*/ 2147483647 h 2378"/>
              <a:gd name="T28" fmla="*/ 2147483647 w 1359"/>
              <a:gd name="T29" fmla="*/ 2147483647 h 2378"/>
              <a:gd name="T30" fmla="*/ 2147483647 w 1359"/>
              <a:gd name="T31" fmla="*/ 2147483647 h 2378"/>
              <a:gd name="T32" fmla="*/ 2147483647 w 1359"/>
              <a:gd name="T33" fmla="*/ 2147483647 h 2378"/>
              <a:gd name="T34" fmla="*/ 2147483647 w 1359"/>
              <a:gd name="T35" fmla="*/ 2147483647 h 2378"/>
              <a:gd name="T36" fmla="*/ 2147483647 w 1359"/>
              <a:gd name="T37" fmla="*/ 2147483647 h 2378"/>
              <a:gd name="T38" fmla="*/ 2147483647 w 1359"/>
              <a:gd name="T39" fmla="*/ 2147483647 h 2378"/>
              <a:gd name="T40" fmla="*/ 2147483647 w 1359"/>
              <a:gd name="T41" fmla="*/ 2147483647 h 2378"/>
              <a:gd name="T42" fmla="*/ 2147483647 w 1359"/>
              <a:gd name="T43" fmla="*/ 2147483647 h 2378"/>
              <a:gd name="T44" fmla="*/ 2147483647 w 1359"/>
              <a:gd name="T45" fmla="*/ 2147483647 h 2378"/>
              <a:gd name="T46" fmla="*/ 2147483647 w 1359"/>
              <a:gd name="T47" fmla="*/ 2147483647 h 2378"/>
              <a:gd name="T48" fmla="*/ 2147483647 w 1359"/>
              <a:gd name="T49" fmla="*/ 2147483647 h 2378"/>
              <a:gd name="T50" fmla="*/ 0 w 1359"/>
              <a:gd name="T51" fmla="*/ 0 h 237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9"/>
              <a:gd name="T79" fmla="*/ 0 h 2378"/>
              <a:gd name="T80" fmla="*/ 1359 w 1359"/>
              <a:gd name="T81" fmla="*/ 2378 h 237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9" h="2378">
                <a:moveTo>
                  <a:pt x="1152" y="2125"/>
                </a:moveTo>
                <a:cubicBezTo>
                  <a:pt x="1136" y="2187"/>
                  <a:pt x="1127" y="2315"/>
                  <a:pt x="1189" y="2357"/>
                </a:cubicBezTo>
                <a:cubicBezTo>
                  <a:pt x="1279" y="2351"/>
                  <a:pt x="1327" y="2378"/>
                  <a:pt x="1346" y="2297"/>
                </a:cubicBezTo>
                <a:cubicBezTo>
                  <a:pt x="1358" y="2119"/>
                  <a:pt x="1359" y="2162"/>
                  <a:pt x="1346" y="1923"/>
                </a:cubicBezTo>
                <a:cubicBezTo>
                  <a:pt x="1344" y="1895"/>
                  <a:pt x="1334" y="1879"/>
                  <a:pt x="1309" y="1870"/>
                </a:cubicBezTo>
                <a:cubicBezTo>
                  <a:pt x="1277" y="1823"/>
                  <a:pt x="1313" y="1870"/>
                  <a:pt x="1271" y="1833"/>
                </a:cubicBezTo>
                <a:cubicBezTo>
                  <a:pt x="1233" y="1799"/>
                  <a:pt x="1197" y="1762"/>
                  <a:pt x="1159" y="1728"/>
                </a:cubicBezTo>
                <a:cubicBezTo>
                  <a:pt x="1121" y="1695"/>
                  <a:pt x="1097" y="1650"/>
                  <a:pt x="1054" y="1624"/>
                </a:cubicBezTo>
                <a:cubicBezTo>
                  <a:pt x="1049" y="1616"/>
                  <a:pt x="1045" y="1608"/>
                  <a:pt x="1039" y="1601"/>
                </a:cubicBezTo>
                <a:cubicBezTo>
                  <a:pt x="1032" y="1593"/>
                  <a:pt x="1023" y="1587"/>
                  <a:pt x="1017" y="1579"/>
                </a:cubicBezTo>
                <a:cubicBezTo>
                  <a:pt x="990" y="1541"/>
                  <a:pt x="968" y="1498"/>
                  <a:pt x="942" y="1459"/>
                </a:cubicBezTo>
                <a:cubicBezTo>
                  <a:pt x="921" y="1428"/>
                  <a:pt x="887" y="1401"/>
                  <a:pt x="867" y="1369"/>
                </a:cubicBezTo>
                <a:cubicBezTo>
                  <a:pt x="840" y="1326"/>
                  <a:pt x="823" y="1276"/>
                  <a:pt x="793" y="1235"/>
                </a:cubicBezTo>
                <a:cubicBezTo>
                  <a:pt x="787" y="1226"/>
                  <a:pt x="777" y="1220"/>
                  <a:pt x="770" y="1212"/>
                </a:cubicBezTo>
                <a:cubicBezTo>
                  <a:pt x="764" y="1205"/>
                  <a:pt x="760" y="1197"/>
                  <a:pt x="755" y="1190"/>
                </a:cubicBezTo>
                <a:cubicBezTo>
                  <a:pt x="744" y="1144"/>
                  <a:pt x="712" y="1103"/>
                  <a:pt x="673" y="1077"/>
                </a:cubicBezTo>
                <a:cubicBezTo>
                  <a:pt x="663" y="1062"/>
                  <a:pt x="658" y="1043"/>
                  <a:pt x="643" y="1033"/>
                </a:cubicBezTo>
                <a:cubicBezTo>
                  <a:pt x="621" y="1018"/>
                  <a:pt x="595" y="1007"/>
                  <a:pt x="576" y="988"/>
                </a:cubicBezTo>
                <a:cubicBezTo>
                  <a:pt x="561" y="973"/>
                  <a:pt x="551" y="950"/>
                  <a:pt x="531" y="943"/>
                </a:cubicBezTo>
                <a:cubicBezTo>
                  <a:pt x="500" y="932"/>
                  <a:pt x="515" y="940"/>
                  <a:pt x="486" y="920"/>
                </a:cubicBezTo>
                <a:cubicBezTo>
                  <a:pt x="459" y="880"/>
                  <a:pt x="412" y="867"/>
                  <a:pt x="381" y="831"/>
                </a:cubicBezTo>
                <a:cubicBezTo>
                  <a:pt x="360" y="806"/>
                  <a:pt x="375" y="808"/>
                  <a:pt x="344" y="793"/>
                </a:cubicBezTo>
                <a:cubicBezTo>
                  <a:pt x="297" y="770"/>
                  <a:pt x="213" y="775"/>
                  <a:pt x="164" y="771"/>
                </a:cubicBezTo>
                <a:cubicBezTo>
                  <a:pt x="139" y="762"/>
                  <a:pt x="119" y="756"/>
                  <a:pt x="97" y="741"/>
                </a:cubicBezTo>
                <a:cubicBezTo>
                  <a:pt x="76" y="709"/>
                  <a:pt x="65" y="682"/>
                  <a:pt x="45" y="651"/>
                </a:cubicBezTo>
                <a:cubicBezTo>
                  <a:pt x="31" y="434"/>
                  <a:pt x="0" y="219"/>
                  <a:pt x="0"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00" name="Line 172"/>
          <p:cNvSpPr>
            <a:spLocks noChangeShapeType="1"/>
          </p:cNvSpPr>
          <p:nvPr/>
        </p:nvSpPr>
        <p:spPr bwMode="auto">
          <a:xfrm>
            <a:off x="5297488" y="2314575"/>
            <a:ext cx="576262" cy="647700"/>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01" name="Text Box 132"/>
          <p:cNvSpPr txBox="1">
            <a:spLocks noChangeArrowheads="1"/>
          </p:cNvSpPr>
          <p:nvPr/>
        </p:nvSpPr>
        <p:spPr bwMode="auto">
          <a:xfrm>
            <a:off x="4152900" y="6284913"/>
            <a:ext cx="2041525" cy="461962"/>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pPr>
            <a:r>
              <a:rPr kumimoji="1" lang="zh-CN" altLang="en-US" sz="2400" b="1">
                <a:solidFill>
                  <a:srgbClr val="000000"/>
                </a:solidFill>
                <a:latin typeface="Times New Roman" pitchFamily="18" charset="0"/>
              </a:rPr>
              <a:t>中序线索链表</a:t>
            </a:r>
          </a:p>
        </p:txBody>
      </p:sp>
      <p:sp>
        <p:nvSpPr>
          <p:cNvPr id="102" name="Text Box 133"/>
          <p:cNvSpPr txBox="1">
            <a:spLocks noChangeArrowheads="1"/>
          </p:cNvSpPr>
          <p:nvPr/>
        </p:nvSpPr>
        <p:spPr bwMode="auto">
          <a:xfrm>
            <a:off x="6072188" y="787400"/>
            <a:ext cx="3111749" cy="1200329"/>
          </a:xfrm>
          <a:prstGeom prst="rect">
            <a:avLst/>
          </a:prstGeom>
          <a:noFill/>
          <a:ln w="12700" cap="rnd" algn="ctr">
            <a:solidFill>
              <a:srgbClr val="006600"/>
            </a:solidFill>
            <a:miter lim="800000"/>
            <a:headEnd/>
            <a:tailEnd/>
          </a:ln>
        </p:spPr>
        <p:txBody>
          <a:bodyPr wrap="none">
            <a:spAutoFit/>
          </a:bodyPr>
          <a:lstStyle/>
          <a:p>
            <a:pPr eaLnBrk="0" fontAlgn="base" hangingPunct="0">
              <a:spcBef>
                <a:spcPct val="0"/>
              </a:spcBef>
              <a:spcAft>
                <a:spcPct val="0"/>
              </a:spcAft>
            </a:pPr>
            <a:r>
              <a:rPr kumimoji="1" lang="en-US" altLang="zh-CN" sz="2400" b="1">
                <a:solidFill>
                  <a:srgbClr val="0000FF"/>
                </a:solidFill>
                <a:latin typeface="Times New Roman" pitchFamily="18" charset="0"/>
              </a:rPr>
              <a:t>head -&gt;lch</a:t>
            </a:r>
            <a:r>
              <a:rPr kumimoji="1" lang="zh-CN" altLang="en-US" sz="2400" b="1">
                <a:solidFill>
                  <a:srgbClr val="0000FF"/>
                </a:solidFill>
                <a:latin typeface="Times New Roman" pitchFamily="18" charset="0"/>
              </a:rPr>
              <a:t>指向根结点</a:t>
            </a:r>
          </a:p>
          <a:p>
            <a:pPr eaLnBrk="0" fontAlgn="base" hangingPunct="0">
              <a:spcBef>
                <a:spcPct val="0"/>
              </a:spcBef>
              <a:spcAft>
                <a:spcPct val="0"/>
              </a:spcAft>
            </a:pPr>
            <a:r>
              <a:rPr kumimoji="1" lang="en-US" altLang="zh-CN" sz="2400" b="1">
                <a:solidFill>
                  <a:srgbClr val="0000FF"/>
                </a:solidFill>
                <a:latin typeface="Times New Roman" pitchFamily="18" charset="0"/>
              </a:rPr>
              <a:t>head -&gt;rch</a:t>
            </a:r>
            <a:r>
              <a:rPr kumimoji="1" lang="zh-CN" altLang="en-US" sz="2400" b="1">
                <a:solidFill>
                  <a:srgbClr val="0000FF"/>
                </a:solidFill>
                <a:latin typeface="Times New Roman" pitchFamily="18" charset="0"/>
              </a:rPr>
              <a:t>指向中序</a:t>
            </a:r>
          </a:p>
          <a:p>
            <a:pPr eaLnBrk="0" fontAlgn="base" hangingPunct="0">
              <a:spcBef>
                <a:spcPct val="0"/>
              </a:spcBef>
              <a:spcAft>
                <a:spcPct val="0"/>
              </a:spcAft>
            </a:pPr>
            <a:r>
              <a:rPr kumimoji="1" lang="zh-CN" altLang="en-US" sz="2400" b="1">
                <a:solidFill>
                  <a:srgbClr val="0000FF"/>
                </a:solidFill>
                <a:latin typeface="Times New Roman" pitchFamily="18" charset="0"/>
              </a:rPr>
              <a:t>最后一个结点</a:t>
            </a:r>
          </a:p>
        </p:txBody>
      </p:sp>
      <p:sp>
        <p:nvSpPr>
          <p:cNvPr id="103" name="Line 162"/>
          <p:cNvSpPr>
            <a:spLocks noChangeShapeType="1"/>
          </p:cNvSpPr>
          <p:nvPr/>
        </p:nvSpPr>
        <p:spPr bwMode="auto">
          <a:xfrm>
            <a:off x="5353050" y="1557338"/>
            <a:ext cx="863600" cy="1366837"/>
          </a:xfrm>
          <a:prstGeom prst="line">
            <a:avLst/>
          </a:prstGeom>
          <a:noFill/>
          <a:ln w="28575" cap="rnd">
            <a:solidFill>
              <a:srgbClr val="F81908"/>
            </a:solidFill>
            <a:round/>
            <a:headEnd/>
            <a:tailEnd type="triangle" w="med" len="med"/>
          </a:ln>
        </p:spPr>
        <p:txBody>
          <a:bodyPr>
            <a:spAutoFit/>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104" name="Group 163"/>
          <p:cNvGrpSpPr>
            <a:grpSpLocks/>
          </p:cNvGrpSpPr>
          <p:nvPr/>
        </p:nvGrpSpPr>
        <p:grpSpPr bwMode="auto">
          <a:xfrm>
            <a:off x="-104775" y="765175"/>
            <a:ext cx="3535363" cy="2517775"/>
            <a:chOff x="-55" y="922"/>
            <a:chExt cx="2544" cy="1788"/>
          </a:xfrm>
        </p:grpSpPr>
        <p:grpSp>
          <p:nvGrpSpPr>
            <p:cNvPr id="105" name="Group 7"/>
            <p:cNvGrpSpPr>
              <a:grpSpLocks/>
            </p:cNvGrpSpPr>
            <p:nvPr/>
          </p:nvGrpSpPr>
          <p:grpSpPr bwMode="auto">
            <a:xfrm>
              <a:off x="425" y="2255"/>
              <a:ext cx="576" cy="455"/>
              <a:chOff x="3840" y="2901"/>
              <a:chExt cx="576" cy="500"/>
            </a:xfrm>
          </p:grpSpPr>
          <p:sp>
            <p:nvSpPr>
              <p:cNvPr id="130" name="Oval 8"/>
              <p:cNvSpPr>
                <a:spLocks noChangeArrowheads="1"/>
              </p:cNvSpPr>
              <p:nvPr/>
            </p:nvSpPr>
            <p:spPr bwMode="auto">
              <a:xfrm>
                <a:off x="3960" y="2995"/>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31" name="Text Box 9"/>
              <p:cNvSpPr txBox="1">
                <a:spLocks noChangeArrowheads="1"/>
              </p:cNvSpPr>
              <p:nvPr/>
            </p:nvSpPr>
            <p:spPr bwMode="auto">
              <a:xfrm>
                <a:off x="3840" y="2901"/>
                <a:ext cx="576" cy="5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b</a:t>
                </a:r>
              </a:p>
            </p:txBody>
          </p:sp>
        </p:grpSp>
        <p:grpSp>
          <p:nvGrpSpPr>
            <p:cNvPr id="106" name="Group 13"/>
            <p:cNvGrpSpPr>
              <a:grpSpLocks/>
            </p:cNvGrpSpPr>
            <p:nvPr/>
          </p:nvGrpSpPr>
          <p:grpSpPr bwMode="auto">
            <a:xfrm>
              <a:off x="-55" y="1750"/>
              <a:ext cx="576" cy="456"/>
              <a:chOff x="3337" y="2856"/>
              <a:chExt cx="576" cy="477"/>
            </a:xfrm>
          </p:grpSpPr>
          <p:sp>
            <p:nvSpPr>
              <p:cNvPr id="128" name="Oval 14"/>
              <p:cNvSpPr>
                <a:spLocks noChangeArrowheads="1"/>
              </p:cNvSpPr>
              <p:nvPr/>
            </p:nvSpPr>
            <p:spPr bwMode="auto">
              <a:xfrm>
                <a:off x="3457" y="2971"/>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29" name="Text Box 15"/>
              <p:cNvSpPr txBox="1">
                <a:spLocks noChangeArrowheads="1"/>
              </p:cNvSpPr>
              <p:nvPr/>
            </p:nvSpPr>
            <p:spPr bwMode="auto">
              <a:xfrm>
                <a:off x="3337" y="2856"/>
                <a:ext cx="576" cy="47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a</a:t>
                </a:r>
              </a:p>
            </p:txBody>
          </p:sp>
        </p:grpSp>
        <p:grpSp>
          <p:nvGrpSpPr>
            <p:cNvPr id="107" name="Group 16"/>
            <p:cNvGrpSpPr>
              <a:grpSpLocks/>
            </p:cNvGrpSpPr>
            <p:nvPr/>
          </p:nvGrpSpPr>
          <p:grpSpPr bwMode="auto">
            <a:xfrm>
              <a:off x="377" y="1336"/>
              <a:ext cx="576" cy="456"/>
              <a:chOff x="2552" y="3101"/>
              <a:chExt cx="576" cy="476"/>
            </a:xfrm>
          </p:grpSpPr>
          <p:sp>
            <p:nvSpPr>
              <p:cNvPr id="126" name="Oval 17"/>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27" name="Text Box 18"/>
              <p:cNvSpPr txBox="1">
                <a:spLocks noChangeArrowheads="1"/>
              </p:cNvSpPr>
              <p:nvPr/>
            </p:nvSpPr>
            <p:spPr bwMode="auto">
              <a:xfrm>
                <a:off x="2552" y="3101"/>
                <a:ext cx="576" cy="47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e</a:t>
                </a:r>
              </a:p>
            </p:txBody>
          </p:sp>
        </p:grpSp>
        <p:grpSp>
          <p:nvGrpSpPr>
            <p:cNvPr id="108" name="Group 19"/>
            <p:cNvGrpSpPr>
              <a:grpSpLocks/>
            </p:cNvGrpSpPr>
            <p:nvPr/>
          </p:nvGrpSpPr>
          <p:grpSpPr bwMode="auto">
            <a:xfrm>
              <a:off x="809" y="1796"/>
              <a:ext cx="576" cy="456"/>
              <a:chOff x="2552" y="3101"/>
              <a:chExt cx="576" cy="477"/>
            </a:xfrm>
          </p:grpSpPr>
          <p:sp>
            <p:nvSpPr>
              <p:cNvPr id="124" name="Oval 20"/>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25" name="Text Box 21"/>
              <p:cNvSpPr txBox="1">
                <a:spLocks noChangeArrowheads="1"/>
              </p:cNvSpPr>
              <p:nvPr/>
            </p:nvSpPr>
            <p:spPr bwMode="auto">
              <a:xfrm>
                <a:off x="2552" y="3101"/>
                <a:ext cx="576" cy="47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f</a:t>
                </a:r>
              </a:p>
            </p:txBody>
          </p:sp>
        </p:grpSp>
        <p:grpSp>
          <p:nvGrpSpPr>
            <p:cNvPr id="109" name="Group 22"/>
            <p:cNvGrpSpPr>
              <a:grpSpLocks/>
            </p:cNvGrpSpPr>
            <p:nvPr/>
          </p:nvGrpSpPr>
          <p:grpSpPr bwMode="auto">
            <a:xfrm>
              <a:off x="1913" y="1359"/>
              <a:ext cx="576" cy="457"/>
              <a:chOff x="2552" y="3101"/>
              <a:chExt cx="576" cy="477"/>
            </a:xfrm>
          </p:grpSpPr>
          <p:sp>
            <p:nvSpPr>
              <p:cNvPr id="122" name="Oval 23"/>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23" name="Text Box 24"/>
              <p:cNvSpPr txBox="1">
                <a:spLocks noChangeArrowheads="1"/>
              </p:cNvSpPr>
              <p:nvPr/>
            </p:nvSpPr>
            <p:spPr bwMode="auto">
              <a:xfrm>
                <a:off x="2552" y="3101"/>
                <a:ext cx="576" cy="47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d</a:t>
                </a:r>
              </a:p>
            </p:txBody>
          </p:sp>
        </p:grpSp>
        <p:grpSp>
          <p:nvGrpSpPr>
            <p:cNvPr id="110" name="Group 25"/>
            <p:cNvGrpSpPr>
              <a:grpSpLocks/>
            </p:cNvGrpSpPr>
            <p:nvPr/>
          </p:nvGrpSpPr>
          <p:grpSpPr bwMode="auto">
            <a:xfrm>
              <a:off x="1289" y="2171"/>
              <a:ext cx="576" cy="456"/>
              <a:chOff x="2552" y="3101"/>
              <a:chExt cx="576" cy="476"/>
            </a:xfrm>
          </p:grpSpPr>
          <p:sp>
            <p:nvSpPr>
              <p:cNvPr id="120" name="Oval 26"/>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21" name="Text Box 27"/>
              <p:cNvSpPr txBox="1">
                <a:spLocks noChangeArrowheads="1"/>
              </p:cNvSpPr>
              <p:nvPr/>
            </p:nvSpPr>
            <p:spPr bwMode="auto">
              <a:xfrm>
                <a:off x="2552" y="3101"/>
                <a:ext cx="576" cy="47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c</a:t>
                </a:r>
              </a:p>
            </p:txBody>
          </p:sp>
        </p:grpSp>
        <p:grpSp>
          <p:nvGrpSpPr>
            <p:cNvPr id="111" name="Group 28"/>
            <p:cNvGrpSpPr>
              <a:grpSpLocks/>
            </p:cNvGrpSpPr>
            <p:nvPr/>
          </p:nvGrpSpPr>
          <p:grpSpPr bwMode="auto">
            <a:xfrm>
              <a:off x="1193" y="922"/>
              <a:ext cx="576" cy="456"/>
              <a:chOff x="2552" y="3101"/>
              <a:chExt cx="576" cy="476"/>
            </a:xfrm>
          </p:grpSpPr>
          <p:sp>
            <p:nvSpPr>
              <p:cNvPr id="118" name="Oval 29"/>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19" name="Text Box 30"/>
              <p:cNvSpPr txBox="1">
                <a:spLocks noChangeArrowheads="1"/>
              </p:cNvSpPr>
              <p:nvPr/>
            </p:nvSpPr>
            <p:spPr bwMode="auto">
              <a:xfrm>
                <a:off x="2552" y="3101"/>
                <a:ext cx="576" cy="47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g</a:t>
                </a:r>
              </a:p>
            </p:txBody>
          </p:sp>
        </p:grpSp>
        <p:sp>
          <p:nvSpPr>
            <p:cNvPr id="112" name="Line 31"/>
            <p:cNvSpPr>
              <a:spLocks noChangeShapeType="1"/>
            </p:cNvSpPr>
            <p:nvPr/>
          </p:nvSpPr>
          <p:spPr bwMode="auto">
            <a:xfrm flipH="1">
              <a:off x="761" y="1211"/>
              <a:ext cx="528" cy="321"/>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3" name="Line 32"/>
            <p:cNvSpPr>
              <a:spLocks noChangeShapeType="1"/>
            </p:cNvSpPr>
            <p:nvPr/>
          </p:nvSpPr>
          <p:spPr bwMode="auto">
            <a:xfrm>
              <a:off x="1577" y="1211"/>
              <a:ext cx="480" cy="27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4" name="Line 33"/>
            <p:cNvSpPr>
              <a:spLocks noChangeShapeType="1"/>
            </p:cNvSpPr>
            <p:nvPr/>
          </p:nvSpPr>
          <p:spPr bwMode="auto">
            <a:xfrm flipH="1">
              <a:off x="713" y="2129"/>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5" name="Line 34"/>
            <p:cNvSpPr>
              <a:spLocks noChangeShapeType="1"/>
            </p:cNvSpPr>
            <p:nvPr/>
          </p:nvSpPr>
          <p:spPr bwMode="auto">
            <a:xfrm>
              <a:off x="761" y="1670"/>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6" name="Line 35"/>
            <p:cNvSpPr>
              <a:spLocks noChangeShapeType="1"/>
            </p:cNvSpPr>
            <p:nvPr/>
          </p:nvSpPr>
          <p:spPr bwMode="auto">
            <a:xfrm flipH="1">
              <a:off x="281" y="1670"/>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7" name="Line 36"/>
            <p:cNvSpPr>
              <a:spLocks noChangeShapeType="1"/>
            </p:cNvSpPr>
            <p:nvPr/>
          </p:nvSpPr>
          <p:spPr bwMode="auto">
            <a:xfrm>
              <a:off x="1193" y="2129"/>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132" name="Text Box 133"/>
          <p:cNvSpPr txBox="1">
            <a:spLocks noChangeArrowheads="1"/>
          </p:cNvSpPr>
          <p:nvPr/>
        </p:nvSpPr>
        <p:spPr bwMode="auto">
          <a:xfrm>
            <a:off x="6972300" y="2695575"/>
            <a:ext cx="2040943" cy="1569660"/>
          </a:xfrm>
          <a:prstGeom prst="rect">
            <a:avLst/>
          </a:prstGeom>
          <a:noFill/>
          <a:ln w="12700" cap="rnd" algn="ctr">
            <a:solidFill>
              <a:srgbClr val="006600"/>
            </a:solidFill>
            <a:miter lim="800000"/>
            <a:headEnd/>
            <a:tailEnd/>
          </a:ln>
        </p:spPr>
        <p:txBody>
          <a:bodyPr wrap="none">
            <a:spAutoFit/>
          </a:bodyPr>
          <a:lstStyle/>
          <a:p>
            <a:pPr eaLnBrk="0" fontAlgn="base" hangingPunct="0">
              <a:spcBef>
                <a:spcPct val="0"/>
              </a:spcBef>
              <a:spcAft>
                <a:spcPct val="0"/>
              </a:spcAft>
            </a:pPr>
            <a:r>
              <a:rPr kumimoji="1" lang="zh-CN" altLang="en-US" sz="2400" b="1">
                <a:solidFill>
                  <a:srgbClr val="0000FF"/>
                </a:solidFill>
                <a:latin typeface="Times New Roman" pitchFamily="18" charset="0"/>
              </a:rPr>
              <a:t>中序遍历的</a:t>
            </a:r>
          </a:p>
          <a:p>
            <a:pPr eaLnBrk="0" fontAlgn="base" hangingPunct="0">
              <a:spcBef>
                <a:spcPct val="0"/>
              </a:spcBef>
              <a:spcAft>
                <a:spcPct val="0"/>
              </a:spcAft>
            </a:pPr>
            <a:r>
              <a:rPr kumimoji="1" lang="zh-CN" altLang="en-US" sz="2400" b="1">
                <a:solidFill>
                  <a:srgbClr val="0000FF"/>
                </a:solidFill>
                <a:latin typeface="Times New Roman" pitchFamily="18" charset="0"/>
              </a:rPr>
              <a:t>第一个结点和</a:t>
            </a:r>
          </a:p>
          <a:p>
            <a:pPr eaLnBrk="0" fontAlgn="base" hangingPunct="0">
              <a:spcBef>
                <a:spcPct val="0"/>
              </a:spcBef>
              <a:spcAft>
                <a:spcPct val="0"/>
              </a:spcAft>
            </a:pPr>
            <a:r>
              <a:rPr kumimoji="1" lang="zh-CN" altLang="en-US" sz="2400" b="1">
                <a:solidFill>
                  <a:srgbClr val="0000FF"/>
                </a:solidFill>
                <a:latin typeface="Times New Roman" pitchFamily="18" charset="0"/>
              </a:rPr>
              <a:t>最后一个结点</a:t>
            </a:r>
          </a:p>
          <a:p>
            <a:pPr eaLnBrk="0" fontAlgn="base" hangingPunct="0">
              <a:spcBef>
                <a:spcPct val="0"/>
              </a:spcBef>
              <a:spcAft>
                <a:spcPct val="0"/>
              </a:spcAft>
            </a:pPr>
            <a:r>
              <a:rPr kumimoji="1" lang="zh-CN" altLang="en-US" sz="2400" b="1">
                <a:solidFill>
                  <a:srgbClr val="0000FF"/>
                </a:solidFill>
                <a:latin typeface="Times New Roman" pitchFamily="18" charset="0"/>
              </a:rPr>
              <a:t>都指向头结点</a:t>
            </a:r>
          </a:p>
        </p:txBody>
      </p:sp>
      <p:sp>
        <p:nvSpPr>
          <p:cNvPr id="133" name="Freeform 164"/>
          <p:cNvSpPr>
            <a:spLocks/>
          </p:cNvSpPr>
          <p:nvPr/>
        </p:nvSpPr>
        <p:spPr bwMode="auto">
          <a:xfrm>
            <a:off x="1752600" y="1209675"/>
            <a:ext cx="2447925" cy="4187825"/>
          </a:xfrm>
          <a:custGeom>
            <a:avLst/>
            <a:gdLst>
              <a:gd name="T0" fmla="*/ 2147483647 w 1542"/>
              <a:gd name="T1" fmla="*/ 2147483647 h 2638"/>
              <a:gd name="T2" fmla="*/ 2147483647 w 1542"/>
              <a:gd name="T3" fmla="*/ 2147483647 h 2638"/>
              <a:gd name="T4" fmla="*/ 2147483647 w 1542"/>
              <a:gd name="T5" fmla="*/ 2147483647 h 2638"/>
              <a:gd name="T6" fmla="*/ 2147483647 w 1542"/>
              <a:gd name="T7" fmla="*/ 2147483647 h 2638"/>
              <a:gd name="T8" fmla="*/ 2147483647 w 1542"/>
              <a:gd name="T9" fmla="*/ 2147483647 h 2638"/>
              <a:gd name="T10" fmla="*/ 0 60000 65536"/>
              <a:gd name="T11" fmla="*/ 0 60000 65536"/>
              <a:gd name="T12" fmla="*/ 0 60000 65536"/>
              <a:gd name="T13" fmla="*/ 0 60000 65536"/>
              <a:gd name="T14" fmla="*/ 0 60000 65536"/>
              <a:gd name="T15" fmla="*/ 0 w 1542"/>
              <a:gd name="T16" fmla="*/ 0 h 2638"/>
              <a:gd name="T17" fmla="*/ 1542 w 1542"/>
              <a:gd name="T18" fmla="*/ 2638 h 2638"/>
            </a:gdLst>
            <a:ahLst/>
            <a:cxnLst>
              <a:cxn ang="T10">
                <a:pos x="T0" y="T1"/>
              </a:cxn>
              <a:cxn ang="T11">
                <a:pos x="T2" y="T3"/>
              </a:cxn>
              <a:cxn ang="T12">
                <a:pos x="T4" y="T5"/>
              </a:cxn>
              <a:cxn ang="T13">
                <a:pos x="T6" y="T7"/>
              </a:cxn>
              <a:cxn ang="T14">
                <a:pos x="T8" y="T9"/>
              </a:cxn>
            </a:cxnLst>
            <a:rect l="T15" t="T16" r="T17" b="T18"/>
            <a:pathLst>
              <a:path w="1542" h="2638">
                <a:moveTo>
                  <a:pt x="499" y="2078"/>
                </a:moveTo>
                <a:cubicBezTo>
                  <a:pt x="483" y="2195"/>
                  <a:pt x="468" y="2313"/>
                  <a:pt x="408" y="2351"/>
                </a:cubicBezTo>
                <a:cubicBezTo>
                  <a:pt x="348" y="2389"/>
                  <a:pt x="0" y="2638"/>
                  <a:pt x="136" y="2305"/>
                </a:cubicBezTo>
                <a:cubicBezTo>
                  <a:pt x="272" y="1972"/>
                  <a:pt x="990" y="710"/>
                  <a:pt x="1224" y="355"/>
                </a:cubicBezTo>
                <a:cubicBezTo>
                  <a:pt x="1458" y="0"/>
                  <a:pt x="1500" y="86"/>
                  <a:pt x="1542" y="173"/>
                </a:cubicBezTo>
              </a:path>
            </a:pathLst>
          </a:custGeom>
          <a:noFill/>
          <a:ln w="28575">
            <a:solidFill>
              <a:srgbClr val="F81908"/>
            </a:solidFill>
            <a:prstDash val="lgDash"/>
            <a:round/>
            <a:headEnd/>
            <a:tailEnd type="arrow" w="med" len="med"/>
          </a:ln>
        </p:spPr>
        <p:txBody>
          <a:bodyPr>
            <a:spAutoFit/>
          </a:bodyPr>
          <a:lstStyle/>
          <a:p>
            <a:pPr algn="ctr" eaLnBrk="0" fontAlgn="base" hangingPunct="0">
              <a:spcBef>
                <a:spcPct val="0"/>
              </a:spcBef>
              <a:spcAft>
                <a:spcPct val="0"/>
              </a:spcAft>
            </a:pPr>
            <a:endParaRPr kumimoji="1" lang="zh-CN" altLang="en-US" sz="2800">
              <a:solidFill>
                <a:srgbClr val="000000"/>
              </a:solidFill>
              <a:latin typeface="Times New Roman" pitchFamily="18" charset="0"/>
            </a:endParaRPr>
          </a:p>
        </p:txBody>
      </p:sp>
      <p:sp>
        <p:nvSpPr>
          <p:cNvPr id="134" name="Freeform 165"/>
          <p:cNvSpPr>
            <a:spLocks/>
          </p:cNvSpPr>
          <p:nvPr/>
        </p:nvSpPr>
        <p:spPr bwMode="auto">
          <a:xfrm>
            <a:off x="5353050" y="1412875"/>
            <a:ext cx="1619250" cy="2111375"/>
          </a:xfrm>
          <a:custGeom>
            <a:avLst/>
            <a:gdLst>
              <a:gd name="T0" fmla="*/ 2147483647 w 1020"/>
              <a:gd name="T1" fmla="*/ 2147483647 h 1330"/>
              <a:gd name="T2" fmla="*/ 2147483647 w 1020"/>
              <a:gd name="T3" fmla="*/ 2147483647 h 1330"/>
              <a:gd name="T4" fmla="*/ 0 w 1020"/>
              <a:gd name="T5" fmla="*/ 0 h 1330"/>
              <a:gd name="T6" fmla="*/ 0 60000 65536"/>
              <a:gd name="T7" fmla="*/ 0 60000 65536"/>
              <a:gd name="T8" fmla="*/ 0 60000 65536"/>
              <a:gd name="T9" fmla="*/ 0 w 1020"/>
              <a:gd name="T10" fmla="*/ 0 h 1330"/>
              <a:gd name="T11" fmla="*/ 1020 w 1020"/>
              <a:gd name="T12" fmla="*/ 1330 h 1330"/>
            </a:gdLst>
            <a:ahLst/>
            <a:cxnLst>
              <a:cxn ang="T6">
                <a:pos x="T0" y="T1"/>
              </a:cxn>
              <a:cxn ang="T7">
                <a:pos x="T2" y="T3"/>
              </a:cxn>
              <a:cxn ang="T8">
                <a:pos x="T4" y="T5"/>
              </a:cxn>
            </a:cxnLst>
            <a:rect l="T9" t="T10" r="T11" b="T12"/>
            <a:pathLst>
              <a:path w="1020" h="1330">
                <a:moveTo>
                  <a:pt x="680" y="1179"/>
                </a:moveTo>
                <a:cubicBezTo>
                  <a:pt x="850" y="1254"/>
                  <a:pt x="1020" y="1330"/>
                  <a:pt x="907" y="1134"/>
                </a:cubicBezTo>
                <a:cubicBezTo>
                  <a:pt x="794" y="938"/>
                  <a:pt x="397" y="469"/>
                  <a:pt x="0" y="0"/>
                </a:cubicBezTo>
              </a:path>
            </a:pathLst>
          </a:custGeom>
          <a:noFill/>
          <a:ln w="28575">
            <a:solidFill>
              <a:srgbClr val="F81908"/>
            </a:solidFill>
            <a:prstDash val="lgDash"/>
            <a:round/>
            <a:headEnd/>
            <a:tailEnd type="arrow" w="med" len="med"/>
          </a:ln>
        </p:spPr>
        <p:txBody>
          <a:bodyPr>
            <a:spAutoFit/>
          </a:bodyPr>
          <a:lstStyle/>
          <a:p>
            <a:pPr algn="ctr" eaLnBrk="0" fontAlgn="base" hangingPunct="0">
              <a:spcBef>
                <a:spcPct val="0"/>
              </a:spcBef>
              <a:spcAft>
                <a:spcPct val="0"/>
              </a:spcAft>
            </a:pPr>
            <a:endParaRPr kumimoji="1" lang="zh-CN" altLang="en-US" sz="2800">
              <a:solidFill>
                <a:srgbClr val="000000"/>
              </a:solidFill>
              <a:latin typeface="Times New Roman" pitchFamily="18" charset="0"/>
            </a:endParaRPr>
          </a:p>
        </p:txBody>
      </p:sp>
      <p:sp>
        <p:nvSpPr>
          <p:cNvPr id="135" name="Text Box 167"/>
          <p:cNvSpPr txBox="1">
            <a:spLocks noChangeArrowheads="1"/>
          </p:cNvSpPr>
          <p:nvPr/>
        </p:nvSpPr>
        <p:spPr bwMode="auto">
          <a:xfrm>
            <a:off x="34925" y="6181725"/>
            <a:ext cx="3394075" cy="523875"/>
          </a:xfrm>
          <a:prstGeom prst="rect">
            <a:avLst/>
          </a:prstGeom>
          <a:solidFill>
            <a:srgbClr val="CCFFFF"/>
          </a:solidFill>
          <a:ln w="12700" cap="rnd" algn="ctr">
            <a:solidFill>
              <a:srgbClr val="99FFCC"/>
            </a:solidFill>
            <a:miter lim="800000"/>
            <a:headEnd/>
            <a:tailEnd/>
          </a:ln>
        </p:spPr>
        <p:txBody>
          <a:bodyPr wrap="none">
            <a:spAutoFit/>
          </a:bodyPr>
          <a:lstStyle/>
          <a:p>
            <a:pPr algn="ctr" eaLnBrk="0" fontAlgn="base" hangingPunct="0">
              <a:spcBef>
                <a:spcPct val="0"/>
              </a:spcBef>
              <a:spcAft>
                <a:spcPct val="0"/>
              </a:spcAft>
            </a:pPr>
            <a:r>
              <a:rPr kumimoji="1" lang="zh-CN" altLang="en-US" sz="2800" b="1">
                <a:solidFill>
                  <a:srgbClr val="000000"/>
                </a:solidFill>
                <a:latin typeface="Times New Roman" pitchFamily="18" charset="0"/>
              </a:rPr>
              <a:t>中序序列 </a:t>
            </a:r>
            <a:r>
              <a:rPr kumimoji="1" lang="en-US" altLang="zh-CN" sz="2800" b="1">
                <a:solidFill>
                  <a:srgbClr val="000000"/>
                </a:solidFill>
                <a:latin typeface="Times New Roman" pitchFamily="18" charset="0"/>
              </a:rPr>
              <a:t>a,e,b,f,c,t,d</a:t>
            </a:r>
          </a:p>
        </p:txBody>
      </p:sp>
      <p:sp>
        <p:nvSpPr>
          <p:cNvPr id="136" name="Text Box 167"/>
          <p:cNvSpPr txBox="1">
            <a:spLocks noChangeArrowheads="1"/>
          </p:cNvSpPr>
          <p:nvPr/>
        </p:nvSpPr>
        <p:spPr bwMode="auto">
          <a:xfrm>
            <a:off x="6858000" y="4745038"/>
            <a:ext cx="2348720" cy="954107"/>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pPr>
            <a:r>
              <a:rPr kumimoji="1" lang="zh-CN" altLang="en-US" sz="2800" b="1" dirty="0">
                <a:solidFill>
                  <a:srgbClr val="FF0000"/>
                </a:solidFill>
                <a:latin typeface="Times New Roman" pitchFamily="18" charset="0"/>
              </a:rPr>
              <a:t>构成双向</a:t>
            </a:r>
          </a:p>
          <a:p>
            <a:pPr algn="ctr" eaLnBrk="0" fontAlgn="base" hangingPunct="0">
              <a:spcBef>
                <a:spcPct val="0"/>
              </a:spcBef>
              <a:spcAft>
                <a:spcPct val="0"/>
              </a:spcAft>
            </a:pPr>
            <a:r>
              <a:rPr kumimoji="1" lang="zh-CN" altLang="en-US" sz="2800" b="1" dirty="0">
                <a:solidFill>
                  <a:srgbClr val="FF0000"/>
                </a:solidFill>
                <a:latin typeface="Times New Roman" pitchFamily="18" charset="0"/>
              </a:rPr>
              <a:t>循环线索链表</a:t>
            </a:r>
          </a:p>
        </p:txBody>
      </p:sp>
    </p:spTree>
    <p:extLst>
      <p:ext uri="{BB962C8B-B14F-4D97-AF65-F5344CB8AC3E}">
        <p14:creationId xmlns:p14="http://schemas.microsoft.com/office/powerpoint/2010/main" val="503946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9"/>
                                        </p:tgtEl>
                                        <p:attrNameLst>
                                          <p:attrName>style.visibility</p:attrName>
                                        </p:attrNameLst>
                                      </p:cBhvr>
                                      <p:to>
                                        <p:strVal val="visible"/>
                                      </p:to>
                                    </p:set>
                                    <p:anim calcmode="lin" valueType="num">
                                      <p:cBhvr additive="base">
                                        <p:cTn id="21" dur="500" fill="hold"/>
                                        <p:tgtEl>
                                          <p:spTgt spid="79"/>
                                        </p:tgtEl>
                                        <p:attrNameLst>
                                          <p:attrName>ppt_x</p:attrName>
                                        </p:attrNameLst>
                                      </p:cBhvr>
                                      <p:tavLst>
                                        <p:tav tm="0">
                                          <p:val>
                                            <p:strVal val="#ppt_x"/>
                                          </p:val>
                                        </p:tav>
                                        <p:tav tm="100000">
                                          <p:val>
                                            <p:strVal val="#ppt_x"/>
                                          </p:val>
                                        </p:tav>
                                      </p:tavLst>
                                    </p:anim>
                                    <p:anim calcmode="lin" valueType="num">
                                      <p:cBhvr additive="base">
                                        <p:cTn id="22"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slide(fromBottom)">
                                      <p:cBhvr>
                                        <p:cTn id="27" dur="500"/>
                                        <p:tgtEl>
                                          <p:spTgt spid="103"/>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3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133"/>
                                        </p:tgtEl>
                                        <p:attrNameLst>
                                          <p:attrName>style.visibility</p:attrName>
                                        </p:attrNameLst>
                                      </p:cBhvr>
                                      <p:to>
                                        <p:strVal val="visible"/>
                                      </p:to>
                                    </p:set>
                                    <p:animEffect transition="in" filter="slide(fromBottom)">
                                      <p:cBhvr>
                                        <p:cTn id="36" dur="500"/>
                                        <p:tgtEl>
                                          <p:spTgt spid="133"/>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134"/>
                                        </p:tgtEl>
                                        <p:attrNameLst>
                                          <p:attrName>style.visibility</p:attrName>
                                        </p:attrNameLst>
                                      </p:cBhvr>
                                      <p:to>
                                        <p:strVal val="visible"/>
                                      </p:to>
                                    </p:set>
                                    <p:animEffect transition="in" filter="slide(fromBottom)">
                                      <p:cBhvr>
                                        <p:cTn id="41" dur="500"/>
                                        <p:tgtEl>
                                          <p:spTgt spid="134"/>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p:bldP spid="81" grpId="0" animBg="1"/>
      <p:bldP spid="82" grpId="0" animBg="1"/>
      <p:bldP spid="102" grpId="0" animBg="1"/>
      <p:bldP spid="103" grpId="0" animBg="1"/>
      <p:bldP spid="132" grpId="0" animBg="1"/>
      <p:bldP spid="133" grpId="0" animBg="1"/>
      <p:bldP spid="134" grpId="0" animBg="1"/>
      <p:bldP spid="136"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二叉树的线索化</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查找</a:t>
            </a:r>
            <a:r>
              <a:rPr lang="en-US" altLang="zh-CN" sz="2800" b="1" dirty="0"/>
              <a:t>---</a:t>
            </a:r>
            <a:r>
              <a:rPr lang="zh-CN" altLang="en-US" sz="2800" b="1" dirty="0"/>
              <a:t>在线索树中找结点</a:t>
            </a:r>
            <a:r>
              <a:rPr lang="en-US" altLang="zh-CN" sz="2800" b="1" dirty="0"/>
              <a:t>---</a:t>
            </a:r>
            <a:r>
              <a:rPr lang="zh-CN" altLang="en-US" sz="2800" b="1" dirty="0">
                <a:solidFill>
                  <a:srgbClr val="FF0000"/>
                </a:solidFill>
              </a:rPr>
              <a:t>中序后继</a:t>
            </a:r>
            <a:endParaRPr lang="en-US" altLang="zh-CN" sz="2800" b="1" dirty="0">
              <a:solidFill>
                <a:srgbClr val="FF0000"/>
              </a:solidFill>
            </a:endParaRPr>
          </a:p>
          <a:p>
            <a:pPr>
              <a:lnSpc>
                <a:spcPts val="3600"/>
              </a:lnSpc>
            </a:pPr>
            <a:endParaRPr lang="en-US" altLang="zh-CN" sz="2800" b="1" dirty="0"/>
          </a:p>
        </p:txBody>
      </p:sp>
      <p:sp>
        <p:nvSpPr>
          <p:cNvPr id="4" name="日期占位符 3"/>
          <p:cNvSpPr>
            <a:spLocks noGrp="1"/>
          </p:cNvSpPr>
          <p:nvPr>
            <p:ph type="dt" sz="half" idx="10"/>
          </p:nvPr>
        </p:nvSpPr>
        <p:spPr/>
        <p:txBody>
          <a:bodyPr/>
          <a:lstStyle/>
          <a:p>
            <a:fld id="{C563C5FB-CB13-439F-9CF6-52768DDA37C2}"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93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6" name="Text Box 2"/>
          <p:cNvSpPr txBox="1">
            <a:spLocks noChangeArrowheads="1"/>
          </p:cNvSpPr>
          <p:nvPr/>
        </p:nvSpPr>
        <p:spPr bwMode="auto">
          <a:xfrm>
            <a:off x="457200" y="1621810"/>
            <a:ext cx="8532813" cy="2492990"/>
          </a:xfrm>
          <a:prstGeom prst="rect">
            <a:avLst/>
          </a:prstGeom>
          <a:noFill/>
          <a:ln w="9525">
            <a:solidFill>
              <a:srgbClr val="04617B"/>
            </a:solidFill>
            <a:miter lim="800000"/>
            <a:headEnd/>
            <a:tailEnd/>
          </a:ln>
        </p:spPr>
        <p:txBody>
          <a:bodyPr wrap="square">
            <a:spAutoFit/>
          </a:bodyPr>
          <a:lstStyle/>
          <a:p>
            <a:pPr marL="685800" marR="0" lvl="0" indent="-685800" defTabSz="914400" eaLnBrk="1" fontAlgn="base" latinLnBrk="0" hangingPunct="1">
              <a:lnSpc>
                <a:spcPct val="130000"/>
              </a:lnSpc>
              <a:spcBef>
                <a:spcPct val="2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在中序线索树中查找中序后继的方法</a:t>
            </a:r>
          </a:p>
          <a:p>
            <a:pPr marL="685800" marR="0" lvl="0" indent="-685800" defTabSz="914400" eaLnBrk="1" fontAlgn="base" latinLnBrk="0" hangingPunct="1">
              <a:lnSpc>
                <a:spcPct val="130000"/>
              </a:lnSpc>
              <a:spcBef>
                <a:spcPct val="2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Times New Roman" pitchFamily="18" charset="0"/>
                <a:sym typeface="Wingdings" pitchFamily="2" charset="2"/>
              </a:rPr>
              <a:t>（</a:t>
            </a:r>
            <a:r>
              <a:rPr kumimoji="1" lang="en-US" altLang="zh-CN" sz="2400" b="1" i="0" u="none" strike="noStrike" kern="0" cap="none" spc="0" normalizeH="0" baseline="0" noProof="0">
                <a:ln>
                  <a:noFill/>
                </a:ln>
                <a:solidFill>
                  <a:srgbClr val="0000FF"/>
                </a:solidFill>
                <a:effectLst/>
                <a:uLnTx/>
                <a:uFillTx/>
                <a:latin typeface="Times New Roman" pitchFamily="18" charset="0"/>
                <a:sym typeface="Wingdings" pitchFamily="2" charset="2"/>
              </a:rPr>
              <a:t>1</a:t>
            </a:r>
            <a:r>
              <a:rPr kumimoji="1" lang="zh-CN" altLang="en-US" sz="2400" b="1" i="0" u="none" strike="noStrike" kern="0" cap="none" spc="0" normalizeH="0" baseline="0" noProof="0">
                <a:ln>
                  <a:noFill/>
                </a:ln>
                <a:solidFill>
                  <a:srgbClr val="0000FF"/>
                </a:solidFill>
                <a:effectLst/>
                <a:uLnTx/>
                <a:uFillTx/>
                <a:latin typeface="Times New Roman" pitchFamily="18" charset="0"/>
                <a:sym typeface="Wingdings" pitchFamily="2" charset="2"/>
              </a:rPr>
              <a:t>）当结点没有右子树时，即：</a:t>
            </a:r>
          </a:p>
          <a:p>
            <a:pPr marL="685800" marR="0" lvl="0" indent="-685800" defTabSz="914400" eaLnBrk="1" fontAlgn="base" latinLnBrk="0" hangingPunct="1">
              <a:lnSpc>
                <a:spcPct val="130000"/>
              </a:lnSpc>
              <a:spcBef>
                <a:spcPct val="2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   当</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p-&gt;rtag =1 </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时，</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p-&gt;rch </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既为所求后继结点（线索）。</a:t>
            </a:r>
          </a:p>
          <a:p>
            <a:pPr marL="685800" marR="0" lvl="0" indent="-685800" defTabSz="914400" eaLnBrk="1" fontAlgn="base" latinLnBrk="0" hangingPunct="1">
              <a:lnSpc>
                <a:spcPct val="12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sym typeface="Wingdings" pitchFamily="2" charset="2"/>
              </a:rPr>
              <a:t>（</a:t>
            </a:r>
            <a:r>
              <a:rPr kumimoji="1" lang="en-US" altLang="zh-CN" sz="2400" b="1" i="0" u="none" strike="noStrike" kern="0" cap="none" spc="0" normalizeH="0" baseline="0" noProof="0">
                <a:ln>
                  <a:noFill/>
                </a:ln>
                <a:solidFill>
                  <a:srgbClr val="0000FF"/>
                </a:solidFill>
                <a:effectLst/>
                <a:uLnTx/>
                <a:uFillTx/>
                <a:latin typeface="宋体" pitchFamily="2" charset="-122"/>
                <a:sym typeface="Wingdings" pitchFamily="2" charset="2"/>
              </a:rPr>
              <a:t>2</a:t>
            </a:r>
            <a:r>
              <a:rPr kumimoji="1" lang="zh-CN" altLang="en-US" sz="2400" b="1" i="0" u="none" strike="noStrike" kern="0" cap="none" spc="0" normalizeH="0" baseline="0" noProof="0">
                <a:ln>
                  <a:noFill/>
                </a:ln>
                <a:solidFill>
                  <a:srgbClr val="0000FF"/>
                </a:solidFill>
                <a:effectLst/>
                <a:uLnTx/>
                <a:uFillTx/>
                <a:latin typeface="宋体" pitchFamily="2" charset="-122"/>
                <a:sym typeface="Wingdings" pitchFamily="2" charset="2"/>
              </a:rPr>
              <a:t>）当结点有右子树时，即：</a:t>
            </a:r>
            <a:endParaRPr kumimoji="1" lang="zh-CN" altLang="en-US" sz="2400" b="1" i="0" u="none" strike="noStrike" kern="0" cap="none" spc="0" normalizeH="0" baseline="0" noProof="0">
              <a:ln>
                <a:noFill/>
              </a:ln>
              <a:solidFill>
                <a:srgbClr val="FF3300"/>
              </a:solidFill>
              <a:effectLst/>
              <a:uLnTx/>
              <a:uFillTx/>
              <a:latin typeface="Times New Roman" pitchFamily="18" charset="0"/>
              <a:sym typeface="Wingdings" pitchFamily="2" charset="2"/>
            </a:endParaRPr>
          </a:p>
          <a:p>
            <a:pPr marL="685800" marR="0" lvl="0" indent="-685800"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   当</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p-&gt;rtag = 0 </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时，</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p</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的后继结点为</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p</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的</a:t>
            </a:r>
            <a:r>
              <a:rPr kumimoji="1" lang="zh-CN" altLang="en-US" sz="2400" b="1" i="0" u="none" strike="noStrike" kern="0" cap="none" spc="0" normalizeH="0" baseline="0" noProof="0">
                <a:ln>
                  <a:noFill/>
                </a:ln>
                <a:solidFill>
                  <a:srgbClr val="FF3300"/>
                </a:solidFill>
                <a:effectLst/>
                <a:uLnTx/>
                <a:uFillTx/>
                <a:latin typeface="Times New Roman" pitchFamily="18" charset="0"/>
                <a:sym typeface="Wingdings" pitchFamily="2" charset="2"/>
              </a:rPr>
              <a:t>右子树的最左下结点。</a:t>
            </a:r>
          </a:p>
        </p:txBody>
      </p:sp>
      <p:sp>
        <p:nvSpPr>
          <p:cNvPr id="17" name="AutoShape 6"/>
          <p:cNvSpPr>
            <a:spLocks noChangeArrowheads="1"/>
          </p:cNvSpPr>
          <p:nvPr/>
        </p:nvSpPr>
        <p:spPr bwMode="auto">
          <a:xfrm>
            <a:off x="1254125" y="4419600"/>
            <a:ext cx="7127875" cy="1871662"/>
          </a:xfrm>
          <a:prstGeom prst="cloudCallout">
            <a:avLst>
              <a:gd name="adj1" fmla="val -56507"/>
              <a:gd name="adj2" fmla="val 33827"/>
            </a:avLst>
          </a:prstGeom>
          <a:solidFill>
            <a:srgbClr val="FFFFFF"/>
          </a:solidFill>
          <a:ln w="25400" algn="ctr">
            <a:solidFill>
              <a:srgbClr val="0F6FC6"/>
            </a:solidFill>
            <a:round/>
            <a:headEnd/>
            <a:tailEnd/>
          </a:ln>
        </p:spPr>
        <p:txBody>
          <a:bodyPr/>
          <a:lstStyle/>
          <a:p>
            <a:pPr marL="0" marR="0" lvl="0" indent="0" algn="just" defTabSz="914400" eaLnBrk="1" fontAlgn="base" latinLnBrk="0" hangingPunct="1">
              <a:lnSpc>
                <a:spcPct val="130000"/>
              </a:lnSpc>
              <a:spcBef>
                <a:spcPct val="20000"/>
              </a:spcBef>
              <a:spcAft>
                <a:spcPct val="0"/>
              </a:spcAft>
              <a:buClrTx/>
              <a:buSzTx/>
              <a:buFontTx/>
              <a:buNone/>
              <a:tabLst/>
              <a:defRPr/>
            </a:pPr>
            <a:r>
              <a:rPr kumimoji="1" lang="zh-CN" altLang="en-US" sz="3200" b="1" i="0" u="none" strike="noStrike" kern="0" cap="none" spc="0" normalizeH="0" baseline="0" noProof="0">
                <a:ln>
                  <a:noFill/>
                </a:ln>
                <a:solidFill>
                  <a:srgbClr val="0000FF"/>
                </a:solidFill>
                <a:effectLst/>
                <a:uLnTx/>
                <a:uFillTx/>
                <a:latin typeface="隶书" pitchFamily="49" charset="-122"/>
                <a:ea typeface="隶书" pitchFamily="49" charset="-122"/>
              </a:rPr>
              <a:t>如何在中序线索树找指定结点的后继？</a:t>
            </a:r>
          </a:p>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FF"/>
              </a:solidFill>
              <a:effectLst/>
              <a:uLnTx/>
              <a:uFillTx/>
              <a:latin typeface="隶书" pitchFamily="49" charset="-122"/>
              <a:ea typeface="隶书" pitchFamily="49" charset="-122"/>
            </a:endParaRPr>
          </a:p>
        </p:txBody>
      </p:sp>
    </p:spTree>
    <p:extLst>
      <p:ext uri="{BB962C8B-B14F-4D97-AF65-F5344CB8AC3E}">
        <p14:creationId xmlns:p14="http://schemas.microsoft.com/office/powerpoint/2010/main" val="1158572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二叉树的线索化</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在中序线索树中找结点*</a:t>
            </a:r>
            <a:r>
              <a:rPr lang="en-US" altLang="zh-CN" sz="2800" b="1" dirty="0"/>
              <a:t>p</a:t>
            </a:r>
            <a:r>
              <a:rPr lang="zh-CN" altLang="en-US" sz="2800" b="1" dirty="0"/>
              <a:t>的</a:t>
            </a:r>
            <a:r>
              <a:rPr lang="zh-CN" altLang="en-US" sz="2800" b="1" dirty="0">
                <a:solidFill>
                  <a:srgbClr val="FF0000"/>
                </a:solidFill>
              </a:rPr>
              <a:t>中序后继</a:t>
            </a:r>
            <a:endParaRPr lang="en-US" altLang="zh-CN" sz="2800" b="1" dirty="0">
              <a:solidFill>
                <a:srgbClr val="FF0000"/>
              </a:solidFill>
            </a:endParaRPr>
          </a:p>
          <a:p>
            <a:pPr>
              <a:lnSpc>
                <a:spcPts val="3600"/>
              </a:lnSpc>
            </a:pPr>
            <a:endParaRPr lang="en-US" altLang="zh-CN" sz="2800" b="1" dirty="0"/>
          </a:p>
        </p:txBody>
      </p:sp>
      <p:sp>
        <p:nvSpPr>
          <p:cNvPr id="4" name="日期占位符 3"/>
          <p:cNvSpPr>
            <a:spLocks noGrp="1"/>
          </p:cNvSpPr>
          <p:nvPr>
            <p:ph type="dt" sz="half" idx="10"/>
          </p:nvPr>
        </p:nvSpPr>
        <p:spPr/>
        <p:txBody>
          <a:bodyPr/>
          <a:lstStyle/>
          <a:p>
            <a:fld id="{C0BA8675-FDAC-48C1-B9AD-CE212ADEEE6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94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4" name="Rectangle 3"/>
          <p:cNvSpPr txBox="1">
            <a:spLocks noChangeArrowheads="1"/>
          </p:cNvSpPr>
          <p:nvPr/>
        </p:nvSpPr>
        <p:spPr bwMode="auto">
          <a:xfrm>
            <a:off x="654050" y="1876425"/>
            <a:ext cx="8489950" cy="45243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itchFamily="18" charset="2"/>
              <a:buNone/>
              <a:tabLst/>
              <a:defRPr/>
            </a:pPr>
            <a:r>
              <a:rPr kumimoji="0" lang="zh-CN" altLang="en-US" sz="2000" b="1" i="0" u="none" strike="noStrike" kern="0" cap="none" spc="0" normalizeH="0" baseline="0" noProof="0" dirty="0">
                <a:ln>
                  <a:noFill/>
                </a:ln>
                <a:solidFill>
                  <a:srgbClr val="0000FF"/>
                </a:solidFill>
                <a:effectLst/>
                <a:uLnTx/>
                <a:uFillTx/>
                <a:latin typeface="Times New Roman" pitchFamily="18" charset="0"/>
                <a:ea typeface="宋体"/>
                <a:cs typeface="+mn-cs"/>
              </a:rPr>
              <a:t> </a:t>
            </a:r>
            <a:r>
              <a:rPr kumimoji="0" lang="en-US" altLang="zh-CN" sz="2000" b="1" i="0" u="none" strike="noStrike" kern="0" cap="none" spc="0" normalizeH="0" baseline="0" noProof="0" dirty="0" err="1">
                <a:ln>
                  <a:noFill/>
                </a:ln>
                <a:solidFill>
                  <a:srgbClr val="0000FF"/>
                </a:solidFill>
                <a:effectLst/>
                <a:uLnTx/>
                <a:uFillTx/>
                <a:latin typeface="Constantia"/>
                <a:ea typeface="宋体"/>
                <a:cs typeface="+mn-cs"/>
              </a:rPr>
              <a:t>threadbithptr</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cs typeface="+mn-cs"/>
              </a:rPr>
              <a:t> * </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a:cs typeface="+mn-cs"/>
              </a:rPr>
              <a:t>Inordernext</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cs typeface="+mn-cs"/>
              </a:rPr>
              <a:t>(</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a:cs typeface="+mn-cs"/>
              </a:rPr>
              <a:t>bithptr</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cs typeface="+mn-cs"/>
              </a:rPr>
              <a:t> *p)</a:t>
            </a: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cs typeface="+mn-cs"/>
              </a:rPr>
              <a:t>{</a:t>
            </a: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itchFamily="18" charset="2"/>
              <a:buNone/>
              <a:tabLst/>
              <a:defRPr/>
            </a:pPr>
            <a:r>
              <a:rPr kumimoji="0" lang="en-US" altLang="zh-CN" sz="2400" b="0" i="0" u="none" strike="noStrike" kern="0" cap="none" spc="0" normalizeH="0" baseline="0" noProof="0" dirty="0" err="1">
                <a:ln>
                  <a:noFill/>
                </a:ln>
                <a:solidFill>
                  <a:srgbClr val="0000FF"/>
                </a:solidFill>
                <a:effectLst/>
                <a:uLnTx/>
                <a:uFillTx/>
                <a:latin typeface="Constantia"/>
                <a:ea typeface="宋体"/>
                <a:cs typeface="+mn-cs"/>
              </a:rPr>
              <a:t>threadbithptr</a:t>
            </a:r>
            <a:r>
              <a:rPr kumimoji="0" lang="en-US" altLang="zh-CN" sz="2400" b="0" i="0" u="none" strike="noStrike" kern="0" cap="none" spc="0" normalizeH="0" baseline="0" noProof="0" dirty="0">
                <a:ln>
                  <a:noFill/>
                </a:ln>
                <a:solidFill>
                  <a:srgbClr val="0000FF"/>
                </a:solidFill>
                <a:effectLst/>
                <a:uLnTx/>
                <a:uFillTx/>
                <a:latin typeface="Constantia"/>
                <a:ea typeface="宋体"/>
                <a:cs typeface="+mn-cs"/>
              </a:rPr>
              <a:t> *q;</a:t>
            </a: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itchFamily="18" charset="2"/>
              <a:buNone/>
              <a:tabLst/>
              <a:defRPr/>
            </a:pPr>
            <a:r>
              <a:rPr kumimoji="0" lang="en-US" altLang="zh-CN" b="0" i="0" u="none" strike="noStrike" kern="0" cap="none" spc="0" normalizeH="0" baseline="0" noProof="0" dirty="0">
                <a:ln>
                  <a:noFill/>
                </a:ln>
                <a:solidFill>
                  <a:srgbClr val="0000FF"/>
                </a:solidFill>
                <a:effectLst/>
                <a:uLnTx/>
                <a:uFillTx/>
                <a:latin typeface="Constantia"/>
                <a:ea typeface="宋体"/>
              </a:rPr>
              <a:t>   if (p-&gt;</a:t>
            </a:r>
            <a:r>
              <a:rPr kumimoji="0" lang="en-US" altLang="zh-CN" b="0" i="0" u="none" strike="noStrike" kern="0" cap="none" spc="0" normalizeH="0" baseline="0" noProof="0" dirty="0" err="1">
                <a:ln>
                  <a:noFill/>
                </a:ln>
                <a:solidFill>
                  <a:srgbClr val="0000FF"/>
                </a:solidFill>
                <a:effectLst/>
                <a:uLnTx/>
                <a:uFillTx/>
                <a:latin typeface="Constantia"/>
                <a:ea typeface="宋体"/>
              </a:rPr>
              <a:t>rtag</a:t>
            </a:r>
            <a:r>
              <a:rPr kumimoji="0" lang="en-US" altLang="zh-CN" b="0" i="0" u="none" strike="noStrike" kern="0" cap="none" spc="0" normalizeH="0" baseline="0" noProof="0" dirty="0">
                <a:ln>
                  <a:noFill/>
                </a:ln>
                <a:solidFill>
                  <a:srgbClr val="0000FF"/>
                </a:solidFill>
                <a:effectLst/>
                <a:uLnTx/>
                <a:uFillTx/>
                <a:latin typeface="Constantia"/>
                <a:ea typeface="宋体"/>
              </a:rPr>
              <a:t>==1) </a:t>
            </a:r>
            <a:r>
              <a:rPr kumimoji="0" lang="en-US" altLang="zh-CN" b="1" i="0" u="none" strike="noStrike" kern="0" cap="none" spc="0" normalizeH="0" baseline="0" noProof="0" dirty="0">
                <a:ln>
                  <a:noFill/>
                </a:ln>
                <a:solidFill>
                  <a:srgbClr val="000000"/>
                </a:solidFill>
                <a:effectLst/>
                <a:uLnTx/>
                <a:uFillTx/>
                <a:latin typeface="Times New Roman" pitchFamily="18" charset="0"/>
                <a:ea typeface="宋体"/>
              </a:rPr>
              <a:t> // </a:t>
            </a:r>
            <a:r>
              <a:rPr kumimoji="0" lang="zh-CN" altLang="en-US" b="1" i="0" u="none" strike="noStrike" kern="0" cap="none" spc="0" normalizeH="0" baseline="0" noProof="0" dirty="0">
                <a:ln>
                  <a:noFill/>
                </a:ln>
                <a:solidFill>
                  <a:srgbClr val="000000"/>
                </a:solidFill>
                <a:effectLst/>
                <a:uLnTx/>
                <a:uFillTx/>
                <a:latin typeface="Times New Roman" pitchFamily="18" charset="0"/>
                <a:ea typeface="宋体"/>
              </a:rPr>
              <a:t>右子树空</a:t>
            </a:r>
            <a:endParaRPr kumimoji="0" lang="en-US" altLang="zh-CN" b="0" i="0" u="none" strike="noStrike" kern="0" cap="none" spc="0" normalizeH="0" baseline="0" noProof="0" dirty="0">
              <a:ln>
                <a:noFill/>
              </a:ln>
              <a:solidFill>
                <a:srgbClr val="000000"/>
              </a:solidFill>
              <a:effectLst/>
              <a:uLnTx/>
              <a:uFillTx/>
              <a:latin typeface="Constantia"/>
              <a:ea typeface="宋体"/>
            </a:endParaRP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b="0" i="0" u="none" strike="noStrike" kern="0" cap="none" spc="0" normalizeH="0" baseline="0" noProof="0" dirty="0">
                <a:ln>
                  <a:noFill/>
                </a:ln>
                <a:solidFill>
                  <a:srgbClr val="F81908"/>
                </a:solidFill>
                <a:effectLst/>
                <a:uLnTx/>
                <a:uFillTx/>
                <a:latin typeface="Constantia"/>
                <a:ea typeface="宋体"/>
              </a:rPr>
              <a:t>return(p-&gt;</a:t>
            </a:r>
            <a:r>
              <a:rPr kumimoji="0" lang="en-US" altLang="zh-CN" b="0" i="0" u="none" strike="noStrike" kern="0" cap="none" spc="0" normalizeH="0" baseline="0" noProof="0" dirty="0" err="1">
                <a:ln>
                  <a:noFill/>
                </a:ln>
                <a:solidFill>
                  <a:srgbClr val="F81908"/>
                </a:solidFill>
                <a:effectLst/>
                <a:uLnTx/>
                <a:uFillTx/>
                <a:latin typeface="Constantia"/>
                <a:ea typeface="宋体"/>
              </a:rPr>
              <a:t>rch</a:t>
            </a:r>
            <a:r>
              <a:rPr kumimoji="0" lang="en-US" altLang="zh-CN" b="0" i="0" u="none" strike="noStrike" kern="0" cap="none" spc="0" normalizeH="0" baseline="0" noProof="0" dirty="0">
                <a:ln>
                  <a:noFill/>
                </a:ln>
                <a:solidFill>
                  <a:srgbClr val="F81908"/>
                </a:solidFill>
                <a:effectLst/>
                <a:uLnTx/>
                <a:uFillTx/>
                <a:latin typeface="Constantia"/>
                <a:ea typeface="宋体"/>
              </a:rPr>
              <a:t>);</a:t>
            </a: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endPar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endParaRP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else     </a:t>
            </a:r>
            <a:r>
              <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a:rPr>
              <a:t>// </a:t>
            </a: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a:rPr>
              <a:t>右子树非空</a:t>
            </a: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endPar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endParaRP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endPar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endParaRP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endPar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endParaRP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Constantia"/>
                <a:ea typeface="宋体"/>
              </a:rPr>
              <a:t>}</a:t>
            </a:r>
          </a:p>
        </p:txBody>
      </p:sp>
      <p:sp>
        <p:nvSpPr>
          <p:cNvPr id="15" name="Text Box 22"/>
          <p:cNvSpPr txBox="1">
            <a:spLocks noChangeArrowheads="1"/>
          </p:cNvSpPr>
          <p:nvPr/>
        </p:nvSpPr>
        <p:spPr bwMode="auto">
          <a:xfrm>
            <a:off x="6907213" y="5775325"/>
            <a:ext cx="2189162" cy="523875"/>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pPr>
            <a:r>
              <a:rPr kumimoji="1" lang="en-US" altLang="zh-CN" sz="2800" b="1">
                <a:solidFill>
                  <a:srgbClr val="000000"/>
                </a:solidFill>
                <a:latin typeface="Times New Roman" pitchFamily="18" charset="0"/>
              </a:rPr>
              <a:t>p</a:t>
            </a:r>
            <a:r>
              <a:rPr kumimoji="1" lang="zh-CN" altLang="en-US" sz="2800" b="1">
                <a:solidFill>
                  <a:srgbClr val="000000"/>
                </a:solidFill>
                <a:latin typeface="Times New Roman" pitchFamily="18" charset="0"/>
              </a:rPr>
              <a:t>的右子树空</a:t>
            </a:r>
          </a:p>
        </p:txBody>
      </p:sp>
      <p:grpSp>
        <p:nvGrpSpPr>
          <p:cNvPr id="19" name="Group 26"/>
          <p:cNvGrpSpPr>
            <a:grpSpLocks/>
          </p:cNvGrpSpPr>
          <p:nvPr/>
        </p:nvGrpSpPr>
        <p:grpSpPr bwMode="auto">
          <a:xfrm>
            <a:off x="6451600" y="2133600"/>
            <a:ext cx="2430463" cy="3224213"/>
            <a:chOff x="187" y="735"/>
            <a:chExt cx="1306" cy="1640"/>
          </a:xfrm>
        </p:grpSpPr>
        <p:sp>
          <p:nvSpPr>
            <p:cNvPr id="20" name="Freeform 27"/>
            <p:cNvSpPr>
              <a:spLocks/>
            </p:cNvSpPr>
            <p:nvPr/>
          </p:nvSpPr>
          <p:spPr bwMode="auto">
            <a:xfrm>
              <a:off x="865" y="756"/>
              <a:ext cx="69" cy="219"/>
            </a:xfrm>
            <a:custGeom>
              <a:avLst/>
              <a:gdLst>
                <a:gd name="T0" fmla="*/ 58 w 69"/>
                <a:gd name="T1" fmla="*/ 219 h 219"/>
                <a:gd name="T2" fmla="*/ 14 w 69"/>
                <a:gd name="T3" fmla="*/ 22 h 219"/>
                <a:gd name="T4" fmla="*/ 0 w 69"/>
                <a:gd name="T5" fmla="*/ 0 h 219"/>
                <a:gd name="T6" fmla="*/ 0 60000 65536"/>
                <a:gd name="T7" fmla="*/ 0 60000 65536"/>
                <a:gd name="T8" fmla="*/ 0 60000 65536"/>
                <a:gd name="T9" fmla="*/ 0 w 69"/>
                <a:gd name="T10" fmla="*/ 0 h 219"/>
                <a:gd name="T11" fmla="*/ 69 w 69"/>
                <a:gd name="T12" fmla="*/ 219 h 219"/>
              </a:gdLst>
              <a:ahLst/>
              <a:cxnLst>
                <a:cxn ang="T6">
                  <a:pos x="T0" y="T1"/>
                </a:cxn>
                <a:cxn ang="T7">
                  <a:pos x="T2" y="T3"/>
                </a:cxn>
                <a:cxn ang="T8">
                  <a:pos x="T4" y="T5"/>
                </a:cxn>
              </a:cxnLst>
              <a:rect l="T9" t="T10" r="T11" b="T12"/>
              <a:pathLst>
                <a:path w="69" h="219">
                  <a:moveTo>
                    <a:pt x="58" y="219"/>
                  </a:moveTo>
                  <a:cubicBezTo>
                    <a:pt x="54" y="164"/>
                    <a:pt x="69" y="57"/>
                    <a:pt x="14" y="22"/>
                  </a:cubicBezTo>
                  <a:cubicBezTo>
                    <a:pt x="9" y="15"/>
                    <a:pt x="0" y="0"/>
                    <a:pt x="0" y="0"/>
                  </a:cubicBezTo>
                </a:path>
              </a:pathLst>
            </a:cu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1" name="Oval 28"/>
            <p:cNvSpPr>
              <a:spLocks noChangeArrowheads="1"/>
            </p:cNvSpPr>
            <p:nvPr/>
          </p:nvSpPr>
          <p:spPr bwMode="auto">
            <a:xfrm>
              <a:off x="851" y="935"/>
              <a:ext cx="207" cy="183"/>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22" name="Oval 29"/>
            <p:cNvSpPr>
              <a:spLocks noChangeArrowheads="1"/>
            </p:cNvSpPr>
            <p:nvPr/>
          </p:nvSpPr>
          <p:spPr bwMode="auto">
            <a:xfrm>
              <a:off x="352" y="1253"/>
              <a:ext cx="207" cy="183"/>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23" name="Oval 30"/>
            <p:cNvSpPr>
              <a:spLocks noChangeArrowheads="1"/>
            </p:cNvSpPr>
            <p:nvPr/>
          </p:nvSpPr>
          <p:spPr bwMode="auto">
            <a:xfrm>
              <a:off x="1033" y="1752"/>
              <a:ext cx="207" cy="183"/>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24" name="Line 31"/>
            <p:cNvSpPr>
              <a:spLocks noChangeShapeType="1"/>
            </p:cNvSpPr>
            <p:nvPr/>
          </p:nvSpPr>
          <p:spPr bwMode="auto">
            <a:xfrm flipH="1">
              <a:off x="534" y="1071"/>
              <a:ext cx="317" cy="227"/>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Line 32"/>
            <p:cNvSpPr>
              <a:spLocks noChangeShapeType="1"/>
            </p:cNvSpPr>
            <p:nvPr/>
          </p:nvSpPr>
          <p:spPr bwMode="auto">
            <a:xfrm>
              <a:off x="489" y="1434"/>
              <a:ext cx="544" cy="363"/>
            </a:xfrm>
            <a:prstGeom prst="line">
              <a:avLst/>
            </a:pr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Freeform 33"/>
            <p:cNvSpPr>
              <a:spLocks/>
            </p:cNvSpPr>
            <p:nvPr/>
          </p:nvSpPr>
          <p:spPr bwMode="auto">
            <a:xfrm>
              <a:off x="1025" y="1104"/>
              <a:ext cx="315" cy="893"/>
            </a:xfrm>
            <a:custGeom>
              <a:avLst/>
              <a:gdLst>
                <a:gd name="T0" fmla="*/ 168 w 315"/>
                <a:gd name="T1" fmla="*/ 826 h 893"/>
                <a:gd name="T2" fmla="*/ 204 w 315"/>
                <a:gd name="T3" fmla="*/ 891 h 893"/>
                <a:gd name="T4" fmla="*/ 255 w 315"/>
                <a:gd name="T5" fmla="*/ 884 h 893"/>
                <a:gd name="T6" fmla="*/ 306 w 315"/>
                <a:gd name="T7" fmla="*/ 768 h 893"/>
                <a:gd name="T8" fmla="*/ 241 w 315"/>
                <a:gd name="T9" fmla="*/ 359 h 893"/>
                <a:gd name="T10" fmla="*/ 146 w 315"/>
                <a:gd name="T11" fmla="*/ 184 h 893"/>
                <a:gd name="T12" fmla="*/ 88 w 315"/>
                <a:gd name="T13" fmla="*/ 104 h 893"/>
                <a:gd name="T14" fmla="*/ 15 w 315"/>
                <a:gd name="T15" fmla="*/ 24 h 893"/>
                <a:gd name="T16" fmla="*/ 0 w 315"/>
                <a:gd name="T17" fmla="*/ 2 h 89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5"/>
                <a:gd name="T28" fmla="*/ 0 h 893"/>
                <a:gd name="T29" fmla="*/ 315 w 315"/>
                <a:gd name="T30" fmla="*/ 893 h 89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5" h="893">
                  <a:moveTo>
                    <a:pt x="168" y="826"/>
                  </a:moveTo>
                  <a:cubicBezTo>
                    <a:pt x="176" y="859"/>
                    <a:pt x="175" y="872"/>
                    <a:pt x="204" y="891"/>
                  </a:cubicBezTo>
                  <a:cubicBezTo>
                    <a:pt x="221" y="889"/>
                    <a:pt x="241" y="893"/>
                    <a:pt x="255" y="884"/>
                  </a:cubicBezTo>
                  <a:cubicBezTo>
                    <a:pt x="286" y="864"/>
                    <a:pt x="298" y="800"/>
                    <a:pt x="306" y="768"/>
                  </a:cubicBezTo>
                  <a:cubicBezTo>
                    <a:pt x="302" y="644"/>
                    <a:pt x="315" y="475"/>
                    <a:pt x="241" y="359"/>
                  </a:cubicBezTo>
                  <a:cubicBezTo>
                    <a:pt x="223" y="293"/>
                    <a:pt x="205" y="225"/>
                    <a:pt x="146" y="184"/>
                  </a:cubicBezTo>
                  <a:cubicBezTo>
                    <a:pt x="137" y="156"/>
                    <a:pt x="111" y="121"/>
                    <a:pt x="88" y="104"/>
                  </a:cubicBezTo>
                  <a:cubicBezTo>
                    <a:pt x="68" y="75"/>
                    <a:pt x="45" y="43"/>
                    <a:pt x="15" y="24"/>
                  </a:cubicBezTo>
                  <a:cubicBezTo>
                    <a:pt x="6" y="0"/>
                    <a:pt x="15" y="2"/>
                    <a:pt x="0" y="2"/>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7" name="Line 34"/>
            <p:cNvSpPr>
              <a:spLocks noChangeShapeType="1"/>
            </p:cNvSpPr>
            <p:nvPr/>
          </p:nvSpPr>
          <p:spPr bwMode="auto">
            <a:xfrm>
              <a:off x="1078" y="1525"/>
              <a:ext cx="0" cy="227"/>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Rectangle 35"/>
            <p:cNvSpPr>
              <a:spLocks noChangeArrowheads="1"/>
            </p:cNvSpPr>
            <p:nvPr/>
          </p:nvSpPr>
          <p:spPr bwMode="auto">
            <a:xfrm>
              <a:off x="970" y="1270"/>
              <a:ext cx="245" cy="232"/>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p</a:t>
              </a:r>
            </a:p>
          </p:txBody>
        </p:sp>
        <p:sp>
          <p:nvSpPr>
            <p:cNvPr id="29" name="Line 36"/>
            <p:cNvSpPr>
              <a:spLocks noChangeShapeType="1"/>
            </p:cNvSpPr>
            <p:nvPr/>
          </p:nvSpPr>
          <p:spPr bwMode="auto">
            <a:xfrm flipH="1">
              <a:off x="1033" y="890"/>
              <a:ext cx="227" cy="91"/>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0" name="Rectangle 37"/>
            <p:cNvSpPr>
              <a:spLocks noChangeArrowheads="1"/>
            </p:cNvSpPr>
            <p:nvPr/>
          </p:nvSpPr>
          <p:spPr bwMode="auto">
            <a:xfrm>
              <a:off x="1260" y="735"/>
              <a:ext cx="233" cy="233"/>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q</a:t>
              </a:r>
            </a:p>
          </p:txBody>
        </p:sp>
        <p:sp>
          <p:nvSpPr>
            <p:cNvPr id="31" name="Freeform 38"/>
            <p:cNvSpPr>
              <a:spLocks/>
            </p:cNvSpPr>
            <p:nvPr/>
          </p:nvSpPr>
          <p:spPr bwMode="auto">
            <a:xfrm>
              <a:off x="187" y="1405"/>
              <a:ext cx="182" cy="146"/>
            </a:xfrm>
            <a:custGeom>
              <a:avLst/>
              <a:gdLst>
                <a:gd name="T0" fmla="*/ 182 w 182"/>
                <a:gd name="T1" fmla="*/ 0 h 146"/>
                <a:gd name="T2" fmla="*/ 138 w 182"/>
                <a:gd name="T3" fmla="*/ 29 h 146"/>
                <a:gd name="T4" fmla="*/ 131 w 182"/>
                <a:gd name="T5" fmla="*/ 51 h 146"/>
                <a:gd name="T6" fmla="*/ 102 w 182"/>
                <a:gd name="T7" fmla="*/ 58 h 146"/>
                <a:gd name="T8" fmla="*/ 73 w 182"/>
                <a:gd name="T9" fmla="*/ 95 h 146"/>
                <a:gd name="T10" fmla="*/ 43 w 182"/>
                <a:gd name="T11" fmla="*/ 131 h 146"/>
                <a:gd name="T12" fmla="*/ 0 w 182"/>
                <a:gd name="T13" fmla="*/ 146 h 146"/>
                <a:gd name="T14" fmla="*/ 0 60000 65536"/>
                <a:gd name="T15" fmla="*/ 0 60000 65536"/>
                <a:gd name="T16" fmla="*/ 0 60000 65536"/>
                <a:gd name="T17" fmla="*/ 0 60000 65536"/>
                <a:gd name="T18" fmla="*/ 0 60000 65536"/>
                <a:gd name="T19" fmla="*/ 0 60000 65536"/>
                <a:gd name="T20" fmla="*/ 0 60000 65536"/>
                <a:gd name="T21" fmla="*/ 0 w 182"/>
                <a:gd name="T22" fmla="*/ 0 h 146"/>
                <a:gd name="T23" fmla="*/ 182 w 182"/>
                <a:gd name="T24" fmla="*/ 146 h 1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46">
                  <a:moveTo>
                    <a:pt x="182" y="0"/>
                  </a:moveTo>
                  <a:cubicBezTo>
                    <a:pt x="159" y="7"/>
                    <a:pt x="154" y="5"/>
                    <a:pt x="138" y="29"/>
                  </a:cubicBezTo>
                  <a:cubicBezTo>
                    <a:pt x="134" y="35"/>
                    <a:pt x="137" y="46"/>
                    <a:pt x="131" y="51"/>
                  </a:cubicBezTo>
                  <a:cubicBezTo>
                    <a:pt x="123" y="57"/>
                    <a:pt x="112" y="56"/>
                    <a:pt x="102" y="58"/>
                  </a:cubicBezTo>
                  <a:cubicBezTo>
                    <a:pt x="82" y="114"/>
                    <a:pt x="111" y="47"/>
                    <a:pt x="73" y="95"/>
                  </a:cubicBezTo>
                  <a:cubicBezTo>
                    <a:pt x="48" y="126"/>
                    <a:pt x="87" y="111"/>
                    <a:pt x="43" y="131"/>
                  </a:cubicBezTo>
                  <a:cubicBezTo>
                    <a:pt x="29" y="137"/>
                    <a:pt x="0" y="146"/>
                    <a:pt x="0" y="146"/>
                  </a:cubicBezTo>
                </a:path>
              </a:pathLst>
            </a:cu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2" name="Freeform 39"/>
            <p:cNvSpPr>
              <a:spLocks/>
            </p:cNvSpPr>
            <p:nvPr/>
          </p:nvSpPr>
          <p:spPr bwMode="auto">
            <a:xfrm>
              <a:off x="923" y="1915"/>
              <a:ext cx="139" cy="153"/>
            </a:xfrm>
            <a:custGeom>
              <a:avLst/>
              <a:gdLst>
                <a:gd name="T0" fmla="*/ 139 w 139"/>
                <a:gd name="T1" fmla="*/ 0 h 153"/>
                <a:gd name="T2" fmla="*/ 102 w 139"/>
                <a:gd name="T3" fmla="*/ 8 h 153"/>
                <a:gd name="T4" fmla="*/ 80 w 139"/>
                <a:gd name="T5" fmla="*/ 51 h 153"/>
                <a:gd name="T6" fmla="*/ 37 w 139"/>
                <a:gd name="T7" fmla="*/ 73 h 153"/>
                <a:gd name="T8" fmla="*/ 29 w 139"/>
                <a:gd name="T9" fmla="*/ 110 h 153"/>
                <a:gd name="T10" fmla="*/ 7 w 139"/>
                <a:gd name="T11" fmla="*/ 117 h 153"/>
                <a:gd name="T12" fmla="*/ 0 w 139"/>
                <a:gd name="T13" fmla="*/ 153 h 153"/>
                <a:gd name="T14" fmla="*/ 0 60000 65536"/>
                <a:gd name="T15" fmla="*/ 0 60000 65536"/>
                <a:gd name="T16" fmla="*/ 0 60000 65536"/>
                <a:gd name="T17" fmla="*/ 0 60000 65536"/>
                <a:gd name="T18" fmla="*/ 0 60000 65536"/>
                <a:gd name="T19" fmla="*/ 0 60000 65536"/>
                <a:gd name="T20" fmla="*/ 0 60000 65536"/>
                <a:gd name="T21" fmla="*/ 0 w 139"/>
                <a:gd name="T22" fmla="*/ 0 h 153"/>
                <a:gd name="T23" fmla="*/ 139 w 139"/>
                <a:gd name="T24" fmla="*/ 153 h 1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9" h="153">
                  <a:moveTo>
                    <a:pt x="139" y="0"/>
                  </a:moveTo>
                  <a:cubicBezTo>
                    <a:pt x="127" y="3"/>
                    <a:pt x="113" y="2"/>
                    <a:pt x="102" y="8"/>
                  </a:cubicBezTo>
                  <a:cubicBezTo>
                    <a:pt x="83" y="19"/>
                    <a:pt x="92" y="36"/>
                    <a:pt x="80" y="51"/>
                  </a:cubicBezTo>
                  <a:cubicBezTo>
                    <a:pt x="69" y="64"/>
                    <a:pt x="52" y="68"/>
                    <a:pt x="37" y="73"/>
                  </a:cubicBezTo>
                  <a:cubicBezTo>
                    <a:pt x="34" y="85"/>
                    <a:pt x="36" y="100"/>
                    <a:pt x="29" y="110"/>
                  </a:cubicBezTo>
                  <a:cubicBezTo>
                    <a:pt x="25" y="116"/>
                    <a:pt x="11" y="111"/>
                    <a:pt x="7" y="117"/>
                  </a:cubicBezTo>
                  <a:cubicBezTo>
                    <a:pt x="0" y="127"/>
                    <a:pt x="0" y="153"/>
                    <a:pt x="0" y="153"/>
                  </a:cubicBezTo>
                </a:path>
              </a:pathLst>
            </a:cu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3" name="Rectangle 40"/>
            <p:cNvSpPr>
              <a:spLocks noChangeArrowheads="1"/>
            </p:cNvSpPr>
            <p:nvPr/>
          </p:nvSpPr>
          <p:spPr bwMode="auto">
            <a:xfrm>
              <a:off x="649" y="2142"/>
              <a:ext cx="290" cy="233"/>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(a)</a:t>
              </a:r>
            </a:p>
          </p:txBody>
        </p:sp>
      </p:grpSp>
    </p:spTree>
    <p:extLst>
      <p:ext uri="{BB962C8B-B14F-4D97-AF65-F5344CB8AC3E}">
        <p14:creationId xmlns:p14="http://schemas.microsoft.com/office/powerpoint/2010/main" val="2118869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二叉树的线索化</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在中序线索树中找结点*</a:t>
            </a:r>
            <a:r>
              <a:rPr lang="en-US" altLang="zh-CN" sz="2800" b="1" dirty="0"/>
              <a:t>p</a:t>
            </a:r>
            <a:r>
              <a:rPr lang="zh-CN" altLang="en-US" sz="2800" b="1" dirty="0"/>
              <a:t>的</a:t>
            </a:r>
            <a:r>
              <a:rPr lang="zh-CN" altLang="en-US" sz="2800" b="1" dirty="0">
                <a:solidFill>
                  <a:srgbClr val="FF0000"/>
                </a:solidFill>
              </a:rPr>
              <a:t>中序后继</a:t>
            </a:r>
            <a:endParaRPr lang="en-US" altLang="zh-CN" sz="2800" b="1" dirty="0">
              <a:solidFill>
                <a:srgbClr val="FF0000"/>
              </a:solidFill>
            </a:endParaRPr>
          </a:p>
          <a:p>
            <a:pPr>
              <a:lnSpc>
                <a:spcPts val="3600"/>
              </a:lnSpc>
            </a:pPr>
            <a:endParaRPr lang="en-US" altLang="zh-CN" sz="2800" b="1" dirty="0"/>
          </a:p>
        </p:txBody>
      </p:sp>
      <p:sp>
        <p:nvSpPr>
          <p:cNvPr id="4" name="日期占位符 3"/>
          <p:cNvSpPr>
            <a:spLocks noGrp="1"/>
          </p:cNvSpPr>
          <p:nvPr>
            <p:ph type="dt" sz="half" idx="10"/>
          </p:nvPr>
        </p:nvSpPr>
        <p:spPr/>
        <p:txBody>
          <a:bodyPr/>
          <a:lstStyle/>
          <a:p>
            <a:fld id="{5B7FF24C-BABC-4AD3-95C7-C7652E7E1431}"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95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34" name="Rectangle 3"/>
          <p:cNvSpPr txBox="1">
            <a:spLocks noChangeArrowheads="1"/>
          </p:cNvSpPr>
          <p:nvPr/>
        </p:nvSpPr>
        <p:spPr bwMode="auto">
          <a:xfrm>
            <a:off x="609600" y="1801812"/>
            <a:ext cx="8489950" cy="4522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itchFamily="18" charset="2"/>
              <a:buNone/>
              <a:tabLst/>
              <a:defRPr/>
            </a:pPr>
            <a:r>
              <a:rPr kumimoji="0" lang="zh-CN" altLang="en-US" sz="2000" b="1" i="0" u="none" strike="noStrike" kern="0" cap="none" spc="0" normalizeH="0" baseline="0" noProof="0" dirty="0">
                <a:ln>
                  <a:noFill/>
                </a:ln>
                <a:solidFill>
                  <a:srgbClr val="0000FF"/>
                </a:solidFill>
                <a:effectLst/>
                <a:uLnTx/>
                <a:uFillTx/>
                <a:latin typeface="Times New Roman" pitchFamily="18" charset="0"/>
                <a:ea typeface="宋体"/>
              </a:rPr>
              <a:t> </a:t>
            </a:r>
            <a:r>
              <a:rPr kumimoji="0" lang="en-US" altLang="zh-CN" sz="2000" b="1" i="0" u="none" strike="noStrike" kern="0" cap="none" spc="0" normalizeH="0" baseline="0" noProof="0" dirty="0" err="1">
                <a:ln>
                  <a:noFill/>
                </a:ln>
                <a:solidFill>
                  <a:srgbClr val="0000FF"/>
                </a:solidFill>
                <a:effectLst/>
                <a:uLnTx/>
                <a:uFillTx/>
                <a:latin typeface="Constantia"/>
                <a:ea typeface="宋体"/>
              </a:rPr>
              <a:t>threadbithptr</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 </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a:rPr>
              <a:t>Inordernext</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a:rPr>
              <a:t>bithptr</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*p)</a:t>
            </a: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a:t>
            </a: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else                 </a:t>
            </a: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 *p</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右子树非空</a:t>
            </a: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b="1" i="0" u="none" strike="noStrike" kern="0" cap="none" spc="0" normalizeH="0" baseline="0" noProof="0" dirty="0">
                <a:ln>
                  <a:noFill/>
                </a:ln>
                <a:solidFill>
                  <a:srgbClr val="0000FF"/>
                </a:solidFill>
                <a:effectLst/>
                <a:uLnTx/>
                <a:uFillTx/>
                <a:latin typeface="Times New Roman" pitchFamily="18" charset="0"/>
                <a:ea typeface="宋体"/>
              </a:rPr>
              <a:t>{  </a:t>
            </a:r>
            <a:r>
              <a:rPr kumimoji="0" lang="en-US" altLang="zh-CN" b="1" i="0" u="none" strike="noStrike" kern="0" cap="none" spc="0" normalizeH="0" baseline="0" noProof="0" dirty="0">
                <a:ln>
                  <a:noFill/>
                </a:ln>
                <a:solidFill>
                  <a:srgbClr val="FF3300"/>
                </a:solidFill>
                <a:effectLst/>
                <a:uLnTx/>
                <a:uFillTx/>
                <a:latin typeface="Times New Roman" pitchFamily="18" charset="0"/>
                <a:ea typeface="宋体"/>
              </a:rPr>
              <a:t>q=p-&gt;</a:t>
            </a:r>
            <a:r>
              <a:rPr kumimoji="0" lang="en-US" altLang="zh-CN" b="1" i="0" u="none" strike="noStrike" kern="0" cap="none" spc="0" normalizeH="0" baseline="0" noProof="0" dirty="0" err="1">
                <a:ln>
                  <a:noFill/>
                </a:ln>
                <a:solidFill>
                  <a:srgbClr val="FF3300"/>
                </a:solidFill>
                <a:effectLst/>
                <a:uLnTx/>
                <a:uFillTx/>
                <a:latin typeface="Times New Roman" pitchFamily="18" charset="0"/>
                <a:ea typeface="宋体"/>
              </a:rPr>
              <a:t>rch</a:t>
            </a:r>
            <a:r>
              <a:rPr kumimoji="0" lang="en-US" altLang="zh-CN" b="1" i="0" u="none" strike="noStrike" kern="0" cap="none" spc="0" normalizeH="0" baseline="0" noProof="0" dirty="0">
                <a:ln>
                  <a:noFill/>
                </a:ln>
                <a:solidFill>
                  <a:srgbClr val="FF3300"/>
                </a:solidFill>
                <a:effectLst/>
                <a:uLnTx/>
                <a:uFillTx/>
                <a:latin typeface="Times New Roman" pitchFamily="18" charset="0"/>
                <a:ea typeface="宋体"/>
              </a:rPr>
              <a:t>;   </a:t>
            </a:r>
            <a:r>
              <a:rPr kumimoji="0" lang="en-US" altLang="zh-CN" b="1" i="0" u="none" strike="noStrike" kern="0" cap="none" spc="0" normalizeH="0" baseline="0" noProof="0" dirty="0">
                <a:ln>
                  <a:noFill/>
                </a:ln>
                <a:solidFill>
                  <a:srgbClr val="000000"/>
                </a:solidFill>
                <a:effectLst/>
                <a:uLnTx/>
                <a:uFillTx/>
                <a:latin typeface="Times New Roman" pitchFamily="18" charset="0"/>
                <a:ea typeface="宋体"/>
              </a:rPr>
              <a:t>//</a:t>
            </a:r>
            <a:r>
              <a:rPr kumimoji="0" lang="zh-CN" altLang="en-US" b="1" i="0" u="none" strike="noStrike" kern="0" cap="none" spc="0" normalizeH="0" baseline="0" noProof="0" dirty="0">
                <a:ln>
                  <a:noFill/>
                </a:ln>
                <a:solidFill>
                  <a:srgbClr val="000000"/>
                </a:solidFill>
                <a:effectLst/>
                <a:uLnTx/>
                <a:uFillTx/>
                <a:latin typeface="Times New Roman" pitchFamily="18" charset="0"/>
                <a:ea typeface="宋体"/>
              </a:rPr>
              <a:t>从*</a:t>
            </a:r>
            <a:r>
              <a:rPr kumimoji="0" lang="en-US" altLang="zh-CN" b="1" i="0" u="none" strike="noStrike" kern="0" cap="none" spc="0" normalizeH="0" baseline="0" noProof="0" dirty="0">
                <a:ln>
                  <a:noFill/>
                </a:ln>
                <a:solidFill>
                  <a:srgbClr val="000000"/>
                </a:solidFill>
                <a:effectLst/>
                <a:uLnTx/>
                <a:uFillTx/>
                <a:latin typeface="Times New Roman" pitchFamily="18" charset="0"/>
                <a:ea typeface="宋体"/>
              </a:rPr>
              <a:t>p</a:t>
            </a:r>
            <a:r>
              <a:rPr kumimoji="0" lang="zh-CN" altLang="en-US" b="1" i="0" u="none" strike="noStrike" kern="0" cap="none" spc="0" normalizeH="0" baseline="0" noProof="0" dirty="0">
                <a:ln>
                  <a:noFill/>
                </a:ln>
                <a:solidFill>
                  <a:srgbClr val="000000"/>
                </a:solidFill>
                <a:effectLst/>
                <a:uLnTx/>
                <a:uFillTx/>
                <a:latin typeface="Times New Roman" pitchFamily="18" charset="0"/>
                <a:ea typeface="宋体"/>
              </a:rPr>
              <a:t>的右子树开始找</a:t>
            </a: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b="1" i="0" u="none" strike="noStrike" kern="0" cap="none" spc="0" normalizeH="0" baseline="0" noProof="0" dirty="0">
                <a:ln>
                  <a:noFill/>
                </a:ln>
                <a:solidFill>
                  <a:srgbClr val="FF3300"/>
                </a:solidFill>
                <a:effectLst/>
                <a:uLnTx/>
                <a:uFillTx/>
                <a:latin typeface="Times New Roman" pitchFamily="18" charset="0"/>
                <a:ea typeface="宋体"/>
              </a:rPr>
              <a:t>   while(q-&gt;</a:t>
            </a:r>
            <a:r>
              <a:rPr kumimoji="0" lang="en-US" altLang="zh-CN" b="1" i="0" u="none" strike="noStrike" kern="0" cap="none" spc="0" normalizeH="0" baseline="0" noProof="0" dirty="0" err="1">
                <a:ln>
                  <a:noFill/>
                </a:ln>
                <a:solidFill>
                  <a:srgbClr val="FF3300"/>
                </a:solidFill>
                <a:effectLst/>
                <a:uLnTx/>
                <a:uFillTx/>
                <a:latin typeface="Times New Roman" pitchFamily="18" charset="0"/>
                <a:ea typeface="宋体"/>
              </a:rPr>
              <a:t>ltag</a:t>
            </a:r>
            <a:r>
              <a:rPr kumimoji="0" lang="en-US" altLang="zh-CN" b="1" i="0" u="none" strike="noStrike" kern="0" cap="none" spc="0" normalizeH="0" baseline="0" noProof="0" dirty="0">
                <a:ln>
                  <a:noFill/>
                </a:ln>
                <a:solidFill>
                  <a:srgbClr val="FF3300"/>
                </a:solidFill>
                <a:effectLst/>
                <a:uLnTx/>
                <a:uFillTx/>
                <a:latin typeface="Times New Roman" pitchFamily="18" charset="0"/>
                <a:ea typeface="宋体"/>
              </a:rPr>
              <a:t>==0)</a:t>
            </a:r>
            <a:endParaRPr kumimoji="0" lang="zh-CN" altLang="en-US" b="1" i="0" u="none" strike="noStrike" kern="0" cap="none" spc="0" normalizeH="0" baseline="0" noProof="0" dirty="0">
              <a:ln>
                <a:noFill/>
              </a:ln>
              <a:solidFill>
                <a:srgbClr val="FF3300"/>
              </a:solidFill>
              <a:effectLst/>
              <a:uLnTx/>
              <a:uFillTx/>
              <a:latin typeface="Times New Roman" pitchFamily="18" charset="0"/>
              <a:ea typeface="宋体"/>
            </a:endParaRP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b="1" i="0" u="none" strike="noStrike" kern="0" cap="none" spc="0" normalizeH="0" baseline="0" noProof="0" dirty="0">
                <a:ln>
                  <a:noFill/>
                </a:ln>
                <a:solidFill>
                  <a:srgbClr val="FF3300"/>
                </a:solidFill>
                <a:effectLst/>
                <a:uLnTx/>
                <a:uFillTx/>
                <a:latin typeface="Times New Roman" pitchFamily="18" charset="0"/>
                <a:ea typeface="宋体"/>
              </a:rPr>
              <a:t>        q=q-&gt;</a:t>
            </a:r>
            <a:r>
              <a:rPr kumimoji="0" lang="en-US" altLang="zh-CN" b="1" i="0" u="none" strike="noStrike" kern="0" cap="none" spc="0" normalizeH="0" baseline="0" noProof="0" dirty="0" err="1">
                <a:ln>
                  <a:noFill/>
                </a:ln>
                <a:solidFill>
                  <a:srgbClr val="FF3300"/>
                </a:solidFill>
                <a:effectLst/>
                <a:uLnTx/>
                <a:uFillTx/>
                <a:latin typeface="Times New Roman" pitchFamily="18" charset="0"/>
                <a:ea typeface="宋体"/>
              </a:rPr>
              <a:t>lch</a:t>
            </a:r>
            <a:r>
              <a:rPr kumimoji="0" lang="en-US" altLang="zh-CN" b="1" i="0" u="none" strike="noStrike" kern="0" cap="none" spc="0" normalizeH="0" baseline="0" noProof="0" dirty="0">
                <a:ln>
                  <a:noFill/>
                </a:ln>
                <a:solidFill>
                  <a:srgbClr val="0000FF"/>
                </a:solidFill>
                <a:effectLst/>
                <a:uLnTx/>
                <a:uFillTx/>
                <a:latin typeface="Times New Roman" pitchFamily="18" charset="0"/>
                <a:ea typeface="宋体"/>
              </a:rPr>
              <a:t>;</a:t>
            </a: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a:t>
            </a: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endPar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endParaRP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a:t>
            </a:r>
            <a:r>
              <a:rPr kumimoji="0" lang="en-US" altLang="zh-CN" sz="2400" b="1" i="0" u="none" strike="noStrike" kern="0" cap="none" spc="0" normalizeH="0" baseline="0" noProof="0" dirty="0">
                <a:ln>
                  <a:noFill/>
                </a:ln>
                <a:solidFill>
                  <a:srgbClr val="FF3300"/>
                </a:solidFill>
                <a:effectLst/>
                <a:uLnTx/>
                <a:uFillTx/>
                <a:latin typeface="Times New Roman" pitchFamily="18" charset="0"/>
                <a:ea typeface="宋体"/>
              </a:rPr>
              <a:t> </a:t>
            </a:r>
            <a:r>
              <a:rPr kumimoji="0" lang="zh-CN" altLang="en-US" sz="2400" b="1" i="0" u="none" strike="noStrike" kern="0" cap="none" spc="0" normalizeH="0" baseline="0" noProof="0" dirty="0">
                <a:ln>
                  <a:noFill/>
                </a:ln>
                <a:solidFill>
                  <a:srgbClr val="FF3300"/>
                </a:solidFill>
                <a:effectLst/>
                <a:uLnTx/>
                <a:uFillTx/>
                <a:latin typeface="Times New Roman" pitchFamily="18" charset="0"/>
                <a:ea typeface="宋体"/>
              </a:rPr>
              <a:t>找右子树的“最左下”结点</a:t>
            </a:r>
            <a:endPar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endParaRP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return(q);</a:t>
            </a: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a:t>
            </a: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Constantia"/>
                <a:ea typeface="宋体"/>
              </a:rPr>
              <a:t>}</a:t>
            </a:r>
          </a:p>
        </p:txBody>
      </p:sp>
      <p:sp>
        <p:nvSpPr>
          <p:cNvPr id="35" name="Oval 42"/>
          <p:cNvSpPr>
            <a:spLocks noChangeArrowheads="1"/>
          </p:cNvSpPr>
          <p:nvPr/>
        </p:nvSpPr>
        <p:spPr bwMode="auto">
          <a:xfrm>
            <a:off x="7531100" y="2614613"/>
            <a:ext cx="385763" cy="358775"/>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6" name="Oval 43"/>
          <p:cNvSpPr>
            <a:spLocks noChangeArrowheads="1"/>
          </p:cNvSpPr>
          <p:nvPr/>
        </p:nvSpPr>
        <p:spPr bwMode="auto">
          <a:xfrm>
            <a:off x="6777038" y="4713288"/>
            <a:ext cx="385762" cy="36036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7" name="Oval 44"/>
          <p:cNvSpPr>
            <a:spLocks noChangeArrowheads="1"/>
          </p:cNvSpPr>
          <p:nvPr/>
        </p:nvSpPr>
        <p:spPr bwMode="auto">
          <a:xfrm>
            <a:off x="8277225" y="3595688"/>
            <a:ext cx="385763" cy="358775"/>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8" name="Rectangle 45"/>
          <p:cNvSpPr>
            <a:spLocks noChangeArrowheads="1"/>
          </p:cNvSpPr>
          <p:nvPr/>
        </p:nvSpPr>
        <p:spPr bwMode="auto">
          <a:xfrm>
            <a:off x="7531100" y="3249613"/>
            <a:ext cx="433388" cy="457200"/>
          </a:xfrm>
          <a:prstGeom prst="rect">
            <a:avLst/>
          </a:prstGeom>
          <a:noFill/>
          <a:ln w="12700" cap="rnd" algn="ctr">
            <a:noFill/>
            <a:miter lim="800000"/>
            <a:headEnd/>
            <a:tailEnd/>
          </a:ln>
        </p:spPr>
        <p:txBody>
          <a:bodyPr anchor="ctr">
            <a:spAutoFit/>
          </a:bodyPr>
          <a:lstStyle/>
          <a:p>
            <a:pPr algn="ctr" eaLnBrk="0" fontAlgn="base" hangingPunct="0">
              <a:spcBef>
                <a:spcPct val="0"/>
              </a:spcBef>
              <a:spcAft>
                <a:spcPct val="0"/>
              </a:spcAft>
            </a:pPr>
            <a:r>
              <a:rPr kumimoji="1" lang="en-US" altLang="zh-CN" sz="2400" b="1">
                <a:solidFill>
                  <a:srgbClr val="000000"/>
                </a:solidFill>
                <a:latin typeface="Times New Roman" pitchFamily="18" charset="0"/>
              </a:rPr>
              <a:t>q</a:t>
            </a:r>
          </a:p>
        </p:txBody>
      </p:sp>
      <p:sp>
        <p:nvSpPr>
          <p:cNvPr id="39" name="Rectangle 46"/>
          <p:cNvSpPr>
            <a:spLocks noChangeArrowheads="1"/>
          </p:cNvSpPr>
          <p:nvPr/>
        </p:nvSpPr>
        <p:spPr bwMode="auto">
          <a:xfrm>
            <a:off x="7192963" y="3786188"/>
            <a:ext cx="433387" cy="457200"/>
          </a:xfrm>
          <a:prstGeom prst="rect">
            <a:avLst/>
          </a:prstGeom>
          <a:noFill/>
          <a:ln w="12700" cap="rnd" algn="ctr">
            <a:noFill/>
            <a:miter lim="800000"/>
            <a:headEnd/>
            <a:tailEnd/>
          </a:ln>
        </p:spPr>
        <p:txBody>
          <a:bodyPr anchor="ctr">
            <a:spAutoFit/>
          </a:bodyPr>
          <a:lstStyle/>
          <a:p>
            <a:pPr algn="ctr" eaLnBrk="0" fontAlgn="base" hangingPunct="0">
              <a:spcBef>
                <a:spcPct val="0"/>
              </a:spcBef>
              <a:spcAft>
                <a:spcPct val="0"/>
              </a:spcAft>
            </a:pPr>
            <a:r>
              <a:rPr kumimoji="1" lang="en-US" altLang="zh-CN" sz="2400" b="1">
                <a:solidFill>
                  <a:srgbClr val="000000"/>
                </a:solidFill>
                <a:latin typeface="Times New Roman" pitchFamily="18" charset="0"/>
              </a:rPr>
              <a:t>q</a:t>
            </a:r>
          </a:p>
        </p:txBody>
      </p:sp>
      <p:sp>
        <p:nvSpPr>
          <p:cNvPr id="40" name="Rectangle 47"/>
          <p:cNvSpPr>
            <a:spLocks noChangeArrowheads="1"/>
          </p:cNvSpPr>
          <p:nvPr/>
        </p:nvSpPr>
        <p:spPr bwMode="auto">
          <a:xfrm>
            <a:off x="7410450" y="5210175"/>
            <a:ext cx="557213" cy="458788"/>
          </a:xfrm>
          <a:prstGeom prst="rect">
            <a:avLst/>
          </a:prstGeom>
          <a:noFill/>
          <a:ln w="12700" cap="rnd" algn="ctr">
            <a:noFill/>
            <a:miter lim="800000"/>
            <a:headEnd/>
            <a:tailEnd/>
          </a:ln>
        </p:spPr>
        <p:txBody>
          <a:bodyPr wrap="none" anchor="ctr">
            <a:spAutoFit/>
          </a:bodyPr>
          <a:lstStyle/>
          <a:p>
            <a:pPr algn="ctr" eaLnBrk="0" fontAlgn="base" hangingPunct="0">
              <a:spcBef>
                <a:spcPct val="0"/>
              </a:spcBef>
              <a:spcAft>
                <a:spcPct val="0"/>
              </a:spcAft>
            </a:pPr>
            <a:r>
              <a:rPr kumimoji="1" lang="en-US" altLang="zh-CN" sz="2400" b="1">
                <a:solidFill>
                  <a:srgbClr val="000000"/>
                </a:solidFill>
                <a:latin typeface="Times New Roman" pitchFamily="18" charset="0"/>
              </a:rPr>
              <a:t>(b)</a:t>
            </a:r>
          </a:p>
        </p:txBody>
      </p:sp>
      <p:sp>
        <p:nvSpPr>
          <p:cNvPr id="41" name="Line 48"/>
          <p:cNvSpPr>
            <a:spLocks noChangeShapeType="1"/>
          </p:cNvSpPr>
          <p:nvPr/>
        </p:nvSpPr>
        <p:spPr bwMode="auto">
          <a:xfrm>
            <a:off x="7867650" y="2928938"/>
            <a:ext cx="506413" cy="712787"/>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2" name="Line 49"/>
          <p:cNvSpPr>
            <a:spLocks noChangeShapeType="1"/>
          </p:cNvSpPr>
          <p:nvPr/>
        </p:nvSpPr>
        <p:spPr bwMode="auto">
          <a:xfrm flipV="1">
            <a:off x="7108825" y="3910013"/>
            <a:ext cx="1182688" cy="892175"/>
          </a:xfrm>
          <a:prstGeom prst="line">
            <a:avLst/>
          </a:prstGeom>
          <a:noFill/>
          <a:ln w="12700">
            <a:solidFill>
              <a:srgbClr val="000000"/>
            </a:solidFill>
            <a:round/>
            <a:headEnd type="arrow" w="med" len="me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3" name="Line 50"/>
          <p:cNvSpPr>
            <a:spLocks noChangeShapeType="1"/>
          </p:cNvSpPr>
          <p:nvPr/>
        </p:nvSpPr>
        <p:spPr bwMode="auto">
          <a:xfrm flipH="1">
            <a:off x="7024688" y="4267200"/>
            <a:ext cx="338137" cy="446088"/>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4" name="Freeform 52"/>
          <p:cNvSpPr>
            <a:spLocks/>
          </p:cNvSpPr>
          <p:nvPr/>
        </p:nvSpPr>
        <p:spPr bwMode="auto">
          <a:xfrm rot="-2026013">
            <a:off x="6923088" y="4941888"/>
            <a:ext cx="622300" cy="654050"/>
          </a:xfrm>
          <a:custGeom>
            <a:avLst/>
            <a:gdLst>
              <a:gd name="T0" fmla="*/ 2147483647 w 63"/>
              <a:gd name="T1" fmla="*/ 2147483647 h 224"/>
              <a:gd name="T2" fmla="*/ 2147483647 w 63"/>
              <a:gd name="T3" fmla="*/ 2147483647 h 224"/>
              <a:gd name="T4" fmla="*/ 2147483647 w 63"/>
              <a:gd name="T5" fmla="*/ 2147483647 h 224"/>
              <a:gd name="T6" fmla="*/ 2147483647 w 63"/>
              <a:gd name="T7" fmla="*/ 2147483647 h 224"/>
              <a:gd name="T8" fmla="*/ 2147483647 w 63"/>
              <a:gd name="T9" fmla="*/ 2147483647 h 224"/>
              <a:gd name="T10" fmla="*/ 2147483647 w 63"/>
              <a:gd name="T11" fmla="*/ 2147483647 h 224"/>
              <a:gd name="T12" fmla="*/ 2147483647 w 63"/>
              <a:gd name="T13" fmla="*/ 2147483647 h 224"/>
              <a:gd name="T14" fmla="*/ 0 60000 65536"/>
              <a:gd name="T15" fmla="*/ 0 60000 65536"/>
              <a:gd name="T16" fmla="*/ 0 60000 65536"/>
              <a:gd name="T17" fmla="*/ 0 60000 65536"/>
              <a:gd name="T18" fmla="*/ 0 60000 65536"/>
              <a:gd name="T19" fmla="*/ 0 60000 65536"/>
              <a:gd name="T20" fmla="*/ 0 60000 65536"/>
              <a:gd name="T21" fmla="*/ 0 w 63"/>
              <a:gd name="T22" fmla="*/ 0 h 224"/>
              <a:gd name="T23" fmla="*/ 63 w 63"/>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 h="224">
                <a:moveTo>
                  <a:pt x="20" y="12"/>
                </a:moveTo>
                <a:cubicBezTo>
                  <a:pt x="18" y="24"/>
                  <a:pt x="7" y="38"/>
                  <a:pt x="13" y="49"/>
                </a:cubicBezTo>
                <a:cubicBezTo>
                  <a:pt x="23" y="68"/>
                  <a:pt x="63" y="0"/>
                  <a:pt x="20" y="63"/>
                </a:cubicBezTo>
                <a:cubicBezTo>
                  <a:pt x="39" y="142"/>
                  <a:pt x="24" y="47"/>
                  <a:pt x="13" y="114"/>
                </a:cubicBezTo>
                <a:cubicBezTo>
                  <a:pt x="11" y="127"/>
                  <a:pt x="29" y="150"/>
                  <a:pt x="35" y="158"/>
                </a:cubicBezTo>
                <a:cubicBezTo>
                  <a:pt x="28" y="163"/>
                  <a:pt x="16" y="165"/>
                  <a:pt x="13" y="173"/>
                </a:cubicBezTo>
                <a:cubicBezTo>
                  <a:pt x="0" y="210"/>
                  <a:pt x="36" y="197"/>
                  <a:pt x="49" y="224"/>
                </a:cubicBezTo>
              </a:path>
            </a:pathLst>
          </a:cu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5" name="Line 53"/>
          <p:cNvSpPr>
            <a:spLocks noChangeShapeType="1"/>
          </p:cNvSpPr>
          <p:nvPr/>
        </p:nvSpPr>
        <p:spPr bwMode="auto">
          <a:xfrm>
            <a:off x="7953375" y="3554413"/>
            <a:ext cx="338138" cy="177800"/>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6" name="Rectangle 54"/>
          <p:cNvSpPr>
            <a:spLocks noChangeArrowheads="1"/>
          </p:cNvSpPr>
          <p:nvPr/>
        </p:nvSpPr>
        <p:spPr bwMode="auto">
          <a:xfrm>
            <a:off x="8291513" y="1824038"/>
            <a:ext cx="455612" cy="458787"/>
          </a:xfrm>
          <a:prstGeom prst="rect">
            <a:avLst/>
          </a:prstGeom>
          <a:noFill/>
          <a:ln w="12700" cap="rnd" algn="ctr">
            <a:noFill/>
            <a:miter lim="800000"/>
            <a:headEnd/>
            <a:tailEnd/>
          </a:ln>
        </p:spPr>
        <p:txBody>
          <a:bodyPr anchor="ctr">
            <a:spAutoFit/>
          </a:bodyPr>
          <a:lstStyle/>
          <a:p>
            <a:pPr algn="ctr" eaLnBrk="0" fontAlgn="base" hangingPunct="0">
              <a:spcBef>
                <a:spcPct val="0"/>
              </a:spcBef>
              <a:spcAft>
                <a:spcPct val="0"/>
              </a:spcAft>
            </a:pPr>
            <a:r>
              <a:rPr kumimoji="1" lang="en-US" altLang="zh-CN" sz="2400" b="1">
                <a:solidFill>
                  <a:srgbClr val="000000"/>
                </a:solidFill>
                <a:latin typeface="Times New Roman" pitchFamily="18" charset="0"/>
              </a:rPr>
              <a:t>p</a:t>
            </a:r>
          </a:p>
        </p:txBody>
      </p:sp>
      <p:sp>
        <p:nvSpPr>
          <p:cNvPr id="47" name="Line 55"/>
          <p:cNvSpPr>
            <a:spLocks noChangeShapeType="1"/>
          </p:cNvSpPr>
          <p:nvPr/>
        </p:nvSpPr>
        <p:spPr bwMode="auto">
          <a:xfrm flipH="1">
            <a:off x="7894638" y="2366963"/>
            <a:ext cx="422275" cy="357187"/>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8" name="Freeform 56"/>
          <p:cNvSpPr>
            <a:spLocks/>
          </p:cNvSpPr>
          <p:nvPr/>
        </p:nvSpPr>
        <p:spPr bwMode="auto">
          <a:xfrm>
            <a:off x="8516938" y="3941763"/>
            <a:ext cx="196850" cy="654050"/>
          </a:xfrm>
          <a:custGeom>
            <a:avLst/>
            <a:gdLst>
              <a:gd name="T0" fmla="*/ 0 w 87"/>
              <a:gd name="T1" fmla="*/ 0 h 226"/>
              <a:gd name="T2" fmla="*/ 2147483647 w 87"/>
              <a:gd name="T3" fmla="*/ 2147483647 h 226"/>
              <a:gd name="T4" fmla="*/ 2147483647 w 87"/>
              <a:gd name="T5" fmla="*/ 2147483647 h 226"/>
              <a:gd name="T6" fmla="*/ 2147483647 w 87"/>
              <a:gd name="T7" fmla="*/ 2147483647 h 226"/>
              <a:gd name="T8" fmla="*/ 2147483647 w 87"/>
              <a:gd name="T9" fmla="*/ 2147483647 h 226"/>
              <a:gd name="T10" fmla="*/ 2147483647 w 87"/>
              <a:gd name="T11" fmla="*/ 2147483647 h 226"/>
              <a:gd name="T12" fmla="*/ 2147483647 w 87"/>
              <a:gd name="T13" fmla="*/ 2147483647 h 226"/>
              <a:gd name="T14" fmla="*/ 0 60000 65536"/>
              <a:gd name="T15" fmla="*/ 0 60000 65536"/>
              <a:gd name="T16" fmla="*/ 0 60000 65536"/>
              <a:gd name="T17" fmla="*/ 0 60000 65536"/>
              <a:gd name="T18" fmla="*/ 0 60000 65536"/>
              <a:gd name="T19" fmla="*/ 0 60000 65536"/>
              <a:gd name="T20" fmla="*/ 0 60000 65536"/>
              <a:gd name="T21" fmla="*/ 0 w 87"/>
              <a:gd name="T22" fmla="*/ 0 h 226"/>
              <a:gd name="T23" fmla="*/ 87 w 87"/>
              <a:gd name="T24" fmla="*/ 226 h 2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 h="226">
                <a:moveTo>
                  <a:pt x="0" y="0"/>
                </a:moveTo>
                <a:cubicBezTo>
                  <a:pt x="8" y="27"/>
                  <a:pt x="14" y="49"/>
                  <a:pt x="29" y="73"/>
                </a:cubicBezTo>
                <a:cubicBezTo>
                  <a:pt x="27" y="85"/>
                  <a:pt x="25" y="98"/>
                  <a:pt x="22" y="110"/>
                </a:cubicBezTo>
                <a:cubicBezTo>
                  <a:pt x="20" y="117"/>
                  <a:pt x="12" y="124"/>
                  <a:pt x="15" y="131"/>
                </a:cubicBezTo>
                <a:cubicBezTo>
                  <a:pt x="18" y="138"/>
                  <a:pt x="29" y="136"/>
                  <a:pt x="36" y="139"/>
                </a:cubicBezTo>
                <a:cubicBezTo>
                  <a:pt x="44" y="143"/>
                  <a:pt x="51" y="148"/>
                  <a:pt x="58" y="153"/>
                </a:cubicBezTo>
                <a:cubicBezTo>
                  <a:pt x="64" y="186"/>
                  <a:pt x="64" y="203"/>
                  <a:pt x="87" y="226"/>
                </a:cubicBezTo>
              </a:path>
            </a:pathLst>
          </a:cu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9" name="Freeform 57"/>
          <p:cNvSpPr>
            <a:spLocks/>
          </p:cNvSpPr>
          <p:nvPr/>
        </p:nvSpPr>
        <p:spPr bwMode="auto">
          <a:xfrm>
            <a:off x="7432675" y="2093913"/>
            <a:ext cx="196850" cy="654050"/>
          </a:xfrm>
          <a:custGeom>
            <a:avLst/>
            <a:gdLst>
              <a:gd name="T0" fmla="*/ 0 w 102"/>
              <a:gd name="T1" fmla="*/ 0 h 277"/>
              <a:gd name="T2" fmla="*/ 2147483647 w 102"/>
              <a:gd name="T3" fmla="*/ 2147483647 h 277"/>
              <a:gd name="T4" fmla="*/ 2147483647 w 102"/>
              <a:gd name="T5" fmla="*/ 2147483647 h 277"/>
              <a:gd name="T6" fmla="*/ 2147483647 w 102"/>
              <a:gd name="T7" fmla="*/ 2147483647 h 277"/>
              <a:gd name="T8" fmla="*/ 2147483647 w 102"/>
              <a:gd name="T9" fmla="*/ 2147483647 h 277"/>
              <a:gd name="T10" fmla="*/ 2147483647 w 102"/>
              <a:gd name="T11" fmla="*/ 2147483647 h 277"/>
              <a:gd name="T12" fmla="*/ 2147483647 w 102"/>
              <a:gd name="T13" fmla="*/ 2147483647 h 277"/>
              <a:gd name="T14" fmla="*/ 0 60000 65536"/>
              <a:gd name="T15" fmla="*/ 0 60000 65536"/>
              <a:gd name="T16" fmla="*/ 0 60000 65536"/>
              <a:gd name="T17" fmla="*/ 0 60000 65536"/>
              <a:gd name="T18" fmla="*/ 0 60000 65536"/>
              <a:gd name="T19" fmla="*/ 0 60000 65536"/>
              <a:gd name="T20" fmla="*/ 0 60000 65536"/>
              <a:gd name="T21" fmla="*/ 0 w 102"/>
              <a:gd name="T22" fmla="*/ 0 h 277"/>
              <a:gd name="T23" fmla="*/ 102 w 102"/>
              <a:gd name="T24" fmla="*/ 277 h 2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277">
                <a:moveTo>
                  <a:pt x="0" y="0"/>
                </a:moveTo>
                <a:cubicBezTo>
                  <a:pt x="16" y="50"/>
                  <a:pt x="9" y="29"/>
                  <a:pt x="22" y="65"/>
                </a:cubicBezTo>
                <a:cubicBezTo>
                  <a:pt x="24" y="85"/>
                  <a:pt x="22" y="106"/>
                  <a:pt x="29" y="124"/>
                </a:cubicBezTo>
                <a:cubicBezTo>
                  <a:pt x="32" y="132"/>
                  <a:pt x="46" y="131"/>
                  <a:pt x="51" y="138"/>
                </a:cubicBezTo>
                <a:cubicBezTo>
                  <a:pt x="56" y="144"/>
                  <a:pt x="56" y="153"/>
                  <a:pt x="58" y="160"/>
                </a:cubicBezTo>
                <a:cubicBezTo>
                  <a:pt x="64" y="208"/>
                  <a:pt x="57" y="229"/>
                  <a:pt x="94" y="255"/>
                </a:cubicBezTo>
                <a:cubicBezTo>
                  <a:pt x="97" y="262"/>
                  <a:pt x="102" y="277"/>
                  <a:pt x="102" y="277"/>
                </a:cubicBezTo>
              </a:path>
            </a:pathLst>
          </a:cu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0" name="Freeform 40"/>
          <p:cNvSpPr>
            <a:spLocks/>
          </p:cNvSpPr>
          <p:nvPr/>
        </p:nvSpPr>
        <p:spPr bwMode="auto">
          <a:xfrm>
            <a:off x="6261100" y="2924175"/>
            <a:ext cx="1284288" cy="2017713"/>
          </a:xfrm>
          <a:custGeom>
            <a:avLst/>
            <a:gdLst>
              <a:gd name="T0" fmla="*/ 2147483647 w 809"/>
              <a:gd name="T1" fmla="*/ 2147483647 h 1271"/>
              <a:gd name="T2" fmla="*/ 2147483647 w 809"/>
              <a:gd name="T3" fmla="*/ 2147483647 h 1271"/>
              <a:gd name="T4" fmla="*/ 2147483647 w 809"/>
              <a:gd name="T5" fmla="*/ 0 h 1271"/>
              <a:gd name="T6" fmla="*/ 0 60000 65536"/>
              <a:gd name="T7" fmla="*/ 0 60000 65536"/>
              <a:gd name="T8" fmla="*/ 0 60000 65536"/>
              <a:gd name="T9" fmla="*/ 0 w 809"/>
              <a:gd name="T10" fmla="*/ 0 h 1271"/>
              <a:gd name="T11" fmla="*/ 809 w 809"/>
              <a:gd name="T12" fmla="*/ 1271 h 1271"/>
            </a:gdLst>
            <a:ahLst/>
            <a:cxnLst>
              <a:cxn ang="T6">
                <a:pos x="T0" y="T1"/>
              </a:cxn>
              <a:cxn ang="T7">
                <a:pos x="T2" y="T3"/>
              </a:cxn>
              <a:cxn ang="T8">
                <a:pos x="T4" y="T5"/>
              </a:cxn>
            </a:cxnLst>
            <a:rect l="T9" t="T10" r="T11" b="T12"/>
            <a:pathLst>
              <a:path w="809" h="1271">
                <a:moveTo>
                  <a:pt x="310" y="1271"/>
                </a:moveTo>
                <a:cubicBezTo>
                  <a:pt x="155" y="1263"/>
                  <a:pt x="0" y="1256"/>
                  <a:pt x="83" y="1044"/>
                </a:cubicBezTo>
                <a:cubicBezTo>
                  <a:pt x="166" y="832"/>
                  <a:pt x="487" y="416"/>
                  <a:pt x="809" y="0"/>
                </a:cubicBezTo>
              </a:path>
            </a:pathLst>
          </a:custGeom>
          <a:noFill/>
          <a:ln w="28575">
            <a:solidFill>
              <a:srgbClr val="F81908"/>
            </a:solidFill>
            <a:prstDash val="dash"/>
            <a:round/>
            <a:headEnd/>
            <a:tailEnd type="arrow" w="med" len="med"/>
          </a:ln>
        </p:spPr>
        <p:txBody>
          <a:bodyPr>
            <a:spAutoFit/>
          </a:bodyPr>
          <a:lstStyle/>
          <a:p>
            <a:pPr algn="ctr" eaLnBrk="0" fontAlgn="base" hangingPunct="0">
              <a:spcBef>
                <a:spcPct val="0"/>
              </a:spcBef>
              <a:spcAft>
                <a:spcPct val="0"/>
              </a:spcAft>
            </a:pPr>
            <a:endParaRPr kumimoji="1" lang="zh-CN" altLang="en-US" sz="2800">
              <a:solidFill>
                <a:srgbClr val="000000"/>
              </a:solidFill>
              <a:latin typeface="Times New Roman" pitchFamily="18" charset="0"/>
            </a:endParaRPr>
          </a:p>
        </p:txBody>
      </p:sp>
      <p:sp>
        <p:nvSpPr>
          <p:cNvPr id="51" name="Text Box 22"/>
          <p:cNvSpPr txBox="1">
            <a:spLocks noChangeArrowheads="1"/>
          </p:cNvSpPr>
          <p:nvPr/>
        </p:nvSpPr>
        <p:spPr bwMode="auto">
          <a:xfrm>
            <a:off x="6315075" y="5775325"/>
            <a:ext cx="2525713" cy="519113"/>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pPr>
            <a:r>
              <a:rPr kumimoji="1" lang="en-US" altLang="zh-CN" sz="2800" b="1">
                <a:solidFill>
                  <a:srgbClr val="000000"/>
                </a:solidFill>
                <a:latin typeface="Times New Roman" pitchFamily="18" charset="0"/>
              </a:rPr>
              <a:t>p</a:t>
            </a:r>
            <a:r>
              <a:rPr kumimoji="1" lang="zh-CN" altLang="en-US" sz="2800" b="1">
                <a:solidFill>
                  <a:srgbClr val="000000"/>
                </a:solidFill>
                <a:latin typeface="Times New Roman" pitchFamily="18" charset="0"/>
              </a:rPr>
              <a:t>的右子树不空</a:t>
            </a:r>
          </a:p>
        </p:txBody>
      </p:sp>
    </p:spTree>
    <p:extLst>
      <p:ext uri="{BB962C8B-B14F-4D97-AF65-F5344CB8AC3E}">
        <p14:creationId xmlns:p14="http://schemas.microsoft.com/office/powerpoint/2010/main" val="222341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二叉树的线索化</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在中序线索树中找结点*</a:t>
            </a:r>
            <a:r>
              <a:rPr lang="en-US" altLang="zh-CN" sz="2800" b="1" dirty="0"/>
              <a:t>p</a:t>
            </a:r>
            <a:r>
              <a:rPr lang="zh-CN" altLang="en-US" sz="2800" b="1" dirty="0"/>
              <a:t>的</a:t>
            </a:r>
            <a:r>
              <a:rPr lang="zh-CN" altLang="en-US" sz="2800" b="1" dirty="0">
                <a:solidFill>
                  <a:srgbClr val="FF0000"/>
                </a:solidFill>
              </a:rPr>
              <a:t>中序后继</a:t>
            </a:r>
            <a:endParaRPr lang="en-US" altLang="zh-CN" sz="2800" b="1" dirty="0">
              <a:solidFill>
                <a:srgbClr val="FF0000"/>
              </a:solidFill>
            </a:endParaRPr>
          </a:p>
          <a:p>
            <a:pPr>
              <a:lnSpc>
                <a:spcPts val="3600"/>
              </a:lnSpc>
            </a:pPr>
            <a:endParaRPr lang="en-US" altLang="zh-CN" sz="2800" b="1" dirty="0"/>
          </a:p>
        </p:txBody>
      </p:sp>
      <p:sp>
        <p:nvSpPr>
          <p:cNvPr id="4" name="日期占位符 3"/>
          <p:cNvSpPr>
            <a:spLocks noGrp="1"/>
          </p:cNvSpPr>
          <p:nvPr>
            <p:ph type="dt" sz="half" idx="10"/>
          </p:nvPr>
        </p:nvSpPr>
        <p:spPr/>
        <p:txBody>
          <a:bodyPr/>
          <a:lstStyle/>
          <a:p>
            <a:fld id="{6649D209-034D-4F30-9B74-5B37CFD6787E}"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96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35" name="Rectangle 25"/>
          <p:cNvSpPr>
            <a:spLocks noChangeArrowheads="1"/>
          </p:cNvSpPr>
          <p:nvPr/>
        </p:nvSpPr>
        <p:spPr bwMode="auto">
          <a:xfrm>
            <a:off x="4246563" y="1916113"/>
            <a:ext cx="4897437" cy="3744912"/>
          </a:xfrm>
          <a:prstGeom prst="rect">
            <a:avLst/>
          </a:prstGeom>
          <a:solidFill>
            <a:srgbClr val="CCFFFF"/>
          </a:solidFill>
          <a:ln w="12700" cap="rnd" algn="ctr">
            <a:noFill/>
            <a:miter lim="800000"/>
            <a:headEnd/>
            <a:tailEnd/>
          </a:ln>
        </p:spPr>
        <p:txBody>
          <a:bodyPr anchor="ctr">
            <a:spAutoFit/>
          </a:bodyP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grpSp>
        <p:nvGrpSpPr>
          <p:cNvPr id="36" name="Group 26"/>
          <p:cNvGrpSpPr>
            <a:grpSpLocks/>
          </p:cNvGrpSpPr>
          <p:nvPr/>
        </p:nvGrpSpPr>
        <p:grpSpPr bwMode="auto">
          <a:xfrm>
            <a:off x="4246563" y="2111375"/>
            <a:ext cx="2430462" cy="3224213"/>
            <a:chOff x="187" y="735"/>
            <a:chExt cx="1306" cy="1640"/>
          </a:xfrm>
        </p:grpSpPr>
        <p:sp>
          <p:nvSpPr>
            <p:cNvPr id="37" name="Freeform 27"/>
            <p:cNvSpPr>
              <a:spLocks/>
            </p:cNvSpPr>
            <p:nvPr/>
          </p:nvSpPr>
          <p:spPr bwMode="auto">
            <a:xfrm>
              <a:off x="865" y="756"/>
              <a:ext cx="69" cy="219"/>
            </a:xfrm>
            <a:custGeom>
              <a:avLst/>
              <a:gdLst>
                <a:gd name="T0" fmla="*/ 58 w 69"/>
                <a:gd name="T1" fmla="*/ 219 h 219"/>
                <a:gd name="T2" fmla="*/ 14 w 69"/>
                <a:gd name="T3" fmla="*/ 22 h 219"/>
                <a:gd name="T4" fmla="*/ 0 w 69"/>
                <a:gd name="T5" fmla="*/ 0 h 219"/>
                <a:gd name="T6" fmla="*/ 0 60000 65536"/>
                <a:gd name="T7" fmla="*/ 0 60000 65536"/>
                <a:gd name="T8" fmla="*/ 0 60000 65536"/>
                <a:gd name="T9" fmla="*/ 0 w 69"/>
                <a:gd name="T10" fmla="*/ 0 h 219"/>
                <a:gd name="T11" fmla="*/ 69 w 69"/>
                <a:gd name="T12" fmla="*/ 219 h 219"/>
              </a:gdLst>
              <a:ahLst/>
              <a:cxnLst>
                <a:cxn ang="T6">
                  <a:pos x="T0" y="T1"/>
                </a:cxn>
                <a:cxn ang="T7">
                  <a:pos x="T2" y="T3"/>
                </a:cxn>
                <a:cxn ang="T8">
                  <a:pos x="T4" y="T5"/>
                </a:cxn>
              </a:cxnLst>
              <a:rect l="T9" t="T10" r="T11" b="T12"/>
              <a:pathLst>
                <a:path w="69" h="219">
                  <a:moveTo>
                    <a:pt x="58" y="219"/>
                  </a:moveTo>
                  <a:cubicBezTo>
                    <a:pt x="54" y="164"/>
                    <a:pt x="69" y="57"/>
                    <a:pt x="14" y="22"/>
                  </a:cubicBezTo>
                  <a:cubicBezTo>
                    <a:pt x="9" y="15"/>
                    <a:pt x="0" y="0"/>
                    <a:pt x="0" y="0"/>
                  </a:cubicBezTo>
                </a:path>
              </a:pathLst>
            </a:cu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8" name="Oval 28"/>
            <p:cNvSpPr>
              <a:spLocks noChangeArrowheads="1"/>
            </p:cNvSpPr>
            <p:nvPr/>
          </p:nvSpPr>
          <p:spPr bwMode="auto">
            <a:xfrm>
              <a:off x="851" y="935"/>
              <a:ext cx="207" cy="183"/>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9" name="Oval 29"/>
            <p:cNvSpPr>
              <a:spLocks noChangeArrowheads="1"/>
            </p:cNvSpPr>
            <p:nvPr/>
          </p:nvSpPr>
          <p:spPr bwMode="auto">
            <a:xfrm>
              <a:off x="352" y="1253"/>
              <a:ext cx="207" cy="183"/>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40" name="Oval 30"/>
            <p:cNvSpPr>
              <a:spLocks noChangeArrowheads="1"/>
            </p:cNvSpPr>
            <p:nvPr/>
          </p:nvSpPr>
          <p:spPr bwMode="auto">
            <a:xfrm>
              <a:off x="1033" y="1752"/>
              <a:ext cx="207" cy="183"/>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41" name="Line 31"/>
            <p:cNvSpPr>
              <a:spLocks noChangeShapeType="1"/>
            </p:cNvSpPr>
            <p:nvPr/>
          </p:nvSpPr>
          <p:spPr bwMode="auto">
            <a:xfrm flipH="1">
              <a:off x="534" y="1071"/>
              <a:ext cx="317" cy="227"/>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2" name="Line 32"/>
            <p:cNvSpPr>
              <a:spLocks noChangeShapeType="1"/>
            </p:cNvSpPr>
            <p:nvPr/>
          </p:nvSpPr>
          <p:spPr bwMode="auto">
            <a:xfrm>
              <a:off x="489" y="1434"/>
              <a:ext cx="544" cy="363"/>
            </a:xfrm>
            <a:prstGeom prst="line">
              <a:avLst/>
            </a:pr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3" name="Freeform 33"/>
            <p:cNvSpPr>
              <a:spLocks/>
            </p:cNvSpPr>
            <p:nvPr/>
          </p:nvSpPr>
          <p:spPr bwMode="auto">
            <a:xfrm>
              <a:off x="1025" y="1104"/>
              <a:ext cx="315" cy="893"/>
            </a:xfrm>
            <a:custGeom>
              <a:avLst/>
              <a:gdLst>
                <a:gd name="T0" fmla="*/ 168 w 315"/>
                <a:gd name="T1" fmla="*/ 826 h 893"/>
                <a:gd name="T2" fmla="*/ 204 w 315"/>
                <a:gd name="T3" fmla="*/ 891 h 893"/>
                <a:gd name="T4" fmla="*/ 255 w 315"/>
                <a:gd name="T5" fmla="*/ 884 h 893"/>
                <a:gd name="T6" fmla="*/ 306 w 315"/>
                <a:gd name="T7" fmla="*/ 768 h 893"/>
                <a:gd name="T8" fmla="*/ 241 w 315"/>
                <a:gd name="T9" fmla="*/ 359 h 893"/>
                <a:gd name="T10" fmla="*/ 146 w 315"/>
                <a:gd name="T11" fmla="*/ 184 h 893"/>
                <a:gd name="T12" fmla="*/ 88 w 315"/>
                <a:gd name="T13" fmla="*/ 104 h 893"/>
                <a:gd name="T14" fmla="*/ 15 w 315"/>
                <a:gd name="T15" fmla="*/ 24 h 893"/>
                <a:gd name="T16" fmla="*/ 0 w 315"/>
                <a:gd name="T17" fmla="*/ 2 h 89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5"/>
                <a:gd name="T28" fmla="*/ 0 h 893"/>
                <a:gd name="T29" fmla="*/ 315 w 315"/>
                <a:gd name="T30" fmla="*/ 893 h 89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5" h="893">
                  <a:moveTo>
                    <a:pt x="168" y="826"/>
                  </a:moveTo>
                  <a:cubicBezTo>
                    <a:pt x="176" y="859"/>
                    <a:pt x="175" y="872"/>
                    <a:pt x="204" y="891"/>
                  </a:cubicBezTo>
                  <a:cubicBezTo>
                    <a:pt x="221" y="889"/>
                    <a:pt x="241" y="893"/>
                    <a:pt x="255" y="884"/>
                  </a:cubicBezTo>
                  <a:cubicBezTo>
                    <a:pt x="286" y="864"/>
                    <a:pt x="298" y="800"/>
                    <a:pt x="306" y="768"/>
                  </a:cubicBezTo>
                  <a:cubicBezTo>
                    <a:pt x="302" y="644"/>
                    <a:pt x="315" y="475"/>
                    <a:pt x="241" y="359"/>
                  </a:cubicBezTo>
                  <a:cubicBezTo>
                    <a:pt x="223" y="293"/>
                    <a:pt x="205" y="225"/>
                    <a:pt x="146" y="184"/>
                  </a:cubicBezTo>
                  <a:cubicBezTo>
                    <a:pt x="137" y="156"/>
                    <a:pt x="111" y="121"/>
                    <a:pt x="88" y="104"/>
                  </a:cubicBezTo>
                  <a:cubicBezTo>
                    <a:pt x="68" y="75"/>
                    <a:pt x="45" y="43"/>
                    <a:pt x="15" y="24"/>
                  </a:cubicBezTo>
                  <a:cubicBezTo>
                    <a:pt x="6" y="0"/>
                    <a:pt x="15" y="2"/>
                    <a:pt x="0" y="2"/>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4" name="Line 34"/>
            <p:cNvSpPr>
              <a:spLocks noChangeShapeType="1"/>
            </p:cNvSpPr>
            <p:nvPr/>
          </p:nvSpPr>
          <p:spPr bwMode="auto">
            <a:xfrm>
              <a:off x="1078" y="1525"/>
              <a:ext cx="0" cy="227"/>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5" name="Rectangle 35"/>
            <p:cNvSpPr>
              <a:spLocks noChangeArrowheads="1"/>
            </p:cNvSpPr>
            <p:nvPr/>
          </p:nvSpPr>
          <p:spPr bwMode="auto">
            <a:xfrm>
              <a:off x="970" y="1270"/>
              <a:ext cx="245" cy="232"/>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p</a:t>
              </a:r>
            </a:p>
          </p:txBody>
        </p:sp>
        <p:sp>
          <p:nvSpPr>
            <p:cNvPr id="46" name="Line 36"/>
            <p:cNvSpPr>
              <a:spLocks noChangeShapeType="1"/>
            </p:cNvSpPr>
            <p:nvPr/>
          </p:nvSpPr>
          <p:spPr bwMode="auto">
            <a:xfrm flipH="1">
              <a:off x="1033" y="890"/>
              <a:ext cx="227" cy="91"/>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7" name="Rectangle 37"/>
            <p:cNvSpPr>
              <a:spLocks noChangeArrowheads="1"/>
            </p:cNvSpPr>
            <p:nvPr/>
          </p:nvSpPr>
          <p:spPr bwMode="auto">
            <a:xfrm>
              <a:off x="1260" y="735"/>
              <a:ext cx="233" cy="233"/>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q</a:t>
              </a:r>
            </a:p>
          </p:txBody>
        </p:sp>
        <p:sp>
          <p:nvSpPr>
            <p:cNvPr id="48" name="Freeform 38"/>
            <p:cNvSpPr>
              <a:spLocks/>
            </p:cNvSpPr>
            <p:nvPr/>
          </p:nvSpPr>
          <p:spPr bwMode="auto">
            <a:xfrm>
              <a:off x="187" y="1405"/>
              <a:ext cx="182" cy="146"/>
            </a:xfrm>
            <a:custGeom>
              <a:avLst/>
              <a:gdLst>
                <a:gd name="T0" fmla="*/ 182 w 182"/>
                <a:gd name="T1" fmla="*/ 0 h 146"/>
                <a:gd name="T2" fmla="*/ 138 w 182"/>
                <a:gd name="T3" fmla="*/ 29 h 146"/>
                <a:gd name="T4" fmla="*/ 131 w 182"/>
                <a:gd name="T5" fmla="*/ 51 h 146"/>
                <a:gd name="T6" fmla="*/ 102 w 182"/>
                <a:gd name="T7" fmla="*/ 58 h 146"/>
                <a:gd name="T8" fmla="*/ 73 w 182"/>
                <a:gd name="T9" fmla="*/ 95 h 146"/>
                <a:gd name="T10" fmla="*/ 43 w 182"/>
                <a:gd name="T11" fmla="*/ 131 h 146"/>
                <a:gd name="T12" fmla="*/ 0 w 182"/>
                <a:gd name="T13" fmla="*/ 146 h 146"/>
                <a:gd name="T14" fmla="*/ 0 60000 65536"/>
                <a:gd name="T15" fmla="*/ 0 60000 65536"/>
                <a:gd name="T16" fmla="*/ 0 60000 65536"/>
                <a:gd name="T17" fmla="*/ 0 60000 65536"/>
                <a:gd name="T18" fmla="*/ 0 60000 65536"/>
                <a:gd name="T19" fmla="*/ 0 60000 65536"/>
                <a:gd name="T20" fmla="*/ 0 60000 65536"/>
                <a:gd name="T21" fmla="*/ 0 w 182"/>
                <a:gd name="T22" fmla="*/ 0 h 146"/>
                <a:gd name="T23" fmla="*/ 182 w 182"/>
                <a:gd name="T24" fmla="*/ 146 h 1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46">
                  <a:moveTo>
                    <a:pt x="182" y="0"/>
                  </a:moveTo>
                  <a:cubicBezTo>
                    <a:pt x="159" y="7"/>
                    <a:pt x="154" y="5"/>
                    <a:pt x="138" y="29"/>
                  </a:cubicBezTo>
                  <a:cubicBezTo>
                    <a:pt x="134" y="35"/>
                    <a:pt x="137" y="46"/>
                    <a:pt x="131" y="51"/>
                  </a:cubicBezTo>
                  <a:cubicBezTo>
                    <a:pt x="123" y="57"/>
                    <a:pt x="112" y="56"/>
                    <a:pt x="102" y="58"/>
                  </a:cubicBezTo>
                  <a:cubicBezTo>
                    <a:pt x="82" y="114"/>
                    <a:pt x="111" y="47"/>
                    <a:pt x="73" y="95"/>
                  </a:cubicBezTo>
                  <a:cubicBezTo>
                    <a:pt x="48" y="126"/>
                    <a:pt x="87" y="111"/>
                    <a:pt x="43" y="131"/>
                  </a:cubicBezTo>
                  <a:cubicBezTo>
                    <a:pt x="29" y="137"/>
                    <a:pt x="0" y="146"/>
                    <a:pt x="0" y="146"/>
                  </a:cubicBezTo>
                </a:path>
              </a:pathLst>
            </a:cu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9" name="Freeform 39"/>
            <p:cNvSpPr>
              <a:spLocks/>
            </p:cNvSpPr>
            <p:nvPr/>
          </p:nvSpPr>
          <p:spPr bwMode="auto">
            <a:xfrm>
              <a:off x="923" y="1915"/>
              <a:ext cx="139" cy="153"/>
            </a:xfrm>
            <a:custGeom>
              <a:avLst/>
              <a:gdLst>
                <a:gd name="T0" fmla="*/ 139 w 139"/>
                <a:gd name="T1" fmla="*/ 0 h 153"/>
                <a:gd name="T2" fmla="*/ 102 w 139"/>
                <a:gd name="T3" fmla="*/ 8 h 153"/>
                <a:gd name="T4" fmla="*/ 80 w 139"/>
                <a:gd name="T5" fmla="*/ 51 h 153"/>
                <a:gd name="T6" fmla="*/ 37 w 139"/>
                <a:gd name="T7" fmla="*/ 73 h 153"/>
                <a:gd name="T8" fmla="*/ 29 w 139"/>
                <a:gd name="T9" fmla="*/ 110 h 153"/>
                <a:gd name="T10" fmla="*/ 7 w 139"/>
                <a:gd name="T11" fmla="*/ 117 h 153"/>
                <a:gd name="T12" fmla="*/ 0 w 139"/>
                <a:gd name="T13" fmla="*/ 153 h 153"/>
                <a:gd name="T14" fmla="*/ 0 60000 65536"/>
                <a:gd name="T15" fmla="*/ 0 60000 65536"/>
                <a:gd name="T16" fmla="*/ 0 60000 65536"/>
                <a:gd name="T17" fmla="*/ 0 60000 65536"/>
                <a:gd name="T18" fmla="*/ 0 60000 65536"/>
                <a:gd name="T19" fmla="*/ 0 60000 65536"/>
                <a:gd name="T20" fmla="*/ 0 60000 65536"/>
                <a:gd name="T21" fmla="*/ 0 w 139"/>
                <a:gd name="T22" fmla="*/ 0 h 153"/>
                <a:gd name="T23" fmla="*/ 139 w 139"/>
                <a:gd name="T24" fmla="*/ 153 h 1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9" h="153">
                  <a:moveTo>
                    <a:pt x="139" y="0"/>
                  </a:moveTo>
                  <a:cubicBezTo>
                    <a:pt x="127" y="3"/>
                    <a:pt x="113" y="2"/>
                    <a:pt x="102" y="8"/>
                  </a:cubicBezTo>
                  <a:cubicBezTo>
                    <a:pt x="83" y="19"/>
                    <a:pt x="92" y="36"/>
                    <a:pt x="80" y="51"/>
                  </a:cubicBezTo>
                  <a:cubicBezTo>
                    <a:pt x="69" y="64"/>
                    <a:pt x="52" y="68"/>
                    <a:pt x="37" y="73"/>
                  </a:cubicBezTo>
                  <a:cubicBezTo>
                    <a:pt x="34" y="85"/>
                    <a:pt x="36" y="100"/>
                    <a:pt x="29" y="110"/>
                  </a:cubicBezTo>
                  <a:cubicBezTo>
                    <a:pt x="25" y="116"/>
                    <a:pt x="11" y="111"/>
                    <a:pt x="7" y="117"/>
                  </a:cubicBezTo>
                  <a:cubicBezTo>
                    <a:pt x="0" y="127"/>
                    <a:pt x="0" y="153"/>
                    <a:pt x="0" y="153"/>
                  </a:cubicBezTo>
                </a:path>
              </a:pathLst>
            </a:cu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0" name="Rectangle 40"/>
            <p:cNvSpPr>
              <a:spLocks noChangeArrowheads="1"/>
            </p:cNvSpPr>
            <p:nvPr/>
          </p:nvSpPr>
          <p:spPr bwMode="auto">
            <a:xfrm>
              <a:off x="649" y="2142"/>
              <a:ext cx="290" cy="233"/>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(a)</a:t>
              </a:r>
            </a:p>
          </p:txBody>
        </p:sp>
      </p:grpSp>
      <p:grpSp>
        <p:nvGrpSpPr>
          <p:cNvPr id="51" name="Group 41"/>
          <p:cNvGrpSpPr>
            <a:grpSpLocks/>
          </p:cNvGrpSpPr>
          <p:nvPr/>
        </p:nvGrpSpPr>
        <p:grpSpPr bwMode="auto">
          <a:xfrm>
            <a:off x="6407150" y="1824038"/>
            <a:ext cx="2209800" cy="3844925"/>
            <a:chOff x="1180" y="1643"/>
            <a:chExt cx="1187" cy="1956"/>
          </a:xfrm>
        </p:grpSpPr>
        <p:sp>
          <p:nvSpPr>
            <p:cNvPr id="52" name="Oval 42"/>
            <p:cNvSpPr>
              <a:spLocks noChangeArrowheads="1"/>
            </p:cNvSpPr>
            <p:nvPr/>
          </p:nvSpPr>
          <p:spPr bwMode="auto">
            <a:xfrm>
              <a:off x="1714" y="2045"/>
              <a:ext cx="207" cy="183"/>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53" name="Oval 43"/>
            <p:cNvSpPr>
              <a:spLocks noChangeArrowheads="1"/>
            </p:cNvSpPr>
            <p:nvPr/>
          </p:nvSpPr>
          <p:spPr bwMode="auto">
            <a:xfrm>
              <a:off x="1309" y="3113"/>
              <a:ext cx="207" cy="183"/>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54" name="Oval 44"/>
            <p:cNvSpPr>
              <a:spLocks noChangeArrowheads="1"/>
            </p:cNvSpPr>
            <p:nvPr/>
          </p:nvSpPr>
          <p:spPr bwMode="auto">
            <a:xfrm>
              <a:off x="2115" y="2544"/>
              <a:ext cx="207" cy="183"/>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55" name="Rectangle 45"/>
            <p:cNvSpPr>
              <a:spLocks noChangeArrowheads="1"/>
            </p:cNvSpPr>
            <p:nvPr/>
          </p:nvSpPr>
          <p:spPr bwMode="auto">
            <a:xfrm>
              <a:off x="1714" y="2368"/>
              <a:ext cx="233" cy="233"/>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q</a:t>
              </a:r>
            </a:p>
          </p:txBody>
        </p:sp>
        <p:sp>
          <p:nvSpPr>
            <p:cNvPr id="56" name="Rectangle 46"/>
            <p:cNvSpPr>
              <a:spLocks noChangeArrowheads="1"/>
            </p:cNvSpPr>
            <p:nvPr/>
          </p:nvSpPr>
          <p:spPr bwMode="auto">
            <a:xfrm>
              <a:off x="1532" y="2641"/>
              <a:ext cx="233" cy="233"/>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q</a:t>
              </a:r>
            </a:p>
          </p:txBody>
        </p:sp>
        <p:sp>
          <p:nvSpPr>
            <p:cNvPr id="57" name="Rectangle 47"/>
            <p:cNvSpPr>
              <a:spLocks noChangeArrowheads="1"/>
            </p:cNvSpPr>
            <p:nvPr/>
          </p:nvSpPr>
          <p:spPr bwMode="auto">
            <a:xfrm>
              <a:off x="1649" y="3366"/>
              <a:ext cx="299" cy="233"/>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(b)</a:t>
              </a:r>
            </a:p>
          </p:txBody>
        </p:sp>
        <p:sp>
          <p:nvSpPr>
            <p:cNvPr id="58" name="Line 48"/>
            <p:cNvSpPr>
              <a:spLocks noChangeShapeType="1"/>
            </p:cNvSpPr>
            <p:nvPr/>
          </p:nvSpPr>
          <p:spPr bwMode="auto">
            <a:xfrm>
              <a:off x="1895" y="2205"/>
              <a:ext cx="272" cy="363"/>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9" name="Line 49"/>
            <p:cNvSpPr>
              <a:spLocks noChangeShapeType="1"/>
            </p:cNvSpPr>
            <p:nvPr/>
          </p:nvSpPr>
          <p:spPr bwMode="auto">
            <a:xfrm flipV="1">
              <a:off x="1487" y="2704"/>
              <a:ext cx="635" cy="454"/>
            </a:xfrm>
            <a:prstGeom prst="line">
              <a:avLst/>
            </a:pr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0" name="Line 50"/>
            <p:cNvSpPr>
              <a:spLocks noChangeShapeType="1"/>
            </p:cNvSpPr>
            <p:nvPr/>
          </p:nvSpPr>
          <p:spPr bwMode="auto">
            <a:xfrm flipH="1">
              <a:off x="1442" y="2886"/>
              <a:ext cx="181" cy="227"/>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1" name="Freeform 51"/>
            <p:cNvSpPr>
              <a:spLocks/>
            </p:cNvSpPr>
            <p:nvPr/>
          </p:nvSpPr>
          <p:spPr bwMode="auto">
            <a:xfrm>
              <a:off x="1180" y="2209"/>
              <a:ext cx="577" cy="1189"/>
            </a:xfrm>
            <a:custGeom>
              <a:avLst/>
              <a:gdLst>
                <a:gd name="T0" fmla="*/ 176 w 577"/>
                <a:gd name="T1" fmla="*/ 1087 h 1189"/>
                <a:gd name="T2" fmla="*/ 45 w 577"/>
                <a:gd name="T3" fmla="*/ 1189 h 1189"/>
                <a:gd name="T4" fmla="*/ 8 w 577"/>
                <a:gd name="T5" fmla="*/ 1101 h 1189"/>
                <a:gd name="T6" fmla="*/ 45 w 577"/>
                <a:gd name="T7" fmla="*/ 882 h 1189"/>
                <a:gd name="T8" fmla="*/ 74 w 577"/>
                <a:gd name="T9" fmla="*/ 817 h 1189"/>
                <a:gd name="T10" fmla="*/ 111 w 577"/>
                <a:gd name="T11" fmla="*/ 707 h 1189"/>
                <a:gd name="T12" fmla="*/ 147 w 577"/>
                <a:gd name="T13" fmla="*/ 635 h 1189"/>
                <a:gd name="T14" fmla="*/ 176 w 577"/>
                <a:gd name="T15" fmla="*/ 591 h 1189"/>
                <a:gd name="T16" fmla="*/ 205 w 577"/>
                <a:gd name="T17" fmla="*/ 554 h 1189"/>
                <a:gd name="T18" fmla="*/ 286 w 577"/>
                <a:gd name="T19" fmla="*/ 452 h 1189"/>
                <a:gd name="T20" fmla="*/ 358 w 577"/>
                <a:gd name="T21" fmla="*/ 379 h 1189"/>
                <a:gd name="T22" fmla="*/ 395 w 577"/>
                <a:gd name="T23" fmla="*/ 336 h 1189"/>
                <a:gd name="T24" fmla="*/ 424 w 577"/>
                <a:gd name="T25" fmla="*/ 299 h 1189"/>
                <a:gd name="T26" fmla="*/ 468 w 577"/>
                <a:gd name="T27" fmla="*/ 212 h 1189"/>
                <a:gd name="T28" fmla="*/ 497 w 577"/>
                <a:gd name="T29" fmla="*/ 146 h 1189"/>
                <a:gd name="T30" fmla="*/ 526 w 577"/>
                <a:gd name="T31" fmla="*/ 80 h 1189"/>
                <a:gd name="T32" fmla="*/ 577 w 577"/>
                <a:gd name="T33" fmla="*/ 0 h 118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77"/>
                <a:gd name="T52" fmla="*/ 0 h 1189"/>
                <a:gd name="T53" fmla="*/ 577 w 577"/>
                <a:gd name="T54" fmla="*/ 1189 h 118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77" h="1189">
                  <a:moveTo>
                    <a:pt x="176" y="1087"/>
                  </a:moveTo>
                  <a:cubicBezTo>
                    <a:pt x="160" y="1170"/>
                    <a:pt x="113" y="1164"/>
                    <a:pt x="45" y="1189"/>
                  </a:cubicBezTo>
                  <a:cubicBezTo>
                    <a:pt x="35" y="1159"/>
                    <a:pt x="19" y="1132"/>
                    <a:pt x="8" y="1101"/>
                  </a:cubicBezTo>
                  <a:cubicBezTo>
                    <a:pt x="12" y="1017"/>
                    <a:pt x="0" y="949"/>
                    <a:pt x="45" y="882"/>
                  </a:cubicBezTo>
                  <a:cubicBezTo>
                    <a:pt x="62" y="831"/>
                    <a:pt x="51" y="851"/>
                    <a:pt x="74" y="817"/>
                  </a:cubicBezTo>
                  <a:cubicBezTo>
                    <a:pt x="87" y="778"/>
                    <a:pt x="87" y="742"/>
                    <a:pt x="111" y="707"/>
                  </a:cubicBezTo>
                  <a:cubicBezTo>
                    <a:pt x="119" y="672"/>
                    <a:pt x="121" y="660"/>
                    <a:pt x="147" y="635"/>
                  </a:cubicBezTo>
                  <a:cubicBezTo>
                    <a:pt x="164" y="583"/>
                    <a:pt x="140" y="646"/>
                    <a:pt x="176" y="591"/>
                  </a:cubicBezTo>
                  <a:cubicBezTo>
                    <a:pt x="205" y="548"/>
                    <a:pt x="155" y="588"/>
                    <a:pt x="205" y="554"/>
                  </a:cubicBezTo>
                  <a:cubicBezTo>
                    <a:pt x="230" y="517"/>
                    <a:pt x="249" y="477"/>
                    <a:pt x="286" y="452"/>
                  </a:cubicBezTo>
                  <a:cubicBezTo>
                    <a:pt x="301" y="428"/>
                    <a:pt x="335" y="395"/>
                    <a:pt x="358" y="379"/>
                  </a:cubicBezTo>
                  <a:cubicBezTo>
                    <a:pt x="369" y="363"/>
                    <a:pt x="384" y="352"/>
                    <a:pt x="395" y="336"/>
                  </a:cubicBezTo>
                  <a:cubicBezTo>
                    <a:pt x="425" y="292"/>
                    <a:pt x="372" y="334"/>
                    <a:pt x="424" y="299"/>
                  </a:cubicBezTo>
                  <a:cubicBezTo>
                    <a:pt x="434" y="269"/>
                    <a:pt x="450" y="238"/>
                    <a:pt x="468" y="212"/>
                  </a:cubicBezTo>
                  <a:cubicBezTo>
                    <a:pt x="485" y="160"/>
                    <a:pt x="473" y="181"/>
                    <a:pt x="497" y="146"/>
                  </a:cubicBezTo>
                  <a:cubicBezTo>
                    <a:pt x="503" y="129"/>
                    <a:pt x="516" y="94"/>
                    <a:pt x="526" y="80"/>
                  </a:cubicBezTo>
                  <a:cubicBezTo>
                    <a:pt x="544" y="53"/>
                    <a:pt x="577" y="37"/>
                    <a:pt x="577"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2" name="Freeform 52"/>
            <p:cNvSpPr>
              <a:spLocks/>
            </p:cNvSpPr>
            <p:nvPr/>
          </p:nvSpPr>
          <p:spPr bwMode="auto">
            <a:xfrm>
              <a:off x="1409" y="3298"/>
              <a:ext cx="63" cy="224"/>
            </a:xfrm>
            <a:custGeom>
              <a:avLst/>
              <a:gdLst>
                <a:gd name="T0" fmla="*/ 20 w 63"/>
                <a:gd name="T1" fmla="*/ 12 h 224"/>
                <a:gd name="T2" fmla="*/ 13 w 63"/>
                <a:gd name="T3" fmla="*/ 49 h 224"/>
                <a:gd name="T4" fmla="*/ 20 w 63"/>
                <a:gd name="T5" fmla="*/ 63 h 224"/>
                <a:gd name="T6" fmla="*/ 13 w 63"/>
                <a:gd name="T7" fmla="*/ 114 h 224"/>
                <a:gd name="T8" fmla="*/ 35 w 63"/>
                <a:gd name="T9" fmla="*/ 158 h 224"/>
                <a:gd name="T10" fmla="*/ 13 w 63"/>
                <a:gd name="T11" fmla="*/ 173 h 224"/>
                <a:gd name="T12" fmla="*/ 49 w 63"/>
                <a:gd name="T13" fmla="*/ 224 h 224"/>
                <a:gd name="T14" fmla="*/ 0 60000 65536"/>
                <a:gd name="T15" fmla="*/ 0 60000 65536"/>
                <a:gd name="T16" fmla="*/ 0 60000 65536"/>
                <a:gd name="T17" fmla="*/ 0 60000 65536"/>
                <a:gd name="T18" fmla="*/ 0 60000 65536"/>
                <a:gd name="T19" fmla="*/ 0 60000 65536"/>
                <a:gd name="T20" fmla="*/ 0 60000 65536"/>
                <a:gd name="T21" fmla="*/ 0 w 63"/>
                <a:gd name="T22" fmla="*/ 0 h 224"/>
                <a:gd name="T23" fmla="*/ 63 w 63"/>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 h="224">
                  <a:moveTo>
                    <a:pt x="20" y="12"/>
                  </a:moveTo>
                  <a:cubicBezTo>
                    <a:pt x="18" y="24"/>
                    <a:pt x="7" y="38"/>
                    <a:pt x="13" y="49"/>
                  </a:cubicBezTo>
                  <a:cubicBezTo>
                    <a:pt x="23" y="68"/>
                    <a:pt x="63" y="0"/>
                    <a:pt x="20" y="63"/>
                  </a:cubicBezTo>
                  <a:cubicBezTo>
                    <a:pt x="39" y="142"/>
                    <a:pt x="24" y="47"/>
                    <a:pt x="13" y="114"/>
                  </a:cubicBezTo>
                  <a:cubicBezTo>
                    <a:pt x="11" y="127"/>
                    <a:pt x="29" y="150"/>
                    <a:pt x="35" y="158"/>
                  </a:cubicBezTo>
                  <a:cubicBezTo>
                    <a:pt x="28" y="163"/>
                    <a:pt x="16" y="165"/>
                    <a:pt x="13" y="173"/>
                  </a:cubicBezTo>
                  <a:cubicBezTo>
                    <a:pt x="0" y="210"/>
                    <a:pt x="36" y="197"/>
                    <a:pt x="49" y="224"/>
                  </a:cubicBezTo>
                </a:path>
              </a:pathLst>
            </a:cu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3" name="Line 53"/>
            <p:cNvSpPr>
              <a:spLocks noChangeShapeType="1"/>
            </p:cNvSpPr>
            <p:nvPr/>
          </p:nvSpPr>
          <p:spPr bwMode="auto">
            <a:xfrm>
              <a:off x="1941" y="2523"/>
              <a:ext cx="181" cy="91"/>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4" name="Rectangle 54"/>
            <p:cNvSpPr>
              <a:spLocks noChangeArrowheads="1"/>
            </p:cNvSpPr>
            <p:nvPr/>
          </p:nvSpPr>
          <p:spPr bwMode="auto">
            <a:xfrm>
              <a:off x="2122" y="1643"/>
              <a:ext cx="245" cy="233"/>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rPr>
                <a:t>p</a:t>
              </a:r>
            </a:p>
          </p:txBody>
        </p:sp>
        <p:sp>
          <p:nvSpPr>
            <p:cNvPr id="65" name="Line 55"/>
            <p:cNvSpPr>
              <a:spLocks noChangeShapeType="1"/>
            </p:cNvSpPr>
            <p:nvPr/>
          </p:nvSpPr>
          <p:spPr bwMode="auto">
            <a:xfrm flipH="1">
              <a:off x="1909" y="1919"/>
              <a:ext cx="227" cy="182"/>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6" name="Freeform 56"/>
            <p:cNvSpPr>
              <a:spLocks/>
            </p:cNvSpPr>
            <p:nvPr/>
          </p:nvSpPr>
          <p:spPr bwMode="auto">
            <a:xfrm>
              <a:off x="2253" y="2720"/>
              <a:ext cx="87" cy="226"/>
            </a:xfrm>
            <a:custGeom>
              <a:avLst/>
              <a:gdLst>
                <a:gd name="T0" fmla="*/ 0 w 87"/>
                <a:gd name="T1" fmla="*/ 0 h 226"/>
                <a:gd name="T2" fmla="*/ 29 w 87"/>
                <a:gd name="T3" fmla="*/ 73 h 226"/>
                <a:gd name="T4" fmla="*/ 22 w 87"/>
                <a:gd name="T5" fmla="*/ 110 h 226"/>
                <a:gd name="T6" fmla="*/ 15 w 87"/>
                <a:gd name="T7" fmla="*/ 131 h 226"/>
                <a:gd name="T8" fmla="*/ 36 w 87"/>
                <a:gd name="T9" fmla="*/ 139 h 226"/>
                <a:gd name="T10" fmla="*/ 58 w 87"/>
                <a:gd name="T11" fmla="*/ 153 h 226"/>
                <a:gd name="T12" fmla="*/ 87 w 87"/>
                <a:gd name="T13" fmla="*/ 226 h 226"/>
                <a:gd name="T14" fmla="*/ 0 60000 65536"/>
                <a:gd name="T15" fmla="*/ 0 60000 65536"/>
                <a:gd name="T16" fmla="*/ 0 60000 65536"/>
                <a:gd name="T17" fmla="*/ 0 60000 65536"/>
                <a:gd name="T18" fmla="*/ 0 60000 65536"/>
                <a:gd name="T19" fmla="*/ 0 60000 65536"/>
                <a:gd name="T20" fmla="*/ 0 60000 65536"/>
                <a:gd name="T21" fmla="*/ 0 w 87"/>
                <a:gd name="T22" fmla="*/ 0 h 226"/>
                <a:gd name="T23" fmla="*/ 87 w 87"/>
                <a:gd name="T24" fmla="*/ 226 h 2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 h="226">
                  <a:moveTo>
                    <a:pt x="0" y="0"/>
                  </a:moveTo>
                  <a:cubicBezTo>
                    <a:pt x="8" y="27"/>
                    <a:pt x="14" y="49"/>
                    <a:pt x="29" y="73"/>
                  </a:cubicBezTo>
                  <a:cubicBezTo>
                    <a:pt x="27" y="85"/>
                    <a:pt x="25" y="98"/>
                    <a:pt x="22" y="110"/>
                  </a:cubicBezTo>
                  <a:cubicBezTo>
                    <a:pt x="20" y="117"/>
                    <a:pt x="12" y="124"/>
                    <a:pt x="15" y="131"/>
                  </a:cubicBezTo>
                  <a:cubicBezTo>
                    <a:pt x="18" y="138"/>
                    <a:pt x="29" y="136"/>
                    <a:pt x="36" y="139"/>
                  </a:cubicBezTo>
                  <a:cubicBezTo>
                    <a:pt x="44" y="143"/>
                    <a:pt x="51" y="148"/>
                    <a:pt x="58" y="153"/>
                  </a:cubicBezTo>
                  <a:cubicBezTo>
                    <a:pt x="64" y="186"/>
                    <a:pt x="64" y="203"/>
                    <a:pt x="87" y="226"/>
                  </a:cubicBezTo>
                </a:path>
              </a:pathLst>
            </a:cu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7" name="Freeform 57"/>
            <p:cNvSpPr>
              <a:spLocks/>
            </p:cNvSpPr>
            <p:nvPr/>
          </p:nvSpPr>
          <p:spPr bwMode="auto">
            <a:xfrm>
              <a:off x="1663" y="1780"/>
              <a:ext cx="102" cy="277"/>
            </a:xfrm>
            <a:custGeom>
              <a:avLst/>
              <a:gdLst>
                <a:gd name="T0" fmla="*/ 0 w 102"/>
                <a:gd name="T1" fmla="*/ 0 h 277"/>
                <a:gd name="T2" fmla="*/ 22 w 102"/>
                <a:gd name="T3" fmla="*/ 65 h 277"/>
                <a:gd name="T4" fmla="*/ 29 w 102"/>
                <a:gd name="T5" fmla="*/ 124 h 277"/>
                <a:gd name="T6" fmla="*/ 51 w 102"/>
                <a:gd name="T7" fmla="*/ 138 h 277"/>
                <a:gd name="T8" fmla="*/ 58 w 102"/>
                <a:gd name="T9" fmla="*/ 160 h 277"/>
                <a:gd name="T10" fmla="*/ 94 w 102"/>
                <a:gd name="T11" fmla="*/ 255 h 277"/>
                <a:gd name="T12" fmla="*/ 102 w 102"/>
                <a:gd name="T13" fmla="*/ 277 h 277"/>
                <a:gd name="T14" fmla="*/ 0 60000 65536"/>
                <a:gd name="T15" fmla="*/ 0 60000 65536"/>
                <a:gd name="T16" fmla="*/ 0 60000 65536"/>
                <a:gd name="T17" fmla="*/ 0 60000 65536"/>
                <a:gd name="T18" fmla="*/ 0 60000 65536"/>
                <a:gd name="T19" fmla="*/ 0 60000 65536"/>
                <a:gd name="T20" fmla="*/ 0 60000 65536"/>
                <a:gd name="T21" fmla="*/ 0 w 102"/>
                <a:gd name="T22" fmla="*/ 0 h 277"/>
                <a:gd name="T23" fmla="*/ 102 w 102"/>
                <a:gd name="T24" fmla="*/ 277 h 2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277">
                  <a:moveTo>
                    <a:pt x="0" y="0"/>
                  </a:moveTo>
                  <a:cubicBezTo>
                    <a:pt x="16" y="50"/>
                    <a:pt x="9" y="29"/>
                    <a:pt x="22" y="65"/>
                  </a:cubicBezTo>
                  <a:cubicBezTo>
                    <a:pt x="24" y="85"/>
                    <a:pt x="22" y="106"/>
                    <a:pt x="29" y="124"/>
                  </a:cubicBezTo>
                  <a:cubicBezTo>
                    <a:pt x="32" y="132"/>
                    <a:pt x="46" y="131"/>
                    <a:pt x="51" y="138"/>
                  </a:cubicBezTo>
                  <a:cubicBezTo>
                    <a:pt x="56" y="144"/>
                    <a:pt x="56" y="153"/>
                    <a:pt x="58" y="160"/>
                  </a:cubicBezTo>
                  <a:cubicBezTo>
                    <a:pt x="64" y="208"/>
                    <a:pt x="57" y="229"/>
                    <a:pt x="94" y="255"/>
                  </a:cubicBezTo>
                  <a:cubicBezTo>
                    <a:pt x="97" y="262"/>
                    <a:pt x="102" y="277"/>
                    <a:pt x="102" y="277"/>
                  </a:cubicBezTo>
                </a:path>
              </a:pathLst>
            </a:cu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grpSp>
      <p:sp>
        <p:nvSpPr>
          <p:cNvPr id="68" name="Rectangle 3"/>
          <p:cNvSpPr txBox="1">
            <a:spLocks noChangeArrowheads="1"/>
          </p:cNvSpPr>
          <p:nvPr/>
        </p:nvSpPr>
        <p:spPr bwMode="auto">
          <a:xfrm>
            <a:off x="495300" y="1524000"/>
            <a:ext cx="8489950" cy="49704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itchFamily="18" charset="2"/>
              <a:buNone/>
              <a:tabLst/>
              <a:defRPr/>
            </a:pPr>
            <a:r>
              <a:rPr kumimoji="0" lang="zh-CN" altLang="en-US" sz="2400" b="1" i="0" u="none" strike="noStrike" kern="0" cap="none" spc="0" normalizeH="0" baseline="0" noProof="0" dirty="0">
                <a:ln>
                  <a:noFill/>
                </a:ln>
                <a:solidFill>
                  <a:srgbClr val="0000FF"/>
                </a:solidFill>
                <a:effectLst/>
                <a:uLnTx/>
                <a:uFillTx/>
                <a:latin typeface="Times New Roman" pitchFamily="18" charset="0"/>
                <a:ea typeface="宋体"/>
              </a:rPr>
              <a:t> </a:t>
            </a:r>
            <a:r>
              <a:rPr kumimoji="0" lang="en-US" altLang="zh-CN" sz="2400" b="1" i="0" u="none" strike="noStrike" kern="0" cap="none" spc="0" normalizeH="0" baseline="0" noProof="0" dirty="0" err="1">
                <a:ln>
                  <a:noFill/>
                </a:ln>
                <a:solidFill>
                  <a:srgbClr val="0000FF"/>
                </a:solidFill>
                <a:effectLst/>
                <a:uLnTx/>
                <a:uFillTx/>
                <a:latin typeface="Constantia"/>
                <a:ea typeface="宋体"/>
              </a:rPr>
              <a:t>threadbithptr</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 * </a:t>
            </a:r>
            <a:r>
              <a:rPr kumimoji="0" lang="en-US" altLang="zh-CN" sz="2400" b="1" i="0" u="none" strike="noStrike" kern="0" cap="none" spc="0" normalizeH="0" baseline="0" noProof="0" dirty="0" err="1">
                <a:ln>
                  <a:noFill/>
                </a:ln>
                <a:solidFill>
                  <a:srgbClr val="0000FF"/>
                </a:solidFill>
                <a:effectLst/>
                <a:uLnTx/>
                <a:uFillTx/>
                <a:latin typeface="Times New Roman" pitchFamily="18" charset="0"/>
                <a:ea typeface="宋体"/>
              </a:rPr>
              <a:t>Inordernext</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a:t>
            </a:r>
            <a:r>
              <a:rPr kumimoji="0" lang="en-US" altLang="zh-CN" sz="2400" b="1" i="0" u="none" strike="noStrike" kern="0" cap="none" spc="0" normalizeH="0" baseline="0" noProof="0" dirty="0" err="1">
                <a:ln>
                  <a:noFill/>
                </a:ln>
                <a:solidFill>
                  <a:srgbClr val="0000FF"/>
                </a:solidFill>
                <a:effectLst/>
                <a:uLnTx/>
                <a:uFillTx/>
                <a:latin typeface="Times New Roman" pitchFamily="18" charset="0"/>
                <a:ea typeface="宋体"/>
              </a:rPr>
              <a:t>bithptr</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 *p)</a:t>
            </a: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a:t>
            </a: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dirty="0" err="1">
                <a:ln>
                  <a:noFill/>
                </a:ln>
                <a:solidFill>
                  <a:srgbClr val="0000FF"/>
                </a:solidFill>
                <a:effectLst/>
                <a:uLnTx/>
                <a:uFillTx/>
                <a:latin typeface="Constantia"/>
                <a:ea typeface="宋体"/>
              </a:rPr>
              <a:t>threadbithptr</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 *q;</a:t>
            </a: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if (</a:t>
            </a:r>
            <a:r>
              <a:rPr kumimoji="0" lang="en-US" altLang="zh-CN" sz="2400" b="1" i="0" u="none" strike="noStrike" kern="0" cap="none" spc="0" normalizeH="0" baseline="0" noProof="0" dirty="0">
                <a:ln>
                  <a:noFill/>
                </a:ln>
                <a:solidFill>
                  <a:srgbClr val="F81908"/>
                </a:solidFill>
                <a:effectLst/>
                <a:uLnTx/>
                <a:uFillTx/>
                <a:latin typeface="Times New Roman" pitchFamily="18" charset="0"/>
                <a:ea typeface="宋体"/>
              </a:rPr>
              <a:t>p-&gt;</a:t>
            </a:r>
            <a:r>
              <a:rPr kumimoji="0" lang="en-US" altLang="zh-CN" sz="2400" b="1" i="0" u="none" strike="noStrike" kern="0" cap="none" spc="0" normalizeH="0" baseline="0" noProof="0" dirty="0" err="1">
                <a:ln>
                  <a:noFill/>
                </a:ln>
                <a:solidFill>
                  <a:srgbClr val="F81908"/>
                </a:solidFill>
                <a:effectLst/>
                <a:uLnTx/>
                <a:uFillTx/>
                <a:latin typeface="Times New Roman" pitchFamily="18" charset="0"/>
                <a:ea typeface="宋体"/>
              </a:rPr>
              <a:t>rtag</a:t>
            </a:r>
            <a:r>
              <a:rPr kumimoji="0" lang="en-US" altLang="zh-CN" sz="2400" b="1" i="0" u="none" strike="noStrike" kern="0" cap="none" spc="0" normalizeH="0" baseline="0" noProof="0" dirty="0">
                <a:ln>
                  <a:noFill/>
                </a:ln>
                <a:solidFill>
                  <a:srgbClr val="F81908"/>
                </a:solidFill>
                <a:effectLst/>
                <a:uLnTx/>
                <a:uFillTx/>
                <a:latin typeface="Times New Roman" pitchFamily="18" charset="0"/>
                <a:ea typeface="宋体"/>
              </a:rPr>
              <a:t>==1</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                   </a:t>
            </a:r>
            <a:r>
              <a:rPr kumimoji="0" lang="en-US" altLang="zh-CN" sz="1800" b="1" i="0" u="none" strike="noStrike" kern="0" cap="none" spc="0" normalizeH="0" baseline="0" noProof="0" dirty="0">
                <a:ln>
                  <a:noFill/>
                </a:ln>
                <a:solidFill>
                  <a:srgbClr val="000000"/>
                </a:solidFill>
                <a:effectLst/>
                <a:uLnTx/>
                <a:uFillTx/>
                <a:latin typeface="Times New Roman" pitchFamily="18" charset="0"/>
                <a:ea typeface="宋体"/>
              </a:rPr>
              <a:t>//*P</a:t>
            </a:r>
            <a:r>
              <a:rPr kumimoji="0" lang="zh-CN" altLang="en-US" sz="1800" b="1" i="0" u="none" strike="noStrike" kern="0" cap="none" spc="0" normalizeH="0" baseline="0" noProof="0" dirty="0">
                <a:ln>
                  <a:noFill/>
                </a:ln>
                <a:solidFill>
                  <a:srgbClr val="000000"/>
                </a:solidFill>
                <a:effectLst/>
                <a:uLnTx/>
                <a:uFillTx/>
                <a:latin typeface="Times New Roman" pitchFamily="18" charset="0"/>
                <a:ea typeface="宋体"/>
              </a:rPr>
              <a:t>的右子树为空</a:t>
            </a:r>
            <a:endPar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a:endParaRP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F81908"/>
                </a:solidFill>
                <a:effectLst/>
                <a:uLnTx/>
                <a:uFillTx/>
                <a:latin typeface="Times New Roman" pitchFamily="18" charset="0"/>
                <a:ea typeface="宋体"/>
              </a:rPr>
              <a:t>return(p-&gt;</a:t>
            </a:r>
            <a:r>
              <a:rPr kumimoji="0" lang="en-US" altLang="zh-CN" sz="2400" b="1" i="0" u="none" strike="noStrike" kern="0" cap="none" spc="0" normalizeH="0" baseline="0" noProof="0" dirty="0" err="1">
                <a:ln>
                  <a:noFill/>
                </a:ln>
                <a:solidFill>
                  <a:srgbClr val="F81908"/>
                </a:solidFill>
                <a:effectLst/>
                <a:uLnTx/>
                <a:uFillTx/>
                <a:latin typeface="Times New Roman" pitchFamily="18" charset="0"/>
                <a:ea typeface="宋体"/>
              </a:rPr>
              <a:t>rch</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a:t>
            </a: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else                                  </a:t>
            </a:r>
            <a:r>
              <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a:rPr>
              <a:t>// </a:t>
            </a:r>
            <a:r>
              <a:rPr kumimoji="0" lang="en-US" altLang="zh-CN" sz="1800" b="1" i="0" u="none" strike="noStrike" kern="0" cap="none" spc="0" normalizeH="0" baseline="0" noProof="0" dirty="0">
                <a:ln>
                  <a:noFill/>
                </a:ln>
                <a:solidFill>
                  <a:srgbClr val="000000"/>
                </a:solidFill>
                <a:effectLst/>
                <a:uLnTx/>
                <a:uFillTx/>
                <a:latin typeface="Times New Roman" pitchFamily="18" charset="0"/>
                <a:ea typeface="宋体"/>
              </a:rPr>
              <a:t>*P</a:t>
            </a:r>
            <a:r>
              <a:rPr kumimoji="0" lang="zh-CN" altLang="en-US" sz="1800" b="1" i="0" u="none" strike="noStrike" kern="0" cap="none" spc="0" normalizeH="0" baseline="0" noProof="0" dirty="0">
                <a:ln>
                  <a:noFill/>
                </a:ln>
                <a:solidFill>
                  <a:srgbClr val="000000"/>
                </a:solidFill>
                <a:effectLst/>
                <a:uLnTx/>
                <a:uFillTx/>
                <a:latin typeface="Times New Roman" pitchFamily="18" charset="0"/>
                <a:ea typeface="宋体"/>
              </a:rPr>
              <a:t>右子树非空</a:t>
            </a:r>
            <a:endPar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a:endParaRP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  </a:t>
            </a:r>
            <a:r>
              <a:rPr kumimoji="0" lang="en-US" altLang="zh-CN" sz="2400" b="1" i="0" u="none" strike="noStrike" kern="0" cap="none" spc="0" normalizeH="0" baseline="0" noProof="0" dirty="0">
                <a:ln>
                  <a:noFill/>
                </a:ln>
                <a:solidFill>
                  <a:srgbClr val="FF3300"/>
                </a:solidFill>
                <a:effectLst/>
                <a:uLnTx/>
                <a:uFillTx/>
                <a:latin typeface="Times New Roman" pitchFamily="18" charset="0"/>
                <a:ea typeface="宋体"/>
              </a:rPr>
              <a:t>q=p-&gt;</a:t>
            </a:r>
            <a:r>
              <a:rPr kumimoji="0" lang="en-US" altLang="zh-CN" sz="2400" b="1" i="0" u="none" strike="noStrike" kern="0" cap="none" spc="0" normalizeH="0" baseline="0" noProof="0" dirty="0" err="1">
                <a:ln>
                  <a:noFill/>
                </a:ln>
                <a:solidFill>
                  <a:srgbClr val="FF3300"/>
                </a:solidFill>
                <a:effectLst/>
                <a:uLnTx/>
                <a:uFillTx/>
                <a:latin typeface="Times New Roman" pitchFamily="18" charset="0"/>
                <a:ea typeface="宋体"/>
              </a:rPr>
              <a:t>rch</a:t>
            </a:r>
            <a:r>
              <a:rPr kumimoji="0" lang="en-US" altLang="zh-CN" sz="2400" b="1" i="0" u="none" strike="noStrike" kern="0" cap="none" spc="0" normalizeH="0" baseline="0" noProof="0" dirty="0">
                <a:ln>
                  <a:noFill/>
                </a:ln>
                <a:solidFill>
                  <a:srgbClr val="FF3300"/>
                </a:solidFill>
                <a:effectLst/>
                <a:uLnTx/>
                <a:uFillTx/>
                <a:latin typeface="Times New Roman" pitchFamily="18" charset="0"/>
                <a:ea typeface="宋体"/>
              </a:rPr>
              <a:t>;              </a:t>
            </a:r>
            <a:endParaRPr kumimoji="0" lang="zh-CN" altLang="en-US" sz="2400" b="1" i="0" u="none" strike="noStrike" kern="0" cap="none" spc="0" normalizeH="0" baseline="0" noProof="0" dirty="0">
              <a:ln>
                <a:noFill/>
              </a:ln>
              <a:solidFill>
                <a:srgbClr val="FF3300"/>
              </a:solidFill>
              <a:effectLst/>
              <a:uLnTx/>
              <a:uFillTx/>
              <a:latin typeface="Times New Roman" pitchFamily="18" charset="0"/>
              <a:ea typeface="宋体"/>
            </a:endParaRP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FF3300"/>
                </a:solidFill>
                <a:effectLst/>
                <a:uLnTx/>
                <a:uFillTx/>
                <a:latin typeface="Times New Roman" pitchFamily="18" charset="0"/>
                <a:ea typeface="宋体"/>
              </a:rPr>
              <a:t>   while(q-&gt;</a:t>
            </a:r>
            <a:r>
              <a:rPr kumimoji="0" lang="en-US" altLang="zh-CN" sz="2400" b="1" i="0" u="none" strike="noStrike" kern="0" cap="none" spc="0" normalizeH="0" baseline="0" noProof="0" dirty="0" err="1">
                <a:ln>
                  <a:noFill/>
                </a:ln>
                <a:solidFill>
                  <a:srgbClr val="FF3300"/>
                </a:solidFill>
                <a:effectLst/>
                <a:uLnTx/>
                <a:uFillTx/>
                <a:latin typeface="Times New Roman" pitchFamily="18" charset="0"/>
                <a:ea typeface="宋体"/>
              </a:rPr>
              <a:t>ltag</a:t>
            </a:r>
            <a:r>
              <a:rPr kumimoji="0" lang="en-US" altLang="zh-CN" sz="2400" b="1" i="0" u="none" strike="noStrike" kern="0" cap="none" spc="0" normalizeH="0" baseline="0" noProof="0" dirty="0">
                <a:ln>
                  <a:noFill/>
                </a:ln>
                <a:solidFill>
                  <a:srgbClr val="FF3300"/>
                </a:solidFill>
                <a:effectLst/>
                <a:uLnTx/>
                <a:uFillTx/>
                <a:latin typeface="Times New Roman" pitchFamily="18" charset="0"/>
                <a:ea typeface="宋体"/>
              </a:rPr>
              <a:t>==0)     // </a:t>
            </a:r>
            <a:r>
              <a:rPr kumimoji="0" lang="zh-CN" altLang="en-US" sz="1800" b="1" i="0" u="none" strike="noStrike" kern="0" cap="none" spc="0" normalizeH="0" baseline="0" noProof="0" dirty="0">
                <a:ln>
                  <a:noFill/>
                </a:ln>
                <a:solidFill>
                  <a:srgbClr val="FF3300"/>
                </a:solidFill>
                <a:effectLst/>
                <a:uLnTx/>
                <a:uFillTx/>
                <a:latin typeface="Times New Roman" pitchFamily="18" charset="0"/>
                <a:ea typeface="宋体"/>
              </a:rPr>
              <a:t>找右子树的“最左下”结点</a:t>
            </a:r>
            <a:endParaRPr kumimoji="0" lang="zh-CN" altLang="en-US" sz="2400" b="1" i="0" u="none" strike="noStrike" kern="0" cap="none" spc="0" normalizeH="0" baseline="0" noProof="0" dirty="0">
              <a:ln>
                <a:noFill/>
              </a:ln>
              <a:solidFill>
                <a:srgbClr val="FF3300"/>
              </a:solidFill>
              <a:effectLst/>
              <a:uLnTx/>
              <a:uFillTx/>
              <a:latin typeface="Times New Roman" pitchFamily="18" charset="0"/>
              <a:ea typeface="宋体"/>
            </a:endParaRP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FF3300"/>
                </a:solidFill>
                <a:effectLst/>
                <a:uLnTx/>
                <a:uFillTx/>
                <a:latin typeface="Times New Roman" pitchFamily="18" charset="0"/>
                <a:ea typeface="宋体"/>
              </a:rPr>
              <a:t>        q=q-&gt;</a:t>
            </a:r>
            <a:r>
              <a:rPr kumimoji="0" lang="en-US" altLang="zh-CN" sz="2400" b="1" i="0" u="none" strike="noStrike" kern="0" cap="none" spc="0" normalizeH="0" baseline="0" noProof="0" dirty="0" err="1">
                <a:ln>
                  <a:noFill/>
                </a:ln>
                <a:solidFill>
                  <a:srgbClr val="FF3300"/>
                </a:solidFill>
                <a:effectLst/>
                <a:uLnTx/>
                <a:uFillTx/>
                <a:latin typeface="Times New Roman" pitchFamily="18" charset="0"/>
                <a:ea typeface="宋体"/>
              </a:rPr>
              <a:t>lch</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a:t>
            </a: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 return(q);</a:t>
            </a:r>
          </a:p>
          <a:p>
            <a:pPr marL="639763" marR="0" lvl="1" indent="-246063" algn="l" defTabSz="914400" rtl="0" eaLnBrk="1" fontAlgn="base" latinLnBrk="0" hangingPunct="1">
              <a:lnSpc>
                <a:spcPct val="9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a:t>
            </a: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Constantia"/>
                <a:ea typeface="宋体"/>
              </a:rPr>
              <a:t>}                                   //</a:t>
            </a:r>
            <a:r>
              <a:rPr kumimoji="0" lang="zh-CN" altLang="en-US" sz="2400" b="1" i="0" u="none" strike="noStrike" kern="0" cap="none" spc="0" normalizeH="0" baseline="0" noProof="0" dirty="0">
                <a:ln>
                  <a:noFill/>
                </a:ln>
                <a:solidFill>
                  <a:srgbClr val="0000FF"/>
                </a:solidFill>
                <a:effectLst/>
                <a:uLnTx/>
                <a:uFillTx/>
                <a:latin typeface="Constantia"/>
                <a:ea typeface="宋体"/>
              </a:rPr>
              <a:t>查找结点*</a:t>
            </a:r>
            <a:r>
              <a:rPr kumimoji="0" lang="en-US" altLang="zh-CN" sz="2400" b="1" i="0" u="none" strike="noStrike" kern="0" cap="none" spc="0" normalizeH="0" baseline="0" noProof="0" dirty="0">
                <a:ln>
                  <a:noFill/>
                </a:ln>
                <a:solidFill>
                  <a:srgbClr val="0000FF"/>
                </a:solidFill>
                <a:effectLst/>
                <a:uLnTx/>
                <a:uFillTx/>
                <a:latin typeface="Constantia"/>
                <a:ea typeface="宋体"/>
              </a:rPr>
              <a:t>p</a:t>
            </a:r>
            <a:r>
              <a:rPr kumimoji="0" lang="zh-CN" altLang="en-US" sz="2400" b="1" i="0" u="none" strike="noStrike" kern="0" cap="none" spc="0" normalizeH="0" baseline="0" noProof="0" dirty="0">
                <a:ln>
                  <a:noFill/>
                </a:ln>
                <a:solidFill>
                  <a:srgbClr val="0000FF"/>
                </a:solidFill>
                <a:effectLst/>
                <a:uLnTx/>
                <a:uFillTx/>
                <a:latin typeface="Constantia"/>
                <a:ea typeface="宋体"/>
              </a:rPr>
              <a:t>的中序后继</a:t>
            </a:r>
            <a:endParaRPr kumimoji="1" lang="zh-CN" altLang="en-US" sz="2400" b="1" i="0" u="none" strike="noStrike" kern="0" cap="none" spc="0" normalizeH="0" baseline="0" noProof="0" dirty="0">
              <a:ln>
                <a:noFill/>
              </a:ln>
              <a:solidFill>
                <a:srgbClr val="FFFF00"/>
              </a:solidFill>
              <a:effectLst/>
              <a:uLnTx/>
              <a:uFillTx/>
              <a:latin typeface="Constantia"/>
              <a:ea typeface="宋体"/>
            </a:endParaRP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itchFamily="18" charset="2"/>
              <a:buNone/>
              <a:tabLst/>
              <a:defRPr/>
            </a:pPr>
            <a:endParaRPr kumimoji="0" lang="en-US" altLang="zh-CN" sz="2400" b="1" i="0" u="none" strike="noStrike" kern="0" cap="none" spc="0" normalizeH="0" baseline="0" noProof="0" dirty="0">
              <a:ln>
                <a:noFill/>
              </a:ln>
              <a:solidFill>
                <a:srgbClr val="0000FF"/>
              </a:solidFill>
              <a:effectLst/>
              <a:uLnTx/>
              <a:uFillTx/>
              <a:latin typeface="Constantia"/>
              <a:ea typeface="宋体"/>
            </a:endParaRPr>
          </a:p>
        </p:txBody>
      </p:sp>
    </p:spTree>
    <p:extLst>
      <p:ext uri="{BB962C8B-B14F-4D97-AF65-F5344CB8AC3E}">
        <p14:creationId xmlns:p14="http://schemas.microsoft.com/office/powerpoint/2010/main" val="202115134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二叉树的线索化</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查找</a:t>
            </a:r>
            <a:r>
              <a:rPr lang="en-US" altLang="zh-CN" sz="2800" b="1" dirty="0"/>
              <a:t>--</a:t>
            </a:r>
            <a:r>
              <a:rPr lang="zh-CN" altLang="en-US" sz="2800" b="1" dirty="0"/>
              <a:t>在线索二叉树树中找结点</a:t>
            </a:r>
            <a:r>
              <a:rPr lang="en-US" altLang="zh-CN" sz="2800" b="1" dirty="0"/>
              <a:t>--</a:t>
            </a:r>
            <a:r>
              <a:rPr lang="zh-CN" altLang="en-US" sz="2800" b="1" dirty="0">
                <a:solidFill>
                  <a:srgbClr val="FF0000"/>
                </a:solidFill>
              </a:rPr>
              <a:t>中序前驱</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76926710-6CF3-4A5B-A959-EF81C9AE249B}"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97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30" name="Text Box 4"/>
          <p:cNvSpPr txBox="1">
            <a:spLocks noChangeArrowheads="1"/>
          </p:cNvSpPr>
          <p:nvPr/>
        </p:nvSpPr>
        <p:spPr bwMode="auto">
          <a:xfrm>
            <a:off x="544513" y="1681162"/>
            <a:ext cx="8423275" cy="2049792"/>
          </a:xfrm>
          <a:prstGeom prst="rect">
            <a:avLst/>
          </a:prstGeom>
          <a:noFill/>
          <a:ln w="12700">
            <a:solidFill>
              <a:srgbClr val="04617B"/>
            </a:solidFill>
            <a:miter lim="800000"/>
            <a:headEnd/>
            <a:tailEnd/>
          </a:ln>
        </p:spPr>
        <p:txBody>
          <a:bodyPr wrap="square">
            <a:spAutoFit/>
          </a:bodyPr>
          <a:lstStyle/>
          <a:p>
            <a:pPr marL="0" marR="0" lvl="0" indent="0" algn="just" defTabSz="914400" eaLnBrk="1" fontAlgn="base" latinLnBrk="0" hangingPunct="1">
              <a:lnSpc>
                <a:spcPct val="130000"/>
              </a:lnSpc>
              <a:spcBef>
                <a:spcPct val="20000"/>
              </a:spcBef>
              <a:spcAft>
                <a:spcPct val="0"/>
              </a:spcAft>
              <a:buClrTx/>
              <a:buSzTx/>
              <a:buFont typeface="Wingdings" pitchFamily="2" charset="2"/>
              <a:buNone/>
              <a:tabLst/>
              <a:defRPr/>
            </a:pPr>
            <a:r>
              <a:rPr kumimoji="1" lang="zh-CN" altLang="en-US" sz="2400" b="1" i="0" u="none" strike="noStrike" kern="0" cap="none" spc="0" normalizeH="0" baseline="0" noProof="0">
                <a:ln>
                  <a:noFill/>
                </a:ln>
                <a:solidFill>
                  <a:srgbClr val="003300"/>
                </a:solidFill>
                <a:effectLst/>
                <a:uLnTx/>
                <a:uFillTx/>
                <a:latin typeface="宋体" pitchFamily="2" charset="-122"/>
              </a:rPr>
              <a:t>在线索二叉树中查找中序前驱的方法</a:t>
            </a:r>
          </a:p>
          <a:p>
            <a:pPr marL="0" marR="0" lvl="0" indent="0"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Times New Roman" pitchFamily="18" charset="0"/>
                <a:sym typeface="Wingdings" pitchFamily="2" charset="2"/>
              </a:rPr>
              <a:t>（</a:t>
            </a:r>
            <a:r>
              <a:rPr kumimoji="1" lang="en-US" altLang="zh-CN" sz="2400" b="1" i="0" u="none" strike="noStrike" kern="0" cap="none" spc="0" normalizeH="0" baseline="0" noProof="0">
                <a:ln>
                  <a:noFill/>
                </a:ln>
                <a:solidFill>
                  <a:srgbClr val="0000FF"/>
                </a:solidFill>
                <a:effectLst/>
                <a:uLnTx/>
                <a:uFillTx/>
                <a:latin typeface="Times New Roman" pitchFamily="18" charset="0"/>
                <a:sym typeface="Wingdings" pitchFamily="2" charset="2"/>
              </a:rPr>
              <a:t>1</a:t>
            </a:r>
            <a:r>
              <a:rPr kumimoji="1" lang="zh-CN" altLang="en-US" sz="2400" b="1" i="0" u="none" strike="noStrike" kern="0" cap="none" spc="0" normalizeH="0" baseline="0" noProof="0">
                <a:ln>
                  <a:noFill/>
                </a:ln>
                <a:solidFill>
                  <a:srgbClr val="0000FF"/>
                </a:solidFill>
                <a:effectLst/>
                <a:uLnTx/>
                <a:uFillTx/>
                <a:latin typeface="Times New Roman" pitchFamily="18" charset="0"/>
                <a:sym typeface="Wingdings" pitchFamily="2" charset="2"/>
              </a:rPr>
              <a:t>）当结点没有左子树时，即：</a:t>
            </a:r>
          </a:p>
          <a:p>
            <a:pPr marL="0" marR="0" lvl="0" indent="0"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   当</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p-&gt;ltag =1 </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时，</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p-&gt;lch </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既为所求</a:t>
            </a:r>
            <a:r>
              <a:rPr kumimoji="1" lang="zh-CN" altLang="en-US" sz="2400" b="1" i="0" u="none" strike="noStrike" kern="0" cap="none" spc="0" normalizeH="0" baseline="0" noProof="0">
                <a:ln>
                  <a:noFill/>
                </a:ln>
                <a:solidFill>
                  <a:srgbClr val="003300"/>
                </a:solidFill>
                <a:effectLst/>
                <a:uLnTx/>
                <a:uFillTx/>
                <a:latin typeface="Times New Roman" pitchFamily="18" charset="0"/>
              </a:rPr>
              <a:t>前驱</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结点（线索）。</a:t>
            </a:r>
          </a:p>
          <a:p>
            <a:pPr marL="0" marR="0" lvl="0" indent="0"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Times New Roman" pitchFamily="18" charset="0"/>
                <a:sym typeface="Wingdings" pitchFamily="2" charset="2"/>
              </a:rPr>
              <a:t>（</a:t>
            </a:r>
            <a:r>
              <a:rPr kumimoji="1" lang="en-US" altLang="zh-CN" sz="2400" b="1" i="0" u="none" strike="noStrike" kern="0" cap="none" spc="0" normalizeH="0" baseline="0" noProof="0">
                <a:ln>
                  <a:noFill/>
                </a:ln>
                <a:solidFill>
                  <a:srgbClr val="0000FF"/>
                </a:solidFill>
                <a:effectLst/>
                <a:uLnTx/>
                <a:uFillTx/>
                <a:latin typeface="Times New Roman" pitchFamily="18" charset="0"/>
                <a:sym typeface="Wingdings" pitchFamily="2" charset="2"/>
              </a:rPr>
              <a:t>2</a:t>
            </a:r>
            <a:r>
              <a:rPr kumimoji="1" lang="zh-CN" altLang="en-US" sz="2400" b="1" i="0" u="none" strike="noStrike" kern="0" cap="none" spc="0" normalizeH="0" baseline="0" noProof="0">
                <a:ln>
                  <a:noFill/>
                </a:ln>
                <a:solidFill>
                  <a:srgbClr val="0000FF"/>
                </a:solidFill>
                <a:effectLst/>
                <a:uLnTx/>
                <a:uFillTx/>
                <a:latin typeface="Times New Roman" pitchFamily="18" charset="0"/>
                <a:sym typeface="Wingdings" pitchFamily="2" charset="2"/>
              </a:rPr>
              <a:t>）当结点有左子树时，即：</a:t>
            </a:r>
            <a:endParaRPr kumimoji="1" lang="zh-CN" altLang="en-US" sz="2400" b="1" i="0" u="none" strike="noStrike" kern="0" cap="none" spc="0" normalizeH="0" baseline="0" noProof="0">
              <a:ln>
                <a:noFill/>
              </a:ln>
              <a:solidFill>
                <a:srgbClr val="FF3300"/>
              </a:solidFill>
              <a:effectLst/>
              <a:uLnTx/>
              <a:uFillTx/>
              <a:latin typeface="Times New Roman" pitchFamily="18" charset="0"/>
              <a:sym typeface="Wingdings" pitchFamily="2" charset="2"/>
            </a:endParaRPr>
          </a:p>
          <a:p>
            <a:pPr marL="0" marR="0" lvl="0" indent="0"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   当</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p-&gt;ltag = 0 </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时，</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p</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的</a:t>
            </a:r>
            <a:r>
              <a:rPr kumimoji="1" lang="zh-CN" altLang="en-US" sz="2400" b="1" i="0" u="none" strike="noStrike" kern="0" cap="none" spc="0" normalizeH="0" baseline="0" noProof="0">
                <a:ln>
                  <a:noFill/>
                </a:ln>
                <a:solidFill>
                  <a:srgbClr val="003300"/>
                </a:solidFill>
                <a:effectLst/>
                <a:uLnTx/>
                <a:uFillTx/>
                <a:latin typeface="Times New Roman" pitchFamily="18" charset="0"/>
              </a:rPr>
              <a:t>前驱</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结点为</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p</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的</a:t>
            </a:r>
            <a:r>
              <a:rPr kumimoji="1" lang="zh-CN" altLang="en-US" sz="2400" b="1" i="0" u="none" strike="noStrike" kern="0" cap="none" spc="0" normalizeH="0" baseline="0" noProof="0">
                <a:ln>
                  <a:noFill/>
                </a:ln>
                <a:solidFill>
                  <a:srgbClr val="FF3300"/>
                </a:solidFill>
                <a:effectLst/>
                <a:uLnTx/>
                <a:uFillTx/>
                <a:latin typeface="Times New Roman" pitchFamily="18" charset="0"/>
                <a:sym typeface="Wingdings" pitchFamily="2" charset="2"/>
              </a:rPr>
              <a:t>左子树的最右下结点。</a:t>
            </a:r>
            <a:endParaRPr kumimoji="1" lang="zh-CN" altLang="en-US" sz="3200" b="1" i="0" u="none" strike="noStrike" kern="0" cap="none" spc="0" normalizeH="0" baseline="0" noProof="0">
              <a:ln>
                <a:noFill/>
              </a:ln>
              <a:solidFill>
                <a:srgbClr val="0000FF"/>
              </a:solidFill>
              <a:effectLst/>
              <a:uLnTx/>
              <a:uFillTx/>
              <a:latin typeface="Times New Roman" pitchFamily="18" charset="0"/>
            </a:endParaRPr>
          </a:p>
        </p:txBody>
      </p:sp>
      <p:sp>
        <p:nvSpPr>
          <p:cNvPr id="31" name="AutoShape 6"/>
          <p:cNvSpPr>
            <a:spLocks noChangeArrowheads="1"/>
          </p:cNvSpPr>
          <p:nvPr/>
        </p:nvSpPr>
        <p:spPr bwMode="auto">
          <a:xfrm>
            <a:off x="1219200" y="4191000"/>
            <a:ext cx="7127875" cy="1871663"/>
          </a:xfrm>
          <a:prstGeom prst="cloudCallout">
            <a:avLst>
              <a:gd name="adj1" fmla="val -42204"/>
              <a:gd name="adj2" fmla="val 35921"/>
            </a:avLst>
          </a:prstGeom>
          <a:solidFill>
            <a:srgbClr val="FFFFFF"/>
          </a:solidFill>
          <a:ln w="25400" algn="ctr">
            <a:solidFill>
              <a:srgbClr val="0F6FC6"/>
            </a:solidFill>
            <a:round/>
            <a:headEnd/>
            <a:tailEnd/>
          </a:ln>
        </p:spPr>
        <p:txBody>
          <a:bodyPr/>
          <a:lstStyle/>
          <a:p>
            <a:pPr marL="0" marR="0" lvl="0" indent="0" algn="just" defTabSz="914400" eaLnBrk="1" fontAlgn="base" latinLnBrk="0" hangingPunct="1">
              <a:lnSpc>
                <a:spcPct val="130000"/>
              </a:lnSpc>
              <a:spcBef>
                <a:spcPct val="20000"/>
              </a:spcBef>
              <a:spcAft>
                <a:spcPct val="0"/>
              </a:spcAft>
              <a:buClrTx/>
              <a:buSzTx/>
              <a:buFontTx/>
              <a:buNone/>
              <a:tabLst/>
              <a:defRPr/>
            </a:pPr>
            <a:r>
              <a:rPr kumimoji="1" lang="zh-CN" altLang="en-US" sz="3600" b="1" i="0" u="none" strike="noStrike" kern="0" cap="none" spc="0" normalizeH="0" baseline="0" noProof="0" dirty="0">
                <a:ln>
                  <a:noFill/>
                </a:ln>
                <a:solidFill>
                  <a:srgbClr val="0000FF"/>
                </a:solidFill>
                <a:effectLst/>
                <a:uLnTx/>
                <a:uFillTx/>
                <a:latin typeface="隶书" pitchFamily="49" charset="-122"/>
                <a:ea typeface="隶书" pitchFamily="49" charset="-122"/>
              </a:rPr>
              <a:t>如何在中序线索树找     指定结点的前驱？</a:t>
            </a:r>
          </a:p>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dirty="0">
              <a:ln>
                <a:noFill/>
              </a:ln>
              <a:solidFill>
                <a:srgbClr val="0000FF"/>
              </a:solidFill>
              <a:effectLst/>
              <a:uLnTx/>
              <a:uFillTx/>
              <a:latin typeface="隶书" pitchFamily="49" charset="-122"/>
              <a:ea typeface="隶书" pitchFamily="49" charset="-122"/>
            </a:endParaRPr>
          </a:p>
        </p:txBody>
      </p:sp>
    </p:spTree>
    <p:extLst>
      <p:ext uri="{BB962C8B-B14F-4D97-AF65-F5344CB8AC3E}">
        <p14:creationId xmlns:p14="http://schemas.microsoft.com/office/powerpoint/2010/main" val="1447244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二叉树的线索化</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t>在中序线索树中找结点*</a:t>
            </a:r>
            <a:r>
              <a:rPr lang="en-US" altLang="zh-CN" sz="2800" b="1" dirty="0"/>
              <a:t>p</a:t>
            </a:r>
            <a:r>
              <a:rPr lang="zh-CN" altLang="en-US" sz="2800" b="1" dirty="0"/>
              <a:t>的</a:t>
            </a:r>
            <a:r>
              <a:rPr lang="zh-CN" altLang="en-US" sz="2800" b="1" dirty="0">
                <a:solidFill>
                  <a:srgbClr val="FF0000"/>
                </a:solidFill>
              </a:rPr>
              <a:t>中序前驱</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77AE765D-A2AA-4828-82A2-9C4CB651A8FE}"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98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4" name="Text Box 2"/>
          <p:cNvSpPr txBox="1">
            <a:spLocks noChangeArrowheads="1"/>
          </p:cNvSpPr>
          <p:nvPr/>
        </p:nvSpPr>
        <p:spPr bwMode="auto">
          <a:xfrm>
            <a:off x="4024313" y="2623770"/>
            <a:ext cx="5010965" cy="3787833"/>
          </a:xfrm>
          <a:prstGeom prst="rect">
            <a:avLst/>
          </a:prstGeom>
          <a:noFill/>
          <a:ln w="9525">
            <a:solidFill>
              <a:srgbClr val="0000FF"/>
            </a:solidFill>
            <a:miter lim="800000"/>
            <a:headEnd/>
            <a:tailEnd/>
          </a:ln>
        </p:spPr>
        <p:txBody>
          <a:bodyPr wrap="none" lIns="90000" tIns="46800" rIns="90000" bIns="46800">
            <a:spAutoFit/>
          </a:bodyPr>
          <a:lstStyle/>
          <a:p>
            <a:pPr fontAlgn="base">
              <a:lnSpc>
                <a:spcPct val="120000"/>
              </a:lnSpc>
              <a:spcBef>
                <a:spcPct val="0"/>
              </a:spcBef>
              <a:spcAft>
                <a:spcPct val="0"/>
              </a:spcAft>
            </a:pPr>
            <a:r>
              <a:rPr kumimoji="1" lang="en-US" altLang="zh-CN" sz="2400" b="1">
                <a:solidFill>
                  <a:srgbClr val="0000FF"/>
                </a:solidFill>
                <a:latin typeface="Times New Roman" pitchFamily="18" charset="0"/>
              </a:rPr>
              <a:t>threadbithptr inpre(threadbithptr p)</a:t>
            </a:r>
          </a:p>
          <a:p>
            <a:pPr fontAlgn="base">
              <a:lnSpc>
                <a:spcPct val="120000"/>
              </a:lnSpc>
              <a:spcBef>
                <a:spcPct val="0"/>
              </a:spcBef>
              <a:spcAft>
                <a:spcPct val="0"/>
              </a:spcAft>
            </a:pPr>
            <a:r>
              <a:rPr kumimoji="1" lang="en-US" altLang="zh-CN" sz="2400" b="1">
                <a:solidFill>
                  <a:srgbClr val="0000FF"/>
                </a:solidFill>
                <a:latin typeface="Times New Roman" pitchFamily="18" charset="0"/>
              </a:rPr>
              <a:t>threadbithptr p ;</a:t>
            </a:r>
          </a:p>
          <a:p>
            <a:pPr fontAlgn="base">
              <a:lnSpc>
                <a:spcPct val="120000"/>
              </a:lnSpc>
              <a:spcBef>
                <a:spcPct val="0"/>
              </a:spcBef>
              <a:spcAft>
                <a:spcPct val="0"/>
              </a:spcAft>
            </a:pPr>
            <a:r>
              <a:rPr kumimoji="1" lang="en-US" altLang="zh-CN" sz="2400" b="1">
                <a:solidFill>
                  <a:srgbClr val="0000FF"/>
                </a:solidFill>
                <a:latin typeface="Times New Roman" pitchFamily="18" charset="0"/>
              </a:rPr>
              <a:t>{threadbithptr q ;</a:t>
            </a:r>
          </a:p>
          <a:p>
            <a:pPr fontAlgn="base">
              <a:lnSpc>
                <a:spcPct val="120000"/>
              </a:lnSpc>
              <a:spcBef>
                <a:spcPct val="0"/>
              </a:spcBef>
              <a:spcAft>
                <a:spcPct val="0"/>
              </a:spcAft>
            </a:pPr>
            <a:r>
              <a:rPr kumimoji="1" lang="en-US" altLang="zh-CN" sz="2400" b="1">
                <a:solidFill>
                  <a:srgbClr val="0000FF"/>
                </a:solidFill>
                <a:latin typeface="Times New Roman" pitchFamily="18" charset="0"/>
              </a:rPr>
              <a:t>      </a:t>
            </a:r>
            <a:r>
              <a:rPr kumimoji="1" lang="en-US" altLang="zh-CN" sz="2800" b="1">
                <a:solidFill>
                  <a:srgbClr val="FF3300"/>
                </a:solidFill>
                <a:latin typeface="Times New Roman" pitchFamily="18" charset="0"/>
              </a:rPr>
              <a:t>q=p-&gt;lch ;</a:t>
            </a:r>
          </a:p>
          <a:p>
            <a:pPr fontAlgn="base">
              <a:lnSpc>
                <a:spcPct val="120000"/>
              </a:lnSpc>
              <a:spcBef>
                <a:spcPct val="0"/>
              </a:spcBef>
              <a:spcAft>
                <a:spcPct val="0"/>
              </a:spcAft>
            </a:pPr>
            <a:endParaRPr kumimoji="1" lang="en-US" altLang="zh-CN" sz="2800" b="1">
              <a:solidFill>
                <a:srgbClr val="FF3300"/>
              </a:solidFill>
              <a:latin typeface="Times New Roman" pitchFamily="18" charset="0"/>
            </a:endParaRPr>
          </a:p>
          <a:p>
            <a:pPr fontAlgn="base">
              <a:lnSpc>
                <a:spcPct val="120000"/>
              </a:lnSpc>
              <a:spcBef>
                <a:spcPct val="0"/>
              </a:spcBef>
              <a:spcAft>
                <a:spcPct val="0"/>
              </a:spcAft>
            </a:pPr>
            <a:endParaRPr kumimoji="1" lang="en-US" altLang="zh-CN" sz="2400" b="1">
              <a:solidFill>
                <a:srgbClr val="FF3300"/>
              </a:solidFill>
              <a:latin typeface="Times New Roman" pitchFamily="18" charset="0"/>
            </a:endParaRPr>
          </a:p>
          <a:p>
            <a:pPr fontAlgn="base">
              <a:lnSpc>
                <a:spcPct val="120000"/>
              </a:lnSpc>
              <a:spcBef>
                <a:spcPct val="0"/>
              </a:spcBef>
              <a:spcAft>
                <a:spcPct val="0"/>
              </a:spcAft>
            </a:pPr>
            <a:endParaRPr kumimoji="1" lang="en-US" altLang="zh-CN" sz="2400" b="1">
              <a:solidFill>
                <a:srgbClr val="FF3300"/>
              </a:solidFill>
              <a:latin typeface="Times New Roman" pitchFamily="18" charset="0"/>
            </a:endParaRPr>
          </a:p>
          <a:p>
            <a:pPr fontAlgn="base">
              <a:lnSpc>
                <a:spcPct val="120000"/>
              </a:lnSpc>
              <a:spcBef>
                <a:spcPct val="0"/>
              </a:spcBef>
              <a:spcAft>
                <a:spcPct val="0"/>
              </a:spcAft>
            </a:pPr>
            <a:r>
              <a:rPr kumimoji="1" lang="en-US" altLang="zh-CN" sz="2400" b="1">
                <a:solidFill>
                  <a:srgbClr val="0000FF"/>
                </a:solidFill>
                <a:latin typeface="Times New Roman" pitchFamily="18" charset="0"/>
              </a:rPr>
              <a:t>}</a:t>
            </a:r>
          </a:p>
        </p:txBody>
      </p:sp>
      <p:sp>
        <p:nvSpPr>
          <p:cNvPr id="15" name="Text Box 4"/>
          <p:cNvSpPr txBox="1">
            <a:spLocks noChangeArrowheads="1"/>
          </p:cNvSpPr>
          <p:nvPr/>
        </p:nvSpPr>
        <p:spPr bwMode="auto">
          <a:xfrm>
            <a:off x="561975" y="1609725"/>
            <a:ext cx="7888288" cy="981075"/>
          </a:xfrm>
          <a:prstGeom prst="rect">
            <a:avLst/>
          </a:prstGeom>
          <a:noFill/>
          <a:ln w="12700">
            <a:solidFill>
              <a:srgbClr val="04617B"/>
            </a:solidFill>
            <a:miter lim="800000"/>
            <a:headEnd/>
            <a:tailEnd/>
          </a:ln>
        </p:spPr>
        <p:txBody>
          <a:bodyPr wrap="none" lIns="90000" tIns="46800" rIns="90000" bIns="46800">
            <a:spAutoFit/>
          </a:bodyPr>
          <a:lstStyle/>
          <a:p>
            <a:pPr marL="0" marR="0" lvl="0" indent="0" defTabSz="914400" eaLnBrk="1" fontAlgn="base" latinLnBrk="0" hangingPunct="1">
              <a:lnSpc>
                <a:spcPct val="12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rPr>
              <a:t>分析：</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(1) </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当</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p-&gt;ltag = 1</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时，</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p-&gt;lch </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既为所求（线索）。</a:t>
            </a:r>
          </a:p>
          <a:p>
            <a:pPr marL="0" marR="0" lvl="0" indent="0" defTabSz="914400" eaLnBrk="1" fontAlgn="base" latinLnBrk="0" hangingPunct="1">
              <a:lnSpc>
                <a:spcPct val="12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            </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(2) </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当</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p-&gt;ltag = 0</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时，</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q</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为</a:t>
            </a:r>
            <a:r>
              <a:rPr kumimoji="1" lang="en-US" altLang="zh-CN" sz="2400" b="1" i="0" u="none" strike="noStrike" kern="0" cap="none" spc="0" normalizeH="0" baseline="0" noProof="0">
                <a:ln>
                  <a:noFill/>
                </a:ln>
                <a:solidFill>
                  <a:srgbClr val="000000"/>
                </a:solidFill>
                <a:effectLst/>
                <a:uLnTx/>
                <a:uFillTx/>
                <a:latin typeface="Times New Roman" pitchFamily="18" charset="0"/>
                <a:sym typeface="Wingdings" pitchFamily="2" charset="2"/>
              </a:rPr>
              <a:t>p</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的</a:t>
            </a:r>
            <a:r>
              <a:rPr kumimoji="1" lang="zh-CN" altLang="en-US" sz="2400" b="1" i="0" u="none" strike="noStrike" kern="0" cap="none" spc="0" normalizeH="0" baseline="0" noProof="0">
                <a:ln>
                  <a:noFill/>
                </a:ln>
                <a:solidFill>
                  <a:srgbClr val="FF3300"/>
                </a:solidFill>
                <a:effectLst/>
                <a:uLnTx/>
                <a:uFillTx/>
                <a:latin typeface="Times New Roman" pitchFamily="18" charset="0"/>
                <a:sym typeface="Wingdings" pitchFamily="2" charset="2"/>
              </a:rPr>
              <a:t>左子树的最右下结点</a:t>
            </a:r>
            <a:r>
              <a:rPr kumimoji="1" lang="zh-CN" altLang="en-US" sz="2400" b="1" i="0" u="none" strike="noStrike" kern="0" cap="none" spc="0" normalizeH="0" baseline="0" noProof="0">
                <a:ln>
                  <a:noFill/>
                </a:ln>
                <a:solidFill>
                  <a:srgbClr val="000000"/>
                </a:solidFill>
                <a:effectLst/>
                <a:uLnTx/>
                <a:uFillTx/>
                <a:latin typeface="Times New Roman" pitchFamily="18" charset="0"/>
                <a:sym typeface="Wingdings" pitchFamily="2" charset="2"/>
              </a:rPr>
              <a:t>。</a:t>
            </a:r>
          </a:p>
        </p:txBody>
      </p:sp>
      <p:grpSp>
        <p:nvGrpSpPr>
          <p:cNvPr id="16" name="Group 30"/>
          <p:cNvGrpSpPr>
            <a:grpSpLocks/>
          </p:cNvGrpSpPr>
          <p:nvPr/>
        </p:nvGrpSpPr>
        <p:grpSpPr bwMode="auto">
          <a:xfrm>
            <a:off x="2184400" y="2857500"/>
            <a:ext cx="1689100" cy="2947988"/>
            <a:chOff x="1579" y="1680"/>
            <a:chExt cx="1064" cy="1857"/>
          </a:xfrm>
        </p:grpSpPr>
        <p:sp>
          <p:nvSpPr>
            <p:cNvPr id="17" name="Oval 6"/>
            <p:cNvSpPr>
              <a:spLocks noChangeArrowheads="1"/>
            </p:cNvSpPr>
            <p:nvPr/>
          </p:nvSpPr>
          <p:spPr bwMode="auto">
            <a:xfrm>
              <a:off x="1995" y="2160"/>
              <a:ext cx="312" cy="240"/>
            </a:xfrm>
            <a:prstGeom prst="ellipse">
              <a:avLst/>
            </a:prstGeom>
            <a:noFill/>
            <a:ln w="952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9" name="Oval 7"/>
            <p:cNvSpPr>
              <a:spLocks noChangeArrowheads="1"/>
            </p:cNvSpPr>
            <p:nvPr/>
          </p:nvSpPr>
          <p:spPr bwMode="auto">
            <a:xfrm>
              <a:off x="1579" y="2592"/>
              <a:ext cx="312" cy="240"/>
            </a:xfrm>
            <a:prstGeom prst="ellipse">
              <a:avLst/>
            </a:prstGeom>
            <a:noFill/>
            <a:ln w="952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0" name="Line 8"/>
            <p:cNvSpPr>
              <a:spLocks noChangeShapeType="1"/>
            </p:cNvSpPr>
            <p:nvPr/>
          </p:nvSpPr>
          <p:spPr bwMode="auto">
            <a:xfrm flipH="1">
              <a:off x="1787" y="2400"/>
              <a:ext cx="312" cy="192"/>
            </a:xfrm>
            <a:prstGeom prst="line">
              <a:avLst/>
            </a:prstGeom>
            <a:noFill/>
            <a:ln w="9525">
              <a:solidFill>
                <a:srgbClr val="000000"/>
              </a:solidFill>
              <a:round/>
              <a:headEnd/>
              <a:tailEnd type="triangle" w="med" len="me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1" name="Oval 9"/>
            <p:cNvSpPr>
              <a:spLocks noChangeArrowheads="1"/>
            </p:cNvSpPr>
            <p:nvPr/>
          </p:nvSpPr>
          <p:spPr bwMode="auto">
            <a:xfrm>
              <a:off x="2151" y="3120"/>
              <a:ext cx="312" cy="240"/>
            </a:xfrm>
            <a:prstGeom prst="ellipse">
              <a:avLst/>
            </a:prstGeom>
            <a:noFill/>
            <a:ln w="952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2" name="Freeform 10"/>
            <p:cNvSpPr>
              <a:spLocks/>
            </p:cNvSpPr>
            <p:nvPr/>
          </p:nvSpPr>
          <p:spPr bwMode="auto">
            <a:xfrm>
              <a:off x="2264" y="2369"/>
              <a:ext cx="379" cy="1058"/>
            </a:xfrm>
            <a:custGeom>
              <a:avLst/>
              <a:gdLst>
                <a:gd name="T0" fmla="*/ 287 w 350"/>
                <a:gd name="T1" fmla="*/ 1004 h 1058"/>
                <a:gd name="T2" fmla="*/ 471 w 350"/>
                <a:gd name="T3" fmla="*/ 1058 h 1058"/>
                <a:gd name="T4" fmla="*/ 758 w 350"/>
                <a:gd name="T5" fmla="*/ 1043 h 1058"/>
                <a:gd name="T6" fmla="*/ 906 w 350"/>
                <a:gd name="T7" fmla="*/ 1020 h 1058"/>
                <a:gd name="T8" fmla="*/ 1017 w 350"/>
                <a:gd name="T9" fmla="*/ 973 h 1058"/>
                <a:gd name="T10" fmla="*/ 1067 w 350"/>
                <a:gd name="T11" fmla="*/ 926 h 1058"/>
                <a:gd name="T12" fmla="*/ 1043 w 350"/>
                <a:gd name="T13" fmla="*/ 825 h 1058"/>
                <a:gd name="T14" fmla="*/ 949 w 350"/>
                <a:gd name="T15" fmla="*/ 732 h 1058"/>
                <a:gd name="T16" fmla="*/ 919 w 350"/>
                <a:gd name="T17" fmla="*/ 669 h 1058"/>
                <a:gd name="T18" fmla="*/ 879 w 350"/>
                <a:gd name="T19" fmla="*/ 646 h 1058"/>
                <a:gd name="T20" fmla="*/ 591 w 350"/>
                <a:gd name="T21" fmla="*/ 459 h 1058"/>
                <a:gd name="T22" fmla="*/ 500 w 350"/>
                <a:gd name="T23" fmla="*/ 335 h 1058"/>
                <a:gd name="T24" fmla="*/ 377 w 350"/>
                <a:gd name="T25" fmla="*/ 233 h 1058"/>
                <a:gd name="T26" fmla="*/ 213 w 350"/>
                <a:gd name="T27" fmla="*/ 140 h 1058"/>
                <a:gd name="T28" fmla="*/ 118 w 350"/>
                <a:gd name="T29" fmla="*/ 70 h 1058"/>
                <a:gd name="T30" fmla="*/ 70 w 350"/>
                <a:gd name="T31" fmla="*/ 15 h 1058"/>
                <a:gd name="T32" fmla="*/ 0 w 350"/>
                <a:gd name="T33" fmla="*/ 0 h 10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50"/>
                <a:gd name="T52" fmla="*/ 0 h 1058"/>
                <a:gd name="T53" fmla="*/ 350 w 350"/>
                <a:gd name="T54" fmla="*/ 1058 h 105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50" h="1058">
                  <a:moveTo>
                    <a:pt x="93" y="1004"/>
                  </a:moveTo>
                  <a:cubicBezTo>
                    <a:pt x="110" y="1038"/>
                    <a:pt x="119" y="1047"/>
                    <a:pt x="155" y="1058"/>
                  </a:cubicBezTo>
                  <a:cubicBezTo>
                    <a:pt x="179" y="1056"/>
                    <a:pt x="222" y="1057"/>
                    <a:pt x="249" y="1043"/>
                  </a:cubicBezTo>
                  <a:cubicBezTo>
                    <a:pt x="301" y="1016"/>
                    <a:pt x="243" y="1035"/>
                    <a:pt x="296" y="1020"/>
                  </a:cubicBezTo>
                  <a:cubicBezTo>
                    <a:pt x="310" y="1005"/>
                    <a:pt x="326" y="992"/>
                    <a:pt x="334" y="973"/>
                  </a:cubicBezTo>
                  <a:cubicBezTo>
                    <a:pt x="341" y="958"/>
                    <a:pt x="350" y="926"/>
                    <a:pt x="350" y="926"/>
                  </a:cubicBezTo>
                  <a:cubicBezTo>
                    <a:pt x="347" y="892"/>
                    <a:pt x="348" y="858"/>
                    <a:pt x="342" y="825"/>
                  </a:cubicBezTo>
                  <a:cubicBezTo>
                    <a:pt x="337" y="794"/>
                    <a:pt x="316" y="765"/>
                    <a:pt x="311" y="732"/>
                  </a:cubicBezTo>
                  <a:cubicBezTo>
                    <a:pt x="308" y="711"/>
                    <a:pt x="308" y="689"/>
                    <a:pt x="303" y="669"/>
                  </a:cubicBezTo>
                  <a:cubicBezTo>
                    <a:pt x="301" y="660"/>
                    <a:pt x="292" y="654"/>
                    <a:pt x="288" y="646"/>
                  </a:cubicBezTo>
                  <a:cubicBezTo>
                    <a:pt x="259" y="581"/>
                    <a:pt x="227" y="522"/>
                    <a:pt x="194" y="459"/>
                  </a:cubicBezTo>
                  <a:cubicBezTo>
                    <a:pt x="187" y="414"/>
                    <a:pt x="184" y="375"/>
                    <a:pt x="163" y="335"/>
                  </a:cubicBezTo>
                  <a:cubicBezTo>
                    <a:pt x="154" y="298"/>
                    <a:pt x="146" y="265"/>
                    <a:pt x="124" y="233"/>
                  </a:cubicBezTo>
                  <a:cubicBezTo>
                    <a:pt x="113" y="198"/>
                    <a:pt x="90" y="171"/>
                    <a:pt x="70" y="140"/>
                  </a:cubicBezTo>
                  <a:cubicBezTo>
                    <a:pt x="56" y="119"/>
                    <a:pt x="53" y="91"/>
                    <a:pt x="39" y="70"/>
                  </a:cubicBezTo>
                  <a:cubicBezTo>
                    <a:pt x="34" y="52"/>
                    <a:pt x="32" y="32"/>
                    <a:pt x="23" y="15"/>
                  </a:cubicBezTo>
                  <a:cubicBezTo>
                    <a:pt x="19" y="7"/>
                    <a:pt x="0" y="0"/>
                    <a:pt x="0" y="0"/>
                  </a:cubicBezTo>
                </a:path>
              </a:pathLst>
            </a:custGeom>
            <a:noFill/>
            <a:ln w="9525">
              <a:solidFill>
                <a:srgbClr val="000000"/>
              </a:solidFill>
              <a:prstDash val="dash"/>
              <a:round/>
              <a:headEnd/>
              <a:tailEnd type="triangle" w="med" len="me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3" name="Freeform 11"/>
            <p:cNvSpPr>
              <a:spLocks/>
            </p:cNvSpPr>
            <p:nvPr/>
          </p:nvSpPr>
          <p:spPr bwMode="auto">
            <a:xfrm>
              <a:off x="1808" y="2851"/>
              <a:ext cx="425" cy="312"/>
            </a:xfrm>
            <a:custGeom>
              <a:avLst/>
              <a:gdLst>
                <a:gd name="T0" fmla="*/ 0 w 392"/>
                <a:gd name="T1" fmla="*/ 0 h 312"/>
                <a:gd name="T2" fmla="*/ 75 w 392"/>
                <a:gd name="T3" fmla="*/ 16 h 312"/>
                <a:gd name="T4" fmla="*/ 169 w 392"/>
                <a:gd name="T5" fmla="*/ 71 h 312"/>
                <a:gd name="T6" fmla="*/ 317 w 392"/>
                <a:gd name="T7" fmla="*/ 86 h 312"/>
                <a:gd name="T8" fmla="*/ 965 w 392"/>
                <a:gd name="T9" fmla="*/ 250 h 312"/>
                <a:gd name="T10" fmla="*/ 1156 w 392"/>
                <a:gd name="T11" fmla="*/ 296 h 312"/>
                <a:gd name="T12" fmla="*/ 0 60000 65536"/>
                <a:gd name="T13" fmla="*/ 0 60000 65536"/>
                <a:gd name="T14" fmla="*/ 0 60000 65536"/>
                <a:gd name="T15" fmla="*/ 0 60000 65536"/>
                <a:gd name="T16" fmla="*/ 0 60000 65536"/>
                <a:gd name="T17" fmla="*/ 0 60000 65536"/>
                <a:gd name="T18" fmla="*/ 0 w 392"/>
                <a:gd name="T19" fmla="*/ 0 h 312"/>
                <a:gd name="T20" fmla="*/ 392 w 392"/>
                <a:gd name="T21" fmla="*/ 312 h 312"/>
              </a:gdLst>
              <a:ahLst/>
              <a:cxnLst>
                <a:cxn ang="T12">
                  <a:pos x="T0" y="T1"/>
                </a:cxn>
                <a:cxn ang="T13">
                  <a:pos x="T2" y="T3"/>
                </a:cxn>
                <a:cxn ang="T14">
                  <a:pos x="T4" y="T5"/>
                </a:cxn>
                <a:cxn ang="T15">
                  <a:pos x="T6" y="T7"/>
                </a:cxn>
                <a:cxn ang="T16">
                  <a:pos x="T8" y="T9"/>
                </a:cxn>
                <a:cxn ang="T17">
                  <a:pos x="T10" y="T11"/>
                </a:cxn>
              </a:cxnLst>
              <a:rect l="T18" t="T19" r="T20" b="T21"/>
              <a:pathLst>
                <a:path w="392" h="312">
                  <a:moveTo>
                    <a:pt x="0" y="0"/>
                  </a:moveTo>
                  <a:cubicBezTo>
                    <a:pt x="8" y="5"/>
                    <a:pt x="18" y="8"/>
                    <a:pt x="24" y="16"/>
                  </a:cubicBezTo>
                  <a:cubicBezTo>
                    <a:pt x="37" y="33"/>
                    <a:pt x="39" y="57"/>
                    <a:pt x="55" y="71"/>
                  </a:cubicBezTo>
                  <a:cubicBezTo>
                    <a:pt x="67" y="82"/>
                    <a:pt x="86" y="81"/>
                    <a:pt x="102" y="86"/>
                  </a:cubicBezTo>
                  <a:cubicBezTo>
                    <a:pt x="164" y="150"/>
                    <a:pt x="242" y="196"/>
                    <a:pt x="312" y="250"/>
                  </a:cubicBezTo>
                  <a:cubicBezTo>
                    <a:pt x="392" y="312"/>
                    <a:pt x="336" y="258"/>
                    <a:pt x="374" y="296"/>
                  </a:cubicBezTo>
                </a:path>
              </a:pathLst>
            </a:custGeom>
            <a:noFill/>
            <a:ln w="9525">
              <a:solidFill>
                <a:srgbClr val="000000"/>
              </a:solidFill>
              <a:prstDash val="dash"/>
              <a:round/>
              <a:headEnd/>
              <a:tailEnd type="triangle" w="med" len="me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4" name="Line 12"/>
            <p:cNvSpPr>
              <a:spLocks noChangeShapeType="1"/>
            </p:cNvSpPr>
            <p:nvPr/>
          </p:nvSpPr>
          <p:spPr bwMode="auto">
            <a:xfrm>
              <a:off x="1943" y="1920"/>
              <a:ext cx="104" cy="240"/>
            </a:xfrm>
            <a:prstGeom prst="line">
              <a:avLst/>
            </a:prstGeom>
            <a:noFill/>
            <a:ln w="9525">
              <a:solidFill>
                <a:srgbClr val="000000"/>
              </a:solidFill>
              <a:round/>
              <a:headEnd/>
              <a:tailEnd type="triangle" w="med" len="me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Freeform 13"/>
            <p:cNvSpPr>
              <a:spLocks/>
            </p:cNvSpPr>
            <p:nvPr/>
          </p:nvSpPr>
          <p:spPr bwMode="auto">
            <a:xfrm>
              <a:off x="2002" y="3357"/>
              <a:ext cx="245" cy="94"/>
            </a:xfrm>
            <a:custGeom>
              <a:avLst/>
              <a:gdLst>
                <a:gd name="T0" fmla="*/ 697 w 226"/>
                <a:gd name="T1" fmla="*/ 0 h 94"/>
                <a:gd name="T2" fmla="*/ 169 w 226"/>
                <a:gd name="T3" fmla="*/ 70 h 94"/>
                <a:gd name="T4" fmla="*/ 0 w 226"/>
                <a:gd name="T5" fmla="*/ 94 h 94"/>
                <a:gd name="T6" fmla="*/ 0 60000 65536"/>
                <a:gd name="T7" fmla="*/ 0 60000 65536"/>
                <a:gd name="T8" fmla="*/ 0 60000 65536"/>
                <a:gd name="T9" fmla="*/ 0 w 226"/>
                <a:gd name="T10" fmla="*/ 0 h 94"/>
                <a:gd name="T11" fmla="*/ 226 w 226"/>
                <a:gd name="T12" fmla="*/ 94 h 94"/>
              </a:gdLst>
              <a:ahLst/>
              <a:cxnLst>
                <a:cxn ang="T6">
                  <a:pos x="T0" y="T1"/>
                </a:cxn>
                <a:cxn ang="T7">
                  <a:pos x="T2" y="T3"/>
                </a:cxn>
                <a:cxn ang="T8">
                  <a:pos x="T4" y="T5"/>
                </a:cxn>
              </a:cxnLst>
              <a:rect l="T9" t="T10" r="T11" b="T12"/>
              <a:pathLst>
                <a:path w="226" h="94">
                  <a:moveTo>
                    <a:pt x="226" y="0"/>
                  </a:moveTo>
                  <a:cubicBezTo>
                    <a:pt x="174" y="36"/>
                    <a:pt x="115" y="51"/>
                    <a:pt x="55" y="70"/>
                  </a:cubicBezTo>
                  <a:cubicBezTo>
                    <a:pt x="36" y="76"/>
                    <a:pt x="0" y="94"/>
                    <a:pt x="0" y="94"/>
                  </a:cubicBezTo>
                </a:path>
              </a:pathLst>
            </a:custGeom>
            <a:noFill/>
            <a:ln w="9525">
              <a:solidFill>
                <a:srgbClr val="000000"/>
              </a:solidFill>
              <a:prstDash val="dash"/>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6" name="Text Box 14"/>
            <p:cNvSpPr txBox="1">
              <a:spLocks noChangeArrowheads="1"/>
            </p:cNvSpPr>
            <p:nvPr/>
          </p:nvSpPr>
          <p:spPr bwMode="auto">
            <a:xfrm>
              <a:off x="1924" y="1680"/>
              <a:ext cx="221"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p</a:t>
              </a:r>
            </a:p>
          </p:txBody>
        </p:sp>
        <p:sp>
          <p:nvSpPr>
            <p:cNvPr id="27" name="Line 15"/>
            <p:cNvSpPr>
              <a:spLocks noChangeShapeType="1"/>
            </p:cNvSpPr>
            <p:nvPr/>
          </p:nvSpPr>
          <p:spPr bwMode="auto">
            <a:xfrm>
              <a:off x="1787" y="3264"/>
              <a:ext cx="364" cy="0"/>
            </a:xfrm>
            <a:prstGeom prst="line">
              <a:avLst/>
            </a:prstGeom>
            <a:noFill/>
            <a:ln w="9525">
              <a:solidFill>
                <a:srgbClr val="FFFFFF"/>
              </a:solidFill>
              <a:round/>
              <a:headEnd/>
              <a:tailEnd type="triangle" w="med" len="me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Text Box 16"/>
            <p:cNvSpPr txBox="1">
              <a:spLocks noChangeArrowheads="1"/>
            </p:cNvSpPr>
            <p:nvPr/>
          </p:nvSpPr>
          <p:spPr bwMode="auto">
            <a:xfrm>
              <a:off x="1669" y="3249"/>
              <a:ext cx="221"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q</a:t>
              </a:r>
            </a:p>
          </p:txBody>
        </p:sp>
      </p:grpSp>
      <p:grpSp>
        <p:nvGrpSpPr>
          <p:cNvPr id="29" name="Group 29"/>
          <p:cNvGrpSpPr>
            <a:grpSpLocks/>
          </p:cNvGrpSpPr>
          <p:nvPr/>
        </p:nvGrpSpPr>
        <p:grpSpPr bwMode="auto">
          <a:xfrm>
            <a:off x="527050" y="2540000"/>
            <a:ext cx="1293813" cy="3275013"/>
            <a:chOff x="535" y="1480"/>
            <a:chExt cx="815" cy="2063"/>
          </a:xfrm>
        </p:grpSpPr>
        <p:sp>
          <p:nvSpPr>
            <p:cNvPr id="32" name="Oval 18"/>
            <p:cNvSpPr>
              <a:spLocks noChangeArrowheads="1"/>
            </p:cNvSpPr>
            <p:nvPr/>
          </p:nvSpPr>
          <p:spPr bwMode="auto">
            <a:xfrm>
              <a:off x="795" y="2872"/>
              <a:ext cx="312" cy="240"/>
            </a:xfrm>
            <a:prstGeom prst="ellipse">
              <a:avLst/>
            </a:prstGeom>
            <a:noFill/>
            <a:ln w="952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3" name="Oval 19"/>
            <p:cNvSpPr>
              <a:spLocks noChangeArrowheads="1"/>
            </p:cNvSpPr>
            <p:nvPr/>
          </p:nvSpPr>
          <p:spPr bwMode="auto">
            <a:xfrm>
              <a:off x="535" y="1743"/>
              <a:ext cx="312" cy="240"/>
            </a:xfrm>
            <a:prstGeom prst="ellipse">
              <a:avLst/>
            </a:prstGeom>
            <a:noFill/>
            <a:ln w="952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4" name="Oval 20"/>
            <p:cNvSpPr>
              <a:spLocks noChangeArrowheads="1"/>
            </p:cNvSpPr>
            <p:nvPr/>
          </p:nvSpPr>
          <p:spPr bwMode="auto">
            <a:xfrm>
              <a:off x="1038" y="2200"/>
              <a:ext cx="312" cy="240"/>
            </a:xfrm>
            <a:prstGeom prst="ellipse">
              <a:avLst/>
            </a:prstGeom>
            <a:noFill/>
            <a:ln w="952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5" name="Line 21"/>
            <p:cNvSpPr>
              <a:spLocks noChangeShapeType="1"/>
            </p:cNvSpPr>
            <p:nvPr/>
          </p:nvSpPr>
          <p:spPr bwMode="auto">
            <a:xfrm>
              <a:off x="743" y="2008"/>
              <a:ext cx="312" cy="240"/>
            </a:xfrm>
            <a:prstGeom prst="line">
              <a:avLst/>
            </a:prstGeom>
            <a:noFill/>
            <a:ln w="9525">
              <a:solidFill>
                <a:srgbClr val="000000"/>
              </a:solidFill>
              <a:round/>
              <a:headEnd/>
              <a:tailEnd type="triangle" w="med" len="me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6" name="Freeform 22"/>
            <p:cNvSpPr>
              <a:spLocks/>
            </p:cNvSpPr>
            <p:nvPr/>
          </p:nvSpPr>
          <p:spPr bwMode="auto">
            <a:xfrm>
              <a:off x="586" y="1576"/>
              <a:ext cx="67" cy="179"/>
            </a:xfrm>
            <a:custGeom>
              <a:avLst/>
              <a:gdLst>
                <a:gd name="T0" fmla="*/ 0 w 62"/>
                <a:gd name="T1" fmla="*/ 0 h 179"/>
                <a:gd name="T2" fmla="*/ 92 w 62"/>
                <a:gd name="T3" fmla="*/ 148 h 179"/>
                <a:gd name="T4" fmla="*/ 184 w 62"/>
                <a:gd name="T5" fmla="*/ 179 h 179"/>
                <a:gd name="T6" fmla="*/ 0 60000 65536"/>
                <a:gd name="T7" fmla="*/ 0 60000 65536"/>
                <a:gd name="T8" fmla="*/ 0 60000 65536"/>
                <a:gd name="T9" fmla="*/ 0 w 62"/>
                <a:gd name="T10" fmla="*/ 0 h 179"/>
                <a:gd name="T11" fmla="*/ 62 w 62"/>
                <a:gd name="T12" fmla="*/ 179 h 179"/>
              </a:gdLst>
              <a:ahLst/>
              <a:cxnLst>
                <a:cxn ang="T6">
                  <a:pos x="T0" y="T1"/>
                </a:cxn>
                <a:cxn ang="T7">
                  <a:pos x="T2" y="T3"/>
                </a:cxn>
                <a:cxn ang="T8">
                  <a:pos x="T4" y="T5"/>
                </a:cxn>
              </a:cxnLst>
              <a:rect l="T9" t="T10" r="T11" b="T12"/>
              <a:pathLst>
                <a:path w="62" h="179">
                  <a:moveTo>
                    <a:pt x="0" y="0"/>
                  </a:moveTo>
                  <a:cubicBezTo>
                    <a:pt x="56" y="66"/>
                    <a:pt x="60" y="61"/>
                    <a:pt x="31" y="148"/>
                  </a:cubicBezTo>
                  <a:cubicBezTo>
                    <a:pt x="41" y="158"/>
                    <a:pt x="52" y="169"/>
                    <a:pt x="62" y="179"/>
                  </a:cubicBezTo>
                </a:path>
              </a:pathLst>
            </a:cu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7" name="Line 23"/>
            <p:cNvSpPr>
              <a:spLocks noChangeShapeType="1"/>
            </p:cNvSpPr>
            <p:nvPr/>
          </p:nvSpPr>
          <p:spPr bwMode="auto">
            <a:xfrm flipH="1" flipV="1">
              <a:off x="951" y="3112"/>
              <a:ext cx="82" cy="137"/>
            </a:xfrm>
            <a:prstGeom prst="line">
              <a:avLst/>
            </a:prstGeom>
            <a:noFill/>
            <a:ln w="9525">
              <a:solidFill>
                <a:srgbClr val="000000"/>
              </a:solidFill>
              <a:round/>
              <a:headEnd/>
              <a:tailEnd type="triangle" w="med" len="me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8" name="Text Box 24"/>
            <p:cNvSpPr txBox="1">
              <a:spLocks noChangeArrowheads="1"/>
            </p:cNvSpPr>
            <p:nvPr/>
          </p:nvSpPr>
          <p:spPr bwMode="auto">
            <a:xfrm>
              <a:off x="1033" y="3249"/>
              <a:ext cx="227" cy="294"/>
            </a:xfrm>
            <a:prstGeom prst="rect">
              <a:avLst/>
            </a:prstGeom>
            <a:noFill/>
            <a:ln w="9525">
              <a:solidFill>
                <a:srgbClr val="000000"/>
              </a:solid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p</a:t>
              </a:r>
            </a:p>
          </p:txBody>
        </p:sp>
        <p:sp>
          <p:nvSpPr>
            <p:cNvPr id="39" name="Text Box 25"/>
            <p:cNvSpPr txBox="1">
              <a:spLocks noChangeArrowheads="1"/>
            </p:cNvSpPr>
            <p:nvPr/>
          </p:nvSpPr>
          <p:spPr bwMode="auto">
            <a:xfrm>
              <a:off x="691" y="1480"/>
              <a:ext cx="221"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q</a:t>
              </a:r>
            </a:p>
          </p:txBody>
        </p:sp>
        <p:sp>
          <p:nvSpPr>
            <p:cNvPr id="40" name="Freeform 26"/>
            <p:cNvSpPr>
              <a:spLocks/>
            </p:cNvSpPr>
            <p:nvPr/>
          </p:nvSpPr>
          <p:spPr bwMode="auto">
            <a:xfrm>
              <a:off x="621" y="2017"/>
              <a:ext cx="295" cy="1144"/>
            </a:xfrm>
            <a:custGeom>
              <a:avLst/>
              <a:gdLst>
                <a:gd name="T0" fmla="*/ 809 w 273"/>
                <a:gd name="T1" fmla="*/ 1121 h 1144"/>
                <a:gd name="T2" fmla="*/ 439 w 273"/>
                <a:gd name="T3" fmla="*/ 1144 h 1144"/>
                <a:gd name="T4" fmla="*/ 25 w 273"/>
                <a:gd name="T5" fmla="*/ 981 h 1144"/>
                <a:gd name="T6" fmla="*/ 0 w 273"/>
                <a:gd name="T7" fmla="*/ 0 h 1144"/>
                <a:gd name="T8" fmla="*/ 0 60000 65536"/>
                <a:gd name="T9" fmla="*/ 0 60000 65536"/>
                <a:gd name="T10" fmla="*/ 0 60000 65536"/>
                <a:gd name="T11" fmla="*/ 0 60000 65536"/>
                <a:gd name="T12" fmla="*/ 0 w 273"/>
                <a:gd name="T13" fmla="*/ 0 h 1144"/>
                <a:gd name="T14" fmla="*/ 273 w 273"/>
                <a:gd name="T15" fmla="*/ 1144 h 1144"/>
              </a:gdLst>
              <a:ahLst/>
              <a:cxnLst>
                <a:cxn ang="T8">
                  <a:pos x="T0" y="T1"/>
                </a:cxn>
                <a:cxn ang="T9">
                  <a:pos x="T2" y="T3"/>
                </a:cxn>
                <a:cxn ang="T10">
                  <a:pos x="T4" y="T5"/>
                </a:cxn>
                <a:cxn ang="T11">
                  <a:pos x="T6" y="T7"/>
                </a:cxn>
              </a:cxnLst>
              <a:rect l="T12" t="T13" r="T14" b="T15"/>
              <a:pathLst>
                <a:path w="273" h="1144">
                  <a:moveTo>
                    <a:pt x="273" y="1121"/>
                  </a:moveTo>
                  <a:cubicBezTo>
                    <a:pt x="227" y="1132"/>
                    <a:pt x="198" y="1139"/>
                    <a:pt x="148" y="1144"/>
                  </a:cubicBezTo>
                  <a:cubicBezTo>
                    <a:pt x="45" y="1121"/>
                    <a:pt x="58" y="1048"/>
                    <a:pt x="8" y="981"/>
                  </a:cubicBezTo>
                  <a:cubicBezTo>
                    <a:pt x="4" y="651"/>
                    <a:pt x="0" y="328"/>
                    <a:pt x="0" y="0"/>
                  </a:cubicBezTo>
                </a:path>
              </a:pathLst>
            </a:custGeom>
            <a:noFill/>
            <a:ln w="9525">
              <a:solidFill>
                <a:srgbClr val="000000"/>
              </a:solidFill>
              <a:prstDash val="dash"/>
              <a:round/>
              <a:headEnd/>
              <a:tailEnd type="triangle" w="med" len="me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1" name="Freeform 27"/>
            <p:cNvSpPr>
              <a:spLocks/>
            </p:cNvSpPr>
            <p:nvPr/>
          </p:nvSpPr>
          <p:spPr bwMode="auto">
            <a:xfrm>
              <a:off x="958" y="2469"/>
              <a:ext cx="236" cy="404"/>
            </a:xfrm>
            <a:custGeom>
              <a:avLst/>
              <a:gdLst>
                <a:gd name="T0" fmla="*/ 663 w 218"/>
                <a:gd name="T1" fmla="*/ 0 h 404"/>
                <a:gd name="T2" fmla="*/ 448 w 218"/>
                <a:gd name="T3" fmla="*/ 186 h 404"/>
                <a:gd name="T4" fmla="*/ 236 w 218"/>
                <a:gd name="T5" fmla="*/ 272 h 404"/>
                <a:gd name="T6" fmla="*/ 143 w 218"/>
                <a:gd name="T7" fmla="*/ 319 h 404"/>
                <a:gd name="T8" fmla="*/ 97 w 218"/>
                <a:gd name="T9" fmla="*/ 342 h 404"/>
                <a:gd name="T10" fmla="*/ 0 w 218"/>
                <a:gd name="T11" fmla="*/ 404 h 404"/>
                <a:gd name="T12" fmla="*/ 0 60000 65536"/>
                <a:gd name="T13" fmla="*/ 0 60000 65536"/>
                <a:gd name="T14" fmla="*/ 0 60000 65536"/>
                <a:gd name="T15" fmla="*/ 0 60000 65536"/>
                <a:gd name="T16" fmla="*/ 0 60000 65536"/>
                <a:gd name="T17" fmla="*/ 0 60000 65536"/>
                <a:gd name="T18" fmla="*/ 0 w 218"/>
                <a:gd name="T19" fmla="*/ 0 h 404"/>
                <a:gd name="T20" fmla="*/ 218 w 218"/>
                <a:gd name="T21" fmla="*/ 404 h 404"/>
              </a:gdLst>
              <a:ahLst/>
              <a:cxnLst>
                <a:cxn ang="T12">
                  <a:pos x="T0" y="T1"/>
                </a:cxn>
                <a:cxn ang="T13">
                  <a:pos x="T2" y="T3"/>
                </a:cxn>
                <a:cxn ang="T14">
                  <a:pos x="T4" y="T5"/>
                </a:cxn>
                <a:cxn ang="T15">
                  <a:pos x="T6" y="T7"/>
                </a:cxn>
                <a:cxn ang="T16">
                  <a:pos x="T8" y="T9"/>
                </a:cxn>
                <a:cxn ang="T17">
                  <a:pos x="T10" y="T11"/>
                </a:cxn>
              </a:cxnLst>
              <a:rect l="T18" t="T19" r="T20" b="T21"/>
              <a:pathLst>
                <a:path w="218" h="404">
                  <a:moveTo>
                    <a:pt x="218" y="0"/>
                  </a:moveTo>
                  <a:cubicBezTo>
                    <a:pt x="200" y="60"/>
                    <a:pt x="184" y="134"/>
                    <a:pt x="148" y="186"/>
                  </a:cubicBezTo>
                  <a:cubicBezTo>
                    <a:pt x="138" y="221"/>
                    <a:pt x="108" y="252"/>
                    <a:pt x="78" y="272"/>
                  </a:cubicBezTo>
                  <a:cubicBezTo>
                    <a:pt x="68" y="288"/>
                    <a:pt x="57" y="303"/>
                    <a:pt x="47" y="319"/>
                  </a:cubicBezTo>
                  <a:cubicBezTo>
                    <a:pt x="42" y="327"/>
                    <a:pt x="32" y="342"/>
                    <a:pt x="32" y="342"/>
                  </a:cubicBezTo>
                  <a:cubicBezTo>
                    <a:pt x="25" y="368"/>
                    <a:pt x="21" y="386"/>
                    <a:pt x="0" y="404"/>
                  </a:cubicBezTo>
                </a:path>
              </a:pathLst>
            </a:custGeom>
            <a:noFill/>
            <a:ln w="9525">
              <a:solidFill>
                <a:srgbClr val="000000"/>
              </a:solidFill>
              <a:prstDash val="dash"/>
              <a:round/>
              <a:headEnd/>
              <a:tailEnd type="triangle" w="med" len="me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grpSp>
      <p:sp>
        <p:nvSpPr>
          <p:cNvPr id="42" name="Text Box 29"/>
          <p:cNvSpPr txBox="1">
            <a:spLocks noChangeArrowheads="1"/>
          </p:cNvSpPr>
          <p:nvPr/>
        </p:nvSpPr>
        <p:spPr bwMode="auto">
          <a:xfrm>
            <a:off x="166688" y="5921375"/>
            <a:ext cx="1835150" cy="396875"/>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pPr>
            <a:r>
              <a:rPr kumimoji="1" lang="en-US" altLang="zh-CN" sz="2000">
                <a:solidFill>
                  <a:srgbClr val="000000"/>
                </a:solidFill>
                <a:latin typeface="Times New Roman" pitchFamily="18" charset="0"/>
              </a:rPr>
              <a:t>p</a:t>
            </a:r>
            <a:r>
              <a:rPr kumimoji="1" lang="zh-CN" altLang="en-US" sz="2000">
                <a:solidFill>
                  <a:srgbClr val="000000"/>
                </a:solidFill>
                <a:latin typeface="Times New Roman" pitchFamily="18" charset="0"/>
              </a:rPr>
              <a:t>的左孩子为空</a:t>
            </a:r>
          </a:p>
        </p:txBody>
      </p:sp>
      <p:sp>
        <p:nvSpPr>
          <p:cNvPr id="43" name="Text Box 30"/>
          <p:cNvSpPr txBox="1">
            <a:spLocks noChangeArrowheads="1"/>
          </p:cNvSpPr>
          <p:nvPr/>
        </p:nvSpPr>
        <p:spPr bwMode="auto">
          <a:xfrm>
            <a:off x="2095500" y="5924550"/>
            <a:ext cx="1835150" cy="396875"/>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pPr>
            <a:r>
              <a:rPr kumimoji="1" lang="en-US" altLang="zh-CN" sz="2000">
                <a:solidFill>
                  <a:srgbClr val="000000"/>
                </a:solidFill>
                <a:latin typeface="Times New Roman" pitchFamily="18" charset="0"/>
              </a:rPr>
              <a:t>p</a:t>
            </a:r>
            <a:r>
              <a:rPr kumimoji="1" lang="zh-CN" altLang="en-US" sz="2000">
                <a:solidFill>
                  <a:srgbClr val="000000"/>
                </a:solidFill>
                <a:latin typeface="Times New Roman" pitchFamily="18" charset="0"/>
              </a:rPr>
              <a:t>的左孩子不空</a:t>
            </a:r>
          </a:p>
        </p:txBody>
      </p:sp>
      <p:sp>
        <p:nvSpPr>
          <p:cNvPr id="44" name="Text Box 2"/>
          <p:cNvSpPr txBox="1">
            <a:spLocks noChangeArrowheads="1"/>
          </p:cNvSpPr>
          <p:nvPr/>
        </p:nvSpPr>
        <p:spPr bwMode="auto">
          <a:xfrm>
            <a:off x="4414838" y="4876433"/>
            <a:ext cx="4070643" cy="1600567"/>
          </a:xfrm>
          <a:prstGeom prst="rect">
            <a:avLst/>
          </a:prstGeom>
          <a:noFill/>
          <a:ln w="9525">
            <a:noFill/>
            <a:miter lim="800000"/>
            <a:headEnd/>
            <a:tailEnd/>
          </a:ln>
        </p:spPr>
        <p:txBody>
          <a:bodyPr wrap="none" lIns="90000" tIns="46800" rIns="90000" bIns="46800">
            <a:spAutoFit/>
          </a:bodyPr>
          <a:lstStyle/>
          <a:p>
            <a:pPr fontAlgn="base">
              <a:lnSpc>
                <a:spcPct val="120000"/>
              </a:lnSpc>
              <a:spcBef>
                <a:spcPct val="0"/>
              </a:spcBef>
              <a:spcAft>
                <a:spcPct val="0"/>
              </a:spcAft>
            </a:pPr>
            <a:r>
              <a:rPr kumimoji="1" lang="en-US" altLang="zh-CN" sz="2800" b="1">
                <a:solidFill>
                  <a:srgbClr val="0000FF"/>
                </a:solidFill>
                <a:latin typeface="Times New Roman" pitchFamily="18" charset="0"/>
              </a:rPr>
              <a:t>if (</a:t>
            </a:r>
            <a:r>
              <a:rPr kumimoji="1" lang="en-US" altLang="zh-CN" sz="2800" b="1">
                <a:solidFill>
                  <a:srgbClr val="FF0000"/>
                </a:solidFill>
                <a:latin typeface="Times New Roman" pitchFamily="18" charset="0"/>
              </a:rPr>
              <a:t>p-&gt;ltag = = 0 )</a:t>
            </a:r>
          </a:p>
          <a:p>
            <a:pPr fontAlgn="base">
              <a:lnSpc>
                <a:spcPct val="120000"/>
              </a:lnSpc>
              <a:spcBef>
                <a:spcPct val="0"/>
              </a:spcBef>
              <a:spcAft>
                <a:spcPct val="0"/>
              </a:spcAft>
            </a:pPr>
            <a:r>
              <a:rPr kumimoji="1" lang="en-US" altLang="zh-CN" sz="2800" b="1">
                <a:solidFill>
                  <a:srgbClr val="FF0000"/>
                </a:solidFill>
                <a:latin typeface="Times New Roman" pitchFamily="18" charset="0"/>
              </a:rPr>
              <a:t>         while(q-&gt;rtag = = 0)</a:t>
            </a:r>
          </a:p>
          <a:p>
            <a:pPr fontAlgn="base">
              <a:lnSpc>
                <a:spcPct val="120000"/>
              </a:lnSpc>
              <a:spcBef>
                <a:spcPct val="0"/>
              </a:spcBef>
              <a:spcAft>
                <a:spcPct val="0"/>
              </a:spcAft>
            </a:pPr>
            <a:r>
              <a:rPr kumimoji="1" lang="en-US" altLang="zh-CN" sz="2800" b="1">
                <a:solidFill>
                  <a:srgbClr val="FF0000"/>
                </a:solidFill>
                <a:latin typeface="Times New Roman" pitchFamily="18" charset="0"/>
              </a:rPr>
              <a:t>           q = q-&gt;rch</a:t>
            </a:r>
            <a:r>
              <a:rPr kumimoji="1" lang="en-US" altLang="zh-CN" sz="2800" b="1">
                <a:solidFill>
                  <a:srgbClr val="0000FF"/>
                </a:solidFill>
                <a:latin typeface="Times New Roman" pitchFamily="18" charset="0"/>
              </a:rPr>
              <a:t> ;    </a:t>
            </a:r>
          </a:p>
        </p:txBody>
      </p:sp>
    </p:spTree>
    <p:extLst>
      <p:ext uri="{BB962C8B-B14F-4D97-AF65-F5344CB8AC3E}">
        <p14:creationId xmlns:p14="http://schemas.microsoft.com/office/powerpoint/2010/main" val="96008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4">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4">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allAtOnce" animBg="1"/>
      <p:bldP spid="44" grpId="0" build="allAtOnce"/>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  </a:t>
            </a:r>
            <a:r>
              <a:rPr kumimoji="1" lang="zh-CN" altLang="en-US" sz="3200" b="1" dirty="0">
                <a:latin typeface="Arial" charset="0"/>
                <a:ea typeface="宋体" charset="-122"/>
                <a:cs typeface="+mn-cs"/>
              </a:rPr>
              <a:t>线索二叉树</a:t>
            </a:r>
          </a:p>
        </p:txBody>
      </p:sp>
      <p:sp>
        <p:nvSpPr>
          <p:cNvPr id="3" name="内容占位符 2"/>
          <p:cNvSpPr>
            <a:spLocks noGrp="1"/>
          </p:cNvSpPr>
          <p:nvPr>
            <p:ph idx="1"/>
          </p:nvPr>
        </p:nvSpPr>
        <p:spPr>
          <a:xfrm>
            <a:off x="457200" y="1143000"/>
            <a:ext cx="8229600" cy="5105400"/>
          </a:xfrm>
        </p:spPr>
        <p:txBody>
          <a:bodyPr>
            <a:normAutofit/>
          </a:bodyPr>
          <a:lstStyle/>
          <a:p>
            <a:pPr marL="0" indent="0" fontAlgn="base">
              <a:lnSpc>
                <a:spcPct val="200000"/>
              </a:lnSpc>
              <a:spcBef>
                <a:spcPct val="0"/>
              </a:spcBef>
              <a:spcAft>
                <a:spcPct val="0"/>
              </a:spcAft>
              <a:buNone/>
            </a:pPr>
            <a:r>
              <a:rPr kumimoji="1" lang="zh-CN" altLang="en-US" b="1" dirty="0">
                <a:solidFill>
                  <a:srgbClr val="FF0000"/>
                </a:solidFill>
                <a:latin typeface="Times New Roman" pitchFamily="18" charset="0"/>
                <a:ea typeface="宋体" pitchFamily="2" charset="-122"/>
              </a:rPr>
              <a:t> </a:t>
            </a:r>
            <a:r>
              <a:rPr kumimoji="1" lang="en-US" altLang="zh-CN" b="1" dirty="0">
                <a:solidFill>
                  <a:srgbClr val="0707F9"/>
                </a:solidFill>
                <a:latin typeface="Times New Roman" pitchFamily="18" charset="0"/>
                <a:ea typeface="宋体" pitchFamily="2" charset="-122"/>
              </a:rPr>
              <a:t>5.5.1  </a:t>
            </a:r>
            <a:r>
              <a:rPr kumimoji="1" lang="zh-CN" altLang="en-US" b="1" dirty="0">
                <a:solidFill>
                  <a:srgbClr val="0707F9"/>
                </a:solidFill>
                <a:latin typeface="Times New Roman" pitchFamily="18" charset="0"/>
                <a:ea typeface="宋体" pitchFamily="2" charset="-122"/>
              </a:rPr>
              <a:t>线索二叉树的表示</a:t>
            </a:r>
          </a:p>
          <a:p>
            <a:pPr marL="0" indent="0" fontAlgn="base">
              <a:lnSpc>
                <a:spcPct val="200000"/>
              </a:lnSpc>
              <a:spcBef>
                <a:spcPct val="0"/>
              </a:spcBef>
              <a:spcAft>
                <a:spcPct val="0"/>
              </a:spcAft>
              <a:buNone/>
            </a:pPr>
            <a:r>
              <a:rPr kumimoji="1" lang="zh-CN" altLang="en-US" b="1" dirty="0">
                <a:solidFill>
                  <a:srgbClr val="FF0000"/>
                </a:solidFill>
                <a:latin typeface="Times New Roman" pitchFamily="18" charset="0"/>
                <a:ea typeface="宋体" pitchFamily="2" charset="-122"/>
              </a:rPr>
              <a:t> </a:t>
            </a:r>
            <a:r>
              <a:rPr kumimoji="1" lang="en-US" altLang="zh-CN" b="1" dirty="0">
                <a:solidFill>
                  <a:srgbClr val="0707F9"/>
                </a:solidFill>
                <a:latin typeface="Times New Roman" pitchFamily="18" charset="0"/>
                <a:ea typeface="宋体" pitchFamily="2" charset="-122"/>
              </a:rPr>
              <a:t>5.5.2  </a:t>
            </a:r>
            <a:r>
              <a:rPr kumimoji="1" lang="zh-CN" altLang="en-US" b="1" dirty="0">
                <a:solidFill>
                  <a:srgbClr val="0707F9"/>
                </a:solidFill>
                <a:latin typeface="Times New Roman" pitchFamily="18" charset="0"/>
                <a:ea typeface="宋体" pitchFamily="2" charset="-122"/>
              </a:rPr>
              <a:t>二叉树的线索化</a:t>
            </a:r>
          </a:p>
          <a:p>
            <a:pPr marL="0" indent="0" fontAlgn="base">
              <a:lnSpc>
                <a:spcPct val="200000"/>
              </a:lnSpc>
              <a:spcBef>
                <a:spcPct val="0"/>
              </a:spcBef>
              <a:spcAft>
                <a:spcPct val="0"/>
              </a:spcAft>
              <a:buNone/>
            </a:pPr>
            <a:r>
              <a:rPr kumimoji="1" lang="zh-CN" altLang="en-US" b="1" dirty="0">
                <a:solidFill>
                  <a:srgbClr val="FF0000"/>
                </a:solidFill>
                <a:latin typeface="Times New Roman" pitchFamily="18" charset="0"/>
                <a:ea typeface="宋体" pitchFamily="2" charset="-122"/>
              </a:rPr>
              <a:t> </a:t>
            </a:r>
            <a:r>
              <a:rPr kumimoji="1" lang="en-US" altLang="zh-CN" b="1" dirty="0">
                <a:solidFill>
                  <a:srgbClr val="FF0000"/>
                </a:solidFill>
                <a:latin typeface="Times New Roman" pitchFamily="18" charset="0"/>
                <a:ea typeface="宋体" pitchFamily="2" charset="-122"/>
              </a:rPr>
              <a:t>5.5.3  </a:t>
            </a:r>
            <a:r>
              <a:rPr kumimoji="1" lang="zh-CN" altLang="en-US" b="1" dirty="0">
                <a:solidFill>
                  <a:srgbClr val="FF0000"/>
                </a:solidFill>
                <a:latin typeface="Times New Roman" pitchFamily="18" charset="0"/>
                <a:ea typeface="宋体" pitchFamily="2" charset="-122"/>
              </a:rPr>
              <a:t>线索二叉树的遍历</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0953F969-C732-4191-AAC4-272A0127640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99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29134289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620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D6BA8C67-8D84-4C68-B817-88F8E14F9F56}"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100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aphicFrame>
        <p:nvGraphicFramePr>
          <p:cNvPr id="14" name="Group 48"/>
          <p:cNvGraphicFramePr>
            <a:graphicFrameLocks noGrp="1"/>
          </p:cNvGraphicFramePr>
          <p:nvPr>
            <p:extLst>
              <p:ext uri="{D42A27DB-BD31-4B8C-83A1-F6EECF244321}">
                <p14:modId xmlns:p14="http://schemas.microsoft.com/office/powerpoint/2010/main" val="822208693"/>
              </p:ext>
            </p:extLst>
          </p:nvPr>
        </p:nvGraphicFramePr>
        <p:xfrm>
          <a:off x="4178300" y="1490663"/>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304800">
                  <a:extLst>
                    <a:ext uri="{9D8B030D-6E8A-4147-A177-3AD203B41FA5}">
                      <a16:colId xmlns:a16="http://schemas.microsoft.com/office/drawing/2014/main" val="20001"/>
                    </a:ext>
                  </a:extLst>
                </a:gridCol>
                <a:gridCol w="238125">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43180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15" name="Group 16"/>
          <p:cNvGraphicFramePr>
            <a:graphicFrameLocks noGrp="1"/>
          </p:cNvGraphicFramePr>
          <p:nvPr>
            <p:extLst>
              <p:ext uri="{D42A27DB-BD31-4B8C-83A1-F6EECF244321}">
                <p14:modId xmlns:p14="http://schemas.microsoft.com/office/powerpoint/2010/main" val="3366454845"/>
              </p:ext>
            </p:extLst>
          </p:nvPr>
        </p:nvGraphicFramePr>
        <p:xfrm>
          <a:off x="4178300" y="2211388"/>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271462">
                  <a:extLst>
                    <a:ext uri="{9D8B030D-6E8A-4147-A177-3AD203B41FA5}">
                      <a16:colId xmlns:a16="http://schemas.microsoft.com/office/drawing/2014/main" val="20001"/>
                    </a:ext>
                  </a:extLst>
                </a:gridCol>
                <a:gridCol w="271463">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43180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16" name="Line 44"/>
          <p:cNvSpPr>
            <a:spLocks noChangeShapeType="1"/>
          </p:cNvSpPr>
          <p:nvPr/>
        </p:nvSpPr>
        <p:spPr bwMode="auto">
          <a:xfrm>
            <a:off x="4322763" y="1779588"/>
            <a:ext cx="215900" cy="431800"/>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7" name="Rectangle 45"/>
          <p:cNvSpPr>
            <a:spLocks noChangeArrowheads="1"/>
          </p:cNvSpPr>
          <p:nvPr/>
        </p:nvSpPr>
        <p:spPr bwMode="auto">
          <a:xfrm>
            <a:off x="4062413" y="914400"/>
            <a:ext cx="390525" cy="461963"/>
          </a:xfrm>
          <a:prstGeom prst="rect">
            <a:avLst/>
          </a:prstGeom>
          <a:noFill/>
          <a:ln w="12700" cap="rnd" algn="ctr">
            <a:noFill/>
            <a:miter lim="800000"/>
            <a:headEnd/>
            <a:tailEnd/>
          </a:ln>
        </p:spPr>
        <p:txBody>
          <a:bodyPr wrap="none" anchor="ctr">
            <a:spAutoFit/>
          </a:bodyPr>
          <a:lstStyle/>
          <a:p>
            <a:pPr algn="ctr" eaLnBrk="0" fontAlgn="base" hangingPunct="0">
              <a:spcBef>
                <a:spcPct val="0"/>
              </a:spcBef>
              <a:spcAft>
                <a:spcPct val="0"/>
              </a:spcAft>
            </a:pPr>
            <a:r>
              <a:rPr kumimoji="1" lang="en-US" altLang="zh-CN" sz="2400" b="1">
                <a:solidFill>
                  <a:srgbClr val="000000"/>
                </a:solidFill>
                <a:latin typeface="Times New Roman" pitchFamily="18" charset="0"/>
              </a:rPr>
              <a:t>T</a:t>
            </a:r>
          </a:p>
        </p:txBody>
      </p:sp>
      <p:sp>
        <p:nvSpPr>
          <p:cNvPr id="19" name="Rectangle 49"/>
          <p:cNvSpPr>
            <a:spLocks noChangeArrowheads="1"/>
          </p:cNvSpPr>
          <p:nvPr/>
        </p:nvSpPr>
        <p:spPr bwMode="auto">
          <a:xfrm>
            <a:off x="4754563" y="1490663"/>
            <a:ext cx="252412" cy="468312"/>
          </a:xfrm>
          <a:prstGeom prst="rect">
            <a:avLst/>
          </a:prstGeom>
          <a:solidFill>
            <a:srgbClr val="969696"/>
          </a:solidFill>
          <a:ln w="12700" cap="rnd" algn="ctr">
            <a:noFill/>
            <a:miter lim="800000"/>
            <a:headEnd/>
            <a:tailEnd/>
          </a:ln>
        </p:spPr>
        <p:txBody>
          <a:bodyPr anchor="ctr">
            <a:spAutoFit/>
          </a:bodyP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20" name="Line 50"/>
          <p:cNvSpPr>
            <a:spLocks noChangeShapeType="1"/>
          </p:cNvSpPr>
          <p:nvPr/>
        </p:nvSpPr>
        <p:spPr bwMode="auto">
          <a:xfrm>
            <a:off x="4394200" y="1203325"/>
            <a:ext cx="431800" cy="287338"/>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aphicFrame>
        <p:nvGraphicFramePr>
          <p:cNvPr id="21" name="Group 34"/>
          <p:cNvGraphicFramePr>
            <a:graphicFrameLocks noGrp="1"/>
          </p:cNvGraphicFramePr>
          <p:nvPr>
            <p:extLst>
              <p:ext uri="{D42A27DB-BD31-4B8C-83A1-F6EECF244321}">
                <p14:modId xmlns:p14="http://schemas.microsoft.com/office/powerpoint/2010/main" val="1463017836"/>
              </p:ext>
            </p:extLst>
          </p:nvPr>
        </p:nvGraphicFramePr>
        <p:xfrm>
          <a:off x="3098800" y="3313113"/>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271462">
                  <a:extLst>
                    <a:ext uri="{9D8B030D-6E8A-4147-A177-3AD203B41FA5}">
                      <a16:colId xmlns:a16="http://schemas.microsoft.com/office/drawing/2014/main" val="20001"/>
                    </a:ext>
                  </a:extLst>
                </a:gridCol>
                <a:gridCol w="271463">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22" name="Group 173"/>
          <p:cNvGraphicFramePr>
            <a:graphicFrameLocks noGrp="1"/>
          </p:cNvGraphicFramePr>
          <p:nvPr>
            <p:extLst>
              <p:ext uri="{D42A27DB-BD31-4B8C-83A1-F6EECF244321}">
                <p14:modId xmlns:p14="http://schemas.microsoft.com/office/powerpoint/2010/main" val="2028443270"/>
              </p:ext>
            </p:extLst>
          </p:nvPr>
        </p:nvGraphicFramePr>
        <p:xfrm>
          <a:off x="5330825" y="3146425"/>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271462">
                  <a:extLst>
                    <a:ext uri="{9D8B030D-6E8A-4147-A177-3AD203B41FA5}">
                      <a16:colId xmlns:a16="http://schemas.microsoft.com/office/drawing/2014/main" val="20001"/>
                    </a:ext>
                  </a:extLst>
                </a:gridCol>
                <a:gridCol w="271463">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43338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23" name="Group 62"/>
          <p:cNvGraphicFramePr>
            <a:graphicFrameLocks noGrp="1"/>
          </p:cNvGraphicFramePr>
          <p:nvPr>
            <p:extLst>
              <p:ext uri="{D42A27DB-BD31-4B8C-83A1-F6EECF244321}">
                <p14:modId xmlns:p14="http://schemas.microsoft.com/office/powerpoint/2010/main" val="2553911902"/>
              </p:ext>
            </p:extLst>
          </p:nvPr>
        </p:nvGraphicFramePr>
        <p:xfrm>
          <a:off x="4249738" y="4514850"/>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1462">
                  <a:extLst>
                    <a:ext uri="{9D8B030D-6E8A-4147-A177-3AD203B41FA5}">
                      <a16:colId xmlns:a16="http://schemas.microsoft.com/office/drawing/2014/main" val="20002"/>
                    </a:ext>
                  </a:extLst>
                </a:gridCol>
                <a:gridCol w="265113">
                  <a:extLst>
                    <a:ext uri="{9D8B030D-6E8A-4147-A177-3AD203B41FA5}">
                      <a16:colId xmlns:a16="http://schemas.microsoft.com/office/drawing/2014/main" val="20003"/>
                    </a:ext>
                  </a:extLst>
                </a:gridCol>
                <a:gridCol w="277812">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24" name="Group 152"/>
          <p:cNvGraphicFramePr>
            <a:graphicFrameLocks noGrp="1"/>
          </p:cNvGraphicFramePr>
          <p:nvPr>
            <p:extLst>
              <p:ext uri="{D42A27DB-BD31-4B8C-83A1-F6EECF244321}">
                <p14:modId xmlns:p14="http://schemas.microsoft.com/office/powerpoint/2010/main" val="2003664110"/>
              </p:ext>
            </p:extLst>
          </p:nvPr>
        </p:nvGraphicFramePr>
        <p:xfrm>
          <a:off x="2522538" y="4298950"/>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1462">
                  <a:extLst>
                    <a:ext uri="{9D8B030D-6E8A-4147-A177-3AD203B41FA5}">
                      <a16:colId xmlns:a16="http://schemas.microsoft.com/office/drawing/2014/main" val="20002"/>
                    </a:ext>
                  </a:extLst>
                </a:gridCol>
                <a:gridCol w="265113">
                  <a:extLst>
                    <a:ext uri="{9D8B030D-6E8A-4147-A177-3AD203B41FA5}">
                      <a16:colId xmlns:a16="http://schemas.microsoft.com/office/drawing/2014/main" val="20003"/>
                    </a:ext>
                  </a:extLst>
                </a:gridCol>
                <a:gridCol w="277812">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25" name="Group 121"/>
          <p:cNvGraphicFramePr>
            <a:graphicFrameLocks noGrp="1"/>
          </p:cNvGraphicFramePr>
          <p:nvPr>
            <p:extLst>
              <p:ext uri="{D42A27DB-BD31-4B8C-83A1-F6EECF244321}">
                <p14:modId xmlns:p14="http://schemas.microsoft.com/office/powerpoint/2010/main" val="3916659391"/>
              </p:ext>
            </p:extLst>
          </p:nvPr>
        </p:nvGraphicFramePr>
        <p:xfrm>
          <a:off x="3675063" y="5738813"/>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1462">
                  <a:extLst>
                    <a:ext uri="{9D8B030D-6E8A-4147-A177-3AD203B41FA5}">
                      <a16:colId xmlns:a16="http://schemas.microsoft.com/office/drawing/2014/main" val="20002"/>
                    </a:ext>
                  </a:extLst>
                </a:gridCol>
                <a:gridCol w="271463">
                  <a:extLst>
                    <a:ext uri="{9D8B030D-6E8A-4147-A177-3AD203B41FA5}">
                      <a16:colId xmlns:a16="http://schemas.microsoft.com/office/drawing/2014/main" val="20003"/>
                    </a:ext>
                  </a:extLst>
                </a:gridCol>
                <a:gridCol w="271462">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26" name="Group 104"/>
          <p:cNvGraphicFramePr>
            <a:graphicFrameLocks noGrp="1"/>
          </p:cNvGraphicFramePr>
          <p:nvPr>
            <p:extLst>
              <p:ext uri="{D42A27DB-BD31-4B8C-83A1-F6EECF244321}">
                <p14:modId xmlns:p14="http://schemas.microsoft.com/office/powerpoint/2010/main" val="858507129"/>
              </p:ext>
            </p:extLst>
          </p:nvPr>
        </p:nvGraphicFramePr>
        <p:xfrm>
          <a:off x="5475288" y="5738813"/>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33363">
                  <a:extLst>
                    <a:ext uri="{9D8B030D-6E8A-4147-A177-3AD203B41FA5}">
                      <a16:colId xmlns:a16="http://schemas.microsoft.com/office/drawing/2014/main" val="20001"/>
                    </a:ext>
                  </a:extLst>
                </a:gridCol>
                <a:gridCol w="309562">
                  <a:extLst>
                    <a:ext uri="{9D8B030D-6E8A-4147-A177-3AD203B41FA5}">
                      <a16:colId xmlns:a16="http://schemas.microsoft.com/office/drawing/2014/main" val="20002"/>
                    </a:ext>
                  </a:extLst>
                </a:gridCol>
                <a:gridCol w="271463">
                  <a:extLst>
                    <a:ext uri="{9D8B030D-6E8A-4147-A177-3AD203B41FA5}">
                      <a16:colId xmlns:a16="http://schemas.microsoft.com/office/drawing/2014/main" val="20003"/>
                    </a:ext>
                  </a:extLst>
                </a:gridCol>
                <a:gridCol w="271462">
                  <a:extLst>
                    <a:ext uri="{9D8B030D-6E8A-4147-A177-3AD203B41FA5}">
                      <a16:colId xmlns:a16="http://schemas.microsoft.com/office/drawing/2014/main" val="20004"/>
                    </a:ext>
                  </a:extLst>
                </a:gridCol>
              </a:tblGrid>
              <a:tr h="39528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27" name="Freeform 159"/>
          <p:cNvSpPr>
            <a:spLocks/>
          </p:cNvSpPr>
          <p:nvPr/>
        </p:nvSpPr>
        <p:spPr bwMode="auto">
          <a:xfrm>
            <a:off x="5114925" y="2643188"/>
            <a:ext cx="374650" cy="1116012"/>
          </a:xfrm>
          <a:custGeom>
            <a:avLst/>
            <a:gdLst>
              <a:gd name="T0" fmla="*/ 2147483647 w 236"/>
              <a:gd name="T1" fmla="*/ 2147483647 h 748"/>
              <a:gd name="T2" fmla="*/ 2147483647 w 236"/>
              <a:gd name="T3" fmla="*/ 2147483647 h 748"/>
              <a:gd name="T4" fmla="*/ 2147483647 w 236"/>
              <a:gd name="T5" fmla="*/ 2147483647 h 748"/>
              <a:gd name="T6" fmla="*/ 2147483647 w 236"/>
              <a:gd name="T7" fmla="*/ 2147483647 h 748"/>
              <a:gd name="T8" fmla="*/ 2147483647 w 236"/>
              <a:gd name="T9" fmla="*/ 2147483647 h 748"/>
              <a:gd name="T10" fmla="*/ 2147483647 w 236"/>
              <a:gd name="T11" fmla="*/ 2147483647 h 748"/>
              <a:gd name="T12" fmla="*/ 2147483647 w 236"/>
              <a:gd name="T13" fmla="*/ 2147483647 h 748"/>
              <a:gd name="T14" fmla="*/ 2147483647 w 236"/>
              <a:gd name="T15" fmla="*/ 2147483647 h 748"/>
              <a:gd name="T16" fmla="*/ 2147483647 w 236"/>
              <a:gd name="T17" fmla="*/ 2147483647 h 748"/>
              <a:gd name="T18" fmla="*/ 2147483647 w 236"/>
              <a:gd name="T19" fmla="*/ 0 h 7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6"/>
              <a:gd name="T31" fmla="*/ 0 h 748"/>
              <a:gd name="T32" fmla="*/ 236 w 236"/>
              <a:gd name="T33" fmla="*/ 748 h 7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6" h="748">
                <a:moveTo>
                  <a:pt x="228" y="583"/>
                </a:moveTo>
                <a:cubicBezTo>
                  <a:pt x="230" y="591"/>
                  <a:pt x="236" y="598"/>
                  <a:pt x="235" y="606"/>
                </a:cubicBezTo>
                <a:cubicBezTo>
                  <a:pt x="233" y="615"/>
                  <a:pt x="224" y="620"/>
                  <a:pt x="220" y="628"/>
                </a:cubicBezTo>
                <a:cubicBezTo>
                  <a:pt x="204" y="661"/>
                  <a:pt x="184" y="689"/>
                  <a:pt x="153" y="710"/>
                </a:cubicBezTo>
                <a:cubicBezTo>
                  <a:pt x="148" y="718"/>
                  <a:pt x="146" y="728"/>
                  <a:pt x="138" y="733"/>
                </a:cubicBezTo>
                <a:cubicBezTo>
                  <a:pt x="125" y="741"/>
                  <a:pt x="93" y="748"/>
                  <a:pt x="93" y="748"/>
                </a:cubicBezTo>
                <a:cubicBezTo>
                  <a:pt x="84" y="718"/>
                  <a:pt x="79" y="706"/>
                  <a:pt x="48" y="695"/>
                </a:cubicBezTo>
                <a:cubicBezTo>
                  <a:pt x="40" y="670"/>
                  <a:pt x="33" y="650"/>
                  <a:pt x="18" y="628"/>
                </a:cubicBezTo>
                <a:cubicBezTo>
                  <a:pt x="0" y="572"/>
                  <a:pt x="4" y="591"/>
                  <a:pt x="3" y="486"/>
                </a:cubicBezTo>
                <a:cubicBezTo>
                  <a:pt x="1" y="324"/>
                  <a:pt x="3" y="162"/>
                  <a:pt x="3"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8" name="Line 160"/>
          <p:cNvSpPr>
            <a:spLocks noChangeShapeType="1"/>
          </p:cNvSpPr>
          <p:nvPr/>
        </p:nvSpPr>
        <p:spPr bwMode="auto">
          <a:xfrm flipH="1">
            <a:off x="3746500" y="2498725"/>
            <a:ext cx="503238" cy="792163"/>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Line 161"/>
          <p:cNvSpPr>
            <a:spLocks noChangeShapeType="1"/>
          </p:cNvSpPr>
          <p:nvPr/>
        </p:nvSpPr>
        <p:spPr bwMode="auto">
          <a:xfrm flipH="1">
            <a:off x="2954338" y="3651250"/>
            <a:ext cx="287337" cy="647700"/>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2" name="Freeform 162"/>
          <p:cNvSpPr>
            <a:spLocks/>
          </p:cNvSpPr>
          <p:nvPr/>
        </p:nvSpPr>
        <p:spPr bwMode="auto">
          <a:xfrm>
            <a:off x="3675063" y="3795713"/>
            <a:ext cx="358775" cy="1187450"/>
          </a:xfrm>
          <a:custGeom>
            <a:avLst/>
            <a:gdLst>
              <a:gd name="T0" fmla="*/ 2147483647 w 228"/>
              <a:gd name="T1" fmla="*/ 2147483647 h 748"/>
              <a:gd name="T2" fmla="*/ 2147483647 w 228"/>
              <a:gd name="T3" fmla="*/ 2147483647 h 748"/>
              <a:gd name="T4" fmla="*/ 2147483647 w 228"/>
              <a:gd name="T5" fmla="*/ 2147483647 h 748"/>
              <a:gd name="T6" fmla="*/ 2147483647 w 228"/>
              <a:gd name="T7" fmla="*/ 2147483647 h 748"/>
              <a:gd name="T8" fmla="*/ 2147483647 w 228"/>
              <a:gd name="T9" fmla="*/ 2147483647 h 748"/>
              <a:gd name="T10" fmla="*/ 2147483647 w 228"/>
              <a:gd name="T11" fmla="*/ 2147483647 h 748"/>
              <a:gd name="T12" fmla="*/ 2147483647 w 228"/>
              <a:gd name="T13" fmla="*/ 2147483647 h 748"/>
              <a:gd name="T14" fmla="*/ 2147483647 w 228"/>
              <a:gd name="T15" fmla="*/ 2147483647 h 748"/>
              <a:gd name="T16" fmla="*/ 2147483647 w 228"/>
              <a:gd name="T17" fmla="*/ 2147483647 h 748"/>
              <a:gd name="T18" fmla="*/ 2147483647 w 228"/>
              <a:gd name="T19" fmla="*/ 2147483647 h 748"/>
              <a:gd name="T20" fmla="*/ 2147483647 w 228"/>
              <a:gd name="T21" fmla="*/ 2147483647 h 748"/>
              <a:gd name="T22" fmla="*/ 2147483647 w 228"/>
              <a:gd name="T23" fmla="*/ 0 h 7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8"/>
              <a:gd name="T37" fmla="*/ 0 h 748"/>
              <a:gd name="T38" fmla="*/ 228 w 228"/>
              <a:gd name="T39" fmla="*/ 748 h 7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8" h="748">
                <a:moveTo>
                  <a:pt x="34" y="538"/>
                </a:moveTo>
                <a:cubicBezTo>
                  <a:pt x="0" y="637"/>
                  <a:pt x="9" y="716"/>
                  <a:pt x="101" y="748"/>
                </a:cubicBezTo>
                <a:cubicBezTo>
                  <a:pt x="165" y="725"/>
                  <a:pt x="156" y="692"/>
                  <a:pt x="176" y="635"/>
                </a:cubicBezTo>
                <a:cubicBezTo>
                  <a:pt x="182" y="618"/>
                  <a:pt x="206" y="591"/>
                  <a:pt x="206" y="591"/>
                </a:cubicBezTo>
                <a:cubicBezTo>
                  <a:pt x="228" y="391"/>
                  <a:pt x="223" y="501"/>
                  <a:pt x="213" y="261"/>
                </a:cubicBezTo>
                <a:cubicBezTo>
                  <a:pt x="216" y="254"/>
                  <a:pt x="223" y="246"/>
                  <a:pt x="221" y="239"/>
                </a:cubicBezTo>
                <a:cubicBezTo>
                  <a:pt x="215" y="222"/>
                  <a:pt x="201" y="209"/>
                  <a:pt x="191" y="194"/>
                </a:cubicBezTo>
                <a:cubicBezTo>
                  <a:pt x="187" y="188"/>
                  <a:pt x="188" y="178"/>
                  <a:pt x="183" y="172"/>
                </a:cubicBezTo>
                <a:cubicBezTo>
                  <a:pt x="177" y="165"/>
                  <a:pt x="168" y="162"/>
                  <a:pt x="161" y="157"/>
                </a:cubicBezTo>
                <a:cubicBezTo>
                  <a:pt x="154" y="138"/>
                  <a:pt x="154" y="116"/>
                  <a:pt x="146" y="97"/>
                </a:cubicBezTo>
                <a:cubicBezTo>
                  <a:pt x="139" y="81"/>
                  <a:pt x="126" y="67"/>
                  <a:pt x="116" y="52"/>
                </a:cubicBezTo>
                <a:cubicBezTo>
                  <a:pt x="106" y="37"/>
                  <a:pt x="98" y="12"/>
                  <a:pt x="86"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3" name="Line 163"/>
          <p:cNvSpPr>
            <a:spLocks noChangeShapeType="1"/>
          </p:cNvSpPr>
          <p:nvPr/>
        </p:nvSpPr>
        <p:spPr bwMode="auto">
          <a:xfrm flipH="1">
            <a:off x="3962400" y="4803775"/>
            <a:ext cx="431800" cy="935038"/>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4" name="Freeform 164"/>
          <p:cNvSpPr>
            <a:spLocks/>
          </p:cNvSpPr>
          <p:nvPr/>
        </p:nvSpPr>
        <p:spPr bwMode="auto">
          <a:xfrm>
            <a:off x="3265488" y="3822700"/>
            <a:ext cx="898525" cy="2439988"/>
          </a:xfrm>
          <a:custGeom>
            <a:avLst/>
            <a:gdLst>
              <a:gd name="T0" fmla="*/ 2147483647 w 566"/>
              <a:gd name="T1" fmla="*/ 2147483647 h 1537"/>
              <a:gd name="T2" fmla="*/ 2147483647 w 566"/>
              <a:gd name="T3" fmla="*/ 2147483647 h 1537"/>
              <a:gd name="T4" fmla="*/ 2147483647 w 566"/>
              <a:gd name="T5" fmla="*/ 2147483647 h 1537"/>
              <a:gd name="T6" fmla="*/ 2147483647 w 566"/>
              <a:gd name="T7" fmla="*/ 2147483647 h 1537"/>
              <a:gd name="T8" fmla="*/ 2147483647 w 566"/>
              <a:gd name="T9" fmla="*/ 2147483647 h 1537"/>
              <a:gd name="T10" fmla="*/ 2147483647 w 566"/>
              <a:gd name="T11" fmla="*/ 2147483647 h 1537"/>
              <a:gd name="T12" fmla="*/ 2147483647 w 566"/>
              <a:gd name="T13" fmla="*/ 2147483647 h 1537"/>
              <a:gd name="T14" fmla="*/ 2147483647 w 566"/>
              <a:gd name="T15" fmla="*/ 2147483647 h 1537"/>
              <a:gd name="T16" fmla="*/ 2147483647 w 566"/>
              <a:gd name="T17" fmla="*/ 2147483647 h 1537"/>
              <a:gd name="T18" fmla="*/ 2147483647 w 566"/>
              <a:gd name="T19" fmla="*/ 2147483647 h 1537"/>
              <a:gd name="T20" fmla="*/ 2147483647 w 566"/>
              <a:gd name="T21" fmla="*/ 2147483647 h 1537"/>
              <a:gd name="T22" fmla="*/ 2147483647 w 566"/>
              <a:gd name="T23" fmla="*/ 2147483647 h 1537"/>
              <a:gd name="T24" fmla="*/ 2147483647 w 566"/>
              <a:gd name="T25" fmla="*/ 2147483647 h 1537"/>
              <a:gd name="T26" fmla="*/ 2147483647 w 566"/>
              <a:gd name="T27" fmla="*/ 2147483647 h 1537"/>
              <a:gd name="T28" fmla="*/ 2147483647 w 566"/>
              <a:gd name="T29" fmla="*/ 2147483647 h 1537"/>
              <a:gd name="T30" fmla="*/ 2147483647 w 566"/>
              <a:gd name="T31" fmla="*/ 2147483647 h 1537"/>
              <a:gd name="T32" fmla="*/ 2147483647 w 566"/>
              <a:gd name="T33" fmla="*/ 2147483647 h 1537"/>
              <a:gd name="T34" fmla="*/ 2147483647 w 566"/>
              <a:gd name="T35" fmla="*/ 2147483647 h 1537"/>
              <a:gd name="T36" fmla="*/ 2147483647 w 566"/>
              <a:gd name="T37" fmla="*/ 2147483647 h 1537"/>
              <a:gd name="T38" fmla="*/ 2147483647 w 566"/>
              <a:gd name="T39" fmla="*/ 0 h 15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66"/>
              <a:gd name="T61" fmla="*/ 0 h 1537"/>
              <a:gd name="T62" fmla="*/ 566 w 566"/>
              <a:gd name="T63" fmla="*/ 1537 h 153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66" h="1537">
                <a:moveTo>
                  <a:pt x="344" y="1421"/>
                </a:moveTo>
                <a:cubicBezTo>
                  <a:pt x="339" y="1429"/>
                  <a:pt x="335" y="1438"/>
                  <a:pt x="329" y="1444"/>
                </a:cubicBezTo>
                <a:cubicBezTo>
                  <a:pt x="323" y="1450"/>
                  <a:pt x="312" y="1452"/>
                  <a:pt x="306" y="1459"/>
                </a:cubicBezTo>
                <a:cubicBezTo>
                  <a:pt x="276" y="1496"/>
                  <a:pt x="327" y="1471"/>
                  <a:pt x="277" y="1489"/>
                </a:cubicBezTo>
                <a:cubicBezTo>
                  <a:pt x="227" y="1537"/>
                  <a:pt x="163" y="1507"/>
                  <a:pt x="105" y="1489"/>
                </a:cubicBezTo>
                <a:cubicBezTo>
                  <a:pt x="77" y="1470"/>
                  <a:pt x="80" y="1455"/>
                  <a:pt x="52" y="1436"/>
                </a:cubicBezTo>
                <a:cubicBezTo>
                  <a:pt x="30" y="1368"/>
                  <a:pt x="0" y="1330"/>
                  <a:pt x="45" y="1242"/>
                </a:cubicBezTo>
                <a:cubicBezTo>
                  <a:pt x="62" y="1209"/>
                  <a:pt x="68" y="1214"/>
                  <a:pt x="105" y="1189"/>
                </a:cubicBezTo>
                <a:cubicBezTo>
                  <a:pt x="112" y="1184"/>
                  <a:pt x="127" y="1174"/>
                  <a:pt x="127" y="1174"/>
                </a:cubicBezTo>
                <a:cubicBezTo>
                  <a:pt x="145" y="1148"/>
                  <a:pt x="157" y="1132"/>
                  <a:pt x="187" y="1122"/>
                </a:cubicBezTo>
                <a:cubicBezTo>
                  <a:pt x="204" y="1098"/>
                  <a:pt x="243" y="1073"/>
                  <a:pt x="269" y="1055"/>
                </a:cubicBezTo>
                <a:cubicBezTo>
                  <a:pt x="285" y="1031"/>
                  <a:pt x="308" y="1021"/>
                  <a:pt x="321" y="995"/>
                </a:cubicBezTo>
                <a:cubicBezTo>
                  <a:pt x="348" y="942"/>
                  <a:pt x="383" y="879"/>
                  <a:pt x="434" y="845"/>
                </a:cubicBezTo>
                <a:cubicBezTo>
                  <a:pt x="445" y="829"/>
                  <a:pt x="463" y="818"/>
                  <a:pt x="471" y="800"/>
                </a:cubicBezTo>
                <a:cubicBezTo>
                  <a:pt x="477" y="786"/>
                  <a:pt x="476" y="770"/>
                  <a:pt x="479" y="755"/>
                </a:cubicBezTo>
                <a:cubicBezTo>
                  <a:pt x="487" y="718"/>
                  <a:pt x="497" y="680"/>
                  <a:pt x="508" y="643"/>
                </a:cubicBezTo>
                <a:cubicBezTo>
                  <a:pt x="490" y="566"/>
                  <a:pt x="526" y="493"/>
                  <a:pt x="546" y="419"/>
                </a:cubicBezTo>
                <a:cubicBezTo>
                  <a:pt x="563" y="289"/>
                  <a:pt x="566" y="329"/>
                  <a:pt x="553" y="120"/>
                </a:cubicBezTo>
                <a:cubicBezTo>
                  <a:pt x="551" y="92"/>
                  <a:pt x="537" y="49"/>
                  <a:pt x="531" y="22"/>
                </a:cubicBezTo>
                <a:cubicBezTo>
                  <a:pt x="529" y="14"/>
                  <a:pt x="523" y="0"/>
                  <a:pt x="523"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5" name="Line 165"/>
          <p:cNvSpPr>
            <a:spLocks noChangeShapeType="1"/>
          </p:cNvSpPr>
          <p:nvPr/>
        </p:nvSpPr>
        <p:spPr bwMode="auto">
          <a:xfrm>
            <a:off x="4322763" y="3651250"/>
            <a:ext cx="647700" cy="863600"/>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6" name="Freeform 166"/>
          <p:cNvSpPr>
            <a:spLocks/>
          </p:cNvSpPr>
          <p:nvPr/>
        </p:nvSpPr>
        <p:spPr bwMode="auto">
          <a:xfrm>
            <a:off x="4683125" y="4946650"/>
            <a:ext cx="508000" cy="1460500"/>
          </a:xfrm>
          <a:custGeom>
            <a:avLst/>
            <a:gdLst>
              <a:gd name="T0" fmla="*/ 2147483647 w 320"/>
              <a:gd name="T1" fmla="*/ 2147483647 h 920"/>
              <a:gd name="T2" fmla="*/ 2147483647 w 320"/>
              <a:gd name="T3" fmla="*/ 2147483647 h 920"/>
              <a:gd name="T4" fmla="*/ 2147483647 w 320"/>
              <a:gd name="T5" fmla="*/ 2147483647 h 920"/>
              <a:gd name="T6" fmla="*/ 2147483647 w 320"/>
              <a:gd name="T7" fmla="*/ 2147483647 h 920"/>
              <a:gd name="T8" fmla="*/ 2147483647 w 320"/>
              <a:gd name="T9" fmla="*/ 2147483647 h 920"/>
              <a:gd name="T10" fmla="*/ 2147483647 w 320"/>
              <a:gd name="T11" fmla="*/ 2147483647 h 920"/>
              <a:gd name="T12" fmla="*/ 2147483647 w 320"/>
              <a:gd name="T13" fmla="*/ 2147483647 h 920"/>
              <a:gd name="T14" fmla="*/ 2147483647 w 320"/>
              <a:gd name="T15" fmla="*/ 2147483647 h 920"/>
              <a:gd name="T16" fmla="*/ 2147483647 w 320"/>
              <a:gd name="T17" fmla="*/ 2147483647 h 920"/>
              <a:gd name="T18" fmla="*/ 2147483647 w 320"/>
              <a:gd name="T19" fmla="*/ 2147483647 h 920"/>
              <a:gd name="T20" fmla="*/ 2147483647 w 320"/>
              <a:gd name="T21" fmla="*/ 2147483647 h 920"/>
              <a:gd name="T22" fmla="*/ 2147483647 w 320"/>
              <a:gd name="T23" fmla="*/ 2147483647 h 920"/>
              <a:gd name="T24" fmla="*/ 2147483647 w 320"/>
              <a:gd name="T25" fmla="*/ 2147483647 h 920"/>
              <a:gd name="T26" fmla="*/ 2147483647 w 320"/>
              <a:gd name="T27" fmla="*/ 2147483647 h 920"/>
              <a:gd name="T28" fmla="*/ 2147483647 w 320"/>
              <a:gd name="T29" fmla="*/ 2147483647 h 920"/>
              <a:gd name="T30" fmla="*/ 2147483647 w 320"/>
              <a:gd name="T31" fmla="*/ 2147483647 h 920"/>
              <a:gd name="T32" fmla="*/ 2147483647 w 320"/>
              <a:gd name="T33" fmla="*/ 2147483647 h 920"/>
              <a:gd name="T34" fmla="*/ 2147483647 w 320"/>
              <a:gd name="T35" fmla="*/ 2147483647 h 9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0"/>
              <a:gd name="T55" fmla="*/ 0 h 920"/>
              <a:gd name="T56" fmla="*/ 320 w 320"/>
              <a:gd name="T57" fmla="*/ 920 h 92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0" h="920">
                <a:moveTo>
                  <a:pt x="86" y="712"/>
                </a:moveTo>
                <a:cubicBezTo>
                  <a:pt x="78" y="737"/>
                  <a:pt x="70" y="761"/>
                  <a:pt x="64" y="787"/>
                </a:cubicBezTo>
                <a:cubicBezTo>
                  <a:pt x="66" y="807"/>
                  <a:pt x="63" y="829"/>
                  <a:pt x="71" y="847"/>
                </a:cubicBezTo>
                <a:cubicBezTo>
                  <a:pt x="74" y="854"/>
                  <a:pt x="88" y="849"/>
                  <a:pt x="94" y="854"/>
                </a:cubicBezTo>
                <a:cubicBezTo>
                  <a:pt x="101" y="860"/>
                  <a:pt x="101" y="872"/>
                  <a:pt x="109" y="877"/>
                </a:cubicBezTo>
                <a:cubicBezTo>
                  <a:pt x="122" y="885"/>
                  <a:pt x="154" y="892"/>
                  <a:pt x="154" y="892"/>
                </a:cubicBezTo>
                <a:cubicBezTo>
                  <a:pt x="156" y="899"/>
                  <a:pt x="154" y="910"/>
                  <a:pt x="161" y="914"/>
                </a:cubicBezTo>
                <a:cubicBezTo>
                  <a:pt x="173" y="920"/>
                  <a:pt x="216" y="877"/>
                  <a:pt x="228" y="869"/>
                </a:cubicBezTo>
                <a:cubicBezTo>
                  <a:pt x="256" y="827"/>
                  <a:pt x="264" y="796"/>
                  <a:pt x="281" y="750"/>
                </a:cubicBezTo>
                <a:cubicBezTo>
                  <a:pt x="268" y="714"/>
                  <a:pt x="290" y="683"/>
                  <a:pt x="296" y="645"/>
                </a:cubicBezTo>
                <a:cubicBezTo>
                  <a:pt x="308" y="565"/>
                  <a:pt x="294" y="609"/>
                  <a:pt x="311" y="563"/>
                </a:cubicBezTo>
                <a:cubicBezTo>
                  <a:pt x="320" y="496"/>
                  <a:pt x="320" y="416"/>
                  <a:pt x="258" y="376"/>
                </a:cubicBezTo>
                <a:cubicBezTo>
                  <a:pt x="253" y="368"/>
                  <a:pt x="249" y="360"/>
                  <a:pt x="243" y="353"/>
                </a:cubicBezTo>
                <a:cubicBezTo>
                  <a:pt x="237" y="347"/>
                  <a:pt x="227" y="345"/>
                  <a:pt x="221" y="338"/>
                </a:cubicBezTo>
                <a:cubicBezTo>
                  <a:pt x="166" y="274"/>
                  <a:pt x="219" y="307"/>
                  <a:pt x="161" y="278"/>
                </a:cubicBezTo>
                <a:cubicBezTo>
                  <a:pt x="140" y="215"/>
                  <a:pt x="122" y="146"/>
                  <a:pt x="64" y="106"/>
                </a:cubicBezTo>
                <a:cubicBezTo>
                  <a:pt x="56" y="83"/>
                  <a:pt x="41" y="49"/>
                  <a:pt x="26" y="31"/>
                </a:cubicBezTo>
                <a:cubicBezTo>
                  <a:pt x="0" y="0"/>
                  <a:pt x="4" y="34"/>
                  <a:pt x="4" y="2"/>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7" name="Freeform 167"/>
          <p:cNvSpPr>
            <a:spLocks/>
          </p:cNvSpPr>
          <p:nvPr/>
        </p:nvSpPr>
        <p:spPr bwMode="auto">
          <a:xfrm>
            <a:off x="5237163" y="5006975"/>
            <a:ext cx="414337" cy="1463675"/>
          </a:xfrm>
          <a:custGeom>
            <a:avLst/>
            <a:gdLst>
              <a:gd name="T0" fmla="*/ 2147483647 w 261"/>
              <a:gd name="T1" fmla="*/ 2147483647 h 922"/>
              <a:gd name="T2" fmla="*/ 2147483647 w 261"/>
              <a:gd name="T3" fmla="*/ 2147483647 h 922"/>
              <a:gd name="T4" fmla="*/ 2147483647 w 261"/>
              <a:gd name="T5" fmla="*/ 2147483647 h 922"/>
              <a:gd name="T6" fmla="*/ 2147483647 w 261"/>
              <a:gd name="T7" fmla="*/ 2147483647 h 922"/>
              <a:gd name="T8" fmla="*/ 2147483647 w 261"/>
              <a:gd name="T9" fmla="*/ 2147483647 h 922"/>
              <a:gd name="T10" fmla="*/ 2147483647 w 261"/>
              <a:gd name="T11" fmla="*/ 2147483647 h 922"/>
              <a:gd name="T12" fmla="*/ 0 w 261"/>
              <a:gd name="T13" fmla="*/ 2147483647 h 922"/>
              <a:gd name="T14" fmla="*/ 0 60000 65536"/>
              <a:gd name="T15" fmla="*/ 0 60000 65536"/>
              <a:gd name="T16" fmla="*/ 0 60000 65536"/>
              <a:gd name="T17" fmla="*/ 0 60000 65536"/>
              <a:gd name="T18" fmla="*/ 0 60000 65536"/>
              <a:gd name="T19" fmla="*/ 0 60000 65536"/>
              <a:gd name="T20" fmla="*/ 0 60000 65536"/>
              <a:gd name="T21" fmla="*/ 0 w 261"/>
              <a:gd name="T22" fmla="*/ 0 h 922"/>
              <a:gd name="T23" fmla="*/ 261 w 261"/>
              <a:gd name="T24" fmla="*/ 922 h 9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1" h="922">
                <a:moveTo>
                  <a:pt x="254" y="660"/>
                </a:moveTo>
                <a:cubicBezTo>
                  <a:pt x="246" y="798"/>
                  <a:pt x="261" y="879"/>
                  <a:pt x="119" y="922"/>
                </a:cubicBezTo>
                <a:cubicBezTo>
                  <a:pt x="111" y="898"/>
                  <a:pt x="82" y="855"/>
                  <a:pt x="82" y="855"/>
                </a:cubicBezTo>
                <a:cubicBezTo>
                  <a:pt x="68" y="763"/>
                  <a:pt x="63" y="671"/>
                  <a:pt x="52" y="578"/>
                </a:cubicBezTo>
                <a:cubicBezTo>
                  <a:pt x="48" y="512"/>
                  <a:pt x="60" y="293"/>
                  <a:pt x="44" y="249"/>
                </a:cubicBezTo>
                <a:cubicBezTo>
                  <a:pt x="38" y="176"/>
                  <a:pt x="31" y="110"/>
                  <a:pt x="15" y="39"/>
                </a:cubicBezTo>
                <a:cubicBezTo>
                  <a:pt x="6" y="0"/>
                  <a:pt x="20" y="2"/>
                  <a:pt x="0" y="2"/>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8" name="Line 168"/>
          <p:cNvSpPr>
            <a:spLocks noChangeShapeType="1"/>
          </p:cNvSpPr>
          <p:nvPr/>
        </p:nvSpPr>
        <p:spPr bwMode="auto">
          <a:xfrm>
            <a:off x="5475288" y="4803775"/>
            <a:ext cx="719137" cy="935038"/>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9" name="Freeform 169"/>
          <p:cNvSpPr>
            <a:spLocks/>
          </p:cNvSpPr>
          <p:nvPr/>
        </p:nvSpPr>
        <p:spPr bwMode="auto">
          <a:xfrm>
            <a:off x="4845050" y="2717800"/>
            <a:ext cx="2157413" cy="3775075"/>
          </a:xfrm>
          <a:custGeom>
            <a:avLst/>
            <a:gdLst>
              <a:gd name="T0" fmla="*/ 2147483647 w 1359"/>
              <a:gd name="T1" fmla="*/ 2147483647 h 2378"/>
              <a:gd name="T2" fmla="*/ 2147483647 w 1359"/>
              <a:gd name="T3" fmla="*/ 2147483647 h 2378"/>
              <a:gd name="T4" fmla="*/ 2147483647 w 1359"/>
              <a:gd name="T5" fmla="*/ 2147483647 h 2378"/>
              <a:gd name="T6" fmla="*/ 2147483647 w 1359"/>
              <a:gd name="T7" fmla="*/ 2147483647 h 2378"/>
              <a:gd name="T8" fmla="*/ 2147483647 w 1359"/>
              <a:gd name="T9" fmla="*/ 2147483647 h 2378"/>
              <a:gd name="T10" fmla="*/ 2147483647 w 1359"/>
              <a:gd name="T11" fmla="*/ 2147483647 h 2378"/>
              <a:gd name="T12" fmla="*/ 2147483647 w 1359"/>
              <a:gd name="T13" fmla="*/ 2147483647 h 2378"/>
              <a:gd name="T14" fmla="*/ 2147483647 w 1359"/>
              <a:gd name="T15" fmla="*/ 2147483647 h 2378"/>
              <a:gd name="T16" fmla="*/ 2147483647 w 1359"/>
              <a:gd name="T17" fmla="*/ 2147483647 h 2378"/>
              <a:gd name="T18" fmla="*/ 2147483647 w 1359"/>
              <a:gd name="T19" fmla="*/ 2147483647 h 2378"/>
              <a:gd name="T20" fmla="*/ 2147483647 w 1359"/>
              <a:gd name="T21" fmla="*/ 2147483647 h 2378"/>
              <a:gd name="T22" fmla="*/ 2147483647 w 1359"/>
              <a:gd name="T23" fmla="*/ 2147483647 h 2378"/>
              <a:gd name="T24" fmla="*/ 2147483647 w 1359"/>
              <a:gd name="T25" fmla="*/ 2147483647 h 2378"/>
              <a:gd name="T26" fmla="*/ 2147483647 w 1359"/>
              <a:gd name="T27" fmla="*/ 2147483647 h 2378"/>
              <a:gd name="T28" fmla="*/ 2147483647 w 1359"/>
              <a:gd name="T29" fmla="*/ 2147483647 h 2378"/>
              <a:gd name="T30" fmla="*/ 2147483647 w 1359"/>
              <a:gd name="T31" fmla="*/ 2147483647 h 2378"/>
              <a:gd name="T32" fmla="*/ 2147483647 w 1359"/>
              <a:gd name="T33" fmla="*/ 2147483647 h 2378"/>
              <a:gd name="T34" fmla="*/ 2147483647 w 1359"/>
              <a:gd name="T35" fmla="*/ 2147483647 h 2378"/>
              <a:gd name="T36" fmla="*/ 2147483647 w 1359"/>
              <a:gd name="T37" fmla="*/ 2147483647 h 2378"/>
              <a:gd name="T38" fmla="*/ 2147483647 w 1359"/>
              <a:gd name="T39" fmla="*/ 2147483647 h 2378"/>
              <a:gd name="T40" fmla="*/ 2147483647 w 1359"/>
              <a:gd name="T41" fmla="*/ 2147483647 h 2378"/>
              <a:gd name="T42" fmla="*/ 2147483647 w 1359"/>
              <a:gd name="T43" fmla="*/ 2147483647 h 2378"/>
              <a:gd name="T44" fmla="*/ 2147483647 w 1359"/>
              <a:gd name="T45" fmla="*/ 2147483647 h 2378"/>
              <a:gd name="T46" fmla="*/ 2147483647 w 1359"/>
              <a:gd name="T47" fmla="*/ 2147483647 h 2378"/>
              <a:gd name="T48" fmla="*/ 2147483647 w 1359"/>
              <a:gd name="T49" fmla="*/ 2147483647 h 2378"/>
              <a:gd name="T50" fmla="*/ 0 w 1359"/>
              <a:gd name="T51" fmla="*/ 0 h 237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9"/>
              <a:gd name="T79" fmla="*/ 0 h 2378"/>
              <a:gd name="T80" fmla="*/ 1359 w 1359"/>
              <a:gd name="T81" fmla="*/ 2378 h 237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9" h="2378">
                <a:moveTo>
                  <a:pt x="1152" y="2125"/>
                </a:moveTo>
                <a:cubicBezTo>
                  <a:pt x="1136" y="2187"/>
                  <a:pt x="1127" y="2315"/>
                  <a:pt x="1189" y="2357"/>
                </a:cubicBezTo>
                <a:cubicBezTo>
                  <a:pt x="1279" y="2351"/>
                  <a:pt x="1327" y="2378"/>
                  <a:pt x="1346" y="2297"/>
                </a:cubicBezTo>
                <a:cubicBezTo>
                  <a:pt x="1358" y="2119"/>
                  <a:pt x="1359" y="2162"/>
                  <a:pt x="1346" y="1923"/>
                </a:cubicBezTo>
                <a:cubicBezTo>
                  <a:pt x="1344" y="1895"/>
                  <a:pt x="1334" y="1879"/>
                  <a:pt x="1309" y="1870"/>
                </a:cubicBezTo>
                <a:cubicBezTo>
                  <a:pt x="1277" y="1823"/>
                  <a:pt x="1313" y="1870"/>
                  <a:pt x="1271" y="1833"/>
                </a:cubicBezTo>
                <a:cubicBezTo>
                  <a:pt x="1233" y="1799"/>
                  <a:pt x="1197" y="1762"/>
                  <a:pt x="1159" y="1728"/>
                </a:cubicBezTo>
                <a:cubicBezTo>
                  <a:pt x="1121" y="1695"/>
                  <a:pt x="1097" y="1650"/>
                  <a:pt x="1054" y="1624"/>
                </a:cubicBezTo>
                <a:cubicBezTo>
                  <a:pt x="1049" y="1616"/>
                  <a:pt x="1045" y="1608"/>
                  <a:pt x="1039" y="1601"/>
                </a:cubicBezTo>
                <a:cubicBezTo>
                  <a:pt x="1032" y="1593"/>
                  <a:pt x="1023" y="1587"/>
                  <a:pt x="1017" y="1579"/>
                </a:cubicBezTo>
                <a:cubicBezTo>
                  <a:pt x="990" y="1541"/>
                  <a:pt x="968" y="1498"/>
                  <a:pt x="942" y="1459"/>
                </a:cubicBezTo>
                <a:cubicBezTo>
                  <a:pt x="921" y="1428"/>
                  <a:pt x="887" y="1401"/>
                  <a:pt x="867" y="1369"/>
                </a:cubicBezTo>
                <a:cubicBezTo>
                  <a:pt x="840" y="1326"/>
                  <a:pt x="823" y="1276"/>
                  <a:pt x="793" y="1235"/>
                </a:cubicBezTo>
                <a:cubicBezTo>
                  <a:pt x="787" y="1226"/>
                  <a:pt x="777" y="1220"/>
                  <a:pt x="770" y="1212"/>
                </a:cubicBezTo>
                <a:cubicBezTo>
                  <a:pt x="764" y="1205"/>
                  <a:pt x="760" y="1197"/>
                  <a:pt x="755" y="1190"/>
                </a:cubicBezTo>
                <a:cubicBezTo>
                  <a:pt x="744" y="1144"/>
                  <a:pt x="712" y="1103"/>
                  <a:pt x="673" y="1077"/>
                </a:cubicBezTo>
                <a:cubicBezTo>
                  <a:pt x="663" y="1062"/>
                  <a:pt x="658" y="1043"/>
                  <a:pt x="643" y="1033"/>
                </a:cubicBezTo>
                <a:cubicBezTo>
                  <a:pt x="621" y="1018"/>
                  <a:pt x="595" y="1007"/>
                  <a:pt x="576" y="988"/>
                </a:cubicBezTo>
                <a:cubicBezTo>
                  <a:pt x="561" y="973"/>
                  <a:pt x="551" y="950"/>
                  <a:pt x="531" y="943"/>
                </a:cubicBezTo>
                <a:cubicBezTo>
                  <a:pt x="500" y="932"/>
                  <a:pt x="515" y="940"/>
                  <a:pt x="486" y="920"/>
                </a:cubicBezTo>
                <a:cubicBezTo>
                  <a:pt x="459" y="880"/>
                  <a:pt x="412" y="867"/>
                  <a:pt x="381" y="831"/>
                </a:cubicBezTo>
                <a:cubicBezTo>
                  <a:pt x="360" y="806"/>
                  <a:pt x="375" y="808"/>
                  <a:pt x="344" y="793"/>
                </a:cubicBezTo>
                <a:cubicBezTo>
                  <a:pt x="297" y="770"/>
                  <a:pt x="213" y="775"/>
                  <a:pt x="164" y="771"/>
                </a:cubicBezTo>
                <a:cubicBezTo>
                  <a:pt x="139" y="762"/>
                  <a:pt x="119" y="756"/>
                  <a:pt x="97" y="741"/>
                </a:cubicBezTo>
                <a:cubicBezTo>
                  <a:pt x="76" y="709"/>
                  <a:pt x="65" y="682"/>
                  <a:pt x="45" y="651"/>
                </a:cubicBezTo>
                <a:cubicBezTo>
                  <a:pt x="31" y="434"/>
                  <a:pt x="0" y="219"/>
                  <a:pt x="0"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0" name="Line 172"/>
          <p:cNvSpPr>
            <a:spLocks noChangeShapeType="1"/>
          </p:cNvSpPr>
          <p:nvPr/>
        </p:nvSpPr>
        <p:spPr bwMode="auto">
          <a:xfrm>
            <a:off x="5402263" y="2498725"/>
            <a:ext cx="576262" cy="647700"/>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1" name="Text Box 130"/>
          <p:cNvSpPr txBox="1">
            <a:spLocks noChangeArrowheads="1"/>
          </p:cNvSpPr>
          <p:nvPr/>
        </p:nvSpPr>
        <p:spPr bwMode="auto">
          <a:xfrm>
            <a:off x="4400550" y="6469063"/>
            <a:ext cx="1422400" cy="461962"/>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pPr>
            <a:r>
              <a:rPr kumimoji="1" lang="zh-CN" altLang="en-US" sz="2400" b="1">
                <a:solidFill>
                  <a:srgbClr val="000000"/>
                </a:solidFill>
                <a:latin typeface="Times New Roman" pitchFamily="18" charset="0"/>
              </a:rPr>
              <a:t>线索链表</a:t>
            </a:r>
          </a:p>
        </p:txBody>
      </p:sp>
      <p:sp>
        <p:nvSpPr>
          <p:cNvPr id="42" name="Text Box 131"/>
          <p:cNvSpPr txBox="1">
            <a:spLocks noChangeArrowheads="1"/>
          </p:cNvSpPr>
          <p:nvPr/>
        </p:nvSpPr>
        <p:spPr bwMode="auto">
          <a:xfrm>
            <a:off x="6781800" y="1143000"/>
            <a:ext cx="2339975" cy="1812925"/>
          </a:xfrm>
          <a:prstGeom prst="rect">
            <a:avLst/>
          </a:prstGeom>
          <a:noFill/>
          <a:ln w="12700" cap="rnd" algn="ctr">
            <a:solidFill>
              <a:srgbClr val="006600"/>
            </a:solidFill>
            <a:miter lim="800000"/>
            <a:headEnd/>
            <a:tailEnd/>
          </a:ln>
        </p:spPr>
        <p:txBody>
          <a:bodyPr wrap="none">
            <a:spAutoFit/>
          </a:bodyPr>
          <a:lstStyle/>
          <a:p>
            <a:pPr eaLnBrk="0" fontAlgn="base" hangingPunct="0">
              <a:spcBef>
                <a:spcPct val="0"/>
              </a:spcBef>
              <a:spcAft>
                <a:spcPct val="0"/>
              </a:spcAft>
            </a:pPr>
            <a:r>
              <a:rPr kumimoji="1" lang="zh-CN" altLang="en-US" sz="2800" b="1">
                <a:solidFill>
                  <a:srgbClr val="0000FF"/>
                </a:solidFill>
                <a:latin typeface="Times New Roman" pitchFamily="18" charset="0"/>
              </a:rPr>
              <a:t>中序遍历的</a:t>
            </a:r>
          </a:p>
          <a:p>
            <a:pPr eaLnBrk="0" fontAlgn="base" hangingPunct="0">
              <a:spcBef>
                <a:spcPct val="0"/>
              </a:spcBef>
              <a:spcAft>
                <a:spcPct val="0"/>
              </a:spcAft>
            </a:pPr>
            <a:r>
              <a:rPr kumimoji="1" lang="zh-CN" altLang="en-US" sz="2800" b="1">
                <a:solidFill>
                  <a:srgbClr val="0000FF"/>
                </a:solidFill>
                <a:latin typeface="Times New Roman" pitchFamily="18" charset="0"/>
              </a:rPr>
              <a:t>第一个结点和</a:t>
            </a:r>
          </a:p>
          <a:p>
            <a:pPr eaLnBrk="0" fontAlgn="base" hangingPunct="0">
              <a:spcBef>
                <a:spcPct val="0"/>
              </a:spcBef>
              <a:spcAft>
                <a:spcPct val="0"/>
              </a:spcAft>
            </a:pPr>
            <a:r>
              <a:rPr kumimoji="1" lang="zh-CN" altLang="en-US" sz="2800" b="1">
                <a:solidFill>
                  <a:srgbClr val="0000FF"/>
                </a:solidFill>
                <a:latin typeface="Times New Roman" pitchFamily="18" charset="0"/>
              </a:rPr>
              <a:t>最后一个结点</a:t>
            </a:r>
          </a:p>
          <a:p>
            <a:pPr eaLnBrk="0" fontAlgn="base" hangingPunct="0">
              <a:spcBef>
                <a:spcPct val="0"/>
              </a:spcBef>
              <a:spcAft>
                <a:spcPct val="0"/>
              </a:spcAft>
            </a:pPr>
            <a:r>
              <a:rPr kumimoji="1" lang="zh-CN" altLang="en-US" sz="2800" b="1">
                <a:solidFill>
                  <a:srgbClr val="0000FF"/>
                </a:solidFill>
                <a:latin typeface="Times New Roman" pitchFamily="18" charset="0"/>
              </a:rPr>
              <a:t>都指向根结点</a:t>
            </a:r>
          </a:p>
        </p:txBody>
      </p:sp>
      <p:grpSp>
        <p:nvGrpSpPr>
          <p:cNvPr id="43" name="Group 132"/>
          <p:cNvGrpSpPr>
            <a:grpSpLocks/>
          </p:cNvGrpSpPr>
          <p:nvPr/>
        </p:nvGrpSpPr>
        <p:grpSpPr bwMode="auto">
          <a:xfrm>
            <a:off x="0" y="949325"/>
            <a:ext cx="3535363" cy="2517775"/>
            <a:chOff x="-55" y="922"/>
            <a:chExt cx="2544" cy="1788"/>
          </a:xfrm>
        </p:grpSpPr>
        <p:grpSp>
          <p:nvGrpSpPr>
            <p:cNvPr id="44" name="Group 7"/>
            <p:cNvGrpSpPr>
              <a:grpSpLocks/>
            </p:cNvGrpSpPr>
            <p:nvPr/>
          </p:nvGrpSpPr>
          <p:grpSpPr bwMode="auto">
            <a:xfrm>
              <a:off x="425" y="2255"/>
              <a:ext cx="576" cy="455"/>
              <a:chOff x="3840" y="2901"/>
              <a:chExt cx="576" cy="500"/>
            </a:xfrm>
          </p:grpSpPr>
          <p:sp>
            <p:nvSpPr>
              <p:cNvPr id="69" name="Oval 8"/>
              <p:cNvSpPr>
                <a:spLocks noChangeArrowheads="1"/>
              </p:cNvSpPr>
              <p:nvPr/>
            </p:nvSpPr>
            <p:spPr bwMode="auto">
              <a:xfrm>
                <a:off x="3960" y="2995"/>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0" name="Text Box 9"/>
              <p:cNvSpPr txBox="1">
                <a:spLocks noChangeArrowheads="1"/>
              </p:cNvSpPr>
              <p:nvPr/>
            </p:nvSpPr>
            <p:spPr bwMode="auto">
              <a:xfrm>
                <a:off x="3840" y="2901"/>
                <a:ext cx="576" cy="50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b</a:t>
                </a:r>
              </a:p>
            </p:txBody>
          </p:sp>
        </p:grpSp>
        <p:grpSp>
          <p:nvGrpSpPr>
            <p:cNvPr id="45" name="Group 13"/>
            <p:cNvGrpSpPr>
              <a:grpSpLocks/>
            </p:cNvGrpSpPr>
            <p:nvPr/>
          </p:nvGrpSpPr>
          <p:grpSpPr bwMode="auto">
            <a:xfrm>
              <a:off x="-55" y="1750"/>
              <a:ext cx="576" cy="456"/>
              <a:chOff x="3337" y="2856"/>
              <a:chExt cx="576" cy="477"/>
            </a:xfrm>
          </p:grpSpPr>
          <p:sp>
            <p:nvSpPr>
              <p:cNvPr id="67" name="Oval 14"/>
              <p:cNvSpPr>
                <a:spLocks noChangeArrowheads="1"/>
              </p:cNvSpPr>
              <p:nvPr/>
            </p:nvSpPr>
            <p:spPr bwMode="auto">
              <a:xfrm>
                <a:off x="3457" y="2971"/>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8" name="Text Box 15"/>
              <p:cNvSpPr txBox="1">
                <a:spLocks noChangeArrowheads="1"/>
              </p:cNvSpPr>
              <p:nvPr/>
            </p:nvSpPr>
            <p:spPr bwMode="auto">
              <a:xfrm>
                <a:off x="3337" y="2856"/>
                <a:ext cx="576" cy="47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a</a:t>
                </a:r>
              </a:p>
            </p:txBody>
          </p:sp>
        </p:grpSp>
        <p:grpSp>
          <p:nvGrpSpPr>
            <p:cNvPr id="46" name="Group 16"/>
            <p:cNvGrpSpPr>
              <a:grpSpLocks/>
            </p:cNvGrpSpPr>
            <p:nvPr/>
          </p:nvGrpSpPr>
          <p:grpSpPr bwMode="auto">
            <a:xfrm>
              <a:off x="377" y="1336"/>
              <a:ext cx="576" cy="456"/>
              <a:chOff x="2552" y="3101"/>
              <a:chExt cx="576" cy="476"/>
            </a:xfrm>
          </p:grpSpPr>
          <p:sp>
            <p:nvSpPr>
              <p:cNvPr id="65" name="Oval 17"/>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6" name="Text Box 18"/>
              <p:cNvSpPr txBox="1">
                <a:spLocks noChangeArrowheads="1"/>
              </p:cNvSpPr>
              <p:nvPr/>
            </p:nvSpPr>
            <p:spPr bwMode="auto">
              <a:xfrm>
                <a:off x="2552" y="3101"/>
                <a:ext cx="576" cy="47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e</a:t>
                </a:r>
              </a:p>
            </p:txBody>
          </p:sp>
        </p:grpSp>
        <p:grpSp>
          <p:nvGrpSpPr>
            <p:cNvPr id="47" name="Group 19"/>
            <p:cNvGrpSpPr>
              <a:grpSpLocks/>
            </p:cNvGrpSpPr>
            <p:nvPr/>
          </p:nvGrpSpPr>
          <p:grpSpPr bwMode="auto">
            <a:xfrm>
              <a:off x="809" y="1796"/>
              <a:ext cx="576" cy="456"/>
              <a:chOff x="2552" y="3101"/>
              <a:chExt cx="576" cy="477"/>
            </a:xfrm>
          </p:grpSpPr>
          <p:sp>
            <p:nvSpPr>
              <p:cNvPr id="63" name="Oval 20"/>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4" name="Text Box 21"/>
              <p:cNvSpPr txBox="1">
                <a:spLocks noChangeArrowheads="1"/>
              </p:cNvSpPr>
              <p:nvPr/>
            </p:nvSpPr>
            <p:spPr bwMode="auto">
              <a:xfrm>
                <a:off x="2552" y="3101"/>
                <a:ext cx="576" cy="47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f</a:t>
                </a:r>
              </a:p>
            </p:txBody>
          </p:sp>
        </p:grpSp>
        <p:grpSp>
          <p:nvGrpSpPr>
            <p:cNvPr id="48" name="Group 22"/>
            <p:cNvGrpSpPr>
              <a:grpSpLocks/>
            </p:cNvGrpSpPr>
            <p:nvPr/>
          </p:nvGrpSpPr>
          <p:grpSpPr bwMode="auto">
            <a:xfrm>
              <a:off x="1913" y="1359"/>
              <a:ext cx="576" cy="457"/>
              <a:chOff x="2552" y="3101"/>
              <a:chExt cx="576" cy="477"/>
            </a:xfrm>
          </p:grpSpPr>
          <p:sp>
            <p:nvSpPr>
              <p:cNvPr id="61" name="Oval 23"/>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2" name="Text Box 24"/>
              <p:cNvSpPr txBox="1">
                <a:spLocks noChangeArrowheads="1"/>
              </p:cNvSpPr>
              <p:nvPr/>
            </p:nvSpPr>
            <p:spPr bwMode="auto">
              <a:xfrm>
                <a:off x="2552" y="3101"/>
                <a:ext cx="576" cy="47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d</a:t>
                </a:r>
              </a:p>
            </p:txBody>
          </p:sp>
        </p:grpSp>
        <p:grpSp>
          <p:nvGrpSpPr>
            <p:cNvPr id="49" name="Group 25"/>
            <p:cNvGrpSpPr>
              <a:grpSpLocks/>
            </p:cNvGrpSpPr>
            <p:nvPr/>
          </p:nvGrpSpPr>
          <p:grpSpPr bwMode="auto">
            <a:xfrm>
              <a:off x="1289" y="2171"/>
              <a:ext cx="576" cy="456"/>
              <a:chOff x="2552" y="3101"/>
              <a:chExt cx="576" cy="476"/>
            </a:xfrm>
          </p:grpSpPr>
          <p:sp>
            <p:nvSpPr>
              <p:cNvPr id="59" name="Oval 26"/>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0" name="Text Box 27"/>
              <p:cNvSpPr txBox="1">
                <a:spLocks noChangeArrowheads="1"/>
              </p:cNvSpPr>
              <p:nvPr/>
            </p:nvSpPr>
            <p:spPr bwMode="auto">
              <a:xfrm>
                <a:off x="2552" y="3101"/>
                <a:ext cx="576" cy="47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c</a:t>
                </a:r>
              </a:p>
            </p:txBody>
          </p:sp>
        </p:grpSp>
        <p:grpSp>
          <p:nvGrpSpPr>
            <p:cNvPr id="50" name="Group 28"/>
            <p:cNvGrpSpPr>
              <a:grpSpLocks/>
            </p:cNvGrpSpPr>
            <p:nvPr/>
          </p:nvGrpSpPr>
          <p:grpSpPr bwMode="auto">
            <a:xfrm>
              <a:off x="1193" y="922"/>
              <a:ext cx="576" cy="456"/>
              <a:chOff x="2552" y="3101"/>
              <a:chExt cx="576" cy="476"/>
            </a:xfrm>
          </p:grpSpPr>
          <p:sp>
            <p:nvSpPr>
              <p:cNvPr id="57" name="Oval 29"/>
              <p:cNvSpPr>
                <a:spLocks noChangeArrowheads="1"/>
              </p:cNvSpPr>
              <p:nvPr/>
            </p:nvSpPr>
            <p:spPr bwMode="auto">
              <a:xfrm>
                <a:off x="2661" y="3187"/>
                <a:ext cx="272" cy="272"/>
              </a:xfrm>
              <a:prstGeom prst="ellipse">
                <a:avLst/>
              </a:prstGeom>
              <a:solidFill>
                <a:srgbClr val="FFFFCC"/>
              </a:solidFill>
              <a:ln w="12700" cap="rnd">
                <a:solidFill>
                  <a:srgbClr val="FFFFCC"/>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8" name="Text Box 30"/>
              <p:cNvSpPr txBox="1">
                <a:spLocks noChangeArrowheads="1"/>
              </p:cNvSpPr>
              <p:nvPr/>
            </p:nvSpPr>
            <p:spPr bwMode="auto">
              <a:xfrm>
                <a:off x="2552" y="3101"/>
                <a:ext cx="576" cy="476"/>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0" lang="en-US" altLang="zh-CN" sz="3600" b="1" i="0" u="none" strike="noStrike" kern="0" cap="none" spc="0" normalizeH="0" baseline="0" noProof="0">
                    <a:ln>
                      <a:noFill/>
                    </a:ln>
                    <a:solidFill>
                      <a:srgbClr val="0000FF"/>
                    </a:solidFill>
                    <a:effectLst/>
                    <a:uLnTx/>
                    <a:uFillTx/>
                    <a:latin typeface="黑体" pitchFamily="2" charset="-122"/>
                    <a:ea typeface="黑体" pitchFamily="2" charset="-122"/>
                  </a:rPr>
                  <a:t>g</a:t>
                </a:r>
              </a:p>
            </p:txBody>
          </p:sp>
        </p:grpSp>
        <p:sp>
          <p:nvSpPr>
            <p:cNvPr id="51" name="Line 31"/>
            <p:cNvSpPr>
              <a:spLocks noChangeShapeType="1"/>
            </p:cNvSpPr>
            <p:nvPr/>
          </p:nvSpPr>
          <p:spPr bwMode="auto">
            <a:xfrm flipH="1">
              <a:off x="761" y="1211"/>
              <a:ext cx="528" cy="321"/>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2" name="Line 32"/>
            <p:cNvSpPr>
              <a:spLocks noChangeShapeType="1"/>
            </p:cNvSpPr>
            <p:nvPr/>
          </p:nvSpPr>
          <p:spPr bwMode="auto">
            <a:xfrm>
              <a:off x="1577" y="1211"/>
              <a:ext cx="480" cy="275"/>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3" name="Line 33"/>
            <p:cNvSpPr>
              <a:spLocks noChangeShapeType="1"/>
            </p:cNvSpPr>
            <p:nvPr/>
          </p:nvSpPr>
          <p:spPr bwMode="auto">
            <a:xfrm flipH="1">
              <a:off x="713" y="2129"/>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4" name="Line 34"/>
            <p:cNvSpPr>
              <a:spLocks noChangeShapeType="1"/>
            </p:cNvSpPr>
            <p:nvPr/>
          </p:nvSpPr>
          <p:spPr bwMode="auto">
            <a:xfrm>
              <a:off x="761" y="1670"/>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5" name="Line 35"/>
            <p:cNvSpPr>
              <a:spLocks noChangeShapeType="1"/>
            </p:cNvSpPr>
            <p:nvPr/>
          </p:nvSpPr>
          <p:spPr bwMode="auto">
            <a:xfrm flipH="1">
              <a:off x="281" y="1670"/>
              <a:ext cx="240"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6" name="Line 36"/>
            <p:cNvSpPr>
              <a:spLocks noChangeShapeType="1"/>
            </p:cNvSpPr>
            <p:nvPr/>
          </p:nvSpPr>
          <p:spPr bwMode="auto">
            <a:xfrm>
              <a:off x="1193" y="2129"/>
              <a:ext cx="236" cy="230"/>
            </a:xfrm>
            <a:prstGeom prst="line">
              <a:avLst/>
            </a:prstGeom>
            <a:noFill/>
            <a:ln w="381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71" name="Line 160"/>
          <p:cNvSpPr>
            <a:spLocks noChangeShapeType="1"/>
          </p:cNvSpPr>
          <p:nvPr/>
        </p:nvSpPr>
        <p:spPr bwMode="auto">
          <a:xfrm>
            <a:off x="5457825" y="1741488"/>
            <a:ext cx="863600" cy="1366837"/>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2" name="Freeform 161"/>
          <p:cNvSpPr>
            <a:spLocks/>
          </p:cNvSpPr>
          <p:nvPr/>
        </p:nvSpPr>
        <p:spPr bwMode="auto">
          <a:xfrm>
            <a:off x="1857375" y="1393825"/>
            <a:ext cx="2447925" cy="4187825"/>
          </a:xfrm>
          <a:custGeom>
            <a:avLst/>
            <a:gdLst>
              <a:gd name="T0" fmla="*/ 2147483647 w 1542"/>
              <a:gd name="T1" fmla="*/ 2147483647 h 2638"/>
              <a:gd name="T2" fmla="*/ 2147483647 w 1542"/>
              <a:gd name="T3" fmla="*/ 2147483647 h 2638"/>
              <a:gd name="T4" fmla="*/ 2147483647 w 1542"/>
              <a:gd name="T5" fmla="*/ 2147483647 h 2638"/>
              <a:gd name="T6" fmla="*/ 2147483647 w 1542"/>
              <a:gd name="T7" fmla="*/ 2147483647 h 2638"/>
              <a:gd name="T8" fmla="*/ 2147483647 w 1542"/>
              <a:gd name="T9" fmla="*/ 2147483647 h 2638"/>
              <a:gd name="T10" fmla="*/ 0 60000 65536"/>
              <a:gd name="T11" fmla="*/ 0 60000 65536"/>
              <a:gd name="T12" fmla="*/ 0 60000 65536"/>
              <a:gd name="T13" fmla="*/ 0 60000 65536"/>
              <a:gd name="T14" fmla="*/ 0 60000 65536"/>
              <a:gd name="T15" fmla="*/ 0 w 1542"/>
              <a:gd name="T16" fmla="*/ 0 h 2638"/>
              <a:gd name="T17" fmla="*/ 1542 w 1542"/>
              <a:gd name="T18" fmla="*/ 2638 h 2638"/>
            </a:gdLst>
            <a:ahLst/>
            <a:cxnLst>
              <a:cxn ang="T10">
                <a:pos x="T0" y="T1"/>
              </a:cxn>
              <a:cxn ang="T11">
                <a:pos x="T2" y="T3"/>
              </a:cxn>
              <a:cxn ang="T12">
                <a:pos x="T4" y="T5"/>
              </a:cxn>
              <a:cxn ang="T13">
                <a:pos x="T6" y="T7"/>
              </a:cxn>
              <a:cxn ang="T14">
                <a:pos x="T8" y="T9"/>
              </a:cxn>
            </a:cxnLst>
            <a:rect l="T15" t="T16" r="T17" b="T18"/>
            <a:pathLst>
              <a:path w="1542" h="2638">
                <a:moveTo>
                  <a:pt x="499" y="2078"/>
                </a:moveTo>
                <a:cubicBezTo>
                  <a:pt x="483" y="2195"/>
                  <a:pt x="468" y="2313"/>
                  <a:pt x="408" y="2351"/>
                </a:cubicBezTo>
                <a:cubicBezTo>
                  <a:pt x="348" y="2389"/>
                  <a:pt x="0" y="2638"/>
                  <a:pt x="136" y="2305"/>
                </a:cubicBezTo>
                <a:cubicBezTo>
                  <a:pt x="272" y="1972"/>
                  <a:pt x="990" y="710"/>
                  <a:pt x="1224" y="355"/>
                </a:cubicBezTo>
                <a:cubicBezTo>
                  <a:pt x="1458" y="0"/>
                  <a:pt x="1500" y="86"/>
                  <a:pt x="1542" y="173"/>
                </a:cubicBezTo>
              </a:path>
            </a:pathLst>
          </a:custGeom>
          <a:noFill/>
          <a:ln w="28575">
            <a:solidFill>
              <a:srgbClr val="F81908"/>
            </a:solidFill>
            <a:prstDash val="lgDash"/>
            <a:round/>
            <a:headEnd/>
            <a:tailEnd type="arrow" w="med" len="med"/>
          </a:ln>
        </p:spPr>
        <p:txBody>
          <a:bodyPr>
            <a:spAutoFit/>
          </a:bodyPr>
          <a:lstStyle/>
          <a:p>
            <a:pPr algn="ctr" eaLnBrk="0" fontAlgn="base" hangingPunct="0">
              <a:spcBef>
                <a:spcPct val="0"/>
              </a:spcBef>
              <a:spcAft>
                <a:spcPct val="0"/>
              </a:spcAft>
            </a:pPr>
            <a:endParaRPr kumimoji="1" lang="zh-CN" altLang="en-US" sz="2800">
              <a:solidFill>
                <a:srgbClr val="000000"/>
              </a:solidFill>
              <a:latin typeface="Times New Roman" pitchFamily="18" charset="0"/>
            </a:endParaRPr>
          </a:p>
        </p:txBody>
      </p:sp>
      <p:sp>
        <p:nvSpPr>
          <p:cNvPr id="73" name="Freeform 162"/>
          <p:cNvSpPr>
            <a:spLocks/>
          </p:cNvSpPr>
          <p:nvPr/>
        </p:nvSpPr>
        <p:spPr bwMode="auto">
          <a:xfrm>
            <a:off x="5457825" y="1597025"/>
            <a:ext cx="1619250" cy="2111375"/>
          </a:xfrm>
          <a:custGeom>
            <a:avLst/>
            <a:gdLst>
              <a:gd name="T0" fmla="*/ 2147483647 w 1020"/>
              <a:gd name="T1" fmla="*/ 2147483647 h 1330"/>
              <a:gd name="T2" fmla="*/ 2147483647 w 1020"/>
              <a:gd name="T3" fmla="*/ 2147483647 h 1330"/>
              <a:gd name="T4" fmla="*/ 0 w 1020"/>
              <a:gd name="T5" fmla="*/ 0 h 1330"/>
              <a:gd name="T6" fmla="*/ 0 60000 65536"/>
              <a:gd name="T7" fmla="*/ 0 60000 65536"/>
              <a:gd name="T8" fmla="*/ 0 60000 65536"/>
              <a:gd name="T9" fmla="*/ 0 w 1020"/>
              <a:gd name="T10" fmla="*/ 0 h 1330"/>
              <a:gd name="T11" fmla="*/ 1020 w 1020"/>
              <a:gd name="T12" fmla="*/ 1330 h 1330"/>
            </a:gdLst>
            <a:ahLst/>
            <a:cxnLst>
              <a:cxn ang="T6">
                <a:pos x="T0" y="T1"/>
              </a:cxn>
              <a:cxn ang="T7">
                <a:pos x="T2" y="T3"/>
              </a:cxn>
              <a:cxn ang="T8">
                <a:pos x="T4" y="T5"/>
              </a:cxn>
            </a:cxnLst>
            <a:rect l="T9" t="T10" r="T11" b="T12"/>
            <a:pathLst>
              <a:path w="1020" h="1330">
                <a:moveTo>
                  <a:pt x="680" y="1179"/>
                </a:moveTo>
                <a:cubicBezTo>
                  <a:pt x="850" y="1254"/>
                  <a:pt x="1020" y="1330"/>
                  <a:pt x="907" y="1134"/>
                </a:cubicBezTo>
                <a:cubicBezTo>
                  <a:pt x="794" y="938"/>
                  <a:pt x="397" y="469"/>
                  <a:pt x="0" y="0"/>
                </a:cubicBezTo>
              </a:path>
            </a:pathLst>
          </a:custGeom>
          <a:noFill/>
          <a:ln w="28575">
            <a:solidFill>
              <a:srgbClr val="F81908"/>
            </a:solidFill>
            <a:prstDash val="lgDash"/>
            <a:round/>
            <a:headEnd/>
            <a:tailEnd type="arrow" w="med" len="med"/>
          </a:ln>
        </p:spPr>
        <p:txBody>
          <a:bodyPr>
            <a:spAutoFit/>
          </a:bodyPr>
          <a:lstStyle/>
          <a:p>
            <a:pPr algn="ctr" eaLnBrk="0" fontAlgn="base" hangingPunct="0">
              <a:spcBef>
                <a:spcPct val="0"/>
              </a:spcBef>
              <a:spcAft>
                <a:spcPct val="0"/>
              </a:spcAft>
            </a:pPr>
            <a:endParaRPr kumimoji="1" lang="zh-CN" altLang="en-US" sz="2800">
              <a:solidFill>
                <a:srgbClr val="000000"/>
              </a:solidFill>
              <a:latin typeface="Times New Roman" pitchFamily="18" charset="0"/>
            </a:endParaRPr>
          </a:p>
        </p:txBody>
      </p:sp>
      <p:sp>
        <p:nvSpPr>
          <p:cNvPr id="74" name="Text Box 163"/>
          <p:cNvSpPr txBox="1">
            <a:spLocks noChangeArrowheads="1"/>
          </p:cNvSpPr>
          <p:nvPr/>
        </p:nvSpPr>
        <p:spPr bwMode="auto">
          <a:xfrm>
            <a:off x="0" y="6326188"/>
            <a:ext cx="2660650" cy="531812"/>
          </a:xfrm>
          <a:prstGeom prst="rect">
            <a:avLst/>
          </a:prstGeom>
          <a:solidFill>
            <a:srgbClr val="CCFFFF"/>
          </a:solidFill>
          <a:ln w="12700" cap="rnd" algn="ctr">
            <a:solidFill>
              <a:srgbClr val="99FFCC"/>
            </a:solidFill>
            <a:miter lim="800000"/>
            <a:headEnd/>
            <a:tailEnd/>
          </a:ln>
        </p:spPr>
        <p:txBody>
          <a:bodyPr wrap="none">
            <a:spAutoFit/>
          </a:bodyPr>
          <a:lstStyle/>
          <a:p>
            <a:pPr algn="ctr" eaLnBrk="0" fontAlgn="base" hangingPunct="0">
              <a:spcBef>
                <a:spcPct val="0"/>
              </a:spcBef>
              <a:spcAft>
                <a:spcPct val="0"/>
              </a:spcAft>
            </a:pPr>
            <a:r>
              <a:rPr kumimoji="1" lang="zh-CN" altLang="en-US" sz="2800" b="1">
                <a:solidFill>
                  <a:srgbClr val="000000"/>
                </a:solidFill>
                <a:latin typeface="Times New Roman" pitchFamily="18" charset="0"/>
              </a:rPr>
              <a:t>中序 </a:t>
            </a:r>
            <a:r>
              <a:rPr kumimoji="1" lang="en-US" altLang="zh-CN" sz="2800" b="1">
                <a:solidFill>
                  <a:srgbClr val="000000"/>
                </a:solidFill>
                <a:latin typeface="Times New Roman" pitchFamily="18" charset="0"/>
              </a:rPr>
              <a:t>a,e,b,f,c,t,d</a:t>
            </a:r>
          </a:p>
        </p:txBody>
      </p:sp>
    </p:spTree>
    <p:extLst>
      <p:ext uri="{BB962C8B-B14F-4D97-AF65-F5344CB8AC3E}">
        <p14:creationId xmlns:p14="http://schemas.microsoft.com/office/powerpoint/2010/main" val="335483636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遍历中序线索二叉树的递归算法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5BE2F0D8-A6CE-4DCA-B338-89B3370BD31C}"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101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3"/>
          <p:cNvSpPr txBox="1">
            <a:spLocks noChangeArrowheads="1"/>
          </p:cNvSpPr>
          <p:nvPr/>
        </p:nvSpPr>
        <p:spPr bwMode="auto">
          <a:xfrm>
            <a:off x="836613" y="1598613"/>
            <a:ext cx="7850187" cy="5030787"/>
          </a:xfrm>
          <a:prstGeom prst="rect">
            <a:avLst/>
          </a:prstGeom>
          <a:noFill/>
          <a:ln w="9525">
            <a:solidFill>
              <a:srgbClr val="04617B"/>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dirty="0" err="1">
                <a:ln>
                  <a:noFill/>
                </a:ln>
                <a:solidFill>
                  <a:srgbClr val="0000FF"/>
                </a:solidFill>
                <a:effectLst/>
                <a:uLnTx/>
                <a:uFillTx/>
                <a:latin typeface="Times New Roman" pitchFamily="18" charset="0"/>
                <a:ea typeface="宋体"/>
              </a:rPr>
              <a:t>TraverseInthread</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a:t>
            </a:r>
            <a:r>
              <a:rPr kumimoji="0" lang="en-US" altLang="zh-CN" sz="2400" b="1" i="0" u="none" strike="noStrike" kern="0" cap="none" spc="0" normalizeH="0" baseline="0" noProof="0" dirty="0" err="1">
                <a:ln>
                  <a:noFill/>
                </a:ln>
                <a:solidFill>
                  <a:srgbClr val="0000FF"/>
                </a:solidFill>
                <a:effectLst/>
                <a:uLnTx/>
                <a:uFillTx/>
                <a:latin typeface="Times New Roman" pitchFamily="18" charset="0"/>
                <a:ea typeface="宋体"/>
              </a:rPr>
              <a:t>threadbithptr</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 *p)</a:t>
            </a: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{if (p!=Null)</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a:rPr>
              <a:t>  </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while (p-&gt;</a:t>
            </a:r>
            <a:r>
              <a:rPr kumimoji="0" lang="en-US" altLang="zh-CN" sz="2400" b="1" i="0" u="none" strike="noStrike" kern="0" cap="none" spc="0" normalizeH="0" baseline="0" noProof="0" dirty="0" err="1">
                <a:ln>
                  <a:noFill/>
                </a:ln>
                <a:solidFill>
                  <a:srgbClr val="0000FF"/>
                </a:solidFill>
                <a:effectLst/>
                <a:uLnTx/>
                <a:uFillTx/>
                <a:latin typeface="Times New Roman" pitchFamily="18" charset="0"/>
                <a:ea typeface="宋体"/>
              </a:rPr>
              <a:t>ltag</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==0)</a:t>
            </a:r>
            <a:r>
              <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a:rPr>
              <a:t>//</a:t>
            </a: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a:rPr>
              <a:t>找中序序列的开始结点</a:t>
            </a:r>
            <a:endPar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a:endParaRP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FF3300"/>
                </a:solidFill>
                <a:effectLst/>
                <a:uLnTx/>
                <a:uFillTx/>
                <a:latin typeface="Times New Roman" pitchFamily="18" charset="0"/>
                <a:ea typeface="宋体"/>
              </a:rPr>
              <a:t>     p=p-&gt;</a:t>
            </a:r>
            <a:r>
              <a:rPr kumimoji="0" lang="en-US" altLang="zh-CN" sz="2400" b="1" i="0" u="none" strike="noStrike" kern="0" cap="none" spc="0" normalizeH="0" baseline="0" noProof="0" dirty="0" err="1">
                <a:ln>
                  <a:noFill/>
                </a:ln>
                <a:solidFill>
                  <a:srgbClr val="FF3300"/>
                </a:solidFill>
                <a:effectLst/>
                <a:uLnTx/>
                <a:uFillTx/>
                <a:latin typeface="Times New Roman" pitchFamily="18" charset="0"/>
                <a:ea typeface="宋体"/>
              </a:rPr>
              <a:t>lch</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do</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a:rPr>
              <a:t>  </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    </a:t>
            </a:r>
            <a:r>
              <a:rPr kumimoji="0" lang="en-US" altLang="zh-CN" sz="2400" b="1" i="0" u="none" strike="noStrike" kern="0" cap="none" spc="0" normalizeH="0" baseline="0" noProof="0" dirty="0">
                <a:ln>
                  <a:noFill/>
                </a:ln>
                <a:solidFill>
                  <a:srgbClr val="FF3300"/>
                </a:solidFill>
                <a:effectLst/>
                <a:uLnTx/>
                <a:uFillTx/>
                <a:latin typeface="Times New Roman" pitchFamily="18" charset="0"/>
                <a:ea typeface="宋体"/>
              </a:rPr>
              <a:t>visit(p-&gt;data)</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     </a:t>
            </a:r>
            <a:r>
              <a:rPr kumimoji="0" lang="en-US" altLang="zh-CN" sz="2400" b="1" i="0" u="none" strike="noStrike" kern="0" cap="none" spc="0" normalizeH="0" baseline="0" noProof="0" dirty="0">
                <a:ln>
                  <a:noFill/>
                </a:ln>
                <a:solidFill>
                  <a:srgbClr val="FF3300"/>
                </a:solidFill>
                <a:effectLst/>
                <a:uLnTx/>
                <a:uFillTx/>
                <a:latin typeface="Times New Roman" pitchFamily="18" charset="0"/>
                <a:ea typeface="宋体"/>
              </a:rPr>
              <a:t>p=</a:t>
            </a:r>
            <a:r>
              <a:rPr kumimoji="0" lang="en-US" altLang="zh-CN" sz="2400" b="1" i="0" u="none" strike="noStrike" kern="0" cap="none" spc="0" normalizeH="0" baseline="0" noProof="0" dirty="0" err="1">
                <a:ln>
                  <a:noFill/>
                </a:ln>
                <a:solidFill>
                  <a:srgbClr val="FF3300"/>
                </a:solidFill>
                <a:effectLst/>
                <a:uLnTx/>
                <a:uFillTx/>
                <a:latin typeface="Times New Roman" pitchFamily="18" charset="0"/>
                <a:ea typeface="宋体"/>
              </a:rPr>
              <a:t>Inordernext</a:t>
            </a:r>
            <a:r>
              <a:rPr kumimoji="0" lang="en-US" altLang="zh-CN" sz="2400" b="1" i="0" u="none" strike="noStrike" kern="0" cap="none" spc="0" normalizeH="0" baseline="0" noProof="0" dirty="0">
                <a:ln>
                  <a:noFill/>
                </a:ln>
                <a:solidFill>
                  <a:srgbClr val="FF3300"/>
                </a:solidFill>
                <a:effectLst/>
                <a:uLnTx/>
                <a:uFillTx/>
                <a:latin typeface="Times New Roman" pitchFamily="18" charset="0"/>
                <a:ea typeface="宋体"/>
              </a:rPr>
              <a:t>(p);//</a:t>
            </a: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a:rPr>
              <a:t>找*</a:t>
            </a:r>
            <a:r>
              <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a:rPr>
              <a:t>p</a:t>
            </a: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a:rPr>
              <a:t>的中序后继结点</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a:rPr>
              <a:t>   </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 while (p!=Null);</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a:t>
            </a: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a:rPr>
              <a:t>}</a:t>
            </a:r>
          </a:p>
        </p:txBody>
      </p:sp>
    </p:spTree>
    <p:extLst>
      <p:ext uri="{BB962C8B-B14F-4D97-AF65-F5344CB8AC3E}">
        <p14:creationId xmlns:p14="http://schemas.microsoft.com/office/powerpoint/2010/main" val="456567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遍历中序线索二叉树的非递归算法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89182108-5E84-40D2-A7F5-B6E84A7178D4}"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102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3"/>
          <p:cNvSpPr txBox="1">
            <a:spLocks noChangeArrowheads="1"/>
          </p:cNvSpPr>
          <p:nvPr/>
        </p:nvSpPr>
        <p:spPr bwMode="auto">
          <a:xfrm>
            <a:off x="152400" y="1660525"/>
            <a:ext cx="8866188" cy="5121275"/>
          </a:xfrm>
          <a:prstGeom prst="rect">
            <a:avLst/>
          </a:prstGeom>
          <a:noFill/>
          <a:ln w="9525">
            <a:solidFill>
              <a:srgbClr val="04617B"/>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Status </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a:rPr>
              <a:t>InthreadTraverse</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a:rPr>
              <a:t>BiThrTree</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T</a:t>
            </a:r>
            <a:r>
              <a:rPr kumimoji="0" lang="zh-CN" altLang="en-US" sz="2000" b="1" i="0" u="none" strike="noStrike" kern="0" cap="none" spc="0" normalizeH="0" baseline="0" noProof="0" dirty="0">
                <a:ln>
                  <a:noFill/>
                </a:ln>
                <a:solidFill>
                  <a:srgbClr val="0000FF"/>
                </a:solidFill>
                <a:effectLst/>
                <a:uLnTx/>
                <a:uFillTx/>
                <a:latin typeface="Times New Roman" pitchFamily="18" charset="0"/>
                <a:ea typeface="宋体"/>
              </a:rPr>
              <a:t>，</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Status(*visit)){</a:t>
            </a: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中序遍历线索二叉树</a:t>
            </a: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T</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的非递归算法</a:t>
            </a: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T</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指向线索二叉树的头结点，头结点的</a:t>
            </a:r>
            <a:r>
              <a:rPr kumimoji="0" lang="en-US" altLang="zh-CN" sz="2000" b="1" i="0" u="none" strike="noStrike" kern="0" cap="none" spc="0" normalizeH="0" baseline="0" noProof="0" dirty="0" err="1">
                <a:ln>
                  <a:noFill/>
                </a:ln>
                <a:solidFill>
                  <a:srgbClr val="000000"/>
                </a:solidFill>
                <a:effectLst/>
                <a:uLnTx/>
                <a:uFillTx/>
                <a:latin typeface="Times New Roman" pitchFamily="18" charset="0"/>
                <a:ea typeface="宋体"/>
              </a:rPr>
              <a:t>lch</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指向根结点，中序的最后一个结点指向根结点。每次判定结点的</a:t>
            </a:r>
            <a:r>
              <a:rPr kumimoji="0" lang="en-US" altLang="zh-CN" sz="2000" b="1" i="0" u="none" strike="noStrike" kern="0" cap="none" spc="0" normalizeH="0" baseline="0" noProof="0" dirty="0" err="1">
                <a:ln>
                  <a:noFill/>
                </a:ln>
                <a:solidFill>
                  <a:srgbClr val="000000"/>
                </a:solidFill>
                <a:effectLst/>
                <a:uLnTx/>
                <a:uFillTx/>
                <a:latin typeface="Times New Roman" pitchFamily="18" charset="0"/>
                <a:ea typeface="宋体"/>
              </a:rPr>
              <a:t>ltag</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和</a:t>
            </a:r>
            <a:r>
              <a:rPr kumimoji="0" lang="en-US" altLang="zh-CN" sz="2000" b="1" i="0" u="none" strike="noStrike" kern="0" cap="none" spc="0" normalizeH="0" baseline="0" noProof="0" dirty="0" err="1">
                <a:ln>
                  <a:noFill/>
                </a:ln>
                <a:solidFill>
                  <a:srgbClr val="000000"/>
                </a:solidFill>
                <a:effectLst/>
                <a:uLnTx/>
                <a:uFillTx/>
                <a:latin typeface="Times New Roman" pitchFamily="18" charset="0"/>
                <a:ea typeface="宋体"/>
              </a:rPr>
              <a:t>rtag</a:t>
            </a:r>
            <a:endPar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endParaRP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p=T-&gt;</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a:rPr>
              <a:t>lch</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a:t>
            </a: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//p</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指向二叉树真正的根结点</a:t>
            </a:r>
            <a:endPar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endParaRP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while(p!=T</a:t>
            </a:r>
            <a:r>
              <a:rPr kumimoji="0" lang="en-US" altLang="zh-CN" sz="2000" b="1" i="0" u="none" strike="noStrike" kern="0" cap="none" spc="0" normalizeH="0" baseline="0" noProof="0" dirty="0">
                <a:ln>
                  <a:noFill/>
                </a:ln>
                <a:solidFill>
                  <a:srgbClr val="002060"/>
                </a:solidFill>
                <a:effectLst/>
                <a:uLnTx/>
                <a:uFillTx/>
                <a:latin typeface="Times New Roman" pitchFamily="18" charset="0"/>
                <a:ea typeface="宋体"/>
              </a:rPr>
              <a:t>){                                  //</a:t>
            </a:r>
            <a:r>
              <a:rPr kumimoji="0" lang="zh-CN" altLang="en-US" sz="2000" b="1" i="0" u="none" strike="noStrike" kern="0" cap="none" spc="0" normalizeH="0" baseline="0" noProof="0" dirty="0">
                <a:ln>
                  <a:noFill/>
                </a:ln>
                <a:solidFill>
                  <a:srgbClr val="002060"/>
                </a:solidFill>
                <a:effectLst/>
                <a:uLnTx/>
                <a:uFillTx/>
                <a:latin typeface="Times New Roman" pitchFamily="18" charset="0"/>
                <a:ea typeface="宋体"/>
              </a:rPr>
              <a:t>空树或遍历结束时，</a:t>
            </a:r>
            <a:r>
              <a:rPr kumimoji="0" lang="en-US" altLang="zh-CN" sz="2000" b="1" i="0" u="none" strike="noStrike" kern="0" cap="none" spc="0" normalizeH="0" baseline="0" noProof="0" dirty="0">
                <a:ln>
                  <a:noFill/>
                </a:ln>
                <a:solidFill>
                  <a:srgbClr val="002060"/>
                </a:solidFill>
                <a:effectLst/>
                <a:uLnTx/>
                <a:uFillTx/>
                <a:latin typeface="Times New Roman" pitchFamily="18" charset="0"/>
                <a:ea typeface="宋体"/>
              </a:rPr>
              <a:t>p=T                              </a:t>
            </a:r>
            <a:endParaRPr kumimoji="0" lang="zh-CN" altLang="en-US" sz="2000" b="1" i="0" u="none" strike="noStrike" kern="0" cap="none" spc="0" normalizeH="0" baseline="0" noProof="0" dirty="0">
              <a:ln>
                <a:noFill/>
              </a:ln>
              <a:solidFill>
                <a:srgbClr val="002060"/>
              </a:solidFill>
              <a:effectLst/>
              <a:uLnTx/>
              <a:uFillTx/>
              <a:latin typeface="Times New Roman" pitchFamily="18" charset="0"/>
              <a:ea typeface="宋体"/>
            </a:endParaRP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endPar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endParaRP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endPar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endParaRP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endPar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endParaRP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endPar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endParaRP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endPar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endParaRP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                                                          // </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重复以上过程，直到有线索指向根为止</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   </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return(ok);</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a:t>
            </a:r>
          </a:p>
        </p:txBody>
      </p:sp>
    </p:spTree>
    <p:extLst>
      <p:ext uri="{BB962C8B-B14F-4D97-AF65-F5344CB8AC3E}">
        <p14:creationId xmlns:p14="http://schemas.microsoft.com/office/powerpoint/2010/main" val="80616094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620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228600" y="1143000"/>
            <a:ext cx="8229600" cy="5105400"/>
          </a:xfrm>
        </p:spPr>
        <p:txBody>
          <a:bodyPr>
            <a:normAutofit/>
          </a:bodyPr>
          <a:lstStyle/>
          <a:p>
            <a:pPr>
              <a:lnSpc>
                <a:spcPts val="3600"/>
              </a:lnSpc>
            </a:pPr>
            <a:r>
              <a:rPr lang="zh-CN" altLang="en-US" sz="2400" b="1" dirty="0">
                <a:solidFill>
                  <a:srgbClr val="FF0000"/>
                </a:solidFill>
              </a:rPr>
              <a:t>遍历中序线索</a:t>
            </a:r>
            <a:endParaRPr lang="en-US" altLang="zh-CN" sz="2400" b="1" dirty="0">
              <a:solidFill>
                <a:srgbClr val="FF0000"/>
              </a:solidFill>
            </a:endParaRPr>
          </a:p>
          <a:p>
            <a:pPr marL="0" indent="0">
              <a:lnSpc>
                <a:spcPts val="3600"/>
              </a:lnSpc>
              <a:buNone/>
            </a:pPr>
            <a:r>
              <a:rPr lang="zh-CN" altLang="en-US" sz="2400" b="1" dirty="0">
                <a:solidFill>
                  <a:srgbClr val="FF0000"/>
                </a:solidFill>
              </a:rPr>
              <a:t>二叉树的非递归算法</a:t>
            </a:r>
          </a:p>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0288F42C-CD4B-4416-9E37-A7C65DCC79F7}"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103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aphicFrame>
        <p:nvGraphicFramePr>
          <p:cNvPr id="13" name="Group 48"/>
          <p:cNvGraphicFramePr>
            <a:graphicFrameLocks noGrp="1"/>
          </p:cNvGraphicFramePr>
          <p:nvPr>
            <p:extLst>
              <p:ext uri="{D42A27DB-BD31-4B8C-83A1-F6EECF244321}">
                <p14:modId xmlns:p14="http://schemas.microsoft.com/office/powerpoint/2010/main" val="1411140283"/>
              </p:ext>
            </p:extLst>
          </p:nvPr>
        </p:nvGraphicFramePr>
        <p:xfrm>
          <a:off x="4073525" y="1417638"/>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304800">
                  <a:extLst>
                    <a:ext uri="{9D8B030D-6E8A-4147-A177-3AD203B41FA5}">
                      <a16:colId xmlns:a16="http://schemas.microsoft.com/office/drawing/2014/main" val="20001"/>
                    </a:ext>
                  </a:extLst>
                </a:gridCol>
                <a:gridCol w="238125">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43180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14" name="Group 16"/>
          <p:cNvGraphicFramePr>
            <a:graphicFrameLocks noGrp="1"/>
          </p:cNvGraphicFramePr>
          <p:nvPr>
            <p:extLst>
              <p:ext uri="{D42A27DB-BD31-4B8C-83A1-F6EECF244321}">
                <p14:modId xmlns:p14="http://schemas.microsoft.com/office/powerpoint/2010/main" val="4186760837"/>
              </p:ext>
            </p:extLst>
          </p:nvPr>
        </p:nvGraphicFramePr>
        <p:xfrm>
          <a:off x="4073525" y="2138363"/>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271462">
                  <a:extLst>
                    <a:ext uri="{9D8B030D-6E8A-4147-A177-3AD203B41FA5}">
                      <a16:colId xmlns:a16="http://schemas.microsoft.com/office/drawing/2014/main" val="20001"/>
                    </a:ext>
                  </a:extLst>
                </a:gridCol>
                <a:gridCol w="271463">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43180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15" name="Line 44"/>
          <p:cNvSpPr>
            <a:spLocks noChangeShapeType="1"/>
          </p:cNvSpPr>
          <p:nvPr/>
        </p:nvSpPr>
        <p:spPr bwMode="auto">
          <a:xfrm>
            <a:off x="4217987" y="1706563"/>
            <a:ext cx="215900" cy="431800"/>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6" name="Rectangle 45"/>
          <p:cNvSpPr>
            <a:spLocks noChangeArrowheads="1"/>
          </p:cNvSpPr>
          <p:nvPr/>
        </p:nvSpPr>
        <p:spPr bwMode="auto">
          <a:xfrm>
            <a:off x="3957637" y="841375"/>
            <a:ext cx="390525" cy="461963"/>
          </a:xfrm>
          <a:prstGeom prst="rect">
            <a:avLst/>
          </a:prstGeom>
          <a:noFill/>
          <a:ln w="12700" cap="rnd" algn="ctr">
            <a:noFill/>
            <a:miter lim="800000"/>
            <a:headEnd/>
            <a:tailEnd/>
          </a:ln>
        </p:spPr>
        <p:txBody>
          <a:bodyPr wrap="none" anchor="ctr">
            <a:spAutoFit/>
          </a:bodyPr>
          <a:lstStyle/>
          <a:p>
            <a:pPr algn="ctr" eaLnBrk="0" fontAlgn="base" hangingPunct="0">
              <a:spcBef>
                <a:spcPct val="0"/>
              </a:spcBef>
              <a:spcAft>
                <a:spcPct val="0"/>
              </a:spcAft>
            </a:pPr>
            <a:r>
              <a:rPr kumimoji="1" lang="en-US" altLang="zh-CN" sz="2400" b="1" dirty="0">
                <a:solidFill>
                  <a:srgbClr val="000000"/>
                </a:solidFill>
                <a:latin typeface="Times New Roman" pitchFamily="18" charset="0"/>
              </a:rPr>
              <a:t>T</a:t>
            </a:r>
          </a:p>
        </p:txBody>
      </p:sp>
      <p:sp>
        <p:nvSpPr>
          <p:cNvPr id="17" name="Rectangle 49"/>
          <p:cNvSpPr>
            <a:spLocks noChangeArrowheads="1"/>
          </p:cNvSpPr>
          <p:nvPr/>
        </p:nvSpPr>
        <p:spPr bwMode="auto">
          <a:xfrm>
            <a:off x="4649787" y="1417638"/>
            <a:ext cx="252413" cy="468312"/>
          </a:xfrm>
          <a:prstGeom prst="rect">
            <a:avLst/>
          </a:prstGeom>
          <a:solidFill>
            <a:srgbClr val="969696"/>
          </a:solidFill>
          <a:ln w="12700" cap="rnd" algn="ctr">
            <a:noFill/>
            <a:miter lim="800000"/>
            <a:headEnd/>
            <a:tailEnd/>
          </a:ln>
        </p:spPr>
        <p:txBody>
          <a:bodyPr anchor="ctr">
            <a:spAutoFit/>
          </a:bodyP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sp>
        <p:nvSpPr>
          <p:cNvPr id="19" name="Line 50"/>
          <p:cNvSpPr>
            <a:spLocks noChangeShapeType="1"/>
          </p:cNvSpPr>
          <p:nvPr/>
        </p:nvSpPr>
        <p:spPr bwMode="auto">
          <a:xfrm>
            <a:off x="4289425" y="1130300"/>
            <a:ext cx="431800" cy="287338"/>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aphicFrame>
        <p:nvGraphicFramePr>
          <p:cNvPr id="20" name="Group 34"/>
          <p:cNvGraphicFramePr>
            <a:graphicFrameLocks noGrp="1"/>
          </p:cNvGraphicFramePr>
          <p:nvPr>
            <p:extLst>
              <p:ext uri="{D42A27DB-BD31-4B8C-83A1-F6EECF244321}">
                <p14:modId xmlns:p14="http://schemas.microsoft.com/office/powerpoint/2010/main" val="1852431528"/>
              </p:ext>
            </p:extLst>
          </p:nvPr>
        </p:nvGraphicFramePr>
        <p:xfrm>
          <a:off x="2994025" y="3240088"/>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271462">
                  <a:extLst>
                    <a:ext uri="{9D8B030D-6E8A-4147-A177-3AD203B41FA5}">
                      <a16:colId xmlns:a16="http://schemas.microsoft.com/office/drawing/2014/main" val="20001"/>
                    </a:ext>
                  </a:extLst>
                </a:gridCol>
                <a:gridCol w="271463">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21" name="Group 173"/>
          <p:cNvGraphicFramePr>
            <a:graphicFrameLocks noGrp="1"/>
          </p:cNvGraphicFramePr>
          <p:nvPr>
            <p:extLst>
              <p:ext uri="{D42A27DB-BD31-4B8C-83A1-F6EECF244321}">
                <p14:modId xmlns:p14="http://schemas.microsoft.com/office/powerpoint/2010/main" val="3454388740"/>
              </p:ext>
            </p:extLst>
          </p:nvPr>
        </p:nvGraphicFramePr>
        <p:xfrm>
          <a:off x="5226050" y="3073400"/>
          <a:ext cx="1357313" cy="457200"/>
        </p:xfrm>
        <a:graphic>
          <a:graphicData uri="http://schemas.openxmlformats.org/drawingml/2006/table">
            <a:tbl>
              <a:tblPr/>
              <a:tblGrid>
                <a:gridCol w="271463">
                  <a:extLst>
                    <a:ext uri="{9D8B030D-6E8A-4147-A177-3AD203B41FA5}">
                      <a16:colId xmlns:a16="http://schemas.microsoft.com/office/drawing/2014/main" val="20000"/>
                    </a:ext>
                  </a:extLst>
                </a:gridCol>
                <a:gridCol w="271462">
                  <a:extLst>
                    <a:ext uri="{9D8B030D-6E8A-4147-A177-3AD203B41FA5}">
                      <a16:colId xmlns:a16="http://schemas.microsoft.com/office/drawing/2014/main" val="20001"/>
                    </a:ext>
                  </a:extLst>
                </a:gridCol>
                <a:gridCol w="271463">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tblGrid>
              <a:tr h="43338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22" name="Group 62"/>
          <p:cNvGraphicFramePr>
            <a:graphicFrameLocks noGrp="1"/>
          </p:cNvGraphicFramePr>
          <p:nvPr>
            <p:extLst>
              <p:ext uri="{D42A27DB-BD31-4B8C-83A1-F6EECF244321}">
                <p14:modId xmlns:p14="http://schemas.microsoft.com/office/powerpoint/2010/main" val="758396475"/>
              </p:ext>
            </p:extLst>
          </p:nvPr>
        </p:nvGraphicFramePr>
        <p:xfrm>
          <a:off x="4144962" y="4441825"/>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1462">
                  <a:extLst>
                    <a:ext uri="{9D8B030D-6E8A-4147-A177-3AD203B41FA5}">
                      <a16:colId xmlns:a16="http://schemas.microsoft.com/office/drawing/2014/main" val="20002"/>
                    </a:ext>
                  </a:extLst>
                </a:gridCol>
                <a:gridCol w="265113">
                  <a:extLst>
                    <a:ext uri="{9D8B030D-6E8A-4147-A177-3AD203B41FA5}">
                      <a16:colId xmlns:a16="http://schemas.microsoft.com/office/drawing/2014/main" val="20003"/>
                    </a:ext>
                  </a:extLst>
                </a:gridCol>
                <a:gridCol w="277812">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23" name="Group 152"/>
          <p:cNvGraphicFramePr>
            <a:graphicFrameLocks noGrp="1"/>
          </p:cNvGraphicFramePr>
          <p:nvPr>
            <p:extLst>
              <p:ext uri="{D42A27DB-BD31-4B8C-83A1-F6EECF244321}">
                <p14:modId xmlns:p14="http://schemas.microsoft.com/office/powerpoint/2010/main" val="33699802"/>
              </p:ext>
            </p:extLst>
          </p:nvPr>
        </p:nvGraphicFramePr>
        <p:xfrm>
          <a:off x="2417762" y="4225925"/>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1462">
                  <a:extLst>
                    <a:ext uri="{9D8B030D-6E8A-4147-A177-3AD203B41FA5}">
                      <a16:colId xmlns:a16="http://schemas.microsoft.com/office/drawing/2014/main" val="20002"/>
                    </a:ext>
                  </a:extLst>
                </a:gridCol>
                <a:gridCol w="265113">
                  <a:extLst>
                    <a:ext uri="{9D8B030D-6E8A-4147-A177-3AD203B41FA5}">
                      <a16:colId xmlns:a16="http://schemas.microsoft.com/office/drawing/2014/main" val="20003"/>
                    </a:ext>
                  </a:extLst>
                </a:gridCol>
                <a:gridCol w="277812">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24" name="Group 121"/>
          <p:cNvGraphicFramePr>
            <a:graphicFrameLocks noGrp="1"/>
          </p:cNvGraphicFramePr>
          <p:nvPr>
            <p:extLst>
              <p:ext uri="{D42A27DB-BD31-4B8C-83A1-F6EECF244321}">
                <p14:modId xmlns:p14="http://schemas.microsoft.com/office/powerpoint/2010/main" val="2873367452"/>
              </p:ext>
            </p:extLst>
          </p:nvPr>
        </p:nvGraphicFramePr>
        <p:xfrm>
          <a:off x="3570287" y="5665788"/>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1462">
                  <a:extLst>
                    <a:ext uri="{9D8B030D-6E8A-4147-A177-3AD203B41FA5}">
                      <a16:colId xmlns:a16="http://schemas.microsoft.com/office/drawing/2014/main" val="20002"/>
                    </a:ext>
                  </a:extLst>
                </a:gridCol>
                <a:gridCol w="271463">
                  <a:extLst>
                    <a:ext uri="{9D8B030D-6E8A-4147-A177-3AD203B41FA5}">
                      <a16:colId xmlns:a16="http://schemas.microsoft.com/office/drawing/2014/main" val="20003"/>
                    </a:ext>
                  </a:extLst>
                </a:gridCol>
                <a:gridCol w="271462">
                  <a:extLst>
                    <a:ext uri="{9D8B030D-6E8A-4147-A177-3AD203B41FA5}">
                      <a16:colId xmlns:a16="http://schemas.microsoft.com/office/drawing/2014/main" val="20004"/>
                    </a:ext>
                  </a:extLst>
                </a:gridCol>
              </a:tblGrid>
              <a:tr h="1857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25" name="Group 104"/>
          <p:cNvGraphicFramePr>
            <a:graphicFrameLocks noGrp="1"/>
          </p:cNvGraphicFramePr>
          <p:nvPr>
            <p:extLst>
              <p:ext uri="{D42A27DB-BD31-4B8C-83A1-F6EECF244321}">
                <p14:modId xmlns:p14="http://schemas.microsoft.com/office/powerpoint/2010/main" val="3583688707"/>
              </p:ext>
            </p:extLst>
          </p:nvPr>
        </p:nvGraphicFramePr>
        <p:xfrm>
          <a:off x="5370512" y="5665788"/>
          <a:ext cx="1357312" cy="457200"/>
        </p:xfrm>
        <a:graphic>
          <a:graphicData uri="http://schemas.openxmlformats.org/drawingml/2006/table">
            <a:tbl>
              <a:tblPr/>
              <a:tblGrid>
                <a:gridCol w="271462">
                  <a:extLst>
                    <a:ext uri="{9D8B030D-6E8A-4147-A177-3AD203B41FA5}">
                      <a16:colId xmlns:a16="http://schemas.microsoft.com/office/drawing/2014/main" val="20000"/>
                    </a:ext>
                  </a:extLst>
                </a:gridCol>
                <a:gridCol w="233363">
                  <a:extLst>
                    <a:ext uri="{9D8B030D-6E8A-4147-A177-3AD203B41FA5}">
                      <a16:colId xmlns:a16="http://schemas.microsoft.com/office/drawing/2014/main" val="20001"/>
                    </a:ext>
                  </a:extLst>
                </a:gridCol>
                <a:gridCol w="309562">
                  <a:extLst>
                    <a:ext uri="{9D8B030D-6E8A-4147-A177-3AD203B41FA5}">
                      <a16:colId xmlns:a16="http://schemas.microsoft.com/office/drawing/2014/main" val="20002"/>
                    </a:ext>
                  </a:extLst>
                </a:gridCol>
                <a:gridCol w="271463">
                  <a:extLst>
                    <a:ext uri="{9D8B030D-6E8A-4147-A177-3AD203B41FA5}">
                      <a16:colId xmlns:a16="http://schemas.microsoft.com/office/drawing/2014/main" val="20003"/>
                    </a:ext>
                  </a:extLst>
                </a:gridCol>
                <a:gridCol w="271462">
                  <a:extLst>
                    <a:ext uri="{9D8B030D-6E8A-4147-A177-3AD203B41FA5}">
                      <a16:colId xmlns:a16="http://schemas.microsoft.com/office/drawing/2014/main" val="20004"/>
                    </a:ext>
                  </a:extLst>
                </a:gridCol>
              </a:tblGrid>
              <a:tr h="39528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26" name="Freeform 159"/>
          <p:cNvSpPr>
            <a:spLocks/>
          </p:cNvSpPr>
          <p:nvPr/>
        </p:nvSpPr>
        <p:spPr bwMode="auto">
          <a:xfrm>
            <a:off x="5010150" y="2570163"/>
            <a:ext cx="374650" cy="1116012"/>
          </a:xfrm>
          <a:custGeom>
            <a:avLst/>
            <a:gdLst>
              <a:gd name="T0" fmla="*/ 2147483647 w 236"/>
              <a:gd name="T1" fmla="*/ 2147483647 h 748"/>
              <a:gd name="T2" fmla="*/ 2147483647 w 236"/>
              <a:gd name="T3" fmla="*/ 2147483647 h 748"/>
              <a:gd name="T4" fmla="*/ 2147483647 w 236"/>
              <a:gd name="T5" fmla="*/ 2147483647 h 748"/>
              <a:gd name="T6" fmla="*/ 2147483647 w 236"/>
              <a:gd name="T7" fmla="*/ 2147483647 h 748"/>
              <a:gd name="T8" fmla="*/ 2147483647 w 236"/>
              <a:gd name="T9" fmla="*/ 2147483647 h 748"/>
              <a:gd name="T10" fmla="*/ 2147483647 w 236"/>
              <a:gd name="T11" fmla="*/ 2147483647 h 748"/>
              <a:gd name="T12" fmla="*/ 2147483647 w 236"/>
              <a:gd name="T13" fmla="*/ 2147483647 h 748"/>
              <a:gd name="T14" fmla="*/ 2147483647 w 236"/>
              <a:gd name="T15" fmla="*/ 2147483647 h 748"/>
              <a:gd name="T16" fmla="*/ 2147483647 w 236"/>
              <a:gd name="T17" fmla="*/ 2147483647 h 748"/>
              <a:gd name="T18" fmla="*/ 2147483647 w 236"/>
              <a:gd name="T19" fmla="*/ 0 h 7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6"/>
              <a:gd name="T31" fmla="*/ 0 h 748"/>
              <a:gd name="T32" fmla="*/ 236 w 236"/>
              <a:gd name="T33" fmla="*/ 748 h 7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6" h="748">
                <a:moveTo>
                  <a:pt x="228" y="583"/>
                </a:moveTo>
                <a:cubicBezTo>
                  <a:pt x="230" y="591"/>
                  <a:pt x="236" y="598"/>
                  <a:pt x="235" y="606"/>
                </a:cubicBezTo>
                <a:cubicBezTo>
                  <a:pt x="233" y="615"/>
                  <a:pt x="224" y="620"/>
                  <a:pt x="220" y="628"/>
                </a:cubicBezTo>
                <a:cubicBezTo>
                  <a:pt x="204" y="661"/>
                  <a:pt x="184" y="689"/>
                  <a:pt x="153" y="710"/>
                </a:cubicBezTo>
                <a:cubicBezTo>
                  <a:pt x="148" y="718"/>
                  <a:pt x="146" y="728"/>
                  <a:pt x="138" y="733"/>
                </a:cubicBezTo>
                <a:cubicBezTo>
                  <a:pt x="125" y="741"/>
                  <a:pt x="93" y="748"/>
                  <a:pt x="93" y="748"/>
                </a:cubicBezTo>
                <a:cubicBezTo>
                  <a:pt x="84" y="718"/>
                  <a:pt x="79" y="706"/>
                  <a:pt x="48" y="695"/>
                </a:cubicBezTo>
                <a:cubicBezTo>
                  <a:pt x="40" y="670"/>
                  <a:pt x="33" y="650"/>
                  <a:pt x="18" y="628"/>
                </a:cubicBezTo>
                <a:cubicBezTo>
                  <a:pt x="0" y="572"/>
                  <a:pt x="4" y="591"/>
                  <a:pt x="3" y="486"/>
                </a:cubicBezTo>
                <a:cubicBezTo>
                  <a:pt x="1" y="324"/>
                  <a:pt x="3" y="162"/>
                  <a:pt x="3"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7" name="Line 160"/>
          <p:cNvSpPr>
            <a:spLocks noChangeShapeType="1"/>
          </p:cNvSpPr>
          <p:nvPr/>
        </p:nvSpPr>
        <p:spPr bwMode="auto">
          <a:xfrm flipH="1">
            <a:off x="3641725" y="2425700"/>
            <a:ext cx="503237" cy="792163"/>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Line 161"/>
          <p:cNvSpPr>
            <a:spLocks noChangeShapeType="1"/>
          </p:cNvSpPr>
          <p:nvPr/>
        </p:nvSpPr>
        <p:spPr bwMode="auto">
          <a:xfrm flipH="1">
            <a:off x="2849562" y="3578225"/>
            <a:ext cx="287338" cy="647700"/>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Freeform 162"/>
          <p:cNvSpPr>
            <a:spLocks/>
          </p:cNvSpPr>
          <p:nvPr/>
        </p:nvSpPr>
        <p:spPr bwMode="auto">
          <a:xfrm>
            <a:off x="3570287" y="3722688"/>
            <a:ext cx="358775" cy="1187450"/>
          </a:xfrm>
          <a:custGeom>
            <a:avLst/>
            <a:gdLst>
              <a:gd name="T0" fmla="*/ 2147483647 w 228"/>
              <a:gd name="T1" fmla="*/ 2147483647 h 748"/>
              <a:gd name="T2" fmla="*/ 2147483647 w 228"/>
              <a:gd name="T3" fmla="*/ 2147483647 h 748"/>
              <a:gd name="T4" fmla="*/ 2147483647 w 228"/>
              <a:gd name="T5" fmla="*/ 2147483647 h 748"/>
              <a:gd name="T6" fmla="*/ 2147483647 w 228"/>
              <a:gd name="T7" fmla="*/ 2147483647 h 748"/>
              <a:gd name="T8" fmla="*/ 2147483647 w 228"/>
              <a:gd name="T9" fmla="*/ 2147483647 h 748"/>
              <a:gd name="T10" fmla="*/ 2147483647 w 228"/>
              <a:gd name="T11" fmla="*/ 2147483647 h 748"/>
              <a:gd name="T12" fmla="*/ 2147483647 w 228"/>
              <a:gd name="T13" fmla="*/ 2147483647 h 748"/>
              <a:gd name="T14" fmla="*/ 2147483647 w 228"/>
              <a:gd name="T15" fmla="*/ 2147483647 h 748"/>
              <a:gd name="T16" fmla="*/ 2147483647 w 228"/>
              <a:gd name="T17" fmla="*/ 2147483647 h 748"/>
              <a:gd name="T18" fmla="*/ 2147483647 w 228"/>
              <a:gd name="T19" fmla="*/ 2147483647 h 748"/>
              <a:gd name="T20" fmla="*/ 2147483647 w 228"/>
              <a:gd name="T21" fmla="*/ 2147483647 h 748"/>
              <a:gd name="T22" fmla="*/ 2147483647 w 228"/>
              <a:gd name="T23" fmla="*/ 0 h 7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8"/>
              <a:gd name="T37" fmla="*/ 0 h 748"/>
              <a:gd name="T38" fmla="*/ 228 w 228"/>
              <a:gd name="T39" fmla="*/ 748 h 7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8" h="748">
                <a:moveTo>
                  <a:pt x="34" y="538"/>
                </a:moveTo>
                <a:cubicBezTo>
                  <a:pt x="0" y="637"/>
                  <a:pt x="9" y="716"/>
                  <a:pt x="101" y="748"/>
                </a:cubicBezTo>
                <a:cubicBezTo>
                  <a:pt x="165" y="725"/>
                  <a:pt x="156" y="692"/>
                  <a:pt x="176" y="635"/>
                </a:cubicBezTo>
                <a:cubicBezTo>
                  <a:pt x="182" y="618"/>
                  <a:pt x="206" y="591"/>
                  <a:pt x="206" y="591"/>
                </a:cubicBezTo>
                <a:cubicBezTo>
                  <a:pt x="228" y="391"/>
                  <a:pt x="223" y="501"/>
                  <a:pt x="213" y="261"/>
                </a:cubicBezTo>
                <a:cubicBezTo>
                  <a:pt x="216" y="254"/>
                  <a:pt x="223" y="246"/>
                  <a:pt x="221" y="239"/>
                </a:cubicBezTo>
                <a:cubicBezTo>
                  <a:pt x="215" y="222"/>
                  <a:pt x="201" y="209"/>
                  <a:pt x="191" y="194"/>
                </a:cubicBezTo>
                <a:cubicBezTo>
                  <a:pt x="187" y="188"/>
                  <a:pt x="188" y="178"/>
                  <a:pt x="183" y="172"/>
                </a:cubicBezTo>
                <a:cubicBezTo>
                  <a:pt x="177" y="165"/>
                  <a:pt x="168" y="162"/>
                  <a:pt x="161" y="157"/>
                </a:cubicBezTo>
                <a:cubicBezTo>
                  <a:pt x="154" y="138"/>
                  <a:pt x="154" y="116"/>
                  <a:pt x="146" y="97"/>
                </a:cubicBezTo>
                <a:cubicBezTo>
                  <a:pt x="139" y="81"/>
                  <a:pt x="126" y="67"/>
                  <a:pt x="116" y="52"/>
                </a:cubicBezTo>
                <a:cubicBezTo>
                  <a:pt x="106" y="37"/>
                  <a:pt x="98" y="12"/>
                  <a:pt x="86"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0" name="Line 163"/>
          <p:cNvSpPr>
            <a:spLocks noChangeShapeType="1"/>
          </p:cNvSpPr>
          <p:nvPr/>
        </p:nvSpPr>
        <p:spPr bwMode="auto">
          <a:xfrm flipH="1">
            <a:off x="3857625" y="4730750"/>
            <a:ext cx="431800" cy="935038"/>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1" name="Freeform 164"/>
          <p:cNvSpPr>
            <a:spLocks/>
          </p:cNvSpPr>
          <p:nvPr/>
        </p:nvSpPr>
        <p:spPr bwMode="auto">
          <a:xfrm>
            <a:off x="3160712" y="3749675"/>
            <a:ext cx="898525" cy="2439988"/>
          </a:xfrm>
          <a:custGeom>
            <a:avLst/>
            <a:gdLst>
              <a:gd name="T0" fmla="*/ 2147483647 w 566"/>
              <a:gd name="T1" fmla="*/ 2147483647 h 1537"/>
              <a:gd name="T2" fmla="*/ 2147483647 w 566"/>
              <a:gd name="T3" fmla="*/ 2147483647 h 1537"/>
              <a:gd name="T4" fmla="*/ 2147483647 w 566"/>
              <a:gd name="T5" fmla="*/ 2147483647 h 1537"/>
              <a:gd name="T6" fmla="*/ 2147483647 w 566"/>
              <a:gd name="T7" fmla="*/ 2147483647 h 1537"/>
              <a:gd name="T8" fmla="*/ 2147483647 w 566"/>
              <a:gd name="T9" fmla="*/ 2147483647 h 1537"/>
              <a:gd name="T10" fmla="*/ 2147483647 w 566"/>
              <a:gd name="T11" fmla="*/ 2147483647 h 1537"/>
              <a:gd name="T12" fmla="*/ 2147483647 w 566"/>
              <a:gd name="T13" fmla="*/ 2147483647 h 1537"/>
              <a:gd name="T14" fmla="*/ 2147483647 w 566"/>
              <a:gd name="T15" fmla="*/ 2147483647 h 1537"/>
              <a:gd name="T16" fmla="*/ 2147483647 w 566"/>
              <a:gd name="T17" fmla="*/ 2147483647 h 1537"/>
              <a:gd name="T18" fmla="*/ 2147483647 w 566"/>
              <a:gd name="T19" fmla="*/ 2147483647 h 1537"/>
              <a:gd name="T20" fmla="*/ 2147483647 w 566"/>
              <a:gd name="T21" fmla="*/ 2147483647 h 1537"/>
              <a:gd name="T22" fmla="*/ 2147483647 w 566"/>
              <a:gd name="T23" fmla="*/ 2147483647 h 1537"/>
              <a:gd name="T24" fmla="*/ 2147483647 w 566"/>
              <a:gd name="T25" fmla="*/ 2147483647 h 1537"/>
              <a:gd name="T26" fmla="*/ 2147483647 w 566"/>
              <a:gd name="T27" fmla="*/ 2147483647 h 1537"/>
              <a:gd name="T28" fmla="*/ 2147483647 w 566"/>
              <a:gd name="T29" fmla="*/ 2147483647 h 1537"/>
              <a:gd name="T30" fmla="*/ 2147483647 w 566"/>
              <a:gd name="T31" fmla="*/ 2147483647 h 1537"/>
              <a:gd name="T32" fmla="*/ 2147483647 w 566"/>
              <a:gd name="T33" fmla="*/ 2147483647 h 1537"/>
              <a:gd name="T34" fmla="*/ 2147483647 w 566"/>
              <a:gd name="T35" fmla="*/ 2147483647 h 1537"/>
              <a:gd name="T36" fmla="*/ 2147483647 w 566"/>
              <a:gd name="T37" fmla="*/ 2147483647 h 1537"/>
              <a:gd name="T38" fmla="*/ 2147483647 w 566"/>
              <a:gd name="T39" fmla="*/ 0 h 15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66"/>
              <a:gd name="T61" fmla="*/ 0 h 1537"/>
              <a:gd name="T62" fmla="*/ 566 w 566"/>
              <a:gd name="T63" fmla="*/ 1537 h 153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66" h="1537">
                <a:moveTo>
                  <a:pt x="344" y="1421"/>
                </a:moveTo>
                <a:cubicBezTo>
                  <a:pt x="339" y="1429"/>
                  <a:pt x="335" y="1438"/>
                  <a:pt x="329" y="1444"/>
                </a:cubicBezTo>
                <a:cubicBezTo>
                  <a:pt x="323" y="1450"/>
                  <a:pt x="312" y="1452"/>
                  <a:pt x="306" y="1459"/>
                </a:cubicBezTo>
                <a:cubicBezTo>
                  <a:pt x="276" y="1496"/>
                  <a:pt x="327" y="1471"/>
                  <a:pt x="277" y="1489"/>
                </a:cubicBezTo>
                <a:cubicBezTo>
                  <a:pt x="227" y="1537"/>
                  <a:pt x="163" y="1507"/>
                  <a:pt x="105" y="1489"/>
                </a:cubicBezTo>
                <a:cubicBezTo>
                  <a:pt x="77" y="1470"/>
                  <a:pt x="80" y="1455"/>
                  <a:pt x="52" y="1436"/>
                </a:cubicBezTo>
                <a:cubicBezTo>
                  <a:pt x="30" y="1368"/>
                  <a:pt x="0" y="1330"/>
                  <a:pt x="45" y="1242"/>
                </a:cubicBezTo>
                <a:cubicBezTo>
                  <a:pt x="62" y="1209"/>
                  <a:pt x="68" y="1214"/>
                  <a:pt x="105" y="1189"/>
                </a:cubicBezTo>
                <a:cubicBezTo>
                  <a:pt x="112" y="1184"/>
                  <a:pt x="127" y="1174"/>
                  <a:pt x="127" y="1174"/>
                </a:cubicBezTo>
                <a:cubicBezTo>
                  <a:pt x="145" y="1148"/>
                  <a:pt x="157" y="1132"/>
                  <a:pt x="187" y="1122"/>
                </a:cubicBezTo>
                <a:cubicBezTo>
                  <a:pt x="204" y="1098"/>
                  <a:pt x="243" y="1073"/>
                  <a:pt x="269" y="1055"/>
                </a:cubicBezTo>
                <a:cubicBezTo>
                  <a:pt x="285" y="1031"/>
                  <a:pt x="308" y="1021"/>
                  <a:pt x="321" y="995"/>
                </a:cubicBezTo>
                <a:cubicBezTo>
                  <a:pt x="348" y="942"/>
                  <a:pt x="383" y="879"/>
                  <a:pt x="434" y="845"/>
                </a:cubicBezTo>
                <a:cubicBezTo>
                  <a:pt x="445" y="829"/>
                  <a:pt x="463" y="818"/>
                  <a:pt x="471" y="800"/>
                </a:cubicBezTo>
                <a:cubicBezTo>
                  <a:pt x="477" y="786"/>
                  <a:pt x="476" y="770"/>
                  <a:pt x="479" y="755"/>
                </a:cubicBezTo>
                <a:cubicBezTo>
                  <a:pt x="487" y="718"/>
                  <a:pt x="497" y="680"/>
                  <a:pt x="508" y="643"/>
                </a:cubicBezTo>
                <a:cubicBezTo>
                  <a:pt x="490" y="566"/>
                  <a:pt x="526" y="493"/>
                  <a:pt x="546" y="419"/>
                </a:cubicBezTo>
                <a:cubicBezTo>
                  <a:pt x="563" y="289"/>
                  <a:pt x="566" y="329"/>
                  <a:pt x="553" y="120"/>
                </a:cubicBezTo>
                <a:cubicBezTo>
                  <a:pt x="551" y="92"/>
                  <a:pt x="537" y="49"/>
                  <a:pt x="531" y="22"/>
                </a:cubicBezTo>
                <a:cubicBezTo>
                  <a:pt x="529" y="14"/>
                  <a:pt x="523" y="0"/>
                  <a:pt x="523"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2" name="Line 165"/>
          <p:cNvSpPr>
            <a:spLocks noChangeShapeType="1"/>
          </p:cNvSpPr>
          <p:nvPr/>
        </p:nvSpPr>
        <p:spPr bwMode="auto">
          <a:xfrm>
            <a:off x="4217987" y="3578225"/>
            <a:ext cx="647700" cy="863600"/>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3" name="Freeform 166"/>
          <p:cNvSpPr>
            <a:spLocks/>
          </p:cNvSpPr>
          <p:nvPr/>
        </p:nvSpPr>
        <p:spPr bwMode="auto">
          <a:xfrm>
            <a:off x="4578350" y="4873625"/>
            <a:ext cx="508000" cy="1460500"/>
          </a:xfrm>
          <a:custGeom>
            <a:avLst/>
            <a:gdLst>
              <a:gd name="T0" fmla="*/ 2147483647 w 320"/>
              <a:gd name="T1" fmla="*/ 2147483647 h 920"/>
              <a:gd name="T2" fmla="*/ 2147483647 w 320"/>
              <a:gd name="T3" fmla="*/ 2147483647 h 920"/>
              <a:gd name="T4" fmla="*/ 2147483647 w 320"/>
              <a:gd name="T5" fmla="*/ 2147483647 h 920"/>
              <a:gd name="T6" fmla="*/ 2147483647 w 320"/>
              <a:gd name="T7" fmla="*/ 2147483647 h 920"/>
              <a:gd name="T8" fmla="*/ 2147483647 w 320"/>
              <a:gd name="T9" fmla="*/ 2147483647 h 920"/>
              <a:gd name="T10" fmla="*/ 2147483647 w 320"/>
              <a:gd name="T11" fmla="*/ 2147483647 h 920"/>
              <a:gd name="T12" fmla="*/ 2147483647 w 320"/>
              <a:gd name="T13" fmla="*/ 2147483647 h 920"/>
              <a:gd name="T14" fmla="*/ 2147483647 w 320"/>
              <a:gd name="T15" fmla="*/ 2147483647 h 920"/>
              <a:gd name="T16" fmla="*/ 2147483647 w 320"/>
              <a:gd name="T17" fmla="*/ 2147483647 h 920"/>
              <a:gd name="T18" fmla="*/ 2147483647 w 320"/>
              <a:gd name="T19" fmla="*/ 2147483647 h 920"/>
              <a:gd name="T20" fmla="*/ 2147483647 w 320"/>
              <a:gd name="T21" fmla="*/ 2147483647 h 920"/>
              <a:gd name="T22" fmla="*/ 2147483647 w 320"/>
              <a:gd name="T23" fmla="*/ 2147483647 h 920"/>
              <a:gd name="T24" fmla="*/ 2147483647 w 320"/>
              <a:gd name="T25" fmla="*/ 2147483647 h 920"/>
              <a:gd name="T26" fmla="*/ 2147483647 w 320"/>
              <a:gd name="T27" fmla="*/ 2147483647 h 920"/>
              <a:gd name="T28" fmla="*/ 2147483647 w 320"/>
              <a:gd name="T29" fmla="*/ 2147483647 h 920"/>
              <a:gd name="T30" fmla="*/ 2147483647 w 320"/>
              <a:gd name="T31" fmla="*/ 2147483647 h 920"/>
              <a:gd name="T32" fmla="*/ 2147483647 w 320"/>
              <a:gd name="T33" fmla="*/ 2147483647 h 920"/>
              <a:gd name="T34" fmla="*/ 2147483647 w 320"/>
              <a:gd name="T35" fmla="*/ 2147483647 h 9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0"/>
              <a:gd name="T55" fmla="*/ 0 h 920"/>
              <a:gd name="T56" fmla="*/ 320 w 320"/>
              <a:gd name="T57" fmla="*/ 920 h 92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0" h="920">
                <a:moveTo>
                  <a:pt x="86" y="712"/>
                </a:moveTo>
                <a:cubicBezTo>
                  <a:pt x="78" y="737"/>
                  <a:pt x="70" y="761"/>
                  <a:pt x="64" y="787"/>
                </a:cubicBezTo>
                <a:cubicBezTo>
                  <a:pt x="66" y="807"/>
                  <a:pt x="63" y="829"/>
                  <a:pt x="71" y="847"/>
                </a:cubicBezTo>
                <a:cubicBezTo>
                  <a:pt x="74" y="854"/>
                  <a:pt x="88" y="849"/>
                  <a:pt x="94" y="854"/>
                </a:cubicBezTo>
                <a:cubicBezTo>
                  <a:pt x="101" y="860"/>
                  <a:pt x="101" y="872"/>
                  <a:pt x="109" y="877"/>
                </a:cubicBezTo>
                <a:cubicBezTo>
                  <a:pt x="122" y="885"/>
                  <a:pt x="154" y="892"/>
                  <a:pt x="154" y="892"/>
                </a:cubicBezTo>
                <a:cubicBezTo>
                  <a:pt x="156" y="899"/>
                  <a:pt x="154" y="910"/>
                  <a:pt x="161" y="914"/>
                </a:cubicBezTo>
                <a:cubicBezTo>
                  <a:pt x="173" y="920"/>
                  <a:pt x="216" y="877"/>
                  <a:pt x="228" y="869"/>
                </a:cubicBezTo>
                <a:cubicBezTo>
                  <a:pt x="256" y="827"/>
                  <a:pt x="264" y="796"/>
                  <a:pt x="281" y="750"/>
                </a:cubicBezTo>
                <a:cubicBezTo>
                  <a:pt x="268" y="714"/>
                  <a:pt x="290" y="683"/>
                  <a:pt x="296" y="645"/>
                </a:cubicBezTo>
                <a:cubicBezTo>
                  <a:pt x="308" y="565"/>
                  <a:pt x="294" y="609"/>
                  <a:pt x="311" y="563"/>
                </a:cubicBezTo>
                <a:cubicBezTo>
                  <a:pt x="320" y="496"/>
                  <a:pt x="320" y="416"/>
                  <a:pt x="258" y="376"/>
                </a:cubicBezTo>
                <a:cubicBezTo>
                  <a:pt x="253" y="368"/>
                  <a:pt x="249" y="360"/>
                  <a:pt x="243" y="353"/>
                </a:cubicBezTo>
                <a:cubicBezTo>
                  <a:pt x="237" y="347"/>
                  <a:pt x="227" y="345"/>
                  <a:pt x="221" y="338"/>
                </a:cubicBezTo>
                <a:cubicBezTo>
                  <a:pt x="166" y="274"/>
                  <a:pt x="219" y="307"/>
                  <a:pt x="161" y="278"/>
                </a:cubicBezTo>
                <a:cubicBezTo>
                  <a:pt x="140" y="215"/>
                  <a:pt x="122" y="146"/>
                  <a:pt x="64" y="106"/>
                </a:cubicBezTo>
                <a:cubicBezTo>
                  <a:pt x="56" y="83"/>
                  <a:pt x="41" y="49"/>
                  <a:pt x="26" y="31"/>
                </a:cubicBezTo>
                <a:cubicBezTo>
                  <a:pt x="0" y="0"/>
                  <a:pt x="4" y="34"/>
                  <a:pt x="4" y="2"/>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4" name="Freeform 167"/>
          <p:cNvSpPr>
            <a:spLocks/>
          </p:cNvSpPr>
          <p:nvPr/>
        </p:nvSpPr>
        <p:spPr bwMode="auto">
          <a:xfrm>
            <a:off x="5132387" y="4933950"/>
            <a:ext cx="414338" cy="1463675"/>
          </a:xfrm>
          <a:custGeom>
            <a:avLst/>
            <a:gdLst>
              <a:gd name="T0" fmla="*/ 2147483647 w 261"/>
              <a:gd name="T1" fmla="*/ 2147483647 h 922"/>
              <a:gd name="T2" fmla="*/ 2147483647 w 261"/>
              <a:gd name="T3" fmla="*/ 2147483647 h 922"/>
              <a:gd name="T4" fmla="*/ 2147483647 w 261"/>
              <a:gd name="T5" fmla="*/ 2147483647 h 922"/>
              <a:gd name="T6" fmla="*/ 2147483647 w 261"/>
              <a:gd name="T7" fmla="*/ 2147483647 h 922"/>
              <a:gd name="T8" fmla="*/ 2147483647 w 261"/>
              <a:gd name="T9" fmla="*/ 2147483647 h 922"/>
              <a:gd name="T10" fmla="*/ 2147483647 w 261"/>
              <a:gd name="T11" fmla="*/ 2147483647 h 922"/>
              <a:gd name="T12" fmla="*/ 0 w 261"/>
              <a:gd name="T13" fmla="*/ 2147483647 h 922"/>
              <a:gd name="T14" fmla="*/ 0 60000 65536"/>
              <a:gd name="T15" fmla="*/ 0 60000 65536"/>
              <a:gd name="T16" fmla="*/ 0 60000 65536"/>
              <a:gd name="T17" fmla="*/ 0 60000 65536"/>
              <a:gd name="T18" fmla="*/ 0 60000 65536"/>
              <a:gd name="T19" fmla="*/ 0 60000 65536"/>
              <a:gd name="T20" fmla="*/ 0 60000 65536"/>
              <a:gd name="T21" fmla="*/ 0 w 261"/>
              <a:gd name="T22" fmla="*/ 0 h 922"/>
              <a:gd name="T23" fmla="*/ 261 w 261"/>
              <a:gd name="T24" fmla="*/ 922 h 9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1" h="922">
                <a:moveTo>
                  <a:pt x="254" y="660"/>
                </a:moveTo>
                <a:cubicBezTo>
                  <a:pt x="246" y="798"/>
                  <a:pt x="261" y="879"/>
                  <a:pt x="119" y="922"/>
                </a:cubicBezTo>
                <a:cubicBezTo>
                  <a:pt x="111" y="898"/>
                  <a:pt x="82" y="855"/>
                  <a:pt x="82" y="855"/>
                </a:cubicBezTo>
                <a:cubicBezTo>
                  <a:pt x="68" y="763"/>
                  <a:pt x="63" y="671"/>
                  <a:pt x="52" y="578"/>
                </a:cubicBezTo>
                <a:cubicBezTo>
                  <a:pt x="48" y="512"/>
                  <a:pt x="60" y="293"/>
                  <a:pt x="44" y="249"/>
                </a:cubicBezTo>
                <a:cubicBezTo>
                  <a:pt x="38" y="176"/>
                  <a:pt x="31" y="110"/>
                  <a:pt x="15" y="39"/>
                </a:cubicBezTo>
                <a:cubicBezTo>
                  <a:pt x="6" y="0"/>
                  <a:pt x="20" y="2"/>
                  <a:pt x="0" y="2"/>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5" name="Line 168"/>
          <p:cNvSpPr>
            <a:spLocks noChangeShapeType="1"/>
          </p:cNvSpPr>
          <p:nvPr/>
        </p:nvSpPr>
        <p:spPr bwMode="auto">
          <a:xfrm>
            <a:off x="5370512" y="4730750"/>
            <a:ext cx="719138" cy="935038"/>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6" name="Freeform 169"/>
          <p:cNvSpPr>
            <a:spLocks/>
          </p:cNvSpPr>
          <p:nvPr/>
        </p:nvSpPr>
        <p:spPr bwMode="auto">
          <a:xfrm>
            <a:off x="4740275" y="2644775"/>
            <a:ext cx="2157412" cy="3775075"/>
          </a:xfrm>
          <a:custGeom>
            <a:avLst/>
            <a:gdLst>
              <a:gd name="T0" fmla="*/ 2147483647 w 1359"/>
              <a:gd name="T1" fmla="*/ 2147483647 h 2378"/>
              <a:gd name="T2" fmla="*/ 2147483647 w 1359"/>
              <a:gd name="T3" fmla="*/ 2147483647 h 2378"/>
              <a:gd name="T4" fmla="*/ 2147483647 w 1359"/>
              <a:gd name="T5" fmla="*/ 2147483647 h 2378"/>
              <a:gd name="T6" fmla="*/ 2147483647 w 1359"/>
              <a:gd name="T7" fmla="*/ 2147483647 h 2378"/>
              <a:gd name="T8" fmla="*/ 2147483647 w 1359"/>
              <a:gd name="T9" fmla="*/ 2147483647 h 2378"/>
              <a:gd name="T10" fmla="*/ 2147483647 w 1359"/>
              <a:gd name="T11" fmla="*/ 2147483647 h 2378"/>
              <a:gd name="T12" fmla="*/ 2147483647 w 1359"/>
              <a:gd name="T13" fmla="*/ 2147483647 h 2378"/>
              <a:gd name="T14" fmla="*/ 2147483647 w 1359"/>
              <a:gd name="T15" fmla="*/ 2147483647 h 2378"/>
              <a:gd name="T16" fmla="*/ 2147483647 w 1359"/>
              <a:gd name="T17" fmla="*/ 2147483647 h 2378"/>
              <a:gd name="T18" fmla="*/ 2147483647 w 1359"/>
              <a:gd name="T19" fmla="*/ 2147483647 h 2378"/>
              <a:gd name="T20" fmla="*/ 2147483647 w 1359"/>
              <a:gd name="T21" fmla="*/ 2147483647 h 2378"/>
              <a:gd name="T22" fmla="*/ 2147483647 w 1359"/>
              <a:gd name="T23" fmla="*/ 2147483647 h 2378"/>
              <a:gd name="T24" fmla="*/ 2147483647 w 1359"/>
              <a:gd name="T25" fmla="*/ 2147483647 h 2378"/>
              <a:gd name="T26" fmla="*/ 2147483647 w 1359"/>
              <a:gd name="T27" fmla="*/ 2147483647 h 2378"/>
              <a:gd name="T28" fmla="*/ 2147483647 w 1359"/>
              <a:gd name="T29" fmla="*/ 2147483647 h 2378"/>
              <a:gd name="T30" fmla="*/ 2147483647 w 1359"/>
              <a:gd name="T31" fmla="*/ 2147483647 h 2378"/>
              <a:gd name="T32" fmla="*/ 2147483647 w 1359"/>
              <a:gd name="T33" fmla="*/ 2147483647 h 2378"/>
              <a:gd name="T34" fmla="*/ 2147483647 w 1359"/>
              <a:gd name="T35" fmla="*/ 2147483647 h 2378"/>
              <a:gd name="T36" fmla="*/ 2147483647 w 1359"/>
              <a:gd name="T37" fmla="*/ 2147483647 h 2378"/>
              <a:gd name="T38" fmla="*/ 2147483647 w 1359"/>
              <a:gd name="T39" fmla="*/ 2147483647 h 2378"/>
              <a:gd name="T40" fmla="*/ 2147483647 w 1359"/>
              <a:gd name="T41" fmla="*/ 2147483647 h 2378"/>
              <a:gd name="T42" fmla="*/ 2147483647 w 1359"/>
              <a:gd name="T43" fmla="*/ 2147483647 h 2378"/>
              <a:gd name="T44" fmla="*/ 2147483647 w 1359"/>
              <a:gd name="T45" fmla="*/ 2147483647 h 2378"/>
              <a:gd name="T46" fmla="*/ 2147483647 w 1359"/>
              <a:gd name="T47" fmla="*/ 2147483647 h 2378"/>
              <a:gd name="T48" fmla="*/ 2147483647 w 1359"/>
              <a:gd name="T49" fmla="*/ 2147483647 h 2378"/>
              <a:gd name="T50" fmla="*/ 0 w 1359"/>
              <a:gd name="T51" fmla="*/ 0 h 237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9"/>
              <a:gd name="T79" fmla="*/ 0 h 2378"/>
              <a:gd name="T80" fmla="*/ 1359 w 1359"/>
              <a:gd name="T81" fmla="*/ 2378 h 237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9" h="2378">
                <a:moveTo>
                  <a:pt x="1152" y="2125"/>
                </a:moveTo>
                <a:cubicBezTo>
                  <a:pt x="1136" y="2187"/>
                  <a:pt x="1127" y="2315"/>
                  <a:pt x="1189" y="2357"/>
                </a:cubicBezTo>
                <a:cubicBezTo>
                  <a:pt x="1279" y="2351"/>
                  <a:pt x="1327" y="2378"/>
                  <a:pt x="1346" y="2297"/>
                </a:cubicBezTo>
                <a:cubicBezTo>
                  <a:pt x="1358" y="2119"/>
                  <a:pt x="1359" y="2162"/>
                  <a:pt x="1346" y="1923"/>
                </a:cubicBezTo>
                <a:cubicBezTo>
                  <a:pt x="1344" y="1895"/>
                  <a:pt x="1334" y="1879"/>
                  <a:pt x="1309" y="1870"/>
                </a:cubicBezTo>
                <a:cubicBezTo>
                  <a:pt x="1277" y="1823"/>
                  <a:pt x="1313" y="1870"/>
                  <a:pt x="1271" y="1833"/>
                </a:cubicBezTo>
                <a:cubicBezTo>
                  <a:pt x="1233" y="1799"/>
                  <a:pt x="1197" y="1762"/>
                  <a:pt x="1159" y="1728"/>
                </a:cubicBezTo>
                <a:cubicBezTo>
                  <a:pt x="1121" y="1695"/>
                  <a:pt x="1097" y="1650"/>
                  <a:pt x="1054" y="1624"/>
                </a:cubicBezTo>
                <a:cubicBezTo>
                  <a:pt x="1049" y="1616"/>
                  <a:pt x="1045" y="1608"/>
                  <a:pt x="1039" y="1601"/>
                </a:cubicBezTo>
                <a:cubicBezTo>
                  <a:pt x="1032" y="1593"/>
                  <a:pt x="1023" y="1587"/>
                  <a:pt x="1017" y="1579"/>
                </a:cubicBezTo>
                <a:cubicBezTo>
                  <a:pt x="990" y="1541"/>
                  <a:pt x="968" y="1498"/>
                  <a:pt x="942" y="1459"/>
                </a:cubicBezTo>
                <a:cubicBezTo>
                  <a:pt x="921" y="1428"/>
                  <a:pt x="887" y="1401"/>
                  <a:pt x="867" y="1369"/>
                </a:cubicBezTo>
                <a:cubicBezTo>
                  <a:pt x="840" y="1326"/>
                  <a:pt x="823" y="1276"/>
                  <a:pt x="793" y="1235"/>
                </a:cubicBezTo>
                <a:cubicBezTo>
                  <a:pt x="787" y="1226"/>
                  <a:pt x="777" y="1220"/>
                  <a:pt x="770" y="1212"/>
                </a:cubicBezTo>
                <a:cubicBezTo>
                  <a:pt x="764" y="1205"/>
                  <a:pt x="760" y="1197"/>
                  <a:pt x="755" y="1190"/>
                </a:cubicBezTo>
                <a:cubicBezTo>
                  <a:pt x="744" y="1144"/>
                  <a:pt x="712" y="1103"/>
                  <a:pt x="673" y="1077"/>
                </a:cubicBezTo>
                <a:cubicBezTo>
                  <a:pt x="663" y="1062"/>
                  <a:pt x="658" y="1043"/>
                  <a:pt x="643" y="1033"/>
                </a:cubicBezTo>
                <a:cubicBezTo>
                  <a:pt x="621" y="1018"/>
                  <a:pt x="595" y="1007"/>
                  <a:pt x="576" y="988"/>
                </a:cubicBezTo>
                <a:cubicBezTo>
                  <a:pt x="561" y="973"/>
                  <a:pt x="551" y="950"/>
                  <a:pt x="531" y="943"/>
                </a:cubicBezTo>
                <a:cubicBezTo>
                  <a:pt x="500" y="932"/>
                  <a:pt x="515" y="940"/>
                  <a:pt x="486" y="920"/>
                </a:cubicBezTo>
                <a:cubicBezTo>
                  <a:pt x="459" y="880"/>
                  <a:pt x="412" y="867"/>
                  <a:pt x="381" y="831"/>
                </a:cubicBezTo>
                <a:cubicBezTo>
                  <a:pt x="360" y="806"/>
                  <a:pt x="375" y="808"/>
                  <a:pt x="344" y="793"/>
                </a:cubicBezTo>
                <a:cubicBezTo>
                  <a:pt x="297" y="770"/>
                  <a:pt x="213" y="775"/>
                  <a:pt x="164" y="771"/>
                </a:cubicBezTo>
                <a:cubicBezTo>
                  <a:pt x="139" y="762"/>
                  <a:pt x="119" y="756"/>
                  <a:pt x="97" y="741"/>
                </a:cubicBezTo>
                <a:cubicBezTo>
                  <a:pt x="76" y="709"/>
                  <a:pt x="65" y="682"/>
                  <a:pt x="45" y="651"/>
                </a:cubicBezTo>
                <a:cubicBezTo>
                  <a:pt x="31" y="434"/>
                  <a:pt x="0" y="219"/>
                  <a:pt x="0"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7" name="Line 172"/>
          <p:cNvSpPr>
            <a:spLocks noChangeShapeType="1"/>
          </p:cNvSpPr>
          <p:nvPr/>
        </p:nvSpPr>
        <p:spPr bwMode="auto">
          <a:xfrm>
            <a:off x="5297487" y="2425700"/>
            <a:ext cx="576263" cy="647700"/>
          </a:xfrm>
          <a:prstGeom prst="line">
            <a:avLst/>
          </a:prstGeom>
          <a:noFill/>
          <a:ln w="19050" cap="rnd">
            <a:solidFill>
              <a:srgbClr val="000000"/>
            </a:solidFill>
            <a:round/>
            <a:headEnd/>
            <a:tailEnd type="arrow"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8" name="Text Box 130"/>
          <p:cNvSpPr txBox="1">
            <a:spLocks noChangeArrowheads="1"/>
          </p:cNvSpPr>
          <p:nvPr/>
        </p:nvSpPr>
        <p:spPr bwMode="auto">
          <a:xfrm>
            <a:off x="4295775" y="6396038"/>
            <a:ext cx="1422400" cy="461962"/>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pPr>
            <a:r>
              <a:rPr kumimoji="1" lang="zh-CN" altLang="en-US" sz="2400" b="1">
                <a:solidFill>
                  <a:srgbClr val="000000"/>
                </a:solidFill>
                <a:latin typeface="Times New Roman" pitchFamily="18" charset="0"/>
              </a:rPr>
              <a:t>线索链表</a:t>
            </a:r>
          </a:p>
        </p:txBody>
      </p:sp>
      <p:sp>
        <p:nvSpPr>
          <p:cNvPr id="39" name="Line 160"/>
          <p:cNvSpPr>
            <a:spLocks noChangeShapeType="1"/>
          </p:cNvSpPr>
          <p:nvPr/>
        </p:nvSpPr>
        <p:spPr bwMode="auto">
          <a:xfrm>
            <a:off x="5353050" y="1668463"/>
            <a:ext cx="863600" cy="1366837"/>
          </a:xfrm>
          <a:prstGeom prst="line">
            <a:avLst/>
          </a:prstGeom>
          <a:noFill/>
          <a:ln w="127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0" name="Freeform 161"/>
          <p:cNvSpPr>
            <a:spLocks/>
          </p:cNvSpPr>
          <p:nvPr/>
        </p:nvSpPr>
        <p:spPr bwMode="auto">
          <a:xfrm>
            <a:off x="1752600" y="1320800"/>
            <a:ext cx="2447925" cy="4187825"/>
          </a:xfrm>
          <a:custGeom>
            <a:avLst/>
            <a:gdLst>
              <a:gd name="T0" fmla="*/ 2147483647 w 1542"/>
              <a:gd name="T1" fmla="*/ 2147483647 h 2638"/>
              <a:gd name="T2" fmla="*/ 2147483647 w 1542"/>
              <a:gd name="T3" fmla="*/ 2147483647 h 2638"/>
              <a:gd name="T4" fmla="*/ 2147483647 w 1542"/>
              <a:gd name="T5" fmla="*/ 2147483647 h 2638"/>
              <a:gd name="T6" fmla="*/ 2147483647 w 1542"/>
              <a:gd name="T7" fmla="*/ 2147483647 h 2638"/>
              <a:gd name="T8" fmla="*/ 2147483647 w 1542"/>
              <a:gd name="T9" fmla="*/ 2147483647 h 2638"/>
              <a:gd name="T10" fmla="*/ 0 60000 65536"/>
              <a:gd name="T11" fmla="*/ 0 60000 65536"/>
              <a:gd name="T12" fmla="*/ 0 60000 65536"/>
              <a:gd name="T13" fmla="*/ 0 60000 65536"/>
              <a:gd name="T14" fmla="*/ 0 60000 65536"/>
              <a:gd name="T15" fmla="*/ 0 w 1542"/>
              <a:gd name="T16" fmla="*/ 0 h 2638"/>
              <a:gd name="T17" fmla="*/ 1542 w 1542"/>
              <a:gd name="T18" fmla="*/ 2638 h 2638"/>
            </a:gdLst>
            <a:ahLst/>
            <a:cxnLst>
              <a:cxn ang="T10">
                <a:pos x="T0" y="T1"/>
              </a:cxn>
              <a:cxn ang="T11">
                <a:pos x="T2" y="T3"/>
              </a:cxn>
              <a:cxn ang="T12">
                <a:pos x="T4" y="T5"/>
              </a:cxn>
              <a:cxn ang="T13">
                <a:pos x="T6" y="T7"/>
              </a:cxn>
              <a:cxn ang="T14">
                <a:pos x="T8" y="T9"/>
              </a:cxn>
            </a:cxnLst>
            <a:rect l="T15" t="T16" r="T17" b="T18"/>
            <a:pathLst>
              <a:path w="1542" h="2638">
                <a:moveTo>
                  <a:pt x="499" y="2078"/>
                </a:moveTo>
                <a:cubicBezTo>
                  <a:pt x="483" y="2195"/>
                  <a:pt x="468" y="2313"/>
                  <a:pt x="408" y="2351"/>
                </a:cubicBezTo>
                <a:cubicBezTo>
                  <a:pt x="348" y="2389"/>
                  <a:pt x="0" y="2638"/>
                  <a:pt x="136" y="2305"/>
                </a:cubicBezTo>
                <a:cubicBezTo>
                  <a:pt x="272" y="1972"/>
                  <a:pt x="990" y="710"/>
                  <a:pt x="1224" y="355"/>
                </a:cubicBezTo>
                <a:cubicBezTo>
                  <a:pt x="1458" y="0"/>
                  <a:pt x="1500" y="86"/>
                  <a:pt x="1542" y="173"/>
                </a:cubicBezTo>
              </a:path>
            </a:pathLst>
          </a:custGeom>
          <a:noFill/>
          <a:ln w="28575">
            <a:solidFill>
              <a:srgbClr val="F81908"/>
            </a:solidFill>
            <a:prstDash val="lgDash"/>
            <a:round/>
            <a:headEnd/>
            <a:tailEnd type="arrow" w="med" len="med"/>
          </a:ln>
        </p:spPr>
        <p:txBody>
          <a:bodyPr>
            <a:spAutoFit/>
          </a:bodyPr>
          <a:lstStyle/>
          <a:p>
            <a:pPr algn="ctr" eaLnBrk="0" fontAlgn="base" hangingPunct="0">
              <a:spcBef>
                <a:spcPct val="0"/>
              </a:spcBef>
              <a:spcAft>
                <a:spcPct val="0"/>
              </a:spcAft>
            </a:pPr>
            <a:endParaRPr kumimoji="1" lang="zh-CN" altLang="en-US" sz="2800">
              <a:solidFill>
                <a:srgbClr val="000000"/>
              </a:solidFill>
              <a:latin typeface="Times New Roman" pitchFamily="18" charset="0"/>
            </a:endParaRPr>
          </a:p>
        </p:txBody>
      </p:sp>
      <p:sp>
        <p:nvSpPr>
          <p:cNvPr id="41" name="Freeform 162"/>
          <p:cNvSpPr>
            <a:spLocks/>
          </p:cNvSpPr>
          <p:nvPr/>
        </p:nvSpPr>
        <p:spPr bwMode="auto">
          <a:xfrm>
            <a:off x="5353050" y="1524000"/>
            <a:ext cx="1619250" cy="2111375"/>
          </a:xfrm>
          <a:custGeom>
            <a:avLst/>
            <a:gdLst>
              <a:gd name="T0" fmla="*/ 2147483647 w 1020"/>
              <a:gd name="T1" fmla="*/ 2147483647 h 1330"/>
              <a:gd name="T2" fmla="*/ 2147483647 w 1020"/>
              <a:gd name="T3" fmla="*/ 2147483647 h 1330"/>
              <a:gd name="T4" fmla="*/ 0 w 1020"/>
              <a:gd name="T5" fmla="*/ 0 h 1330"/>
              <a:gd name="T6" fmla="*/ 0 60000 65536"/>
              <a:gd name="T7" fmla="*/ 0 60000 65536"/>
              <a:gd name="T8" fmla="*/ 0 60000 65536"/>
              <a:gd name="T9" fmla="*/ 0 w 1020"/>
              <a:gd name="T10" fmla="*/ 0 h 1330"/>
              <a:gd name="T11" fmla="*/ 1020 w 1020"/>
              <a:gd name="T12" fmla="*/ 1330 h 1330"/>
            </a:gdLst>
            <a:ahLst/>
            <a:cxnLst>
              <a:cxn ang="T6">
                <a:pos x="T0" y="T1"/>
              </a:cxn>
              <a:cxn ang="T7">
                <a:pos x="T2" y="T3"/>
              </a:cxn>
              <a:cxn ang="T8">
                <a:pos x="T4" y="T5"/>
              </a:cxn>
            </a:cxnLst>
            <a:rect l="T9" t="T10" r="T11" b="T12"/>
            <a:pathLst>
              <a:path w="1020" h="1330">
                <a:moveTo>
                  <a:pt x="680" y="1179"/>
                </a:moveTo>
                <a:cubicBezTo>
                  <a:pt x="850" y="1254"/>
                  <a:pt x="1020" y="1330"/>
                  <a:pt x="907" y="1134"/>
                </a:cubicBezTo>
                <a:cubicBezTo>
                  <a:pt x="794" y="938"/>
                  <a:pt x="397" y="469"/>
                  <a:pt x="0" y="0"/>
                </a:cubicBezTo>
              </a:path>
            </a:pathLst>
          </a:custGeom>
          <a:noFill/>
          <a:ln w="28575">
            <a:solidFill>
              <a:srgbClr val="F81908"/>
            </a:solidFill>
            <a:prstDash val="lgDash"/>
            <a:round/>
            <a:headEnd/>
            <a:tailEnd type="arrow" w="med" len="med"/>
          </a:ln>
        </p:spPr>
        <p:txBody>
          <a:bodyPr>
            <a:spAutoFit/>
          </a:bodyPr>
          <a:lstStyle/>
          <a:p>
            <a:pPr algn="ctr" eaLnBrk="0" fontAlgn="base" hangingPunct="0">
              <a:spcBef>
                <a:spcPct val="0"/>
              </a:spcBef>
              <a:spcAft>
                <a:spcPct val="0"/>
              </a:spcAft>
            </a:pPr>
            <a:endParaRPr kumimoji="1" lang="zh-CN" altLang="en-US" sz="2800">
              <a:solidFill>
                <a:srgbClr val="000000"/>
              </a:solidFill>
              <a:latin typeface="Times New Roman" pitchFamily="18" charset="0"/>
            </a:endParaRPr>
          </a:p>
        </p:txBody>
      </p:sp>
      <p:sp>
        <p:nvSpPr>
          <p:cNvPr id="42" name="Rectangle 45"/>
          <p:cNvSpPr>
            <a:spLocks noChangeArrowheads="1"/>
          </p:cNvSpPr>
          <p:nvPr/>
        </p:nvSpPr>
        <p:spPr bwMode="auto">
          <a:xfrm>
            <a:off x="3140075" y="919163"/>
            <a:ext cx="469900" cy="708025"/>
          </a:xfrm>
          <a:prstGeom prst="rect">
            <a:avLst/>
          </a:prstGeom>
          <a:noFill/>
          <a:ln w="12700" cap="rnd" algn="ctr">
            <a:noFill/>
            <a:miter lim="800000"/>
            <a:headEnd/>
            <a:tailEnd/>
          </a:ln>
        </p:spPr>
        <p:txBody>
          <a:bodyPr wrap="none" anchor="ctr">
            <a:spAutoFit/>
          </a:bodyPr>
          <a:lstStyle/>
          <a:p>
            <a:pPr algn="ctr" eaLnBrk="0" fontAlgn="base" hangingPunct="0">
              <a:spcBef>
                <a:spcPct val="0"/>
              </a:spcBef>
              <a:spcAft>
                <a:spcPct val="0"/>
              </a:spcAft>
            </a:pPr>
            <a:r>
              <a:rPr kumimoji="1" lang="en-US" altLang="zh-CN" sz="4000" b="1">
                <a:solidFill>
                  <a:srgbClr val="0000FF"/>
                </a:solidFill>
                <a:latin typeface="Times New Roman" pitchFamily="18" charset="0"/>
              </a:rPr>
              <a:t>p</a:t>
            </a:r>
          </a:p>
        </p:txBody>
      </p:sp>
      <p:sp>
        <p:nvSpPr>
          <p:cNvPr id="43" name="Line 50"/>
          <p:cNvSpPr>
            <a:spLocks noChangeShapeType="1"/>
          </p:cNvSpPr>
          <p:nvPr/>
        </p:nvSpPr>
        <p:spPr bwMode="auto">
          <a:xfrm>
            <a:off x="3538537" y="1341438"/>
            <a:ext cx="642938" cy="785812"/>
          </a:xfrm>
          <a:prstGeom prst="line">
            <a:avLst/>
          </a:prstGeom>
          <a:noFill/>
          <a:ln w="28575" cap="rnd">
            <a:solidFill>
              <a:srgbClr val="0000FF"/>
            </a:solidFill>
            <a:round/>
            <a:headEnd/>
            <a:tailEnd type="triangle" w="med" len="med"/>
          </a:ln>
        </p:spPr>
        <p:txBody>
          <a:bodyPr>
            <a:spAutoFit/>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Tree>
    <p:extLst>
      <p:ext uri="{BB962C8B-B14F-4D97-AF65-F5344CB8AC3E}">
        <p14:creationId xmlns:p14="http://schemas.microsoft.com/office/powerpoint/2010/main" val="365391259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endParaRPr kumimoji="1" lang="zh-CN" altLang="en-US" sz="3200" b="1" dirty="0">
              <a:latin typeface="Arial" charset="0"/>
              <a:ea typeface="宋体" charset="-122"/>
              <a:cs typeface="+mn-cs"/>
            </a:endParaRP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BBAAEFA3-B82C-4A45-9F1D-4E30C0878E1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104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4" name="Rectangle 3"/>
          <p:cNvSpPr txBox="1">
            <a:spLocks noChangeArrowheads="1"/>
          </p:cNvSpPr>
          <p:nvPr/>
        </p:nvSpPr>
        <p:spPr bwMode="auto">
          <a:xfrm>
            <a:off x="-15875" y="693738"/>
            <a:ext cx="9159875" cy="6264275"/>
          </a:xfrm>
          <a:prstGeom prst="rect">
            <a:avLst/>
          </a:prstGeom>
          <a:noFill/>
          <a:ln w="9525">
            <a:solidFill>
              <a:srgbClr val="04617B"/>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Status </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a:rPr>
              <a:t>InthreadTraverse</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a:rPr>
              <a:t>BiThrTree</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T</a:t>
            </a:r>
            <a:r>
              <a:rPr kumimoji="0" lang="zh-CN" altLang="en-US" sz="2000" b="1" i="0" u="none" strike="noStrike" kern="0" cap="none" spc="0" normalizeH="0" baseline="0" noProof="0" dirty="0">
                <a:ln>
                  <a:noFill/>
                </a:ln>
                <a:solidFill>
                  <a:srgbClr val="0000FF"/>
                </a:solidFill>
                <a:effectLst/>
                <a:uLnTx/>
                <a:uFillTx/>
                <a:latin typeface="Times New Roman" pitchFamily="18" charset="0"/>
                <a:ea typeface="宋体"/>
              </a:rPr>
              <a:t>，</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Status(*visit)){</a:t>
            </a: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中序遍历线索二叉树</a:t>
            </a: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T</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的非递归算法</a:t>
            </a: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T</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指向线索二叉树的头结点，头结点的</a:t>
            </a:r>
            <a:r>
              <a:rPr kumimoji="0" lang="en-US" altLang="zh-CN" sz="2000" b="1" i="0" u="none" strike="noStrike" kern="0" cap="none" spc="0" normalizeH="0" baseline="0" noProof="0" dirty="0" err="1">
                <a:ln>
                  <a:noFill/>
                </a:ln>
                <a:solidFill>
                  <a:srgbClr val="000000"/>
                </a:solidFill>
                <a:effectLst/>
                <a:uLnTx/>
                <a:uFillTx/>
                <a:latin typeface="Times New Roman" pitchFamily="18" charset="0"/>
                <a:ea typeface="宋体"/>
              </a:rPr>
              <a:t>lch</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指向根结点，中序的最后一个结点指向根结点。每次判定结点的</a:t>
            </a:r>
            <a:r>
              <a:rPr kumimoji="0" lang="en-US" altLang="zh-CN" sz="2000" b="1" i="0" u="none" strike="noStrike" kern="0" cap="none" spc="0" normalizeH="0" baseline="0" noProof="0" dirty="0" err="1">
                <a:ln>
                  <a:noFill/>
                </a:ln>
                <a:solidFill>
                  <a:srgbClr val="000000"/>
                </a:solidFill>
                <a:effectLst/>
                <a:uLnTx/>
                <a:uFillTx/>
                <a:latin typeface="Times New Roman" pitchFamily="18" charset="0"/>
                <a:ea typeface="宋体"/>
              </a:rPr>
              <a:t>ltag</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和</a:t>
            </a:r>
            <a:r>
              <a:rPr kumimoji="0" lang="en-US" altLang="zh-CN" sz="2000" b="1" i="0" u="none" strike="noStrike" kern="0" cap="none" spc="0" normalizeH="0" baseline="0" noProof="0" dirty="0" err="1">
                <a:ln>
                  <a:noFill/>
                </a:ln>
                <a:solidFill>
                  <a:srgbClr val="000000"/>
                </a:solidFill>
                <a:effectLst/>
                <a:uLnTx/>
                <a:uFillTx/>
                <a:latin typeface="Times New Roman" pitchFamily="18" charset="0"/>
                <a:ea typeface="宋体"/>
              </a:rPr>
              <a:t>rtag</a:t>
            </a:r>
            <a:endPar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endParaRP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p=T-&gt;</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a:rPr>
              <a:t>lch</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a:t>
            </a: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//p</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指向二叉树真正的根结点</a:t>
            </a:r>
            <a:endPar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endParaRP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while(p!=T</a:t>
            </a:r>
            <a:r>
              <a:rPr kumimoji="0" lang="en-US" altLang="zh-CN" sz="2000" b="1" i="0" u="none" strike="noStrike" kern="0" cap="none" spc="0" normalizeH="0" baseline="0" noProof="0" dirty="0">
                <a:ln>
                  <a:noFill/>
                </a:ln>
                <a:solidFill>
                  <a:srgbClr val="002060"/>
                </a:solidFill>
                <a:effectLst/>
                <a:uLnTx/>
                <a:uFillTx/>
                <a:latin typeface="Times New Roman" pitchFamily="18" charset="0"/>
                <a:ea typeface="宋体"/>
              </a:rPr>
              <a:t>){                                  //</a:t>
            </a:r>
            <a:r>
              <a:rPr kumimoji="0" lang="zh-CN" altLang="en-US" sz="2000" b="1" i="0" u="none" strike="noStrike" kern="0" cap="none" spc="0" normalizeH="0" baseline="0" noProof="0" dirty="0">
                <a:ln>
                  <a:noFill/>
                </a:ln>
                <a:solidFill>
                  <a:srgbClr val="002060"/>
                </a:solidFill>
                <a:effectLst/>
                <a:uLnTx/>
                <a:uFillTx/>
                <a:latin typeface="Times New Roman" pitchFamily="18" charset="0"/>
                <a:ea typeface="宋体"/>
              </a:rPr>
              <a:t>空树或遍历结束时，</a:t>
            </a:r>
            <a:r>
              <a:rPr kumimoji="0" lang="en-US" altLang="zh-CN" sz="2000" b="1" i="0" u="none" strike="noStrike" kern="0" cap="none" spc="0" normalizeH="0" baseline="0" noProof="0" dirty="0">
                <a:ln>
                  <a:noFill/>
                </a:ln>
                <a:solidFill>
                  <a:srgbClr val="002060"/>
                </a:solidFill>
                <a:effectLst/>
                <a:uLnTx/>
                <a:uFillTx/>
                <a:latin typeface="Times New Roman" pitchFamily="18" charset="0"/>
                <a:ea typeface="宋体"/>
              </a:rPr>
              <a:t>p=T                              </a:t>
            </a:r>
            <a:endParaRPr kumimoji="0" lang="zh-CN" altLang="en-US" sz="2000" b="1" i="0" u="none" strike="noStrike" kern="0" cap="none" spc="0" normalizeH="0" baseline="0" noProof="0" dirty="0">
              <a:ln>
                <a:noFill/>
              </a:ln>
              <a:solidFill>
                <a:srgbClr val="002060"/>
              </a:solidFill>
              <a:effectLst/>
              <a:uLnTx/>
              <a:uFillTx/>
              <a:latin typeface="Times New Roman" pitchFamily="18" charset="0"/>
              <a:ea typeface="宋体"/>
            </a:endParaRP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   </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while (p-&gt;</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a:rPr>
              <a:t>ltag</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==0</a:t>
            </a:r>
            <a:r>
              <a:rPr kumimoji="0" lang="zh-CN" altLang="en-US" sz="2000" b="1" i="0" u="none" strike="noStrike" kern="0" cap="none" spc="0" normalizeH="0" baseline="0" noProof="0" dirty="0">
                <a:ln>
                  <a:noFill/>
                </a:ln>
                <a:solidFill>
                  <a:srgbClr val="0000FF"/>
                </a:solidFill>
                <a:effectLst/>
                <a:uLnTx/>
                <a:uFillTx/>
                <a:latin typeface="Times New Roman" pitchFamily="18" charset="0"/>
                <a:ea typeface="宋体"/>
              </a:rPr>
              <a:t>）</a:t>
            </a:r>
            <a:r>
              <a:rPr kumimoji="0" lang="zh-CN" altLang="en-US" sz="2000" b="1" i="0" u="none" strike="noStrike" kern="0" cap="none" spc="0" normalizeH="0" baseline="0" noProof="0" dirty="0">
                <a:ln>
                  <a:noFill/>
                </a:ln>
                <a:solidFill>
                  <a:srgbClr val="FF3300"/>
                </a:solidFill>
                <a:effectLst/>
                <a:uLnTx/>
                <a:uFillTx/>
                <a:latin typeface="Times New Roman" pitchFamily="18" charset="0"/>
                <a:ea typeface="宋体"/>
              </a:rPr>
              <a:t>     </a:t>
            </a:r>
            <a:r>
              <a:rPr kumimoji="0" lang="en-US" altLang="zh-CN" sz="2000" b="1" i="0" u="none" strike="noStrike" kern="0" cap="none" spc="0" normalizeH="0" baseline="0" noProof="0" dirty="0">
                <a:ln>
                  <a:noFill/>
                </a:ln>
                <a:solidFill>
                  <a:srgbClr val="FF3300"/>
                </a:solidFill>
                <a:effectLst/>
                <a:uLnTx/>
                <a:uFillTx/>
                <a:latin typeface="Times New Roman" pitchFamily="18" charset="0"/>
                <a:ea typeface="宋体"/>
              </a:rPr>
              <a:t>p=p-&gt;</a:t>
            </a:r>
            <a:r>
              <a:rPr kumimoji="0" lang="en-US" altLang="zh-CN" sz="2000" b="1" i="0" u="none" strike="noStrike" kern="0" cap="none" spc="0" normalizeH="0" baseline="0" noProof="0" dirty="0" err="1">
                <a:ln>
                  <a:noFill/>
                </a:ln>
                <a:solidFill>
                  <a:srgbClr val="FF3300"/>
                </a:solidFill>
                <a:effectLst/>
                <a:uLnTx/>
                <a:uFillTx/>
                <a:latin typeface="Times New Roman" pitchFamily="18" charset="0"/>
                <a:ea typeface="宋体"/>
              </a:rPr>
              <a:t>lch</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a:t>
            </a: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找中序序列的开始结点</a:t>
            </a:r>
            <a:endPar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endParaRP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visit(p-&gt;data)                           //</a:t>
            </a:r>
            <a:r>
              <a:rPr kumimoji="0" lang="zh-CN" altLang="en-US" sz="2000" b="1" i="0" u="none" strike="noStrike" kern="0" cap="none" spc="0" normalizeH="0" baseline="0" noProof="0" dirty="0">
                <a:ln>
                  <a:noFill/>
                </a:ln>
                <a:solidFill>
                  <a:srgbClr val="0000FF"/>
                </a:solidFill>
                <a:effectLst/>
                <a:uLnTx/>
                <a:uFillTx/>
                <a:latin typeface="Times New Roman" pitchFamily="18" charset="0"/>
                <a:ea typeface="宋体"/>
              </a:rPr>
              <a:t>访问图中的结点</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a</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a:t>
            </a: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  </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while (</a:t>
            </a:r>
            <a:r>
              <a:rPr kumimoji="0" lang="en-US" altLang="zh-CN" sz="2000" b="1" i="0" u="none" strike="noStrike" kern="0" cap="none" spc="0" normalizeH="0" baseline="0" noProof="0" dirty="0">
                <a:ln>
                  <a:noFill/>
                </a:ln>
                <a:solidFill>
                  <a:srgbClr val="F81908"/>
                </a:solidFill>
                <a:effectLst/>
                <a:uLnTx/>
                <a:uFillTx/>
                <a:latin typeface="Times New Roman" pitchFamily="18" charset="0"/>
                <a:ea typeface="宋体"/>
              </a:rPr>
              <a:t>p-&gt;</a:t>
            </a:r>
            <a:r>
              <a:rPr kumimoji="0" lang="en-US" altLang="zh-CN" sz="2000" b="1" i="0" u="none" strike="noStrike" kern="0" cap="none" spc="0" normalizeH="0" baseline="0" noProof="0" dirty="0" err="1">
                <a:ln>
                  <a:noFill/>
                </a:ln>
                <a:solidFill>
                  <a:srgbClr val="F81908"/>
                </a:solidFill>
                <a:effectLst/>
                <a:uLnTx/>
                <a:uFillTx/>
                <a:latin typeface="Times New Roman" pitchFamily="18" charset="0"/>
                <a:ea typeface="宋体"/>
              </a:rPr>
              <a:t>rtag</a:t>
            </a:r>
            <a:r>
              <a:rPr kumimoji="0" lang="en-US" altLang="zh-CN" sz="2000" b="1" i="0" u="none" strike="noStrike" kern="0" cap="none" spc="0" normalizeH="0" baseline="0" noProof="0" dirty="0">
                <a:ln>
                  <a:noFill/>
                </a:ln>
                <a:solidFill>
                  <a:srgbClr val="F81908"/>
                </a:solidFill>
                <a:effectLst/>
                <a:uLnTx/>
                <a:uFillTx/>
                <a:latin typeface="Times New Roman" pitchFamily="18" charset="0"/>
                <a:ea typeface="宋体"/>
              </a:rPr>
              <a:t>==1&amp;&amp;p-&gt;</a:t>
            </a:r>
            <a:r>
              <a:rPr kumimoji="0" lang="en-US" altLang="zh-CN" sz="2000" b="1" i="0" u="none" strike="noStrike" kern="0" cap="none" spc="0" normalizeH="0" baseline="0" noProof="0" dirty="0" err="1">
                <a:ln>
                  <a:noFill/>
                </a:ln>
                <a:solidFill>
                  <a:srgbClr val="F81908"/>
                </a:solidFill>
                <a:effectLst/>
                <a:uLnTx/>
                <a:uFillTx/>
                <a:latin typeface="Times New Roman" pitchFamily="18" charset="0"/>
                <a:ea typeface="宋体"/>
              </a:rPr>
              <a:t>rch</a:t>
            </a:r>
            <a:r>
              <a:rPr kumimoji="0" lang="en-US" altLang="zh-CN" sz="2000" b="1" i="0" u="none" strike="noStrike" kern="0" cap="none" spc="0" normalizeH="0" baseline="0" noProof="0" dirty="0">
                <a:ln>
                  <a:noFill/>
                </a:ln>
                <a:solidFill>
                  <a:srgbClr val="F81908"/>
                </a:solidFill>
                <a:effectLst/>
                <a:uLnTx/>
                <a:uFillTx/>
                <a:latin typeface="Times New Roman" pitchFamily="18" charset="0"/>
                <a:ea typeface="宋体"/>
              </a:rPr>
              <a:t>!=T </a:t>
            </a:r>
            <a:r>
              <a:rPr kumimoji="0" lang="zh-CN" altLang="en-US" sz="2000" b="1" i="0" u="none" strike="noStrike" kern="0" cap="none" spc="0" normalizeH="0" baseline="0" noProof="0" dirty="0">
                <a:ln>
                  <a:noFill/>
                </a:ln>
                <a:solidFill>
                  <a:srgbClr val="F81908"/>
                </a:solidFill>
                <a:effectLst/>
                <a:uLnTx/>
                <a:uFillTx/>
                <a:latin typeface="Times New Roman" pitchFamily="18" charset="0"/>
                <a:ea typeface="宋体"/>
              </a:rPr>
              <a:t>）</a:t>
            </a:r>
            <a:r>
              <a:rPr kumimoji="0" lang="en-US" altLang="zh-CN" sz="2000" b="1" i="0" u="none" strike="noStrike" kern="0" cap="none" spc="0" normalizeH="0" baseline="0" noProof="0" dirty="0">
                <a:ln>
                  <a:noFill/>
                </a:ln>
                <a:solidFill>
                  <a:srgbClr val="F81908"/>
                </a:solidFill>
                <a:effectLst/>
                <a:uLnTx/>
                <a:uFillTx/>
                <a:latin typeface="Times New Roman" pitchFamily="18" charset="0"/>
                <a:ea typeface="宋体"/>
              </a:rPr>
              <a:t> </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a:t>
            </a: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p</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不是中序遍历的最后一个结点</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     p=p-&gt;</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a:rPr>
              <a:t>rch</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a:t>
            </a:r>
            <a:endParaRPr kumimoji="0" lang="zh-CN" altLang="en-US" sz="2000" b="1" i="0" u="none" strike="noStrike" kern="0" cap="none" spc="0" normalizeH="0" baseline="0" noProof="0" dirty="0">
              <a:ln>
                <a:noFill/>
              </a:ln>
              <a:solidFill>
                <a:srgbClr val="0000FF"/>
              </a:solidFill>
              <a:effectLst/>
              <a:uLnTx/>
              <a:uFillTx/>
              <a:latin typeface="Times New Roman" pitchFamily="18" charset="0"/>
              <a:ea typeface="宋体"/>
            </a:endParaRP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a:t>
            </a:r>
            <a:r>
              <a:rPr kumimoji="0" lang="en-US" altLang="zh-CN" sz="2000" b="1" i="0" u="none" strike="noStrike" kern="0" cap="none" spc="0" normalizeH="0" baseline="0" noProof="0" dirty="0">
                <a:ln>
                  <a:noFill/>
                </a:ln>
                <a:solidFill>
                  <a:srgbClr val="FF3300"/>
                </a:solidFill>
                <a:effectLst/>
                <a:uLnTx/>
                <a:uFillTx/>
                <a:latin typeface="Times New Roman" pitchFamily="18" charset="0"/>
                <a:ea typeface="宋体"/>
              </a:rPr>
              <a:t>visit(p-&gt;data)</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                        //</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访问后继结点，当前访问图中</a:t>
            </a: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e</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p=p-&gt;</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a:rPr>
              <a:t>rch</a:t>
            </a: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                                       //</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右线索指向后继结点</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                                                              // </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a:rPr>
              <a:t>重复以上过程，直到有线索指向根为止</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a:rPr>
              <a:t>   </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     return(ok);</a:t>
            </a:r>
          </a:p>
          <a:p>
            <a:pPr marL="639763" marR="0" lvl="1" indent="-246063" algn="l" defTabSz="914400" rtl="0" eaLnBrk="1" fontAlgn="base" latinLnBrk="0" hangingPunct="1">
              <a:lnSpc>
                <a:spcPct val="100000"/>
              </a:lnSpc>
              <a:spcBef>
                <a:spcPct val="20000"/>
              </a:spcBef>
              <a:spcAft>
                <a:spcPct val="0"/>
              </a:spcAft>
              <a:buClr>
                <a:srgbClr val="0F6FC6"/>
              </a:buClr>
              <a:buSzPct val="85000"/>
              <a:buFont typeface="Wingdings 2" pitchFamily="18" charset="2"/>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a:rPr>
              <a:t>}</a:t>
            </a:r>
          </a:p>
        </p:txBody>
      </p:sp>
    </p:spTree>
    <p:extLst>
      <p:ext uri="{BB962C8B-B14F-4D97-AF65-F5344CB8AC3E}">
        <p14:creationId xmlns:p14="http://schemas.microsoft.com/office/powerpoint/2010/main" val="2771377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中序线索化二叉树</a:t>
            </a:r>
          </a:p>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7958132D-3A28-4BA1-99BD-94BCCD6E9ED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105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
          <p:cNvSpPr txBox="1">
            <a:spLocks noChangeArrowheads="1"/>
          </p:cNvSpPr>
          <p:nvPr/>
        </p:nvSpPr>
        <p:spPr bwMode="auto">
          <a:xfrm>
            <a:off x="838200" y="2224088"/>
            <a:ext cx="7464425" cy="3109912"/>
          </a:xfrm>
          <a:prstGeom prst="rect">
            <a:avLst/>
          </a:prstGeom>
          <a:noFill/>
          <a:ln w="12700">
            <a:solidFill>
              <a:srgbClr val="04617B"/>
            </a:solidFill>
            <a:miter lim="800000"/>
            <a:headEnd/>
            <a:tailEnd/>
          </a:ln>
        </p:spPr>
        <p:txBody>
          <a:bodyPr>
            <a:spAutoFit/>
          </a:bodyPr>
          <a:lstStyle/>
          <a:p>
            <a:pPr marL="0" marR="0" lvl="0" indent="0" algn="just" defTabSz="914400" eaLnBrk="1" fontAlgn="base" latinLnBrk="0" hangingPunct="1">
              <a:lnSpc>
                <a:spcPct val="125000"/>
              </a:lnSpc>
              <a:spcBef>
                <a:spcPct val="5000"/>
              </a:spcBef>
              <a:spcAft>
                <a:spcPct val="0"/>
              </a:spcAft>
              <a:buClrTx/>
              <a:buSzTx/>
              <a:buFont typeface="Wingdings" pitchFamily="2" charset="2"/>
              <a:buNone/>
              <a:tabLst/>
              <a:defRPr/>
            </a:pPr>
            <a:r>
              <a:rPr kumimoji="1" lang="zh-CN" altLang="en-US" sz="3200" b="1" i="0" u="none" strike="noStrike" kern="0" cap="none" spc="0" normalizeH="0" baseline="0" noProof="0">
                <a:ln>
                  <a:noFill/>
                </a:ln>
                <a:solidFill>
                  <a:srgbClr val="FF3300"/>
                </a:solidFill>
                <a:effectLst/>
                <a:uLnTx/>
                <a:uFillTx/>
                <a:latin typeface="宋体" pitchFamily="2" charset="-122"/>
              </a:rPr>
              <a:t>线索化的实质</a:t>
            </a:r>
            <a:r>
              <a:rPr kumimoji="1" lang="en-US" altLang="zh-CN" sz="3200" b="1" i="0" u="none" strike="noStrike" kern="0" cap="none" spc="0" normalizeH="0" baseline="0" noProof="0">
                <a:ln>
                  <a:noFill/>
                </a:ln>
                <a:solidFill>
                  <a:srgbClr val="FF3300"/>
                </a:solidFill>
                <a:effectLst/>
                <a:uLnTx/>
                <a:uFillTx/>
                <a:latin typeface="宋体" pitchFamily="2" charset="-122"/>
              </a:rPr>
              <a:t>:</a:t>
            </a:r>
          </a:p>
          <a:p>
            <a:pPr marL="0" marR="0" lvl="0" indent="0" algn="just" defTabSz="914400" eaLnBrk="1" fontAlgn="base" latinLnBrk="0" hangingPunct="1">
              <a:lnSpc>
                <a:spcPct val="125000"/>
              </a:lnSpc>
              <a:spcBef>
                <a:spcPct val="5000"/>
              </a:spcBef>
              <a:spcAft>
                <a:spcPct val="0"/>
              </a:spcAft>
              <a:buClrTx/>
              <a:buSzTx/>
              <a:buFont typeface="Wingdings" pitchFamily="2" charset="2"/>
              <a:buNone/>
              <a:tabLst/>
              <a:defRPr/>
            </a:pPr>
            <a:r>
              <a:rPr kumimoji="1" lang="zh-CN" altLang="en-US" sz="3200" b="1" i="0" u="none" strike="noStrike" kern="0" cap="none" spc="0" normalizeH="0" baseline="0" noProof="0">
                <a:ln>
                  <a:noFill/>
                </a:ln>
                <a:solidFill>
                  <a:srgbClr val="0000FF"/>
                </a:solidFill>
                <a:effectLst/>
                <a:uLnTx/>
                <a:uFillTx/>
                <a:latin typeface="宋体" pitchFamily="2" charset="-122"/>
              </a:rPr>
              <a:t>是将二叉链表中的空指针改为指向前驱或后继的线索，而前驱或后继信息只有在遍历时才能得到，因此线索化的过程即为</a:t>
            </a:r>
            <a:r>
              <a:rPr kumimoji="1" lang="zh-CN" altLang="en-US" sz="3200" b="1" i="0" u="none" strike="noStrike" kern="0" cap="none" spc="0" normalizeH="0" baseline="0" noProof="0">
                <a:ln>
                  <a:noFill/>
                </a:ln>
                <a:solidFill>
                  <a:srgbClr val="FF3300"/>
                </a:solidFill>
                <a:effectLst/>
                <a:uLnTx/>
                <a:uFillTx/>
                <a:latin typeface="宋体" pitchFamily="2" charset="-122"/>
              </a:rPr>
              <a:t>在遍历过程中修改空指针的过程。</a:t>
            </a:r>
            <a:r>
              <a:rPr kumimoji="1" lang="zh-CN" altLang="en-US" sz="3200" b="1" i="0" u="none" strike="noStrike" kern="0" cap="none" spc="0" normalizeH="0" baseline="0" noProof="0">
                <a:ln>
                  <a:noFill/>
                </a:ln>
                <a:solidFill>
                  <a:srgbClr val="0000FF"/>
                </a:solidFill>
                <a:effectLst/>
                <a:uLnTx/>
                <a:uFillTx/>
                <a:latin typeface="宋体" pitchFamily="2" charset="-122"/>
              </a:rPr>
              <a:t>   </a:t>
            </a:r>
          </a:p>
        </p:txBody>
      </p:sp>
    </p:spTree>
    <p:extLst>
      <p:ext uri="{BB962C8B-B14F-4D97-AF65-F5344CB8AC3E}">
        <p14:creationId xmlns:p14="http://schemas.microsoft.com/office/powerpoint/2010/main" val="873760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中序线索化二叉树</a:t>
            </a:r>
          </a:p>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85B2B26E-91E9-401F-B87A-347FA882196A}"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106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
          <p:cNvSpPr txBox="1">
            <a:spLocks noChangeArrowheads="1"/>
          </p:cNvSpPr>
          <p:nvPr/>
        </p:nvSpPr>
        <p:spPr bwMode="auto">
          <a:xfrm>
            <a:off x="304800" y="1752600"/>
            <a:ext cx="3676650" cy="638175"/>
          </a:xfrm>
          <a:prstGeom prst="rect">
            <a:avLst/>
          </a:prstGeom>
          <a:noFill/>
          <a:ln w="12700">
            <a:solidFill>
              <a:srgbClr val="04617B"/>
            </a:solidFill>
            <a:miter lim="800000"/>
            <a:headEnd/>
            <a:tailEnd/>
          </a:ln>
        </p:spPr>
        <p:txBody>
          <a:bodyPr>
            <a:spAutoFit/>
          </a:bodyPr>
          <a:lstStyle/>
          <a:p>
            <a:pPr marL="0" marR="0" lvl="0" indent="0" algn="just" defTabSz="914400" eaLnBrk="1" fontAlgn="base" latinLnBrk="0" hangingPunct="1">
              <a:lnSpc>
                <a:spcPct val="125000"/>
              </a:lnSpc>
              <a:spcBef>
                <a:spcPct val="5000"/>
              </a:spcBef>
              <a:spcAft>
                <a:spcPct val="0"/>
              </a:spcAft>
              <a:buClrTx/>
              <a:buSzTx/>
              <a:buFont typeface="Wingdings" pitchFamily="2" charset="2"/>
              <a:buNone/>
              <a:tabLst/>
              <a:defRPr/>
            </a:pPr>
            <a:r>
              <a:rPr kumimoji="1" lang="zh-CN" altLang="en-US" sz="2800" b="1" i="0" u="none" strike="noStrike" kern="0" cap="none" spc="0" normalizeH="0" baseline="0" noProof="0" dirty="0">
                <a:ln>
                  <a:noFill/>
                </a:ln>
                <a:solidFill>
                  <a:srgbClr val="003300"/>
                </a:solidFill>
                <a:effectLst/>
                <a:uLnTx/>
                <a:uFillTx/>
                <a:latin typeface="宋体" pitchFamily="2" charset="-122"/>
              </a:rPr>
              <a:t>如何建立线索链表？</a:t>
            </a:r>
            <a:endParaRPr kumimoji="1" lang="en-US" altLang="zh-CN" sz="2800" b="1" i="0" u="none" strike="noStrike" kern="0" cap="none" spc="0" normalizeH="0" baseline="0" noProof="0" dirty="0">
              <a:ln>
                <a:noFill/>
              </a:ln>
              <a:solidFill>
                <a:srgbClr val="003300"/>
              </a:solidFill>
              <a:effectLst/>
              <a:uLnTx/>
              <a:uFillTx/>
              <a:latin typeface="宋体" pitchFamily="2" charset="-122"/>
            </a:endParaRPr>
          </a:p>
        </p:txBody>
      </p:sp>
      <p:sp>
        <p:nvSpPr>
          <p:cNvPr id="14" name="AutoShape 8">
            <a:hlinkClick r:id="rId4" action="ppaction://hlinkfile"/>
          </p:cNvPr>
          <p:cNvSpPr>
            <a:spLocks noChangeArrowheads="1"/>
          </p:cNvSpPr>
          <p:nvPr/>
        </p:nvSpPr>
        <p:spPr bwMode="auto">
          <a:xfrm>
            <a:off x="7631113" y="5629275"/>
            <a:ext cx="1462087" cy="1000125"/>
          </a:xfrm>
          <a:custGeom>
            <a:avLst/>
            <a:gdLst>
              <a:gd name="T0" fmla="*/ 162088028 w 21600"/>
              <a:gd name="T1" fmla="*/ 0 h 21600"/>
              <a:gd name="T2" fmla="*/ 0 w 21600"/>
              <a:gd name="T3" fmla="*/ 20307112 h 21600"/>
              <a:gd name="T4" fmla="*/ 162088028 w 21600"/>
              <a:gd name="T5" fmla="*/ 40614181 h 21600"/>
              <a:gd name="T6" fmla="*/ 216117338 w 21600"/>
              <a:gd name="T7" fmla="*/ 20307112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003300"/>
                </a:solidFill>
                <a:effectLst/>
                <a:uLnTx/>
                <a:uFillTx/>
                <a:latin typeface="隶书" pitchFamily="49" charset="-122"/>
                <a:ea typeface="隶书" pitchFamily="49" charset="-122"/>
                <a:cs typeface="+mn-cs"/>
              </a:rPr>
              <a:t>图示</a:t>
            </a:r>
          </a:p>
        </p:txBody>
      </p:sp>
      <p:sp>
        <p:nvSpPr>
          <p:cNvPr id="15" name="Text Box 2"/>
          <p:cNvSpPr txBox="1">
            <a:spLocks noChangeArrowheads="1"/>
          </p:cNvSpPr>
          <p:nvPr/>
        </p:nvSpPr>
        <p:spPr bwMode="auto">
          <a:xfrm>
            <a:off x="304800" y="2486025"/>
            <a:ext cx="8785225" cy="2238375"/>
          </a:xfrm>
          <a:prstGeom prst="rect">
            <a:avLst/>
          </a:prstGeom>
          <a:noFill/>
          <a:ln w="12700" cap="sq">
            <a:solidFill>
              <a:srgbClr val="04617B">
                <a:lumMod val="60000"/>
                <a:lumOff val="40000"/>
              </a:srgbClr>
            </a:solidFill>
            <a:miter lim="800000"/>
            <a:headEnd type="none" w="sm" len="sm"/>
            <a:tailEnd type="none" w="sm" len="sm"/>
          </a:ln>
          <a:effectLst/>
        </p:spPr>
        <p:txBody>
          <a:bodyPr>
            <a:spAutoFit/>
          </a:bodyPr>
          <a:lstStyle/>
          <a:p>
            <a:pPr marL="533400" marR="0" lvl="0" indent="-533400" defTabSz="914400" eaLnBrk="0" fontAlgn="base" latinLnBrk="0" hangingPunct="0">
              <a:lnSpc>
                <a:spcPct val="125000"/>
              </a:lnSpc>
              <a:spcBef>
                <a:spcPct val="0"/>
              </a:spcBef>
              <a:spcAft>
                <a:spcPct val="0"/>
              </a:spcAft>
              <a:buClrTx/>
              <a:buSzTx/>
              <a:buFontTx/>
              <a:buAutoNum type="arabicPeriod"/>
              <a:tabLst/>
              <a:defRPr/>
            </a:pPr>
            <a:r>
              <a:rPr kumimoji="1" lang="en-US" altLang="zh-CN" sz="2800" b="1" i="0" u="none" strike="noStrike" kern="0" cap="none" spc="0" normalizeH="0" baseline="0" noProof="0" dirty="0">
                <a:ln>
                  <a:noFill/>
                </a:ln>
                <a:solidFill>
                  <a:srgbClr val="0000FF"/>
                </a:solidFill>
                <a:effectLst/>
                <a:uLnTx/>
                <a:uFillTx/>
                <a:latin typeface="Times New Roman" pitchFamily="18" charset="0"/>
                <a:ea typeface="楷体_GB2312" pitchFamily="49" charset="-122"/>
              </a:rPr>
              <a:t> </a:t>
            </a:r>
            <a:r>
              <a:rPr kumimoji="1" lang="zh-CN" altLang="en-US" sz="2800" b="1" i="0" u="none" strike="noStrike" kern="0" cap="none" spc="0" normalizeH="0" baseline="0" noProof="0" dirty="0">
                <a:ln>
                  <a:noFill/>
                </a:ln>
                <a:solidFill>
                  <a:srgbClr val="0000FF"/>
                </a:solidFill>
                <a:effectLst/>
                <a:uLnTx/>
                <a:uFillTx/>
                <a:latin typeface="宋体" pitchFamily="2" charset="-122"/>
              </a:rPr>
              <a:t>在中序遍历过程中修改结点的左、右指针域</a:t>
            </a:r>
          </a:p>
          <a:p>
            <a:pPr marL="533400" marR="0" lvl="0" indent="-533400" defTabSz="914400" eaLnBrk="0" fontAlgn="base" latinLnBrk="0" hangingPunct="0">
              <a:lnSpc>
                <a:spcPct val="125000"/>
              </a:lnSpc>
              <a:spcBef>
                <a:spcPct val="0"/>
              </a:spcBef>
              <a:spcAft>
                <a:spcPct val="0"/>
              </a:spcAft>
              <a:buClrTx/>
              <a:buSzTx/>
              <a:buFontTx/>
              <a:buAutoNum type="arabicPeriod"/>
              <a:tabLst/>
              <a:defRPr/>
            </a:pPr>
            <a:r>
              <a:rPr kumimoji="1" lang="zh-CN" altLang="en-US" sz="2800" b="1" i="0" u="none" strike="noStrike" kern="0" cap="none" spc="0" normalizeH="0" baseline="0" noProof="0" dirty="0">
                <a:ln>
                  <a:noFill/>
                </a:ln>
                <a:solidFill>
                  <a:srgbClr val="0000FF"/>
                </a:solidFill>
                <a:effectLst/>
                <a:uLnTx/>
                <a:uFillTx/>
                <a:latin typeface="宋体" pitchFamily="2" charset="-122"/>
              </a:rPr>
              <a:t>保存当前访问结点的“前驱”和“后继”信息。</a:t>
            </a:r>
          </a:p>
          <a:p>
            <a:pPr marL="533400" marR="0" lvl="0" indent="-533400" defTabSz="914400" eaLnBrk="0" fontAlgn="base" latinLnBrk="0" hangingPunct="0">
              <a:lnSpc>
                <a:spcPct val="125000"/>
              </a:lnSpc>
              <a:spcBef>
                <a:spcPct val="0"/>
              </a:spcBef>
              <a:spcAft>
                <a:spcPct val="0"/>
              </a:spcAft>
              <a:buClrTx/>
              <a:buSzTx/>
              <a:buFontTx/>
              <a:buAutoNum type="arabicPeriod"/>
              <a:tabLst/>
              <a:defRPr/>
            </a:pPr>
            <a:r>
              <a:rPr kumimoji="1" lang="zh-CN" altLang="en-US" sz="2800" b="1" i="0" u="none" strike="noStrike" kern="0" cap="none" spc="0" normalizeH="0" baseline="0" noProof="0" dirty="0">
                <a:ln>
                  <a:noFill/>
                </a:ln>
                <a:solidFill>
                  <a:srgbClr val="0000FF"/>
                </a:solidFill>
                <a:effectLst/>
                <a:uLnTx/>
                <a:uFillTx/>
                <a:latin typeface="宋体" pitchFamily="2" charset="-122"/>
              </a:rPr>
              <a:t>遍历过程中，附设指针</a:t>
            </a:r>
            <a:r>
              <a:rPr kumimoji="1" lang="en-US" altLang="zh-CN" sz="2800" b="1" i="0" u="none" strike="noStrike" kern="0" cap="none" spc="0" normalizeH="0" baseline="0" noProof="0" dirty="0">
                <a:ln>
                  <a:noFill/>
                </a:ln>
                <a:solidFill>
                  <a:srgbClr val="0000FF"/>
                </a:solidFill>
                <a:effectLst/>
                <a:uLnTx/>
                <a:uFillTx/>
                <a:latin typeface="宋体" pitchFamily="2" charset="-122"/>
              </a:rPr>
              <a:t>pre,</a:t>
            </a:r>
            <a:r>
              <a:rPr kumimoji="1" lang="zh-CN" altLang="en-US" sz="2800" b="1" i="0" u="none" strike="noStrike" kern="0" cap="none" spc="0" normalizeH="0" baseline="0" noProof="0" dirty="0">
                <a:ln>
                  <a:noFill/>
                </a:ln>
                <a:solidFill>
                  <a:srgbClr val="0000FF"/>
                </a:solidFill>
                <a:effectLst/>
                <a:uLnTx/>
                <a:uFillTx/>
                <a:latin typeface="宋体" pitchFamily="2" charset="-122"/>
              </a:rPr>
              <a:t> </a:t>
            </a:r>
            <a:r>
              <a:rPr kumimoji="1" lang="en-US" altLang="zh-CN" sz="2800" b="1" i="0" u="none" strike="noStrike" kern="0" cap="none" spc="0" normalizeH="0" baseline="0" noProof="0" dirty="0">
                <a:ln>
                  <a:noFill/>
                </a:ln>
                <a:solidFill>
                  <a:srgbClr val="0000FF"/>
                </a:solidFill>
                <a:effectLst/>
                <a:uLnTx/>
                <a:uFillTx/>
                <a:latin typeface="宋体" pitchFamily="2" charset="-122"/>
              </a:rPr>
              <a:t>pre</a:t>
            </a:r>
            <a:r>
              <a:rPr kumimoji="1" lang="zh-CN" altLang="en-US" sz="2800" b="1" i="0" u="none" strike="noStrike" kern="0" cap="none" spc="0" normalizeH="0" baseline="0" noProof="0" dirty="0">
                <a:ln>
                  <a:noFill/>
                </a:ln>
                <a:solidFill>
                  <a:srgbClr val="0000FF"/>
                </a:solidFill>
                <a:effectLst/>
                <a:uLnTx/>
                <a:uFillTx/>
                <a:latin typeface="宋体" pitchFamily="2" charset="-122"/>
              </a:rPr>
              <a:t>指向刚访问过的结点。</a:t>
            </a:r>
            <a:r>
              <a:rPr kumimoji="1" lang="en-US" altLang="zh-CN" sz="2800" b="1" i="0" u="none" strike="noStrike" kern="0" cap="none" spc="0" normalizeH="0" baseline="0" noProof="0" dirty="0">
                <a:ln>
                  <a:noFill/>
                </a:ln>
                <a:solidFill>
                  <a:srgbClr val="0000FF"/>
                </a:solidFill>
                <a:effectLst/>
                <a:uLnTx/>
                <a:uFillTx/>
                <a:latin typeface="宋体" pitchFamily="2" charset="-122"/>
              </a:rPr>
              <a:t>P</a:t>
            </a:r>
            <a:r>
              <a:rPr kumimoji="1" lang="zh-CN" altLang="en-US" sz="2800" b="1" i="0" u="none" strike="noStrike" kern="0" cap="none" spc="0" normalizeH="0" baseline="0" noProof="0" dirty="0">
                <a:ln>
                  <a:noFill/>
                </a:ln>
                <a:solidFill>
                  <a:srgbClr val="0000FF"/>
                </a:solidFill>
                <a:effectLst/>
                <a:uLnTx/>
                <a:uFillTx/>
                <a:latin typeface="宋体" pitchFamily="2" charset="-122"/>
              </a:rPr>
              <a:t>指向当前访问结点。即</a:t>
            </a:r>
            <a:r>
              <a:rPr kumimoji="1" lang="en-US" altLang="zh-CN" sz="2800" b="1" i="0" u="none" strike="noStrike" kern="0" cap="none" spc="0" normalizeH="0" baseline="0" noProof="0" dirty="0">
                <a:ln>
                  <a:noFill/>
                </a:ln>
                <a:solidFill>
                  <a:srgbClr val="0000FF"/>
                </a:solidFill>
                <a:effectLst/>
                <a:uLnTx/>
                <a:uFillTx/>
                <a:latin typeface="宋体" pitchFamily="2" charset="-122"/>
              </a:rPr>
              <a:t>pre</a:t>
            </a:r>
            <a:r>
              <a:rPr kumimoji="1" lang="zh-CN" altLang="en-US" sz="2800" b="1" i="0" u="none" strike="noStrike" kern="0" cap="none" spc="0" normalizeH="0" baseline="0" noProof="0" dirty="0">
                <a:ln>
                  <a:noFill/>
                </a:ln>
                <a:solidFill>
                  <a:srgbClr val="0000FF"/>
                </a:solidFill>
                <a:effectLst/>
                <a:uLnTx/>
                <a:uFillTx/>
                <a:latin typeface="宋体" pitchFamily="2" charset="-122"/>
              </a:rPr>
              <a:t>是</a:t>
            </a:r>
            <a:r>
              <a:rPr kumimoji="1" lang="en-US" altLang="zh-CN" sz="2800" b="1" i="0" u="none" strike="noStrike" kern="0" cap="none" spc="0" normalizeH="0" baseline="0" noProof="0" dirty="0">
                <a:ln>
                  <a:noFill/>
                </a:ln>
                <a:solidFill>
                  <a:srgbClr val="0000FF"/>
                </a:solidFill>
                <a:effectLst/>
                <a:uLnTx/>
                <a:uFillTx/>
                <a:latin typeface="宋体" pitchFamily="2" charset="-122"/>
              </a:rPr>
              <a:t>p</a:t>
            </a:r>
            <a:r>
              <a:rPr kumimoji="1" lang="zh-CN" altLang="en-US" sz="2800" b="1" i="0" u="none" strike="noStrike" kern="0" cap="none" spc="0" normalizeH="0" baseline="0" noProof="0" dirty="0">
                <a:ln>
                  <a:noFill/>
                </a:ln>
                <a:solidFill>
                  <a:srgbClr val="0000FF"/>
                </a:solidFill>
                <a:effectLst/>
                <a:uLnTx/>
                <a:uFillTx/>
                <a:latin typeface="宋体" pitchFamily="2" charset="-122"/>
              </a:rPr>
              <a:t>的前驱</a:t>
            </a:r>
          </a:p>
        </p:txBody>
      </p:sp>
      <p:sp>
        <p:nvSpPr>
          <p:cNvPr id="16" name="Text Box 2"/>
          <p:cNvSpPr txBox="1">
            <a:spLocks noChangeArrowheads="1"/>
          </p:cNvSpPr>
          <p:nvPr/>
        </p:nvSpPr>
        <p:spPr bwMode="auto">
          <a:xfrm>
            <a:off x="1344613" y="4914900"/>
            <a:ext cx="5300662" cy="1192213"/>
          </a:xfrm>
          <a:prstGeom prst="rect">
            <a:avLst/>
          </a:prstGeom>
          <a:noFill/>
          <a:ln w="12700">
            <a:solidFill>
              <a:srgbClr val="04617B"/>
            </a:solidFill>
            <a:miter lim="800000"/>
            <a:headEnd/>
            <a:tailEnd/>
          </a:ln>
        </p:spPr>
        <p:txBody>
          <a:bodyPr>
            <a:spAutoFit/>
          </a:bodyPr>
          <a:lstStyle/>
          <a:p>
            <a:pPr marL="0" marR="0" lvl="0" indent="0" algn="just" defTabSz="914400" eaLnBrk="1" fontAlgn="base" latinLnBrk="0" hangingPunct="1">
              <a:lnSpc>
                <a:spcPct val="125000"/>
              </a:lnSpc>
              <a:spcBef>
                <a:spcPct val="5000"/>
              </a:spcBef>
              <a:spcAft>
                <a:spcPct val="0"/>
              </a:spcAft>
              <a:buClrTx/>
              <a:buSzTx/>
              <a:buFont typeface="Wingdings" pitchFamily="2" charset="2"/>
              <a:buNone/>
              <a:tabLst/>
              <a:defRPr/>
            </a:pPr>
            <a:r>
              <a:rPr kumimoji="1" lang="zh-CN" altLang="en-US" sz="2800" b="1" i="0" u="none" strike="noStrike" kern="0" cap="none" spc="0" normalizeH="0" baseline="0" noProof="0">
                <a:ln>
                  <a:noFill/>
                </a:ln>
                <a:solidFill>
                  <a:srgbClr val="FF3300"/>
                </a:solidFill>
                <a:effectLst/>
                <a:uLnTx/>
                <a:uFillTx/>
                <a:latin typeface="宋体" pitchFamily="2" charset="-122"/>
              </a:rPr>
              <a:t>类似线性表的两个相邻的结点，</a:t>
            </a:r>
          </a:p>
          <a:p>
            <a:pPr marL="0" marR="0" lvl="0" indent="0" algn="just" defTabSz="914400" eaLnBrk="1" fontAlgn="base" latinLnBrk="0" hangingPunct="1">
              <a:lnSpc>
                <a:spcPct val="125000"/>
              </a:lnSpc>
              <a:spcBef>
                <a:spcPct val="5000"/>
              </a:spcBef>
              <a:spcAft>
                <a:spcPct val="0"/>
              </a:spcAft>
              <a:buClrTx/>
              <a:buSzTx/>
              <a:buFont typeface="Wingdings" pitchFamily="2" charset="2"/>
              <a:buNone/>
              <a:tabLst/>
              <a:defRPr/>
            </a:pPr>
            <a:r>
              <a:rPr kumimoji="1" lang="zh-CN" altLang="en-US" sz="2800" b="1" i="0" u="none" strike="noStrike" kern="0" cap="none" spc="0" normalizeH="0" baseline="0" noProof="0">
                <a:ln>
                  <a:noFill/>
                </a:ln>
                <a:solidFill>
                  <a:srgbClr val="FF3300"/>
                </a:solidFill>
                <a:effectLst/>
                <a:uLnTx/>
                <a:uFillTx/>
                <a:latin typeface="宋体" pitchFamily="2" charset="-122"/>
              </a:rPr>
              <a:t>修改相应的</a:t>
            </a:r>
            <a:r>
              <a:rPr kumimoji="1" lang="en-US" altLang="zh-CN" sz="2800" b="1" i="0" u="none" strike="noStrike" kern="0" cap="none" spc="0" normalizeH="0" baseline="0" noProof="0">
                <a:ln>
                  <a:noFill/>
                </a:ln>
                <a:solidFill>
                  <a:srgbClr val="FF3300"/>
                </a:solidFill>
                <a:effectLst/>
                <a:uLnTx/>
                <a:uFillTx/>
                <a:latin typeface="宋体" pitchFamily="2" charset="-122"/>
              </a:rPr>
              <a:t>pre</a:t>
            </a:r>
            <a:r>
              <a:rPr kumimoji="1" lang="zh-CN" altLang="en-US" sz="2800" b="1" i="0" u="none" strike="noStrike" kern="0" cap="none" spc="0" normalizeH="0" baseline="0" noProof="0">
                <a:ln>
                  <a:noFill/>
                </a:ln>
                <a:solidFill>
                  <a:srgbClr val="FF3300"/>
                </a:solidFill>
                <a:effectLst/>
                <a:uLnTx/>
                <a:uFillTx/>
                <a:latin typeface="宋体" pitchFamily="2" charset="-122"/>
              </a:rPr>
              <a:t>域和</a:t>
            </a:r>
            <a:r>
              <a:rPr kumimoji="1" lang="en-US" altLang="zh-CN" sz="2800" b="1" i="0" u="none" strike="noStrike" kern="0" cap="none" spc="0" normalizeH="0" baseline="0" noProof="0">
                <a:ln>
                  <a:noFill/>
                </a:ln>
                <a:solidFill>
                  <a:srgbClr val="FF3300"/>
                </a:solidFill>
                <a:effectLst/>
                <a:uLnTx/>
                <a:uFillTx/>
                <a:latin typeface="宋体" pitchFamily="2" charset="-122"/>
              </a:rPr>
              <a:t>next</a:t>
            </a:r>
            <a:r>
              <a:rPr kumimoji="1" lang="zh-CN" altLang="en-US" sz="2800" b="1" i="0" u="none" strike="noStrike" kern="0" cap="none" spc="0" normalizeH="0" baseline="0" noProof="0">
                <a:ln>
                  <a:noFill/>
                </a:ln>
                <a:solidFill>
                  <a:srgbClr val="FF3300"/>
                </a:solidFill>
                <a:effectLst/>
                <a:uLnTx/>
                <a:uFillTx/>
                <a:latin typeface="宋体" pitchFamily="2" charset="-122"/>
              </a:rPr>
              <a:t>域</a:t>
            </a:r>
            <a:endParaRPr kumimoji="1" lang="zh-CN" altLang="en-US" sz="2800" b="1" i="0" u="none" strike="noStrike" kern="0" cap="none" spc="0" normalizeH="0" baseline="0" noProof="0">
              <a:ln>
                <a:noFill/>
              </a:ln>
              <a:solidFill>
                <a:srgbClr val="0000FF"/>
              </a:solidFill>
              <a:effectLst/>
              <a:uLnTx/>
              <a:uFillTx/>
              <a:latin typeface="宋体" pitchFamily="2" charset="-122"/>
            </a:endParaRPr>
          </a:p>
        </p:txBody>
      </p:sp>
    </p:spTree>
    <p:extLst>
      <p:ext uri="{BB962C8B-B14F-4D97-AF65-F5344CB8AC3E}">
        <p14:creationId xmlns:p14="http://schemas.microsoft.com/office/powerpoint/2010/main" val="99397574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构建中序线索化二叉树</a:t>
            </a:r>
            <a:r>
              <a:rPr lang="en-US" altLang="zh-CN" sz="2000" b="1" dirty="0">
                <a:solidFill>
                  <a:srgbClr val="FF0000"/>
                </a:solidFill>
              </a:rPr>
              <a:t>//</a:t>
            </a:r>
            <a:r>
              <a:rPr lang="zh-CN" altLang="en-US" sz="2000" b="1" dirty="0">
                <a:solidFill>
                  <a:srgbClr val="FF0000"/>
                </a:solidFill>
              </a:rPr>
              <a:t>有头结点</a:t>
            </a:r>
          </a:p>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7922A6A7-AF7C-4BF7-B493-ACA98B26706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107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4" name="Text Box 2"/>
          <p:cNvSpPr txBox="1">
            <a:spLocks noChangeArrowheads="1"/>
          </p:cNvSpPr>
          <p:nvPr/>
        </p:nvSpPr>
        <p:spPr bwMode="auto">
          <a:xfrm>
            <a:off x="481013" y="1876425"/>
            <a:ext cx="8358187" cy="3933384"/>
          </a:xfrm>
          <a:prstGeom prst="rect">
            <a:avLst/>
          </a:prstGeom>
          <a:noFill/>
          <a:ln w="12700" cap="sq">
            <a:solidFill>
              <a:srgbClr val="0000FF"/>
            </a:solidFill>
            <a:miter lim="800000"/>
            <a:headEnd type="none" w="sm" len="sm"/>
            <a:tailEnd type="none" w="sm" len="sm"/>
          </a:ln>
        </p:spPr>
        <p:txBody>
          <a:bodyPr wrap="square">
            <a:spAutoFit/>
          </a:bodyPr>
          <a:lstStyle/>
          <a:p>
            <a:pPr eaLnBrk="0" fontAlgn="base" hangingPunct="0">
              <a:lnSpc>
                <a:spcPct val="120000"/>
              </a:lnSpc>
              <a:spcBef>
                <a:spcPct val="0"/>
              </a:spcBef>
              <a:spcAft>
                <a:spcPct val="0"/>
              </a:spcAft>
            </a:pPr>
            <a:r>
              <a:rPr kumimoji="1" lang="en-US" altLang="zh-CN" sz="2000" b="1">
                <a:solidFill>
                  <a:srgbClr val="0000FF"/>
                </a:solidFill>
                <a:latin typeface="Times New Roman" pitchFamily="18" charset="0"/>
                <a:ea typeface="楷体_GB2312" pitchFamily="49" charset="-122"/>
              </a:rPr>
              <a:t>Status InOrderThreading(BiThrTree &amp;head,  BiThrTree T) {     </a:t>
            </a:r>
          </a:p>
          <a:p>
            <a:pPr eaLnBrk="0" fontAlgn="base" hangingPunct="0">
              <a:lnSpc>
                <a:spcPct val="120000"/>
              </a:lnSpc>
              <a:spcBef>
                <a:spcPct val="0"/>
              </a:spcBef>
              <a:spcAft>
                <a:spcPct val="0"/>
              </a:spcAft>
            </a:pPr>
            <a:r>
              <a:rPr kumimoji="1" lang="en-US" altLang="zh-CN" sz="2400" b="1">
                <a:solidFill>
                  <a:srgbClr val="0000FF"/>
                </a:solidFill>
                <a:latin typeface="Times New Roman" pitchFamily="18" charset="0"/>
                <a:ea typeface="楷体_GB2312" pitchFamily="49" charset="-122"/>
              </a:rPr>
              <a:t>   </a:t>
            </a:r>
            <a:r>
              <a:rPr kumimoji="1" lang="en-US" altLang="zh-CN" sz="2800" b="1">
                <a:solidFill>
                  <a:srgbClr val="000000"/>
                </a:solidFill>
                <a:latin typeface="Times New Roman" pitchFamily="18" charset="0"/>
                <a:ea typeface="楷体_GB2312" pitchFamily="49" charset="-122"/>
              </a:rPr>
              <a:t>// </a:t>
            </a:r>
            <a:r>
              <a:rPr kumimoji="1" lang="zh-CN" altLang="en-US" sz="2800" b="1">
                <a:solidFill>
                  <a:srgbClr val="000000"/>
                </a:solidFill>
                <a:latin typeface="Times New Roman" pitchFamily="18" charset="0"/>
                <a:ea typeface="楷体_GB2312" pitchFamily="49" charset="-122"/>
              </a:rPr>
              <a:t>中序遍历二叉树，并将其</a:t>
            </a:r>
            <a:r>
              <a:rPr kumimoji="1" lang="zh-CN" altLang="en-US" sz="2400" b="1">
                <a:solidFill>
                  <a:srgbClr val="000000"/>
                </a:solidFill>
                <a:latin typeface="Times New Roman" pitchFamily="18" charset="0"/>
                <a:ea typeface="楷体_GB2312" pitchFamily="49" charset="-122"/>
              </a:rPr>
              <a:t>线索化，</a:t>
            </a:r>
            <a:r>
              <a:rPr kumimoji="1" lang="en-US" altLang="zh-CN" sz="2400" b="1">
                <a:solidFill>
                  <a:srgbClr val="000000"/>
                </a:solidFill>
                <a:latin typeface="Times New Roman" pitchFamily="18" charset="0"/>
                <a:ea typeface="楷体_GB2312" pitchFamily="49" charset="-122"/>
              </a:rPr>
              <a:t>head</a:t>
            </a:r>
            <a:r>
              <a:rPr kumimoji="1" lang="zh-CN" altLang="en-US" sz="2400" b="1">
                <a:solidFill>
                  <a:srgbClr val="000000"/>
                </a:solidFill>
                <a:latin typeface="Times New Roman" pitchFamily="18" charset="0"/>
                <a:ea typeface="楷体_GB2312" pitchFamily="49" charset="-122"/>
              </a:rPr>
              <a:t>指向头结点</a:t>
            </a:r>
            <a:r>
              <a:rPr kumimoji="1" lang="zh-CN" altLang="en-US" sz="2400" b="1">
                <a:solidFill>
                  <a:srgbClr val="0000FF"/>
                </a:solidFill>
                <a:latin typeface="Times New Roman" pitchFamily="18" charset="0"/>
                <a:ea typeface="楷体_GB2312" pitchFamily="49" charset="-122"/>
              </a:rPr>
              <a:t> </a:t>
            </a:r>
            <a:endParaRPr kumimoji="1" lang="en-US" altLang="zh-CN" sz="2400" b="1">
              <a:solidFill>
                <a:srgbClr val="0000FF"/>
              </a:solidFill>
              <a:latin typeface="Times New Roman" pitchFamily="18" charset="0"/>
              <a:ea typeface="楷体_GB2312" pitchFamily="49" charset="-122"/>
            </a:endParaRPr>
          </a:p>
          <a:p>
            <a:pPr eaLnBrk="0" fontAlgn="base" hangingPunct="0">
              <a:lnSpc>
                <a:spcPct val="120000"/>
              </a:lnSpc>
              <a:spcBef>
                <a:spcPct val="0"/>
              </a:spcBef>
              <a:spcAft>
                <a:spcPct val="0"/>
              </a:spcAft>
            </a:pPr>
            <a:r>
              <a:rPr kumimoji="1" lang="en-US" altLang="zh-CN" sz="2400" b="1">
                <a:solidFill>
                  <a:srgbClr val="0000FF"/>
                </a:solidFill>
                <a:latin typeface="Times New Roman" pitchFamily="18" charset="0"/>
                <a:ea typeface="楷体_GB2312" pitchFamily="49" charset="-122"/>
              </a:rPr>
              <a:t>if (!(head = (BiThrTree)malloc(sizeof( BiThrNode))))  </a:t>
            </a:r>
          </a:p>
          <a:p>
            <a:pPr eaLnBrk="0" fontAlgn="base" hangingPunct="0">
              <a:lnSpc>
                <a:spcPct val="120000"/>
              </a:lnSpc>
              <a:spcBef>
                <a:spcPct val="0"/>
              </a:spcBef>
              <a:spcAft>
                <a:spcPct val="0"/>
              </a:spcAft>
            </a:pPr>
            <a:r>
              <a:rPr kumimoji="1" lang="en-US" altLang="zh-CN" sz="2400" b="1">
                <a:solidFill>
                  <a:srgbClr val="0000FF"/>
                </a:solidFill>
                <a:latin typeface="Times New Roman" pitchFamily="18" charset="0"/>
                <a:ea typeface="楷体_GB2312" pitchFamily="49" charset="-122"/>
              </a:rPr>
              <a:t>exit(OVERFLOW);</a:t>
            </a:r>
          </a:p>
          <a:p>
            <a:pPr eaLnBrk="0" fontAlgn="base" hangingPunct="0">
              <a:lnSpc>
                <a:spcPct val="120000"/>
              </a:lnSpc>
              <a:spcBef>
                <a:spcPct val="0"/>
              </a:spcBef>
              <a:spcAft>
                <a:spcPct val="0"/>
              </a:spcAft>
            </a:pPr>
            <a:r>
              <a:rPr kumimoji="1" lang="en-US" altLang="zh-CN" sz="2800" b="1">
                <a:solidFill>
                  <a:srgbClr val="FF0000"/>
                </a:solidFill>
                <a:latin typeface="Times New Roman" pitchFamily="18" charset="0"/>
                <a:ea typeface="楷体_GB2312" pitchFamily="49" charset="-122"/>
              </a:rPr>
              <a:t>   head-&gt;ltag = 0;  </a:t>
            </a:r>
          </a:p>
          <a:p>
            <a:pPr eaLnBrk="0" fontAlgn="base" hangingPunct="0">
              <a:lnSpc>
                <a:spcPct val="120000"/>
              </a:lnSpc>
              <a:spcBef>
                <a:spcPct val="0"/>
              </a:spcBef>
              <a:spcAft>
                <a:spcPct val="0"/>
              </a:spcAft>
            </a:pPr>
            <a:r>
              <a:rPr kumimoji="1" lang="en-US" altLang="zh-CN" sz="2800" b="1">
                <a:solidFill>
                  <a:srgbClr val="FF0000"/>
                </a:solidFill>
                <a:latin typeface="Times New Roman" pitchFamily="18" charset="0"/>
                <a:ea typeface="楷体_GB2312" pitchFamily="49" charset="-122"/>
              </a:rPr>
              <a:t>   head-&gt;rtag =1; </a:t>
            </a:r>
          </a:p>
          <a:p>
            <a:pPr eaLnBrk="0" fontAlgn="base" hangingPunct="0">
              <a:lnSpc>
                <a:spcPct val="120000"/>
              </a:lnSpc>
              <a:spcBef>
                <a:spcPct val="0"/>
              </a:spcBef>
              <a:spcAft>
                <a:spcPct val="0"/>
              </a:spcAft>
            </a:pPr>
            <a:r>
              <a:rPr kumimoji="1" lang="en-US" altLang="zh-CN" sz="2800" b="1">
                <a:solidFill>
                  <a:srgbClr val="FF0000"/>
                </a:solidFill>
                <a:latin typeface="Times New Roman" pitchFamily="18" charset="0"/>
                <a:ea typeface="楷体_GB2312" pitchFamily="49" charset="-122"/>
              </a:rPr>
              <a:t>   head-&gt;rchild = head;       </a:t>
            </a:r>
            <a:r>
              <a:rPr kumimoji="1" lang="en-US" altLang="zh-CN" sz="2800" b="1">
                <a:solidFill>
                  <a:srgbClr val="000000"/>
                </a:solidFill>
                <a:latin typeface="Times New Roman" pitchFamily="18" charset="0"/>
                <a:ea typeface="楷体_GB2312" pitchFamily="49" charset="-122"/>
              </a:rPr>
              <a:t>// </a:t>
            </a:r>
            <a:r>
              <a:rPr kumimoji="1" lang="zh-CN" altLang="en-US" sz="2800" b="1">
                <a:solidFill>
                  <a:srgbClr val="000000"/>
                </a:solidFill>
                <a:latin typeface="Times New Roman" pitchFamily="18" charset="0"/>
                <a:ea typeface="楷体_GB2312" pitchFamily="49" charset="-122"/>
              </a:rPr>
              <a:t>添加头结点，指向自身</a:t>
            </a:r>
          </a:p>
          <a:p>
            <a:pPr eaLnBrk="0" fontAlgn="base" hangingPunct="0">
              <a:lnSpc>
                <a:spcPct val="120000"/>
              </a:lnSpc>
              <a:spcBef>
                <a:spcPct val="0"/>
              </a:spcBef>
              <a:spcAft>
                <a:spcPct val="0"/>
              </a:spcAft>
            </a:pPr>
            <a:endParaRPr kumimoji="1" lang="zh-CN" altLang="en-US" sz="2800" b="1">
              <a:solidFill>
                <a:srgbClr val="000000"/>
              </a:solidFill>
              <a:latin typeface="Times New Roman" pitchFamily="18" charset="0"/>
              <a:ea typeface="楷体_GB2312" pitchFamily="49" charset="-122"/>
            </a:endParaRPr>
          </a:p>
        </p:txBody>
      </p:sp>
    </p:spTree>
    <p:extLst>
      <p:ext uri="{BB962C8B-B14F-4D97-AF65-F5344CB8AC3E}">
        <p14:creationId xmlns:p14="http://schemas.microsoft.com/office/powerpoint/2010/main" val="586770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中序线索化二叉树</a:t>
            </a:r>
          </a:p>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E4C14D56-B40D-4B73-B436-659CEA16A0EC}"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108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4" name="Rectangle 1027"/>
          <p:cNvSpPr>
            <a:spLocks noChangeArrowheads="1"/>
          </p:cNvSpPr>
          <p:nvPr/>
        </p:nvSpPr>
        <p:spPr bwMode="auto">
          <a:xfrm>
            <a:off x="395288" y="1645753"/>
            <a:ext cx="8520112" cy="5059847"/>
          </a:xfrm>
          <a:prstGeom prst="rect">
            <a:avLst/>
          </a:prstGeom>
          <a:noFill/>
          <a:ln w="12700" cap="sq">
            <a:solidFill>
              <a:srgbClr val="0000FF"/>
            </a:solidFill>
            <a:miter lim="800000"/>
            <a:headEnd type="none" w="sm" len="sm"/>
            <a:tailEnd type="none" w="sm" len="sm"/>
          </a:ln>
        </p:spPr>
        <p:txBody>
          <a:bodyPr wrap="square">
            <a:spAutoFit/>
          </a:bodyPr>
          <a:lstStyle/>
          <a:p>
            <a:pPr eaLnBrk="0" fontAlgn="base" hangingPunct="0">
              <a:lnSpc>
                <a:spcPct val="125000"/>
              </a:lnSpc>
              <a:spcBef>
                <a:spcPct val="0"/>
              </a:spcBef>
              <a:spcAft>
                <a:spcPct val="0"/>
              </a:spcAft>
            </a:pPr>
            <a:r>
              <a:rPr kumimoji="1" lang="en-US" altLang="zh-CN" sz="2800" b="1">
                <a:solidFill>
                  <a:srgbClr val="0000FF"/>
                </a:solidFill>
                <a:latin typeface="Times New Roman" pitchFamily="18" charset="0"/>
                <a:ea typeface="楷体_GB2312" pitchFamily="49" charset="-122"/>
              </a:rPr>
              <a:t>if (!T)   </a:t>
            </a:r>
            <a:r>
              <a:rPr kumimoji="1" lang="en-US" altLang="zh-CN" sz="2800" b="1">
                <a:solidFill>
                  <a:srgbClr val="FF0000"/>
                </a:solidFill>
                <a:latin typeface="Times New Roman" pitchFamily="18" charset="0"/>
                <a:ea typeface="楷体_GB2312" pitchFamily="49" charset="-122"/>
              </a:rPr>
              <a:t>head-&gt;lchild = head</a:t>
            </a:r>
            <a:r>
              <a:rPr kumimoji="1" lang="en-US" altLang="zh-CN" sz="2800" b="1">
                <a:solidFill>
                  <a:srgbClr val="0000FF"/>
                </a:solidFill>
                <a:latin typeface="Times New Roman" pitchFamily="18" charset="0"/>
                <a:ea typeface="楷体_GB2312" pitchFamily="49" charset="-122"/>
              </a:rPr>
              <a:t>; //</a:t>
            </a:r>
            <a:r>
              <a:rPr kumimoji="1" lang="zh-CN" altLang="en-US" sz="2800" b="1">
                <a:solidFill>
                  <a:srgbClr val="000000"/>
                </a:solidFill>
                <a:latin typeface="Times New Roman" pitchFamily="18" charset="0"/>
                <a:ea typeface="楷体_GB2312" pitchFamily="49" charset="-122"/>
              </a:rPr>
              <a:t>二叉树空，指向自身</a:t>
            </a:r>
            <a:endParaRPr kumimoji="1" lang="en-US" altLang="zh-CN" sz="2800" b="1">
              <a:solidFill>
                <a:srgbClr val="000000"/>
              </a:solidFill>
              <a:latin typeface="Times New Roman" pitchFamily="18" charset="0"/>
              <a:ea typeface="楷体_GB2312" pitchFamily="49" charset="-122"/>
            </a:endParaRPr>
          </a:p>
          <a:p>
            <a:pPr eaLnBrk="0" fontAlgn="base" hangingPunct="0">
              <a:lnSpc>
                <a:spcPct val="125000"/>
              </a:lnSpc>
              <a:spcBef>
                <a:spcPct val="0"/>
              </a:spcBef>
              <a:spcAft>
                <a:spcPct val="0"/>
              </a:spcAft>
            </a:pPr>
            <a:r>
              <a:rPr kumimoji="1" lang="en-US" altLang="zh-CN" sz="2800" b="1">
                <a:solidFill>
                  <a:srgbClr val="0000FF"/>
                </a:solidFill>
                <a:latin typeface="Times New Roman" pitchFamily="18" charset="0"/>
                <a:ea typeface="楷体_GB2312" pitchFamily="49" charset="-122"/>
              </a:rPr>
              <a:t>else {  </a:t>
            </a:r>
            <a:r>
              <a:rPr kumimoji="1" lang="en-US" altLang="zh-CN" sz="2000" b="1">
                <a:solidFill>
                  <a:srgbClr val="000000"/>
                </a:solidFill>
                <a:latin typeface="Times New Roman" pitchFamily="18" charset="0"/>
                <a:ea typeface="楷体_GB2312" pitchFamily="49" charset="-122"/>
              </a:rPr>
              <a:t>// </a:t>
            </a:r>
            <a:r>
              <a:rPr kumimoji="1" lang="zh-CN" altLang="en-US" sz="2000" b="1">
                <a:solidFill>
                  <a:srgbClr val="000000"/>
                </a:solidFill>
                <a:latin typeface="Times New Roman" pitchFamily="18" charset="0"/>
                <a:ea typeface="楷体_GB2312" pitchFamily="49" charset="-122"/>
              </a:rPr>
              <a:t>修改头结点和遍历的最后一个结点</a:t>
            </a:r>
            <a:r>
              <a:rPr kumimoji="1" lang="en-US" altLang="zh-CN" sz="2000" b="1">
                <a:solidFill>
                  <a:srgbClr val="0000FF"/>
                </a:solidFill>
                <a:latin typeface="Times New Roman" pitchFamily="18" charset="0"/>
                <a:ea typeface="楷体_GB2312" pitchFamily="49" charset="-122"/>
              </a:rPr>
              <a:t>       </a:t>
            </a:r>
          </a:p>
          <a:p>
            <a:pPr eaLnBrk="0" fontAlgn="base" hangingPunct="0">
              <a:lnSpc>
                <a:spcPct val="125000"/>
              </a:lnSpc>
              <a:spcBef>
                <a:spcPct val="0"/>
              </a:spcBef>
              <a:spcAft>
                <a:spcPct val="0"/>
              </a:spcAft>
            </a:pPr>
            <a:r>
              <a:rPr kumimoji="1" lang="en-US" altLang="zh-CN" sz="2800" b="1">
                <a:solidFill>
                  <a:srgbClr val="FF0000"/>
                </a:solidFill>
                <a:latin typeface="Times New Roman" pitchFamily="18" charset="0"/>
                <a:ea typeface="楷体_GB2312" pitchFamily="49" charset="-122"/>
              </a:rPr>
              <a:t>   head-&gt;lchild = T;   pre = head</a:t>
            </a:r>
            <a:r>
              <a:rPr kumimoji="1" lang="en-US" altLang="zh-CN" sz="2400" b="1">
                <a:solidFill>
                  <a:srgbClr val="FF0000"/>
                </a:solidFill>
                <a:latin typeface="Times New Roman" pitchFamily="18" charset="0"/>
                <a:ea typeface="楷体_GB2312" pitchFamily="49" charset="-122"/>
              </a:rPr>
              <a:t>;</a:t>
            </a:r>
          </a:p>
          <a:p>
            <a:pPr eaLnBrk="0" fontAlgn="base" hangingPunct="0">
              <a:lnSpc>
                <a:spcPct val="125000"/>
              </a:lnSpc>
              <a:spcBef>
                <a:spcPct val="0"/>
              </a:spcBef>
              <a:spcAft>
                <a:spcPct val="0"/>
              </a:spcAft>
            </a:pPr>
            <a:r>
              <a:rPr kumimoji="1" lang="en-US" altLang="zh-CN" sz="2400" b="1">
                <a:solidFill>
                  <a:srgbClr val="FF0000"/>
                </a:solidFill>
                <a:latin typeface="Times New Roman" pitchFamily="18" charset="0"/>
                <a:ea typeface="楷体_GB2312" pitchFamily="49" charset="-122"/>
              </a:rPr>
              <a:t>                                                         </a:t>
            </a:r>
            <a:r>
              <a:rPr kumimoji="1" lang="en-US" altLang="zh-CN" sz="2400" b="1">
                <a:solidFill>
                  <a:srgbClr val="000000"/>
                </a:solidFill>
                <a:latin typeface="Times New Roman" pitchFamily="18" charset="0"/>
                <a:ea typeface="楷体_GB2312" pitchFamily="49" charset="-122"/>
              </a:rPr>
              <a:t>//</a:t>
            </a:r>
            <a:r>
              <a:rPr kumimoji="1" lang="zh-CN" altLang="en-US" sz="2400" b="1">
                <a:solidFill>
                  <a:srgbClr val="000000"/>
                </a:solidFill>
                <a:latin typeface="Times New Roman" pitchFamily="18" charset="0"/>
                <a:ea typeface="楷体_GB2312" pitchFamily="49" charset="-122"/>
              </a:rPr>
              <a:t>初始</a:t>
            </a:r>
            <a:r>
              <a:rPr kumimoji="1" lang="en-US" altLang="zh-CN" sz="2400" b="1">
                <a:solidFill>
                  <a:srgbClr val="000000"/>
                </a:solidFill>
                <a:latin typeface="Times New Roman" pitchFamily="18" charset="0"/>
                <a:ea typeface="楷体_GB2312" pitchFamily="49" charset="-122"/>
              </a:rPr>
              <a:t>pre</a:t>
            </a:r>
            <a:r>
              <a:rPr kumimoji="1" lang="zh-CN" altLang="en-US" sz="2400" b="1">
                <a:solidFill>
                  <a:srgbClr val="000000"/>
                </a:solidFill>
                <a:latin typeface="Times New Roman" pitchFamily="18" charset="0"/>
                <a:ea typeface="楷体_GB2312" pitchFamily="49" charset="-122"/>
              </a:rPr>
              <a:t>指向头结点</a:t>
            </a:r>
            <a:r>
              <a:rPr kumimoji="1" lang="en-US" altLang="zh-CN" sz="2400" b="1">
                <a:solidFill>
                  <a:srgbClr val="000000"/>
                </a:solidFill>
                <a:latin typeface="Times New Roman" pitchFamily="18" charset="0"/>
                <a:ea typeface="楷体_GB2312" pitchFamily="49" charset="-122"/>
              </a:rPr>
              <a:t>head</a:t>
            </a:r>
          </a:p>
          <a:p>
            <a:pPr eaLnBrk="0" fontAlgn="base" hangingPunct="0">
              <a:lnSpc>
                <a:spcPct val="125000"/>
              </a:lnSpc>
              <a:spcBef>
                <a:spcPct val="0"/>
              </a:spcBef>
              <a:spcAft>
                <a:spcPct val="0"/>
              </a:spcAft>
            </a:pPr>
            <a:r>
              <a:rPr kumimoji="1" lang="en-US" altLang="zh-CN" sz="2400" b="1">
                <a:solidFill>
                  <a:srgbClr val="0000FF"/>
                </a:solidFill>
                <a:latin typeface="Times New Roman" pitchFamily="18" charset="0"/>
                <a:ea typeface="楷体_GB2312" pitchFamily="49" charset="-122"/>
              </a:rPr>
              <a:t>   InThreading(T);                        </a:t>
            </a:r>
            <a:r>
              <a:rPr kumimoji="1" lang="en-US" altLang="zh-CN" sz="2400" b="1">
                <a:solidFill>
                  <a:srgbClr val="002060"/>
                </a:solidFill>
                <a:latin typeface="Times New Roman" pitchFamily="18" charset="0"/>
                <a:ea typeface="楷体_GB2312" pitchFamily="49" charset="-122"/>
              </a:rPr>
              <a:t>//</a:t>
            </a:r>
            <a:r>
              <a:rPr kumimoji="1" lang="zh-CN" altLang="en-US" sz="2400" b="1">
                <a:solidFill>
                  <a:srgbClr val="002060"/>
                </a:solidFill>
                <a:latin typeface="Times New Roman" pitchFamily="18" charset="0"/>
                <a:ea typeface="楷体_GB2312" pitchFamily="49" charset="-122"/>
              </a:rPr>
              <a:t>对二叉树进行中序线索化</a:t>
            </a:r>
            <a:r>
              <a:rPr kumimoji="1" lang="en-US" altLang="zh-CN" sz="2400" b="1">
                <a:solidFill>
                  <a:srgbClr val="002060"/>
                </a:solidFill>
                <a:latin typeface="Times New Roman" pitchFamily="18" charset="0"/>
                <a:ea typeface="楷体_GB2312" pitchFamily="49" charset="-122"/>
              </a:rPr>
              <a:t>          </a:t>
            </a:r>
          </a:p>
          <a:p>
            <a:pPr eaLnBrk="0" fontAlgn="base" hangingPunct="0">
              <a:lnSpc>
                <a:spcPct val="125000"/>
              </a:lnSpc>
              <a:spcBef>
                <a:spcPct val="0"/>
              </a:spcBef>
              <a:spcAft>
                <a:spcPct val="0"/>
              </a:spcAft>
            </a:pPr>
            <a:r>
              <a:rPr kumimoji="1" lang="en-US" altLang="zh-CN" sz="2800" b="1">
                <a:solidFill>
                  <a:srgbClr val="0000FF"/>
                </a:solidFill>
                <a:latin typeface="Times New Roman" pitchFamily="18" charset="0"/>
                <a:ea typeface="楷体_GB2312" pitchFamily="49" charset="-122"/>
              </a:rPr>
              <a:t>   </a:t>
            </a:r>
            <a:r>
              <a:rPr kumimoji="1" lang="en-US" altLang="zh-CN" sz="2800" b="1">
                <a:solidFill>
                  <a:srgbClr val="FF0000"/>
                </a:solidFill>
                <a:latin typeface="Times New Roman" pitchFamily="18" charset="0"/>
                <a:ea typeface="楷体_GB2312" pitchFamily="49" charset="-122"/>
              </a:rPr>
              <a:t>pre-&gt;rtag = 1;</a:t>
            </a:r>
            <a:r>
              <a:rPr kumimoji="1" lang="en-US" altLang="zh-CN" sz="2800" b="1">
                <a:solidFill>
                  <a:srgbClr val="0000FF"/>
                </a:solidFill>
                <a:latin typeface="Times New Roman" pitchFamily="18" charset="0"/>
                <a:ea typeface="楷体_GB2312" pitchFamily="49" charset="-122"/>
              </a:rPr>
              <a:t> </a:t>
            </a:r>
            <a:r>
              <a:rPr kumimoji="1" lang="en-US" altLang="zh-CN" sz="2800" b="1">
                <a:solidFill>
                  <a:srgbClr val="FF0000"/>
                </a:solidFill>
                <a:latin typeface="Times New Roman" pitchFamily="18" charset="0"/>
                <a:ea typeface="楷体_GB2312" pitchFamily="49" charset="-122"/>
              </a:rPr>
              <a:t>pre-&gt;rchild = head;  </a:t>
            </a:r>
          </a:p>
          <a:p>
            <a:pPr eaLnBrk="0" fontAlgn="base" hangingPunct="0">
              <a:lnSpc>
                <a:spcPct val="125000"/>
              </a:lnSpc>
              <a:spcBef>
                <a:spcPct val="0"/>
              </a:spcBef>
              <a:spcAft>
                <a:spcPct val="0"/>
              </a:spcAft>
            </a:pPr>
            <a:r>
              <a:rPr kumimoji="1" lang="en-US" altLang="zh-CN" sz="2800" b="1">
                <a:solidFill>
                  <a:srgbClr val="FF0000"/>
                </a:solidFill>
                <a:latin typeface="Times New Roman" pitchFamily="18" charset="0"/>
                <a:ea typeface="楷体_GB2312" pitchFamily="49" charset="-122"/>
              </a:rPr>
              <a:t>   head-&gt;rchild = pre;     </a:t>
            </a:r>
            <a:r>
              <a:rPr kumimoji="1" lang="en-US" altLang="zh-CN" sz="2800" b="1">
                <a:solidFill>
                  <a:srgbClr val="002060"/>
                </a:solidFill>
                <a:latin typeface="Times New Roman" pitchFamily="18" charset="0"/>
                <a:ea typeface="楷体_GB2312" pitchFamily="49" charset="-122"/>
              </a:rPr>
              <a:t>//</a:t>
            </a:r>
            <a:r>
              <a:rPr kumimoji="1" lang="zh-CN" altLang="en-US" sz="2400" b="1">
                <a:solidFill>
                  <a:srgbClr val="000000"/>
                </a:solidFill>
                <a:latin typeface="Times New Roman" pitchFamily="18" charset="0"/>
                <a:ea typeface="楷体_GB2312" pitchFamily="49" charset="-122"/>
              </a:rPr>
              <a:t>修改头结点和最后一个结点</a:t>
            </a:r>
            <a:r>
              <a:rPr kumimoji="1" lang="en-US" altLang="zh-CN" sz="2400" b="1">
                <a:solidFill>
                  <a:srgbClr val="000000"/>
                </a:solidFill>
                <a:latin typeface="Times New Roman" pitchFamily="18" charset="0"/>
                <a:ea typeface="楷体_GB2312" pitchFamily="49" charset="-122"/>
              </a:rPr>
              <a:t>        </a:t>
            </a:r>
          </a:p>
          <a:p>
            <a:pPr eaLnBrk="0" fontAlgn="base" hangingPunct="0">
              <a:lnSpc>
                <a:spcPct val="125000"/>
              </a:lnSpc>
              <a:spcBef>
                <a:spcPct val="0"/>
              </a:spcBef>
              <a:spcAft>
                <a:spcPct val="0"/>
              </a:spcAft>
            </a:pPr>
            <a:r>
              <a:rPr kumimoji="1" lang="en-US" altLang="zh-CN" sz="2800" b="1">
                <a:solidFill>
                  <a:srgbClr val="FF0000"/>
                </a:solidFill>
                <a:latin typeface="Times New Roman" pitchFamily="18" charset="0"/>
                <a:ea typeface="楷体_GB2312" pitchFamily="49" charset="-122"/>
              </a:rPr>
              <a:t>                           </a:t>
            </a:r>
            <a:r>
              <a:rPr kumimoji="1" lang="en-US" altLang="zh-CN" sz="2400" b="1">
                <a:solidFill>
                  <a:srgbClr val="000000"/>
                </a:solidFill>
                <a:latin typeface="Times New Roman" pitchFamily="18" charset="0"/>
                <a:ea typeface="楷体_GB2312" pitchFamily="49" charset="-122"/>
              </a:rPr>
              <a:t>//</a:t>
            </a:r>
            <a:r>
              <a:rPr kumimoji="1" lang="zh-CN" altLang="en-US" sz="2400" b="1">
                <a:solidFill>
                  <a:srgbClr val="000000"/>
                </a:solidFill>
                <a:latin typeface="Times New Roman" pitchFamily="18" charset="0"/>
                <a:ea typeface="楷体_GB2312" pitchFamily="49" charset="-122"/>
              </a:rPr>
              <a:t>头结点</a:t>
            </a:r>
            <a:r>
              <a:rPr kumimoji="1" lang="en-US" altLang="zh-CN" sz="2400" b="1">
                <a:solidFill>
                  <a:srgbClr val="000000"/>
                </a:solidFill>
                <a:latin typeface="Times New Roman" pitchFamily="18" charset="0"/>
                <a:ea typeface="楷体_GB2312" pitchFamily="49" charset="-122"/>
              </a:rPr>
              <a:t>head</a:t>
            </a:r>
            <a:r>
              <a:rPr kumimoji="1" lang="zh-CN" altLang="en-US" sz="2400" b="1">
                <a:solidFill>
                  <a:srgbClr val="000000"/>
                </a:solidFill>
                <a:latin typeface="Times New Roman" pitchFamily="18" charset="0"/>
                <a:ea typeface="楷体_GB2312" pitchFamily="49" charset="-122"/>
              </a:rPr>
              <a:t>与最后一个结点</a:t>
            </a:r>
            <a:r>
              <a:rPr kumimoji="1" lang="en-US" altLang="zh-CN" sz="2400" b="1">
                <a:solidFill>
                  <a:srgbClr val="000000"/>
                </a:solidFill>
                <a:latin typeface="Times New Roman" pitchFamily="18" charset="0"/>
                <a:ea typeface="楷体_GB2312" pitchFamily="49" charset="-122"/>
              </a:rPr>
              <a:t>pre </a:t>
            </a:r>
            <a:r>
              <a:rPr kumimoji="1" lang="zh-CN" altLang="en-US" sz="2400" b="1">
                <a:solidFill>
                  <a:srgbClr val="000000"/>
                </a:solidFill>
                <a:latin typeface="Times New Roman" pitchFamily="18" charset="0"/>
                <a:ea typeface="楷体_GB2312" pitchFamily="49" charset="-122"/>
              </a:rPr>
              <a:t>互链接</a:t>
            </a:r>
            <a:r>
              <a:rPr kumimoji="1" lang="en-US" altLang="zh-CN" sz="2400" b="1">
                <a:solidFill>
                  <a:srgbClr val="FF0000"/>
                </a:solidFill>
                <a:latin typeface="Times New Roman" pitchFamily="18" charset="0"/>
                <a:ea typeface="楷体_GB2312" pitchFamily="49" charset="-122"/>
              </a:rPr>
              <a:t> </a:t>
            </a:r>
            <a:r>
              <a:rPr kumimoji="1" lang="en-US" altLang="zh-CN" sz="2400" b="1">
                <a:solidFill>
                  <a:srgbClr val="0000FF"/>
                </a:solidFill>
                <a:latin typeface="Times New Roman" pitchFamily="18" charset="0"/>
                <a:ea typeface="楷体_GB2312" pitchFamily="49" charset="-122"/>
              </a:rPr>
              <a:t>}</a:t>
            </a:r>
          </a:p>
          <a:p>
            <a:pPr eaLnBrk="0" fontAlgn="base" hangingPunct="0">
              <a:lnSpc>
                <a:spcPct val="120000"/>
              </a:lnSpc>
              <a:spcBef>
                <a:spcPct val="0"/>
              </a:spcBef>
              <a:spcAft>
                <a:spcPct val="0"/>
              </a:spcAft>
            </a:pPr>
            <a:r>
              <a:rPr kumimoji="1" lang="zh-CN" altLang="en-US" sz="2400" b="1">
                <a:solidFill>
                  <a:srgbClr val="0000FF"/>
                </a:solidFill>
                <a:latin typeface="Times New Roman" pitchFamily="18" charset="0"/>
                <a:ea typeface="楷体_GB2312" pitchFamily="49" charset="-122"/>
              </a:rPr>
              <a:t> </a:t>
            </a:r>
            <a:r>
              <a:rPr kumimoji="1" lang="en-US" altLang="zh-CN" sz="2000" b="1">
                <a:solidFill>
                  <a:srgbClr val="0000FF"/>
                </a:solidFill>
                <a:latin typeface="Times New Roman" pitchFamily="18" charset="0"/>
                <a:ea typeface="楷体_GB2312" pitchFamily="49" charset="-122"/>
              </a:rPr>
              <a:t>return OK;</a:t>
            </a:r>
          </a:p>
          <a:p>
            <a:pPr eaLnBrk="0" fontAlgn="base" hangingPunct="0">
              <a:lnSpc>
                <a:spcPct val="120000"/>
              </a:lnSpc>
              <a:spcBef>
                <a:spcPct val="0"/>
              </a:spcBef>
              <a:spcAft>
                <a:spcPct val="0"/>
              </a:spcAft>
            </a:pPr>
            <a:r>
              <a:rPr kumimoji="1" lang="en-US" altLang="zh-CN" sz="2000" b="1">
                <a:solidFill>
                  <a:srgbClr val="0000FF"/>
                </a:solidFill>
                <a:latin typeface="Times New Roman" pitchFamily="18" charset="0"/>
                <a:ea typeface="楷体_GB2312" pitchFamily="49" charset="-122"/>
              </a:rPr>
              <a:t>} // InOrderThreading                  </a:t>
            </a:r>
          </a:p>
        </p:txBody>
      </p:sp>
    </p:spTree>
    <p:extLst>
      <p:ext uri="{BB962C8B-B14F-4D97-AF65-F5344CB8AC3E}">
        <p14:creationId xmlns:p14="http://schemas.microsoft.com/office/powerpoint/2010/main" val="1637376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中序线索化二叉树</a:t>
            </a:r>
            <a:endParaRPr lang="zh-CN" altLang="en-US" sz="1800" b="1" dirty="0">
              <a:solidFill>
                <a:srgbClr val="FF0000"/>
              </a:solidFill>
            </a:endParaRPr>
          </a:p>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FE57C5F6-EE67-4542-951B-A8EF0662BFDD}"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109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1026"/>
          <p:cNvSpPr txBox="1">
            <a:spLocks noChangeArrowheads="1"/>
          </p:cNvSpPr>
          <p:nvPr/>
        </p:nvSpPr>
        <p:spPr bwMode="auto">
          <a:xfrm>
            <a:off x="642937" y="1551932"/>
            <a:ext cx="8958263" cy="5306068"/>
          </a:xfrm>
          <a:prstGeom prst="rect">
            <a:avLst/>
          </a:prstGeom>
          <a:noFill/>
          <a:ln w="12700" cap="sq">
            <a:noFill/>
            <a:miter lim="800000"/>
            <a:headEnd type="none" w="sm" len="sm"/>
            <a:tailEnd type="none" w="sm" len="sm"/>
          </a:ln>
        </p:spPr>
        <p:txBody>
          <a:bodyPr wrap="square">
            <a:spAutoFit/>
          </a:bodyPr>
          <a:lstStyle/>
          <a:p>
            <a:pPr eaLnBrk="0" fontAlgn="base" hangingPunct="0">
              <a:lnSpc>
                <a:spcPct val="110000"/>
              </a:lnSpc>
              <a:spcBef>
                <a:spcPct val="0"/>
              </a:spcBef>
              <a:spcAft>
                <a:spcPct val="0"/>
              </a:spcAft>
            </a:pPr>
            <a:r>
              <a:rPr kumimoji="1" lang="en-US" altLang="zh-CN" sz="2800" b="1" dirty="0">
                <a:solidFill>
                  <a:srgbClr val="0000FF"/>
                </a:solidFill>
                <a:latin typeface="Times New Roman" pitchFamily="18" charset="0"/>
                <a:ea typeface="楷体_GB2312" pitchFamily="49" charset="-122"/>
              </a:rPr>
              <a:t>void </a:t>
            </a:r>
            <a:r>
              <a:rPr kumimoji="1" lang="en-US" altLang="zh-CN" sz="2800" b="1" dirty="0" err="1">
                <a:solidFill>
                  <a:srgbClr val="0000FF"/>
                </a:solidFill>
                <a:latin typeface="Times New Roman" pitchFamily="18" charset="0"/>
                <a:ea typeface="楷体_GB2312" pitchFamily="49" charset="-122"/>
              </a:rPr>
              <a:t>InThreading</a:t>
            </a:r>
            <a:r>
              <a:rPr kumimoji="1" lang="en-US" altLang="zh-CN" sz="2800" b="1" dirty="0">
                <a:solidFill>
                  <a:srgbClr val="0000FF"/>
                </a:solidFill>
                <a:latin typeface="Times New Roman" pitchFamily="18" charset="0"/>
                <a:ea typeface="楷体_GB2312" pitchFamily="49" charset="-122"/>
              </a:rPr>
              <a:t>(</a:t>
            </a:r>
            <a:r>
              <a:rPr kumimoji="1" lang="en-US" altLang="zh-CN" sz="2800" b="1" dirty="0" err="1">
                <a:solidFill>
                  <a:srgbClr val="0000FF"/>
                </a:solidFill>
                <a:latin typeface="Times New Roman" pitchFamily="18" charset="0"/>
                <a:ea typeface="楷体_GB2312" pitchFamily="49" charset="-122"/>
              </a:rPr>
              <a:t>BiThrTree</a:t>
            </a:r>
            <a:r>
              <a:rPr kumimoji="1" lang="en-US" altLang="zh-CN" sz="2800" b="1" dirty="0">
                <a:solidFill>
                  <a:srgbClr val="0000FF"/>
                </a:solidFill>
                <a:latin typeface="Times New Roman" pitchFamily="18" charset="0"/>
                <a:ea typeface="楷体_GB2312" pitchFamily="49" charset="-122"/>
              </a:rPr>
              <a:t> p)</a:t>
            </a:r>
            <a:r>
              <a:rPr kumimoji="1" lang="en-US" altLang="zh-CN" sz="2800" b="1" dirty="0">
                <a:solidFill>
                  <a:srgbClr val="000000"/>
                </a:solidFill>
                <a:latin typeface="Times New Roman" pitchFamily="18" charset="0"/>
                <a:ea typeface="楷体_GB2312" pitchFamily="49" charset="-122"/>
              </a:rPr>
              <a:t> </a:t>
            </a:r>
            <a:r>
              <a:rPr kumimoji="1" lang="en-US" altLang="zh-CN" sz="2800" b="1" dirty="0">
                <a:solidFill>
                  <a:srgbClr val="04617B"/>
                </a:solidFill>
                <a:latin typeface="Times New Roman" pitchFamily="18" charset="0"/>
                <a:ea typeface="楷体_GB2312" pitchFamily="49" charset="-122"/>
              </a:rPr>
              <a:t>{</a:t>
            </a:r>
            <a:endParaRPr kumimoji="1" lang="en-US" altLang="zh-CN" sz="2800" b="1" dirty="0">
              <a:solidFill>
                <a:srgbClr val="000000"/>
              </a:solidFill>
              <a:latin typeface="Times New Roman" pitchFamily="18" charset="0"/>
              <a:ea typeface="楷体_GB2312" pitchFamily="49" charset="-122"/>
            </a:endParaRPr>
          </a:p>
          <a:p>
            <a:pPr eaLnBrk="0" fontAlgn="base" hangingPunct="0">
              <a:lnSpc>
                <a:spcPct val="110000"/>
              </a:lnSpc>
              <a:spcBef>
                <a:spcPct val="0"/>
              </a:spcBef>
              <a:spcAft>
                <a:spcPct val="0"/>
              </a:spcAft>
            </a:pPr>
            <a:r>
              <a:rPr kumimoji="1" lang="en-US" altLang="zh-CN" sz="2800" b="1" dirty="0">
                <a:solidFill>
                  <a:srgbClr val="0000FF"/>
                </a:solidFill>
                <a:latin typeface="Times New Roman" pitchFamily="18" charset="0"/>
                <a:ea typeface="楷体_GB2312" pitchFamily="49" charset="-122"/>
              </a:rPr>
              <a:t>  if (p) { </a:t>
            </a:r>
            <a:r>
              <a:rPr kumimoji="1" lang="en-US" altLang="zh-CN" sz="2800" b="1" dirty="0">
                <a:solidFill>
                  <a:srgbClr val="000000"/>
                </a:solidFill>
                <a:latin typeface="Times New Roman" pitchFamily="18" charset="0"/>
                <a:ea typeface="楷体_GB2312" pitchFamily="49" charset="-122"/>
              </a:rPr>
              <a:t>         // </a:t>
            </a:r>
            <a:r>
              <a:rPr kumimoji="1" lang="zh-CN" altLang="en-US" sz="2800" b="1" dirty="0">
                <a:solidFill>
                  <a:srgbClr val="000000"/>
                </a:solidFill>
                <a:latin typeface="Times New Roman" pitchFamily="18" charset="0"/>
                <a:ea typeface="楷体_GB2312" pitchFamily="49" charset="-122"/>
              </a:rPr>
              <a:t>对非空二叉树进行中序线索化</a:t>
            </a:r>
          </a:p>
          <a:p>
            <a:pPr eaLnBrk="0" fontAlgn="base" hangingPunct="0">
              <a:lnSpc>
                <a:spcPct val="110000"/>
              </a:lnSpc>
              <a:spcBef>
                <a:spcPct val="0"/>
              </a:spcBef>
              <a:spcAft>
                <a:spcPct val="0"/>
              </a:spcAft>
            </a:pPr>
            <a:r>
              <a:rPr kumimoji="1" lang="zh-CN" altLang="en-US" sz="2800" b="1" dirty="0">
                <a:solidFill>
                  <a:srgbClr val="000000"/>
                </a:solidFill>
                <a:latin typeface="Times New Roman" pitchFamily="18" charset="0"/>
                <a:ea typeface="楷体_GB2312" pitchFamily="49" charset="-122"/>
              </a:rPr>
              <a:t>    </a:t>
            </a:r>
            <a:r>
              <a:rPr kumimoji="1" lang="en-US" altLang="zh-CN" sz="2800" b="1" dirty="0" err="1">
                <a:solidFill>
                  <a:srgbClr val="0000FF"/>
                </a:solidFill>
                <a:latin typeface="Times New Roman" pitchFamily="18" charset="0"/>
                <a:ea typeface="楷体_GB2312" pitchFamily="49" charset="-122"/>
              </a:rPr>
              <a:t>InThreading</a:t>
            </a:r>
            <a:r>
              <a:rPr kumimoji="1" lang="en-US" altLang="zh-CN" sz="2800" b="1" dirty="0">
                <a:solidFill>
                  <a:srgbClr val="0000FF"/>
                </a:solidFill>
                <a:latin typeface="Times New Roman" pitchFamily="18" charset="0"/>
                <a:ea typeface="楷体_GB2312" pitchFamily="49" charset="-122"/>
              </a:rPr>
              <a:t>(p-&gt;</a:t>
            </a:r>
            <a:r>
              <a:rPr kumimoji="1" lang="en-US" altLang="zh-CN" sz="2800" b="1" dirty="0" err="1">
                <a:solidFill>
                  <a:srgbClr val="0000FF"/>
                </a:solidFill>
                <a:latin typeface="Times New Roman" pitchFamily="18" charset="0"/>
                <a:ea typeface="楷体_GB2312" pitchFamily="49" charset="-122"/>
              </a:rPr>
              <a:t>lchild</a:t>
            </a:r>
            <a:r>
              <a:rPr kumimoji="1" lang="en-US" altLang="zh-CN" sz="2800" b="1" dirty="0">
                <a:solidFill>
                  <a:srgbClr val="0000FF"/>
                </a:solidFill>
                <a:latin typeface="Times New Roman" pitchFamily="18" charset="0"/>
                <a:ea typeface="楷体_GB2312" pitchFamily="49" charset="-122"/>
              </a:rPr>
              <a:t>);                </a:t>
            </a:r>
            <a:r>
              <a:rPr kumimoji="1" lang="en-US" altLang="zh-CN" sz="2800" b="1" dirty="0">
                <a:solidFill>
                  <a:srgbClr val="000000"/>
                </a:solidFill>
                <a:latin typeface="Times New Roman" pitchFamily="18" charset="0"/>
                <a:ea typeface="楷体_GB2312" pitchFamily="49" charset="-122"/>
              </a:rPr>
              <a:t>// </a:t>
            </a:r>
            <a:r>
              <a:rPr kumimoji="1" lang="zh-CN" altLang="en-US" sz="2800" b="1" dirty="0">
                <a:solidFill>
                  <a:srgbClr val="000000"/>
                </a:solidFill>
                <a:latin typeface="Times New Roman" pitchFamily="18" charset="0"/>
                <a:ea typeface="楷体_GB2312" pitchFamily="49" charset="-122"/>
              </a:rPr>
              <a:t>左子树线索化</a:t>
            </a:r>
          </a:p>
          <a:p>
            <a:pPr eaLnBrk="0" fontAlgn="base" hangingPunct="0">
              <a:lnSpc>
                <a:spcPct val="110000"/>
              </a:lnSpc>
              <a:spcBef>
                <a:spcPct val="0"/>
              </a:spcBef>
              <a:spcAft>
                <a:spcPct val="0"/>
              </a:spcAft>
            </a:pPr>
            <a:r>
              <a:rPr kumimoji="1" lang="zh-CN" altLang="en-US" sz="2800" b="1" dirty="0">
                <a:solidFill>
                  <a:srgbClr val="FF0000"/>
                </a:solidFill>
                <a:latin typeface="Times New Roman" pitchFamily="18" charset="0"/>
                <a:ea typeface="楷体_GB2312" pitchFamily="49" charset="-122"/>
              </a:rPr>
              <a:t>    </a:t>
            </a:r>
            <a:r>
              <a:rPr kumimoji="1" lang="en-US" altLang="zh-CN" sz="2800" b="1" dirty="0">
                <a:solidFill>
                  <a:srgbClr val="FF0000"/>
                </a:solidFill>
                <a:latin typeface="Times New Roman" pitchFamily="18" charset="0"/>
                <a:ea typeface="楷体_GB2312" pitchFamily="49" charset="-122"/>
              </a:rPr>
              <a:t>if (!p-&gt;</a:t>
            </a:r>
            <a:r>
              <a:rPr kumimoji="1" lang="en-US" altLang="zh-CN" sz="2800" b="1" dirty="0" err="1">
                <a:solidFill>
                  <a:srgbClr val="FF0000"/>
                </a:solidFill>
                <a:latin typeface="Times New Roman" pitchFamily="18" charset="0"/>
                <a:ea typeface="楷体_GB2312" pitchFamily="49" charset="-122"/>
              </a:rPr>
              <a:t>lchild</a:t>
            </a:r>
            <a:r>
              <a:rPr kumimoji="1" lang="en-US" altLang="zh-CN" sz="2400" b="1" dirty="0">
                <a:solidFill>
                  <a:srgbClr val="FF0000"/>
                </a:solidFill>
                <a:latin typeface="Times New Roman" pitchFamily="18" charset="0"/>
                <a:ea typeface="楷体_GB2312" pitchFamily="49" charset="-122"/>
              </a:rPr>
              <a:t>)</a:t>
            </a:r>
            <a:r>
              <a:rPr kumimoji="1" lang="en-US" altLang="zh-CN" sz="2400" b="1" dirty="0">
                <a:solidFill>
                  <a:srgbClr val="000000"/>
                </a:solidFill>
                <a:latin typeface="Times New Roman" pitchFamily="18" charset="0"/>
                <a:ea typeface="楷体_GB2312" pitchFamily="49" charset="-122"/>
              </a:rPr>
              <a:t>                    // </a:t>
            </a:r>
            <a:r>
              <a:rPr kumimoji="1" lang="zh-CN" altLang="en-US" sz="2400" b="1" dirty="0">
                <a:solidFill>
                  <a:srgbClr val="000000"/>
                </a:solidFill>
                <a:latin typeface="Times New Roman" pitchFamily="18" charset="0"/>
                <a:ea typeface="楷体_GB2312" pitchFamily="49" charset="-122"/>
              </a:rPr>
              <a:t>结点无左子树，建前驱线索</a:t>
            </a:r>
          </a:p>
          <a:p>
            <a:pPr eaLnBrk="0" fontAlgn="base" hangingPunct="0">
              <a:lnSpc>
                <a:spcPct val="110000"/>
              </a:lnSpc>
              <a:spcBef>
                <a:spcPct val="0"/>
              </a:spcBef>
              <a:spcAft>
                <a:spcPct val="0"/>
              </a:spcAft>
            </a:pPr>
            <a:r>
              <a:rPr kumimoji="1" lang="zh-CN" altLang="en-US" sz="2800" b="1" dirty="0">
                <a:solidFill>
                  <a:srgbClr val="FF0000"/>
                </a:solidFill>
                <a:latin typeface="Times New Roman" pitchFamily="18" charset="0"/>
                <a:ea typeface="楷体_GB2312" pitchFamily="49" charset="-122"/>
              </a:rPr>
              <a:t>      </a:t>
            </a:r>
            <a:r>
              <a:rPr kumimoji="1" lang="en-US" altLang="zh-CN" sz="2800" b="1" dirty="0">
                <a:solidFill>
                  <a:srgbClr val="FF0000"/>
                </a:solidFill>
                <a:latin typeface="Times New Roman" pitchFamily="18" charset="0"/>
                <a:ea typeface="楷体_GB2312" pitchFamily="49" charset="-122"/>
              </a:rPr>
              <a:t>{ p-&gt;</a:t>
            </a:r>
            <a:r>
              <a:rPr kumimoji="1" lang="en-US" altLang="zh-CN" sz="2800" b="1" dirty="0" err="1">
                <a:solidFill>
                  <a:srgbClr val="FF0000"/>
                </a:solidFill>
                <a:latin typeface="Times New Roman" pitchFamily="18" charset="0"/>
                <a:ea typeface="楷体_GB2312" pitchFamily="49" charset="-122"/>
              </a:rPr>
              <a:t>ltag</a:t>
            </a:r>
            <a:r>
              <a:rPr kumimoji="1" lang="en-US" altLang="zh-CN" sz="2800" b="1" dirty="0">
                <a:solidFill>
                  <a:srgbClr val="FF0000"/>
                </a:solidFill>
                <a:latin typeface="Times New Roman" pitchFamily="18" charset="0"/>
                <a:ea typeface="楷体_GB2312" pitchFamily="49" charset="-122"/>
              </a:rPr>
              <a:t> = 1;    p-&gt;</a:t>
            </a:r>
            <a:r>
              <a:rPr kumimoji="1" lang="en-US" altLang="zh-CN" sz="2800" b="1" dirty="0" err="1">
                <a:solidFill>
                  <a:srgbClr val="FF0000"/>
                </a:solidFill>
                <a:latin typeface="Times New Roman" pitchFamily="18" charset="0"/>
                <a:ea typeface="楷体_GB2312" pitchFamily="49" charset="-122"/>
              </a:rPr>
              <a:t>lchild</a:t>
            </a:r>
            <a:r>
              <a:rPr kumimoji="1" lang="en-US" altLang="zh-CN" sz="2800" b="1" dirty="0">
                <a:solidFill>
                  <a:srgbClr val="FF0000"/>
                </a:solidFill>
                <a:latin typeface="Times New Roman" pitchFamily="18" charset="0"/>
                <a:ea typeface="楷体_GB2312" pitchFamily="49" charset="-122"/>
              </a:rPr>
              <a:t> = pre; }</a:t>
            </a:r>
          </a:p>
          <a:p>
            <a:pPr eaLnBrk="0" fontAlgn="base" hangingPunct="0">
              <a:lnSpc>
                <a:spcPct val="110000"/>
              </a:lnSpc>
              <a:spcBef>
                <a:spcPct val="0"/>
              </a:spcBef>
              <a:spcAft>
                <a:spcPct val="0"/>
              </a:spcAft>
            </a:pPr>
            <a:r>
              <a:rPr kumimoji="1" lang="en-US" altLang="zh-CN" sz="2800" b="1" dirty="0">
                <a:solidFill>
                  <a:srgbClr val="FF0000"/>
                </a:solidFill>
                <a:latin typeface="Times New Roman" pitchFamily="18" charset="0"/>
                <a:ea typeface="楷体_GB2312" pitchFamily="49" charset="-122"/>
              </a:rPr>
              <a:t>    if (!pre-&gt;</a:t>
            </a:r>
            <a:r>
              <a:rPr kumimoji="1" lang="en-US" altLang="zh-CN" sz="2800" b="1" dirty="0" err="1">
                <a:solidFill>
                  <a:srgbClr val="FF0000"/>
                </a:solidFill>
                <a:latin typeface="Times New Roman" pitchFamily="18" charset="0"/>
                <a:ea typeface="楷体_GB2312" pitchFamily="49" charset="-122"/>
              </a:rPr>
              <a:t>rchild</a:t>
            </a:r>
            <a:r>
              <a:rPr kumimoji="1" lang="en-US" altLang="zh-CN" sz="2400" b="1" dirty="0">
                <a:solidFill>
                  <a:srgbClr val="FF0000"/>
                </a:solidFill>
                <a:latin typeface="Times New Roman" pitchFamily="18" charset="0"/>
                <a:ea typeface="楷体_GB2312" pitchFamily="49" charset="-122"/>
              </a:rPr>
              <a:t>)               </a:t>
            </a:r>
            <a:r>
              <a:rPr kumimoji="1" lang="en-US" altLang="zh-CN" sz="2400" b="1" dirty="0">
                <a:solidFill>
                  <a:srgbClr val="000000"/>
                </a:solidFill>
                <a:latin typeface="Times New Roman" pitchFamily="18" charset="0"/>
                <a:ea typeface="楷体_GB2312" pitchFamily="49" charset="-122"/>
              </a:rPr>
              <a:t>//</a:t>
            </a:r>
            <a:r>
              <a:rPr kumimoji="1" lang="zh-CN" altLang="en-US" sz="2400" b="1" dirty="0">
                <a:solidFill>
                  <a:srgbClr val="000000"/>
                </a:solidFill>
                <a:latin typeface="Times New Roman" pitchFamily="18" charset="0"/>
                <a:ea typeface="楷体_GB2312" pitchFamily="49" charset="-122"/>
              </a:rPr>
              <a:t>结点无右子树，</a:t>
            </a:r>
            <a:r>
              <a:rPr kumimoji="1" lang="en-US" altLang="zh-CN" sz="2400" b="1" dirty="0">
                <a:solidFill>
                  <a:srgbClr val="000000"/>
                </a:solidFill>
                <a:latin typeface="Times New Roman" pitchFamily="18" charset="0"/>
                <a:ea typeface="楷体_GB2312" pitchFamily="49" charset="-122"/>
              </a:rPr>
              <a:t> </a:t>
            </a:r>
            <a:r>
              <a:rPr kumimoji="1" lang="zh-CN" altLang="en-US" sz="2400" b="1" dirty="0">
                <a:solidFill>
                  <a:srgbClr val="000000"/>
                </a:solidFill>
                <a:latin typeface="Times New Roman" pitchFamily="18" charset="0"/>
                <a:ea typeface="楷体_GB2312" pitchFamily="49" charset="-122"/>
              </a:rPr>
              <a:t>建后继线索</a:t>
            </a:r>
          </a:p>
          <a:p>
            <a:pPr eaLnBrk="0" fontAlgn="base" hangingPunct="0">
              <a:lnSpc>
                <a:spcPct val="110000"/>
              </a:lnSpc>
              <a:spcBef>
                <a:spcPct val="0"/>
              </a:spcBef>
              <a:spcAft>
                <a:spcPct val="0"/>
              </a:spcAft>
            </a:pPr>
            <a:r>
              <a:rPr kumimoji="1" lang="zh-CN" altLang="en-US" sz="2800" b="1" dirty="0">
                <a:solidFill>
                  <a:srgbClr val="FF0000"/>
                </a:solidFill>
                <a:latin typeface="Times New Roman" pitchFamily="18" charset="0"/>
                <a:ea typeface="楷体_GB2312" pitchFamily="49" charset="-122"/>
              </a:rPr>
              <a:t>      </a:t>
            </a:r>
            <a:r>
              <a:rPr kumimoji="1" lang="en-US" altLang="zh-CN" sz="2800" b="1" dirty="0">
                <a:solidFill>
                  <a:srgbClr val="FF0000"/>
                </a:solidFill>
                <a:latin typeface="Times New Roman" pitchFamily="18" charset="0"/>
                <a:ea typeface="楷体_GB2312" pitchFamily="49" charset="-122"/>
              </a:rPr>
              <a:t>{ pre-&gt;</a:t>
            </a:r>
            <a:r>
              <a:rPr kumimoji="1" lang="en-US" altLang="zh-CN" sz="2800" b="1" dirty="0" err="1">
                <a:solidFill>
                  <a:srgbClr val="FF0000"/>
                </a:solidFill>
                <a:latin typeface="Times New Roman" pitchFamily="18" charset="0"/>
                <a:ea typeface="楷体_GB2312" pitchFamily="49" charset="-122"/>
              </a:rPr>
              <a:t>rtag</a:t>
            </a:r>
            <a:r>
              <a:rPr kumimoji="1" lang="en-US" altLang="zh-CN" sz="2800" b="1" dirty="0">
                <a:solidFill>
                  <a:srgbClr val="FF0000"/>
                </a:solidFill>
                <a:latin typeface="Times New Roman" pitchFamily="18" charset="0"/>
                <a:ea typeface="楷体_GB2312" pitchFamily="49" charset="-122"/>
              </a:rPr>
              <a:t> = 1;   pre-&gt;</a:t>
            </a:r>
            <a:r>
              <a:rPr kumimoji="1" lang="en-US" altLang="zh-CN" sz="2800" b="1" dirty="0" err="1">
                <a:solidFill>
                  <a:srgbClr val="FF0000"/>
                </a:solidFill>
                <a:latin typeface="Times New Roman" pitchFamily="18" charset="0"/>
                <a:ea typeface="楷体_GB2312" pitchFamily="49" charset="-122"/>
              </a:rPr>
              <a:t>rchild</a:t>
            </a:r>
            <a:r>
              <a:rPr kumimoji="1" lang="en-US" altLang="zh-CN" sz="2800" b="1" dirty="0">
                <a:solidFill>
                  <a:srgbClr val="FF0000"/>
                </a:solidFill>
                <a:latin typeface="Times New Roman" pitchFamily="18" charset="0"/>
                <a:ea typeface="楷体_GB2312" pitchFamily="49" charset="-122"/>
              </a:rPr>
              <a:t> = p; } </a:t>
            </a:r>
          </a:p>
          <a:p>
            <a:pPr eaLnBrk="0" fontAlgn="base" hangingPunct="0">
              <a:lnSpc>
                <a:spcPct val="110000"/>
              </a:lnSpc>
              <a:spcBef>
                <a:spcPct val="0"/>
              </a:spcBef>
              <a:spcAft>
                <a:spcPct val="0"/>
              </a:spcAft>
            </a:pPr>
            <a:r>
              <a:rPr kumimoji="1" lang="en-US" altLang="zh-CN" sz="2800" b="1" dirty="0">
                <a:solidFill>
                  <a:srgbClr val="FF0000"/>
                </a:solidFill>
                <a:latin typeface="Times New Roman" pitchFamily="18" charset="0"/>
                <a:ea typeface="楷体_GB2312" pitchFamily="49" charset="-122"/>
              </a:rPr>
              <a:t>    pre = p;                            </a:t>
            </a:r>
            <a:r>
              <a:rPr kumimoji="1" lang="en-US" altLang="zh-CN" sz="2800" b="1" dirty="0">
                <a:solidFill>
                  <a:srgbClr val="000000"/>
                </a:solidFill>
                <a:latin typeface="Times New Roman" pitchFamily="18" charset="0"/>
                <a:ea typeface="楷体_GB2312" pitchFamily="49" charset="-122"/>
              </a:rPr>
              <a:t>// </a:t>
            </a:r>
            <a:r>
              <a:rPr kumimoji="1" lang="zh-CN" altLang="en-US" sz="2800" b="1" dirty="0">
                <a:solidFill>
                  <a:srgbClr val="000000"/>
                </a:solidFill>
                <a:latin typeface="Times New Roman" pitchFamily="18" charset="0"/>
                <a:ea typeface="楷体_GB2312" pitchFamily="49" charset="-122"/>
              </a:rPr>
              <a:t>保持 </a:t>
            </a:r>
            <a:r>
              <a:rPr kumimoji="1" lang="en-US" altLang="zh-CN" sz="2800" b="1" dirty="0">
                <a:solidFill>
                  <a:srgbClr val="000000"/>
                </a:solidFill>
                <a:latin typeface="Times New Roman" pitchFamily="18" charset="0"/>
                <a:ea typeface="楷体_GB2312" pitchFamily="49" charset="-122"/>
              </a:rPr>
              <a:t>pre </a:t>
            </a:r>
            <a:r>
              <a:rPr kumimoji="1" lang="zh-CN" altLang="en-US" sz="2800" b="1" dirty="0">
                <a:solidFill>
                  <a:srgbClr val="000000"/>
                </a:solidFill>
                <a:latin typeface="Times New Roman" pitchFamily="18" charset="0"/>
                <a:ea typeface="楷体_GB2312" pitchFamily="49" charset="-122"/>
              </a:rPr>
              <a:t>指向 </a:t>
            </a:r>
            <a:r>
              <a:rPr kumimoji="1" lang="en-US" altLang="zh-CN" sz="2800" b="1" dirty="0">
                <a:solidFill>
                  <a:srgbClr val="000000"/>
                </a:solidFill>
                <a:latin typeface="Times New Roman" pitchFamily="18" charset="0"/>
                <a:ea typeface="楷体_GB2312" pitchFamily="49" charset="-122"/>
              </a:rPr>
              <a:t>p </a:t>
            </a:r>
            <a:r>
              <a:rPr kumimoji="1" lang="zh-CN" altLang="en-US" sz="2800" b="1" dirty="0">
                <a:solidFill>
                  <a:srgbClr val="000000"/>
                </a:solidFill>
                <a:latin typeface="Times New Roman" pitchFamily="18" charset="0"/>
                <a:ea typeface="楷体_GB2312" pitchFamily="49" charset="-122"/>
              </a:rPr>
              <a:t>的前驱</a:t>
            </a:r>
          </a:p>
          <a:p>
            <a:pPr eaLnBrk="0" fontAlgn="base" hangingPunct="0">
              <a:lnSpc>
                <a:spcPct val="110000"/>
              </a:lnSpc>
              <a:spcBef>
                <a:spcPct val="0"/>
              </a:spcBef>
              <a:spcAft>
                <a:spcPct val="0"/>
              </a:spcAft>
            </a:pPr>
            <a:r>
              <a:rPr kumimoji="1" lang="zh-CN" altLang="en-US" sz="2800" b="1" dirty="0">
                <a:solidFill>
                  <a:srgbClr val="000000"/>
                </a:solidFill>
                <a:latin typeface="Times New Roman" pitchFamily="18" charset="0"/>
                <a:ea typeface="楷体_GB2312" pitchFamily="49" charset="-122"/>
              </a:rPr>
              <a:t>    </a:t>
            </a:r>
            <a:r>
              <a:rPr kumimoji="1" lang="en-US" altLang="zh-CN" sz="2800" b="1" dirty="0" err="1">
                <a:solidFill>
                  <a:srgbClr val="0000FF"/>
                </a:solidFill>
                <a:latin typeface="Times New Roman" pitchFamily="18" charset="0"/>
                <a:ea typeface="楷体_GB2312" pitchFamily="49" charset="-122"/>
              </a:rPr>
              <a:t>InThreading</a:t>
            </a:r>
            <a:r>
              <a:rPr kumimoji="1" lang="en-US" altLang="zh-CN" sz="2800" b="1" dirty="0">
                <a:solidFill>
                  <a:srgbClr val="0000FF"/>
                </a:solidFill>
                <a:latin typeface="Times New Roman" pitchFamily="18" charset="0"/>
                <a:ea typeface="楷体_GB2312" pitchFamily="49" charset="-122"/>
              </a:rPr>
              <a:t>(p-&gt;</a:t>
            </a:r>
            <a:r>
              <a:rPr kumimoji="1" lang="en-US" altLang="zh-CN" sz="2800" b="1" dirty="0" err="1">
                <a:solidFill>
                  <a:srgbClr val="0000FF"/>
                </a:solidFill>
                <a:latin typeface="Times New Roman" pitchFamily="18" charset="0"/>
                <a:ea typeface="楷体_GB2312" pitchFamily="49" charset="-122"/>
              </a:rPr>
              <a:t>rchild</a:t>
            </a:r>
            <a:r>
              <a:rPr kumimoji="1" lang="en-US" altLang="zh-CN" sz="2800" b="1" dirty="0">
                <a:solidFill>
                  <a:srgbClr val="0000FF"/>
                </a:solidFill>
                <a:latin typeface="Times New Roman" pitchFamily="18" charset="0"/>
                <a:ea typeface="楷体_GB2312" pitchFamily="49" charset="-122"/>
              </a:rPr>
              <a:t>)</a:t>
            </a:r>
            <a:r>
              <a:rPr kumimoji="1" lang="en-US" altLang="zh-CN" sz="2800" b="1" dirty="0">
                <a:solidFill>
                  <a:srgbClr val="0033CC"/>
                </a:solidFill>
                <a:latin typeface="Times New Roman" pitchFamily="18" charset="0"/>
                <a:ea typeface="楷体_GB2312" pitchFamily="49" charset="-122"/>
              </a:rPr>
              <a:t>;</a:t>
            </a:r>
            <a:r>
              <a:rPr kumimoji="1" lang="en-US" altLang="zh-CN" sz="2800" b="1" dirty="0">
                <a:solidFill>
                  <a:srgbClr val="000000"/>
                </a:solidFill>
                <a:latin typeface="Times New Roman" pitchFamily="18" charset="0"/>
                <a:ea typeface="楷体_GB2312" pitchFamily="49" charset="-122"/>
              </a:rPr>
              <a:t>               // </a:t>
            </a:r>
            <a:r>
              <a:rPr kumimoji="1" lang="zh-CN" altLang="en-US" sz="2800" b="1" dirty="0">
                <a:solidFill>
                  <a:srgbClr val="000000"/>
                </a:solidFill>
                <a:latin typeface="Times New Roman" pitchFamily="18" charset="0"/>
                <a:ea typeface="楷体_GB2312" pitchFamily="49" charset="-122"/>
              </a:rPr>
              <a:t>右子树线索化</a:t>
            </a:r>
          </a:p>
          <a:p>
            <a:pPr eaLnBrk="0" fontAlgn="base" hangingPunct="0">
              <a:lnSpc>
                <a:spcPct val="110000"/>
              </a:lnSpc>
              <a:spcBef>
                <a:spcPct val="0"/>
              </a:spcBef>
              <a:spcAft>
                <a:spcPct val="0"/>
              </a:spcAft>
            </a:pPr>
            <a:r>
              <a:rPr kumimoji="1" lang="zh-CN" altLang="en-US" sz="2800" b="1" dirty="0">
                <a:solidFill>
                  <a:srgbClr val="0000FF"/>
                </a:solidFill>
                <a:latin typeface="Times New Roman" pitchFamily="18" charset="0"/>
                <a:ea typeface="楷体_GB2312" pitchFamily="49" charset="-122"/>
              </a:rPr>
              <a:t>  </a:t>
            </a:r>
            <a:r>
              <a:rPr kumimoji="1" lang="en-US" altLang="zh-CN" sz="2800" b="1" dirty="0">
                <a:solidFill>
                  <a:srgbClr val="0000FF"/>
                </a:solidFill>
                <a:latin typeface="Times New Roman" pitchFamily="18" charset="0"/>
                <a:ea typeface="楷体_GB2312" pitchFamily="49" charset="-122"/>
              </a:rPr>
              <a:t>} // if</a:t>
            </a:r>
          </a:p>
          <a:p>
            <a:pPr eaLnBrk="0" fontAlgn="base" hangingPunct="0">
              <a:lnSpc>
                <a:spcPct val="110000"/>
              </a:lnSpc>
              <a:spcBef>
                <a:spcPct val="0"/>
              </a:spcBef>
              <a:spcAft>
                <a:spcPct val="0"/>
              </a:spcAft>
            </a:pPr>
            <a:r>
              <a:rPr kumimoji="1" lang="en-US" altLang="zh-CN" sz="2800" b="1" dirty="0">
                <a:solidFill>
                  <a:srgbClr val="0000FF"/>
                </a:solidFill>
                <a:latin typeface="Times New Roman" pitchFamily="18" charset="0"/>
                <a:ea typeface="楷体_GB2312" pitchFamily="49" charset="-122"/>
              </a:rPr>
              <a:t>} // </a:t>
            </a:r>
            <a:r>
              <a:rPr kumimoji="1" lang="en-US" altLang="zh-CN" sz="2800" b="1" dirty="0" err="1">
                <a:solidFill>
                  <a:srgbClr val="0000FF"/>
                </a:solidFill>
                <a:latin typeface="Times New Roman" pitchFamily="18" charset="0"/>
                <a:ea typeface="楷体_GB2312" pitchFamily="49" charset="-122"/>
              </a:rPr>
              <a:t>InThreading</a:t>
            </a:r>
            <a:endParaRPr kumimoji="1" lang="en-US" altLang="zh-CN" sz="2800" b="1" dirty="0">
              <a:solidFill>
                <a:srgbClr val="0000FF"/>
              </a:solidFill>
              <a:latin typeface="Times New Roman" pitchFamily="18" charset="0"/>
              <a:ea typeface="楷体_GB2312" pitchFamily="49" charset="-122"/>
            </a:endParaRPr>
          </a:p>
        </p:txBody>
      </p:sp>
    </p:spTree>
    <p:extLst>
      <p:ext uri="{BB962C8B-B14F-4D97-AF65-F5344CB8AC3E}">
        <p14:creationId xmlns:p14="http://schemas.microsoft.com/office/powerpoint/2010/main" val="3611644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960FFEA3-6DBE-4B45-8BDB-BE40FA0358CB}"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110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3"/>
          <p:cNvSpPr txBox="1">
            <a:spLocks noChangeArrowheads="1"/>
          </p:cNvSpPr>
          <p:nvPr/>
        </p:nvSpPr>
        <p:spPr bwMode="auto">
          <a:xfrm>
            <a:off x="304800" y="1447800"/>
            <a:ext cx="8640763" cy="2657475"/>
          </a:xfrm>
          <a:prstGeom prst="rect">
            <a:avLst/>
          </a:prstGeom>
          <a:noFill/>
          <a:ln w="9525">
            <a:solidFill>
              <a:srgbClr val="04617B"/>
            </a:solidFill>
            <a:miter lim="800000"/>
            <a:headEnd/>
            <a:tailEnd/>
          </a:ln>
        </p:spPr>
        <p:txBody>
          <a:bodyPr lIns="90000" tIns="46800" rIns="90000" bIns="46800">
            <a:spAutoFit/>
          </a:bodyPr>
          <a:lstStyle/>
          <a:p>
            <a:pPr marL="0" marR="0" lvl="0" indent="0" defTabSz="914400" eaLnBrk="1" fontAlgn="base" latinLnBrk="0" hangingPunct="1">
              <a:lnSpc>
                <a:spcPct val="140000"/>
              </a:lnSpc>
              <a:spcBef>
                <a:spcPct val="0"/>
              </a:spcBef>
              <a:spcAft>
                <a:spcPct val="0"/>
              </a:spcAft>
              <a:buClrTx/>
              <a:buSzTx/>
              <a:buFont typeface="Wingdings" pitchFamily="2" charset="2"/>
              <a:buChar char="Ø"/>
              <a:tabLst/>
              <a:defRPr/>
            </a:pPr>
            <a:r>
              <a:rPr kumimoji="1" lang="zh-CN" altLang="en-US" sz="2400" b="1" i="0" u="none" strike="noStrike" kern="0" cap="none" spc="0" normalizeH="0" baseline="0" noProof="0">
                <a:ln>
                  <a:noFill/>
                </a:ln>
                <a:solidFill>
                  <a:srgbClr val="FF3300"/>
                </a:solidFill>
                <a:effectLst/>
                <a:uLnTx/>
                <a:uFillTx/>
                <a:latin typeface="宋体" pitchFamily="2" charset="-122"/>
              </a:rPr>
              <a:t>在二叉树中一般不讨论结点的插入与删除</a:t>
            </a:r>
            <a:r>
              <a:rPr kumimoji="1" lang="zh-CN" altLang="en-US" sz="2400" b="1" i="0" u="none" strike="noStrike" kern="0" cap="none" spc="0" normalizeH="0" baseline="0" noProof="0">
                <a:ln>
                  <a:noFill/>
                </a:ln>
                <a:solidFill>
                  <a:srgbClr val="0000FF"/>
                </a:solidFill>
                <a:effectLst/>
                <a:uLnTx/>
                <a:uFillTx/>
                <a:latin typeface="宋体" pitchFamily="2" charset="-122"/>
              </a:rPr>
              <a:t>，原因是其插入与删除的操作与线性表相同，所不同的是需要详细说明操作的具体要求。</a:t>
            </a:r>
          </a:p>
          <a:p>
            <a:pPr marL="0" marR="0" lvl="0" indent="0" defTabSz="914400" eaLnBrk="1" fontAlgn="base" latinLnBrk="0" hangingPunct="1">
              <a:lnSpc>
                <a:spcPct val="140000"/>
              </a:lnSpc>
              <a:spcBef>
                <a:spcPct val="0"/>
              </a:spcBef>
              <a:spcAft>
                <a:spcPct val="0"/>
              </a:spcAft>
              <a:buClrTx/>
              <a:buSzTx/>
              <a:buFont typeface="Wingdings" pitchFamily="2" charset="2"/>
              <a:buChar char="Ø"/>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而在</a:t>
            </a:r>
            <a:r>
              <a:rPr kumimoji="1" lang="zh-CN" altLang="en-US" sz="2400" b="1" i="0" u="none" strike="noStrike" kern="0" cap="none" spc="0" normalizeH="0" baseline="0" noProof="0">
                <a:ln>
                  <a:noFill/>
                </a:ln>
                <a:solidFill>
                  <a:srgbClr val="FF3300"/>
                </a:solidFill>
                <a:effectLst/>
                <a:uLnTx/>
                <a:uFillTx/>
                <a:latin typeface="宋体" pitchFamily="2" charset="-122"/>
              </a:rPr>
              <a:t>线索树</a:t>
            </a:r>
            <a:r>
              <a:rPr kumimoji="1" lang="zh-CN" altLang="en-US" sz="2400" b="1" i="0" u="none" strike="noStrike" kern="0" cap="none" spc="0" normalizeH="0" baseline="0" noProof="0">
                <a:ln>
                  <a:noFill/>
                </a:ln>
                <a:solidFill>
                  <a:srgbClr val="0000FF"/>
                </a:solidFill>
                <a:effectLst/>
                <a:uLnTx/>
                <a:uFillTx/>
                <a:latin typeface="宋体" pitchFamily="2" charset="-122"/>
              </a:rPr>
              <a:t>中结点的插入与删除则不同，因为要同时</a:t>
            </a:r>
            <a:r>
              <a:rPr kumimoji="1" lang="zh-CN" altLang="en-US" sz="2400" b="1" i="0" u="none" strike="noStrike" kern="0" cap="none" spc="0" normalizeH="0" baseline="0" noProof="0">
                <a:ln>
                  <a:noFill/>
                </a:ln>
                <a:solidFill>
                  <a:srgbClr val="FF3300"/>
                </a:solidFill>
                <a:effectLst/>
                <a:uLnTx/>
                <a:uFillTx/>
                <a:latin typeface="宋体" pitchFamily="2" charset="-122"/>
              </a:rPr>
              <a:t>考虑修正线索</a:t>
            </a:r>
            <a:r>
              <a:rPr kumimoji="1" lang="zh-CN" altLang="en-US" sz="2400" b="1" i="0" u="none" strike="noStrike" kern="0" cap="none" spc="0" normalizeH="0" baseline="0" noProof="0">
                <a:ln>
                  <a:noFill/>
                </a:ln>
                <a:solidFill>
                  <a:srgbClr val="0000FF"/>
                </a:solidFill>
                <a:effectLst/>
                <a:uLnTx/>
                <a:uFillTx/>
                <a:latin typeface="宋体" pitchFamily="2" charset="-122"/>
              </a:rPr>
              <a:t>的操作。</a:t>
            </a:r>
          </a:p>
        </p:txBody>
      </p:sp>
      <p:sp>
        <p:nvSpPr>
          <p:cNvPr id="14" name="Rectangle 9"/>
          <p:cNvSpPr>
            <a:spLocks noChangeArrowheads="1"/>
          </p:cNvSpPr>
          <p:nvPr/>
        </p:nvSpPr>
        <p:spPr bwMode="auto">
          <a:xfrm>
            <a:off x="304800" y="5264150"/>
            <a:ext cx="8567738" cy="792163"/>
          </a:xfrm>
          <a:prstGeom prst="rect">
            <a:avLst/>
          </a:prstGeom>
          <a:noFill/>
          <a:ln w="12700">
            <a:solidFill>
              <a:srgbClr val="04617B"/>
            </a:solidFill>
            <a:miter lim="800000"/>
            <a:headEnd/>
            <a:tailEnd/>
          </a:ln>
        </p:spPr>
        <p:txBody>
          <a:bodyPr/>
          <a:lstStyle/>
          <a:p>
            <a:pPr marL="273050" marR="0" lvl="0" indent="-273050" defTabSz="914400" eaLnBrk="1" fontAlgn="base" latinLnBrk="0" hangingPunct="1">
              <a:lnSpc>
                <a:spcPct val="150000"/>
              </a:lnSpc>
              <a:spcBef>
                <a:spcPct val="0"/>
              </a:spcBef>
              <a:spcAft>
                <a:spcPct val="0"/>
              </a:spcAft>
              <a:buClr>
                <a:srgbClr val="0BD0D9"/>
              </a:buClr>
              <a:buSzPct val="95000"/>
              <a:buFont typeface="Wingdings 2" pitchFamily="18" charset="2"/>
              <a:buNone/>
              <a:tabLst/>
              <a:defRPr/>
            </a:pPr>
            <a:r>
              <a:rPr kumimoji="0" lang="zh-CN" altLang="en-US" sz="2400" b="1" i="0" u="none" strike="noStrike" kern="0" cap="none" spc="0" normalizeH="0" baseline="0" noProof="0">
                <a:ln>
                  <a:noFill/>
                </a:ln>
                <a:solidFill>
                  <a:srgbClr val="0000FF"/>
                </a:solidFill>
                <a:effectLst/>
                <a:uLnTx/>
                <a:uFillTx/>
                <a:latin typeface="Constantia" pitchFamily="18" charset="0"/>
              </a:rPr>
              <a:t>在插入和删除时，除了修改指针外，还要相应地修改线索。</a:t>
            </a:r>
            <a:endParaRPr kumimoji="0" lang="en-US" altLang="zh-CN" sz="2400" b="1" i="0" u="none" strike="noStrike" kern="0" cap="none" spc="0" normalizeH="0" baseline="0" noProof="0">
              <a:ln>
                <a:noFill/>
              </a:ln>
              <a:solidFill>
                <a:srgbClr val="0000FF"/>
              </a:solidFill>
              <a:effectLst/>
              <a:uLnTx/>
              <a:uFillTx/>
              <a:latin typeface="Constantia" pitchFamily="18" charset="0"/>
            </a:endParaRPr>
          </a:p>
        </p:txBody>
      </p:sp>
      <p:sp>
        <p:nvSpPr>
          <p:cNvPr id="15" name="Rectangle 10"/>
          <p:cNvSpPr>
            <a:spLocks noChangeArrowheads="1"/>
          </p:cNvSpPr>
          <p:nvPr/>
        </p:nvSpPr>
        <p:spPr bwMode="auto">
          <a:xfrm>
            <a:off x="447675" y="4471988"/>
            <a:ext cx="2684463" cy="519112"/>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pPr>
            <a:r>
              <a:rPr lang="zh-CN" altLang="en-US" sz="2800" b="1">
                <a:solidFill>
                  <a:srgbClr val="FF3300"/>
                </a:solidFill>
                <a:latin typeface="Times New Roman" pitchFamily="18" charset="0"/>
              </a:rPr>
              <a:t>线索树的缺点：</a:t>
            </a:r>
          </a:p>
        </p:txBody>
      </p:sp>
    </p:spTree>
    <p:extLst>
      <p:ext uri="{BB962C8B-B14F-4D97-AF65-F5344CB8AC3E}">
        <p14:creationId xmlns:p14="http://schemas.microsoft.com/office/powerpoint/2010/main" val="75752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A6E10951-E4C8-492B-B366-A0D3A6D1B83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111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8"/>
          <p:cNvSpPr>
            <a:spLocks noChangeArrowheads="1"/>
          </p:cNvSpPr>
          <p:nvPr/>
        </p:nvSpPr>
        <p:spPr bwMode="auto">
          <a:xfrm>
            <a:off x="4794250" y="5092700"/>
            <a:ext cx="600075" cy="519113"/>
          </a:xfrm>
          <a:prstGeom prst="rect">
            <a:avLst/>
          </a:prstGeom>
          <a:noFill/>
          <a:ln w="12700" cap="rnd" algn="ctr">
            <a:noFill/>
            <a:miter lim="800000"/>
            <a:headEnd/>
            <a:tailEnd/>
          </a:ln>
        </p:spPr>
        <p:txBody>
          <a:bodyPr anchor="ctr">
            <a:spAutoFit/>
          </a:bodyPr>
          <a:lstStyle/>
          <a:p>
            <a:pPr algn="ctr" eaLnBrk="0" fontAlgn="base" hangingPunct="0">
              <a:spcBef>
                <a:spcPct val="0"/>
              </a:spcBef>
              <a:spcAft>
                <a:spcPct val="0"/>
              </a:spcAft>
            </a:pPr>
            <a:r>
              <a:rPr kumimoji="1" lang="en-US" altLang="zh-CN" sz="2800" b="1">
                <a:solidFill>
                  <a:srgbClr val="000000"/>
                </a:solidFill>
                <a:latin typeface="Times New Roman" pitchFamily="18" charset="0"/>
              </a:rPr>
              <a:t>(a)</a:t>
            </a:r>
          </a:p>
        </p:txBody>
      </p:sp>
      <p:sp>
        <p:nvSpPr>
          <p:cNvPr id="14" name="Rectangle 9"/>
          <p:cNvSpPr>
            <a:spLocks noChangeArrowheads="1"/>
          </p:cNvSpPr>
          <p:nvPr/>
        </p:nvSpPr>
        <p:spPr bwMode="auto">
          <a:xfrm>
            <a:off x="6450013" y="5443538"/>
            <a:ext cx="1873250" cy="457200"/>
          </a:xfrm>
          <a:prstGeom prst="rect">
            <a:avLst/>
          </a:prstGeom>
          <a:noFill/>
          <a:ln w="12700" cap="rnd" algn="ctr">
            <a:noFill/>
            <a:miter lim="800000"/>
            <a:headEnd/>
            <a:tailEnd/>
          </a:ln>
        </p:spPr>
        <p:txBody>
          <a:bodyPr anchor="ctr">
            <a:spAutoFit/>
          </a:bodyPr>
          <a:lstStyle/>
          <a:p>
            <a:pPr algn="ctr" eaLnBrk="0" fontAlgn="base" hangingPunct="0">
              <a:spcBef>
                <a:spcPct val="0"/>
              </a:spcBef>
              <a:spcAft>
                <a:spcPct val="0"/>
              </a:spcAft>
            </a:pPr>
            <a:r>
              <a:rPr kumimoji="1" lang="zh-CN" altLang="en-US" sz="2400" b="1">
                <a:solidFill>
                  <a:srgbClr val="000000"/>
                </a:solidFill>
                <a:latin typeface="Times New Roman" pitchFamily="18" charset="0"/>
              </a:rPr>
              <a:t>插入后</a:t>
            </a:r>
          </a:p>
        </p:txBody>
      </p:sp>
      <p:grpSp>
        <p:nvGrpSpPr>
          <p:cNvPr id="15" name="Group 10"/>
          <p:cNvGrpSpPr>
            <a:grpSpLocks/>
          </p:cNvGrpSpPr>
          <p:nvPr/>
        </p:nvGrpSpPr>
        <p:grpSpPr bwMode="auto">
          <a:xfrm>
            <a:off x="904875" y="3325813"/>
            <a:ext cx="3170238" cy="2495550"/>
            <a:chOff x="443" y="503"/>
            <a:chExt cx="1997" cy="1572"/>
          </a:xfrm>
        </p:grpSpPr>
        <p:sp>
          <p:nvSpPr>
            <p:cNvPr id="16" name="Rectangle 11"/>
            <p:cNvSpPr>
              <a:spLocks noChangeArrowheads="1"/>
            </p:cNvSpPr>
            <p:nvPr/>
          </p:nvSpPr>
          <p:spPr bwMode="auto">
            <a:xfrm>
              <a:off x="443" y="1557"/>
              <a:ext cx="1997" cy="518"/>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rPr>
                <a:t>插入前</a:t>
              </a:r>
            </a:p>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rPr>
                <a:t>（ </a:t>
              </a:r>
              <a:r>
                <a:rPr kumimoji="1" lang="en-US" altLang="zh-CN" sz="2400" b="1" i="0" u="none" strike="noStrike" kern="0" cap="none" spc="0" normalizeH="0" baseline="0" noProof="0">
                  <a:ln>
                    <a:noFill/>
                  </a:ln>
                  <a:solidFill>
                    <a:srgbClr val="000000"/>
                  </a:solidFill>
                  <a:effectLst/>
                  <a:uLnTx/>
                  <a:uFillTx/>
                  <a:latin typeface="Times New Roman" pitchFamily="18" charset="0"/>
                </a:rPr>
                <a:t>S</a:t>
              </a:r>
              <a:r>
                <a:rPr kumimoji="1" lang="zh-CN" altLang="en-US" sz="2400" b="1" i="0" u="none" strike="noStrike" kern="0" cap="none" spc="0" normalizeH="0" baseline="0" noProof="0">
                  <a:ln>
                    <a:noFill/>
                  </a:ln>
                  <a:solidFill>
                    <a:srgbClr val="000000"/>
                  </a:solidFill>
                  <a:effectLst/>
                  <a:uLnTx/>
                  <a:uFillTx/>
                  <a:latin typeface="Times New Roman" pitchFamily="18" charset="0"/>
                </a:rPr>
                <a:t>的右子树为空）</a:t>
              </a:r>
            </a:p>
          </p:txBody>
        </p:sp>
        <p:sp>
          <p:nvSpPr>
            <p:cNvPr id="17" name="Oval 12"/>
            <p:cNvSpPr>
              <a:spLocks noChangeArrowheads="1"/>
            </p:cNvSpPr>
            <p:nvPr/>
          </p:nvSpPr>
          <p:spPr bwMode="auto">
            <a:xfrm>
              <a:off x="1521" y="503"/>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19" name="Oval 13"/>
            <p:cNvSpPr>
              <a:spLocks noChangeArrowheads="1"/>
            </p:cNvSpPr>
            <p:nvPr/>
          </p:nvSpPr>
          <p:spPr bwMode="auto">
            <a:xfrm>
              <a:off x="1203" y="817"/>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20" name="Oval 14"/>
            <p:cNvSpPr>
              <a:spLocks noChangeArrowheads="1"/>
            </p:cNvSpPr>
            <p:nvPr/>
          </p:nvSpPr>
          <p:spPr bwMode="auto">
            <a:xfrm>
              <a:off x="1514" y="1131"/>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21" name="Oval 15"/>
            <p:cNvSpPr>
              <a:spLocks noChangeArrowheads="1"/>
            </p:cNvSpPr>
            <p:nvPr/>
          </p:nvSpPr>
          <p:spPr bwMode="auto">
            <a:xfrm>
              <a:off x="1182" y="1361"/>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22" name="Oval 16"/>
            <p:cNvSpPr>
              <a:spLocks noChangeArrowheads="1"/>
            </p:cNvSpPr>
            <p:nvPr/>
          </p:nvSpPr>
          <p:spPr bwMode="auto">
            <a:xfrm>
              <a:off x="1919" y="1459"/>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23" name="Line 17"/>
            <p:cNvSpPr>
              <a:spLocks noChangeShapeType="1"/>
            </p:cNvSpPr>
            <p:nvPr/>
          </p:nvSpPr>
          <p:spPr bwMode="auto">
            <a:xfrm flipH="1">
              <a:off x="1339" y="636"/>
              <a:ext cx="182" cy="181"/>
            </a:xfrm>
            <a:prstGeom prst="line">
              <a:avLst/>
            </a:pr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4" name="Line 18"/>
            <p:cNvSpPr>
              <a:spLocks noChangeShapeType="1"/>
            </p:cNvSpPr>
            <p:nvPr/>
          </p:nvSpPr>
          <p:spPr bwMode="auto">
            <a:xfrm>
              <a:off x="1364" y="984"/>
              <a:ext cx="181" cy="182"/>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Line 19"/>
            <p:cNvSpPr>
              <a:spLocks noChangeShapeType="1"/>
            </p:cNvSpPr>
            <p:nvPr/>
          </p:nvSpPr>
          <p:spPr bwMode="auto">
            <a:xfrm>
              <a:off x="1612" y="953"/>
              <a:ext cx="0" cy="181"/>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Rectangle 20"/>
            <p:cNvSpPr>
              <a:spLocks noChangeArrowheads="1"/>
            </p:cNvSpPr>
            <p:nvPr/>
          </p:nvSpPr>
          <p:spPr bwMode="auto">
            <a:xfrm>
              <a:off x="1521" y="726"/>
              <a:ext cx="205" cy="250"/>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S</a:t>
              </a:r>
            </a:p>
          </p:txBody>
        </p:sp>
        <p:sp>
          <p:nvSpPr>
            <p:cNvPr id="27" name="Freeform 21"/>
            <p:cNvSpPr>
              <a:spLocks/>
            </p:cNvSpPr>
            <p:nvPr/>
          </p:nvSpPr>
          <p:spPr bwMode="auto">
            <a:xfrm>
              <a:off x="1629" y="670"/>
              <a:ext cx="163" cy="686"/>
            </a:xfrm>
            <a:custGeom>
              <a:avLst/>
              <a:gdLst>
                <a:gd name="T0" fmla="*/ 17 w 163"/>
                <a:gd name="T1" fmla="*/ 642 h 686"/>
                <a:gd name="T2" fmla="*/ 68 w 163"/>
                <a:gd name="T3" fmla="*/ 686 h 686"/>
                <a:gd name="T4" fmla="*/ 141 w 163"/>
                <a:gd name="T5" fmla="*/ 577 h 686"/>
                <a:gd name="T6" fmla="*/ 155 w 163"/>
                <a:gd name="T7" fmla="*/ 453 h 686"/>
                <a:gd name="T8" fmla="*/ 163 w 163"/>
                <a:gd name="T9" fmla="*/ 351 h 686"/>
                <a:gd name="T10" fmla="*/ 148 w 163"/>
                <a:gd name="T11" fmla="*/ 234 h 686"/>
                <a:gd name="T12" fmla="*/ 60 w 163"/>
                <a:gd name="T13" fmla="*/ 88 h 686"/>
                <a:gd name="T14" fmla="*/ 24 w 163"/>
                <a:gd name="T15" fmla="*/ 23 h 686"/>
                <a:gd name="T16" fmla="*/ 2 w 163"/>
                <a:gd name="T17" fmla="*/ 1 h 6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3"/>
                <a:gd name="T28" fmla="*/ 0 h 686"/>
                <a:gd name="T29" fmla="*/ 163 w 163"/>
                <a:gd name="T30" fmla="*/ 686 h 68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3" h="686">
                  <a:moveTo>
                    <a:pt x="17" y="642"/>
                  </a:moveTo>
                  <a:cubicBezTo>
                    <a:pt x="26" y="672"/>
                    <a:pt x="39" y="677"/>
                    <a:pt x="68" y="686"/>
                  </a:cubicBezTo>
                  <a:cubicBezTo>
                    <a:pt x="144" y="674"/>
                    <a:pt x="134" y="659"/>
                    <a:pt x="141" y="577"/>
                  </a:cubicBezTo>
                  <a:cubicBezTo>
                    <a:pt x="151" y="464"/>
                    <a:pt x="140" y="515"/>
                    <a:pt x="155" y="453"/>
                  </a:cubicBezTo>
                  <a:cubicBezTo>
                    <a:pt x="144" y="419"/>
                    <a:pt x="157" y="386"/>
                    <a:pt x="163" y="351"/>
                  </a:cubicBezTo>
                  <a:cubicBezTo>
                    <a:pt x="142" y="294"/>
                    <a:pt x="163" y="356"/>
                    <a:pt x="148" y="234"/>
                  </a:cubicBezTo>
                  <a:cubicBezTo>
                    <a:pt x="142" y="180"/>
                    <a:pt x="103" y="118"/>
                    <a:pt x="60" y="88"/>
                  </a:cubicBezTo>
                  <a:cubicBezTo>
                    <a:pt x="53" y="65"/>
                    <a:pt x="42" y="40"/>
                    <a:pt x="24" y="23"/>
                  </a:cubicBezTo>
                  <a:cubicBezTo>
                    <a:pt x="0" y="0"/>
                    <a:pt x="2" y="19"/>
                    <a:pt x="2" y="1"/>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8" name="Line 22"/>
            <p:cNvSpPr>
              <a:spLocks noChangeShapeType="1"/>
            </p:cNvSpPr>
            <p:nvPr/>
          </p:nvSpPr>
          <p:spPr bwMode="auto">
            <a:xfrm flipH="1">
              <a:off x="1371" y="1271"/>
              <a:ext cx="181" cy="136"/>
            </a:xfrm>
            <a:prstGeom prst="line">
              <a:avLst/>
            </a:pr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Freeform 23"/>
            <p:cNvSpPr>
              <a:spLocks/>
            </p:cNvSpPr>
            <p:nvPr/>
          </p:nvSpPr>
          <p:spPr bwMode="auto">
            <a:xfrm>
              <a:off x="1084" y="970"/>
              <a:ext cx="186" cy="584"/>
            </a:xfrm>
            <a:custGeom>
              <a:avLst/>
              <a:gdLst>
                <a:gd name="T0" fmla="*/ 139 w 186"/>
                <a:gd name="T1" fmla="*/ 568 h 584"/>
                <a:gd name="T2" fmla="*/ 37 w 186"/>
                <a:gd name="T3" fmla="*/ 576 h 584"/>
                <a:gd name="T4" fmla="*/ 0 w 186"/>
                <a:gd name="T5" fmla="*/ 510 h 584"/>
                <a:gd name="T6" fmla="*/ 51 w 186"/>
                <a:gd name="T7" fmla="*/ 299 h 584"/>
                <a:gd name="T8" fmla="*/ 88 w 186"/>
                <a:gd name="T9" fmla="*/ 233 h 584"/>
                <a:gd name="T10" fmla="*/ 80 w 186"/>
                <a:gd name="T11" fmla="*/ 211 h 584"/>
                <a:gd name="T12" fmla="*/ 110 w 186"/>
                <a:gd name="T13" fmla="*/ 167 h 584"/>
                <a:gd name="T14" fmla="*/ 146 w 186"/>
                <a:gd name="T15" fmla="*/ 102 h 584"/>
                <a:gd name="T16" fmla="*/ 168 w 186"/>
                <a:gd name="T17" fmla="*/ 36 h 584"/>
                <a:gd name="T18" fmla="*/ 183 w 186"/>
                <a:gd name="T19" fmla="*/ 0 h 5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6"/>
                <a:gd name="T31" fmla="*/ 0 h 584"/>
                <a:gd name="T32" fmla="*/ 186 w 186"/>
                <a:gd name="T33" fmla="*/ 584 h 58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6" h="584">
                  <a:moveTo>
                    <a:pt x="139" y="568"/>
                  </a:moveTo>
                  <a:cubicBezTo>
                    <a:pt x="96" y="584"/>
                    <a:pt x="90" y="582"/>
                    <a:pt x="37" y="576"/>
                  </a:cubicBezTo>
                  <a:cubicBezTo>
                    <a:pt x="28" y="552"/>
                    <a:pt x="0" y="510"/>
                    <a:pt x="0" y="510"/>
                  </a:cubicBezTo>
                  <a:cubicBezTo>
                    <a:pt x="9" y="440"/>
                    <a:pt x="28" y="367"/>
                    <a:pt x="51" y="299"/>
                  </a:cubicBezTo>
                  <a:cubicBezTo>
                    <a:pt x="59" y="275"/>
                    <a:pt x="88" y="233"/>
                    <a:pt x="88" y="233"/>
                  </a:cubicBezTo>
                  <a:cubicBezTo>
                    <a:pt x="85" y="226"/>
                    <a:pt x="78" y="218"/>
                    <a:pt x="80" y="211"/>
                  </a:cubicBezTo>
                  <a:cubicBezTo>
                    <a:pt x="86" y="194"/>
                    <a:pt x="110" y="167"/>
                    <a:pt x="110" y="167"/>
                  </a:cubicBezTo>
                  <a:cubicBezTo>
                    <a:pt x="118" y="141"/>
                    <a:pt x="135" y="126"/>
                    <a:pt x="146" y="102"/>
                  </a:cubicBezTo>
                  <a:cubicBezTo>
                    <a:pt x="156" y="81"/>
                    <a:pt x="158" y="56"/>
                    <a:pt x="168" y="36"/>
                  </a:cubicBezTo>
                  <a:cubicBezTo>
                    <a:pt x="186" y="1"/>
                    <a:pt x="183" y="28"/>
                    <a:pt x="183"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0" name="Line 24"/>
            <p:cNvSpPr>
              <a:spLocks noChangeShapeType="1"/>
            </p:cNvSpPr>
            <p:nvPr/>
          </p:nvSpPr>
          <p:spPr bwMode="auto">
            <a:xfrm>
              <a:off x="2020" y="1180"/>
              <a:ext cx="0" cy="272"/>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1" name="Rectangle 25"/>
            <p:cNvSpPr>
              <a:spLocks noChangeArrowheads="1"/>
            </p:cNvSpPr>
            <p:nvPr/>
          </p:nvSpPr>
          <p:spPr bwMode="auto">
            <a:xfrm>
              <a:off x="1895" y="927"/>
              <a:ext cx="232" cy="250"/>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R</a:t>
              </a:r>
            </a:p>
          </p:txBody>
        </p:sp>
      </p:grpSp>
      <p:grpSp>
        <p:nvGrpSpPr>
          <p:cNvPr id="32" name="Group 26"/>
          <p:cNvGrpSpPr>
            <a:grpSpLocks/>
          </p:cNvGrpSpPr>
          <p:nvPr/>
        </p:nvGrpSpPr>
        <p:grpSpPr bwMode="auto">
          <a:xfrm>
            <a:off x="6530975" y="3516313"/>
            <a:ext cx="1951038" cy="1743075"/>
            <a:chOff x="3987" y="375"/>
            <a:chExt cx="1229" cy="1098"/>
          </a:xfrm>
        </p:grpSpPr>
        <p:sp>
          <p:nvSpPr>
            <p:cNvPr id="33" name="Oval 27"/>
            <p:cNvSpPr>
              <a:spLocks noChangeArrowheads="1"/>
            </p:cNvSpPr>
            <p:nvPr/>
          </p:nvSpPr>
          <p:spPr bwMode="auto">
            <a:xfrm>
              <a:off x="4424" y="375"/>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4" name="Oval 28"/>
            <p:cNvSpPr>
              <a:spLocks noChangeArrowheads="1"/>
            </p:cNvSpPr>
            <p:nvPr/>
          </p:nvSpPr>
          <p:spPr bwMode="auto">
            <a:xfrm>
              <a:off x="4106" y="689"/>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5" name="Oval 29"/>
            <p:cNvSpPr>
              <a:spLocks noChangeArrowheads="1"/>
            </p:cNvSpPr>
            <p:nvPr/>
          </p:nvSpPr>
          <p:spPr bwMode="auto">
            <a:xfrm>
              <a:off x="4417" y="1003"/>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6" name="Oval 30"/>
            <p:cNvSpPr>
              <a:spLocks noChangeArrowheads="1"/>
            </p:cNvSpPr>
            <p:nvPr/>
          </p:nvSpPr>
          <p:spPr bwMode="auto">
            <a:xfrm>
              <a:off x="4085" y="1233"/>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7" name="Oval 31"/>
            <p:cNvSpPr>
              <a:spLocks noChangeArrowheads="1"/>
            </p:cNvSpPr>
            <p:nvPr/>
          </p:nvSpPr>
          <p:spPr bwMode="auto">
            <a:xfrm>
              <a:off x="4808" y="1254"/>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8" name="Line 32"/>
            <p:cNvSpPr>
              <a:spLocks noChangeShapeType="1"/>
            </p:cNvSpPr>
            <p:nvPr/>
          </p:nvSpPr>
          <p:spPr bwMode="auto">
            <a:xfrm flipH="1">
              <a:off x="4242" y="508"/>
              <a:ext cx="182" cy="181"/>
            </a:xfrm>
            <a:prstGeom prst="line">
              <a:avLst/>
            </a:pr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9" name="Line 33"/>
            <p:cNvSpPr>
              <a:spLocks noChangeShapeType="1"/>
            </p:cNvSpPr>
            <p:nvPr/>
          </p:nvSpPr>
          <p:spPr bwMode="auto">
            <a:xfrm>
              <a:off x="4267" y="856"/>
              <a:ext cx="181" cy="182"/>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0" name="Line 34"/>
            <p:cNvSpPr>
              <a:spLocks noChangeShapeType="1"/>
            </p:cNvSpPr>
            <p:nvPr/>
          </p:nvSpPr>
          <p:spPr bwMode="auto">
            <a:xfrm>
              <a:off x="4515" y="825"/>
              <a:ext cx="0" cy="181"/>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1" name="Rectangle 35"/>
            <p:cNvSpPr>
              <a:spLocks noChangeArrowheads="1"/>
            </p:cNvSpPr>
            <p:nvPr/>
          </p:nvSpPr>
          <p:spPr bwMode="auto">
            <a:xfrm>
              <a:off x="4424" y="598"/>
              <a:ext cx="205" cy="250"/>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S</a:t>
              </a:r>
            </a:p>
          </p:txBody>
        </p:sp>
        <p:sp>
          <p:nvSpPr>
            <p:cNvPr id="42" name="Line 36"/>
            <p:cNvSpPr>
              <a:spLocks noChangeShapeType="1"/>
            </p:cNvSpPr>
            <p:nvPr/>
          </p:nvSpPr>
          <p:spPr bwMode="auto">
            <a:xfrm flipH="1">
              <a:off x="4274" y="1143"/>
              <a:ext cx="181" cy="136"/>
            </a:xfrm>
            <a:prstGeom prst="line">
              <a:avLst/>
            </a:pr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3" name="Freeform 37"/>
            <p:cNvSpPr>
              <a:spLocks/>
            </p:cNvSpPr>
            <p:nvPr/>
          </p:nvSpPr>
          <p:spPr bwMode="auto">
            <a:xfrm>
              <a:off x="3987" y="842"/>
              <a:ext cx="186" cy="584"/>
            </a:xfrm>
            <a:custGeom>
              <a:avLst/>
              <a:gdLst>
                <a:gd name="T0" fmla="*/ 139 w 186"/>
                <a:gd name="T1" fmla="*/ 568 h 584"/>
                <a:gd name="T2" fmla="*/ 37 w 186"/>
                <a:gd name="T3" fmla="*/ 576 h 584"/>
                <a:gd name="T4" fmla="*/ 0 w 186"/>
                <a:gd name="T5" fmla="*/ 510 h 584"/>
                <a:gd name="T6" fmla="*/ 51 w 186"/>
                <a:gd name="T7" fmla="*/ 299 h 584"/>
                <a:gd name="T8" fmla="*/ 88 w 186"/>
                <a:gd name="T9" fmla="*/ 233 h 584"/>
                <a:gd name="T10" fmla="*/ 80 w 186"/>
                <a:gd name="T11" fmla="*/ 211 h 584"/>
                <a:gd name="T12" fmla="*/ 110 w 186"/>
                <a:gd name="T13" fmla="*/ 167 h 584"/>
                <a:gd name="T14" fmla="*/ 146 w 186"/>
                <a:gd name="T15" fmla="*/ 102 h 584"/>
                <a:gd name="T16" fmla="*/ 168 w 186"/>
                <a:gd name="T17" fmla="*/ 36 h 584"/>
                <a:gd name="T18" fmla="*/ 183 w 186"/>
                <a:gd name="T19" fmla="*/ 0 h 5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6"/>
                <a:gd name="T31" fmla="*/ 0 h 584"/>
                <a:gd name="T32" fmla="*/ 186 w 186"/>
                <a:gd name="T33" fmla="*/ 584 h 58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6" h="584">
                  <a:moveTo>
                    <a:pt x="139" y="568"/>
                  </a:moveTo>
                  <a:cubicBezTo>
                    <a:pt x="96" y="584"/>
                    <a:pt x="90" y="582"/>
                    <a:pt x="37" y="576"/>
                  </a:cubicBezTo>
                  <a:cubicBezTo>
                    <a:pt x="28" y="552"/>
                    <a:pt x="0" y="510"/>
                    <a:pt x="0" y="510"/>
                  </a:cubicBezTo>
                  <a:cubicBezTo>
                    <a:pt x="9" y="440"/>
                    <a:pt x="28" y="367"/>
                    <a:pt x="51" y="299"/>
                  </a:cubicBezTo>
                  <a:cubicBezTo>
                    <a:pt x="59" y="275"/>
                    <a:pt x="88" y="233"/>
                    <a:pt x="88" y="233"/>
                  </a:cubicBezTo>
                  <a:cubicBezTo>
                    <a:pt x="85" y="226"/>
                    <a:pt x="78" y="218"/>
                    <a:pt x="80" y="211"/>
                  </a:cubicBezTo>
                  <a:cubicBezTo>
                    <a:pt x="86" y="194"/>
                    <a:pt x="110" y="167"/>
                    <a:pt x="110" y="167"/>
                  </a:cubicBezTo>
                  <a:cubicBezTo>
                    <a:pt x="118" y="141"/>
                    <a:pt x="135" y="126"/>
                    <a:pt x="146" y="102"/>
                  </a:cubicBezTo>
                  <a:cubicBezTo>
                    <a:pt x="156" y="81"/>
                    <a:pt x="158" y="56"/>
                    <a:pt x="168" y="36"/>
                  </a:cubicBezTo>
                  <a:cubicBezTo>
                    <a:pt x="186" y="1"/>
                    <a:pt x="183" y="28"/>
                    <a:pt x="183"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4" name="Line 38"/>
            <p:cNvSpPr>
              <a:spLocks noChangeShapeType="1"/>
            </p:cNvSpPr>
            <p:nvPr/>
          </p:nvSpPr>
          <p:spPr bwMode="auto">
            <a:xfrm>
              <a:off x="4909" y="975"/>
              <a:ext cx="0" cy="272"/>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5" name="Rectangle 39"/>
            <p:cNvSpPr>
              <a:spLocks noChangeArrowheads="1"/>
            </p:cNvSpPr>
            <p:nvPr/>
          </p:nvSpPr>
          <p:spPr bwMode="auto">
            <a:xfrm>
              <a:off x="4784" y="722"/>
              <a:ext cx="232" cy="250"/>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R</a:t>
              </a:r>
            </a:p>
          </p:txBody>
        </p:sp>
        <p:sp>
          <p:nvSpPr>
            <p:cNvPr id="46" name="Line 40"/>
            <p:cNvSpPr>
              <a:spLocks noChangeShapeType="1"/>
            </p:cNvSpPr>
            <p:nvPr/>
          </p:nvSpPr>
          <p:spPr bwMode="auto">
            <a:xfrm>
              <a:off x="4617" y="1141"/>
              <a:ext cx="227" cy="136"/>
            </a:xfrm>
            <a:prstGeom prst="line">
              <a:avLst/>
            </a:prstGeom>
            <a:noFill/>
            <a:ln w="22225" cap="rnd">
              <a:solidFill>
                <a:srgbClr val="FF00FF"/>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7" name="Freeform 41"/>
            <p:cNvSpPr>
              <a:spLocks/>
            </p:cNvSpPr>
            <p:nvPr/>
          </p:nvSpPr>
          <p:spPr bwMode="auto">
            <a:xfrm>
              <a:off x="4584" y="1167"/>
              <a:ext cx="250" cy="306"/>
            </a:xfrm>
            <a:custGeom>
              <a:avLst/>
              <a:gdLst>
                <a:gd name="T0" fmla="*/ 250 w 250"/>
                <a:gd name="T1" fmla="*/ 255 h 306"/>
                <a:gd name="T2" fmla="*/ 228 w 250"/>
                <a:gd name="T3" fmla="*/ 277 h 306"/>
                <a:gd name="T4" fmla="*/ 184 w 250"/>
                <a:gd name="T5" fmla="*/ 306 h 306"/>
                <a:gd name="T6" fmla="*/ 68 w 250"/>
                <a:gd name="T7" fmla="*/ 284 h 306"/>
                <a:gd name="T8" fmla="*/ 39 w 250"/>
                <a:gd name="T9" fmla="*/ 247 h 306"/>
                <a:gd name="T10" fmla="*/ 9 w 250"/>
                <a:gd name="T11" fmla="*/ 204 h 306"/>
                <a:gd name="T12" fmla="*/ 2 w 250"/>
                <a:gd name="T13" fmla="*/ 0 h 306"/>
                <a:gd name="T14" fmla="*/ 0 60000 65536"/>
                <a:gd name="T15" fmla="*/ 0 60000 65536"/>
                <a:gd name="T16" fmla="*/ 0 60000 65536"/>
                <a:gd name="T17" fmla="*/ 0 60000 65536"/>
                <a:gd name="T18" fmla="*/ 0 60000 65536"/>
                <a:gd name="T19" fmla="*/ 0 60000 65536"/>
                <a:gd name="T20" fmla="*/ 0 60000 65536"/>
                <a:gd name="T21" fmla="*/ 0 w 250"/>
                <a:gd name="T22" fmla="*/ 0 h 306"/>
                <a:gd name="T23" fmla="*/ 250 w 250"/>
                <a:gd name="T24" fmla="*/ 306 h 3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0" h="306">
                  <a:moveTo>
                    <a:pt x="250" y="255"/>
                  </a:moveTo>
                  <a:cubicBezTo>
                    <a:pt x="243" y="262"/>
                    <a:pt x="236" y="271"/>
                    <a:pt x="228" y="277"/>
                  </a:cubicBezTo>
                  <a:cubicBezTo>
                    <a:pt x="214" y="288"/>
                    <a:pt x="184" y="306"/>
                    <a:pt x="184" y="306"/>
                  </a:cubicBezTo>
                  <a:cubicBezTo>
                    <a:pt x="140" y="301"/>
                    <a:pt x="109" y="297"/>
                    <a:pt x="68" y="284"/>
                  </a:cubicBezTo>
                  <a:cubicBezTo>
                    <a:pt x="25" y="255"/>
                    <a:pt x="61" y="286"/>
                    <a:pt x="39" y="247"/>
                  </a:cubicBezTo>
                  <a:cubicBezTo>
                    <a:pt x="30" y="232"/>
                    <a:pt x="9" y="204"/>
                    <a:pt x="9" y="204"/>
                  </a:cubicBezTo>
                  <a:cubicBezTo>
                    <a:pt x="0" y="58"/>
                    <a:pt x="2" y="126"/>
                    <a:pt x="2" y="0"/>
                  </a:cubicBezTo>
                </a:path>
              </a:pathLst>
            </a:custGeom>
            <a:noFill/>
            <a:ln w="25400">
              <a:solidFill>
                <a:srgbClr val="0000FF"/>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8" name="Freeform 42"/>
            <p:cNvSpPr>
              <a:spLocks/>
            </p:cNvSpPr>
            <p:nvPr/>
          </p:nvSpPr>
          <p:spPr bwMode="auto">
            <a:xfrm>
              <a:off x="4615" y="510"/>
              <a:ext cx="601" cy="956"/>
            </a:xfrm>
            <a:custGeom>
              <a:avLst/>
              <a:gdLst>
                <a:gd name="T0" fmla="*/ 328 w 601"/>
                <a:gd name="T1" fmla="*/ 912 h 956"/>
                <a:gd name="T2" fmla="*/ 387 w 601"/>
                <a:gd name="T3" fmla="*/ 956 h 956"/>
                <a:gd name="T4" fmla="*/ 482 w 601"/>
                <a:gd name="T5" fmla="*/ 948 h 956"/>
                <a:gd name="T6" fmla="*/ 540 w 601"/>
                <a:gd name="T7" fmla="*/ 832 h 956"/>
                <a:gd name="T8" fmla="*/ 576 w 601"/>
                <a:gd name="T9" fmla="*/ 715 h 956"/>
                <a:gd name="T10" fmla="*/ 503 w 601"/>
                <a:gd name="T11" fmla="*/ 387 h 956"/>
                <a:gd name="T12" fmla="*/ 460 w 601"/>
                <a:gd name="T13" fmla="*/ 336 h 956"/>
                <a:gd name="T14" fmla="*/ 394 w 601"/>
                <a:gd name="T15" fmla="*/ 285 h 956"/>
                <a:gd name="T16" fmla="*/ 372 w 601"/>
                <a:gd name="T17" fmla="*/ 270 h 956"/>
                <a:gd name="T18" fmla="*/ 336 w 601"/>
                <a:gd name="T19" fmla="*/ 241 h 956"/>
                <a:gd name="T20" fmla="*/ 292 w 601"/>
                <a:gd name="T21" fmla="*/ 212 h 956"/>
                <a:gd name="T22" fmla="*/ 255 w 601"/>
                <a:gd name="T23" fmla="*/ 175 h 956"/>
                <a:gd name="T24" fmla="*/ 241 w 601"/>
                <a:gd name="T25" fmla="*/ 153 h 956"/>
                <a:gd name="T26" fmla="*/ 197 w 601"/>
                <a:gd name="T27" fmla="*/ 124 h 956"/>
                <a:gd name="T28" fmla="*/ 183 w 601"/>
                <a:gd name="T29" fmla="*/ 102 h 956"/>
                <a:gd name="T30" fmla="*/ 139 w 601"/>
                <a:gd name="T31" fmla="*/ 73 h 956"/>
                <a:gd name="T32" fmla="*/ 0 w 601"/>
                <a:gd name="T33" fmla="*/ 0 h 9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01"/>
                <a:gd name="T52" fmla="*/ 0 h 956"/>
                <a:gd name="T53" fmla="*/ 601 w 601"/>
                <a:gd name="T54" fmla="*/ 956 h 9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01" h="956">
                  <a:moveTo>
                    <a:pt x="328" y="912"/>
                  </a:moveTo>
                  <a:cubicBezTo>
                    <a:pt x="353" y="928"/>
                    <a:pt x="360" y="946"/>
                    <a:pt x="387" y="956"/>
                  </a:cubicBezTo>
                  <a:cubicBezTo>
                    <a:pt x="419" y="953"/>
                    <a:pt x="451" y="954"/>
                    <a:pt x="482" y="948"/>
                  </a:cubicBezTo>
                  <a:cubicBezTo>
                    <a:pt x="516" y="942"/>
                    <a:pt x="519" y="862"/>
                    <a:pt x="540" y="832"/>
                  </a:cubicBezTo>
                  <a:cubicBezTo>
                    <a:pt x="552" y="793"/>
                    <a:pt x="566" y="755"/>
                    <a:pt x="576" y="715"/>
                  </a:cubicBezTo>
                  <a:cubicBezTo>
                    <a:pt x="573" y="630"/>
                    <a:pt x="601" y="450"/>
                    <a:pt x="503" y="387"/>
                  </a:cubicBezTo>
                  <a:cubicBezTo>
                    <a:pt x="494" y="358"/>
                    <a:pt x="490" y="345"/>
                    <a:pt x="460" y="336"/>
                  </a:cubicBezTo>
                  <a:cubicBezTo>
                    <a:pt x="425" y="301"/>
                    <a:pt x="448" y="321"/>
                    <a:pt x="394" y="285"/>
                  </a:cubicBezTo>
                  <a:cubicBezTo>
                    <a:pt x="387" y="280"/>
                    <a:pt x="372" y="270"/>
                    <a:pt x="372" y="270"/>
                  </a:cubicBezTo>
                  <a:cubicBezTo>
                    <a:pt x="346" y="230"/>
                    <a:pt x="373" y="261"/>
                    <a:pt x="336" y="241"/>
                  </a:cubicBezTo>
                  <a:cubicBezTo>
                    <a:pt x="321" y="233"/>
                    <a:pt x="292" y="212"/>
                    <a:pt x="292" y="212"/>
                  </a:cubicBezTo>
                  <a:cubicBezTo>
                    <a:pt x="249" y="149"/>
                    <a:pt x="307" y="229"/>
                    <a:pt x="255" y="175"/>
                  </a:cubicBezTo>
                  <a:cubicBezTo>
                    <a:pt x="249" y="169"/>
                    <a:pt x="248" y="159"/>
                    <a:pt x="241" y="153"/>
                  </a:cubicBezTo>
                  <a:cubicBezTo>
                    <a:pt x="228" y="141"/>
                    <a:pt x="197" y="124"/>
                    <a:pt x="197" y="124"/>
                  </a:cubicBezTo>
                  <a:cubicBezTo>
                    <a:pt x="192" y="117"/>
                    <a:pt x="190" y="108"/>
                    <a:pt x="183" y="102"/>
                  </a:cubicBezTo>
                  <a:cubicBezTo>
                    <a:pt x="170" y="90"/>
                    <a:pt x="139" y="73"/>
                    <a:pt x="139" y="73"/>
                  </a:cubicBezTo>
                  <a:cubicBezTo>
                    <a:pt x="106" y="25"/>
                    <a:pt x="57" y="0"/>
                    <a:pt x="0" y="0"/>
                  </a:cubicBezTo>
                </a:path>
              </a:pathLst>
            </a:custGeom>
            <a:noFill/>
            <a:ln w="25400">
              <a:solidFill>
                <a:srgbClr val="FF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grpSp>
      <p:sp>
        <p:nvSpPr>
          <p:cNvPr id="49" name="Text Box 43"/>
          <p:cNvSpPr txBox="1">
            <a:spLocks noChangeArrowheads="1"/>
          </p:cNvSpPr>
          <p:nvPr/>
        </p:nvSpPr>
        <p:spPr bwMode="auto">
          <a:xfrm>
            <a:off x="631825" y="1776413"/>
            <a:ext cx="8026743" cy="955675"/>
          </a:xfrm>
          <a:prstGeom prst="rect">
            <a:avLst/>
          </a:prstGeom>
          <a:noFill/>
          <a:ln w="9525">
            <a:solidFill>
              <a:srgbClr val="04617B"/>
            </a:solidFill>
            <a:miter lim="800000"/>
            <a:headEnd/>
            <a:tailEnd/>
          </a:ln>
        </p:spPr>
        <p:txBody>
          <a:bodyPr wrap="squar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800" b="1" i="0" u="none" strike="noStrike" kern="0" cap="none" spc="0" normalizeH="0" baseline="0" noProof="0">
                <a:ln>
                  <a:noFill/>
                </a:ln>
                <a:solidFill>
                  <a:srgbClr val="000000"/>
                </a:solidFill>
                <a:effectLst/>
                <a:uLnTx/>
                <a:uFillTx/>
                <a:latin typeface="宋体" pitchFamily="2" charset="-122"/>
              </a:rPr>
              <a:t>将结点 </a:t>
            </a:r>
            <a:r>
              <a:rPr kumimoji="1" lang="en-US" altLang="zh-CN" sz="2800" b="1" i="0" u="none" strike="noStrike" kern="0" cap="none" spc="0" normalizeH="0" baseline="0" noProof="0">
                <a:ln>
                  <a:noFill/>
                </a:ln>
                <a:solidFill>
                  <a:srgbClr val="000000"/>
                </a:solidFill>
                <a:effectLst/>
                <a:uLnTx/>
                <a:uFillTx/>
                <a:latin typeface="宋体" pitchFamily="2" charset="-122"/>
              </a:rPr>
              <a:t>R </a:t>
            </a:r>
            <a:r>
              <a:rPr kumimoji="1" lang="zh-CN" altLang="en-US" sz="2800" b="1" i="0" u="none" strike="noStrike" kern="0" cap="none" spc="0" normalizeH="0" baseline="0" noProof="0">
                <a:ln>
                  <a:noFill/>
                </a:ln>
                <a:solidFill>
                  <a:srgbClr val="000000"/>
                </a:solidFill>
                <a:effectLst/>
                <a:uLnTx/>
                <a:uFillTx/>
                <a:latin typeface="宋体" pitchFamily="2" charset="-122"/>
              </a:rPr>
              <a:t>插入作为结点 </a:t>
            </a:r>
            <a:r>
              <a:rPr kumimoji="1" lang="en-US" altLang="zh-CN" sz="2800" b="1" i="0" u="none" strike="noStrike" kern="0" cap="none" spc="0" normalizeH="0" baseline="0" noProof="0">
                <a:ln>
                  <a:noFill/>
                </a:ln>
                <a:solidFill>
                  <a:srgbClr val="000000"/>
                </a:solidFill>
                <a:effectLst/>
                <a:uLnTx/>
                <a:uFillTx/>
                <a:latin typeface="宋体" pitchFamily="2" charset="-122"/>
              </a:rPr>
              <a:t>S </a:t>
            </a:r>
            <a:r>
              <a:rPr kumimoji="1" lang="zh-CN" altLang="en-US" sz="2800" b="1" i="0" u="none" strike="noStrike" kern="0" cap="none" spc="0" normalizeH="0" baseline="0" noProof="0">
                <a:ln>
                  <a:noFill/>
                </a:ln>
                <a:solidFill>
                  <a:srgbClr val="000000"/>
                </a:solidFill>
                <a:effectLst/>
                <a:uLnTx/>
                <a:uFillTx/>
                <a:latin typeface="宋体" pitchFamily="2" charset="-122"/>
              </a:rPr>
              <a:t>的右孩子结点：</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800" b="1" i="0" u="none" strike="noStrike" kern="0" cap="none" spc="0" normalizeH="0" baseline="0" noProof="0">
                <a:ln>
                  <a:noFill/>
                </a:ln>
                <a:solidFill>
                  <a:srgbClr val="000000"/>
                </a:solidFill>
                <a:effectLst/>
                <a:uLnTx/>
                <a:uFillTx/>
                <a:latin typeface="宋体" pitchFamily="2" charset="-122"/>
              </a:rPr>
              <a:t>(1)</a:t>
            </a:r>
            <a:r>
              <a:rPr kumimoji="0" lang="zh-CN" altLang="en-US" sz="2800" b="1" i="0" u="none" strike="noStrike" kern="0" cap="none" spc="0" normalizeH="0" baseline="0" noProof="0">
                <a:ln>
                  <a:noFill/>
                </a:ln>
                <a:solidFill>
                  <a:srgbClr val="000000"/>
                </a:solidFill>
                <a:effectLst/>
                <a:uLnTx/>
                <a:uFillTx/>
                <a:latin typeface="宋体" pitchFamily="2" charset="-122"/>
              </a:rPr>
              <a:t>若</a:t>
            </a:r>
            <a:r>
              <a:rPr kumimoji="1" lang="en-US" altLang="zh-CN" sz="2800" b="1" i="0" u="none" strike="noStrike" kern="0" cap="none" spc="0" normalizeH="0" baseline="0" noProof="0">
                <a:ln>
                  <a:noFill/>
                </a:ln>
                <a:solidFill>
                  <a:srgbClr val="000000"/>
                </a:solidFill>
                <a:effectLst/>
                <a:uLnTx/>
                <a:uFillTx/>
                <a:latin typeface="宋体" pitchFamily="2" charset="-122"/>
              </a:rPr>
              <a:t>S</a:t>
            </a:r>
            <a:r>
              <a:rPr kumimoji="1" lang="zh-CN" altLang="en-US" sz="2800" b="1" i="0" u="none" strike="noStrike" kern="0" cap="none" spc="0" normalizeH="0" baseline="0" noProof="0">
                <a:ln>
                  <a:noFill/>
                </a:ln>
                <a:solidFill>
                  <a:srgbClr val="000000"/>
                </a:solidFill>
                <a:effectLst/>
                <a:uLnTx/>
                <a:uFillTx/>
                <a:latin typeface="宋体" pitchFamily="2" charset="-122"/>
              </a:rPr>
              <a:t>的右子树为空，则直接插入</a:t>
            </a:r>
            <a:r>
              <a:rPr kumimoji="1" lang="en-US" altLang="zh-CN" sz="2800" b="1" i="0" u="none" strike="noStrike" kern="0" cap="none" spc="0" normalizeH="0" baseline="0" noProof="0">
                <a:ln>
                  <a:noFill/>
                </a:ln>
                <a:solidFill>
                  <a:srgbClr val="000000"/>
                </a:solidFill>
                <a:effectLst/>
                <a:uLnTx/>
                <a:uFillTx/>
                <a:latin typeface="宋体" pitchFamily="2" charset="-122"/>
              </a:rPr>
              <a:t>;</a:t>
            </a:r>
            <a:r>
              <a:rPr kumimoji="1" lang="zh-CN" altLang="en-US" sz="2800" b="1" i="0" u="none" strike="noStrike" kern="0" cap="none" spc="0" normalizeH="0" baseline="0" noProof="0">
                <a:ln>
                  <a:noFill/>
                </a:ln>
                <a:solidFill>
                  <a:srgbClr val="000000"/>
                </a:solidFill>
                <a:effectLst/>
                <a:uLnTx/>
                <a:uFillTx/>
                <a:latin typeface="宋体" pitchFamily="2" charset="-122"/>
              </a:rPr>
              <a:t>如图所示 </a:t>
            </a:r>
          </a:p>
        </p:txBody>
      </p:sp>
      <p:sp>
        <p:nvSpPr>
          <p:cNvPr id="50" name="Oval 44"/>
          <p:cNvSpPr>
            <a:spLocks noChangeArrowheads="1"/>
          </p:cNvSpPr>
          <p:nvPr/>
        </p:nvSpPr>
        <p:spPr bwMode="auto">
          <a:xfrm>
            <a:off x="65088" y="1219200"/>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a:solidFill>
                  <a:srgbClr val="000000"/>
                </a:solidFill>
                <a:latin typeface="Times New Roman" pitchFamily="18" charset="0"/>
              </a:rPr>
              <a:t>例</a:t>
            </a:r>
          </a:p>
        </p:txBody>
      </p:sp>
    </p:spTree>
    <p:extLst>
      <p:ext uri="{BB962C8B-B14F-4D97-AF65-F5344CB8AC3E}">
        <p14:creationId xmlns:p14="http://schemas.microsoft.com/office/powerpoint/2010/main" val="11442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A658CB45-870D-40FD-804B-4504877AC63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112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Freeform 48"/>
          <p:cNvSpPr>
            <a:spLocks/>
          </p:cNvSpPr>
          <p:nvPr/>
        </p:nvSpPr>
        <p:spPr bwMode="auto">
          <a:xfrm>
            <a:off x="6315075" y="5957888"/>
            <a:ext cx="193675" cy="838200"/>
          </a:xfrm>
          <a:custGeom>
            <a:avLst/>
            <a:gdLst>
              <a:gd name="T0" fmla="*/ 2147483647 w 124"/>
              <a:gd name="T1" fmla="*/ 2147483647 h 561"/>
              <a:gd name="T2" fmla="*/ 2147483647 w 124"/>
              <a:gd name="T3" fmla="*/ 2147483647 h 561"/>
              <a:gd name="T4" fmla="*/ 0 w 124"/>
              <a:gd name="T5" fmla="*/ 2147483647 h 561"/>
              <a:gd name="T6" fmla="*/ 2147483647 w 124"/>
              <a:gd name="T7" fmla="*/ 2147483647 h 561"/>
              <a:gd name="T8" fmla="*/ 2147483647 w 124"/>
              <a:gd name="T9" fmla="*/ 0 h 561"/>
              <a:gd name="T10" fmla="*/ 0 60000 65536"/>
              <a:gd name="T11" fmla="*/ 0 60000 65536"/>
              <a:gd name="T12" fmla="*/ 0 60000 65536"/>
              <a:gd name="T13" fmla="*/ 0 60000 65536"/>
              <a:gd name="T14" fmla="*/ 0 60000 65536"/>
              <a:gd name="T15" fmla="*/ 0 w 124"/>
              <a:gd name="T16" fmla="*/ 0 h 561"/>
              <a:gd name="T17" fmla="*/ 124 w 124"/>
              <a:gd name="T18" fmla="*/ 561 h 561"/>
            </a:gdLst>
            <a:ahLst/>
            <a:cxnLst>
              <a:cxn ang="T10">
                <a:pos x="T0" y="T1"/>
              </a:cxn>
              <a:cxn ang="T11">
                <a:pos x="T2" y="T3"/>
              </a:cxn>
              <a:cxn ang="T12">
                <a:pos x="T4" y="T5"/>
              </a:cxn>
              <a:cxn ang="T13">
                <a:pos x="T6" y="T7"/>
              </a:cxn>
              <a:cxn ang="T14">
                <a:pos x="T8" y="T9"/>
              </a:cxn>
            </a:cxnLst>
            <a:rect l="T15" t="T16" r="T17" b="T18"/>
            <a:pathLst>
              <a:path w="124" h="561">
                <a:moveTo>
                  <a:pt x="124" y="437"/>
                </a:moveTo>
                <a:cubicBezTo>
                  <a:pt x="117" y="498"/>
                  <a:pt x="114" y="541"/>
                  <a:pt x="51" y="561"/>
                </a:cubicBezTo>
                <a:cubicBezTo>
                  <a:pt x="7" y="550"/>
                  <a:pt x="23" y="546"/>
                  <a:pt x="0" y="510"/>
                </a:cubicBezTo>
                <a:cubicBezTo>
                  <a:pt x="4" y="443"/>
                  <a:pt x="0" y="388"/>
                  <a:pt x="22" y="328"/>
                </a:cubicBezTo>
                <a:cubicBezTo>
                  <a:pt x="27" y="99"/>
                  <a:pt x="22" y="120"/>
                  <a:pt x="22" y="0"/>
                </a:cubicBezTo>
              </a:path>
            </a:pathLst>
          </a:custGeom>
          <a:noFill/>
          <a:ln w="12700" cap="rnd">
            <a:noFill/>
            <a:round/>
            <a:headEnd/>
            <a:tailEnd/>
          </a:ln>
        </p:spPr>
        <p:txBody>
          <a:bodyPr>
            <a:spAutoFit/>
          </a:bodyPr>
          <a:lstStyle/>
          <a:p>
            <a:pPr algn="ctr" eaLnBrk="0" fontAlgn="base" hangingPunct="0">
              <a:spcBef>
                <a:spcPct val="0"/>
              </a:spcBef>
              <a:spcAft>
                <a:spcPct val="0"/>
              </a:spcAft>
            </a:pPr>
            <a:endParaRPr kumimoji="1" lang="zh-CN" altLang="en-US" sz="3600">
              <a:solidFill>
                <a:srgbClr val="000000"/>
              </a:solidFill>
              <a:latin typeface="Times New Roman" pitchFamily="18" charset="0"/>
            </a:endParaRPr>
          </a:p>
        </p:txBody>
      </p:sp>
      <p:grpSp>
        <p:nvGrpSpPr>
          <p:cNvPr id="14" name="Group 152"/>
          <p:cNvGrpSpPr>
            <a:grpSpLocks/>
          </p:cNvGrpSpPr>
          <p:nvPr/>
        </p:nvGrpSpPr>
        <p:grpSpPr bwMode="auto">
          <a:xfrm>
            <a:off x="6032500" y="2732088"/>
            <a:ext cx="2635250" cy="3028950"/>
            <a:chOff x="3325" y="2180"/>
            <a:chExt cx="1660" cy="1908"/>
          </a:xfrm>
        </p:grpSpPr>
        <p:sp>
          <p:nvSpPr>
            <p:cNvPr id="15" name="Oval 114"/>
            <p:cNvSpPr>
              <a:spLocks noChangeArrowheads="1"/>
            </p:cNvSpPr>
            <p:nvPr/>
          </p:nvSpPr>
          <p:spPr bwMode="auto">
            <a:xfrm>
              <a:off x="3889" y="2180"/>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16" name="Oval 115"/>
            <p:cNvSpPr>
              <a:spLocks noChangeArrowheads="1"/>
            </p:cNvSpPr>
            <p:nvPr/>
          </p:nvSpPr>
          <p:spPr bwMode="auto">
            <a:xfrm>
              <a:off x="3571" y="2494"/>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17" name="Oval 116"/>
            <p:cNvSpPr>
              <a:spLocks noChangeArrowheads="1"/>
            </p:cNvSpPr>
            <p:nvPr/>
          </p:nvSpPr>
          <p:spPr bwMode="auto">
            <a:xfrm>
              <a:off x="3882" y="2808"/>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19" name="Oval 117"/>
            <p:cNvSpPr>
              <a:spLocks noChangeArrowheads="1"/>
            </p:cNvSpPr>
            <p:nvPr/>
          </p:nvSpPr>
          <p:spPr bwMode="auto">
            <a:xfrm>
              <a:off x="3550" y="3038"/>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20" name="Oval 118"/>
            <p:cNvSpPr>
              <a:spLocks noChangeArrowheads="1"/>
            </p:cNvSpPr>
            <p:nvPr/>
          </p:nvSpPr>
          <p:spPr bwMode="auto">
            <a:xfrm>
              <a:off x="4617" y="3702"/>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21" name="Line 119"/>
            <p:cNvSpPr>
              <a:spLocks noChangeShapeType="1"/>
            </p:cNvSpPr>
            <p:nvPr/>
          </p:nvSpPr>
          <p:spPr bwMode="auto">
            <a:xfrm flipH="1">
              <a:off x="3707" y="2313"/>
              <a:ext cx="182" cy="181"/>
            </a:xfrm>
            <a:prstGeom prst="line">
              <a:avLst/>
            </a:pr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2" name="Line 120"/>
            <p:cNvSpPr>
              <a:spLocks noChangeShapeType="1"/>
            </p:cNvSpPr>
            <p:nvPr/>
          </p:nvSpPr>
          <p:spPr bwMode="auto">
            <a:xfrm>
              <a:off x="3732" y="2661"/>
              <a:ext cx="181" cy="182"/>
            </a:xfrm>
            <a:prstGeom prst="line">
              <a:avLst/>
            </a:prstGeom>
            <a:noFill/>
            <a:ln w="1905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 name="Line 121"/>
            <p:cNvSpPr>
              <a:spLocks noChangeShapeType="1"/>
            </p:cNvSpPr>
            <p:nvPr/>
          </p:nvSpPr>
          <p:spPr bwMode="auto">
            <a:xfrm>
              <a:off x="3980" y="2630"/>
              <a:ext cx="0" cy="181"/>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4" name="Rectangle 122"/>
            <p:cNvSpPr>
              <a:spLocks noChangeArrowheads="1"/>
            </p:cNvSpPr>
            <p:nvPr/>
          </p:nvSpPr>
          <p:spPr bwMode="auto">
            <a:xfrm>
              <a:off x="3889" y="2403"/>
              <a:ext cx="205" cy="250"/>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S</a:t>
              </a:r>
            </a:p>
          </p:txBody>
        </p:sp>
        <p:sp>
          <p:nvSpPr>
            <p:cNvPr id="25" name="Line 123"/>
            <p:cNvSpPr>
              <a:spLocks noChangeShapeType="1"/>
            </p:cNvSpPr>
            <p:nvPr/>
          </p:nvSpPr>
          <p:spPr bwMode="auto">
            <a:xfrm flipH="1">
              <a:off x="3739" y="2948"/>
              <a:ext cx="181" cy="136"/>
            </a:xfrm>
            <a:prstGeom prst="line">
              <a:avLst/>
            </a:prstGeom>
            <a:noFill/>
            <a:ln w="19050">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Freeform 124"/>
            <p:cNvSpPr>
              <a:spLocks/>
            </p:cNvSpPr>
            <p:nvPr/>
          </p:nvSpPr>
          <p:spPr bwMode="auto">
            <a:xfrm>
              <a:off x="3452" y="2647"/>
              <a:ext cx="186" cy="584"/>
            </a:xfrm>
            <a:custGeom>
              <a:avLst/>
              <a:gdLst>
                <a:gd name="T0" fmla="*/ 139 w 186"/>
                <a:gd name="T1" fmla="*/ 568 h 584"/>
                <a:gd name="T2" fmla="*/ 37 w 186"/>
                <a:gd name="T3" fmla="*/ 576 h 584"/>
                <a:gd name="T4" fmla="*/ 0 w 186"/>
                <a:gd name="T5" fmla="*/ 510 h 584"/>
                <a:gd name="T6" fmla="*/ 51 w 186"/>
                <a:gd name="T7" fmla="*/ 299 h 584"/>
                <a:gd name="T8" fmla="*/ 88 w 186"/>
                <a:gd name="T9" fmla="*/ 233 h 584"/>
                <a:gd name="T10" fmla="*/ 80 w 186"/>
                <a:gd name="T11" fmla="*/ 211 h 584"/>
                <a:gd name="T12" fmla="*/ 110 w 186"/>
                <a:gd name="T13" fmla="*/ 167 h 584"/>
                <a:gd name="T14" fmla="*/ 146 w 186"/>
                <a:gd name="T15" fmla="*/ 102 h 584"/>
                <a:gd name="T16" fmla="*/ 168 w 186"/>
                <a:gd name="T17" fmla="*/ 36 h 584"/>
                <a:gd name="T18" fmla="*/ 183 w 186"/>
                <a:gd name="T19" fmla="*/ 0 h 5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6"/>
                <a:gd name="T31" fmla="*/ 0 h 584"/>
                <a:gd name="T32" fmla="*/ 186 w 186"/>
                <a:gd name="T33" fmla="*/ 584 h 58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6" h="584">
                  <a:moveTo>
                    <a:pt x="139" y="568"/>
                  </a:moveTo>
                  <a:cubicBezTo>
                    <a:pt x="96" y="584"/>
                    <a:pt x="90" y="582"/>
                    <a:pt x="37" y="576"/>
                  </a:cubicBezTo>
                  <a:cubicBezTo>
                    <a:pt x="28" y="552"/>
                    <a:pt x="0" y="510"/>
                    <a:pt x="0" y="510"/>
                  </a:cubicBezTo>
                  <a:cubicBezTo>
                    <a:pt x="9" y="440"/>
                    <a:pt x="28" y="367"/>
                    <a:pt x="51" y="299"/>
                  </a:cubicBezTo>
                  <a:cubicBezTo>
                    <a:pt x="59" y="275"/>
                    <a:pt x="88" y="233"/>
                    <a:pt x="88" y="233"/>
                  </a:cubicBezTo>
                  <a:cubicBezTo>
                    <a:pt x="85" y="226"/>
                    <a:pt x="78" y="218"/>
                    <a:pt x="80" y="211"/>
                  </a:cubicBezTo>
                  <a:cubicBezTo>
                    <a:pt x="86" y="194"/>
                    <a:pt x="110" y="167"/>
                    <a:pt x="110" y="167"/>
                  </a:cubicBezTo>
                  <a:cubicBezTo>
                    <a:pt x="118" y="141"/>
                    <a:pt x="135" y="126"/>
                    <a:pt x="146" y="102"/>
                  </a:cubicBezTo>
                  <a:cubicBezTo>
                    <a:pt x="156" y="81"/>
                    <a:pt x="158" y="56"/>
                    <a:pt x="168" y="36"/>
                  </a:cubicBezTo>
                  <a:cubicBezTo>
                    <a:pt x="186" y="1"/>
                    <a:pt x="183" y="28"/>
                    <a:pt x="183"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7" name="Line 125"/>
            <p:cNvSpPr>
              <a:spLocks noChangeShapeType="1"/>
            </p:cNvSpPr>
            <p:nvPr/>
          </p:nvSpPr>
          <p:spPr bwMode="auto">
            <a:xfrm>
              <a:off x="4243" y="2867"/>
              <a:ext cx="0" cy="272"/>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Rectangle 126"/>
            <p:cNvSpPr>
              <a:spLocks noChangeArrowheads="1"/>
            </p:cNvSpPr>
            <p:nvPr/>
          </p:nvSpPr>
          <p:spPr bwMode="auto">
            <a:xfrm>
              <a:off x="4118" y="2614"/>
              <a:ext cx="232" cy="250"/>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R</a:t>
              </a:r>
            </a:p>
          </p:txBody>
        </p:sp>
        <p:sp>
          <p:nvSpPr>
            <p:cNvPr id="29" name="Oval 127"/>
            <p:cNvSpPr>
              <a:spLocks noChangeArrowheads="1"/>
            </p:cNvSpPr>
            <p:nvPr/>
          </p:nvSpPr>
          <p:spPr bwMode="auto">
            <a:xfrm>
              <a:off x="4108" y="3171"/>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0" name="Oval 130"/>
            <p:cNvSpPr>
              <a:spLocks noChangeArrowheads="1"/>
            </p:cNvSpPr>
            <p:nvPr/>
          </p:nvSpPr>
          <p:spPr bwMode="auto">
            <a:xfrm>
              <a:off x="4335" y="3443"/>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1" name="Line 131"/>
            <p:cNvSpPr>
              <a:spLocks noChangeShapeType="1"/>
            </p:cNvSpPr>
            <p:nvPr/>
          </p:nvSpPr>
          <p:spPr bwMode="auto">
            <a:xfrm>
              <a:off x="4018" y="2972"/>
              <a:ext cx="181" cy="199"/>
            </a:xfrm>
            <a:prstGeom prst="line">
              <a:avLst/>
            </a:prstGeom>
            <a:noFill/>
            <a:ln w="25400" cap="rnd">
              <a:solidFill>
                <a:srgbClr val="FF00FF"/>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2" name="Line 132"/>
            <p:cNvSpPr>
              <a:spLocks noChangeShapeType="1"/>
            </p:cNvSpPr>
            <p:nvPr/>
          </p:nvSpPr>
          <p:spPr bwMode="auto">
            <a:xfrm>
              <a:off x="4291" y="3307"/>
              <a:ext cx="135" cy="136"/>
            </a:xfrm>
            <a:prstGeom prst="line">
              <a:avLst/>
            </a:prstGeom>
            <a:noFill/>
            <a:ln w="25400" cap="rnd">
              <a:solidFill>
                <a:srgbClr val="FF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3" name="Freeform 137"/>
            <p:cNvSpPr>
              <a:spLocks/>
            </p:cNvSpPr>
            <p:nvPr/>
          </p:nvSpPr>
          <p:spPr bwMode="auto">
            <a:xfrm>
              <a:off x="3595" y="2992"/>
              <a:ext cx="328" cy="321"/>
            </a:xfrm>
            <a:custGeom>
              <a:avLst/>
              <a:gdLst>
                <a:gd name="T0" fmla="*/ 37 w 328"/>
                <a:gd name="T1" fmla="*/ 231 h 321"/>
                <a:gd name="T2" fmla="*/ 52 w 328"/>
                <a:gd name="T3" fmla="*/ 321 h 321"/>
                <a:gd name="T4" fmla="*/ 164 w 328"/>
                <a:gd name="T5" fmla="*/ 299 h 321"/>
                <a:gd name="T6" fmla="*/ 194 w 328"/>
                <a:gd name="T7" fmla="*/ 261 h 321"/>
                <a:gd name="T8" fmla="*/ 224 w 328"/>
                <a:gd name="T9" fmla="*/ 217 h 321"/>
                <a:gd name="T10" fmla="*/ 246 w 328"/>
                <a:gd name="T11" fmla="*/ 172 h 321"/>
                <a:gd name="T12" fmla="*/ 283 w 328"/>
                <a:gd name="T13" fmla="*/ 112 h 321"/>
                <a:gd name="T14" fmla="*/ 306 w 328"/>
                <a:gd name="T15" fmla="*/ 44 h 321"/>
                <a:gd name="T16" fmla="*/ 313 w 328"/>
                <a:gd name="T17" fmla="*/ 22 h 321"/>
                <a:gd name="T18" fmla="*/ 328 w 328"/>
                <a:gd name="T19" fmla="*/ 0 h 3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8"/>
                <a:gd name="T31" fmla="*/ 0 h 321"/>
                <a:gd name="T32" fmla="*/ 328 w 328"/>
                <a:gd name="T33" fmla="*/ 321 h 3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8" h="321">
                  <a:moveTo>
                    <a:pt x="37" y="231"/>
                  </a:moveTo>
                  <a:cubicBezTo>
                    <a:pt x="25" y="268"/>
                    <a:pt x="0" y="305"/>
                    <a:pt x="52" y="321"/>
                  </a:cubicBezTo>
                  <a:cubicBezTo>
                    <a:pt x="90" y="315"/>
                    <a:pt x="127" y="310"/>
                    <a:pt x="164" y="299"/>
                  </a:cubicBezTo>
                  <a:cubicBezTo>
                    <a:pt x="205" y="271"/>
                    <a:pt x="172" y="300"/>
                    <a:pt x="194" y="261"/>
                  </a:cubicBezTo>
                  <a:cubicBezTo>
                    <a:pt x="203" y="246"/>
                    <a:pt x="224" y="217"/>
                    <a:pt x="224" y="217"/>
                  </a:cubicBezTo>
                  <a:cubicBezTo>
                    <a:pt x="246" y="143"/>
                    <a:pt x="212" y="247"/>
                    <a:pt x="246" y="172"/>
                  </a:cubicBezTo>
                  <a:cubicBezTo>
                    <a:pt x="273" y="113"/>
                    <a:pt x="243" y="139"/>
                    <a:pt x="283" y="112"/>
                  </a:cubicBezTo>
                  <a:cubicBezTo>
                    <a:pt x="291" y="89"/>
                    <a:pt x="298" y="67"/>
                    <a:pt x="306" y="44"/>
                  </a:cubicBezTo>
                  <a:cubicBezTo>
                    <a:pt x="308" y="37"/>
                    <a:pt x="311" y="29"/>
                    <a:pt x="313" y="22"/>
                  </a:cubicBezTo>
                  <a:cubicBezTo>
                    <a:pt x="316" y="14"/>
                    <a:pt x="328" y="0"/>
                    <a:pt x="328"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4" name="Freeform 138"/>
            <p:cNvSpPr>
              <a:spLocks/>
            </p:cNvSpPr>
            <p:nvPr/>
          </p:nvSpPr>
          <p:spPr bwMode="auto">
            <a:xfrm>
              <a:off x="3325" y="2303"/>
              <a:ext cx="254" cy="370"/>
            </a:xfrm>
            <a:custGeom>
              <a:avLst/>
              <a:gdLst>
                <a:gd name="T0" fmla="*/ 254 w 254"/>
                <a:gd name="T1" fmla="*/ 322 h 370"/>
                <a:gd name="T2" fmla="*/ 209 w 254"/>
                <a:gd name="T3" fmla="*/ 352 h 370"/>
                <a:gd name="T4" fmla="*/ 164 w 254"/>
                <a:gd name="T5" fmla="*/ 367 h 370"/>
                <a:gd name="T6" fmla="*/ 75 w 254"/>
                <a:gd name="T7" fmla="*/ 352 h 370"/>
                <a:gd name="T8" fmla="*/ 67 w 254"/>
                <a:gd name="T9" fmla="*/ 330 h 370"/>
                <a:gd name="T10" fmla="*/ 30 w 254"/>
                <a:gd name="T11" fmla="*/ 285 h 370"/>
                <a:gd name="T12" fmla="*/ 7 w 254"/>
                <a:gd name="T13" fmla="*/ 135 h 370"/>
                <a:gd name="T14" fmla="*/ 0 w 254"/>
                <a:gd name="T15" fmla="*/ 0 h 370"/>
                <a:gd name="T16" fmla="*/ 0 60000 65536"/>
                <a:gd name="T17" fmla="*/ 0 60000 65536"/>
                <a:gd name="T18" fmla="*/ 0 60000 65536"/>
                <a:gd name="T19" fmla="*/ 0 60000 65536"/>
                <a:gd name="T20" fmla="*/ 0 60000 65536"/>
                <a:gd name="T21" fmla="*/ 0 60000 65536"/>
                <a:gd name="T22" fmla="*/ 0 60000 65536"/>
                <a:gd name="T23" fmla="*/ 0 60000 65536"/>
                <a:gd name="T24" fmla="*/ 0 w 254"/>
                <a:gd name="T25" fmla="*/ 0 h 370"/>
                <a:gd name="T26" fmla="*/ 254 w 254"/>
                <a:gd name="T27" fmla="*/ 370 h 3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4" h="370">
                  <a:moveTo>
                    <a:pt x="254" y="322"/>
                  </a:moveTo>
                  <a:cubicBezTo>
                    <a:pt x="239" y="332"/>
                    <a:pt x="224" y="342"/>
                    <a:pt x="209" y="352"/>
                  </a:cubicBezTo>
                  <a:cubicBezTo>
                    <a:pt x="196" y="361"/>
                    <a:pt x="164" y="367"/>
                    <a:pt x="164" y="367"/>
                  </a:cubicBezTo>
                  <a:cubicBezTo>
                    <a:pt x="134" y="363"/>
                    <a:pt x="99" y="370"/>
                    <a:pt x="75" y="352"/>
                  </a:cubicBezTo>
                  <a:cubicBezTo>
                    <a:pt x="69" y="347"/>
                    <a:pt x="71" y="337"/>
                    <a:pt x="67" y="330"/>
                  </a:cubicBezTo>
                  <a:cubicBezTo>
                    <a:pt x="55" y="307"/>
                    <a:pt x="48" y="303"/>
                    <a:pt x="30" y="285"/>
                  </a:cubicBezTo>
                  <a:cubicBezTo>
                    <a:pt x="22" y="235"/>
                    <a:pt x="16" y="185"/>
                    <a:pt x="7" y="135"/>
                  </a:cubicBezTo>
                  <a:cubicBezTo>
                    <a:pt x="0" y="15"/>
                    <a:pt x="0" y="60"/>
                    <a:pt x="0"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5" name="Line 139"/>
            <p:cNvSpPr>
              <a:spLocks noChangeShapeType="1"/>
            </p:cNvSpPr>
            <p:nvPr/>
          </p:nvSpPr>
          <p:spPr bwMode="auto">
            <a:xfrm>
              <a:off x="4526" y="3566"/>
              <a:ext cx="136" cy="136"/>
            </a:xfrm>
            <a:prstGeom prst="line">
              <a:avLst/>
            </a:prstGeom>
            <a:noFill/>
            <a:ln w="1905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6" name="Freeform 140"/>
            <p:cNvSpPr>
              <a:spLocks/>
            </p:cNvSpPr>
            <p:nvPr/>
          </p:nvSpPr>
          <p:spPr bwMode="auto">
            <a:xfrm>
              <a:off x="4077" y="2304"/>
              <a:ext cx="908" cy="1608"/>
            </a:xfrm>
            <a:custGeom>
              <a:avLst/>
              <a:gdLst>
                <a:gd name="T0" fmla="*/ 703 w 908"/>
                <a:gd name="T1" fmla="*/ 1556 h 1608"/>
                <a:gd name="T2" fmla="*/ 755 w 908"/>
                <a:gd name="T3" fmla="*/ 1608 h 1608"/>
                <a:gd name="T4" fmla="*/ 853 w 908"/>
                <a:gd name="T5" fmla="*/ 1571 h 1608"/>
                <a:gd name="T6" fmla="*/ 875 w 908"/>
                <a:gd name="T7" fmla="*/ 1489 h 1608"/>
                <a:gd name="T8" fmla="*/ 898 w 908"/>
                <a:gd name="T9" fmla="*/ 1444 h 1608"/>
                <a:gd name="T10" fmla="*/ 763 w 908"/>
                <a:gd name="T11" fmla="*/ 972 h 1608"/>
                <a:gd name="T12" fmla="*/ 711 w 908"/>
                <a:gd name="T13" fmla="*/ 913 h 1608"/>
                <a:gd name="T14" fmla="*/ 696 w 908"/>
                <a:gd name="T15" fmla="*/ 890 h 1608"/>
                <a:gd name="T16" fmla="*/ 688 w 908"/>
                <a:gd name="T17" fmla="*/ 860 h 1608"/>
                <a:gd name="T18" fmla="*/ 576 w 908"/>
                <a:gd name="T19" fmla="*/ 741 h 1608"/>
                <a:gd name="T20" fmla="*/ 501 w 908"/>
                <a:gd name="T21" fmla="*/ 658 h 1608"/>
                <a:gd name="T22" fmla="*/ 456 w 908"/>
                <a:gd name="T23" fmla="*/ 598 h 1608"/>
                <a:gd name="T24" fmla="*/ 396 w 908"/>
                <a:gd name="T25" fmla="*/ 456 h 1608"/>
                <a:gd name="T26" fmla="*/ 351 w 908"/>
                <a:gd name="T27" fmla="*/ 329 h 1608"/>
                <a:gd name="T28" fmla="*/ 314 w 908"/>
                <a:gd name="T29" fmla="*/ 232 h 1608"/>
                <a:gd name="T30" fmla="*/ 307 w 908"/>
                <a:gd name="T31" fmla="*/ 194 h 1608"/>
                <a:gd name="T32" fmla="*/ 277 w 908"/>
                <a:gd name="T33" fmla="*/ 150 h 1608"/>
                <a:gd name="T34" fmla="*/ 202 w 908"/>
                <a:gd name="T35" fmla="*/ 75 h 1608"/>
                <a:gd name="T36" fmla="*/ 157 w 908"/>
                <a:gd name="T37" fmla="*/ 60 h 1608"/>
                <a:gd name="T38" fmla="*/ 0 w 908"/>
                <a:gd name="T39" fmla="*/ 0 h 16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08"/>
                <a:gd name="T61" fmla="*/ 0 h 1608"/>
                <a:gd name="T62" fmla="*/ 908 w 908"/>
                <a:gd name="T63" fmla="*/ 1608 h 16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08" h="1608">
                  <a:moveTo>
                    <a:pt x="703" y="1556"/>
                  </a:moveTo>
                  <a:cubicBezTo>
                    <a:pt x="713" y="1592"/>
                    <a:pt x="720" y="1597"/>
                    <a:pt x="755" y="1608"/>
                  </a:cubicBezTo>
                  <a:cubicBezTo>
                    <a:pt x="796" y="1600"/>
                    <a:pt x="822" y="1600"/>
                    <a:pt x="853" y="1571"/>
                  </a:cubicBezTo>
                  <a:cubicBezTo>
                    <a:pt x="861" y="1544"/>
                    <a:pt x="863" y="1514"/>
                    <a:pt x="875" y="1489"/>
                  </a:cubicBezTo>
                  <a:cubicBezTo>
                    <a:pt x="908" y="1421"/>
                    <a:pt x="875" y="1507"/>
                    <a:pt x="898" y="1444"/>
                  </a:cubicBezTo>
                  <a:cubicBezTo>
                    <a:pt x="880" y="1306"/>
                    <a:pt x="902" y="1067"/>
                    <a:pt x="763" y="972"/>
                  </a:cubicBezTo>
                  <a:cubicBezTo>
                    <a:pt x="751" y="939"/>
                    <a:pt x="743" y="930"/>
                    <a:pt x="711" y="913"/>
                  </a:cubicBezTo>
                  <a:cubicBezTo>
                    <a:pt x="706" y="905"/>
                    <a:pt x="700" y="898"/>
                    <a:pt x="696" y="890"/>
                  </a:cubicBezTo>
                  <a:cubicBezTo>
                    <a:pt x="692" y="881"/>
                    <a:pt x="693" y="869"/>
                    <a:pt x="688" y="860"/>
                  </a:cubicBezTo>
                  <a:cubicBezTo>
                    <a:pt x="662" y="809"/>
                    <a:pt x="621" y="772"/>
                    <a:pt x="576" y="741"/>
                  </a:cubicBezTo>
                  <a:cubicBezTo>
                    <a:pt x="556" y="711"/>
                    <a:pt x="531" y="678"/>
                    <a:pt x="501" y="658"/>
                  </a:cubicBezTo>
                  <a:cubicBezTo>
                    <a:pt x="491" y="628"/>
                    <a:pt x="483" y="615"/>
                    <a:pt x="456" y="598"/>
                  </a:cubicBezTo>
                  <a:cubicBezTo>
                    <a:pt x="432" y="552"/>
                    <a:pt x="424" y="499"/>
                    <a:pt x="396" y="456"/>
                  </a:cubicBezTo>
                  <a:cubicBezTo>
                    <a:pt x="382" y="413"/>
                    <a:pt x="365" y="372"/>
                    <a:pt x="351" y="329"/>
                  </a:cubicBezTo>
                  <a:cubicBezTo>
                    <a:pt x="339" y="294"/>
                    <a:pt x="335" y="263"/>
                    <a:pt x="314" y="232"/>
                  </a:cubicBezTo>
                  <a:cubicBezTo>
                    <a:pt x="312" y="219"/>
                    <a:pt x="312" y="206"/>
                    <a:pt x="307" y="194"/>
                  </a:cubicBezTo>
                  <a:cubicBezTo>
                    <a:pt x="300" y="178"/>
                    <a:pt x="277" y="150"/>
                    <a:pt x="277" y="150"/>
                  </a:cubicBezTo>
                  <a:cubicBezTo>
                    <a:pt x="267" y="114"/>
                    <a:pt x="239" y="87"/>
                    <a:pt x="202" y="75"/>
                  </a:cubicBezTo>
                  <a:cubicBezTo>
                    <a:pt x="187" y="70"/>
                    <a:pt x="157" y="60"/>
                    <a:pt x="157" y="60"/>
                  </a:cubicBezTo>
                  <a:cubicBezTo>
                    <a:pt x="110" y="28"/>
                    <a:pt x="51" y="24"/>
                    <a:pt x="0"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7" name="Freeform 141"/>
            <p:cNvSpPr>
              <a:spLocks/>
            </p:cNvSpPr>
            <p:nvPr/>
          </p:nvSpPr>
          <p:spPr bwMode="auto">
            <a:xfrm>
              <a:off x="4464" y="3616"/>
              <a:ext cx="219" cy="334"/>
            </a:xfrm>
            <a:custGeom>
              <a:avLst/>
              <a:gdLst>
                <a:gd name="T0" fmla="*/ 219 w 219"/>
                <a:gd name="T1" fmla="*/ 266 h 334"/>
                <a:gd name="T2" fmla="*/ 137 w 219"/>
                <a:gd name="T3" fmla="*/ 334 h 334"/>
                <a:gd name="T4" fmla="*/ 54 w 219"/>
                <a:gd name="T5" fmla="*/ 304 h 334"/>
                <a:gd name="T6" fmla="*/ 17 w 219"/>
                <a:gd name="T7" fmla="*/ 132 h 334"/>
                <a:gd name="T8" fmla="*/ 9 w 219"/>
                <a:gd name="T9" fmla="*/ 5 h 334"/>
                <a:gd name="T10" fmla="*/ 0 60000 65536"/>
                <a:gd name="T11" fmla="*/ 0 60000 65536"/>
                <a:gd name="T12" fmla="*/ 0 60000 65536"/>
                <a:gd name="T13" fmla="*/ 0 60000 65536"/>
                <a:gd name="T14" fmla="*/ 0 60000 65536"/>
                <a:gd name="T15" fmla="*/ 0 w 219"/>
                <a:gd name="T16" fmla="*/ 0 h 334"/>
                <a:gd name="T17" fmla="*/ 219 w 219"/>
                <a:gd name="T18" fmla="*/ 334 h 334"/>
              </a:gdLst>
              <a:ahLst/>
              <a:cxnLst>
                <a:cxn ang="T10">
                  <a:pos x="T0" y="T1"/>
                </a:cxn>
                <a:cxn ang="T11">
                  <a:pos x="T2" y="T3"/>
                </a:cxn>
                <a:cxn ang="T12">
                  <a:pos x="T4" y="T5"/>
                </a:cxn>
                <a:cxn ang="T13">
                  <a:pos x="T6" y="T7"/>
                </a:cxn>
                <a:cxn ang="T14">
                  <a:pos x="T8" y="T9"/>
                </a:cxn>
              </a:cxnLst>
              <a:rect l="T15" t="T16" r="T17" b="T18"/>
              <a:pathLst>
                <a:path w="219" h="334">
                  <a:moveTo>
                    <a:pt x="219" y="266"/>
                  </a:moveTo>
                  <a:cubicBezTo>
                    <a:pt x="195" y="302"/>
                    <a:pt x="171" y="311"/>
                    <a:pt x="137" y="334"/>
                  </a:cubicBezTo>
                  <a:cubicBezTo>
                    <a:pt x="103" y="327"/>
                    <a:pt x="83" y="323"/>
                    <a:pt x="54" y="304"/>
                  </a:cubicBezTo>
                  <a:cubicBezTo>
                    <a:pt x="0" y="223"/>
                    <a:pt x="27" y="280"/>
                    <a:pt x="17" y="132"/>
                  </a:cubicBezTo>
                  <a:cubicBezTo>
                    <a:pt x="8" y="0"/>
                    <a:pt x="9" y="74"/>
                    <a:pt x="9" y="5"/>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8" name="Oval 143"/>
            <p:cNvSpPr>
              <a:spLocks noChangeArrowheads="1"/>
            </p:cNvSpPr>
            <p:nvPr/>
          </p:nvSpPr>
          <p:spPr bwMode="auto">
            <a:xfrm>
              <a:off x="4104" y="3758"/>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9" name="Freeform 146"/>
            <p:cNvSpPr>
              <a:spLocks/>
            </p:cNvSpPr>
            <p:nvPr/>
          </p:nvSpPr>
          <p:spPr bwMode="auto">
            <a:xfrm>
              <a:off x="4205" y="3612"/>
              <a:ext cx="230" cy="452"/>
            </a:xfrm>
            <a:custGeom>
              <a:avLst/>
              <a:gdLst>
                <a:gd name="T0" fmla="*/ 0 w 337"/>
                <a:gd name="T1" fmla="*/ 20486 h 329"/>
                <a:gd name="T2" fmla="*/ 1 w 337"/>
                <a:gd name="T3" fmla="*/ 28072 h 329"/>
                <a:gd name="T4" fmla="*/ 1 w 337"/>
                <a:gd name="T5" fmla="*/ 26221 h 329"/>
                <a:gd name="T6" fmla="*/ 1 w 337"/>
                <a:gd name="T7" fmla="*/ 21078 h 329"/>
                <a:gd name="T8" fmla="*/ 1 w 337"/>
                <a:gd name="T9" fmla="*/ 14101 h 329"/>
                <a:gd name="T10" fmla="*/ 1 w 337"/>
                <a:gd name="T11" fmla="*/ 8260 h 329"/>
                <a:gd name="T12" fmla="*/ 1 w 337"/>
                <a:gd name="T13" fmla="*/ 0 h 329"/>
                <a:gd name="T14" fmla="*/ 0 60000 65536"/>
                <a:gd name="T15" fmla="*/ 0 60000 65536"/>
                <a:gd name="T16" fmla="*/ 0 60000 65536"/>
                <a:gd name="T17" fmla="*/ 0 60000 65536"/>
                <a:gd name="T18" fmla="*/ 0 60000 65536"/>
                <a:gd name="T19" fmla="*/ 0 60000 65536"/>
                <a:gd name="T20" fmla="*/ 0 60000 65536"/>
                <a:gd name="T21" fmla="*/ 0 w 337"/>
                <a:gd name="T22" fmla="*/ 0 h 329"/>
                <a:gd name="T23" fmla="*/ 337 w 337"/>
                <a:gd name="T24" fmla="*/ 329 h 3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 h="329">
                  <a:moveTo>
                    <a:pt x="0" y="240"/>
                  </a:moveTo>
                  <a:cubicBezTo>
                    <a:pt x="9" y="280"/>
                    <a:pt x="10" y="316"/>
                    <a:pt x="53" y="329"/>
                  </a:cubicBezTo>
                  <a:cubicBezTo>
                    <a:pt x="85" y="319"/>
                    <a:pt x="118" y="317"/>
                    <a:pt x="150" y="307"/>
                  </a:cubicBezTo>
                  <a:cubicBezTo>
                    <a:pt x="185" y="255"/>
                    <a:pt x="165" y="272"/>
                    <a:pt x="202" y="247"/>
                  </a:cubicBezTo>
                  <a:cubicBezTo>
                    <a:pt x="227" y="209"/>
                    <a:pt x="240" y="190"/>
                    <a:pt x="277" y="165"/>
                  </a:cubicBezTo>
                  <a:cubicBezTo>
                    <a:pt x="292" y="142"/>
                    <a:pt x="300" y="120"/>
                    <a:pt x="315" y="97"/>
                  </a:cubicBezTo>
                  <a:cubicBezTo>
                    <a:pt x="325" y="64"/>
                    <a:pt x="337" y="35"/>
                    <a:pt x="337"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0" name="Freeform 147"/>
            <p:cNvSpPr>
              <a:spLocks/>
            </p:cNvSpPr>
            <p:nvPr/>
          </p:nvSpPr>
          <p:spPr bwMode="auto">
            <a:xfrm>
              <a:off x="4041" y="3339"/>
              <a:ext cx="168" cy="643"/>
            </a:xfrm>
            <a:custGeom>
              <a:avLst/>
              <a:gdLst>
                <a:gd name="T0" fmla="*/ 1 w 277"/>
                <a:gd name="T1" fmla="*/ 1341 h 606"/>
                <a:gd name="T2" fmla="*/ 1 w 277"/>
                <a:gd name="T3" fmla="*/ 1389 h 606"/>
                <a:gd name="T4" fmla="*/ 0 w 277"/>
                <a:gd name="T5" fmla="*/ 1269 h 606"/>
                <a:gd name="T6" fmla="*/ 1 w 277"/>
                <a:gd name="T7" fmla="*/ 1116 h 606"/>
                <a:gd name="T8" fmla="*/ 1 w 277"/>
                <a:gd name="T9" fmla="*/ 1098 h 606"/>
                <a:gd name="T10" fmla="*/ 1 w 277"/>
                <a:gd name="T11" fmla="*/ 891 h 606"/>
                <a:gd name="T12" fmla="*/ 1 w 277"/>
                <a:gd name="T13" fmla="*/ 635 h 606"/>
                <a:gd name="T14" fmla="*/ 1 w 277"/>
                <a:gd name="T15" fmla="*/ 584 h 606"/>
                <a:gd name="T16" fmla="*/ 1 w 277"/>
                <a:gd name="T17" fmla="*/ 532 h 606"/>
                <a:gd name="T18" fmla="*/ 1 w 277"/>
                <a:gd name="T19" fmla="*/ 223 h 606"/>
                <a:gd name="T20" fmla="*/ 1 w 277"/>
                <a:gd name="T21" fmla="*/ 68 h 606"/>
                <a:gd name="T22" fmla="*/ 1 w 277"/>
                <a:gd name="T23" fmla="*/ 0 h 6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606"/>
                <a:gd name="T38" fmla="*/ 277 w 277"/>
                <a:gd name="T39" fmla="*/ 606 h 6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606">
                  <a:moveTo>
                    <a:pt x="120" y="584"/>
                  </a:moveTo>
                  <a:cubicBezTo>
                    <a:pt x="97" y="591"/>
                    <a:pt x="75" y="599"/>
                    <a:pt x="52" y="606"/>
                  </a:cubicBezTo>
                  <a:cubicBezTo>
                    <a:pt x="15" y="597"/>
                    <a:pt x="11" y="589"/>
                    <a:pt x="0" y="554"/>
                  </a:cubicBezTo>
                  <a:cubicBezTo>
                    <a:pt x="3" y="545"/>
                    <a:pt x="17" y="491"/>
                    <a:pt x="22" y="486"/>
                  </a:cubicBezTo>
                  <a:cubicBezTo>
                    <a:pt x="28" y="480"/>
                    <a:pt x="37" y="481"/>
                    <a:pt x="45" y="479"/>
                  </a:cubicBezTo>
                  <a:cubicBezTo>
                    <a:pt x="55" y="448"/>
                    <a:pt x="72" y="416"/>
                    <a:pt x="90" y="389"/>
                  </a:cubicBezTo>
                  <a:cubicBezTo>
                    <a:pt x="107" y="337"/>
                    <a:pt x="112" y="322"/>
                    <a:pt x="142" y="277"/>
                  </a:cubicBezTo>
                  <a:cubicBezTo>
                    <a:pt x="147" y="269"/>
                    <a:pt x="152" y="262"/>
                    <a:pt x="157" y="254"/>
                  </a:cubicBezTo>
                  <a:cubicBezTo>
                    <a:pt x="162" y="247"/>
                    <a:pt x="172" y="232"/>
                    <a:pt x="172" y="232"/>
                  </a:cubicBezTo>
                  <a:cubicBezTo>
                    <a:pt x="190" y="177"/>
                    <a:pt x="205" y="139"/>
                    <a:pt x="247" y="97"/>
                  </a:cubicBezTo>
                  <a:cubicBezTo>
                    <a:pt x="264" y="45"/>
                    <a:pt x="257" y="67"/>
                    <a:pt x="269" y="30"/>
                  </a:cubicBezTo>
                  <a:cubicBezTo>
                    <a:pt x="272" y="20"/>
                    <a:pt x="277" y="0"/>
                    <a:pt x="277" y="0"/>
                  </a:cubicBezTo>
                </a:path>
              </a:pathLst>
            </a:custGeom>
            <a:noFill/>
            <a:ln w="25400">
              <a:solidFill>
                <a:srgbClr val="00FFFF"/>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1" name="Line 148"/>
            <p:cNvSpPr>
              <a:spLocks noChangeShapeType="1"/>
            </p:cNvSpPr>
            <p:nvPr/>
          </p:nvSpPr>
          <p:spPr bwMode="auto">
            <a:xfrm flipH="1">
              <a:off x="4254" y="3612"/>
              <a:ext cx="136" cy="136"/>
            </a:xfrm>
            <a:prstGeom prst="line">
              <a:avLst/>
            </a:prstGeom>
            <a:noFill/>
            <a:ln w="1905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2" name="Freeform 149"/>
            <p:cNvSpPr>
              <a:spLocks/>
            </p:cNvSpPr>
            <p:nvPr/>
          </p:nvSpPr>
          <p:spPr bwMode="auto">
            <a:xfrm>
              <a:off x="3965" y="2977"/>
              <a:ext cx="194" cy="427"/>
            </a:xfrm>
            <a:custGeom>
              <a:avLst/>
              <a:gdLst>
                <a:gd name="T0" fmla="*/ 194 w 194"/>
                <a:gd name="T1" fmla="*/ 367 h 427"/>
                <a:gd name="T2" fmla="*/ 74 w 194"/>
                <a:gd name="T3" fmla="*/ 427 h 427"/>
                <a:gd name="T4" fmla="*/ 7 w 194"/>
                <a:gd name="T5" fmla="*/ 299 h 427"/>
                <a:gd name="T6" fmla="*/ 0 w 194"/>
                <a:gd name="T7" fmla="*/ 0 h 427"/>
                <a:gd name="T8" fmla="*/ 0 60000 65536"/>
                <a:gd name="T9" fmla="*/ 0 60000 65536"/>
                <a:gd name="T10" fmla="*/ 0 60000 65536"/>
                <a:gd name="T11" fmla="*/ 0 60000 65536"/>
                <a:gd name="T12" fmla="*/ 0 w 194"/>
                <a:gd name="T13" fmla="*/ 0 h 427"/>
                <a:gd name="T14" fmla="*/ 194 w 194"/>
                <a:gd name="T15" fmla="*/ 427 h 427"/>
              </a:gdLst>
              <a:ahLst/>
              <a:cxnLst>
                <a:cxn ang="T8">
                  <a:pos x="T0" y="T1"/>
                </a:cxn>
                <a:cxn ang="T9">
                  <a:pos x="T2" y="T3"/>
                </a:cxn>
                <a:cxn ang="T10">
                  <a:pos x="T4" y="T5"/>
                </a:cxn>
                <a:cxn ang="T11">
                  <a:pos x="T6" y="T7"/>
                </a:cxn>
              </a:cxnLst>
              <a:rect l="T12" t="T13" r="T14" b="T15"/>
              <a:pathLst>
                <a:path w="194" h="427">
                  <a:moveTo>
                    <a:pt x="194" y="367"/>
                  </a:moveTo>
                  <a:cubicBezTo>
                    <a:pt x="159" y="418"/>
                    <a:pt x="131" y="419"/>
                    <a:pt x="74" y="427"/>
                  </a:cubicBezTo>
                  <a:cubicBezTo>
                    <a:pt x="24" y="409"/>
                    <a:pt x="23" y="344"/>
                    <a:pt x="7" y="299"/>
                  </a:cubicBezTo>
                  <a:cubicBezTo>
                    <a:pt x="0" y="20"/>
                    <a:pt x="0" y="120"/>
                    <a:pt x="0" y="0"/>
                  </a:cubicBezTo>
                </a:path>
              </a:pathLst>
            </a:custGeom>
            <a:noFill/>
            <a:ln w="25400">
              <a:solidFill>
                <a:srgbClr val="0000FF"/>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3" name="Rectangle 150"/>
            <p:cNvSpPr>
              <a:spLocks noChangeArrowheads="1"/>
            </p:cNvSpPr>
            <p:nvPr/>
          </p:nvSpPr>
          <p:spPr bwMode="auto">
            <a:xfrm>
              <a:off x="3347" y="3838"/>
              <a:ext cx="276" cy="250"/>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W</a:t>
              </a:r>
            </a:p>
          </p:txBody>
        </p:sp>
        <p:sp>
          <p:nvSpPr>
            <p:cNvPr id="44" name="Line 151"/>
            <p:cNvSpPr>
              <a:spLocks noChangeShapeType="1"/>
            </p:cNvSpPr>
            <p:nvPr/>
          </p:nvSpPr>
          <p:spPr bwMode="auto">
            <a:xfrm flipV="1">
              <a:off x="3528" y="3838"/>
              <a:ext cx="545" cy="91"/>
            </a:xfrm>
            <a:prstGeom prst="line">
              <a:avLst/>
            </a:prstGeom>
            <a:noFill/>
            <a:ln w="19050" cap="rnd">
              <a:solidFill>
                <a:srgbClr val="FF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grpSp>
        <p:nvGrpSpPr>
          <p:cNvPr id="45" name="Group 160"/>
          <p:cNvGrpSpPr>
            <a:grpSpLocks/>
          </p:cNvGrpSpPr>
          <p:nvPr/>
        </p:nvGrpSpPr>
        <p:grpSpPr bwMode="auto">
          <a:xfrm>
            <a:off x="1101725" y="2698750"/>
            <a:ext cx="4102100" cy="3198813"/>
            <a:chOff x="694" y="1978"/>
            <a:chExt cx="2584" cy="2015"/>
          </a:xfrm>
        </p:grpSpPr>
        <p:sp>
          <p:nvSpPr>
            <p:cNvPr id="46" name="Rectangle 16"/>
            <p:cNvSpPr>
              <a:spLocks noChangeArrowheads="1"/>
            </p:cNvSpPr>
            <p:nvPr/>
          </p:nvSpPr>
          <p:spPr bwMode="auto">
            <a:xfrm>
              <a:off x="2887" y="3454"/>
              <a:ext cx="391" cy="327"/>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800" b="1" i="0" u="none" strike="noStrike" kern="0" cap="none" spc="0" normalizeH="0" baseline="0" noProof="0">
                  <a:ln>
                    <a:noFill/>
                  </a:ln>
                  <a:solidFill>
                    <a:srgbClr val="000000"/>
                  </a:solidFill>
                  <a:effectLst/>
                  <a:uLnTx/>
                  <a:uFillTx/>
                  <a:latin typeface="Times New Roman" pitchFamily="18" charset="0"/>
                </a:rPr>
                <a:t>(b)</a:t>
              </a:r>
            </a:p>
          </p:txBody>
        </p:sp>
        <p:sp>
          <p:nvSpPr>
            <p:cNvPr id="47" name="Oval 88"/>
            <p:cNvSpPr>
              <a:spLocks noChangeArrowheads="1"/>
            </p:cNvSpPr>
            <p:nvPr/>
          </p:nvSpPr>
          <p:spPr bwMode="auto">
            <a:xfrm>
              <a:off x="1258" y="1978"/>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48" name="Oval 89"/>
            <p:cNvSpPr>
              <a:spLocks noChangeArrowheads="1"/>
            </p:cNvSpPr>
            <p:nvPr/>
          </p:nvSpPr>
          <p:spPr bwMode="auto">
            <a:xfrm>
              <a:off x="940" y="2292"/>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49" name="Oval 90"/>
            <p:cNvSpPr>
              <a:spLocks noChangeArrowheads="1"/>
            </p:cNvSpPr>
            <p:nvPr/>
          </p:nvSpPr>
          <p:spPr bwMode="auto">
            <a:xfrm>
              <a:off x="1251" y="2606"/>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50" name="Oval 91"/>
            <p:cNvSpPr>
              <a:spLocks noChangeArrowheads="1"/>
            </p:cNvSpPr>
            <p:nvPr/>
          </p:nvSpPr>
          <p:spPr bwMode="auto">
            <a:xfrm>
              <a:off x="919" y="2836"/>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51" name="Oval 92"/>
            <p:cNvSpPr>
              <a:spLocks noChangeArrowheads="1"/>
            </p:cNvSpPr>
            <p:nvPr/>
          </p:nvSpPr>
          <p:spPr bwMode="auto">
            <a:xfrm>
              <a:off x="2101" y="2943"/>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52" name="Line 93"/>
            <p:cNvSpPr>
              <a:spLocks noChangeShapeType="1"/>
            </p:cNvSpPr>
            <p:nvPr/>
          </p:nvSpPr>
          <p:spPr bwMode="auto">
            <a:xfrm flipH="1">
              <a:off x="1076" y="2111"/>
              <a:ext cx="182" cy="181"/>
            </a:xfrm>
            <a:prstGeom prst="line">
              <a:avLst/>
            </a:pr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3" name="Line 94"/>
            <p:cNvSpPr>
              <a:spLocks noChangeShapeType="1"/>
            </p:cNvSpPr>
            <p:nvPr/>
          </p:nvSpPr>
          <p:spPr bwMode="auto">
            <a:xfrm>
              <a:off x="1101" y="2459"/>
              <a:ext cx="181" cy="182"/>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4" name="Line 95"/>
            <p:cNvSpPr>
              <a:spLocks noChangeShapeType="1"/>
            </p:cNvSpPr>
            <p:nvPr/>
          </p:nvSpPr>
          <p:spPr bwMode="auto">
            <a:xfrm>
              <a:off x="1349" y="2428"/>
              <a:ext cx="0" cy="181"/>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5" name="Rectangle 96"/>
            <p:cNvSpPr>
              <a:spLocks noChangeArrowheads="1"/>
            </p:cNvSpPr>
            <p:nvPr/>
          </p:nvSpPr>
          <p:spPr bwMode="auto">
            <a:xfrm>
              <a:off x="1258" y="2201"/>
              <a:ext cx="205" cy="250"/>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S</a:t>
              </a:r>
            </a:p>
          </p:txBody>
        </p:sp>
        <p:sp>
          <p:nvSpPr>
            <p:cNvPr id="56" name="Line 98"/>
            <p:cNvSpPr>
              <a:spLocks noChangeShapeType="1"/>
            </p:cNvSpPr>
            <p:nvPr/>
          </p:nvSpPr>
          <p:spPr bwMode="auto">
            <a:xfrm flipH="1">
              <a:off x="1108" y="2746"/>
              <a:ext cx="181" cy="136"/>
            </a:xfrm>
            <a:prstGeom prst="line">
              <a:avLst/>
            </a:pr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7" name="Freeform 99"/>
            <p:cNvSpPr>
              <a:spLocks/>
            </p:cNvSpPr>
            <p:nvPr/>
          </p:nvSpPr>
          <p:spPr bwMode="auto">
            <a:xfrm>
              <a:off x="821" y="2445"/>
              <a:ext cx="186" cy="584"/>
            </a:xfrm>
            <a:custGeom>
              <a:avLst/>
              <a:gdLst>
                <a:gd name="T0" fmla="*/ 139 w 186"/>
                <a:gd name="T1" fmla="*/ 568 h 584"/>
                <a:gd name="T2" fmla="*/ 37 w 186"/>
                <a:gd name="T3" fmla="*/ 576 h 584"/>
                <a:gd name="T4" fmla="*/ 0 w 186"/>
                <a:gd name="T5" fmla="*/ 510 h 584"/>
                <a:gd name="T6" fmla="*/ 51 w 186"/>
                <a:gd name="T7" fmla="*/ 299 h 584"/>
                <a:gd name="T8" fmla="*/ 88 w 186"/>
                <a:gd name="T9" fmla="*/ 233 h 584"/>
                <a:gd name="T10" fmla="*/ 80 w 186"/>
                <a:gd name="T11" fmla="*/ 211 h 584"/>
                <a:gd name="T12" fmla="*/ 110 w 186"/>
                <a:gd name="T13" fmla="*/ 167 h 584"/>
                <a:gd name="T14" fmla="*/ 146 w 186"/>
                <a:gd name="T15" fmla="*/ 102 h 584"/>
                <a:gd name="T16" fmla="*/ 168 w 186"/>
                <a:gd name="T17" fmla="*/ 36 h 584"/>
                <a:gd name="T18" fmla="*/ 183 w 186"/>
                <a:gd name="T19" fmla="*/ 0 h 5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6"/>
                <a:gd name="T31" fmla="*/ 0 h 584"/>
                <a:gd name="T32" fmla="*/ 186 w 186"/>
                <a:gd name="T33" fmla="*/ 584 h 58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6" h="584">
                  <a:moveTo>
                    <a:pt x="139" y="568"/>
                  </a:moveTo>
                  <a:cubicBezTo>
                    <a:pt x="96" y="584"/>
                    <a:pt x="90" y="582"/>
                    <a:pt x="37" y="576"/>
                  </a:cubicBezTo>
                  <a:cubicBezTo>
                    <a:pt x="28" y="552"/>
                    <a:pt x="0" y="510"/>
                    <a:pt x="0" y="510"/>
                  </a:cubicBezTo>
                  <a:cubicBezTo>
                    <a:pt x="9" y="440"/>
                    <a:pt x="28" y="367"/>
                    <a:pt x="51" y="299"/>
                  </a:cubicBezTo>
                  <a:cubicBezTo>
                    <a:pt x="59" y="275"/>
                    <a:pt x="88" y="233"/>
                    <a:pt x="88" y="233"/>
                  </a:cubicBezTo>
                  <a:cubicBezTo>
                    <a:pt x="85" y="226"/>
                    <a:pt x="78" y="218"/>
                    <a:pt x="80" y="211"/>
                  </a:cubicBezTo>
                  <a:cubicBezTo>
                    <a:pt x="86" y="194"/>
                    <a:pt x="110" y="167"/>
                    <a:pt x="110" y="167"/>
                  </a:cubicBezTo>
                  <a:cubicBezTo>
                    <a:pt x="118" y="141"/>
                    <a:pt x="135" y="126"/>
                    <a:pt x="146" y="102"/>
                  </a:cubicBezTo>
                  <a:cubicBezTo>
                    <a:pt x="156" y="81"/>
                    <a:pt x="158" y="56"/>
                    <a:pt x="168" y="36"/>
                  </a:cubicBezTo>
                  <a:cubicBezTo>
                    <a:pt x="186" y="1"/>
                    <a:pt x="183" y="28"/>
                    <a:pt x="183"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8" name="Line 100"/>
            <p:cNvSpPr>
              <a:spLocks noChangeShapeType="1"/>
            </p:cNvSpPr>
            <p:nvPr/>
          </p:nvSpPr>
          <p:spPr bwMode="auto">
            <a:xfrm>
              <a:off x="2202" y="2664"/>
              <a:ext cx="0" cy="272"/>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9" name="Rectangle 101"/>
            <p:cNvSpPr>
              <a:spLocks noChangeArrowheads="1"/>
            </p:cNvSpPr>
            <p:nvPr/>
          </p:nvSpPr>
          <p:spPr bwMode="auto">
            <a:xfrm>
              <a:off x="2077" y="2411"/>
              <a:ext cx="232" cy="250"/>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R</a:t>
              </a:r>
            </a:p>
          </p:txBody>
        </p:sp>
        <p:sp>
          <p:nvSpPr>
            <p:cNvPr id="60" name="Oval 102"/>
            <p:cNvSpPr>
              <a:spLocks noChangeArrowheads="1"/>
            </p:cNvSpPr>
            <p:nvPr/>
          </p:nvSpPr>
          <p:spPr bwMode="auto">
            <a:xfrm>
              <a:off x="1477" y="2969"/>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61" name="Oval 103"/>
            <p:cNvSpPr>
              <a:spLocks noChangeArrowheads="1"/>
            </p:cNvSpPr>
            <p:nvPr/>
          </p:nvSpPr>
          <p:spPr bwMode="auto">
            <a:xfrm>
              <a:off x="1145" y="3199"/>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62" name="Line 104"/>
            <p:cNvSpPr>
              <a:spLocks noChangeShapeType="1"/>
            </p:cNvSpPr>
            <p:nvPr/>
          </p:nvSpPr>
          <p:spPr bwMode="auto">
            <a:xfrm flipH="1">
              <a:off x="1334" y="3109"/>
              <a:ext cx="181" cy="136"/>
            </a:xfrm>
            <a:prstGeom prst="line">
              <a:avLst/>
            </a:pr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3" name="Oval 105"/>
            <p:cNvSpPr>
              <a:spLocks noChangeArrowheads="1"/>
            </p:cNvSpPr>
            <p:nvPr/>
          </p:nvSpPr>
          <p:spPr bwMode="auto">
            <a:xfrm>
              <a:off x="1704" y="3241"/>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64" name="Line 106"/>
            <p:cNvSpPr>
              <a:spLocks noChangeShapeType="1"/>
            </p:cNvSpPr>
            <p:nvPr/>
          </p:nvSpPr>
          <p:spPr bwMode="auto">
            <a:xfrm>
              <a:off x="1387" y="2770"/>
              <a:ext cx="181" cy="199"/>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5" name="Line 107"/>
            <p:cNvSpPr>
              <a:spLocks noChangeShapeType="1"/>
            </p:cNvSpPr>
            <p:nvPr/>
          </p:nvSpPr>
          <p:spPr bwMode="auto">
            <a:xfrm>
              <a:off x="1660" y="3105"/>
              <a:ext cx="135" cy="136"/>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6" name="Freeform 108"/>
            <p:cNvSpPr>
              <a:spLocks/>
            </p:cNvSpPr>
            <p:nvPr/>
          </p:nvSpPr>
          <p:spPr bwMode="auto">
            <a:xfrm>
              <a:off x="1232" y="3141"/>
              <a:ext cx="337" cy="329"/>
            </a:xfrm>
            <a:custGeom>
              <a:avLst/>
              <a:gdLst>
                <a:gd name="T0" fmla="*/ 0 w 337"/>
                <a:gd name="T1" fmla="*/ 240 h 329"/>
                <a:gd name="T2" fmla="*/ 53 w 337"/>
                <a:gd name="T3" fmla="*/ 329 h 329"/>
                <a:gd name="T4" fmla="*/ 150 w 337"/>
                <a:gd name="T5" fmla="*/ 307 h 329"/>
                <a:gd name="T6" fmla="*/ 202 w 337"/>
                <a:gd name="T7" fmla="*/ 247 h 329"/>
                <a:gd name="T8" fmla="*/ 277 w 337"/>
                <a:gd name="T9" fmla="*/ 165 h 329"/>
                <a:gd name="T10" fmla="*/ 315 w 337"/>
                <a:gd name="T11" fmla="*/ 97 h 329"/>
                <a:gd name="T12" fmla="*/ 337 w 337"/>
                <a:gd name="T13" fmla="*/ 0 h 329"/>
                <a:gd name="T14" fmla="*/ 0 60000 65536"/>
                <a:gd name="T15" fmla="*/ 0 60000 65536"/>
                <a:gd name="T16" fmla="*/ 0 60000 65536"/>
                <a:gd name="T17" fmla="*/ 0 60000 65536"/>
                <a:gd name="T18" fmla="*/ 0 60000 65536"/>
                <a:gd name="T19" fmla="*/ 0 60000 65536"/>
                <a:gd name="T20" fmla="*/ 0 60000 65536"/>
                <a:gd name="T21" fmla="*/ 0 w 337"/>
                <a:gd name="T22" fmla="*/ 0 h 329"/>
                <a:gd name="T23" fmla="*/ 337 w 337"/>
                <a:gd name="T24" fmla="*/ 329 h 3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 h="329">
                  <a:moveTo>
                    <a:pt x="0" y="240"/>
                  </a:moveTo>
                  <a:cubicBezTo>
                    <a:pt x="9" y="280"/>
                    <a:pt x="10" y="316"/>
                    <a:pt x="53" y="329"/>
                  </a:cubicBezTo>
                  <a:cubicBezTo>
                    <a:pt x="85" y="319"/>
                    <a:pt x="118" y="317"/>
                    <a:pt x="150" y="307"/>
                  </a:cubicBezTo>
                  <a:cubicBezTo>
                    <a:pt x="185" y="255"/>
                    <a:pt x="165" y="272"/>
                    <a:pt x="202" y="247"/>
                  </a:cubicBezTo>
                  <a:cubicBezTo>
                    <a:pt x="227" y="209"/>
                    <a:pt x="240" y="190"/>
                    <a:pt x="277" y="165"/>
                  </a:cubicBezTo>
                  <a:cubicBezTo>
                    <a:pt x="292" y="142"/>
                    <a:pt x="300" y="120"/>
                    <a:pt x="315" y="97"/>
                  </a:cubicBezTo>
                  <a:cubicBezTo>
                    <a:pt x="325" y="64"/>
                    <a:pt x="337" y="35"/>
                    <a:pt x="337"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7" name="Freeform 109"/>
            <p:cNvSpPr>
              <a:spLocks/>
            </p:cNvSpPr>
            <p:nvPr/>
          </p:nvSpPr>
          <p:spPr bwMode="auto">
            <a:xfrm>
              <a:off x="1599" y="3156"/>
              <a:ext cx="180" cy="369"/>
            </a:xfrm>
            <a:custGeom>
              <a:avLst/>
              <a:gdLst>
                <a:gd name="T0" fmla="*/ 180 w 180"/>
                <a:gd name="T1" fmla="*/ 284 h 369"/>
                <a:gd name="T2" fmla="*/ 120 w 180"/>
                <a:gd name="T3" fmla="*/ 329 h 369"/>
                <a:gd name="T4" fmla="*/ 52 w 180"/>
                <a:gd name="T5" fmla="*/ 344 h 369"/>
                <a:gd name="T6" fmla="*/ 8 w 180"/>
                <a:gd name="T7" fmla="*/ 292 h 369"/>
                <a:gd name="T8" fmla="*/ 0 w 180"/>
                <a:gd name="T9" fmla="*/ 157 h 369"/>
                <a:gd name="T10" fmla="*/ 8 w 180"/>
                <a:gd name="T11" fmla="*/ 0 h 369"/>
                <a:gd name="T12" fmla="*/ 0 60000 65536"/>
                <a:gd name="T13" fmla="*/ 0 60000 65536"/>
                <a:gd name="T14" fmla="*/ 0 60000 65536"/>
                <a:gd name="T15" fmla="*/ 0 60000 65536"/>
                <a:gd name="T16" fmla="*/ 0 60000 65536"/>
                <a:gd name="T17" fmla="*/ 0 60000 65536"/>
                <a:gd name="T18" fmla="*/ 0 w 180"/>
                <a:gd name="T19" fmla="*/ 0 h 369"/>
                <a:gd name="T20" fmla="*/ 180 w 180"/>
                <a:gd name="T21" fmla="*/ 369 h 369"/>
              </a:gdLst>
              <a:ahLst/>
              <a:cxnLst>
                <a:cxn ang="T12">
                  <a:pos x="T0" y="T1"/>
                </a:cxn>
                <a:cxn ang="T13">
                  <a:pos x="T2" y="T3"/>
                </a:cxn>
                <a:cxn ang="T14">
                  <a:pos x="T4" y="T5"/>
                </a:cxn>
                <a:cxn ang="T15">
                  <a:pos x="T6" y="T7"/>
                </a:cxn>
                <a:cxn ang="T16">
                  <a:pos x="T8" y="T9"/>
                </a:cxn>
                <a:cxn ang="T17">
                  <a:pos x="T10" y="T11"/>
                </a:cxn>
              </a:cxnLst>
              <a:rect l="T18" t="T19" r="T20" b="T21"/>
              <a:pathLst>
                <a:path w="180" h="369">
                  <a:moveTo>
                    <a:pt x="180" y="284"/>
                  </a:moveTo>
                  <a:cubicBezTo>
                    <a:pt x="163" y="311"/>
                    <a:pt x="150" y="319"/>
                    <a:pt x="120" y="329"/>
                  </a:cubicBezTo>
                  <a:cubicBezTo>
                    <a:pt x="67" y="364"/>
                    <a:pt x="90" y="369"/>
                    <a:pt x="52" y="344"/>
                  </a:cubicBezTo>
                  <a:cubicBezTo>
                    <a:pt x="31" y="313"/>
                    <a:pt x="19" y="327"/>
                    <a:pt x="8" y="292"/>
                  </a:cubicBezTo>
                  <a:cubicBezTo>
                    <a:pt x="5" y="247"/>
                    <a:pt x="0" y="202"/>
                    <a:pt x="0" y="157"/>
                  </a:cubicBezTo>
                  <a:cubicBezTo>
                    <a:pt x="0" y="105"/>
                    <a:pt x="8" y="0"/>
                    <a:pt x="8"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8" name="Freeform 110"/>
            <p:cNvSpPr>
              <a:spLocks/>
            </p:cNvSpPr>
            <p:nvPr/>
          </p:nvSpPr>
          <p:spPr bwMode="auto">
            <a:xfrm>
              <a:off x="1442" y="2139"/>
              <a:ext cx="619" cy="1322"/>
            </a:xfrm>
            <a:custGeom>
              <a:avLst/>
              <a:gdLst>
                <a:gd name="T0" fmla="*/ 419 w 619"/>
                <a:gd name="T1" fmla="*/ 1264 h 1322"/>
                <a:gd name="T2" fmla="*/ 561 w 619"/>
                <a:gd name="T3" fmla="*/ 1294 h 1322"/>
                <a:gd name="T4" fmla="*/ 606 w 619"/>
                <a:gd name="T5" fmla="*/ 1204 h 1322"/>
                <a:gd name="T6" fmla="*/ 568 w 619"/>
                <a:gd name="T7" fmla="*/ 935 h 1322"/>
                <a:gd name="T8" fmla="*/ 524 w 619"/>
                <a:gd name="T9" fmla="*/ 845 h 1322"/>
                <a:gd name="T10" fmla="*/ 509 w 619"/>
                <a:gd name="T11" fmla="*/ 815 h 1322"/>
                <a:gd name="T12" fmla="*/ 486 w 619"/>
                <a:gd name="T13" fmla="*/ 808 h 1322"/>
                <a:gd name="T14" fmla="*/ 456 w 619"/>
                <a:gd name="T15" fmla="*/ 763 h 1322"/>
                <a:gd name="T16" fmla="*/ 411 w 619"/>
                <a:gd name="T17" fmla="*/ 733 h 1322"/>
                <a:gd name="T18" fmla="*/ 374 w 619"/>
                <a:gd name="T19" fmla="*/ 695 h 1322"/>
                <a:gd name="T20" fmla="*/ 344 w 619"/>
                <a:gd name="T21" fmla="*/ 651 h 1322"/>
                <a:gd name="T22" fmla="*/ 299 w 619"/>
                <a:gd name="T23" fmla="*/ 606 h 1322"/>
                <a:gd name="T24" fmla="*/ 224 w 619"/>
                <a:gd name="T25" fmla="*/ 516 h 1322"/>
                <a:gd name="T26" fmla="*/ 194 w 619"/>
                <a:gd name="T27" fmla="*/ 471 h 1322"/>
                <a:gd name="T28" fmla="*/ 179 w 619"/>
                <a:gd name="T29" fmla="*/ 449 h 1322"/>
                <a:gd name="T30" fmla="*/ 120 w 619"/>
                <a:gd name="T31" fmla="*/ 329 h 1322"/>
                <a:gd name="T32" fmla="*/ 67 w 619"/>
                <a:gd name="T33" fmla="*/ 194 h 1322"/>
                <a:gd name="T34" fmla="*/ 45 w 619"/>
                <a:gd name="T35" fmla="*/ 97 h 1322"/>
                <a:gd name="T36" fmla="*/ 0 w 619"/>
                <a:gd name="T37" fmla="*/ 0 h 13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19"/>
                <a:gd name="T58" fmla="*/ 0 h 1322"/>
                <a:gd name="T59" fmla="*/ 619 w 619"/>
                <a:gd name="T60" fmla="*/ 1322 h 13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19" h="1322">
                  <a:moveTo>
                    <a:pt x="419" y="1264"/>
                  </a:moveTo>
                  <a:cubicBezTo>
                    <a:pt x="459" y="1322"/>
                    <a:pt x="475" y="1300"/>
                    <a:pt x="561" y="1294"/>
                  </a:cubicBezTo>
                  <a:cubicBezTo>
                    <a:pt x="580" y="1265"/>
                    <a:pt x="587" y="1233"/>
                    <a:pt x="606" y="1204"/>
                  </a:cubicBezTo>
                  <a:cubicBezTo>
                    <a:pt x="603" y="1123"/>
                    <a:pt x="619" y="1010"/>
                    <a:pt x="568" y="935"/>
                  </a:cubicBezTo>
                  <a:cubicBezTo>
                    <a:pt x="535" y="828"/>
                    <a:pt x="579" y="954"/>
                    <a:pt x="524" y="845"/>
                  </a:cubicBezTo>
                  <a:cubicBezTo>
                    <a:pt x="519" y="835"/>
                    <a:pt x="517" y="823"/>
                    <a:pt x="509" y="815"/>
                  </a:cubicBezTo>
                  <a:cubicBezTo>
                    <a:pt x="503" y="809"/>
                    <a:pt x="494" y="810"/>
                    <a:pt x="486" y="808"/>
                  </a:cubicBezTo>
                  <a:cubicBezTo>
                    <a:pt x="476" y="793"/>
                    <a:pt x="466" y="778"/>
                    <a:pt x="456" y="763"/>
                  </a:cubicBezTo>
                  <a:cubicBezTo>
                    <a:pt x="446" y="748"/>
                    <a:pt x="411" y="733"/>
                    <a:pt x="411" y="733"/>
                  </a:cubicBezTo>
                  <a:cubicBezTo>
                    <a:pt x="357" y="649"/>
                    <a:pt x="437" y="767"/>
                    <a:pt x="374" y="695"/>
                  </a:cubicBezTo>
                  <a:cubicBezTo>
                    <a:pt x="362" y="682"/>
                    <a:pt x="357" y="664"/>
                    <a:pt x="344" y="651"/>
                  </a:cubicBezTo>
                  <a:cubicBezTo>
                    <a:pt x="329" y="636"/>
                    <a:pt x="299" y="606"/>
                    <a:pt x="299" y="606"/>
                  </a:cubicBezTo>
                  <a:cubicBezTo>
                    <a:pt x="280" y="569"/>
                    <a:pt x="250" y="549"/>
                    <a:pt x="224" y="516"/>
                  </a:cubicBezTo>
                  <a:cubicBezTo>
                    <a:pt x="213" y="502"/>
                    <a:pt x="204" y="486"/>
                    <a:pt x="194" y="471"/>
                  </a:cubicBezTo>
                  <a:cubicBezTo>
                    <a:pt x="189" y="464"/>
                    <a:pt x="179" y="449"/>
                    <a:pt x="179" y="449"/>
                  </a:cubicBezTo>
                  <a:cubicBezTo>
                    <a:pt x="168" y="401"/>
                    <a:pt x="148" y="370"/>
                    <a:pt x="120" y="329"/>
                  </a:cubicBezTo>
                  <a:cubicBezTo>
                    <a:pt x="95" y="293"/>
                    <a:pt x="93" y="235"/>
                    <a:pt x="67" y="194"/>
                  </a:cubicBezTo>
                  <a:cubicBezTo>
                    <a:pt x="60" y="163"/>
                    <a:pt x="60" y="125"/>
                    <a:pt x="45" y="97"/>
                  </a:cubicBezTo>
                  <a:cubicBezTo>
                    <a:pt x="27" y="65"/>
                    <a:pt x="0" y="39"/>
                    <a:pt x="0"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9" name="Freeform 111"/>
            <p:cNvSpPr>
              <a:spLocks/>
            </p:cNvSpPr>
            <p:nvPr/>
          </p:nvSpPr>
          <p:spPr bwMode="auto">
            <a:xfrm>
              <a:off x="1068" y="2782"/>
              <a:ext cx="277" cy="606"/>
            </a:xfrm>
            <a:custGeom>
              <a:avLst/>
              <a:gdLst>
                <a:gd name="T0" fmla="*/ 120 w 277"/>
                <a:gd name="T1" fmla="*/ 584 h 606"/>
                <a:gd name="T2" fmla="*/ 52 w 277"/>
                <a:gd name="T3" fmla="*/ 606 h 606"/>
                <a:gd name="T4" fmla="*/ 0 w 277"/>
                <a:gd name="T5" fmla="*/ 554 h 606"/>
                <a:gd name="T6" fmla="*/ 22 w 277"/>
                <a:gd name="T7" fmla="*/ 486 h 606"/>
                <a:gd name="T8" fmla="*/ 45 w 277"/>
                <a:gd name="T9" fmla="*/ 479 h 606"/>
                <a:gd name="T10" fmla="*/ 90 w 277"/>
                <a:gd name="T11" fmla="*/ 389 h 606"/>
                <a:gd name="T12" fmla="*/ 142 w 277"/>
                <a:gd name="T13" fmla="*/ 277 h 606"/>
                <a:gd name="T14" fmla="*/ 157 w 277"/>
                <a:gd name="T15" fmla="*/ 254 h 606"/>
                <a:gd name="T16" fmla="*/ 172 w 277"/>
                <a:gd name="T17" fmla="*/ 232 h 606"/>
                <a:gd name="T18" fmla="*/ 247 w 277"/>
                <a:gd name="T19" fmla="*/ 97 h 606"/>
                <a:gd name="T20" fmla="*/ 269 w 277"/>
                <a:gd name="T21" fmla="*/ 30 h 606"/>
                <a:gd name="T22" fmla="*/ 277 w 277"/>
                <a:gd name="T23" fmla="*/ 0 h 6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606"/>
                <a:gd name="T38" fmla="*/ 277 w 277"/>
                <a:gd name="T39" fmla="*/ 606 h 6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606">
                  <a:moveTo>
                    <a:pt x="120" y="584"/>
                  </a:moveTo>
                  <a:cubicBezTo>
                    <a:pt x="97" y="591"/>
                    <a:pt x="75" y="599"/>
                    <a:pt x="52" y="606"/>
                  </a:cubicBezTo>
                  <a:cubicBezTo>
                    <a:pt x="15" y="597"/>
                    <a:pt x="11" y="589"/>
                    <a:pt x="0" y="554"/>
                  </a:cubicBezTo>
                  <a:cubicBezTo>
                    <a:pt x="3" y="545"/>
                    <a:pt x="17" y="491"/>
                    <a:pt x="22" y="486"/>
                  </a:cubicBezTo>
                  <a:cubicBezTo>
                    <a:pt x="28" y="480"/>
                    <a:pt x="37" y="481"/>
                    <a:pt x="45" y="479"/>
                  </a:cubicBezTo>
                  <a:cubicBezTo>
                    <a:pt x="55" y="448"/>
                    <a:pt x="72" y="416"/>
                    <a:pt x="90" y="389"/>
                  </a:cubicBezTo>
                  <a:cubicBezTo>
                    <a:pt x="107" y="337"/>
                    <a:pt x="112" y="322"/>
                    <a:pt x="142" y="277"/>
                  </a:cubicBezTo>
                  <a:cubicBezTo>
                    <a:pt x="147" y="269"/>
                    <a:pt x="152" y="262"/>
                    <a:pt x="157" y="254"/>
                  </a:cubicBezTo>
                  <a:cubicBezTo>
                    <a:pt x="162" y="247"/>
                    <a:pt x="172" y="232"/>
                    <a:pt x="172" y="232"/>
                  </a:cubicBezTo>
                  <a:cubicBezTo>
                    <a:pt x="190" y="177"/>
                    <a:pt x="205" y="139"/>
                    <a:pt x="247" y="97"/>
                  </a:cubicBezTo>
                  <a:cubicBezTo>
                    <a:pt x="264" y="45"/>
                    <a:pt x="257" y="67"/>
                    <a:pt x="269" y="30"/>
                  </a:cubicBezTo>
                  <a:cubicBezTo>
                    <a:pt x="272" y="20"/>
                    <a:pt x="277" y="0"/>
                    <a:pt x="277"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0" name="Freeform 112"/>
            <p:cNvSpPr>
              <a:spLocks/>
            </p:cNvSpPr>
            <p:nvPr/>
          </p:nvSpPr>
          <p:spPr bwMode="auto">
            <a:xfrm>
              <a:off x="964" y="2790"/>
              <a:ext cx="328" cy="321"/>
            </a:xfrm>
            <a:custGeom>
              <a:avLst/>
              <a:gdLst>
                <a:gd name="T0" fmla="*/ 37 w 328"/>
                <a:gd name="T1" fmla="*/ 231 h 321"/>
                <a:gd name="T2" fmla="*/ 52 w 328"/>
                <a:gd name="T3" fmla="*/ 321 h 321"/>
                <a:gd name="T4" fmla="*/ 164 w 328"/>
                <a:gd name="T5" fmla="*/ 299 h 321"/>
                <a:gd name="T6" fmla="*/ 194 w 328"/>
                <a:gd name="T7" fmla="*/ 261 h 321"/>
                <a:gd name="T8" fmla="*/ 224 w 328"/>
                <a:gd name="T9" fmla="*/ 217 h 321"/>
                <a:gd name="T10" fmla="*/ 246 w 328"/>
                <a:gd name="T11" fmla="*/ 172 h 321"/>
                <a:gd name="T12" fmla="*/ 283 w 328"/>
                <a:gd name="T13" fmla="*/ 112 h 321"/>
                <a:gd name="T14" fmla="*/ 306 w 328"/>
                <a:gd name="T15" fmla="*/ 44 h 321"/>
                <a:gd name="T16" fmla="*/ 313 w 328"/>
                <a:gd name="T17" fmla="*/ 22 h 321"/>
                <a:gd name="T18" fmla="*/ 328 w 328"/>
                <a:gd name="T19" fmla="*/ 0 h 3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8"/>
                <a:gd name="T31" fmla="*/ 0 h 321"/>
                <a:gd name="T32" fmla="*/ 328 w 328"/>
                <a:gd name="T33" fmla="*/ 321 h 3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8" h="321">
                  <a:moveTo>
                    <a:pt x="37" y="231"/>
                  </a:moveTo>
                  <a:cubicBezTo>
                    <a:pt x="25" y="268"/>
                    <a:pt x="0" y="305"/>
                    <a:pt x="52" y="321"/>
                  </a:cubicBezTo>
                  <a:cubicBezTo>
                    <a:pt x="90" y="315"/>
                    <a:pt x="127" y="310"/>
                    <a:pt x="164" y="299"/>
                  </a:cubicBezTo>
                  <a:cubicBezTo>
                    <a:pt x="205" y="271"/>
                    <a:pt x="172" y="300"/>
                    <a:pt x="194" y="261"/>
                  </a:cubicBezTo>
                  <a:cubicBezTo>
                    <a:pt x="203" y="246"/>
                    <a:pt x="224" y="217"/>
                    <a:pt x="224" y="217"/>
                  </a:cubicBezTo>
                  <a:cubicBezTo>
                    <a:pt x="246" y="143"/>
                    <a:pt x="212" y="247"/>
                    <a:pt x="246" y="172"/>
                  </a:cubicBezTo>
                  <a:cubicBezTo>
                    <a:pt x="273" y="113"/>
                    <a:pt x="243" y="139"/>
                    <a:pt x="283" y="112"/>
                  </a:cubicBezTo>
                  <a:cubicBezTo>
                    <a:pt x="291" y="89"/>
                    <a:pt x="298" y="67"/>
                    <a:pt x="306" y="44"/>
                  </a:cubicBezTo>
                  <a:cubicBezTo>
                    <a:pt x="308" y="37"/>
                    <a:pt x="311" y="29"/>
                    <a:pt x="313" y="22"/>
                  </a:cubicBezTo>
                  <a:cubicBezTo>
                    <a:pt x="316" y="14"/>
                    <a:pt x="328" y="0"/>
                    <a:pt x="328"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1" name="Freeform 113"/>
            <p:cNvSpPr>
              <a:spLocks/>
            </p:cNvSpPr>
            <p:nvPr/>
          </p:nvSpPr>
          <p:spPr bwMode="auto">
            <a:xfrm>
              <a:off x="694" y="2101"/>
              <a:ext cx="254" cy="370"/>
            </a:xfrm>
            <a:custGeom>
              <a:avLst/>
              <a:gdLst>
                <a:gd name="T0" fmla="*/ 254 w 254"/>
                <a:gd name="T1" fmla="*/ 322 h 370"/>
                <a:gd name="T2" fmla="*/ 209 w 254"/>
                <a:gd name="T3" fmla="*/ 352 h 370"/>
                <a:gd name="T4" fmla="*/ 164 w 254"/>
                <a:gd name="T5" fmla="*/ 367 h 370"/>
                <a:gd name="T6" fmla="*/ 75 w 254"/>
                <a:gd name="T7" fmla="*/ 352 h 370"/>
                <a:gd name="T8" fmla="*/ 67 w 254"/>
                <a:gd name="T9" fmla="*/ 330 h 370"/>
                <a:gd name="T10" fmla="*/ 30 w 254"/>
                <a:gd name="T11" fmla="*/ 285 h 370"/>
                <a:gd name="T12" fmla="*/ 7 w 254"/>
                <a:gd name="T13" fmla="*/ 135 h 370"/>
                <a:gd name="T14" fmla="*/ 0 w 254"/>
                <a:gd name="T15" fmla="*/ 0 h 370"/>
                <a:gd name="T16" fmla="*/ 0 60000 65536"/>
                <a:gd name="T17" fmla="*/ 0 60000 65536"/>
                <a:gd name="T18" fmla="*/ 0 60000 65536"/>
                <a:gd name="T19" fmla="*/ 0 60000 65536"/>
                <a:gd name="T20" fmla="*/ 0 60000 65536"/>
                <a:gd name="T21" fmla="*/ 0 60000 65536"/>
                <a:gd name="T22" fmla="*/ 0 60000 65536"/>
                <a:gd name="T23" fmla="*/ 0 60000 65536"/>
                <a:gd name="T24" fmla="*/ 0 w 254"/>
                <a:gd name="T25" fmla="*/ 0 h 370"/>
                <a:gd name="T26" fmla="*/ 254 w 254"/>
                <a:gd name="T27" fmla="*/ 370 h 3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4" h="370">
                  <a:moveTo>
                    <a:pt x="254" y="322"/>
                  </a:moveTo>
                  <a:cubicBezTo>
                    <a:pt x="239" y="332"/>
                    <a:pt x="224" y="342"/>
                    <a:pt x="209" y="352"/>
                  </a:cubicBezTo>
                  <a:cubicBezTo>
                    <a:pt x="196" y="361"/>
                    <a:pt x="164" y="367"/>
                    <a:pt x="164" y="367"/>
                  </a:cubicBezTo>
                  <a:cubicBezTo>
                    <a:pt x="134" y="363"/>
                    <a:pt x="99" y="370"/>
                    <a:pt x="75" y="352"/>
                  </a:cubicBezTo>
                  <a:cubicBezTo>
                    <a:pt x="69" y="347"/>
                    <a:pt x="71" y="337"/>
                    <a:pt x="67" y="330"/>
                  </a:cubicBezTo>
                  <a:cubicBezTo>
                    <a:pt x="55" y="307"/>
                    <a:pt x="48" y="303"/>
                    <a:pt x="30" y="285"/>
                  </a:cubicBezTo>
                  <a:cubicBezTo>
                    <a:pt x="22" y="235"/>
                    <a:pt x="16" y="185"/>
                    <a:pt x="7" y="135"/>
                  </a:cubicBezTo>
                  <a:cubicBezTo>
                    <a:pt x="0" y="15"/>
                    <a:pt x="0" y="60"/>
                    <a:pt x="0"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2" name="Rectangle 153"/>
            <p:cNvSpPr>
              <a:spLocks noChangeArrowheads="1"/>
            </p:cNvSpPr>
            <p:nvPr/>
          </p:nvSpPr>
          <p:spPr bwMode="auto">
            <a:xfrm>
              <a:off x="715" y="3475"/>
              <a:ext cx="1543" cy="518"/>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rPr>
                <a:t>插入前</a:t>
              </a:r>
            </a:p>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rPr>
                <a:t>（右子树非空）</a:t>
              </a:r>
            </a:p>
          </p:txBody>
        </p:sp>
      </p:grpSp>
      <p:sp>
        <p:nvSpPr>
          <p:cNvPr id="73" name="Rectangle 154"/>
          <p:cNvSpPr>
            <a:spLocks noChangeArrowheads="1"/>
          </p:cNvSpPr>
          <p:nvPr/>
        </p:nvSpPr>
        <p:spPr bwMode="auto">
          <a:xfrm>
            <a:off x="6608763" y="5867400"/>
            <a:ext cx="1873250" cy="457200"/>
          </a:xfrm>
          <a:prstGeom prst="rect">
            <a:avLst/>
          </a:prstGeom>
          <a:noFill/>
          <a:ln w="12700" cap="rnd" algn="ctr">
            <a:noFill/>
            <a:miter lim="800000"/>
            <a:headEnd/>
            <a:tailEnd/>
          </a:ln>
        </p:spPr>
        <p:txBody>
          <a:bodyPr anchor="ctr">
            <a:spAutoFit/>
          </a:bodyPr>
          <a:lstStyle/>
          <a:p>
            <a:pPr algn="ctr" eaLnBrk="0" fontAlgn="base" hangingPunct="0">
              <a:spcBef>
                <a:spcPct val="0"/>
              </a:spcBef>
              <a:spcAft>
                <a:spcPct val="0"/>
              </a:spcAft>
            </a:pPr>
            <a:r>
              <a:rPr kumimoji="1" lang="zh-CN" altLang="en-US" sz="2400" b="1" dirty="0">
                <a:solidFill>
                  <a:srgbClr val="000000"/>
                </a:solidFill>
                <a:latin typeface="Times New Roman" pitchFamily="18" charset="0"/>
              </a:rPr>
              <a:t>插入后</a:t>
            </a:r>
          </a:p>
        </p:txBody>
      </p:sp>
      <p:sp>
        <p:nvSpPr>
          <p:cNvPr id="74" name="Oval 164"/>
          <p:cNvSpPr>
            <a:spLocks noChangeArrowheads="1"/>
          </p:cNvSpPr>
          <p:nvPr/>
        </p:nvSpPr>
        <p:spPr bwMode="auto">
          <a:xfrm>
            <a:off x="228600" y="1143000"/>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a:solidFill>
                  <a:srgbClr val="000000"/>
                </a:solidFill>
                <a:latin typeface="Times New Roman" pitchFamily="18" charset="0"/>
              </a:rPr>
              <a:t>例</a:t>
            </a:r>
          </a:p>
        </p:txBody>
      </p:sp>
      <p:sp>
        <p:nvSpPr>
          <p:cNvPr id="75" name="Text Box 165"/>
          <p:cNvSpPr txBox="1">
            <a:spLocks noChangeArrowheads="1"/>
          </p:cNvSpPr>
          <p:nvPr/>
        </p:nvSpPr>
        <p:spPr bwMode="auto">
          <a:xfrm>
            <a:off x="211137" y="1635125"/>
            <a:ext cx="8856663" cy="955675"/>
          </a:xfrm>
          <a:prstGeom prst="rect">
            <a:avLst/>
          </a:prstGeom>
          <a:noFill/>
          <a:ln w="9525">
            <a:solidFill>
              <a:srgbClr val="04617B"/>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a:ln>
                  <a:noFill/>
                </a:ln>
                <a:solidFill>
                  <a:srgbClr val="000000"/>
                </a:solidFill>
                <a:effectLst/>
                <a:uLnTx/>
                <a:uFillTx/>
                <a:latin typeface="宋体" pitchFamily="2" charset="-122"/>
              </a:rPr>
              <a:t>(2)</a:t>
            </a:r>
            <a:r>
              <a:rPr kumimoji="1" lang="zh-CN" altLang="en-US" sz="2800" b="1" i="0" u="none" strike="noStrike" kern="0" cap="none" spc="0" normalizeH="0" baseline="0" noProof="0" dirty="0">
                <a:ln>
                  <a:noFill/>
                </a:ln>
                <a:solidFill>
                  <a:srgbClr val="000000"/>
                </a:solidFill>
                <a:effectLst/>
                <a:uLnTx/>
                <a:uFillTx/>
                <a:latin typeface="宋体" pitchFamily="2" charset="-122"/>
              </a:rPr>
              <a:t>若</a:t>
            </a:r>
            <a:r>
              <a:rPr kumimoji="1" lang="en-US" altLang="zh-CN" sz="2800" b="1" i="0" u="none" strike="noStrike" kern="0" cap="none" spc="0" normalizeH="0" baseline="0" noProof="0" dirty="0">
                <a:ln>
                  <a:noFill/>
                </a:ln>
                <a:solidFill>
                  <a:srgbClr val="000000"/>
                </a:solidFill>
                <a:effectLst/>
                <a:uLnTx/>
                <a:uFillTx/>
                <a:latin typeface="宋体" pitchFamily="2" charset="-122"/>
              </a:rPr>
              <a:t>S</a:t>
            </a:r>
            <a:r>
              <a:rPr kumimoji="1" lang="zh-CN" altLang="en-US" sz="2800" b="1" i="0" u="none" strike="noStrike" kern="0" cap="none" spc="0" normalizeH="0" baseline="0" noProof="0" dirty="0">
                <a:ln>
                  <a:noFill/>
                </a:ln>
                <a:solidFill>
                  <a:srgbClr val="000000"/>
                </a:solidFill>
                <a:effectLst/>
                <a:uLnTx/>
                <a:uFillTx/>
                <a:latin typeface="宋体" pitchFamily="2" charset="-122"/>
              </a:rPr>
              <a:t>的右子树非空，则</a:t>
            </a:r>
            <a:r>
              <a:rPr kumimoji="1" lang="en-US" altLang="zh-CN" sz="2800" b="1" i="0" u="none" strike="noStrike" kern="0" cap="none" spc="0" normalizeH="0" baseline="0" noProof="0" dirty="0">
                <a:ln>
                  <a:noFill/>
                </a:ln>
                <a:solidFill>
                  <a:srgbClr val="000000"/>
                </a:solidFill>
                <a:effectLst/>
                <a:uLnTx/>
                <a:uFillTx/>
                <a:latin typeface="宋体" pitchFamily="2" charset="-122"/>
              </a:rPr>
              <a:t>R</a:t>
            </a:r>
            <a:r>
              <a:rPr kumimoji="1" lang="zh-CN" altLang="en-US" sz="2800" b="1" i="0" u="none" strike="noStrike" kern="0" cap="none" spc="0" normalizeH="0" baseline="0" noProof="0" dirty="0">
                <a:ln>
                  <a:noFill/>
                </a:ln>
                <a:solidFill>
                  <a:srgbClr val="000000"/>
                </a:solidFill>
                <a:effectLst/>
                <a:uLnTx/>
                <a:uFillTx/>
                <a:latin typeface="宋体" pitchFamily="2" charset="-122"/>
              </a:rPr>
              <a:t>插入后原来</a:t>
            </a:r>
            <a:r>
              <a:rPr kumimoji="1" lang="en-US" altLang="zh-CN" sz="2800" b="1" i="0" u="none" strike="noStrike" kern="0" cap="none" spc="0" normalizeH="0" baseline="0" noProof="0" dirty="0">
                <a:ln>
                  <a:noFill/>
                </a:ln>
                <a:solidFill>
                  <a:srgbClr val="000000"/>
                </a:solidFill>
                <a:effectLst/>
                <a:uLnTx/>
                <a:uFillTx/>
                <a:latin typeface="宋体" pitchFamily="2" charset="-122"/>
              </a:rPr>
              <a:t>S</a:t>
            </a:r>
            <a:r>
              <a:rPr kumimoji="1" lang="zh-CN" altLang="en-US" sz="2800" b="1" i="0" u="none" strike="noStrike" kern="0" cap="none" spc="0" normalizeH="0" baseline="0" noProof="0" dirty="0">
                <a:ln>
                  <a:noFill/>
                </a:ln>
                <a:solidFill>
                  <a:srgbClr val="000000"/>
                </a:solidFill>
                <a:effectLst/>
                <a:uLnTx/>
                <a:uFillTx/>
                <a:latin typeface="宋体" pitchFamily="2" charset="-122"/>
              </a:rPr>
              <a:t>的右子树作为</a:t>
            </a:r>
            <a:r>
              <a:rPr kumimoji="1" lang="en-US" altLang="zh-CN" sz="2800" b="1" i="0" u="none" strike="noStrike" kern="0" cap="none" spc="0" normalizeH="0" baseline="0" noProof="0" dirty="0">
                <a:ln>
                  <a:noFill/>
                </a:ln>
                <a:solidFill>
                  <a:srgbClr val="000000"/>
                </a:solidFill>
                <a:effectLst/>
                <a:uLnTx/>
                <a:uFillTx/>
                <a:latin typeface="宋体" pitchFamily="2" charset="-122"/>
              </a:rPr>
              <a:t>R</a:t>
            </a:r>
            <a:r>
              <a:rPr kumimoji="1" lang="zh-CN" altLang="en-US" sz="2800" b="1" i="0" u="none" strike="noStrike" kern="0" cap="none" spc="0" normalizeH="0" baseline="0" noProof="0" dirty="0">
                <a:ln>
                  <a:noFill/>
                </a:ln>
                <a:solidFill>
                  <a:srgbClr val="000000"/>
                </a:solidFill>
                <a:effectLst/>
                <a:uLnTx/>
                <a:uFillTx/>
                <a:latin typeface="宋体" pitchFamily="2" charset="-122"/>
              </a:rPr>
              <a:t>的右子树。</a:t>
            </a:r>
            <a:endParaRPr kumimoji="1" lang="en-US" altLang="zh-CN" sz="2800" b="1" i="0" u="none" strike="noStrike" kern="0" cap="none" spc="0" normalizeH="0" baseline="0" noProof="0" dirty="0">
              <a:ln>
                <a:noFill/>
              </a:ln>
              <a:solidFill>
                <a:srgbClr val="000000"/>
              </a:solidFill>
              <a:effectLst/>
              <a:uLnTx/>
              <a:uFillTx/>
              <a:latin typeface="宋体" pitchFamily="2" charset="-122"/>
            </a:endParaRPr>
          </a:p>
        </p:txBody>
      </p:sp>
    </p:spTree>
    <p:extLst>
      <p:ext uri="{BB962C8B-B14F-4D97-AF65-F5344CB8AC3E}">
        <p14:creationId xmlns:p14="http://schemas.microsoft.com/office/powerpoint/2010/main" val="2739709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152F1863-33C8-4E40-BB1A-7F22E5E2078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113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
          <p:cNvSpPr txBox="1">
            <a:spLocks noChangeArrowheads="1"/>
          </p:cNvSpPr>
          <p:nvPr/>
        </p:nvSpPr>
        <p:spPr bwMode="auto">
          <a:xfrm>
            <a:off x="76200" y="1235075"/>
            <a:ext cx="6767513" cy="5265160"/>
          </a:xfrm>
          <a:prstGeom prst="rect">
            <a:avLst/>
          </a:prstGeom>
          <a:noFill/>
          <a:ln w="9525">
            <a:solidFill>
              <a:srgbClr val="0000FF"/>
            </a:solidFill>
            <a:miter lim="800000"/>
            <a:headEnd/>
            <a:tailEnd/>
          </a:ln>
        </p:spPr>
        <p:txBody>
          <a:bodyPr lIns="90000" tIns="46800" rIns="90000" bIns="46800">
            <a:spAutoFit/>
          </a:bodyPr>
          <a:lstStyle/>
          <a:p>
            <a:pPr fontAlgn="base">
              <a:spcBef>
                <a:spcPct val="0"/>
              </a:spcBef>
              <a:spcAft>
                <a:spcPct val="0"/>
              </a:spcAft>
            </a:pPr>
            <a:r>
              <a:rPr kumimoji="1" lang="en-US" altLang="zh-CN" sz="2400" b="1" dirty="0">
                <a:solidFill>
                  <a:srgbClr val="0000FF"/>
                </a:solidFill>
                <a:latin typeface="Times New Roman" pitchFamily="18" charset="0"/>
              </a:rPr>
              <a:t>Void   RINSERT (</a:t>
            </a:r>
            <a:r>
              <a:rPr kumimoji="1" lang="en-US" altLang="zh-CN" sz="2400" b="1" dirty="0" err="1">
                <a:solidFill>
                  <a:srgbClr val="0000FF"/>
                </a:solidFill>
                <a:latin typeface="Times New Roman" pitchFamily="18" charset="0"/>
              </a:rPr>
              <a:t>threadbithptr</a:t>
            </a:r>
            <a:r>
              <a:rPr kumimoji="1" lang="en-US" altLang="zh-CN" sz="2400" b="1" dirty="0">
                <a:solidFill>
                  <a:srgbClr val="0000FF"/>
                </a:solidFill>
                <a:latin typeface="Times New Roman" pitchFamily="18" charset="0"/>
              </a:rPr>
              <a:t>   S , R )</a:t>
            </a:r>
          </a:p>
          <a:p>
            <a:pPr fontAlgn="base">
              <a:spcBef>
                <a:spcPct val="0"/>
              </a:spcBef>
              <a:spcAft>
                <a:spcPct val="0"/>
              </a:spcAft>
            </a:pPr>
            <a:r>
              <a:rPr kumimoji="1" lang="en-US" altLang="zh-CN" sz="2400" b="1" dirty="0">
                <a:solidFill>
                  <a:srgbClr val="0000FF"/>
                </a:solidFill>
                <a:latin typeface="Times New Roman" pitchFamily="18" charset="0"/>
              </a:rPr>
              <a:t>{  if ( S-&gt;</a:t>
            </a:r>
            <a:r>
              <a:rPr kumimoji="1" lang="en-US" altLang="zh-CN" sz="2400" b="1" dirty="0" err="1">
                <a:solidFill>
                  <a:srgbClr val="0000FF"/>
                </a:solidFill>
                <a:latin typeface="Times New Roman" pitchFamily="18" charset="0"/>
              </a:rPr>
              <a:t>rtag</a:t>
            </a:r>
            <a:r>
              <a:rPr kumimoji="1" lang="en-US" altLang="zh-CN" sz="2400" b="1" dirty="0">
                <a:solidFill>
                  <a:srgbClr val="0000FF"/>
                </a:solidFill>
                <a:latin typeface="Times New Roman" pitchFamily="18" charset="0"/>
              </a:rPr>
              <a:t> = 1)            </a:t>
            </a:r>
            <a:r>
              <a:rPr kumimoji="1" lang="en-US" altLang="zh-CN" sz="2400" b="1" dirty="0">
                <a:solidFill>
                  <a:srgbClr val="000000"/>
                </a:solidFill>
                <a:latin typeface="Times New Roman" pitchFamily="18" charset="0"/>
              </a:rPr>
              <a:t>// </a:t>
            </a:r>
            <a:r>
              <a:rPr kumimoji="1" lang="zh-CN" altLang="en-US" sz="2400" b="1" dirty="0">
                <a:solidFill>
                  <a:srgbClr val="000000"/>
                </a:solidFill>
                <a:latin typeface="Times New Roman" pitchFamily="18" charset="0"/>
              </a:rPr>
              <a:t>右子树空</a:t>
            </a:r>
          </a:p>
          <a:p>
            <a:pPr fontAlgn="base">
              <a:spcBef>
                <a:spcPct val="0"/>
              </a:spcBef>
              <a:spcAft>
                <a:spcPct val="0"/>
              </a:spcAft>
            </a:pPr>
            <a:r>
              <a:rPr kumimoji="1" lang="en-US" altLang="zh-CN" sz="2400" b="1" dirty="0">
                <a:solidFill>
                  <a:srgbClr val="0000FF"/>
                </a:solidFill>
                <a:latin typeface="Times New Roman" pitchFamily="18" charset="0"/>
              </a:rPr>
              <a:t>  {   R-&gt;</a:t>
            </a:r>
            <a:r>
              <a:rPr kumimoji="1" lang="en-US" altLang="zh-CN" sz="2400" b="1" dirty="0" err="1">
                <a:solidFill>
                  <a:srgbClr val="0000FF"/>
                </a:solidFill>
                <a:latin typeface="Times New Roman" pitchFamily="18" charset="0"/>
              </a:rPr>
              <a:t>ltag</a:t>
            </a:r>
            <a:r>
              <a:rPr kumimoji="1" lang="en-US" altLang="zh-CN" sz="2400" b="1" dirty="0">
                <a:solidFill>
                  <a:srgbClr val="0000FF"/>
                </a:solidFill>
                <a:latin typeface="Times New Roman" pitchFamily="18" charset="0"/>
              </a:rPr>
              <a:t> = 1;   R-&gt;</a:t>
            </a:r>
            <a:r>
              <a:rPr kumimoji="1" lang="en-US" altLang="zh-CN" sz="2400" b="1" dirty="0" err="1">
                <a:solidFill>
                  <a:srgbClr val="0000FF"/>
                </a:solidFill>
                <a:latin typeface="Times New Roman" pitchFamily="18" charset="0"/>
              </a:rPr>
              <a:t>rtag</a:t>
            </a:r>
            <a:r>
              <a:rPr kumimoji="1" lang="en-US" altLang="zh-CN" sz="2400" b="1" dirty="0">
                <a:solidFill>
                  <a:srgbClr val="0000FF"/>
                </a:solidFill>
                <a:latin typeface="Times New Roman" pitchFamily="18" charset="0"/>
              </a:rPr>
              <a:t> = 1 ;  </a:t>
            </a:r>
          </a:p>
          <a:p>
            <a:pPr fontAlgn="base">
              <a:spcBef>
                <a:spcPct val="0"/>
              </a:spcBef>
              <a:spcAft>
                <a:spcPct val="0"/>
              </a:spcAft>
            </a:pPr>
            <a:r>
              <a:rPr kumimoji="1" lang="en-US" altLang="zh-CN" sz="2400" b="1" dirty="0">
                <a:solidFill>
                  <a:srgbClr val="FF3300"/>
                </a:solidFill>
                <a:latin typeface="Times New Roman" pitchFamily="18" charset="0"/>
              </a:rPr>
              <a:t>       R-&gt;</a:t>
            </a:r>
            <a:r>
              <a:rPr kumimoji="1" lang="en-US" altLang="zh-CN" sz="2400" b="1" dirty="0" err="1">
                <a:solidFill>
                  <a:srgbClr val="FF3300"/>
                </a:solidFill>
                <a:latin typeface="Times New Roman" pitchFamily="18" charset="0"/>
              </a:rPr>
              <a:t>rch</a:t>
            </a:r>
            <a:r>
              <a:rPr kumimoji="1" lang="en-US" altLang="zh-CN" sz="2400" b="1" dirty="0">
                <a:solidFill>
                  <a:srgbClr val="FF3300"/>
                </a:solidFill>
                <a:latin typeface="Times New Roman" pitchFamily="18" charset="0"/>
              </a:rPr>
              <a:t> = S-&gt;</a:t>
            </a:r>
            <a:r>
              <a:rPr kumimoji="1" lang="en-US" altLang="zh-CN" sz="2400" b="1" dirty="0" err="1">
                <a:solidFill>
                  <a:srgbClr val="FF3300"/>
                </a:solidFill>
                <a:latin typeface="Times New Roman" pitchFamily="18" charset="0"/>
              </a:rPr>
              <a:t>rch</a:t>
            </a:r>
            <a:r>
              <a:rPr kumimoji="1" lang="en-US" altLang="zh-CN" sz="2400" b="1" dirty="0">
                <a:solidFill>
                  <a:srgbClr val="FF3300"/>
                </a:solidFill>
                <a:latin typeface="Times New Roman" pitchFamily="18" charset="0"/>
              </a:rPr>
              <a:t> ;</a:t>
            </a:r>
          </a:p>
          <a:p>
            <a:pPr fontAlgn="base">
              <a:spcBef>
                <a:spcPct val="0"/>
              </a:spcBef>
              <a:spcAft>
                <a:spcPct val="0"/>
              </a:spcAft>
            </a:pPr>
            <a:r>
              <a:rPr kumimoji="1" lang="en-US" altLang="zh-CN" sz="2400" b="1" dirty="0">
                <a:solidFill>
                  <a:srgbClr val="FF3300"/>
                </a:solidFill>
                <a:latin typeface="Times New Roman" pitchFamily="18" charset="0"/>
              </a:rPr>
              <a:t>                                 </a:t>
            </a:r>
            <a:r>
              <a:rPr kumimoji="1" lang="en-US" altLang="zh-CN" sz="2400" b="1" dirty="0">
                <a:solidFill>
                  <a:srgbClr val="003300"/>
                </a:solidFill>
                <a:latin typeface="Times New Roman" pitchFamily="18" charset="0"/>
              </a:rPr>
              <a:t>//R</a:t>
            </a:r>
            <a:r>
              <a:rPr kumimoji="1" lang="zh-CN" altLang="en-US" sz="2400" b="1" dirty="0">
                <a:solidFill>
                  <a:srgbClr val="003300"/>
                </a:solidFill>
                <a:latin typeface="Times New Roman" pitchFamily="18" charset="0"/>
              </a:rPr>
              <a:t>的中序后继是原来</a:t>
            </a:r>
            <a:r>
              <a:rPr kumimoji="1" lang="en-US" altLang="zh-CN" sz="2400" b="1" dirty="0">
                <a:solidFill>
                  <a:srgbClr val="003300"/>
                </a:solidFill>
                <a:latin typeface="Times New Roman" pitchFamily="18" charset="0"/>
              </a:rPr>
              <a:t>S</a:t>
            </a:r>
            <a:r>
              <a:rPr kumimoji="1" lang="zh-CN" altLang="en-US" sz="2400" b="1" dirty="0">
                <a:solidFill>
                  <a:srgbClr val="003300"/>
                </a:solidFill>
                <a:latin typeface="Times New Roman" pitchFamily="18" charset="0"/>
              </a:rPr>
              <a:t>的后继</a:t>
            </a:r>
          </a:p>
          <a:p>
            <a:pPr fontAlgn="base">
              <a:spcBef>
                <a:spcPct val="0"/>
              </a:spcBef>
              <a:spcAft>
                <a:spcPct val="0"/>
              </a:spcAft>
            </a:pPr>
            <a:r>
              <a:rPr kumimoji="1" lang="en-US" altLang="zh-CN" sz="2400" b="1" dirty="0">
                <a:solidFill>
                  <a:srgbClr val="0000FF"/>
                </a:solidFill>
                <a:latin typeface="Times New Roman" pitchFamily="18" charset="0"/>
              </a:rPr>
              <a:t>       </a:t>
            </a:r>
            <a:r>
              <a:rPr kumimoji="1" lang="en-US" altLang="zh-CN" sz="2400" b="1" dirty="0">
                <a:solidFill>
                  <a:srgbClr val="F81908"/>
                </a:solidFill>
                <a:latin typeface="Times New Roman" pitchFamily="18" charset="0"/>
              </a:rPr>
              <a:t>R-&gt;</a:t>
            </a:r>
            <a:r>
              <a:rPr kumimoji="1" lang="en-US" altLang="zh-CN" sz="2400" b="1" dirty="0" err="1">
                <a:solidFill>
                  <a:srgbClr val="F81908"/>
                </a:solidFill>
                <a:latin typeface="Times New Roman" pitchFamily="18" charset="0"/>
              </a:rPr>
              <a:t>lch</a:t>
            </a:r>
            <a:r>
              <a:rPr kumimoji="1" lang="en-US" altLang="zh-CN" sz="2400" b="1" dirty="0">
                <a:solidFill>
                  <a:srgbClr val="F81908"/>
                </a:solidFill>
                <a:latin typeface="Times New Roman" pitchFamily="18" charset="0"/>
              </a:rPr>
              <a:t> = S ;</a:t>
            </a:r>
            <a:r>
              <a:rPr kumimoji="1" lang="en-US" altLang="zh-CN" sz="2400" b="1" dirty="0">
                <a:solidFill>
                  <a:srgbClr val="0000FF"/>
                </a:solidFill>
                <a:latin typeface="Times New Roman" pitchFamily="18" charset="0"/>
              </a:rPr>
              <a:t>    </a:t>
            </a:r>
            <a:r>
              <a:rPr kumimoji="1" lang="en-US" altLang="zh-CN" sz="2400" b="1" dirty="0">
                <a:solidFill>
                  <a:srgbClr val="003300"/>
                </a:solidFill>
                <a:latin typeface="Times New Roman" pitchFamily="18" charset="0"/>
              </a:rPr>
              <a:t>//R</a:t>
            </a:r>
            <a:r>
              <a:rPr kumimoji="1" lang="zh-CN" altLang="en-US" sz="2400" b="1" dirty="0">
                <a:solidFill>
                  <a:srgbClr val="003300"/>
                </a:solidFill>
                <a:latin typeface="Times New Roman" pitchFamily="18" charset="0"/>
              </a:rPr>
              <a:t>的中序前驱是</a:t>
            </a:r>
            <a:r>
              <a:rPr kumimoji="1" lang="en-US" altLang="zh-CN" sz="2400" b="1" dirty="0">
                <a:solidFill>
                  <a:srgbClr val="003300"/>
                </a:solidFill>
                <a:latin typeface="Times New Roman" pitchFamily="18" charset="0"/>
              </a:rPr>
              <a:t>S</a:t>
            </a:r>
          </a:p>
          <a:p>
            <a:pPr fontAlgn="base">
              <a:spcBef>
                <a:spcPct val="0"/>
              </a:spcBef>
              <a:spcAft>
                <a:spcPct val="0"/>
              </a:spcAft>
            </a:pPr>
            <a:r>
              <a:rPr kumimoji="1" lang="en-US" altLang="zh-CN" sz="2400" b="1" dirty="0">
                <a:solidFill>
                  <a:srgbClr val="0000FF"/>
                </a:solidFill>
                <a:latin typeface="Times New Roman" pitchFamily="18" charset="0"/>
              </a:rPr>
              <a:t>       </a:t>
            </a:r>
            <a:r>
              <a:rPr kumimoji="1" lang="en-US" altLang="zh-CN" sz="2400" b="1" dirty="0">
                <a:solidFill>
                  <a:srgbClr val="F81908"/>
                </a:solidFill>
                <a:latin typeface="Times New Roman" pitchFamily="18" charset="0"/>
              </a:rPr>
              <a:t>S-&gt;</a:t>
            </a:r>
            <a:r>
              <a:rPr kumimoji="1" lang="en-US" altLang="zh-CN" sz="2400" b="1" dirty="0" err="1">
                <a:solidFill>
                  <a:srgbClr val="F81908"/>
                </a:solidFill>
                <a:latin typeface="Times New Roman" pitchFamily="18" charset="0"/>
              </a:rPr>
              <a:t>rtag</a:t>
            </a:r>
            <a:r>
              <a:rPr kumimoji="1" lang="en-US" altLang="zh-CN" sz="2400" b="1" dirty="0">
                <a:solidFill>
                  <a:srgbClr val="F81908"/>
                </a:solidFill>
                <a:latin typeface="Times New Roman" pitchFamily="18" charset="0"/>
              </a:rPr>
              <a:t> = 0 ;</a:t>
            </a:r>
            <a:r>
              <a:rPr kumimoji="1" lang="en-US" altLang="zh-CN" sz="2400" b="1" dirty="0">
                <a:solidFill>
                  <a:srgbClr val="0000FF"/>
                </a:solidFill>
                <a:latin typeface="Times New Roman" pitchFamily="18" charset="0"/>
              </a:rPr>
              <a:t> //</a:t>
            </a:r>
            <a:r>
              <a:rPr kumimoji="1" lang="zh-CN" altLang="en-US" sz="2400" b="1" dirty="0">
                <a:solidFill>
                  <a:srgbClr val="0000FF"/>
                </a:solidFill>
                <a:latin typeface="Times New Roman" pitchFamily="18" charset="0"/>
              </a:rPr>
              <a:t>修改</a:t>
            </a:r>
            <a:r>
              <a:rPr kumimoji="1" lang="en-US" altLang="zh-CN" sz="2400" b="1" dirty="0">
                <a:solidFill>
                  <a:srgbClr val="0000FF"/>
                </a:solidFill>
                <a:latin typeface="Times New Roman" pitchFamily="18" charset="0"/>
              </a:rPr>
              <a:t>s</a:t>
            </a:r>
            <a:r>
              <a:rPr kumimoji="1" lang="zh-CN" altLang="en-US" sz="2400" b="1" dirty="0">
                <a:solidFill>
                  <a:srgbClr val="0000FF"/>
                </a:solidFill>
                <a:latin typeface="Times New Roman" pitchFamily="18" charset="0"/>
              </a:rPr>
              <a:t>的右标识 </a:t>
            </a:r>
          </a:p>
          <a:p>
            <a:pPr fontAlgn="base">
              <a:spcBef>
                <a:spcPct val="0"/>
              </a:spcBef>
              <a:spcAft>
                <a:spcPct val="0"/>
              </a:spcAft>
            </a:pPr>
            <a:r>
              <a:rPr kumimoji="1" lang="en-US" altLang="zh-CN" sz="2400" b="1" dirty="0">
                <a:solidFill>
                  <a:srgbClr val="0000FF"/>
                </a:solidFill>
                <a:latin typeface="Times New Roman" pitchFamily="18" charset="0"/>
              </a:rPr>
              <a:t>       </a:t>
            </a:r>
            <a:r>
              <a:rPr kumimoji="1" lang="en-US" altLang="zh-CN" sz="2400" b="1" dirty="0">
                <a:solidFill>
                  <a:srgbClr val="F81908"/>
                </a:solidFill>
                <a:latin typeface="Times New Roman" pitchFamily="18" charset="0"/>
              </a:rPr>
              <a:t>S-&gt;</a:t>
            </a:r>
            <a:r>
              <a:rPr kumimoji="1" lang="en-US" altLang="zh-CN" sz="2400" b="1" dirty="0" err="1">
                <a:solidFill>
                  <a:srgbClr val="F81908"/>
                </a:solidFill>
                <a:latin typeface="Times New Roman" pitchFamily="18" charset="0"/>
              </a:rPr>
              <a:t>rch</a:t>
            </a:r>
            <a:r>
              <a:rPr kumimoji="1" lang="en-US" altLang="zh-CN" sz="2400" b="1" dirty="0">
                <a:solidFill>
                  <a:srgbClr val="F81908"/>
                </a:solidFill>
                <a:latin typeface="Times New Roman" pitchFamily="18" charset="0"/>
              </a:rPr>
              <a:t> = R</a:t>
            </a:r>
            <a:r>
              <a:rPr kumimoji="1" lang="en-US" altLang="zh-CN" sz="2400" b="1" dirty="0">
                <a:solidFill>
                  <a:srgbClr val="0000FF"/>
                </a:solidFill>
                <a:latin typeface="Times New Roman" pitchFamily="18" charset="0"/>
              </a:rPr>
              <a:t> ;  </a:t>
            </a:r>
            <a:r>
              <a:rPr kumimoji="1" lang="en-US" altLang="zh-CN" sz="2400" b="1" dirty="0">
                <a:solidFill>
                  <a:srgbClr val="003300"/>
                </a:solidFill>
                <a:latin typeface="Times New Roman" pitchFamily="18" charset="0"/>
              </a:rPr>
              <a:t>//S</a:t>
            </a:r>
            <a:r>
              <a:rPr kumimoji="1" lang="zh-CN" altLang="en-US" sz="2400" b="1" dirty="0">
                <a:solidFill>
                  <a:srgbClr val="003300"/>
                </a:solidFill>
                <a:latin typeface="Times New Roman" pitchFamily="18" charset="0"/>
              </a:rPr>
              <a:t>的右孩子是</a:t>
            </a:r>
            <a:r>
              <a:rPr kumimoji="1" lang="en-US" altLang="zh-CN" sz="2400" b="1" dirty="0">
                <a:solidFill>
                  <a:srgbClr val="003300"/>
                </a:solidFill>
                <a:latin typeface="Times New Roman" pitchFamily="18" charset="0"/>
              </a:rPr>
              <a:t>R</a:t>
            </a:r>
          </a:p>
          <a:p>
            <a:pPr fontAlgn="base">
              <a:spcBef>
                <a:spcPct val="0"/>
              </a:spcBef>
              <a:spcAft>
                <a:spcPct val="0"/>
              </a:spcAft>
            </a:pPr>
            <a:r>
              <a:rPr kumimoji="1" lang="en-US" altLang="zh-CN" sz="2400" b="1" dirty="0">
                <a:solidFill>
                  <a:srgbClr val="0000FF"/>
                </a:solidFill>
                <a:latin typeface="Times New Roman" pitchFamily="18" charset="0"/>
              </a:rPr>
              <a:t>}</a:t>
            </a:r>
          </a:p>
          <a:p>
            <a:pPr fontAlgn="base">
              <a:spcBef>
                <a:spcPct val="0"/>
              </a:spcBef>
              <a:spcAft>
                <a:spcPct val="0"/>
              </a:spcAft>
            </a:pPr>
            <a:r>
              <a:rPr lang="en-US" altLang="zh-CN" sz="2400" b="1" dirty="0">
                <a:solidFill>
                  <a:srgbClr val="0000FF"/>
                </a:solidFill>
                <a:latin typeface="Times New Roman" pitchFamily="18" charset="0"/>
              </a:rPr>
              <a:t>else</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右子树非空</a:t>
            </a:r>
            <a:endParaRPr kumimoji="1" lang="en-US" altLang="zh-CN" sz="2400" b="1" dirty="0">
              <a:solidFill>
                <a:srgbClr val="000000"/>
              </a:solidFill>
              <a:latin typeface="Times New Roman" pitchFamily="18" charset="0"/>
            </a:endParaRPr>
          </a:p>
          <a:p>
            <a:pPr fontAlgn="base">
              <a:spcBef>
                <a:spcPct val="0"/>
              </a:spcBef>
              <a:spcAft>
                <a:spcPct val="0"/>
              </a:spcAft>
            </a:pPr>
            <a:r>
              <a:rPr kumimoji="1" lang="en-US" altLang="zh-CN" sz="2400" b="1" dirty="0">
                <a:solidFill>
                  <a:srgbClr val="FFFF00"/>
                </a:solidFill>
                <a:latin typeface="Times New Roman" pitchFamily="18" charset="0"/>
              </a:rPr>
              <a:t>     </a:t>
            </a:r>
            <a:r>
              <a:rPr kumimoji="1" lang="en-US" altLang="zh-CN" sz="2400" b="1" dirty="0">
                <a:solidFill>
                  <a:srgbClr val="0000FF"/>
                </a:solidFill>
                <a:latin typeface="Times New Roman" pitchFamily="18" charset="0"/>
              </a:rPr>
              <a:t>{  ………….</a:t>
            </a:r>
          </a:p>
          <a:p>
            <a:pPr fontAlgn="base">
              <a:spcBef>
                <a:spcPct val="0"/>
              </a:spcBef>
              <a:spcAft>
                <a:spcPct val="0"/>
              </a:spcAft>
            </a:pPr>
            <a:r>
              <a:rPr kumimoji="1" lang="en-US" altLang="zh-CN" sz="2400" b="1" dirty="0">
                <a:solidFill>
                  <a:srgbClr val="0000FF"/>
                </a:solidFill>
                <a:latin typeface="Times New Roman" pitchFamily="18" charset="0"/>
              </a:rPr>
              <a:t>      w =</a:t>
            </a:r>
            <a:r>
              <a:rPr kumimoji="1" lang="en-US" altLang="zh-CN" sz="2400" b="1" dirty="0">
                <a:solidFill>
                  <a:srgbClr val="FFFF00"/>
                </a:solidFill>
                <a:latin typeface="Times New Roman" pitchFamily="18" charset="0"/>
              </a:rPr>
              <a:t> </a:t>
            </a:r>
            <a:r>
              <a:rPr kumimoji="1" lang="en-US" altLang="zh-CN" sz="2400" b="1" dirty="0" err="1">
                <a:solidFill>
                  <a:srgbClr val="FF3300"/>
                </a:solidFill>
                <a:latin typeface="隶书" pitchFamily="49" charset="-122"/>
                <a:ea typeface="隶书" pitchFamily="49" charset="-122"/>
              </a:rPr>
              <a:t>Inordernext</a:t>
            </a:r>
            <a:r>
              <a:rPr kumimoji="1" lang="en-US" altLang="zh-CN" sz="2400" dirty="0">
                <a:solidFill>
                  <a:srgbClr val="DBF5F9"/>
                </a:solidFill>
                <a:latin typeface="隶书" pitchFamily="49" charset="-122"/>
                <a:ea typeface="隶书" pitchFamily="49" charset="-122"/>
              </a:rPr>
              <a:t> </a:t>
            </a:r>
            <a:r>
              <a:rPr kumimoji="1" lang="en-US" altLang="zh-CN" sz="2400" b="1" dirty="0">
                <a:solidFill>
                  <a:srgbClr val="0000FF"/>
                </a:solidFill>
                <a:latin typeface="Times New Roman" pitchFamily="18" charset="0"/>
              </a:rPr>
              <a:t>( S ) ; //</a:t>
            </a:r>
            <a:r>
              <a:rPr kumimoji="1" lang="zh-CN" altLang="en-US" sz="2400" b="1" dirty="0">
                <a:solidFill>
                  <a:srgbClr val="0000FF"/>
                </a:solidFill>
                <a:latin typeface="Times New Roman" pitchFamily="18" charset="0"/>
              </a:rPr>
              <a:t>找</a:t>
            </a:r>
            <a:r>
              <a:rPr kumimoji="1" lang="en-US" altLang="zh-CN" sz="2400" b="1" dirty="0">
                <a:solidFill>
                  <a:srgbClr val="0000FF"/>
                </a:solidFill>
                <a:latin typeface="Times New Roman" pitchFamily="18" charset="0"/>
              </a:rPr>
              <a:t>S</a:t>
            </a:r>
            <a:r>
              <a:rPr kumimoji="1" lang="zh-CN" altLang="en-US" sz="2400" b="1" dirty="0">
                <a:solidFill>
                  <a:srgbClr val="0000FF"/>
                </a:solidFill>
                <a:latin typeface="Times New Roman" pitchFamily="18" charset="0"/>
              </a:rPr>
              <a:t>的中序后继</a:t>
            </a:r>
            <a:endParaRPr kumimoji="1" lang="en-US" altLang="zh-CN" sz="2400" b="1" dirty="0">
              <a:solidFill>
                <a:srgbClr val="0000FF"/>
              </a:solidFill>
              <a:latin typeface="Times New Roman" pitchFamily="18" charset="0"/>
            </a:endParaRPr>
          </a:p>
          <a:p>
            <a:pPr fontAlgn="base">
              <a:spcBef>
                <a:spcPct val="0"/>
              </a:spcBef>
              <a:spcAft>
                <a:spcPct val="0"/>
              </a:spcAft>
            </a:pPr>
            <a:r>
              <a:rPr kumimoji="1" lang="en-US" altLang="zh-CN" sz="2400" b="1" dirty="0">
                <a:solidFill>
                  <a:srgbClr val="0000FF"/>
                </a:solidFill>
                <a:latin typeface="Times New Roman" pitchFamily="18" charset="0"/>
              </a:rPr>
              <a:t>      </a:t>
            </a:r>
            <a:r>
              <a:rPr kumimoji="1" lang="en-US" altLang="zh-CN" sz="2400" b="1" dirty="0">
                <a:solidFill>
                  <a:srgbClr val="FF3300"/>
                </a:solidFill>
                <a:latin typeface="Times New Roman" pitchFamily="18" charset="0"/>
              </a:rPr>
              <a:t>w-&gt;</a:t>
            </a:r>
            <a:r>
              <a:rPr kumimoji="1" lang="en-US" altLang="zh-CN" sz="2400" b="1" dirty="0" err="1">
                <a:solidFill>
                  <a:srgbClr val="FF3300"/>
                </a:solidFill>
                <a:latin typeface="Times New Roman" pitchFamily="18" charset="0"/>
              </a:rPr>
              <a:t>lch</a:t>
            </a:r>
            <a:r>
              <a:rPr kumimoji="1" lang="en-US" altLang="zh-CN" sz="2400" b="1" dirty="0">
                <a:solidFill>
                  <a:srgbClr val="FF3300"/>
                </a:solidFill>
                <a:latin typeface="Times New Roman" pitchFamily="18" charset="0"/>
              </a:rPr>
              <a:t>=R</a:t>
            </a:r>
            <a:r>
              <a:rPr kumimoji="1" lang="en-US" altLang="zh-CN" sz="2400" dirty="0">
                <a:solidFill>
                  <a:srgbClr val="FF3300"/>
                </a:solidFill>
                <a:latin typeface="隶书" pitchFamily="49" charset="-122"/>
                <a:ea typeface="隶书" pitchFamily="49" charset="-122"/>
              </a:rPr>
              <a:t> </a:t>
            </a:r>
            <a:r>
              <a:rPr kumimoji="1" lang="en-US" altLang="zh-CN" sz="2400" b="1" dirty="0">
                <a:solidFill>
                  <a:srgbClr val="FF3300"/>
                </a:solidFill>
                <a:latin typeface="Times New Roman" pitchFamily="18" charset="0"/>
              </a:rPr>
              <a:t> ;</a:t>
            </a:r>
            <a:r>
              <a:rPr kumimoji="1" lang="en-US" altLang="zh-CN" sz="2400" b="1" dirty="0">
                <a:solidFill>
                  <a:srgbClr val="0000FF"/>
                </a:solidFill>
                <a:latin typeface="Times New Roman" pitchFamily="18" charset="0"/>
              </a:rPr>
              <a:t>       </a:t>
            </a:r>
            <a:r>
              <a:rPr kumimoji="1" lang="en-US" altLang="zh-CN" sz="2400" b="1" dirty="0">
                <a:solidFill>
                  <a:srgbClr val="000000"/>
                </a:solidFill>
                <a:latin typeface="Times New Roman" pitchFamily="18" charset="0"/>
              </a:rPr>
              <a:t>//w</a:t>
            </a:r>
            <a:r>
              <a:rPr kumimoji="1" lang="zh-CN" altLang="en-US" sz="2400" b="1" dirty="0">
                <a:solidFill>
                  <a:srgbClr val="000000"/>
                </a:solidFill>
                <a:latin typeface="Times New Roman" pitchFamily="18" charset="0"/>
              </a:rPr>
              <a:t>的中序前驱是</a:t>
            </a:r>
            <a:r>
              <a:rPr kumimoji="1" lang="en-US" altLang="zh-CN" sz="2400" b="1" dirty="0">
                <a:solidFill>
                  <a:srgbClr val="000000"/>
                </a:solidFill>
                <a:latin typeface="Times New Roman" pitchFamily="18" charset="0"/>
              </a:rPr>
              <a:t>R</a:t>
            </a:r>
            <a:r>
              <a:rPr kumimoji="1" lang="en-US" altLang="zh-CN" sz="2400" b="1" dirty="0">
                <a:solidFill>
                  <a:srgbClr val="0000FF"/>
                </a:solidFill>
                <a:latin typeface="Times New Roman" pitchFamily="18" charset="0"/>
              </a:rPr>
              <a:t>   }</a:t>
            </a:r>
          </a:p>
          <a:p>
            <a:pPr fontAlgn="base">
              <a:spcBef>
                <a:spcPct val="0"/>
              </a:spcBef>
              <a:spcAft>
                <a:spcPct val="0"/>
              </a:spcAft>
            </a:pPr>
            <a:r>
              <a:rPr kumimoji="1" lang="en-US" altLang="zh-CN" sz="2400" b="1" dirty="0">
                <a:solidFill>
                  <a:srgbClr val="0000FF"/>
                </a:solidFill>
                <a:latin typeface="Times New Roman" pitchFamily="18" charset="0"/>
              </a:rPr>
              <a:t>}</a:t>
            </a:r>
          </a:p>
        </p:txBody>
      </p:sp>
      <p:grpSp>
        <p:nvGrpSpPr>
          <p:cNvPr id="14" name="Group 152"/>
          <p:cNvGrpSpPr>
            <a:grpSpLocks/>
          </p:cNvGrpSpPr>
          <p:nvPr/>
        </p:nvGrpSpPr>
        <p:grpSpPr bwMode="auto">
          <a:xfrm>
            <a:off x="6477000" y="3713163"/>
            <a:ext cx="2635250" cy="3028950"/>
            <a:chOff x="3325" y="2180"/>
            <a:chExt cx="1660" cy="1908"/>
          </a:xfrm>
        </p:grpSpPr>
        <p:sp>
          <p:nvSpPr>
            <p:cNvPr id="15" name="Oval 114"/>
            <p:cNvSpPr>
              <a:spLocks noChangeArrowheads="1"/>
            </p:cNvSpPr>
            <p:nvPr/>
          </p:nvSpPr>
          <p:spPr bwMode="auto">
            <a:xfrm>
              <a:off x="3889" y="2180"/>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16" name="Oval 115"/>
            <p:cNvSpPr>
              <a:spLocks noChangeArrowheads="1"/>
            </p:cNvSpPr>
            <p:nvPr/>
          </p:nvSpPr>
          <p:spPr bwMode="auto">
            <a:xfrm>
              <a:off x="3571" y="2494"/>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17" name="Oval 116"/>
            <p:cNvSpPr>
              <a:spLocks noChangeArrowheads="1"/>
            </p:cNvSpPr>
            <p:nvPr/>
          </p:nvSpPr>
          <p:spPr bwMode="auto">
            <a:xfrm>
              <a:off x="3882" y="2808"/>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19" name="Oval 117"/>
            <p:cNvSpPr>
              <a:spLocks noChangeArrowheads="1"/>
            </p:cNvSpPr>
            <p:nvPr/>
          </p:nvSpPr>
          <p:spPr bwMode="auto">
            <a:xfrm>
              <a:off x="3550" y="3038"/>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20" name="Oval 118"/>
            <p:cNvSpPr>
              <a:spLocks noChangeArrowheads="1"/>
            </p:cNvSpPr>
            <p:nvPr/>
          </p:nvSpPr>
          <p:spPr bwMode="auto">
            <a:xfrm>
              <a:off x="4617" y="3702"/>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21" name="Line 119"/>
            <p:cNvSpPr>
              <a:spLocks noChangeShapeType="1"/>
            </p:cNvSpPr>
            <p:nvPr/>
          </p:nvSpPr>
          <p:spPr bwMode="auto">
            <a:xfrm flipH="1">
              <a:off x="3707" y="2313"/>
              <a:ext cx="182" cy="181"/>
            </a:xfrm>
            <a:prstGeom prst="line">
              <a:avLst/>
            </a:pr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2" name="Line 120"/>
            <p:cNvSpPr>
              <a:spLocks noChangeShapeType="1"/>
            </p:cNvSpPr>
            <p:nvPr/>
          </p:nvSpPr>
          <p:spPr bwMode="auto">
            <a:xfrm>
              <a:off x="3732" y="2661"/>
              <a:ext cx="181" cy="182"/>
            </a:xfrm>
            <a:prstGeom prst="line">
              <a:avLst/>
            </a:prstGeom>
            <a:noFill/>
            <a:ln w="1905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 name="Line 121"/>
            <p:cNvSpPr>
              <a:spLocks noChangeShapeType="1"/>
            </p:cNvSpPr>
            <p:nvPr/>
          </p:nvSpPr>
          <p:spPr bwMode="auto">
            <a:xfrm>
              <a:off x="3980" y="2630"/>
              <a:ext cx="0" cy="181"/>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4" name="Rectangle 122"/>
            <p:cNvSpPr>
              <a:spLocks noChangeArrowheads="1"/>
            </p:cNvSpPr>
            <p:nvPr/>
          </p:nvSpPr>
          <p:spPr bwMode="auto">
            <a:xfrm>
              <a:off x="3889" y="2403"/>
              <a:ext cx="205" cy="250"/>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S</a:t>
              </a:r>
            </a:p>
          </p:txBody>
        </p:sp>
        <p:sp>
          <p:nvSpPr>
            <p:cNvPr id="25" name="Line 123"/>
            <p:cNvSpPr>
              <a:spLocks noChangeShapeType="1"/>
            </p:cNvSpPr>
            <p:nvPr/>
          </p:nvSpPr>
          <p:spPr bwMode="auto">
            <a:xfrm flipH="1">
              <a:off x="3739" y="2948"/>
              <a:ext cx="181" cy="136"/>
            </a:xfrm>
            <a:prstGeom prst="line">
              <a:avLst/>
            </a:prstGeom>
            <a:noFill/>
            <a:ln w="19050">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Freeform 124"/>
            <p:cNvSpPr>
              <a:spLocks/>
            </p:cNvSpPr>
            <p:nvPr/>
          </p:nvSpPr>
          <p:spPr bwMode="auto">
            <a:xfrm>
              <a:off x="3452" y="2647"/>
              <a:ext cx="186" cy="416"/>
            </a:xfrm>
            <a:custGeom>
              <a:avLst/>
              <a:gdLst>
                <a:gd name="T0" fmla="*/ 139 w 186"/>
                <a:gd name="T1" fmla="*/ 19 h 584"/>
                <a:gd name="T2" fmla="*/ 37 w 186"/>
                <a:gd name="T3" fmla="*/ 19 h 584"/>
                <a:gd name="T4" fmla="*/ 0 w 186"/>
                <a:gd name="T5" fmla="*/ 17 h 584"/>
                <a:gd name="T6" fmla="*/ 51 w 186"/>
                <a:gd name="T7" fmla="*/ 10 h 584"/>
                <a:gd name="T8" fmla="*/ 88 w 186"/>
                <a:gd name="T9" fmla="*/ 8 h 584"/>
                <a:gd name="T10" fmla="*/ 80 w 186"/>
                <a:gd name="T11" fmla="*/ 7 h 584"/>
                <a:gd name="T12" fmla="*/ 110 w 186"/>
                <a:gd name="T13" fmla="*/ 6 h 584"/>
                <a:gd name="T14" fmla="*/ 146 w 186"/>
                <a:gd name="T15" fmla="*/ 4 h 584"/>
                <a:gd name="T16" fmla="*/ 168 w 186"/>
                <a:gd name="T17" fmla="*/ 1 h 584"/>
                <a:gd name="T18" fmla="*/ 183 w 186"/>
                <a:gd name="T19" fmla="*/ 0 h 5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6"/>
                <a:gd name="T31" fmla="*/ 0 h 584"/>
                <a:gd name="T32" fmla="*/ 186 w 186"/>
                <a:gd name="T33" fmla="*/ 584 h 58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6" h="584">
                  <a:moveTo>
                    <a:pt x="139" y="568"/>
                  </a:moveTo>
                  <a:cubicBezTo>
                    <a:pt x="96" y="584"/>
                    <a:pt x="90" y="582"/>
                    <a:pt x="37" y="576"/>
                  </a:cubicBezTo>
                  <a:cubicBezTo>
                    <a:pt x="28" y="552"/>
                    <a:pt x="0" y="510"/>
                    <a:pt x="0" y="510"/>
                  </a:cubicBezTo>
                  <a:cubicBezTo>
                    <a:pt x="9" y="440"/>
                    <a:pt x="28" y="367"/>
                    <a:pt x="51" y="299"/>
                  </a:cubicBezTo>
                  <a:cubicBezTo>
                    <a:pt x="59" y="275"/>
                    <a:pt x="88" y="233"/>
                    <a:pt x="88" y="233"/>
                  </a:cubicBezTo>
                  <a:cubicBezTo>
                    <a:pt x="85" y="226"/>
                    <a:pt x="78" y="218"/>
                    <a:pt x="80" y="211"/>
                  </a:cubicBezTo>
                  <a:cubicBezTo>
                    <a:pt x="86" y="194"/>
                    <a:pt x="110" y="167"/>
                    <a:pt x="110" y="167"/>
                  </a:cubicBezTo>
                  <a:cubicBezTo>
                    <a:pt x="118" y="141"/>
                    <a:pt x="135" y="126"/>
                    <a:pt x="146" y="102"/>
                  </a:cubicBezTo>
                  <a:cubicBezTo>
                    <a:pt x="156" y="81"/>
                    <a:pt x="158" y="56"/>
                    <a:pt x="168" y="36"/>
                  </a:cubicBezTo>
                  <a:cubicBezTo>
                    <a:pt x="186" y="1"/>
                    <a:pt x="183" y="28"/>
                    <a:pt x="183"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7" name="Line 125"/>
            <p:cNvSpPr>
              <a:spLocks noChangeShapeType="1"/>
            </p:cNvSpPr>
            <p:nvPr/>
          </p:nvSpPr>
          <p:spPr bwMode="auto">
            <a:xfrm>
              <a:off x="4243" y="2867"/>
              <a:ext cx="0" cy="272"/>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Rectangle 126"/>
            <p:cNvSpPr>
              <a:spLocks noChangeArrowheads="1"/>
            </p:cNvSpPr>
            <p:nvPr/>
          </p:nvSpPr>
          <p:spPr bwMode="auto">
            <a:xfrm>
              <a:off x="4118" y="2614"/>
              <a:ext cx="232" cy="250"/>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R</a:t>
              </a:r>
            </a:p>
          </p:txBody>
        </p:sp>
        <p:sp>
          <p:nvSpPr>
            <p:cNvPr id="29" name="Oval 127"/>
            <p:cNvSpPr>
              <a:spLocks noChangeArrowheads="1"/>
            </p:cNvSpPr>
            <p:nvPr/>
          </p:nvSpPr>
          <p:spPr bwMode="auto">
            <a:xfrm>
              <a:off x="4108" y="3171"/>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0" name="Oval 130"/>
            <p:cNvSpPr>
              <a:spLocks noChangeArrowheads="1"/>
            </p:cNvSpPr>
            <p:nvPr/>
          </p:nvSpPr>
          <p:spPr bwMode="auto">
            <a:xfrm>
              <a:off x="4335" y="3443"/>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1" name="Line 131"/>
            <p:cNvSpPr>
              <a:spLocks noChangeShapeType="1"/>
            </p:cNvSpPr>
            <p:nvPr/>
          </p:nvSpPr>
          <p:spPr bwMode="auto">
            <a:xfrm>
              <a:off x="4018" y="2972"/>
              <a:ext cx="181" cy="199"/>
            </a:xfrm>
            <a:prstGeom prst="line">
              <a:avLst/>
            </a:prstGeom>
            <a:noFill/>
            <a:ln w="25400" cap="rnd">
              <a:solidFill>
                <a:srgbClr val="FF00FF"/>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2" name="Line 132"/>
            <p:cNvSpPr>
              <a:spLocks noChangeShapeType="1"/>
            </p:cNvSpPr>
            <p:nvPr/>
          </p:nvSpPr>
          <p:spPr bwMode="auto">
            <a:xfrm>
              <a:off x="4291" y="3307"/>
              <a:ext cx="135" cy="136"/>
            </a:xfrm>
            <a:prstGeom prst="line">
              <a:avLst/>
            </a:prstGeom>
            <a:noFill/>
            <a:ln w="25400" cap="rnd">
              <a:solidFill>
                <a:srgbClr val="FF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3" name="Freeform 137"/>
            <p:cNvSpPr>
              <a:spLocks/>
            </p:cNvSpPr>
            <p:nvPr/>
          </p:nvSpPr>
          <p:spPr bwMode="auto">
            <a:xfrm>
              <a:off x="3595" y="2992"/>
              <a:ext cx="328" cy="416"/>
            </a:xfrm>
            <a:custGeom>
              <a:avLst/>
              <a:gdLst>
                <a:gd name="T0" fmla="*/ 37 w 328"/>
                <a:gd name="T1" fmla="*/ 3087 h 321"/>
                <a:gd name="T2" fmla="*/ 52 w 328"/>
                <a:gd name="T3" fmla="*/ 4290 h 321"/>
                <a:gd name="T4" fmla="*/ 164 w 328"/>
                <a:gd name="T5" fmla="*/ 4001 h 321"/>
                <a:gd name="T6" fmla="*/ 194 w 328"/>
                <a:gd name="T7" fmla="*/ 3486 h 321"/>
                <a:gd name="T8" fmla="*/ 224 w 328"/>
                <a:gd name="T9" fmla="*/ 2899 h 321"/>
                <a:gd name="T10" fmla="*/ 246 w 328"/>
                <a:gd name="T11" fmla="*/ 2300 h 321"/>
                <a:gd name="T12" fmla="*/ 283 w 328"/>
                <a:gd name="T13" fmla="*/ 1498 h 321"/>
                <a:gd name="T14" fmla="*/ 306 w 328"/>
                <a:gd name="T15" fmla="*/ 590 h 321"/>
                <a:gd name="T16" fmla="*/ 313 w 328"/>
                <a:gd name="T17" fmla="*/ 305 h 321"/>
                <a:gd name="T18" fmla="*/ 328 w 328"/>
                <a:gd name="T19" fmla="*/ 0 h 3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8"/>
                <a:gd name="T31" fmla="*/ 0 h 321"/>
                <a:gd name="T32" fmla="*/ 328 w 328"/>
                <a:gd name="T33" fmla="*/ 321 h 3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8" h="321">
                  <a:moveTo>
                    <a:pt x="37" y="231"/>
                  </a:moveTo>
                  <a:cubicBezTo>
                    <a:pt x="25" y="268"/>
                    <a:pt x="0" y="305"/>
                    <a:pt x="52" y="321"/>
                  </a:cubicBezTo>
                  <a:cubicBezTo>
                    <a:pt x="90" y="315"/>
                    <a:pt x="127" y="310"/>
                    <a:pt x="164" y="299"/>
                  </a:cubicBezTo>
                  <a:cubicBezTo>
                    <a:pt x="205" y="271"/>
                    <a:pt x="172" y="300"/>
                    <a:pt x="194" y="261"/>
                  </a:cubicBezTo>
                  <a:cubicBezTo>
                    <a:pt x="203" y="246"/>
                    <a:pt x="224" y="217"/>
                    <a:pt x="224" y="217"/>
                  </a:cubicBezTo>
                  <a:cubicBezTo>
                    <a:pt x="246" y="143"/>
                    <a:pt x="212" y="247"/>
                    <a:pt x="246" y="172"/>
                  </a:cubicBezTo>
                  <a:cubicBezTo>
                    <a:pt x="273" y="113"/>
                    <a:pt x="243" y="139"/>
                    <a:pt x="283" y="112"/>
                  </a:cubicBezTo>
                  <a:cubicBezTo>
                    <a:pt x="291" y="89"/>
                    <a:pt x="298" y="67"/>
                    <a:pt x="306" y="44"/>
                  </a:cubicBezTo>
                  <a:cubicBezTo>
                    <a:pt x="308" y="37"/>
                    <a:pt x="311" y="29"/>
                    <a:pt x="313" y="22"/>
                  </a:cubicBezTo>
                  <a:cubicBezTo>
                    <a:pt x="316" y="14"/>
                    <a:pt x="328" y="0"/>
                    <a:pt x="328"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4" name="Freeform 138"/>
            <p:cNvSpPr>
              <a:spLocks/>
            </p:cNvSpPr>
            <p:nvPr/>
          </p:nvSpPr>
          <p:spPr bwMode="auto">
            <a:xfrm>
              <a:off x="3325" y="2303"/>
              <a:ext cx="254" cy="416"/>
            </a:xfrm>
            <a:custGeom>
              <a:avLst/>
              <a:gdLst>
                <a:gd name="T0" fmla="*/ 254 w 254"/>
                <a:gd name="T1" fmla="*/ 1040 h 370"/>
                <a:gd name="T2" fmla="*/ 209 w 254"/>
                <a:gd name="T3" fmla="*/ 1136 h 370"/>
                <a:gd name="T4" fmla="*/ 164 w 254"/>
                <a:gd name="T5" fmla="*/ 1186 h 370"/>
                <a:gd name="T6" fmla="*/ 75 w 254"/>
                <a:gd name="T7" fmla="*/ 1136 h 370"/>
                <a:gd name="T8" fmla="*/ 67 w 254"/>
                <a:gd name="T9" fmla="*/ 1066 h 370"/>
                <a:gd name="T10" fmla="*/ 30 w 254"/>
                <a:gd name="T11" fmla="*/ 922 h 370"/>
                <a:gd name="T12" fmla="*/ 7 w 254"/>
                <a:gd name="T13" fmla="*/ 436 h 370"/>
                <a:gd name="T14" fmla="*/ 0 w 254"/>
                <a:gd name="T15" fmla="*/ 0 h 370"/>
                <a:gd name="T16" fmla="*/ 0 60000 65536"/>
                <a:gd name="T17" fmla="*/ 0 60000 65536"/>
                <a:gd name="T18" fmla="*/ 0 60000 65536"/>
                <a:gd name="T19" fmla="*/ 0 60000 65536"/>
                <a:gd name="T20" fmla="*/ 0 60000 65536"/>
                <a:gd name="T21" fmla="*/ 0 60000 65536"/>
                <a:gd name="T22" fmla="*/ 0 60000 65536"/>
                <a:gd name="T23" fmla="*/ 0 60000 65536"/>
                <a:gd name="T24" fmla="*/ 0 w 254"/>
                <a:gd name="T25" fmla="*/ 0 h 370"/>
                <a:gd name="T26" fmla="*/ 254 w 254"/>
                <a:gd name="T27" fmla="*/ 370 h 3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4" h="370">
                  <a:moveTo>
                    <a:pt x="254" y="322"/>
                  </a:moveTo>
                  <a:cubicBezTo>
                    <a:pt x="239" y="332"/>
                    <a:pt x="224" y="342"/>
                    <a:pt x="209" y="352"/>
                  </a:cubicBezTo>
                  <a:cubicBezTo>
                    <a:pt x="196" y="361"/>
                    <a:pt x="164" y="367"/>
                    <a:pt x="164" y="367"/>
                  </a:cubicBezTo>
                  <a:cubicBezTo>
                    <a:pt x="134" y="363"/>
                    <a:pt x="99" y="370"/>
                    <a:pt x="75" y="352"/>
                  </a:cubicBezTo>
                  <a:cubicBezTo>
                    <a:pt x="69" y="347"/>
                    <a:pt x="71" y="337"/>
                    <a:pt x="67" y="330"/>
                  </a:cubicBezTo>
                  <a:cubicBezTo>
                    <a:pt x="55" y="307"/>
                    <a:pt x="48" y="303"/>
                    <a:pt x="30" y="285"/>
                  </a:cubicBezTo>
                  <a:cubicBezTo>
                    <a:pt x="22" y="235"/>
                    <a:pt x="16" y="185"/>
                    <a:pt x="7" y="135"/>
                  </a:cubicBezTo>
                  <a:cubicBezTo>
                    <a:pt x="0" y="15"/>
                    <a:pt x="0" y="60"/>
                    <a:pt x="0"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5" name="Line 139"/>
            <p:cNvSpPr>
              <a:spLocks noChangeShapeType="1"/>
            </p:cNvSpPr>
            <p:nvPr/>
          </p:nvSpPr>
          <p:spPr bwMode="auto">
            <a:xfrm>
              <a:off x="4526" y="3566"/>
              <a:ext cx="136" cy="136"/>
            </a:xfrm>
            <a:prstGeom prst="line">
              <a:avLst/>
            </a:prstGeom>
            <a:noFill/>
            <a:ln w="1905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6" name="Freeform 140"/>
            <p:cNvSpPr>
              <a:spLocks/>
            </p:cNvSpPr>
            <p:nvPr/>
          </p:nvSpPr>
          <p:spPr bwMode="auto">
            <a:xfrm>
              <a:off x="4077" y="2304"/>
              <a:ext cx="908" cy="416"/>
            </a:xfrm>
            <a:custGeom>
              <a:avLst/>
              <a:gdLst>
                <a:gd name="T0" fmla="*/ 703 w 908"/>
                <a:gd name="T1" fmla="*/ 0 h 1608"/>
                <a:gd name="T2" fmla="*/ 755 w 908"/>
                <a:gd name="T3" fmla="*/ 0 h 1608"/>
                <a:gd name="T4" fmla="*/ 853 w 908"/>
                <a:gd name="T5" fmla="*/ 0 h 1608"/>
                <a:gd name="T6" fmla="*/ 875 w 908"/>
                <a:gd name="T7" fmla="*/ 0 h 1608"/>
                <a:gd name="T8" fmla="*/ 898 w 908"/>
                <a:gd name="T9" fmla="*/ 0 h 1608"/>
                <a:gd name="T10" fmla="*/ 763 w 908"/>
                <a:gd name="T11" fmla="*/ 0 h 1608"/>
                <a:gd name="T12" fmla="*/ 711 w 908"/>
                <a:gd name="T13" fmla="*/ 0 h 1608"/>
                <a:gd name="T14" fmla="*/ 696 w 908"/>
                <a:gd name="T15" fmla="*/ 0 h 1608"/>
                <a:gd name="T16" fmla="*/ 688 w 908"/>
                <a:gd name="T17" fmla="*/ 0 h 1608"/>
                <a:gd name="T18" fmla="*/ 576 w 908"/>
                <a:gd name="T19" fmla="*/ 0 h 1608"/>
                <a:gd name="T20" fmla="*/ 501 w 908"/>
                <a:gd name="T21" fmla="*/ 0 h 1608"/>
                <a:gd name="T22" fmla="*/ 456 w 908"/>
                <a:gd name="T23" fmla="*/ 0 h 1608"/>
                <a:gd name="T24" fmla="*/ 396 w 908"/>
                <a:gd name="T25" fmla="*/ 0 h 1608"/>
                <a:gd name="T26" fmla="*/ 351 w 908"/>
                <a:gd name="T27" fmla="*/ 0 h 1608"/>
                <a:gd name="T28" fmla="*/ 314 w 908"/>
                <a:gd name="T29" fmla="*/ 0 h 1608"/>
                <a:gd name="T30" fmla="*/ 307 w 908"/>
                <a:gd name="T31" fmla="*/ 0 h 1608"/>
                <a:gd name="T32" fmla="*/ 277 w 908"/>
                <a:gd name="T33" fmla="*/ 0 h 1608"/>
                <a:gd name="T34" fmla="*/ 202 w 908"/>
                <a:gd name="T35" fmla="*/ 0 h 1608"/>
                <a:gd name="T36" fmla="*/ 157 w 908"/>
                <a:gd name="T37" fmla="*/ 0 h 1608"/>
                <a:gd name="T38" fmla="*/ 0 w 908"/>
                <a:gd name="T39" fmla="*/ 0 h 16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08"/>
                <a:gd name="T61" fmla="*/ 0 h 1608"/>
                <a:gd name="T62" fmla="*/ 908 w 908"/>
                <a:gd name="T63" fmla="*/ 1608 h 16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08" h="1608">
                  <a:moveTo>
                    <a:pt x="703" y="1556"/>
                  </a:moveTo>
                  <a:cubicBezTo>
                    <a:pt x="713" y="1592"/>
                    <a:pt x="720" y="1597"/>
                    <a:pt x="755" y="1608"/>
                  </a:cubicBezTo>
                  <a:cubicBezTo>
                    <a:pt x="796" y="1600"/>
                    <a:pt x="822" y="1600"/>
                    <a:pt x="853" y="1571"/>
                  </a:cubicBezTo>
                  <a:cubicBezTo>
                    <a:pt x="861" y="1544"/>
                    <a:pt x="863" y="1514"/>
                    <a:pt x="875" y="1489"/>
                  </a:cubicBezTo>
                  <a:cubicBezTo>
                    <a:pt x="908" y="1421"/>
                    <a:pt x="875" y="1507"/>
                    <a:pt x="898" y="1444"/>
                  </a:cubicBezTo>
                  <a:cubicBezTo>
                    <a:pt x="880" y="1306"/>
                    <a:pt x="902" y="1067"/>
                    <a:pt x="763" y="972"/>
                  </a:cubicBezTo>
                  <a:cubicBezTo>
                    <a:pt x="751" y="939"/>
                    <a:pt x="743" y="930"/>
                    <a:pt x="711" y="913"/>
                  </a:cubicBezTo>
                  <a:cubicBezTo>
                    <a:pt x="706" y="905"/>
                    <a:pt x="700" y="898"/>
                    <a:pt x="696" y="890"/>
                  </a:cubicBezTo>
                  <a:cubicBezTo>
                    <a:pt x="692" y="881"/>
                    <a:pt x="693" y="869"/>
                    <a:pt x="688" y="860"/>
                  </a:cubicBezTo>
                  <a:cubicBezTo>
                    <a:pt x="662" y="809"/>
                    <a:pt x="621" y="772"/>
                    <a:pt x="576" y="741"/>
                  </a:cubicBezTo>
                  <a:cubicBezTo>
                    <a:pt x="556" y="711"/>
                    <a:pt x="531" y="678"/>
                    <a:pt x="501" y="658"/>
                  </a:cubicBezTo>
                  <a:cubicBezTo>
                    <a:pt x="491" y="628"/>
                    <a:pt x="483" y="615"/>
                    <a:pt x="456" y="598"/>
                  </a:cubicBezTo>
                  <a:cubicBezTo>
                    <a:pt x="432" y="552"/>
                    <a:pt x="424" y="499"/>
                    <a:pt x="396" y="456"/>
                  </a:cubicBezTo>
                  <a:cubicBezTo>
                    <a:pt x="382" y="413"/>
                    <a:pt x="365" y="372"/>
                    <a:pt x="351" y="329"/>
                  </a:cubicBezTo>
                  <a:cubicBezTo>
                    <a:pt x="339" y="294"/>
                    <a:pt x="335" y="263"/>
                    <a:pt x="314" y="232"/>
                  </a:cubicBezTo>
                  <a:cubicBezTo>
                    <a:pt x="312" y="219"/>
                    <a:pt x="312" y="206"/>
                    <a:pt x="307" y="194"/>
                  </a:cubicBezTo>
                  <a:cubicBezTo>
                    <a:pt x="300" y="178"/>
                    <a:pt x="277" y="150"/>
                    <a:pt x="277" y="150"/>
                  </a:cubicBezTo>
                  <a:cubicBezTo>
                    <a:pt x="267" y="114"/>
                    <a:pt x="239" y="87"/>
                    <a:pt x="202" y="75"/>
                  </a:cubicBezTo>
                  <a:cubicBezTo>
                    <a:pt x="187" y="70"/>
                    <a:pt x="157" y="60"/>
                    <a:pt x="157" y="60"/>
                  </a:cubicBezTo>
                  <a:cubicBezTo>
                    <a:pt x="110" y="28"/>
                    <a:pt x="51" y="24"/>
                    <a:pt x="0"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7" name="Freeform 141"/>
            <p:cNvSpPr>
              <a:spLocks/>
            </p:cNvSpPr>
            <p:nvPr/>
          </p:nvSpPr>
          <p:spPr bwMode="auto">
            <a:xfrm>
              <a:off x="4464" y="3616"/>
              <a:ext cx="219" cy="416"/>
            </a:xfrm>
            <a:custGeom>
              <a:avLst/>
              <a:gdLst>
                <a:gd name="T0" fmla="*/ 219 w 219"/>
                <a:gd name="T1" fmla="*/ 2384 h 334"/>
                <a:gd name="T2" fmla="*/ 137 w 219"/>
                <a:gd name="T3" fmla="*/ 2999 h 334"/>
                <a:gd name="T4" fmla="*/ 54 w 219"/>
                <a:gd name="T5" fmla="*/ 2734 h 334"/>
                <a:gd name="T6" fmla="*/ 17 w 219"/>
                <a:gd name="T7" fmla="*/ 1182 h 334"/>
                <a:gd name="T8" fmla="*/ 9 w 219"/>
                <a:gd name="T9" fmla="*/ 40 h 334"/>
                <a:gd name="T10" fmla="*/ 0 60000 65536"/>
                <a:gd name="T11" fmla="*/ 0 60000 65536"/>
                <a:gd name="T12" fmla="*/ 0 60000 65536"/>
                <a:gd name="T13" fmla="*/ 0 60000 65536"/>
                <a:gd name="T14" fmla="*/ 0 60000 65536"/>
                <a:gd name="T15" fmla="*/ 0 w 219"/>
                <a:gd name="T16" fmla="*/ 0 h 334"/>
                <a:gd name="T17" fmla="*/ 219 w 219"/>
                <a:gd name="T18" fmla="*/ 334 h 334"/>
              </a:gdLst>
              <a:ahLst/>
              <a:cxnLst>
                <a:cxn ang="T10">
                  <a:pos x="T0" y="T1"/>
                </a:cxn>
                <a:cxn ang="T11">
                  <a:pos x="T2" y="T3"/>
                </a:cxn>
                <a:cxn ang="T12">
                  <a:pos x="T4" y="T5"/>
                </a:cxn>
                <a:cxn ang="T13">
                  <a:pos x="T6" y="T7"/>
                </a:cxn>
                <a:cxn ang="T14">
                  <a:pos x="T8" y="T9"/>
                </a:cxn>
              </a:cxnLst>
              <a:rect l="T15" t="T16" r="T17" b="T18"/>
              <a:pathLst>
                <a:path w="219" h="334">
                  <a:moveTo>
                    <a:pt x="219" y="266"/>
                  </a:moveTo>
                  <a:cubicBezTo>
                    <a:pt x="195" y="302"/>
                    <a:pt x="171" y="311"/>
                    <a:pt x="137" y="334"/>
                  </a:cubicBezTo>
                  <a:cubicBezTo>
                    <a:pt x="103" y="327"/>
                    <a:pt x="83" y="323"/>
                    <a:pt x="54" y="304"/>
                  </a:cubicBezTo>
                  <a:cubicBezTo>
                    <a:pt x="0" y="223"/>
                    <a:pt x="27" y="280"/>
                    <a:pt x="17" y="132"/>
                  </a:cubicBezTo>
                  <a:cubicBezTo>
                    <a:pt x="8" y="0"/>
                    <a:pt x="9" y="74"/>
                    <a:pt x="9" y="5"/>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8" name="Oval 143"/>
            <p:cNvSpPr>
              <a:spLocks noChangeArrowheads="1"/>
            </p:cNvSpPr>
            <p:nvPr/>
          </p:nvSpPr>
          <p:spPr bwMode="auto">
            <a:xfrm>
              <a:off x="4104" y="3758"/>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39" name="Freeform 146"/>
            <p:cNvSpPr>
              <a:spLocks/>
            </p:cNvSpPr>
            <p:nvPr/>
          </p:nvSpPr>
          <p:spPr bwMode="auto">
            <a:xfrm>
              <a:off x="4205" y="3612"/>
              <a:ext cx="230" cy="416"/>
            </a:xfrm>
            <a:custGeom>
              <a:avLst/>
              <a:gdLst>
                <a:gd name="T0" fmla="*/ 0 w 337"/>
                <a:gd name="T1" fmla="*/ 8931 h 329"/>
                <a:gd name="T2" fmla="*/ 1 w 337"/>
                <a:gd name="T3" fmla="*/ 12249 h 329"/>
                <a:gd name="T4" fmla="*/ 1 w 337"/>
                <a:gd name="T5" fmla="*/ 11438 h 329"/>
                <a:gd name="T6" fmla="*/ 1 w 337"/>
                <a:gd name="T7" fmla="*/ 9182 h 329"/>
                <a:gd name="T8" fmla="*/ 1 w 337"/>
                <a:gd name="T9" fmla="*/ 6154 h 329"/>
                <a:gd name="T10" fmla="*/ 1 w 337"/>
                <a:gd name="T11" fmla="*/ 3602 h 329"/>
                <a:gd name="T12" fmla="*/ 1 w 337"/>
                <a:gd name="T13" fmla="*/ 0 h 329"/>
                <a:gd name="T14" fmla="*/ 0 60000 65536"/>
                <a:gd name="T15" fmla="*/ 0 60000 65536"/>
                <a:gd name="T16" fmla="*/ 0 60000 65536"/>
                <a:gd name="T17" fmla="*/ 0 60000 65536"/>
                <a:gd name="T18" fmla="*/ 0 60000 65536"/>
                <a:gd name="T19" fmla="*/ 0 60000 65536"/>
                <a:gd name="T20" fmla="*/ 0 60000 65536"/>
                <a:gd name="T21" fmla="*/ 0 w 337"/>
                <a:gd name="T22" fmla="*/ 0 h 329"/>
                <a:gd name="T23" fmla="*/ 337 w 337"/>
                <a:gd name="T24" fmla="*/ 329 h 3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 h="329">
                  <a:moveTo>
                    <a:pt x="0" y="240"/>
                  </a:moveTo>
                  <a:cubicBezTo>
                    <a:pt x="9" y="280"/>
                    <a:pt x="10" y="316"/>
                    <a:pt x="53" y="329"/>
                  </a:cubicBezTo>
                  <a:cubicBezTo>
                    <a:pt x="85" y="319"/>
                    <a:pt x="118" y="317"/>
                    <a:pt x="150" y="307"/>
                  </a:cubicBezTo>
                  <a:cubicBezTo>
                    <a:pt x="185" y="255"/>
                    <a:pt x="165" y="272"/>
                    <a:pt x="202" y="247"/>
                  </a:cubicBezTo>
                  <a:cubicBezTo>
                    <a:pt x="227" y="209"/>
                    <a:pt x="240" y="190"/>
                    <a:pt x="277" y="165"/>
                  </a:cubicBezTo>
                  <a:cubicBezTo>
                    <a:pt x="292" y="142"/>
                    <a:pt x="300" y="120"/>
                    <a:pt x="315" y="97"/>
                  </a:cubicBezTo>
                  <a:cubicBezTo>
                    <a:pt x="325" y="64"/>
                    <a:pt x="337" y="35"/>
                    <a:pt x="337"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0" name="Freeform 147"/>
            <p:cNvSpPr>
              <a:spLocks/>
            </p:cNvSpPr>
            <p:nvPr/>
          </p:nvSpPr>
          <p:spPr bwMode="auto">
            <a:xfrm>
              <a:off x="4041" y="3339"/>
              <a:ext cx="168" cy="420"/>
            </a:xfrm>
            <a:custGeom>
              <a:avLst/>
              <a:gdLst>
                <a:gd name="T0" fmla="*/ 1 w 277"/>
                <a:gd name="T1" fmla="*/ 19 h 606"/>
                <a:gd name="T2" fmla="*/ 1 w 277"/>
                <a:gd name="T3" fmla="*/ 19 h 606"/>
                <a:gd name="T4" fmla="*/ 0 w 277"/>
                <a:gd name="T5" fmla="*/ 18 h 606"/>
                <a:gd name="T6" fmla="*/ 1 w 277"/>
                <a:gd name="T7" fmla="*/ 16 h 606"/>
                <a:gd name="T8" fmla="*/ 1 w 277"/>
                <a:gd name="T9" fmla="*/ 15 h 606"/>
                <a:gd name="T10" fmla="*/ 1 w 277"/>
                <a:gd name="T11" fmla="*/ 12 h 606"/>
                <a:gd name="T12" fmla="*/ 1 w 277"/>
                <a:gd name="T13" fmla="*/ 8 h 606"/>
                <a:gd name="T14" fmla="*/ 1 w 277"/>
                <a:gd name="T15" fmla="*/ 8 h 606"/>
                <a:gd name="T16" fmla="*/ 1 w 277"/>
                <a:gd name="T17" fmla="*/ 8 h 606"/>
                <a:gd name="T18" fmla="*/ 1 w 277"/>
                <a:gd name="T19" fmla="*/ 3 h 606"/>
                <a:gd name="T20" fmla="*/ 1 w 277"/>
                <a:gd name="T21" fmla="*/ 1 h 606"/>
                <a:gd name="T22" fmla="*/ 1 w 277"/>
                <a:gd name="T23" fmla="*/ 0 h 6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606"/>
                <a:gd name="T38" fmla="*/ 277 w 277"/>
                <a:gd name="T39" fmla="*/ 606 h 6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606">
                  <a:moveTo>
                    <a:pt x="120" y="584"/>
                  </a:moveTo>
                  <a:cubicBezTo>
                    <a:pt x="97" y="591"/>
                    <a:pt x="75" y="599"/>
                    <a:pt x="52" y="606"/>
                  </a:cubicBezTo>
                  <a:cubicBezTo>
                    <a:pt x="15" y="597"/>
                    <a:pt x="11" y="589"/>
                    <a:pt x="0" y="554"/>
                  </a:cubicBezTo>
                  <a:cubicBezTo>
                    <a:pt x="3" y="545"/>
                    <a:pt x="17" y="491"/>
                    <a:pt x="22" y="486"/>
                  </a:cubicBezTo>
                  <a:cubicBezTo>
                    <a:pt x="28" y="480"/>
                    <a:pt x="37" y="481"/>
                    <a:pt x="45" y="479"/>
                  </a:cubicBezTo>
                  <a:cubicBezTo>
                    <a:pt x="55" y="448"/>
                    <a:pt x="72" y="416"/>
                    <a:pt x="90" y="389"/>
                  </a:cubicBezTo>
                  <a:cubicBezTo>
                    <a:pt x="107" y="337"/>
                    <a:pt x="112" y="322"/>
                    <a:pt x="142" y="277"/>
                  </a:cubicBezTo>
                  <a:cubicBezTo>
                    <a:pt x="147" y="269"/>
                    <a:pt x="152" y="262"/>
                    <a:pt x="157" y="254"/>
                  </a:cubicBezTo>
                  <a:cubicBezTo>
                    <a:pt x="162" y="247"/>
                    <a:pt x="172" y="232"/>
                    <a:pt x="172" y="232"/>
                  </a:cubicBezTo>
                  <a:cubicBezTo>
                    <a:pt x="190" y="177"/>
                    <a:pt x="205" y="139"/>
                    <a:pt x="247" y="97"/>
                  </a:cubicBezTo>
                  <a:cubicBezTo>
                    <a:pt x="264" y="45"/>
                    <a:pt x="257" y="67"/>
                    <a:pt x="269" y="30"/>
                  </a:cubicBezTo>
                  <a:cubicBezTo>
                    <a:pt x="272" y="20"/>
                    <a:pt x="277" y="0"/>
                    <a:pt x="277" y="0"/>
                  </a:cubicBezTo>
                </a:path>
              </a:pathLst>
            </a:custGeom>
            <a:noFill/>
            <a:ln w="25400">
              <a:solidFill>
                <a:srgbClr val="00FFFF"/>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1" name="Line 148"/>
            <p:cNvSpPr>
              <a:spLocks noChangeShapeType="1"/>
            </p:cNvSpPr>
            <p:nvPr/>
          </p:nvSpPr>
          <p:spPr bwMode="auto">
            <a:xfrm flipH="1">
              <a:off x="4254" y="3612"/>
              <a:ext cx="136" cy="136"/>
            </a:xfrm>
            <a:prstGeom prst="line">
              <a:avLst/>
            </a:prstGeom>
            <a:noFill/>
            <a:ln w="1905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2" name="Freeform 149"/>
            <p:cNvSpPr>
              <a:spLocks/>
            </p:cNvSpPr>
            <p:nvPr/>
          </p:nvSpPr>
          <p:spPr bwMode="auto">
            <a:xfrm>
              <a:off x="3965" y="2977"/>
              <a:ext cx="194" cy="420"/>
            </a:xfrm>
            <a:custGeom>
              <a:avLst/>
              <a:gdLst>
                <a:gd name="T0" fmla="*/ 194 w 194"/>
                <a:gd name="T1" fmla="*/ 311 h 427"/>
                <a:gd name="T2" fmla="*/ 74 w 194"/>
                <a:gd name="T3" fmla="*/ 362 h 427"/>
                <a:gd name="T4" fmla="*/ 7 w 194"/>
                <a:gd name="T5" fmla="*/ 254 h 427"/>
                <a:gd name="T6" fmla="*/ 0 w 194"/>
                <a:gd name="T7" fmla="*/ 0 h 427"/>
                <a:gd name="T8" fmla="*/ 0 60000 65536"/>
                <a:gd name="T9" fmla="*/ 0 60000 65536"/>
                <a:gd name="T10" fmla="*/ 0 60000 65536"/>
                <a:gd name="T11" fmla="*/ 0 60000 65536"/>
                <a:gd name="T12" fmla="*/ 0 w 194"/>
                <a:gd name="T13" fmla="*/ 0 h 427"/>
                <a:gd name="T14" fmla="*/ 194 w 194"/>
                <a:gd name="T15" fmla="*/ 427 h 427"/>
              </a:gdLst>
              <a:ahLst/>
              <a:cxnLst>
                <a:cxn ang="T8">
                  <a:pos x="T0" y="T1"/>
                </a:cxn>
                <a:cxn ang="T9">
                  <a:pos x="T2" y="T3"/>
                </a:cxn>
                <a:cxn ang="T10">
                  <a:pos x="T4" y="T5"/>
                </a:cxn>
                <a:cxn ang="T11">
                  <a:pos x="T6" y="T7"/>
                </a:cxn>
              </a:cxnLst>
              <a:rect l="T12" t="T13" r="T14" b="T15"/>
              <a:pathLst>
                <a:path w="194" h="427">
                  <a:moveTo>
                    <a:pt x="194" y="367"/>
                  </a:moveTo>
                  <a:cubicBezTo>
                    <a:pt x="159" y="418"/>
                    <a:pt x="131" y="419"/>
                    <a:pt x="74" y="427"/>
                  </a:cubicBezTo>
                  <a:cubicBezTo>
                    <a:pt x="24" y="409"/>
                    <a:pt x="23" y="344"/>
                    <a:pt x="7" y="299"/>
                  </a:cubicBezTo>
                  <a:cubicBezTo>
                    <a:pt x="0" y="20"/>
                    <a:pt x="0" y="120"/>
                    <a:pt x="0" y="0"/>
                  </a:cubicBezTo>
                </a:path>
              </a:pathLst>
            </a:custGeom>
            <a:noFill/>
            <a:ln w="25400">
              <a:solidFill>
                <a:srgbClr val="0000FF"/>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3" name="Rectangle 150"/>
            <p:cNvSpPr>
              <a:spLocks noChangeArrowheads="1"/>
            </p:cNvSpPr>
            <p:nvPr/>
          </p:nvSpPr>
          <p:spPr bwMode="auto">
            <a:xfrm>
              <a:off x="3347" y="3838"/>
              <a:ext cx="276" cy="250"/>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W</a:t>
              </a:r>
            </a:p>
          </p:txBody>
        </p:sp>
        <p:sp>
          <p:nvSpPr>
            <p:cNvPr id="44" name="Line 151"/>
            <p:cNvSpPr>
              <a:spLocks noChangeShapeType="1"/>
            </p:cNvSpPr>
            <p:nvPr/>
          </p:nvSpPr>
          <p:spPr bwMode="auto">
            <a:xfrm flipV="1">
              <a:off x="3528" y="3838"/>
              <a:ext cx="545" cy="91"/>
            </a:xfrm>
            <a:prstGeom prst="line">
              <a:avLst/>
            </a:prstGeom>
            <a:noFill/>
            <a:ln w="19050" cap="rnd">
              <a:solidFill>
                <a:srgbClr val="FF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grpSp>
        <p:nvGrpSpPr>
          <p:cNvPr id="45" name="Group 26"/>
          <p:cNvGrpSpPr>
            <a:grpSpLocks/>
          </p:cNvGrpSpPr>
          <p:nvPr/>
        </p:nvGrpSpPr>
        <p:grpSpPr bwMode="auto">
          <a:xfrm>
            <a:off x="6548437" y="1196975"/>
            <a:ext cx="1951038" cy="1924050"/>
            <a:chOff x="3987" y="375"/>
            <a:chExt cx="1229" cy="1212"/>
          </a:xfrm>
        </p:grpSpPr>
        <p:sp>
          <p:nvSpPr>
            <p:cNvPr id="46" name="Oval 27"/>
            <p:cNvSpPr>
              <a:spLocks noChangeArrowheads="1"/>
            </p:cNvSpPr>
            <p:nvPr/>
          </p:nvSpPr>
          <p:spPr bwMode="auto">
            <a:xfrm>
              <a:off x="4424" y="375"/>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47" name="Oval 28"/>
            <p:cNvSpPr>
              <a:spLocks noChangeArrowheads="1"/>
            </p:cNvSpPr>
            <p:nvPr/>
          </p:nvSpPr>
          <p:spPr bwMode="auto">
            <a:xfrm>
              <a:off x="4106" y="689"/>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48" name="Oval 29"/>
            <p:cNvSpPr>
              <a:spLocks noChangeArrowheads="1"/>
            </p:cNvSpPr>
            <p:nvPr/>
          </p:nvSpPr>
          <p:spPr bwMode="auto">
            <a:xfrm>
              <a:off x="4417" y="1003"/>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49" name="Oval 30"/>
            <p:cNvSpPr>
              <a:spLocks noChangeArrowheads="1"/>
            </p:cNvSpPr>
            <p:nvPr/>
          </p:nvSpPr>
          <p:spPr bwMode="auto">
            <a:xfrm>
              <a:off x="4085" y="1233"/>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50" name="Oval 31"/>
            <p:cNvSpPr>
              <a:spLocks noChangeArrowheads="1"/>
            </p:cNvSpPr>
            <p:nvPr/>
          </p:nvSpPr>
          <p:spPr bwMode="auto">
            <a:xfrm>
              <a:off x="4808" y="1254"/>
              <a:ext cx="203" cy="172"/>
            </a:xfrm>
            <a:prstGeom prst="ellipse">
              <a:avLst/>
            </a:prstGeom>
            <a:solidFill>
              <a:srgbClr val="FFFFFF"/>
            </a:solid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000000"/>
                </a:solidFill>
                <a:effectLst/>
                <a:uLnTx/>
                <a:uFillTx/>
                <a:latin typeface="Times New Roman" pitchFamily="18" charset="0"/>
              </a:endParaRPr>
            </a:p>
          </p:txBody>
        </p:sp>
        <p:sp>
          <p:nvSpPr>
            <p:cNvPr id="51" name="Line 32"/>
            <p:cNvSpPr>
              <a:spLocks noChangeShapeType="1"/>
            </p:cNvSpPr>
            <p:nvPr/>
          </p:nvSpPr>
          <p:spPr bwMode="auto">
            <a:xfrm flipH="1">
              <a:off x="4242" y="508"/>
              <a:ext cx="182" cy="181"/>
            </a:xfrm>
            <a:prstGeom prst="line">
              <a:avLst/>
            </a:pr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2" name="Line 33"/>
            <p:cNvSpPr>
              <a:spLocks noChangeShapeType="1"/>
            </p:cNvSpPr>
            <p:nvPr/>
          </p:nvSpPr>
          <p:spPr bwMode="auto">
            <a:xfrm>
              <a:off x="4267" y="856"/>
              <a:ext cx="181" cy="182"/>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3" name="Line 34"/>
            <p:cNvSpPr>
              <a:spLocks noChangeShapeType="1"/>
            </p:cNvSpPr>
            <p:nvPr/>
          </p:nvSpPr>
          <p:spPr bwMode="auto">
            <a:xfrm>
              <a:off x="4515" y="825"/>
              <a:ext cx="0" cy="181"/>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4" name="Rectangle 35"/>
            <p:cNvSpPr>
              <a:spLocks noChangeArrowheads="1"/>
            </p:cNvSpPr>
            <p:nvPr/>
          </p:nvSpPr>
          <p:spPr bwMode="auto">
            <a:xfrm>
              <a:off x="4424" y="598"/>
              <a:ext cx="205" cy="250"/>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S</a:t>
              </a:r>
            </a:p>
          </p:txBody>
        </p:sp>
        <p:sp>
          <p:nvSpPr>
            <p:cNvPr id="55" name="Line 36"/>
            <p:cNvSpPr>
              <a:spLocks noChangeShapeType="1"/>
            </p:cNvSpPr>
            <p:nvPr/>
          </p:nvSpPr>
          <p:spPr bwMode="auto">
            <a:xfrm flipH="1">
              <a:off x="4274" y="1143"/>
              <a:ext cx="181" cy="136"/>
            </a:xfrm>
            <a:prstGeom prst="line">
              <a:avLst/>
            </a:pr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6" name="Freeform 37"/>
            <p:cNvSpPr>
              <a:spLocks/>
            </p:cNvSpPr>
            <p:nvPr/>
          </p:nvSpPr>
          <p:spPr bwMode="auto">
            <a:xfrm>
              <a:off x="3987" y="842"/>
              <a:ext cx="186" cy="416"/>
            </a:xfrm>
            <a:custGeom>
              <a:avLst/>
              <a:gdLst>
                <a:gd name="T0" fmla="*/ 139 w 186"/>
                <a:gd name="T1" fmla="*/ 19 h 584"/>
                <a:gd name="T2" fmla="*/ 37 w 186"/>
                <a:gd name="T3" fmla="*/ 19 h 584"/>
                <a:gd name="T4" fmla="*/ 0 w 186"/>
                <a:gd name="T5" fmla="*/ 17 h 584"/>
                <a:gd name="T6" fmla="*/ 51 w 186"/>
                <a:gd name="T7" fmla="*/ 10 h 584"/>
                <a:gd name="T8" fmla="*/ 88 w 186"/>
                <a:gd name="T9" fmla="*/ 8 h 584"/>
                <a:gd name="T10" fmla="*/ 80 w 186"/>
                <a:gd name="T11" fmla="*/ 7 h 584"/>
                <a:gd name="T12" fmla="*/ 110 w 186"/>
                <a:gd name="T13" fmla="*/ 6 h 584"/>
                <a:gd name="T14" fmla="*/ 146 w 186"/>
                <a:gd name="T15" fmla="*/ 4 h 584"/>
                <a:gd name="T16" fmla="*/ 168 w 186"/>
                <a:gd name="T17" fmla="*/ 1 h 584"/>
                <a:gd name="T18" fmla="*/ 183 w 186"/>
                <a:gd name="T19" fmla="*/ 0 h 5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6"/>
                <a:gd name="T31" fmla="*/ 0 h 584"/>
                <a:gd name="T32" fmla="*/ 186 w 186"/>
                <a:gd name="T33" fmla="*/ 584 h 58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6" h="584">
                  <a:moveTo>
                    <a:pt x="139" y="568"/>
                  </a:moveTo>
                  <a:cubicBezTo>
                    <a:pt x="96" y="584"/>
                    <a:pt x="90" y="582"/>
                    <a:pt x="37" y="576"/>
                  </a:cubicBezTo>
                  <a:cubicBezTo>
                    <a:pt x="28" y="552"/>
                    <a:pt x="0" y="510"/>
                    <a:pt x="0" y="510"/>
                  </a:cubicBezTo>
                  <a:cubicBezTo>
                    <a:pt x="9" y="440"/>
                    <a:pt x="28" y="367"/>
                    <a:pt x="51" y="299"/>
                  </a:cubicBezTo>
                  <a:cubicBezTo>
                    <a:pt x="59" y="275"/>
                    <a:pt x="88" y="233"/>
                    <a:pt x="88" y="233"/>
                  </a:cubicBezTo>
                  <a:cubicBezTo>
                    <a:pt x="85" y="226"/>
                    <a:pt x="78" y="218"/>
                    <a:pt x="80" y="211"/>
                  </a:cubicBezTo>
                  <a:cubicBezTo>
                    <a:pt x="86" y="194"/>
                    <a:pt x="110" y="167"/>
                    <a:pt x="110" y="167"/>
                  </a:cubicBezTo>
                  <a:cubicBezTo>
                    <a:pt x="118" y="141"/>
                    <a:pt x="135" y="126"/>
                    <a:pt x="146" y="102"/>
                  </a:cubicBezTo>
                  <a:cubicBezTo>
                    <a:pt x="156" y="81"/>
                    <a:pt x="158" y="56"/>
                    <a:pt x="168" y="36"/>
                  </a:cubicBezTo>
                  <a:cubicBezTo>
                    <a:pt x="186" y="1"/>
                    <a:pt x="183" y="28"/>
                    <a:pt x="183" y="0"/>
                  </a:cubicBezTo>
                </a:path>
              </a:pathLst>
            </a:custGeom>
            <a:noFill/>
            <a:ln w="19050">
              <a:solidFill>
                <a:srgbClr val="00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7" name="Line 38"/>
            <p:cNvSpPr>
              <a:spLocks noChangeShapeType="1"/>
            </p:cNvSpPr>
            <p:nvPr/>
          </p:nvSpPr>
          <p:spPr bwMode="auto">
            <a:xfrm>
              <a:off x="4909" y="975"/>
              <a:ext cx="0" cy="272"/>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8" name="Rectangle 39"/>
            <p:cNvSpPr>
              <a:spLocks noChangeArrowheads="1"/>
            </p:cNvSpPr>
            <p:nvPr/>
          </p:nvSpPr>
          <p:spPr bwMode="auto">
            <a:xfrm>
              <a:off x="4784" y="722"/>
              <a:ext cx="232" cy="250"/>
            </a:xfrm>
            <a:prstGeom prst="rect">
              <a:avLst/>
            </a:prstGeom>
            <a:noFill/>
            <a:ln w="12700" cap="rnd" algn="ctr">
              <a:no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R</a:t>
              </a:r>
            </a:p>
          </p:txBody>
        </p:sp>
        <p:sp>
          <p:nvSpPr>
            <p:cNvPr id="59" name="Line 40"/>
            <p:cNvSpPr>
              <a:spLocks noChangeShapeType="1"/>
            </p:cNvSpPr>
            <p:nvPr/>
          </p:nvSpPr>
          <p:spPr bwMode="auto">
            <a:xfrm>
              <a:off x="4617" y="1141"/>
              <a:ext cx="227" cy="136"/>
            </a:xfrm>
            <a:prstGeom prst="line">
              <a:avLst/>
            </a:prstGeom>
            <a:noFill/>
            <a:ln w="22225" cap="rnd">
              <a:solidFill>
                <a:srgbClr val="FF00FF"/>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0" name="Freeform 41"/>
            <p:cNvSpPr>
              <a:spLocks/>
            </p:cNvSpPr>
            <p:nvPr/>
          </p:nvSpPr>
          <p:spPr bwMode="auto">
            <a:xfrm>
              <a:off x="4584" y="1167"/>
              <a:ext cx="250" cy="420"/>
            </a:xfrm>
            <a:custGeom>
              <a:avLst/>
              <a:gdLst>
                <a:gd name="T0" fmla="*/ 250 w 250"/>
                <a:gd name="T1" fmla="*/ 6052 h 306"/>
                <a:gd name="T2" fmla="*/ 228 w 250"/>
                <a:gd name="T3" fmla="*/ 6573 h 306"/>
                <a:gd name="T4" fmla="*/ 184 w 250"/>
                <a:gd name="T5" fmla="*/ 7261 h 306"/>
                <a:gd name="T6" fmla="*/ 68 w 250"/>
                <a:gd name="T7" fmla="*/ 6732 h 306"/>
                <a:gd name="T8" fmla="*/ 39 w 250"/>
                <a:gd name="T9" fmla="*/ 5857 h 306"/>
                <a:gd name="T10" fmla="*/ 9 w 250"/>
                <a:gd name="T11" fmla="*/ 4833 h 306"/>
                <a:gd name="T12" fmla="*/ 2 w 250"/>
                <a:gd name="T13" fmla="*/ 0 h 306"/>
                <a:gd name="T14" fmla="*/ 0 60000 65536"/>
                <a:gd name="T15" fmla="*/ 0 60000 65536"/>
                <a:gd name="T16" fmla="*/ 0 60000 65536"/>
                <a:gd name="T17" fmla="*/ 0 60000 65536"/>
                <a:gd name="T18" fmla="*/ 0 60000 65536"/>
                <a:gd name="T19" fmla="*/ 0 60000 65536"/>
                <a:gd name="T20" fmla="*/ 0 60000 65536"/>
                <a:gd name="T21" fmla="*/ 0 w 250"/>
                <a:gd name="T22" fmla="*/ 0 h 306"/>
                <a:gd name="T23" fmla="*/ 250 w 250"/>
                <a:gd name="T24" fmla="*/ 306 h 3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0" h="306">
                  <a:moveTo>
                    <a:pt x="250" y="255"/>
                  </a:moveTo>
                  <a:cubicBezTo>
                    <a:pt x="243" y="262"/>
                    <a:pt x="236" y="271"/>
                    <a:pt x="228" y="277"/>
                  </a:cubicBezTo>
                  <a:cubicBezTo>
                    <a:pt x="214" y="288"/>
                    <a:pt x="184" y="306"/>
                    <a:pt x="184" y="306"/>
                  </a:cubicBezTo>
                  <a:cubicBezTo>
                    <a:pt x="140" y="301"/>
                    <a:pt x="109" y="297"/>
                    <a:pt x="68" y="284"/>
                  </a:cubicBezTo>
                  <a:cubicBezTo>
                    <a:pt x="25" y="255"/>
                    <a:pt x="61" y="286"/>
                    <a:pt x="39" y="247"/>
                  </a:cubicBezTo>
                  <a:cubicBezTo>
                    <a:pt x="30" y="232"/>
                    <a:pt x="9" y="204"/>
                    <a:pt x="9" y="204"/>
                  </a:cubicBezTo>
                  <a:cubicBezTo>
                    <a:pt x="0" y="58"/>
                    <a:pt x="2" y="126"/>
                    <a:pt x="2" y="0"/>
                  </a:cubicBezTo>
                </a:path>
              </a:pathLst>
            </a:custGeom>
            <a:noFill/>
            <a:ln w="25400">
              <a:solidFill>
                <a:srgbClr val="0000FF"/>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1" name="Freeform 42"/>
            <p:cNvSpPr>
              <a:spLocks/>
            </p:cNvSpPr>
            <p:nvPr/>
          </p:nvSpPr>
          <p:spPr bwMode="auto">
            <a:xfrm>
              <a:off x="4615" y="510"/>
              <a:ext cx="601" cy="420"/>
            </a:xfrm>
            <a:custGeom>
              <a:avLst/>
              <a:gdLst>
                <a:gd name="T0" fmla="*/ 328 w 601"/>
                <a:gd name="T1" fmla="*/ 0 h 956"/>
                <a:gd name="T2" fmla="*/ 387 w 601"/>
                <a:gd name="T3" fmla="*/ 0 h 956"/>
                <a:gd name="T4" fmla="*/ 482 w 601"/>
                <a:gd name="T5" fmla="*/ 0 h 956"/>
                <a:gd name="T6" fmla="*/ 540 w 601"/>
                <a:gd name="T7" fmla="*/ 0 h 956"/>
                <a:gd name="T8" fmla="*/ 576 w 601"/>
                <a:gd name="T9" fmla="*/ 0 h 956"/>
                <a:gd name="T10" fmla="*/ 503 w 601"/>
                <a:gd name="T11" fmla="*/ 0 h 956"/>
                <a:gd name="T12" fmla="*/ 460 w 601"/>
                <a:gd name="T13" fmla="*/ 0 h 956"/>
                <a:gd name="T14" fmla="*/ 394 w 601"/>
                <a:gd name="T15" fmla="*/ 0 h 956"/>
                <a:gd name="T16" fmla="*/ 372 w 601"/>
                <a:gd name="T17" fmla="*/ 0 h 956"/>
                <a:gd name="T18" fmla="*/ 336 w 601"/>
                <a:gd name="T19" fmla="*/ 0 h 956"/>
                <a:gd name="T20" fmla="*/ 292 w 601"/>
                <a:gd name="T21" fmla="*/ 0 h 956"/>
                <a:gd name="T22" fmla="*/ 255 w 601"/>
                <a:gd name="T23" fmla="*/ 0 h 956"/>
                <a:gd name="T24" fmla="*/ 241 w 601"/>
                <a:gd name="T25" fmla="*/ 0 h 956"/>
                <a:gd name="T26" fmla="*/ 197 w 601"/>
                <a:gd name="T27" fmla="*/ 0 h 956"/>
                <a:gd name="T28" fmla="*/ 183 w 601"/>
                <a:gd name="T29" fmla="*/ 0 h 956"/>
                <a:gd name="T30" fmla="*/ 139 w 601"/>
                <a:gd name="T31" fmla="*/ 0 h 956"/>
                <a:gd name="T32" fmla="*/ 0 w 601"/>
                <a:gd name="T33" fmla="*/ 0 h 9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01"/>
                <a:gd name="T52" fmla="*/ 0 h 956"/>
                <a:gd name="T53" fmla="*/ 601 w 601"/>
                <a:gd name="T54" fmla="*/ 956 h 9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01" h="956">
                  <a:moveTo>
                    <a:pt x="328" y="912"/>
                  </a:moveTo>
                  <a:cubicBezTo>
                    <a:pt x="353" y="928"/>
                    <a:pt x="360" y="946"/>
                    <a:pt x="387" y="956"/>
                  </a:cubicBezTo>
                  <a:cubicBezTo>
                    <a:pt x="419" y="953"/>
                    <a:pt x="451" y="954"/>
                    <a:pt x="482" y="948"/>
                  </a:cubicBezTo>
                  <a:cubicBezTo>
                    <a:pt x="516" y="942"/>
                    <a:pt x="519" y="862"/>
                    <a:pt x="540" y="832"/>
                  </a:cubicBezTo>
                  <a:cubicBezTo>
                    <a:pt x="552" y="793"/>
                    <a:pt x="566" y="755"/>
                    <a:pt x="576" y="715"/>
                  </a:cubicBezTo>
                  <a:cubicBezTo>
                    <a:pt x="573" y="630"/>
                    <a:pt x="601" y="450"/>
                    <a:pt x="503" y="387"/>
                  </a:cubicBezTo>
                  <a:cubicBezTo>
                    <a:pt x="494" y="358"/>
                    <a:pt x="490" y="345"/>
                    <a:pt x="460" y="336"/>
                  </a:cubicBezTo>
                  <a:cubicBezTo>
                    <a:pt x="425" y="301"/>
                    <a:pt x="448" y="321"/>
                    <a:pt x="394" y="285"/>
                  </a:cubicBezTo>
                  <a:cubicBezTo>
                    <a:pt x="387" y="280"/>
                    <a:pt x="372" y="270"/>
                    <a:pt x="372" y="270"/>
                  </a:cubicBezTo>
                  <a:cubicBezTo>
                    <a:pt x="346" y="230"/>
                    <a:pt x="373" y="261"/>
                    <a:pt x="336" y="241"/>
                  </a:cubicBezTo>
                  <a:cubicBezTo>
                    <a:pt x="321" y="233"/>
                    <a:pt x="292" y="212"/>
                    <a:pt x="292" y="212"/>
                  </a:cubicBezTo>
                  <a:cubicBezTo>
                    <a:pt x="249" y="149"/>
                    <a:pt x="307" y="229"/>
                    <a:pt x="255" y="175"/>
                  </a:cubicBezTo>
                  <a:cubicBezTo>
                    <a:pt x="249" y="169"/>
                    <a:pt x="248" y="159"/>
                    <a:pt x="241" y="153"/>
                  </a:cubicBezTo>
                  <a:cubicBezTo>
                    <a:pt x="228" y="141"/>
                    <a:pt x="197" y="124"/>
                    <a:pt x="197" y="124"/>
                  </a:cubicBezTo>
                  <a:cubicBezTo>
                    <a:pt x="192" y="117"/>
                    <a:pt x="190" y="108"/>
                    <a:pt x="183" y="102"/>
                  </a:cubicBezTo>
                  <a:cubicBezTo>
                    <a:pt x="170" y="90"/>
                    <a:pt x="139" y="73"/>
                    <a:pt x="139" y="73"/>
                  </a:cubicBezTo>
                  <a:cubicBezTo>
                    <a:pt x="106" y="25"/>
                    <a:pt x="57" y="0"/>
                    <a:pt x="0" y="0"/>
                  </a:cubicBezTo>
                </a:path>
              </a:pathLst>
            </a:custGeom>
            <a:noFill/>
            <a:ln w="25400">
              <a:solidFill>
                <a:srgbClr val="FF0000"/>
              </a:solidFill>
              <a:prstDash val="dash"/>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grpSp>
      <p:sp>
        <p:nvSpPr>
          <p:cNvPr id="62" name="Line 103"/>
          <p:cNvSpPr>
            <a:spLocks noChangeShapeType="1"/>
          </p:cNvSpPr>
          <p:nvPr/>
        </p:nvSpPr>
        <p:spPr bwMode="auto">
          <a:xfrm flipH="1">
            <a:off x="5151437" y="1831975"/>
            <a:ext cx="1249363" cy="0"/>
          </a:xfrm>
          <a:prstGeom prst="line">
            <a:avLst/>
          </a:prstGeom>
          <a:noFill/>
          <a:ln w="38100" cap="rnd">
            <a:solidFill>
              <a:srgbClr val="000000"/>
            </a:solidFill>
            <a:round/>
            <a:headEnd/>
            <a:tailEnd type="triangle" w="med" len="med"/>
          </a:ln>
        </p:spPr>
        <p:txBody>
          <a:bodyPr wrap="squar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3" name="Line 104"/>
          <p:cNvSpPr>
            <a:spLocks noChangeShapeType="1"/>
          </p:cNvSpPr>
          <p:nvPr/>
        </p:nvSpPr>
        <p:spPr bwMode="auto">
          <a:xfrm flipH="1">
            <a:off x="5043488" y="4484688"/>
            <a:ext cx="1357312" cy="23812"/>
          </a:xfrm>
          <a:prstGeom prst="line">
            <a:avLst/>
          </a:prstGeom>
          <a:noFill/>
          <a:ln w="38100" cap="rnd">
            <a:solidFill>
              <a:srgbClr val="000000"/>
            </a:solidFill>
            <a:round/>
            <a:headEnd/>
            <a:tailEnd type="triangle" w="med" len="med"/>
          </a:ln>
        </p:spPr>
        <p:txBody>
          <a:bodyPr wrap="squar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 name="标题 6"/>
          <p:cNvSpPr>
            <a:spLocks noGrp="1"/>
          </p:cNvSpPr>
          <p:nvPr>
            <p:ph type="title"/>
          </p:nvPr>
        </p:nvSpPr>
        <p:spPr/>
        <p:txBody>
          <a:bodyPr/>
          <a:lstStyle/>
          <a:p>
            <a:endParaRPr lang="zh-CN" altLang="en-US"/>
          </a:p>
        </p:txBody>
      </p:sp>
      <p:sp>
        <p:nvSpPr>
          <p:cNvPr id="64" name="Text Box 17"/>
          <p:cNvSpPr txBox="1">
            <a:spLocks noChangeArrowheads="1"/>
          </p:cNvSpPr>
          <p:nvPr/>
        </p:nvSpPr>
        <p:spPr bwMode="auto">
          <a:xfrm>
            <a:off x="1300163" y="357188"/>
            <a:ext cx="5389563" cy="833437"/>
          </a:xfrm>
          <a:prstGeom prst="rect">
            <a:avLst/>
          </a:prstGeom>
          <a:noFill/>
          <a:ln w="9525">
            <a:solidFill>
              <a:srgbClr val="04617B"/>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宋体" pitchFamily="2" charset="-122"/>
              </a:rPr>
              <a:t>中序线索二叉树的右插入算法</a:t>
            </a:r>
            <a:r>
              <a:rPr kumimoji="1" lang="en-US" altLang="zh-CN" sz="2400" b="1" i="0" u="none" strike="noStrike" kern="0" cap="none" spc="0" normalizeH="0" baseline="0" noProof="0" dirty="0">
                <a:ln>
                  <a:noFill/>
                </a:ln>
                <a:solidFill>
                  <a:srgbClr val="000000"/>
                </a:solidFill>
                <a:effectLst/>
                <a:uLnTx/>
                <a:uFillTx/>
                <a:latin typeface="宋体" pitchFamily="2"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宋体" pitchFamily="2" charset="-122"/>
              </a:rPr>
              <a:t>将结点 </a:t>
            </a:r>
            <a:r>
              <a:rPr kumimoji="1" lang="en-US" altLang="zh-CN" sz="2400" b="1" i="0" u="none" strike="noStrike" kern="0" cap="none" spc="0" normalizeH="0" baseline="0" noProof="0" dirty="0">
                <a:ln>
                  <a:noFill/>
                </a:ln>
                <a:solidFill>
                  <a:srgbClr val="000000"/>
                </a:solidFill>
                <a:effectLst/>
                <a:uLnTx/>
                <a:uFillTx/>
                <a:latin typeface="宋体" pitchFamily="2" charset="-122"/>
              </a:rPr>
              <a:t>R </a:t>
            </a:r>
            <a:r>
              <a:rPr kumimoji="1" lang="zh-CN" altLang="en-US" sz="2400" b="1" i="0" u="none" strike="noStrike" kern="0" cap="none" spc="0" normalizeH="0" baseline="0" noProof="0" dirty="0">
                <a:ln>
                  <a:noFill/>
                </a:ln>
                <a:solidFill>
                  <a:srgbClr val="000000"/>
                </a:solidFill>
                <a:effectLst/>
                <a:uLnTx/>
                <a:uFillTx/>
                <a:latin typeface="宋体" pitchFamily="2" charset="-122"/>
              </a:rPr>
              <a:t>插入作为结点 </a:t>
            </a:r>
            <a:r>
              <a:rPr kumimoji="1" lang="en-US" altLang="zh-CN" sz="2400" b="1" i="0" u="none" strike="noStrike" kern="0" cap="none" spc="0" normalizeH="0" baseline="0" noProof="0" dirty="0">
                <a:ln>
                  <a:noFill/>
                </a:ln>
                <a:solidFill>
                  <a:srgbClr val="000000"/>
                </a:solidFill>
                <a:effectLst/>
                <a:uLnTx/>
                <a:uFillTx/>
                <a:latin typeface="宋体" pitchFamily="2" charset="-122"/>
              </a:rPr>
              <a:t>S </a:t>
            </a:r>
            <a:r>
              <a:rPr kumimoji="1" lang="zh-CN" altLang="en-US" sz="2400" b="1" i="0" u="none" strike="noStrike" kern="0" cap="none" spc="0" normalizeH="0" baseline="0" noProof="0" dirty="0">
                <a:ln>
                  <a:noFill/>
                </a:ln>
                <a:solidFill>
                  <a:srgbClr val="000000"/>
                </a:solidFill>
                <a:effectLst/>
                <a:uLnTx/>
                <a:uFillTx/>
                <a:latin typeface="宋体" pitchFamily="2" charset="-122"/>
              </a:rPr>
              <a:t>的右孩子</a:t>
            </a:r>
            <a:endParaRPr kumimoji="1" lang="en-US" altLang="zh-CN" sz="2400" b="1" i="0" u="none" strike="noStrike" kern="0" cap="none" spc="0" normalizeH="0" baseline="0" noProof="0" dirty="0">
              <a:ln>
                <a:noFill/>
              </a:ln>
              <a:solidFill>
                <a:srgbClr val="000000"/>
              </a:solidFill>
              <a:effectLst/>
              <a:uLnTx/>
              <a:uFillTx/>
              <a:latin typeface="宋体" pitchFamily="2" charset="-122"/>
            </a:endParaRPr>
          </a:p>
        </p:txBody>
      </p:sp>
      <p:sp>
        <p:nvSpPr>
          <p:cNvPr id="65" name="Oval 16"/>
          <p:cNvSpPr>
            <a:spLocks noChangeArrowheads="1"/>
          </p:cNvSpPr>
          <p:nvPr/>
        </p:nvSpPr>
        <p:spPr bwMode="auto">
          <a:xfrm>
            <a:off x="76200" y="476250"/>
            <a:ext cx="1143001"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dirty="0">
                <a:solidFill>
                  <a:srgbClr val="000000"/>
                </a:solidFill>
                <a:latin typeface="Times New Roman" pitchFamily="18" charset="0"/>
              </a:rPr>
              <a:t>例</a:t>
            </a:r>
          </a:p>
        </p:txBody>
      </p:sp>
    </p:spTree>
    <p:extLst>
      <p:ext uri="{BB962C8B-B14F-4D97-AF65-F5344CB8AC3E}">
        <p14:creationId xmlns:p14="http://schemas.microsoft.com/office/powerpoint/2010/main" val="3493253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24109EE1-F068-4AAB-9C29-207D9DB58B82}"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114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17"/>
          <p:cNvSpPr txBox="1">
            <a:spLocks noChangeArrowheads="1"/>
          </p:cNvSpPr>
          <p:nvPr/>
        </p:nvSpPr>
        <p:spPr bwMode="auto">
          <a:xfrm>
            <a:off x="381000" y="1831975"/>
            <a:ext cx="8506168" cy="1749425"/>
          </a:xfrm>
          <a:prstGeom prst="rect">
            <a:avLst/>
          </a:prstGeom>
          <a:noFill/>
          <a:ln w="9525">
            <a:solidFill>
              <a:srgbClr val="04617B"/>
            </a:solidFill>
            <a:miter lim="800000"/>
            <a:headEnd/>
            <a:tailEnd/>
          </a:ln>
        </p:spPr>
        <p:txBody>
          <a:bodyPr wrap="squar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3600" b="1" i="0" u="none" strike="noStrike" kern="0" cap="none" spc="0" normalizeH="0" baseline="0" noProof="0">
                <a:ln>
                  <a:noFill/>
                </a:ln>
                <a:solidFill>
                  <a:srgbClr val="000000"/>
                </a:solidFill>
                <a:effectLst/>
                <a:uLnTx/>
                <a:uFillTx/>
                <a:latin typeface="宋体" pitchFamily="2" charset="-122"/>
              </a:rPr>
              <a:t>思考题：</a:t>
            </a:r>
          </a:p>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3600" b="1" i="0" u="none" strike="noStrike" kern="0" cap="none" spc="0" normalizeH="0" baseline="0" noProof="0">
                <a:ln>
                  <a:noFill/>
                </a:ln>
                <a:solidFill>
                  <a:srgbClr val="000000"/>
                </a:solidFill>
                <a:effectLst/>
                <a:uLnTx/>
                <a:uFillTx/>
                <a:latin typeface="宋体" pitchFamily="2" charset="-122"/>
              </a:rPr>
              <a:t>线索二叉树的左插入算法</a:t>
            </a:r>
            <a:r>
              <a:rPr kumimoji="1" lang="en-US" altLang="zh-CN" sz="3600" b="1" i="0" u="none" strike="noStrike" kern="0" cap="none" spc="0" normalizeH="0" baseline="0" noProof="0">
                <a:ln>
                  <a:noFill/>
                </a:ln>
                <a:solidFill>
                  <a:srgbClr val="000000"/>
                </a:solidFill>
                <a:effectLst/>
                <a:uLnTx/>
                <a:uFillTx/>
                <a:latin typeface="宋体" pitchFamily="2" charset="-122"/>
              </a:rPr>
              <a:t>:</a:t>
            </a:r>
            <a:r>
              <a:rPr kumimoji="1" lang="zh-CN" altLang="en-US" sz="3600" b="1" i="0" u="none" strike="noStrike" kern="0" cap="none" spc="0" normalizeH="0" baseline="0" noProof="0">
                <a:ln>
                  <a:noFill/>
                </a:ln>
                <a:solidFill>
                  <a:srgbClr val="000000"/>
                </a:solidFill>
                <a:effectLst/>
                <a:uLnTx/>
                <a:uFillTx/>
                <a:latin typeface="宋体" pitchFamily="2" charset="-122"/>
              </a:rPr>
              <a:t>将结点 </a:t>
            </a:r>
            <a:r>
              <a:rPr kumimoji="1" lang="en-US" altLang="zh-CN" sz="3600" b="1" i="0" u="none" strike="noStrike" kern="0" cap="none" spc="0" normalizeH="0" baseline="0" noProof="0">
                <a:ln>
                  <a:noFill/>
                </a:ln>
                <a:solidFill>
                  <a:srgbClr val="000000"/>
                </a:solidFill>
                <a:effectLst/>
                <a:uLnTx/>
                <a:uFillTx/>
                <a:latin typeface="宋体" pitchFamily="2" charset="-122"/>
              </a:rPr>
              <a:t>R </a:t>
            </a:r>
            <a:r>
              <a:rPr kumimoji="1" lang="zh-CN" altLang="en-US" sz="3600" b="1" i="0" u="none" strike="noStrike" kern="0" cap="none" spc="0" normalizeH="0" baseline="0" noProof="0">
                <a:ln>
                  <a:noFill/>
                </a:ln>
                <a:solidFill>
                  <a:srgbClr val="000000"/>
                </a:solidFill>
                <a:effectLst/>
                <a:uLnTx/>
                <a:uFillTx/>
                <a:latin typeface="宋体" pitchFamily="2" charset="-122"/>
              </a:rPr>
              <a:t>插入作为结点 </a:t>
            </a:r>
            <a:r>
              <a:rPr kumimoji="1" lang="en-US" altLang="zh-CN" sz="3600" b="1" i="0" u="none" strike="noStrike" kern="0" cap="none" spc="0" normalizeH="0" baseline="0" noProof="0">
                <a:ln>
                  <a:noFill/>
                </a:ln>
                <a:solidFill>
                  <a:srgbClr val="000000"/>
                </a:solidFill>
                <a:effectLst/>
                <a:uLnTx/>
                <a:uFillTx/>
                <a:latin typeface="宋体" pitchFamily="2" charset="-122"/>
              </a:rPr>
              <a:t>S </a:t>
            </a:r>
            <a:r>
              <a:rPr kumimoji="1" lang="zh-CN" altLang="en-US" sz="3600" b="1" i="0" u="none" strike="noStrike" kern="0" cap="none" spc="0" normalizeH="0" baseline="0" noProof="0">
                <a:ln>
                  <a:noFill/>
                </a:ln>
                <a:solidFill>
                  <a:srgbClr val="000000"/>
                </a:solidFill>
                <a:effectLst/>
                <a:uLnTx/>
                <a:uFillTx/>
                <a:latin typeface="宋体" pitchFamily="2" charset="-122"/>
              </a:rPr>
              <a:t>的左孩子</a:t>
            </a:r>
            <a:endParaRPr kumimoji="1" lang="en-US" altLang="zh-CN" sz="3600" b="1" i="0" u="none" strike="noStrike" kern="0" cap="none" spc="0" normalizeH="0" baseline="0" noProof="0">
              <a:ln>
                <a:noFill/>
              </a:ln>
              <a:solidFill>
                <a:srgbClr val="000000"/>
              </a:solidFill>
              <a:effectLst/>
              <a:uLnTx/>
              <a:uFillTx/>
              <a:latin typeface="宋体" pitchFamily="2" charset="-122"/>
            </a:endParaRPr>
          </a:p>
        </p:txBody>
      </p:sp>
    </p:spTree>
    <p:extLst>
      <p:ext uri="{BB962C8B-B14F-4D97-AF65-F5344CB8AC3E}">
        <p14:creationId xmlns:p14="http://schemas.microsoft.com/office/powerpoint/2010/main" val="369559958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C4EEFA24-67FB-44CD-8D8A-8A7BDC4477D0}"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115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2"/>
          <p:cNvSpPr>
            <a:spLocks noChangeArrowheads="1"/>
          </p:cNvSpPr>
          <p:nvPr/>
        </p:nvSpPr>
        <p:spPr bwMode="auto">
          <a:xfrm>
            <a:off x="2286000" y="3505200"/>
            <a:ext cx="5334000" cy="2438400"/>
          </a:xfrm>
          <a:prstGeom prst="rect">
            <a:avLst/>
          </a:prstGeom>
          <a:noFill/>
          <a:ln w="12700"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4" name="Rectangle 4"/>
          <p:cNvSpPr>
            <a:spLocks noChangeArrowheads="1"/>
          </p:cNvSpPr>
          <p:nvPr/>
        </p:nvSpPr>
        <p:spPr bwMode="auto">
          <a:xfrm>
            <a:off x="1984375" y="1423988"/>
            <a:ext cx="6326188" cy="557212"/>
          </a:xfrm>
          <a:prstGeom prst="rect">
            <a:avLst/>
          </a:prstGeom>
          <a:noFill/>
          <a:ln w="38100" cmpd="dbl">
            <a:solidFill>
              <a:srgbClr val="0707F9"/>
            </a:solidFill>
            <a:miter lim="800000"/>
            <a:headEnd/>
            <a:tailEnd/>
          </a:ln>
        </p:spPr>
        <p:txBody>
          <a:bodyPr>
            <a:spAutoFit/>
          </a:bodyPr>
          <a:lstStyle/>
          <a:p>
            <a:pPr fontAlgn="base">
              <a:spcBef>
                <a:spcPct val="0"/>
              </a:spcBef>
              <a:spcAft>
                <a:spcPct val="0"/>
              </a:spcAft>
            </a:pPr>
            <a:r>
              <a:rPr kumimoji="1" lang="zh-CN" altLang="en-US" sz="2800" b="1">
                <a:solidFill>
                  <a:srgbClr val="0707F9"/>
                </a:solidFill>
                <a:latin typeface="Times New Roman" pitchFamily="18" charset="0"/>
              </a:rPr>
              <a:t>按给定</a:t>
            </a:r>
            <a:r>
              <a:rPr kumimoji="1" lang="zh-CN" altLang="en-US" sz="2800" b="1">
                <a:solidFill>
                  <a:srgbClr val="FF0000"/>
                </a:solidFill>
                <a:latin typeface="Times New Roman" pitchFamily="18" charset="0"/>
              </a:rPr>
              <a:t>先缀的表达式</a:t>
            </a:r>
            <a:r>
              <a:rPr kumimoji="1" lang="zh-CN" altLang="en-US" sz="2800" b="1">
                <a:solidFill>
                  <a:srgbClr val="0707F9"/>
                </a:solidFill>
                <a:latin typeface="Times New Roman" pitchFamily="18" charset="0"/>
              </a:rPr>
              <a:t>建立相应的二叉树</a:t>
            </a:r>
          </a:p>
        </p:txBody>
      </p:sp>
      <p:sp>
        <p:nvSpPr>
          <p:cNvPr id="15" name="Oval 164"/>
          <p:cNvSpPr>
            <a:spLocks noChangeArrowheads="1"/>
          </p:cNvSpPr>
          <p:nvPr/>
        </p:nvSpPr>
        <p:spPr bwMode="auto">
          <a:xfrm>
            <a:off x="65088" y="1495425"/>
            <a:ext cx="1958975" cy="595313"/>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a:solidFill>
                  <a:srgbClr val="000000"/>
                </a:solidFill>
                <a:latin typeface="Times New Roman" pitchFamily="18" charset="0"/>
              </a:rPr>
              <a:t>应用举例</a:t>
            </a:r>
          </a:p>
        </p:txBody>
      </p:sp>
      <p:sp>
        <p:nvSpPr>
          <p:cNvPr id="16" name="Text Box 3">
            <a:hlinkClick r:id="" action="ppaction://hlinkshowjump?jump=nextslide"/>
          </p:cNvPr>
          <p:cNvSpPr txBox="1">
            <a:spLocks noChangeArrowheads="1"/>
          </p:cNvSpPr>
          <p:nvPr/>
        </p:nvSpPr>
        <p:spPr bwMode="auto">
          <a:xfrm>
            <a:off x="238125" y="2066925"/>
            <a:ext cx="9072563" cy="604838"/>
          </a:xfrm>
          <a:prstGeom prst="rect">
            <a:avLst/>
          </a:prstGeom>
          <a:noFill/>
          <a:ln w="12700" cap="sq">
            <a:noFill/>
            <a:miter lim="800000"/>
            <a:headEnd type="none" w="sm" len="sm"/>
            <a:tailEnd type="none" w="sm" len="sm"/>
          </a:ln>
        </p:spPr>
        <p:txBody>
          <a:bodyPr>
            <a:spAutoFit/>
          </a:bodyPr>
          <a:lstStyle/>
          <a:p>
            <a:pPr eaLnBrk="0" fontAlgn="base" hangingPunct="0">
              <a:lnSpc>
                <a:spcPct val="120000"/>
              </a:lnSpc>
              <a:spcBef>
                <a:spcPct val="0"/>
              </a:spcBef>
              <a:spcAft>
                <a:spcPct val="0"/>
              </a:spcAft>
            </a:pPr>
            <a:r>
              <a:rPr kumimoji="1" lang="en-US" altLang="zh-CN" sz="2800" b="1">
                <a:solidFill>
                  <a:srgbClr val="0000FF"/>
                </a:solidFill>
                <a:latin typeface="Times New Roman" pitchFamily="18" charset="0"/>
                <a:ea typeface="楷体_GB2312" pitchFamily="49" charset="-122"/>
              </a:rPr>
              <a:t>        </a:t>
            </a:r>
            <a:r>
              <a:rPr kumimoji="1" lang="zh-CN" altLang="en-US" sz="2800" b="1">
                <a:solidFill>
                  <a:srgbClr val="0000FF"/>
                </a:solidFill>
                <a:latin typeface="Times New Roman" pitchFamily="18" charset="0"/>
                <a:ea typeface="楷体_GB2312" pitchFamily="49" charset="-122"/>
              </a:rPr>
              <a:t>已知表达式的先缀表示式   </a:t>
            </a:r>
            <a:r>
              <a:rPr kumimoji="1" lang="en-US" altLang="zh-CN" sz="2800" b="1">
                <a:solidFill>
                  <a:srgbClr val="0000FF"/>
                </a:solidFill>
                <a:latin typeface="楷体_GB2312" pitchFamily="49" charset="-122"/>
                <a:ea typeface="楷体_GB2312" pitchFamily="49" charset="-122"/>
              </a:rPr>
              <a:t>-×+</a:t>
            </a:r>
            <a:r>
              <a:rPr kumimoji="1" lang="en-US" altLang="zh-CN" sz="2800" b="1">
                <a:solidFill>
                  <a:srgbClr val="0000FF"/>
                </a:solidFill>
                <a:latin typeface="Times New Roman" pitchFamily="18" charset="0"/>
                <a:ea typeface="楷体_GB2312" pitchFamily="49" charset="-122"/>
              </a:rPr>
              <a:t> a b c / d e</a:t>
            </a:r>
            <a:endParaRPr kumimoji="1" lang="en-US" altLang="zh-CN" sz="2800" b="1">
              <a:solidFill>
                <a:srgbClr val="0000FF"/>
              </a:solidFill>
              <a:latin typeface="Times New Roman" pitchFamily="18" charset="0"/>
            </a:endParaRPr>
          </a:p>
        </p:txBody>
      </p:sp>
      <p:sp>
        <p:nvSpPr>
          <p:cNvPr id="17" name="Text Box 7"/>
          <p:cNvSpPr txBox="1">
            <a:spLocks noChangeArrowheads="1"/>
          </p:cNvSpPr>
          <p:nvPr/>
        </p:nvSpPr>
        <p:spPr bwMode="auto">
          <a:xfrm>
            <a:off x="-261938" y="2995613"/>
            <a:ext cx="9215438" cy="2932112"/>
          </a:xfrm>
          <a:prstGeom prst="rect">
            <a:avLst/>
          </a:prstGeom>
          <a:noFill/>
          <a:ln w="9525">
            <a:noFill/>
            <a:miter lim="800000"/>
            <a:headEnd/>
            <a:tailEnd/>
          </a:ln>
        </p:spPr>
        <p:txBody>
          <a:bodyPr>
            <a:spAutoFit/>
          </a:bodyPr>
          <a:lstStyle/>
          <a:p>
            <a:pPr lvl="2" eaLnBrk="0" fontAlgn="base" hangingPunct="0">
              <a:lnSpc>
                <a:spcPct val="150000"/>
              </a:lnSpc>
              <a:spcBef>
                <a:spcPct val="0"/>
              </a:spcBef>
              <a:spcAft>
                <a:spcPct val="0"/>
              </a:spcAft>
              <a:defRPr/>
            </a:pPr>
            <a:r>
              <a:rPr kumimoji="1" lang="zh-CN" altLang="en-US" sz="3200" b="1" dirty="0">
                <a:solidFill>
                  <a:srgbClr val="003300"/>
                </a:solidFill>
                <a:latin typeface="宋体"/>
              </a:rPr>
              <a:t>前缀式的运算规则为：</a:t>
            </a:r>
            <a:endParaRPr kumimoji="1" lang="en-US" altLang="zh-CN" sz="3200" b="1" dirty="0">
              <a:solidFill>
                <a:srgbClr val="003300"/>
              </a:solidFill>
              <a:latin typeface="Times New Roman" pitchFamily="18" charset="0"/>
              <a:ea typeface="楷体_GB2312" pitchFamily="49" charset="-122"/>
            </a:endParaRPr>
          </a:p>
          <a:p>
            <a:pPr lvl="2" eaLnBrk="0" fontAlgn="base" hangingPunct="0">
              <a:lnSpc>
                <a:spcPct val="150000"/>
              </a:lnSpc>
              <a:spcBef>
                <a:spcPct val="0"/>
              </a:spcBef>
              <a:spcAft>
                <a:spcPct val="0"/>
              </a:spcAft>
              <a:buClr>
                <a:srgbClr val="0000FF"/>
              </a:buClr>
              <a:buSzPct val="96000"/>
              <a:buFont typeface="Wingdings" pitchFamily="2" charset="2"/>
              <a:buChar char="p"/>
              <a:defRPr/>
            </a:pPr>
            <a:r>
              <a:rPr kumimoji="1" lang="zh-CN" altLang="en-US" sz="3200" b="1" dirty="0">
                <a:solidFill>
                  <a:srgbClr val="000000"/>
                </a:solidFill>
                <a:latin typeface="宋体"/>
              </a:rPr>
              <a:t>连续出现的</a:t>
            </a:r>
            <a:r>
              <a:rPr kumimoji="1" lang="zh-CN" altLang="en-US" sz="3200" b="1" dirty="0">
                <a:solidFill>
                  <a:srgbClr val="FF3300"/>
                </a:solidFill>
                <a:latin typeface="宋体"/>
              </a:rPr>
              <a:t>两个操作数</a:t>
            </a:r>
            <a:r>
              <a:rPr kumimoji="1" lang="zh-CN" altLang="en-US" sz="3200" b="1" dirty="0">
                <a:solidFill>
                  <a:srgbClr val="000000"/>
                </a:solidFill>
                <a:latin typeface="宋体"/>
              </a:rPr>
              <a:t>和在它们之前且</a:t>
            </a:r>
            <a:r>
              <a:rPr kumimoji="1" lang="zh-CN" altLang="en-US" sz="3200" b="1" dirty="0">
                <a:solidFill>
                  <a:srgbClr val="FF3300"/>
                </a:solidFill>
                <a:latin typeface="宋体"/>
              </a:rPr>
              <a:t>紧靠它们的运算符</a:t>
            </a:r>
            <a:r>
              <a:rPr kumimoji="1" lang="zh-CN" altLang="en-US" sz="3200" b="1" dirty="0">
                <a:solidFill>
                  <a:srgbClr val="000000"/>
                </a:solidFill>
                <a:latin typeface="宋体"/>
              </a:rPr>
              <a:t>构成一个最小表达式</a:t>
            </a:r>
            <a:r>
              <a:rPr kumimoji="1" lang="en-US" altLang="zh-CN" sz="3200" b="1" dirty="0">
                <a:solidFill>
                  <a:srgbClr val="000000"/>
                </a:solidFill>
                <a:latin typeface="宋体"/>
              </a:rPr>
              <a:t>;</a:t>
            </a:r>
          </a:p>
          <a:p>
            <a:pPr lvl="2" eaLnBrk="0" fontAlgn="base" hangingPunct="0">
              <a:lnSpc>
                <a:spcPct val="150000"/>
              </a:lnSpc>
              <a:spcBef>
                <a:spcPct val="0"/>
              </a:spcBef>
              <a:spcAft>
                <a:spcPct val="0"/>
              </a:spcAft>
              <a:buClr>
                <a:srgbClr val="0000FF"/>
              </a:buClr>
              <a:buSzPct val="96000"/>
              <a:buFont typeface="Wingdings" pitchFamily="2" charset="2"/>
              <a:buChar char="p"/>
              <a:defRPr/>
            </a:pPr>
            <a:r>
              <a:rPr kumimoji="1" lang="zh-CN" altLang="en-US" sz="3200" b="1" dirty="0">
                <a:solidFill>
                  <a:srgbClr val="000000"/>
                </a:solidFill>
                <a:latin typeface="宋体"/>
              </a:rPr>
              <a:t>前缀式唯一确定了运算顺序；</a:t>
            </a:r>
            <a:endParaRPr kumimoji="1" lang="en-US" altLang="zh-CN" sz="3200" b="1" dirty="0">
              <a:solidFill>
                <a:srgbClr val="000000"/>
              </a:solidFill>
              <a:latin typeface="宋体"/>
            </a:endParaRPr>
          </a:p>
        </p:txBody>
      </p:sp>
    </p:spTree>
    <p:extLst>
      <p:ext uri="{BB962C8B-B14F-4D97-AF65-F5344CB8AC3E}">
        <p14:creationId xmlns:p14="http://schemas.microsoft.com/office/powerpoint/2010/main" val="3899607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2763324C-F8C7-44C6-8D0F-45139FA91A8A}"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116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4" name="Rectangle 2"/>
          <p:cNvSpPr>
            <a:spLocks noChangeArrowheads="1"/>
          </p:cNvSpPr>
          <p:nvPr/>
        </p:nvSpPr>
        <p:spPr bwMode="auto">
          <a:xfrm>
            <a:off x="2286000" y="2805112"/>
            <a:ext cx="5334000" cy="2438400"/>
          </a:xfrm>
          <a:prstGeom prst="rect">
            <a:avLst/>
          </a:prstGeom>
          <a:noFill/>
          <a:ln w="12700"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5" name="Rectangle 4"/>
          <p:cNvSpPr>
            <a:spLocks noChangeArrowheads="1"/>
          </p:cNvSpPr>
          <p:nvPr/>
        </p:nvSpPr>
        <p:spPr bwMode="auto">
          <a:xfrm>
            <a:off x="1984375" y="1190625"/>
            <a:ext cx="6326188" cy="557212"/>
          </a:xfrm>
          <a:prstGeom prst="rect">
            <a:avLst/>
          </a:prstGeom>
          <a:noFill/>
          <a:ln w="38100" cmpd="dbl">
            <a:solidFill>
              <a:srgbClr val="0707F9"/>
            </a:solidFill>
            <a:miter lim="800000"/>
            <a:headEnd/>
            <a:tailEnd/>
          </a:ln>
        </p:spPr>
        <p:txBody>
          <a:bodyPr>
            <a:spAutoFit/>
          </a:bodyPr>
          <a:lstStyle/>
          <a:p>
            <a:pPr fontAlgn="base">
              <a:spcBef>
                <a:spcPct val="0"/>
              </a:spcBef>
              <a:spcAft>
                <a:spcPct val="0"/>
              </a:spcAft>
            </a:pPr>
            <a:r>
              <a:rPr kumimoji="1" lang="zh-CN" altLang="en-US" sz="2800" b="1">
                <a:solidFill>
                  <a:srgbClr val="0707F9"/>
                </a:solidFill>
                <a:latin typeface="Times New Roman" pitchFamily="18" charset="0"/>
              </a:rPr>
              <a:t>按给定</a:t>
            </a:r>
            <a:r>
              <a:rPr kumimoji="1" lang="zh-CN" altLang="en-US" sz="2800" b="1">
                <a:solidFill>
                  <a:srgbClr val="FF0000"/>
                </a:solidFill>
                <a:latin typeface="Times New Roman" pitchFamily="18" charset="0"/>
              </a:rPr>
              <a:t>先缀的表达式</a:t>
            </a:r>
            <a:r>
              <a:rPr kumimoji="1" lang="zh-CN" altLang="en-US" sz="2800" b="1">
                <a:solidFill>
                  <a:srgbClr val="0707F9"/>
                </a:solidFill>
                <a:latin typeface="Times New Roman" pitchFamily="18" charset="0"/>
              </a:rPr>
              <a:t>建立相应的二叉树</a:t>
            </a:r>
          </a:p>
        </p:txBody>
      </p:sp>
      <p:sp>
        <p:nvSpPr>
          <p:cNvPr id="16" name="Oval 164"/>
          <p:cNvSpPr>
            <a:spLocks noChangeArrowheads="1"/>
          </p:cNvSpPr>
          <p:nvPr/>
        </p:nvSpPr>
        <p:spPr bwMode="auto">
          <a:xfrm>
            <a:off x="65088" y="1262062"/>
            <a:ext cx="1958975" cy="595313"/>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a:solidFill>
                  <a:srgbClr val="000000"/>
                </a:solidFill>
                <a:latin typeface="Times New Roman" pitchFamily="18" charset="0"/>
              </a:rPr>
              <a:t>应用举例</a:t>
            </a:r>
          </a:p>
        </p:txBody>
      </p:sp>
      <p:sp>
        <p:nvSpPr>
          <p:cNvPr id="17" name="Text Box 3">
            <a:hlinkClick r:id="" action="ppaction://hlinkshowjump?jump=nextslide"/>
          </p:cNvPr>
          <p:cNvSpPr txBox="1">
            <a:spLocks noChangeArrowheads="1"/>
          </p:cNvSpPr>
          <p:nvPr/>
        </p:nvSpPr>
        <p:spPr bwMode="auto">
          <a:xfrm>
            <a:off x="238125" y="1833562"/>
            <a:ext cx="9072563" cy="604838"/>
          </a:xfrm>
          <a:prstGeom prst="rect">
            <a:avLst/>
          </a:prstGeom>
          <a:noFill/>
          <a:ln w="12700" cap="sq">
            <a:noFill/>
            <a:miter lim="800000"/>
            <a:headEnd type="none" w="sm" len="sm"/>
            <a:tailEnd type="none" w="sm" len="sm"/>
          </a:ln>
        </p:spPr>
        <p:txBody>
          <a:bodyPr>
            <a:spAutoFit/>
          </a:bodyPr>
          <a:lstStyle/>
          <a:p>
            <a:pPr eaLnBrk="0" fontAlgn="base" hangingPunct="0">
              <a:lnSpc>
                <a:spcPct val="120000"/>
              </a:lnSpc>
              <a:spcBef>
                <a:spcPct val="0"/>
              </a:spcBef>
              <a:spcAft>
                <a:spcPct val="0"/>
              </a:spcAft>
            </a:pPr>
            <a:r>
              <a:rPr kumimoji="1" lang="en-US" altLang="zh-CN" sz="2800" b="1">
                <a:solidFill>
                  <a:srgbClr val="0000FF"/>
                </a:solidFill>
                <a:latin typeface="Times New Roman" pitchFamily="18" charset="0"/>
                <a:ea typeface="楷体_GB2312" pitchFamily="49" charset="-122"/>
              </a:rPr>
              <a:t>        </a:t>
            </a:r>
            <a:r>
              <a:rPr kumimoji="1" lang="zh-CN" altLang="en-US" sz="2800" b="1">
                <a:solidFill>
                  <a:srgbClr val="0000FF"/>
                </a:solidFill>
                <a:latin typeface="Times New Roman" pitchFamily="18" charset="0"/>
                <a:ea typeface="楷体_GB2312" pitchFamily="49" charset="-122"/>
              </a:rPr>
              <a:t>已知表达式的先缀表示式   </a:t>
            </a:r>
            <a:r>
              <a:rPr kumimoji="1" lang="en-US" altLang="zh-CN" sz="2800" b="1">
                <a:solidFill>
                  <a:srgbClr val="0000FF"/>
                </a:solidFill>
                <a:latin typeface="楷体_GB2312" pitchFamily="49" charset="-122"/>
                <a:ea typeface="楷体_GB2312" pitchFamily="49" charset="-122"/>
              </a:rPr>
              <a:t>-×+</a:t>
            </a:r>
            <a:r>
              <a:rPr kumimoji="1" lang="en-US" altLang="zh-CN" sz="2800" b="1">
                <a:solidFill>
                  <a:srgbClr val="0000FF"/>
                </a:solidFill>
                <a:latin typeface="Times New Roman" pitchFamily="18" charset="0"/>
                <a:ea typeface="楷体_GB2312" pitchFamily="49" charset="-122"/>
              </a:rPr>
              <a:t> a b c / d e</a:t>
            </a:r>
            <a:endParaRPr kumimoji="1" lang="en-US" altLang="zh-CN" sz="2800" b="1">
              <a:solidFill>
                <a:srgbClr val="0000FF"/>
              </a:solidFill>
              <a:latin typeface="Times New Roman" pitchFamily="18" charset="0"/>
            </a:endParaRPr>
          </a:p>
        </p:txBody>
      </p:sp>
      <p:sp>
        <p:nvSpPr>
          <p:cNvPr id="19" name="Rectangle 4"/>
          <p:cNvSpPr>
            <a:spLocks noChangeArrowheads="1"/>
          </p:cNvSpPr>
          <p:nvPr/>
        </p:nvSpPr>
        <p:spPr bwMode="auto">
          <a:xfrm>
            <a:off x="166688" y="5800725"/>
            <a:ext cx="8672512" cy="523875"/>
          </a:xfrm>
          <a:prstGeom prst="rect">
            <a:avLst/>
          </a:prstGeom>
          <a:noFill/>
          <a:ln w="38100" cmpd="dbl">
            <a:solidFill>
              <a:srgbClr val="0707F9"/>
            </a:solidFill>
            <a:miter lim="800000"/>
            <a:headEnd/>
            <a:tailEnd/>
          </a:ln>
        </p:spPr>
        <p:txBody>
          <a:bodyPr wrap="square">
            <a:spAutoFit/>
          </a:bodyPr>
          <a:lstStyle/>
          <a:p>
            <a:pPr fontAlgn="base">
              <a:spcBef>
                <a:spcPct val="0"/>
              </a:spcBef>
              <a:spcAft>
                <a:spcPct val="0"/>
              </a:spcAft>
            </a:pPr>
            <a:r>
              <a:rPr kumimoji="1" lang="zh-CN" altLang="en-US" sz="2800" b="1">
                <a:solidFill>
                  <a:srgbClr val="0707F9"/>
                </a:solidFill>
                <a:latin typeface="Times New Roman" pitchFamily="18" charset="0"/>
              </a:rPr>
              <a:t>表达式</a:t>
            </a:r>
            <a:r>
              <a:rPr kumimoji="1" lang="en-US" altLang="zh-CN" sz="2800" b="1">
                <a:solidFill>
                  <a:srgbClr val="0707F9"/>
                </a:solidFill>
                <a:latin typeface="Times New Roman" pitchFamily="18" charset="0"/>
              </a:rPr>
              <a:t>=</a:t>
            </a:r>
            <a:r>
              <a:rPr kumimoji="1" lang="zh-CN" altLang="en-US" sz="2800" b="1">
                <a:solidFill>
                  <a:srgbClr val="0707F9"/>
                </a:solidFill>
                <a:latin typeface="Times New Roman" pitchFamily="18" charset="0"/>
              </a:rPr>
              <a:t>（第一操作数）（运算符）（第二操作数）</a:t>
            </a:r>
          </a:p>
        </p:txBody>
      </p:sp>
      <p:grpSp>
        <p:nvGrpSpPr>
          <p:cNvPr id="20" name="组合 9"/>
          <p:cNvGrpSpPr>
            <a:grpSpLocks/>
          </p:cNvGrpSpPr>
          <p:nvPr/>
        </p:nvGrpSpPr>
        <p:grpSpPr bwMode="auto">
          <a:xfrm>
            <a:off x="309563" y="2438400"/>
            <a:ext cx="5857875" cy="3271837"/>
            <a:chOff x="23778" y="1443062"/>
            <a:chExt cx="7315200" cy="4191000"/>
          </a:xfrm>
        </p:grpSpPr>
        <p:sp>
          <p:nvSpPr>
            <p:cNvPr id="21" name="Rectangle 2"/>
            <p:cNvSpPr>
              <a:spLocks noChangeArrowheads="1"/>
            </p:cNvSpPr>
            <p:nvPr/>
          </p:nvSpPr>
          <p:spPr bwMode="auto">
            <a:xfrm>
              <a:off x="2004978" y="2438400"/>
              <a:ext cx="5334000" cy="2438400"/>
            </a:xfrm>
            <a:prstGeom prst="rect">
              <a:avLst/>
            </a:prstGeom>
            <a:noFill/>
            <a:ln w="12700"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2" name="Oval 1027"/>
            <p:cNvSpPr>
              <a:spLocks noChangeArrowheads="1"/>
            </p:cNvSpPr>
            <p:nvPr/>
          </p:nvSpPr>
          <p:spPr bwMode="auto">
            <a:xfrm>
              <a:off x="23778" y="48720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0000"/>
                  </a:solidFill>
                  <a:effectLst/>
                  <a:uLnTx/>
                  <a:uFillTx/>
                  <a:latin typeface="Times New Roman" pitchFamily="18" charset="0"/>
                </a:rPr>
                <a:t>a</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3" name="Oval 1028"/>
            <p:cNvSpPr>
              <a:spLocks noChangeArrowheads="1"/>
            </p:cNvSpPr>
            <p:nvPr/>
          </p:nvSpPr>
          <p:spPr bwMode="auto">
            <a:xfrm>
              <a:off x="1547778" y="48720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3300"/>
                  </a:solidFill>
                  <a:effectLst/>
                  <a:uLnTx/>
                  <a:uFillTx/>
                  <a:latin typeface="Times New Roman" pitchFamily="18" charset="0"/>
                </a:rPr>
                <a:t>b</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4" name="Oval 1029"/>
            <p:cNvSpPr>
              <a:spLocks noChangeArrowheads="1"/>
            </p:cNvSpPr>
            <p:nvPr/>
          </p:nvSpPr>
          <p:spPr bwMode="auto">
            <a:xfrm>
              <a:off x="2614578" y="3576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3300"/>
                  </a:solidFill>
                  <a:effectLst/>
                  <a:uLnTx/>
                  <a:uFillTx/>
                  <a:latin typeface="Times New Roman" pitchFamily="18" charset="0"/>
                </a:rPr>
                <a:t>c</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5" name="Oval 1030"/>
            <p:cNvSpPr>
              <a:spLocks noChangeArrowheads="1"/>
            </p:cNvSpPr>
            <p:nvPr/>
          </p:nvSpPr>
          <p:spPr bwMode="auto">
            <a:xfrm>
              <a:off x="4595778" y="3576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3300"/>
                  </a:solidFill>
                  <a:effectLst/>
                  <a:uLnTx/>
                  <a:uFillTx/>
                  <a:latin typeface="Times New Roman" pitchFamily="18" charset="0"/>
                </a:rPr>
                <a:t>d</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6" name="Oval 1031"/>
            <p:cNvSpPr>
              <a:spLocks noChangeArrowheads="1"/>
            </p:cNvSpPr>
            <p:nvPr/>
          </p:nvSpPr>
          <p:spPr bwMode="auto">
            <a:xfrm>
              <a:off x="6424578" y="3576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3300"/>
                  </a:solidFill>
                  <a:effectLst/>
                  <a:uLnTx/>
                  <a:uFillTx/>
                  <a:latin typeface="Times New Roman" pitchFamily="18" charset="0"/>
                </a:rPr>
                <a:t>e</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7" name="Oval 1032"/>
            <p:cNvSpPr>
              <a:spLocks noChangeArrowheads="1"/>
            </p:cNvSpPr>
            <p:nvPr/>
          </p:nvSpPr>
          <p:spPr bwMode="auto">
            <a:xfrm>
              <a:off x="3605178" y="14430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dirty="0">
                  <a:ln>
                    <a:noFill/>
                  </a:ln>
                  <a:solidFill>
                    <a:srgbClr val="000066"/>
                  </a:solidFill>
                  <a:effectLst/>
                  <a:uLnTx/>
                  <a:uFillTx/>
                  <a:latin typeface="楷体_GB2312" pitchFamily="49" charset="-122"/>
                  <a:ea typeface="楷体_GB2312" pitchFamily="49" charset="-122"/>
                </a:rPr>
                <a:t>-</a:t>
              </a:r>
              <a:endParaRPr kumimoji="1" lang="en-US" altLang="zh-CN" sz="3200" b="1" i="0" u="none" strike="noStrike" kern="0" cap="none" spc="0" normalizeH="0" baseline="0" noProof="0" dirty="0">
                <a:ln>
                  <a:noFill/>
                </a:ln>
                <a:solidFill>
                  <a:srgbClr val="333399"/>
                </a:solidFill>
                <a:effectLst/>
                <a:uLnTx/>
                <a:uFillTx/>
                <a:latin typeface="Times New Roman" pitchFamily="18" charset="0"/>
              </a:endParaRPr>
            </a:p>
          </p:txBody>
        </p:sp>
        <p:sp>
          <p:nvSpPr>
            <p:cNvPr id="28" name="Oval 1033"/>
            <p:cNvSpPr>
              <a:spLocks noChangeArrowheads="1"/>
            </p:cNvSpPr>
            <p:nvPr/>
          </p:nvSpPr>
          <p:spPr bwMode="auto">
            <a:xfrm>
              <a:off x="1700178" y="2433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000066"/>
                  </a:solidFill>
                  <a:effectLst/>
                  <a:uLnTx/>
                  <a:uFillTx/>
                  <a:latin typeface="楷体_GB2312" pitchFamily="49" charset="-122"/>
                  <a:ea typeface="楷体_GB2312" pitchFamily="49" charset="-122"/>
                </a:rPr>
                <a:t>×</a:t>
              </a:r>
            </a:p>
          </p:txBody>
        </p:sp>
        <p:sp>
          <p:nvSpPr>
            <p:cNvPr id="29" name="Oval 1034"/>
            <p:cNvSpPr>
              <a:spLocks noChangeArrowheads="1"/>
            </p:cNvSpPr>
            <p:nvPr/>
          </p:nvSpPr>
          <p:spPr bwMode="auto">
            <a:xfrm>
              <a:off x="785778" y="3576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333399"/>
                  </a:solidFill>
                  <a:effectLst/>
                  <a:uLnTx/>
                  <a:uFillTx/>
                  <a:latin typeface="Times New Roman" pitchFamily="18" charset="0"/>
                </a:rPr>
                <a:t>+</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30" name="Oval 1035"/>
            <p:cNvSpPr>
              <a:spLocks noChangeArrowheads="1"/>
            </p:cNvSpPr>
            <p:nvPr/>
          </p:nvSpPr>
          <p:spPr bwMode="auto">
            <a:xfrm>
              <a:off x="5510178" y="2433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333399"/>
                  </a:solidFill>
                  <a:effectLst/>
                  <a:uLnTx/>
                  <a:uFillTx/>
                  <a:latin typeface="Times New Roman" pitchFamily="18" charset="0"/>
                </a:rPr>
                <a:t>/</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31" name="Line 1044"/>
            <p:cNvSpPr>
              <a:spLocks noChangeShapeType="1"/>
            </p:cNvSpPr>
            <p:nvPr/>
          </p:nvSpPr>
          <p:spPr bwMode="auto">
            <a:xfrm flipH="1">
              <a:off x="2004978" y="1824062"/>
              <a:ext cx="1600200" cy="6096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2" name="Line 1045"/>
            <p:cNvSpPr>
              <a:spLocks noChangeShapeType="1"/>
            </p:cNvSpPr>
            <p:nvPr/>
          </p:nvSpPr>
          <p:spPr bwMode="auto">
            <a:xfrm>
              <a:off x="4214778" y="1824062"/>
              <a:ext cx="1600200" cy="6096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3" name="Line 1046"/>
            <p:cNvSpPr>
              <a:spLocks noChangeShapeType="1"/>
            </p:cNvSpPr>
            <p:nvPr/>
          </p:nvSpPr>
          <p:spPr bwMode="auto">
            <a:xfrm flipH="1">
              <a:off x="1090578" y="2814662"/>
              <a:ext cx="609600" cy="7620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4" name="Line 1047"/>
            <p:cNvSpPr>
              <a:spLocks noChangeShapeType="1"/>
            </p:cNvSpPr>
            <p:nvPr/>
          </p:nvSpPr>
          <p:spPr bwMode="auto">
            <a:xfrm flipH="1">
              <a:off x="328578" y="3957662"/>
              <a:ext cx="457200" cy="9144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5" name="Line 1048"/>
            <p:cNvSpPr>
              <a:spLocks noChangeShapeType="1"/>
            </p:cNvSpPr>
            <p:nvPr/>
          </p:nvSpPr>
          <p:spPr bwMode="auto">
            <a:xfrm>
              <a:off x="1395378" y="3881462"/>
              <a:ext cx="457200" cy="9906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6" name="Line 1049"/>
            <p:cNvSpPr>
              <a:spLocks noChangeShapeType="1"/>
            </p:cNvSpPr>
            <p:nvPr/>
          </p:nvSpPr>
          <p:spPr bwMode="auto">
            <a:xfrm>
              <a:off x="2309778" y="2814662"/>
              <a:ext cx="609600" cy="7620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7" name="Line 1050"/>
            <p:cNvSpPr>
              <a:spLocks noChangeShapeType="1"/>
            </p:cNvSpPr>
            <p:nvPr/>
          </p:nvSpPr>
          <p:spPr bwMode="auto">
            <a:xfrm flipH="1">
              <a:off x="4900578" y="2814662"/>
              <a:ext cx="609600" cy="7620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8" name="Line 1051"/>
            <p:cNvSpPr>
              <a:spLocks noChangeShapeType="1"/>
            </p:cNvSpPr>
            <p:nvPr/>
          </p:nvSpPr>
          <p:spPr bwMode="auto">
            <a:xfrm>
              <a:off x="6119778" y="2814662"/>
              <a:ext cx="609600" cy="7620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Tree>
    <p:extLst>
      <p:ext uri="{BB962C8B-B14F-4D97-AF65-F5344CB8AC3E}">
        <p14:creationId xmlns:p14="http://schemas.microsoft.com/office/powerpoint/2010/main" val="98552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1309B645-AC08-4AD6-AD20-DDE34552CC4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117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4"/>
          <p:cNvSpPr>
            <a:spLocks noChangeArrowheads="1"/>
          </p:cNvSpPr>
          <p:nvPr/>
        </p:nvSpPr>
        <p:spPr bwMode="auto">
          <a:xfrm>
            <a:off x="2127250" y="1220788"/>
            <a:ext cx="6326188" cy="523875"/>
          </a:xfrm>
          <a:prstGeom prst="rect">
            <a:avLst/>
          </a:prstGeom>
          <a:noFill/>
          <a:ln w="38100" cmpd="dbl">
            <a:solidFill>
              <a:srgbClr val="0707F9"/>
            </a:solidFill>
            <a:miter lim="800000"/>
            <a:headEnd/>
            <a:tailEnd/>
          </a:ln>
        </p:spPr>
        <p:txBody>
          <a:bodyPr>
            <a:spAutoFit/>
          </a:bodyPr>
          <a:lstStyle/>
          <a:p>
            <a:pPr fontAlgn="base">
              <a:spcBef>
                <a:spcPct val="0"/>
              </a:spcBef>
              <a:spcAft>
                <a:spcPct val="0"/>
              </a:spcAft>
            </a:pPr>
            <a:r>
              <a:rPr kumimoji="1" lang="zh-CN" altLang="en-US" sz="2800" b="1">
                <a:solidFill>
                  <a:srgbClr val="0707F9"/>
                </a:solidFill>
                <a:latin typeface="Times New Roman" pitchFamily="18" charset="0"/>
              </a:rPr>
              <a:t>按给定的表达式建立相应的二叉树</a:t>
            </a:r>
          </a:p>
        </p:txBody>
      </p:sp>
      <p:sp>
        <p:nvSpPr>
          <p:cNvPr id="14" name="Oval 164"/>
          <p:cNvSpPr>
            <a:spLocks noChangeArrowheads="1"/>
          </p:cNvSpPr>
          <p:nvPr/>
        </p:nvSpPr>
        <p:spPr bwMode="auto">
          <a:xfrm>
            <a:off x="65088" y="1149350"/>
            <a:ext cx="1958975" cy="595313"/>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a:solidFill>
                  <a:srgbClr val="000000"/>
                </a:solidFill>
                <a:latin typeface="Times New Roman" pitchFamily="18" charset="0"/>
              </a:rPr>
              <a:t>应用举例</a:t>
            </a:r>
          </a:p>
        </p:txBody>
      </p:sp>
      <p:grpSp>
        <p:nvGrpSpPr>
          <p:cNvPr id="15" name="组合 28"/>
          <p:cNvGrpSpPr>
            <a:grpSpLocks/>
          </p:cNvGrpSpPr>
          <p:nvPr/>
        </p:nvGrpSpPr>
        <p:grpSpPr bwMode="auto">
          <a:xfrm>
            <a:off x="23813" y="1981200"/>
            <a:ext cx="5857875" cy="3271837"/>
            <a:chOff x="23778" y="1443062"/>
            <a:chExt cx="7315200" cy="4191000"/>
          </a:xfrm>
        </p:grpSpPr>
        <p:sp>
          <p:nvSpPr>
            <p:cNvPr id="16" name="Rectangle 2"/>
            <p:cNvSpPr>
              <a:spLocks noChangeArrowheads="1"/>
            </p:cNvSpPr>
            <p:nvPr/>
          </p:nvSpPr>
          <p:spPr bwMode="auto">
            <a:xfrm>
              <a:off x="2004978" y="2438400"/>
              <a:ext cx="5334000" cy="2438400"/>
            </a:xfrm>
            <a:prstGeom prst="rect">
              <a:avLst/>
            </a:prstGeom>
            <a:noFill/>
            <a:ln w="12700"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17" name="Oval 1027"/>
            <p:cNvSpPr>
              <a:spLocks noChangeArrowheads="1"/>
            </p:cNvSpPr>
            <p:nvPr/>
          </p:nvSpPr>
          <p:spPr bwMode="auto">
            <a:xfrm>
              <a:off x="23778" y="48720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0000"/>
                  </a:solidFill>
                  <a:effectLst/>
                  <a:uLnTx/>
                  <a:uFillTx/>
                  <a:latin typeface="Times New Roman" pitchFamily="18" charset="0"/>
                </a:rPr>
                <a:t>a</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19" name="Oval 1028"/>
            <p:cNvSpPr>
              <a:spLocks noChangeArrowheads="1"/>
            </p:cNvSpPr>
            <p:nvPr/>
          </p:nvSpPr>
          <p:spPr bwMode="auto">
            <a:xfrm>
              <a:off x="1547778" y="48720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3300"/>
                  </a:solidFill>
                  <a:effectLst/>
                  <a:uLnTx/>
                  <a:uFillTx/>
                  <a:latin typeface="Times New Roman" pitchFamily="18" charset="0"/>
                </a:rPr>
                <a:t>b</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0" name="Oval 1029"/>
            <p:cNvSpPr>
              <a:spLocks noChangeArrowheads="1"/>
            </p:cNvSpPr>
            <p:nvPr/>
          </p:nvSpPr>
          <p:spPr bwMode="auto">
            <a:xfrm>
              <a:off x="2614578" y="3576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3300"/>
                  </a:solidFill>
                  <a:effectLst/>
                  <a:uLnTx/>
                  <a:uFillTx/>
                  <a:latin typeface="Times New Roman" pitchFamily="18" charset="0"/>
                </a:rPr>
                <a:t>c</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1" name="Oval 1030"/>
            <p:cNvSpPr>
              <a:spLocks noChangeArrowheads="1"/>
            </p:cNvSpPr>
            <p:nvPr/>
          </p:nvSpPr>
          <p:spPr bwMode="auto">
            <a:xfrm>
              <a:off x="4595778" y="3576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3300"/>
                  </a:solidFill>
                  <a:effectLst/>
                  <a:uLnTx/>
                  <a:uFillTx/>
                  <a:latin typeface="Times New Roman" pitchFamily="18" charset="0"/>
                </a:rPr>
                <a:t>d</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2" name="Oval 1031"/>
            <p:cNvSpPr>
              <a:spLocks noChangeArrowheads="1"/>
            </p:cNvSpPr>
            <p:nvPr/>
          </p:nvSpPr>
          <p:spPr bwMode="auto">
            <a:xfrm>
              <a:off x="6424578" y="3576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3300"/>
                  </a:solidFill>
                  <a:effectLst/>
                  <a:uLnTx/>
                  <a:uFillTx/>
                  <a:latin typeface="Times New Roman" pitchFamily="18" charset="0"/>
                </a:rPr>
                <a:t>e</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3" name="Oval 1032"/>
            <p:cNvSpPr>
              <a:spLocks noChangeArrowheads="1"/>
            </p:cNvSpPr>
            <p:nvPr/>
          </p:nvSpPr>
          <p:spPr bwMode="auto">
            <a:xfrm>
              <a:off x="3605178" y="14430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000066"/>
                  </a:solidFill>
                  <a:effectLst/>
                  <a:uLnTx/>
                  <a:uFillTx/>
                  <a:latin typeface="楷体_GB2312" pitchFamily="49" charset="-122"/>
                  <a:ea typeface="楷体_GB2312" pitchFamily="49" charset="-122"/>
                </a:rPr>
                <a:t>-</a:t>
              </a:r>
              <a:endParaRPr kumimoji="1" lang="en-US" altLang="zh-CN" sz="3200" b="1" i="0" u="none" strike="noStrike" kern="0" cap="none" spc="0" normalizeH="0" baseline="0" noProof="0">
                <a:ln>
                  <a:noFill/>
                </a:ln>
                <a:solidFill>
                  <a:srgbClr val="333399"/>
                </a:solidFill>
                <a:effectLst/>
                <a:uLnTx/>
                <a:uFillTx/>
                <a:latin typeface="Times New Roman" pitchFamily="18" charset="0"/>
              </a:endParaRPr>
            </a:p>
          </p:txBody>
        </p:sp>
        <p:sp>
          <p:nvSpPr>
            <p:cNvPr id="24" name="Oval 1033"/>
            <p:cNvSpPr>
              <a:spLocks noChangeArrowheads="1"/>
            </p:cNvSpPr>
            <p:nvPr/>
          </p:nvSpPr>
          <p:spPr bwMode="auto">
            <a:xfrm>
              <a:off x="1700178" y="2433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000066"/>
                  </a:solidFill>
                  <a:effectLst/>
                  <a:uLnTx/>
                  <a:uFillTx/>
                  <a:latin typeface="楷体_GB2312" pitchFamily="49" charset="-122"/>
                  <a:ea typeface="楷体_GB2312" pitchFamily="49" charset="-122"/>
                </a:rPr>
                <a:t>×</a:t>
              </a:r>
            </a:p>
          </p:txBody>
        </p:sp>
        <p:sp>
          <p:nvSpPr>
            <p:cNvPr id="25" name="Oval 1034"/>
            <p:cNvSpPr>
              <a:spLocks noChangeArrowheads="1"/>
            </p:cNvSpPr>
            <p:nvPr/>
          </p:nvSpPr>
          <p:spPr bwMode="auto">
            <a:xfrm>
              <a:off x="785778" y="3576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333399"/>
                  </a:solidFill>
                  <a:effectLst/>
                  <a:uLnTx/>
                  <a:uFillTx/>
                  <a:latin typeface="Times New Roman" pitchFamily="18" charset="0"/>
                </a:rPr>
                <a:t>+</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6" name="Oval 1035"/>
            <p:cNvSpPr>
              <a:spLocks noChangeArrowheads="1"/>
            </p:cNvSpPr>
            <p:nvPr/>
          </p:nvSpPr>
          <p:spPr bwMode="auto">
            <a:xfrm>
              <a:off x="5510178" y="2433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333399"/>
                  </a:solidFill>
                  <a:effectLst/>
                  <a:uLnTx/>
                  <a:uFillTx/>
                  <a:latin typeface="Times New Roman" pitchFamily="18" charset="0"/>
                </a:rPr>
                <a:t>/</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7" name="Line 1044"/>
            <p:cNvSpPr>
              <a:spLocks noChangeShapeType="1"/>
            </p:cNvSpPr>
            <p:nvPr/>
          </p:nvSpPr>
          <p:spPr bwMode="auto">
            <a:xfrm flipH="1">
              <a:off x="2004978" y="1824062"/>
              <a:ext cx="1600200" cy="6096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Line 1045"/>
            <p:cNvSpPr>
              <a:spLocks noChangeShapeType="1"/>
            </p:cNvSpPr>
            <p:nvPr/>
          </p:nvSpPr>
          <p:spPr bwMode="auto">
            <a:xfrm>
              <a:off x="4214778" y="1824062"/>
              <a:ext cx="1600200" cy="6096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Line 1046"/>
            <p:cNvSpPr>
              <a:spLocks noChangeShapeType="1"/>
            </p:cNvSpPr>
            <p:nvPr/>
          </p:nvSpPr>
          <p:spPr bwMode="auto">
            <a:xfrm flipH="1">
              <a:off x="1090578" y="2814662"/>
              <a:ext cx="609600" cy="7620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0" name="Line 1047"/>
            <p:cNvSpPr>
              <a:spLocks noChangeShapeType="1"/>
            </p:cNvSpPr>
            <p:nvPr/>
          </p:nvSpPr>
          <p:spPr bwMode="auto">
            <a:xfrm flipH="1">
              <a:off x="328578" y="3957662"/>
              <a:ext cx="457200" cy="9144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1" name="Line 1048"/>
            <p:cNvSpPr>
              <a:spLocks noChangeShapeType="1"/>
            </p:cNvSpPr>
            <p:nvPr/>
          </p:nvSpPr>
          <p:spPr bwMode="auto">
            <a:xfrm>
              <a:off x="1395378" y="3881462"/>
              <a:ext cx="457200" cy="9906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2" name="Line 1049"/>
            <p:cNvSpPr>
              <a:spLocks noChangeShapeType="1"/>
            </p:cNvSpPr>
            <p:nvPr/>
          </p:nvSpPr>
          <p:spPr bwMode="auto">
            <a:xfrm>
              <a:off x="2309778" y="2814662"/>
              <a:ext cx="609600" cy="7620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3" name="Line 1050"/>
            <p:cNvSpPr>
              <a:spLocks noChangeShapeType="1"/>
            </p:cNvSpPr>
            <p:nvPr/>
          </p:nvSpPr>
          <p:spPr bwMode="auto">
            <a:xfrm flipH="1">
              <a:off x="4900578" y="2814662"/>
              <a:ext cx="609600" cy="7620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4" name="Line 1051"/>
            <p:cNvSpPr>
              <a:spLocks noChangeShapeType="1"/>
            </p:cNvSpPr>
            <p:nvPr/>
          </p:nvSpPr>
          <p:spPr bwMode="auto">
            <a:xfrm>
              <a:off x="6119778" y="2814662"/>
              <a:ext cx="609600" cy="7620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35" name="Text Box 1052"/>
          <p:cNvSpPr txBox="1">
            <a:spLocks noChangeArrowheads="1"/>
          </p:cNvSpPr>
          <p:nvPr/>
        </p:nvSpPr>
        <p:spPr bwMode="auto">
          <a:xfrm>
            <a:off x="4878388" y="4340225"/>
            <a:ext cx="4113212" cy="2441575"/>
          </a:xfrm>
          <a:prstGeom prst="rect">
            <a:avLst/>
          </a:prstGeom>
          <a:noFill/>
          <a:ln w="12700" cap="sq">
            <a:solidFill>
              <a:srgbClr val="00B0F0"/>
            </a:solidFill>
            <a:miter lim="800000"/>
            <a:headEnd type="none" w="sm" len="sm"/>
            <a:tailEnd type="none" w="sm" len="sm"/>
          </a:ln>
        </p:spPr>
        <p:txBody>
          <a:bodyPr wrap="none">
            <a:spAutoFit/>
          </a:bodyPr>
          <a:lstStyle/>
          <a:p>
            <a:pPr eaLnBrk="0" fontAlgn="base" hangingPunct="0">
              <a:lnSpc>
                <a:spcPct val="120000"/>
              </a:lnSpc>
              <a:spcBef>
                <a:spcPct val="0"/>
              </a:spcBef>
              <a:spcAft>
                <a:spcPct val="0"/>
              </a:spcAft>
            </a:pPr>
            <a:r>
              <a:rPr kumimoji="1" lang="zh-CN" altLang="en-US" sz="3200" b="1">
                <a:solidFill>
                  <a:srgbClr val="0000FF"/>
                </a:solidFill>
                <a:latin typeface="Times New Roman" pitchFamily="18" charset="0"/>
                <a:ea typeface="楷体_GB2312" pitchFamily="49" charset="-122"/>
              </a:rPr>
              <a:t>对于二元运算符：</a:t>
            </a:r>
            <a:endParaRPr kumimoji="1" lang="en-US" altLang="zh-CN" sz="3200" b="1">
              <a:solidFill>
                <a:srgbClr val="0000FF"/>
              </a:solidFill>
              <a:latin typeface="Times New Roman" pitchFamily="18" charset="0"/>
              <a:ea typeface="楷体_GB2312" pitchFamily="49" charset="-122"/>
            </a:endParaRPr>
          </a:p>
          <a:p>
            <a:pPr eaLnBrk="0" fontAlgn="base" hangingPunct="0">
              <a:lnSpc>
                <a:spcPct val="120000"/>
              </a:lnSpc>
              <a:spcBef>
                <a:spcPct val="0"/>
              </a:spcBef>
              <a:spcAft>
                <a:spcPct val="0"/>
              </a:spcAft>
              <a:buFont typeface="Arial" pitchFamily="34" charset="0"/>
              <a:buChar char="•"/>
            </a:pPr>
            <a:r>
              <a:rPr kumimoji="1" lang="zh-CN" altLang="en-US" sz="3200" b="1">
                <a:solidFill>
                  <a:srgbClr val="FF0000"/>
                </a:solidFill>
                <a:latin typeface="Times New Roman" pitchFamily="18" charset="0"/>
                <a:ea typeface="楷体_GB2312" pitchFamily="49" charset="-122"/>
              </a:rPr>
              <a:t>左右子树不空；</a:t>
            </a:r>
            <a:endParaRPr kumimoji="1" lang="en-US" altLang="zh-CN" sz="3200" b="1">
              <a:solidFill>
                <a:srgbClr val="FF0000"/>
              </a:solidFill>
              <a:latin typeface="Times New Roman" pitchFamily="18" charset="0"/>
              <a:ea typeface="楷体_GB2312" pitchFamily="49" charset="-122"/>
            </a:endParaRPr>
          </a:p>
          <a:p>
            <a:pPr eaLnBrk="0" fontAlgn="base" hangingPunct="0">
              <a:lnSpc>
                <a:spcPct val="120000"/>
              </a:lnSpc>
              <a:spcBef>
                <a:spcPct val="0"/>
              </a:spcBef>
              <a:spcAft>
                <a:spcPct val="0"/>
              </a:spcAft>
              <a:buFont typeface="Arial" pitchFamily="34" charset="0"/>
              <a:buChar char="•"/>
            </a:pPr>
            <a:r>
              <a:rPr kumimoji="1" lang="zh-CN" altLang="en-US" sz="3200" b="1">
                <a:solidFill>
                  <a:srgbClr val="FF0000"/>
                </a:solidFill>
                <a:latin typeface="Times New Roman" pitchFamily="18" charset="0"/>
                <a:ea typeface="楷体_GB2312" pitchFamily="49" charset="-122"/>
              </a:rPr>
              <a:t>操作数为叶子结点；</a:t>
            </a:r>
          </a:p>
          <a:p>
            <a:pPr eaLnBrk="0" fontAlgn="base" hangingPunct="0">
              <a:lnSpc>
                <a:spcPct val="120000"/>
              </a:lnSpc>
              <a:spcBef>
                <a:spcPct val="0"/>
              </a:spcBef>
              <a:spcAft>
                <a:spcPct val="0"/>
              </a:spcAft>
              <a:buFont typeface="Arial" pitchFamily="34" charset="0"/>
              <a:buChar char="•"/>
            </a:pPr>
            <a:r>
              <a:rPr kumimoji="1" lang="zh-CN" altLang="en-US" sz="3200" b="1">
                <a:solidFill>
                  <a:srgbClr val="FF0000"/>
                </a:solidFill>
                <a:latin typeface="Times New Roman" pitchFamily="18" charset="0"/>
                <a:ea typeface="楷体_GB2312" pitchFamily="49" charset="-122"/>
              </a:rPr>
              <a:t> 运算符为分支结点；</a:t>
            </a:r>
            <a:endParaRPr kumimoji="1" lang="zh-CN" altLang="en-US" sz="3200" b="1">
              <a:solidFill>
                <a:srgbClr val="FF0000"/>
              </a:solidFill>
              <a:latin typeface="Times New Roman" pitchFamily="18" charset="0"/>
            </a:endParaRPr>
          </a:p>
        </p:txBody>
      </p:sp>
    </p:spTree>
    <p:extLst>
      <p:ext uri="{BB962C8B-B14F-4D97-AF65-F5344CB8AC3E}">
        <p14:creationId xmlns:p14="http://schemas.microsoft.com/office/powerpoint/2010/main" val="3047719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DD4334BD-E6C8-4854-AACE-2779F22DFAC6}"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118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4"/>
          <p:cNvSpPr>
            <a:spLocks noChangeArrowheads="1"/>
          </p:cNvSpPr>
          <p:nvPr/>
        </p:nvSpPr>
        <p:spPr bwMode="auto">
          <a:xfrm>
            <a:off x="2055812" y="1371600"/>
            <a:ext cx="6326188" cy="557213"/>
          </a:xfrm>
          <a:prstGeom prst="rect">
            <a:avLst/>
          </a:prstGeom>
          <a:noFill/>
          <a:ln w="38100" cmpd="dbl">
            <a:solidFill>
              <a:srgbClr val="0707F9"/>
            </a:solidFill>
            <a:miter lim="800000"/>
            <a:headEnd/>
            <a:tailEnd/>
          </a:ln>
        </p:spPr>
        <p:txBody>
          <a:bodyPr>
            <a:spAutoFit/>
          </a:bodyPr>
          <a:lstStyle/>
          <a:p>
            <a:pPr fontAlgn="base">
              <a:spcBef>
                <a:spcPct val="0"/>
              </a:spcBef>
              <a:spcAft>
                <a:spcPct val="0"/>
              </a:spcAft>
            </a:pPr>
            <a:r>
              <a:rPr kumimoji="1" lang="zh-CN" altLang="en-US" sz="2800" b="1">
                <a:solidFill>
                  <a:srgbClr val="0707F9"/>
                </a:solidFill>
                <a:latin typeface="Times New Roman" pitchFamily="18" charset="0"/>
              </a:rPr>
              <a:t>按给定</a:t>
            </a:r>
            <a:r>
              <a:rPr kumimoji="1" lang="zh-CN" altLang="en-US" sz="2800" b="1">
                <a:solidFill>
                  <a:srgbClr val="FF0000"/>
                </a:solidFill>
                <a:latin typeface="Times New Roman" pitchFamily="18" charset="0"/>
              </a:rPr>
              <a:t>后缀的表达式</a:t>
            </a:r>
            <a:r>
              <a:rPr kumimoji="1" lang="zh-CN" altLang="en-US" sz="2800" b="1">
                <a:solidFill>
                  <a:srgbClr val="0707F9"/>
                </a:solidFill>
                <a:latin typeface="Times New Roman" pitchFamily="18" charset="0"/>
              </a:rPr>
              <a:t>建立相应的二叉树</a:t>
            </a:r>
          </a:p>
        </p:txBody>
      </p:sp>
      <p:sp>
        <p:nvSpPr>
          <p:cNvPr id="14" name="Oval 164"/>
          <p:cNvSpPr>
            <a:spLocks noChangeArrowheads="1"/>
          </p:cNvSpPr>
          <p:nvPr/>
        </p:nvSpPr>
        <p:spPr bwMode="auto">
          <a:xfrm>
            <a:off x="65088" y="1233487"/>
            <a:ext cx="1958975" cy="595313"/>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a:solidFill>
                  <a:srgbClr val="000000"/>
                </a:solidFill>
                <a:latin typeface="Times New Roman" pitchFamily="18" charset="0"/>
              </a:rPr>
              <a:t>应用举例</a:t>
            </a:r>
          </a:p>
        </p:txBody>
      </p:sp>
      <p:sp>
        <p:nvSpPr>
          <p:cNvPr id="15" name="Text Box 7"/>
          <p:cNvSpPr txBox="1">
            <a:spLocks noChangeArrowheads="1"/>
          </p:cNvSpPr>
          <p:nvPr/>
        </p:nvSpPr>
        <p:spPr bwMode="auto">
          <a:xfrm>
            <a:off x="-609600" y="2220912"/>
            <a:ext cx="9753600" cy="3970318"/>
          </a:xfrm>
          <a:prstGeom prst="rect">
            <a:avLst/>
          </a:prstGeom>
          <a:noFill/>
          <a:ln w="9525">
            <a:noFill/>
            <a:miter lim="800000"/>
            <a:headEnd/>
            <a:tailEnd/>
          </a:ln>
        </p:spPr>
        <p:txBody>
          <a:bodyPr wrap="square">
            <a:spAutoFit/>
          </a:bodyPr>
          <a:lstStyle/>
          <a:p>
            <a:pPr lvl="2" eaLnBrk="0" fontAlgn="base" hangingPunct="0">
              <a:lnSpc>
                <a:spcPct val="150000"/>
              </a:lnSpc>
              <a:spcBef>
                <a:spcPct val="0"/>
              </a:spcBef>
              <a:spcAft>
                <a:spcPct val="0"/>
              </a:spcAft>
              <a:defRPr/>
            </a:pPr>
            <a:r>
              <a:rPr kumimoji="1" lang="zh-CN" altLang="en-US" sz="2800" b="1" dirty="0">
                <a:solidFill>
                  <a:srgbClr val="003300"/>
                </a:solidFill>
                <a:latin typeface="宋体"/>
              </a:rPr>
              <a:t>后缀式的运算规则为</a:t>
            </a:r>
            <a:endParaRPr kumimoji="1" lang="en-US" altLang="zh-CN" sz="2800" b="1" dirty="0">
              <a:solidFill>
                <a:srgbClr val="003300"/>
              </a:solidFill>
              <a:latin typeface="宋体"/>
            </a:endParaRPr>
          </a:p>
          <a:p>
            <a:pPr lvl="2" eaLnBrk="0" fontAlgn="base" hangingPunct="0">
              <a:lnSpc>
                <a:spcPct val="150000"/>
              </a:lnSpc>
              <a:spcBef>
                <a:spcPct val="0"/>
              </a:spcBef>
              <a:spcAft>
                <a:spcPct val="0"/>
              </a:spcAft>
              <a:buClr>
                <a:srgbClr val="0000FF"/>
              </a:buClr>
              <a:buFont typeface="Wingdings" pitchFamily="2" charset="2"/>
              <a:buChar char="p"/>
              <a:defRPr/>
            </a:pPr>
            <a:r>
              <a:rPr kumimoji="1" lang="zh-CN" altLang="en-US" sz="2800" b="1" dirty="0">
                <a:solidFill>
                  <a:srgbClr val="000000"/>
                </a:solidFill>
                <a:latin typeface="宋体"/>
              </a:rPr>
              <a:t>运算符在式中出现的顺序恰为表达式的运算顺序</a:t>
            </a:r>
            <a:r>
              <a:rPr kumimoji="1" lang="en-US" altLang="zh-CN" sz="2800" b="1" dirty="0">
                <a:solidFill>
                  <a:srgbClr val="000000"/>
                </a:solidFill>
                <a:latin typeface="宋体"/>
              </a:rPr>
              <a:t>;</a:t>
            </a:r>
          </a:p>
          <a:p>
            <a:pPr lvl="2" eaLnBrk="0" fontAlgn="base" hangingPunct="0">
              <a:lnSpc>
                <a:spcPct val="150000"/>
              </a:lnSpc>
              <a:spcBef>
                <a:spcPct val="0"/>
              </a:spcBef>
              <a:spcAft>
                <a:spcPct val="0"/>
              </a:spcAft>
              <a:buClr>
                <a:srgbClr val="0000FF"/>
              </a:buClr>
              <a:buFont typeface="Wingdings" pitchFamily="2" charset="2"/>
              <a:buChar char="p"/>
              <a:defRPr/>
            </a:pPr>
            <a:r>
              <a:rPr kumimoji="1" lang="en-US" altLang="zh-CN" sz="2800" b="1" dirty="0">
                <a:solidFill>
                  <a:srgbClr val="000000"/>
                </a:solidFill>
                <a:latin typeface="宋体"/>
              </a:rPr>
              <a:t> </a:t>
            </a:r>
            <a:r>
              <a:rPr kumimoji="1" lang="zh-CN" altLang="en-US" sz="2800" b="1" dirty="0">
                <a:solidFill>
                  <a:srgbClr val="000000"/>
                </a:solidFill>
                <a:latin typeface="宋体"/>
              </a:rPr>
              <a:t>每个</a:t>
            </a:r>
            <a:r>
              <a:rPr kumimoji="1" lang="zh-CN" altLang="en-US" sz="2800" b="1" dirty="0">
                <a:solidFill>
                  <a:srgbClr val="FF3300"/>
                </a:solidFill>
                <a:latin typeface="宋体"/>
              </a:rPr>
              <a:t>运算符</a:t>
            </a:r>
            <a:r>
              <a:rPr kumimoji="1" lang="zh-CN" altLang="en-US" sz="2800" b="1" dirty="0">
                <a:solidFill>
                  <a:srgbClr val="000000"/>
                </a:solidFill>
                <a:latin typeface="宋体"/>
              </a:rPr>
              <a:t>和在它之前出现且</a:t>
            </a:r>
            <a:r>
              <a:rPr kumimoji="1" lang="zh-CN" altLang="en-US" sz="2800" b="1" dirty="0">
                <a:solidFill>
                  <a:srgbClr val="FF3300"/>
                </a:solidFill>
                <a:latin typeface="宋体"/>
              </a:rPr>
              <a:t>紧靠它的两个操作数</a:t>
            </a:r>
            <a:r>
              <a:rPr kumimoji="1" lang="zh-CN" altLang="en-US" sz="2800" b="1" dirty="0">
                <a:solidFill>
                  <a:srgbClr val="000000"/>
                </a:solidFill>
                <a:latin typeface="宋体"/>
              </a:rPr>
              <a:t>构成一个最小表达式。</a:t>
            </a:r>
            <a:endParaRPr kumimoji="1" lang="en-US" altLang="zh-CN" sz="2800" b="1" dirty="0">
              <a:solidFill>
                <a:srgbClr val="000000"/>
              </a:solidFill>
              <a:latin typeface="宋体"/>
            </a:endParaRPr>
          </a:p>
          <a:p>
            <a:pPr lvl="2" eaLnBrk="0" fontAlgn="base" hangingPunct="0">
              <a:lnSpc>
                <a:spcPct val="150000"/>
              </a:lnSpc>
              <a:spcBef>
                <a:spcPct val="0"/>
              </a:spcBef>
              <a:spcAft>
                <a:spcPct val="0"/>
              </a:spcAft>
              <a:buClr>
                <a:srgbClr val="0000FF"/>
              </a:buClr>
              <a:buFont typeface="Wingdings" pitchFamily="2" charset="2"/>
              <a:buChar char="p"/>
              <a:defRPr/>
            </a:pPr>
            <a:r>
              <a:rPr kumimoji="1" lang="zh-CN" altLang="en-US" sz="2800" b="1" dirty="0">
                <a:solidFill>
                  <a:srgbClr val="000000"/>
                </a:solidFill>
                <a:latin typeface="宋体"/>
              </a:rPr>
              <a:t>先找运算符，再找操作数。</a:t>
            </a:r>
            <a:endParaRPr kumimoji="1" lang="en-US" altLang="zh-CN" sz="2800" b="1" dirty="0">
              <a:solidFill>
                <a:srgbClr val="000000"/>
              </a:solidFill>
              <a:latin typeface="宋体"/>
            </a:endParaRPr>
          </a:p>
          <a:p>
            <a:pPr lvl="2" eaLnBrk="0" fontAlgn="base" hangingPunct="0">
              <a:lnSpc>
                <a:spcPct val="150000"/>
              </a:lnSpc>
              <a:spcBef>
                <a:spcPct val="0"/>
              </a:spcBef>
              <a:spcAft>
                <a:spcPct val="0"/>
              </a:spcAft>
              <a:buClr>
                <a:srgbClr val="0000FF"/>
              </a:buClr>
              <a:buFont typeface="Wingdings" pitchFamily="2" charset="2"/>
              <a:buChar char="p"/>
              <a:defRPr/>
            </a:pPr>
            <a:r>
              <a:rPr kumimoji="1" lang="zh-CN" altLang="en-US" sz="2800" b="1" dirty="0">
                <a:solidFill>
                  <a:srgbClr val="000000"/>
                </a:solidFill>
                <a:latin typeface="宋体"/>
              </a:rPr>
              <a:t>操作数的顺序不变。</a:t>
            </a:r>
            <a:endParaRPr kumimoji="1" lang="en-US" altLang="zh-CN" sz="2800" b="1" dirty="0">
              <a:solidFill>
                <a:srgbClr val="000000"/>
              </a:solidFill>
              <a:latin typeface="宋体"/>
            </a:endParaRPr>
          </a:p>
        </p:txBody>
      </p:sp>
    </p:spTree>
    <p:extLst>
      <p:ext uri="{BB962C8B-B14F-4D97-AF65-F5344CB8AC3E}">
        <p14:creationId xmlns:p14="http://schemas.microsoft.com/office/powerpoint/2010/main" val="124449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线索二叉树的遍历</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9E28C230-3EB2-412B-A661-FA091231B6DE}"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119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4"/>
          <p:cNvSpPr>
            <a:spLocks noChangeArrowheads="1"/>
          </p:cNvSpPr>
          <p:nvPr/>
        </p:nvSpPr>
        <p:spPr bwMode="auto">
          <a:xfrm>
            <a:off x="1984375" y="1347787"/>
            <a:ext cx="6326188" cy="557213"/>
          </a:xfrm>
          <a:prstGeom prst="rect">
            <a:avLst/>
          </a:prstGeom>
          <a:noFill/>
          <a:ln w="38100" cmpd="dbl">
            <a:solidFill>
              <a:srgbClr val="0707F9"/>
            </a:solidFill>
            <a:miter lim="800000"/>
            <a:headEnd/>
            <a:tailEnd/>
          </a:ln>
        </p:spPr>
        <p:txBody>
          <a:bodyPr>
            <a:spAutoFit/>
          </a:bodyPr>
          <a:lstStyle/>
          <a:p>
            <a:pPr fontAlgn="base">
              <a:spcBef>
                <a:spcPct val="0"/>
              </a:spcBef>
              <a:spcAft>
                <a:spcPct val="0"/>
              </a:spcAft>
            </a:pPr>
            <a:r>
              <a:rPr kumimoji="1" lang="zh-CN" altLang="en-US" sz="2800" b="1" dirty="0">
                <a:solidFill>
                  <a:srgbClr val="0707F9"/>
                </a:solidFill>
                <a:latin typeface="Times New Roman" pitchFamily="18" charset="0"/>
              </a:rPr>
              <a:t>按给定</a:t>
            </a:r>
            <a:r>
              <a:rPr kumimoji="1" lang="zh-CN" altLang="en-US" sz="2800" b="1" dirty="0">
                <a:solidFill>
                  <a:srgbClr val="FF0000"/>
                </a:solidFill>
                <a:latin typeface="Times New Roman" pitchFamily="18" charset="0"/>
              </a:rPr>
              <a:t>后缀的表达式</a:t>
            </a:r>
            <a:r>
              <a:rPr kumimoji="1" lang="zh-CN" altLang="en-US" sz="2800" b="1" dirty="0">
                <a:solidFill>
                  <a:srgbClr val="0707F9"/>
                </a:solidFill>
                <a:latin typeface="Times New Roman" pitchFamily="18" charset="0"/>
              </a:rPr>
              <a:t>建立相应的二叉树</a:t>
            </a:r>
          </a:p>
        </p:txBody>
      </p:sp>
      <p:sp>
        <p:nvSpPr>
          <p:cNvPr id="14" name="Oval 164"/>
          <p:cNvSpPr>
            <a:spLocks noChangeArrowheads="1"/>
          </p:cNvSpPr>
          <p:nvPr/>
        </p:nvSpPr>
        <p:spPr bwMode="auto">
          <a:xfrm>
            <a:off x="65088" y="1157287"/>
            <a:ext cx="1958975" cy="595313"/>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dirty="0">
                <a:solidFill>
                  <a:srgbClr val="000000"/>
                </a:solidFill>
                <a:latin typeface="Times New Roman" pitchFamily="18" charset="0"/>
              </a:rPr>
              <a:t>应用举例</a:t>
            </a:r>
          </a:p>
        </p:txBody>
      </p:sp>
      <p:sp>
        <p:nvSpPr>
          <p:cNvPr id="15" name="Text Box 1026"/>
          <p:cNvSpPr txBox="1">
            <a:spLocks noChangeArrowheads="1"/>
          </p:cNvSpPr>
          <p:nvPr/>
        </p:nvSpPr>
        <p:spPr bwMode="auto">
          <a:xfrm>
            <a:off x="631825" y="2108942"/>
            <a:ext cx="7398179" cy="2234458"/>
          </a:xfrm>
          <a:prstGeom prst="rect">
            <a:avLst/>
          </a:prstGeom>
          <a:noFill/>
          <a:ln w="12700" cap="sq">
            <a:noFill/>
            <a:miter lim="800000"/>
            <a:headEnd type="none" w="sm" len="sm"/>
            <a:tailEnd type="none" w="sm" len="sm"/>
          </a:ln>
        </p:spPr>
        <p:txBody>
          <a:bodyPr wrap="none">
            <a:spAutoFit/>
          </a:bodyPr>
          <a:lstStyle/>
          <a:p>
            <a:pPr eaLnBrk="0" fontAlgn="base" hangingPunct="0">
              <a:lnSpc>
                <a:spcPct val="120000"/>
              </a:lnSpc>
              <a:spcBef>
                <a:spcPct val="0"/>
              </a:spcBef>
              <a:spcAft>
                <a:spcPct val="0"/>
              </a:spcAft>
            </a:pPr>
            <a:r>
              <a:rPr kumimoji="1" lang="zh-CN" altLang="en-US" sz="2800" b="1" dirty="0">
                <a:solidFill>
                  <a:srgbClr val="000066"/>
                </a:solidFill>
                <a:latin typeface="Times New Roman" pitchFamily="18" charset="0"/>
                <a:ea typeface="楷体_GB2312" pitchFamily="49" charset="-122"/>
              </a:rPr>
              <a:t>方法：</a:t>
            </a:r>
            <a:r>
              <a:rPr kumimoji="1" lang="zh-CN" altLang="en-US" sz="2800" b="1" dirty="0">
                <a:solidFill>
                  <a:srgbClr val="FF0000"/>
                </a:solidFill>
                <a:latin typeface="Times New Roman" pitchFamily="18" charset="0"/>
                <a:ea typeface="楷体_GB2312" pitchFamily="49" charset="-122"/>
              </a:rPr>
              <a:t>从左到右扫描后缀表达式</a:t>
            </a:r>
            <a:r>
              <a:rPr kumimoji="1" lang="zh-CN" altLang="en-US" sz="2800" b="1" dirty="0">
                <a:solidFill>
                  <a:srgbClr val="000066"/>
                </a:solidFill>
                <a:latin typeface="Times New Roman" pitchFamily="18" charset="0"/>
                <a:ea typeface="楷体_GB2312" pitchFamily="49" charset="-122"/>
              </a:rPr>
              <a:t>，遇到操作符</a:t>
            </a:r>
          </a:p>
          <a:p>
            <a:pPr eaLnBrk="0" fontAlgn="base" hangingPunct="0">
              <a:lnSpc>
                <a:spcPct val="120000"/>
              </a:lnSpc>
              <a:spcBef>
                <a:spcPct val="0"/>
              </a:spcBef>
              <a:spcAft>
                <a:spcPct val="0"/>
              </a:spcAft>
            </a:pPr>
            <a:r>
              <a:rPr kumimoji="1" lang="zh-CN" altLang="en-US" sz="2800" b="1" dirty="0">
                <a:solidFill>
                  <a:srgbClr val="000066"/>
                </a:solidFill>
                <a:latin typeface="Times New Roman" pitchFamily="18" charset="0"/>
                <a:ea typeface="楷体_GB2312" pitchFamily="49" charset="-122"/>
              </a:rPr>
              <a:t>则对前面的操作数建立二叉树，以此类推。</a:t>
            </a:r>
          </a:p>
          <a:p>
            <a:pPr eaLnBrk="0" fontAlgn="base" hangingPunct="0">
              <a:lnSpc>
                <a:spcPct val="120000"/>
              </a:lnSpc>
              <a:spcBef>
                <a:spcPct val="0"/>
              </a:spcBef>
              <a:spcAft>
                <a:spcPct val="0"/>
              </a:spcAft>
            </a:pPr>
            <a:r>
              <a:rPr kumimoji="1" lang="zh-CN" altLang="en-US" sz="2800" b="1" dirty="0">
                <a:solidFill>
                  <a:srgbClr val="000066"/>
                </a:solidFill>
                <a:latin typeface="Times New Roman" pitchFamily="18" charset="0"/>
                <a:ea typeface="楷体_GB2312" pitchFamily="49" charset="-122"/>
              </a:rPr>
              <a:t>例如：后缀表达式</a:t>
            </a:r>
            <a:r>
              <a:rPr kumimoji="1" lang="en-US" altLang="zh-CN" sz="2400" b="1" dirty="0">
                <a:solidFill>
                  <a:srgbClr val="000066"/>
                </a:solidFill>
                <a:latin typeface="Times New Roman" pitchFamily="18" charset="0"/>
              </a:rPr>
              <a:t>a b + c * d e / -</a:t>
            </a:r>
          </a:p>
          <a:p>
            <a:pPr eaLnBrk="0" fontAlgn="base" hangingPunct="0">
              <a:lnSpc>
                <a:spcPct val="120000"/>
              </a:lnSpc>
              <a:spcBef>
                <a:spcPct val="0"/>
              </a:spcBef>
              <a:spcAft>
                <a:spcPct val="0"/>
              </a:spcAft>
            </a:pPr>
            <a:endParaRPr kumimoji="1" lang="en-US" altLang="zh-CN" sz="2800" b="1" dirty="0">
              <a:solidFill>
                <a:srgbClr val="000066"/>
              </a:solidFill>
              <a:latin typeface="Times New Roman" pitchFamily="18" charset="0"/>
              <a:ea typeface="楷体_GB2312" pitchFamily="49" charset="-122"/>
            </a:endParaRPr>
          </a:p>
        </p:txBody>
      </p:sp>
      <p:grpSp>
        <p:nvGrpSpPr>
          <p:cNvPr id="16" name="组合 28"/>
          <p:cNvGrpSpPr>
            <a:grpSpLocks/>
          </p:cNvGrpSpPr>
          <p:nvPr/>
        </p:nvGrpSpPr>
        <p:grpSpPr bwMode="auto">
          <a:xfrm>
            <a:off x="2767013" y="3586163"/>
            <a:ext cx="5857875" cy="3271837"/>
            <a:chOff x="23778" y="1443062"/>
            <a:chExt cx="7315200" cy="4191000"/>
          </a:xfrm>
        </p:grpSpPr>
        <p:sp>
          <p:nvSpPr>
            <p:cNvPr id="17" name="Rectangle 2"/>
            <p:cNvSpPr>
              <a:spLocks noChangeArrowheads="1"/>
            </p:cNvSpPr>
            <p:nvPr/>
          </p:nvSpPr>
          <p:spPr bwMode="auto">
            <a:xfrm>
              <a:off x="2004978" y="2438400"/>
              <a:ext cx="5334000" cy="2438400"/>
            </a:xfrm>
            <a:prstGeom prst="rect">
              <a:avLst/>
            </a:prstGeom>
            <a:noFill/>
            <a:ln w="12700"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19" name="Oval 1027"/>
            <p:cNvSpPr>
              <a:spLocks noChangeArrowheads="1"/>
            </p:cNvSpPr>
            <p:nvPr/>
          </p:nvSpPr>
          <p:spPr bwMode="auto">
            <a:xfrm>
              <a:off x="23778" y="48720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0000"/>
                  </a:solidFill>
                  <a:effectLst/>
                  <a:uLnTx/>
                  <a:uFillTx/>
                  <a:latin typeface="Times New Roman" pitchFamily="18" charset="0"/>
                </a:rPr>
                <a:t>a</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0" name="Oval 1028"/>
            <p:cNvSpPr>
              <a:spLocks noChangeArrowheads="1"/>
            </p:cNvSpPr>
            <p:nvPr/>
          </p:nvSpPr>
          <p:spPr bwMode="auto">
            <a:xfrm>
              <a:off x="1547778" y="48720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3300"/>
                  </a:solidFill>
                  <a:effectLst/>
                  <a:uLnTx/>
                  <a:uFillTx/>
                  <a:latin typeface="Times New Roman" pitchFamily="18" charset="0"/>
                </a:rPr>
                <a:t>b</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1" name="Oval 1029"/>
            <p:cNvSpPr>
              <a:spLocks noChangeArrowheads="1"/>
            </p:cNvSpPr>
            <p:nvPr/>
          </p:nvSpPr>
          <p:spPr bwMode="auto">
            <a:xfrm>
              <a:off x="2614578" y="3576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3300"/>
                  </a:solidFill>
                  <a:effectLst/>
                  <a:uLnTx/>
                  <a:uFillTx/>
                  <a:latin typeface="Times New Roman" pitchFamily="18" charset="0"/>
                </a:rPr>
                <a:t>c</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2" name="Oval 1030"/>
            <p:cNvSpPr>
              <a:spLocks noChangeArrowheads="1"/>
            </p:cNvSpPr>
            <p:nvPr/>
          </p:nvSpPr>
          <p:spPr bwMode="auto">
            <a:xfrm>
              <a:off x="4595778" y="3576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3300"/>
                  </a:solidFill>
                  <a:effectLst/>
                  <a:uLnTx/>
                  <a:uFillTx/>
                  <a:latin typeface="Times New Roman" pitchFamily="18" charset="0"/>
                </a:rPr>
                <a:t>d</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3" name="Oval 1031"/>
            <p:cNvSpPr>
              <a:spLocks noChangeArrowheads="1"/>
            </p:cNvSpPr>
            <p:nvPr/>
          </p:nvSpPr>
          <p:spPr bwMode="auto">
            <a:xfrm>
              <a:off x="6424578" y="3576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FF3300"/>
                  </a:solidFill>
                  <a:effectLst/>
                  <a:uLnTx/>
                  <a:uFillTx/>
                  <a:latin typeface="Times New Roman" pitchFamily="18" charset="0"/>
                </a:rPr>
                <a:t>e</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4" name="Oval 1032"/>
            <p:cNvSpPr>
              <a:spLocks noChangeArrowheads="1"/>
            </p:cNvSpPr>
            <p:nvPr/>
          </p:nvSpPr>
          <p:spPr bwMode="auto">
            <a:xfrm>
              <a:off x="3605178" y="14430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000066"/>
                  </a:solidFill>
                  <a:effectLst/>
                  <a:uLnTx/>
                  <a:uFillTx/>
                  <a:latin typeface="楷体_GB2312" pitchFamily="49" charset="-122"/>
                  <a:ea typeface="楷体_GB2312" pitchFamily="49" charset="-122"/>
                </a:rPr>
                <a:t>-</a:t>
              </a:r>
              <a:endParaRPr kumimoji="1" lang="en-US" altLang="zh-CN" sz="3200" b="1" i="0" u="none" strike="noStrike" kern="0" cap="none" spc="0" normalizeH="0" baseline="0" noProof="0">
                <a:ln>
                  <a:noFill/>
                </a:ln>
                <a:solidFill>
                  <a:srgbClr val="333399"/>
                </a:solidFill>
                <a:effectLst/>
                <a:uLnTx/>
                <a:uFillTx/>
                <a:latin typeface="Times New Roman" pitchFamily="18" charset="0"/>
              </a:endParaRPr>
            </a:p>
          </p:txBody>
        </p:sp>
        <p:sp>
          <p:nvSpPr>
            <p:cNvPr id="25" name="Oval 1033"/>
            <p:cNvSpPr>
              <a:spLocks noChangeArrowheads="1"/>
            </p:cNvSpPr>
            <p:nvPr/>
          </p:nvSpPr>
          <p:spPr bwMode="auto">
            <a:xfrm>
              <a:off x="1700178" y="2433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000066"/>
                  </a:solidFill>
                  <a:effectLst/>
                  <a:uLnTx/>
                  <a:uFillTx/>
                  <a:latin typeface="Times New Roman" pitchFamily="18" charset="0"/>
                </a:rPr>
                <a:t>*</a:t>
              </a:r>
              <a:endParaRPr kumimoji="1" lang="en-US" altLang="zh-CN" sz="3200" b="1" i="0" u="none" strike="noStrike" kern="0" cap="none" spc="0" normalizeH="0" baseline="0" noProof="0">
                <a:ln>
                  <a:noFill/>
                </a:ln>
                <a:solidFill>
                  <a:srgbClr val="000066"/>
                </a:solidFill>
                <a:effectLst/>
                <a:uLnTx/>
                <a:uFillTx/>
                <a:latin typeface="楷体_GB2312" pitchFamily="49" charset="-122"/>
                <a:ea typeface="楷体_GB2312" pitchFamily="49" charset="-122"/>
              </a:endParaRPr>
            </a:p>
          </p:txBody>
        </p:sp>
        <p:sp>
          <p:nvSpPr>
            <p:cNvPr id="26" name="Oval 1034"/>
            <p:cNvSpPr>
              <a:spLocks noChangeArrowheads="1"/>
            </p:cNvSpPr>
            <p:nvPr/>
          </p:nvSpPr>
          <p:spPr bwMode="auto">
            <a:xfrm>
              <a:off x="785778" y="3576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333399"/>
                  </a:solidFill>
                  <a:effectLst/>
                  <a:uLnTx/>
                  <a:uFillTx/>
                  <a:latin typeface="Times New Roman" pitchFamily="18" charset="0"/>
                </a:rPr>
                <a:t>+</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7" name="Oval 1035"/>
            <p:cNvSpPr>
              <a:spLocks noChangeArrowheads="1"/>
            </p:cNvSpPr>
            <p:nvPr/>
          </p:nvSpPr>
          <p:spPr bwMode="auto">
            <a:xfrm>
              <a:off x="5510178" y="2433662"/>
              <a:ext cx="609600" cy="762000"/>
            </a:xfrm>
            <a:prstGeom prst="ellipse">
              <a:avLst/>
            </a:prstGeom>
            <a:solidFill>
              <a:srgbClr val="FFFFD9"/>
            </a:solid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333399"/>
                  </a:solidFill>
                  <a:effectLst/>
                  <a:uLnTx/>
                  <a:uFillTx/>
                  <a:latin typeface="Times New Roman" pitchFamily="18" charset="0"/>
                </a:rPr>
                <a:t>/</a:t>
              </a:r>
              <a:endParaRPr kumimoji="1" lang="en-US" altLang="zh-CN" sz="3200" b="0" i="0" u="none" strike="noStrike" kern="0" cap="none" spc="0" normalizeH="0" baseline="0" noProof="0">
                <a:ln>
                  <a:noFill/>
                </a:ln>
                <a:solidFill>
                  <a:srgbClr val="000000"/>
                </a:solidFill>
                <a:effectLst/>
                <a:uLnTx/>
                <a:uFillTx/>
                <a:latin typeface="Times New Roman" pitchFamily="18" charset="0"/>
              </a:endParaRPr>
            </a:p>
          </p:txBody>
        </p:sp>
        <p:sp>
          <p:nvSpPr>
            <p:cNvPr id="28" name="Line 1044"/>
            <p:cNvSpPr>
              <a:spLocks noChangeShapeType="1"/>
            </p:cNvSpPr>
            <p:nvPr/>
          </p:nvSpPr>
          <p:spPr bwMode="auto">
            <a:xfrm flipH="1">
              <a:off x="2004978" y="1824062"/>
              <a:ext cx="1600200" cy="6096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Line 1045"/>
            <p:cNvSpPr>
              <a:spLocks noChangeShapeType="1"/>
            </p:cNvSpPr>
            <p:nvPr/>
          </p:nvSpPr>
          <p:spPr bwMode="auto">
            <a:xfrm>
              <a:off x="4214778" y="1824062"/>
              <a:ext cx="1600200" cy="6096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0" name="Line 1046"/>
            <p:cNvSpPr>
              <a:spLocks noChangeShapeType="1"/>
            </p:cNvSpPr>
            <p:nvPr/>
          </p:nvSpPr>
          <p:spPr bwMode="auto">
            <a:xfrm flipH="1">
              <a:off x="1090578" y="2814662"/>
              <a:ext cx="609600" cy="7620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1" name="Line 1047"/>
            <p:cNvSpPr>
              <a:spLocks noChangeShapeType="1"/>
            </p:cNvSpPr>
            <p:nvPr/>
          </p:nvSpPr>
          <p:spPr bwMode="auto">
            <a:xfrm flipH="1">
              <a:off x="328578" y="3957662"/>
              <a:ext cx="457200" cy="9144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2" name="Line 1048"/>
            <p:cNvSpPr>
              <a:spLocks noChangeShapeType="1"/>
            </p:cNvSpPr>
            <p:nvPr/>
          </p:nvSpPr>
          <p:spPr bwMode="auto">
            <a:xfrm>
              <a:off x="1395378" y="3881462"/>
              <a:ext cx="457200" cy="9906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3" name="Line 1049"/>
            <p:cNvSpPr>
              <a:spLocks noChangeShapeType="1"/>
            </p:cNvSpPr>
            <p:nvPr/>
          </p:nvSpPr>
          <p:spPr bwMode="auto">
            <a:xfrm>
              <a:off x="2309778" y="2814662"/>
              <a:ext cx="609600" cy="7620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4" name="Line 1050"/>
            <p:cNvSpPr>
              <a:spLocks noChangeShapeType="1"/>
            </p:cNvSpPr>
            <p:nvPr/>
          </p:nvSpPr>
          <p:spPr bwMode="auto">
            <a:xfrm flipH="1">
              <a:off x="4900578" y="2814662"/>
              <a:ext cx="609600" cy="7620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5" name="Line 1051"/>
            <p:cNvSpPr>
              <a:spLocks noChangeShapeType="1"/>
            </p:cNvSpPr>
            <p:nvPr/>
          </p:nvSpPr>
          <p:spPr bwMode="auto">
            <a:xfrm>
              <a:off x="6119778" y="2814662"/>
              <a:ext cx="609600" cy="762000"/>
            </a:xfrm>
            <a:prstGeom prst="line">
              <a:avLst/>
            </a:prstGeom>
            <a:noFill/>
            <a:ln w="38100" cap="sq">
              <a:solidFill>
                <a:srgbClr val="04617B"/>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Tree>
    <p:extLst>
      <p:ext uri="{BB962C8B-B14F-4D97-AF65-F5344CB8AC3E}">
        <p14:creationId xmlns:p14="http://schemas.microsoft.com/office/powerpoint/2010/main" val="32598992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endParaRPr kumimoji="1" lang="zh-CN" altLang="en-US" sz="3200" b="1" dirty="0">
              <a:latin typeface="Arial" charset="0"/>
              <a:ea typeface="宋体" charset="-122"/>
              <a:cs typeface="+mn-cs"/>
            </a:endParaRP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95C51C01-E5C3-44D8-968A-8624AEA25A3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120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2"/>
          <p:cNvSpPr>
            <a:spLocks noChangeArrowheads="1"/>
          </p:cNvSpPr>
          <p:nvPr/>
        </p:nvSpPr>
        <p:spPr bwMode="auto">
          <a:xfrm>
            <a:off x="1830387" y="2438400"/>
            <a:ext cx="5334000" cy="2438400"/>
          </a:xfrm>
          <a:prstGeom prst="rect">
            <a:avLst/>
          </a:prstGeom>
          <a:noFill/>
          <a:ln w="12700"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4" name="双波形 13"/>
          <p:cNvSpPr/>
          <p:nvPr/>
        </p:nvSpPr>
        <p:spPr bwMode="auto">
          <a:xfrm>
            <a:off x="1011237" y="1785938"/>
            <a:ext cx="3000375" cy="858837"/>
          </a:xfrm>
          <a:prstGeom prst="doubleWave">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000000"/>
                </a:solidFill>
                <a:effectLst/>
                <a:uLnTx/>
                <a:uFillTx/>
                <a:latin typeface="Times New Roman" pitchFamily="18" charset="0"/>
                <a:ea typeface="宋体"/>
                <a:cs typeface="+mn-cs"/>
              </a:rPr>
              <a:t>现实问题</a:t>
            </a:r>
          </a:p>
        </p:txBody>
      </p:sp>
      <p:sp>
        <p:nvSpPr>
          <p:cNvPr id="15" name="双波形 14"/>
          <p:cNvSpPr/>
          <p:nvPr/>
        </p:nvSpPr>
        <p:spPr bwMode="auto">
          <a:xfrm>
            <a:off x="4940300" y="1785938"/>
            <a:ext cx="914400" cy="858837"/>
          </a:xfrm>
          <a:prstGeom prst="doubleWave">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000000"/>
                </a:solidFill>
                <a:effectLst/>
                <a:uLnTx/>
                <a:uFillTx/>
                <a:latin typeface="Times New Roman" pitchFamily="18" charset="0"/>
                <a:ea typeface="宋体"/>
                <a:cs typeface="+mn-cs"/>
              </a:rPr>
              <a:t>树</a:t>
            </a:r>
          </a:p>
        </p:txBody>
      </p:sp>
      <p:sp>
        <p:nvSpPr>
          <p:cNvPr id="16" name="右箭头 6"/>
          <p:cNvSpPr>
            <a:spLocks noChangeArrowheads="1"/>
          </p:cNvSpPr>
          <p:nvPr/>
        </p:nvSpPr>
        <p:spPr bwMode="auto">
          <a:xfrm>
            <a:off x="4083050" y="2071688"/>
            <a:ext cx="857250" cy="306387"/>
          </a:xfrm>
          <a:prstGeom prst="rightArrow">
            <a:avLst>
              <a:gd name="adj1" fmla="val 50000"/>
              <a:gd name="adj2" fmla="val 49884"/>
            </a:avLst>
          </a:prstGeom>
          <a:solidFill>
            <a:srgbClr val="0000FF"/>
          </a:solidFill>
          <a:ln w="12700" cap="rnd" algn="ctr">
            <a:solidFill>
              <a:srgbClr val="DEF5FA"/>
            </a:solidFill>
            <a:round/>
            <a:headEnd/>
            <a:tailEnd/>
          </a:ln>
        </p:spPr>
        <p:txBody>
          <a:bodyPr>
            <a:spAutoFit/>
          </a:bodyPr>
          <a:lstStyle/>
          <a:p>
            <a:pPr algn="ctr" eaLnBrk="0" fontAlgn="base" hangingPunct="0">
              <a:spcBef>
                <a:spcPct val="0"/>
              </a:spcBef>
              <a:spcAft>
                <a:spcPct val="0"/>
              </a:spcAft>
            </a:pPr>
            <a:endParaRPr kumimoji="1" lang="zh-CN" altLang="en-US" sz="400">
              <a:solidFill>
                <a:srgbClr val="000000"/>
              </a:solidFill>
              <a:latin typeface="Times New Roman" pitchFamily="18" charset="0"/>
            </a:endParaRPr>
          </a:p>
        </p:txBody>
      </p:sp>
      <p:sp>
        <p:nvSpPr>
          <p:cNvPr id="17" name="Rectangle 4"/>
          <p:cNvSpPr>
            <a:spLocks noChangeArrowheads="1"/>
          </p:cNvSpPr>
          <p:nvPr/>
        </p:nvSpPr>
        <p:spPr bwMode="auto">
          <a:xfrm>
            <a:off x="609600" y="3128963"/>
            <a:ext cx="7921625" cy="2308225"/>
          </a:xfrm>
          <a:prstGeom prst="rect">
            <a:avLst/>
          </a:prstGeom>
          <a:noFill/>
          <a:ln w="38100" cmpd="dbl">
            <a:solidFill>
              <a:srgbClr val="0707F9"/>
            </a:solidFill>
            <a:miter lim="800000"/>
            <a:headEnd/>
            <a:tailEnd/>
          </a:ln>
        </p:spPr>
        <p:txBody>
          <a:bodyPr>
            <a:spAutoFit/>
          </a:bodyPr>
          <a:lstStyle/>
          <a:p>
            <a:pPr algn="ctr" fontAlgn="base">
              <a:lnSpc>
                <a:spcPct val="200000"/>
              </a:lnSpc>
              <a:spcBef>
                <a:spcPct val="0"/>
              </a:spcBef>
              <a:spcAft>
                <a:spcPct val="0"/>
              </a:spcAft>
            </a:pPr>
            <a:r>
              <a:rPr kumimoji="1" lang="zh-CN" altLang="en-US" sz="3600" b="1" dirty="0">
                <a:solidFill>
                  <a:srgbClr val="FF0000"/>
                </a:solidFill>
                <a:latin typeface="Times New Roman" pitchFamily="18" charset="0"/>
              </a:rPr>
              <a:t>研究树的目的：</a:t>
            </a:r>
            <a:endParaRPr kumimoji="1" lang="en-US" altLang="zh-CN" sz="3600" b="1" dirty="0">
              <a:solidFill>
                <a:srgbClr val="FF0000"/>
              </a:solidFill>
              <a:latin typeface="Times New Roman" pitchFamily="18" charset="0"/>
            </a:endParaRPr>
          </a:p>
          <a:p>
            <a:pPr fontAlgn="base">
              <a:lnSpc>
                <a:spcPct val="200000"/>
              </a:lnSpc>
              <a:spcBef>
                <a:spcPct val="0"/>
              </a:spcBef>
              <a:spcAft>
                <a:spcPct val="0"/>
              </a:spcAft>
            </a:pPr>
            <a:r>
              <a:rPr kumimoji="1" lang="zh-CN" altLang="en-US" sz="3600" b="1" dirty="0">
                <a:solidFill>
                  <a:srgbClr val="0707F9"/>
                </a:solidFill>
                <a:latin typeface="Times New Roman" pitchFamily="18" charset="0"/>
              </a:rPr>
              <a:t>使树的操作都是通过二叉树来完成的</a:t>
            </a:r>
          </a:p>
        </p:txBody>
      </p:sp>
    </p:spTree>
    <p:extLst>
      <p:ext uri="{BB962C8B-B14F-4D97-AF65-F5344CB8AC3E}">
        <p14:creationId xmlns:p14="http://schemas.microsoft.com/office/powerpoint/2010/main" val="130210863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5.6  </a:t>
            </a:r>
            <a:r>
              <a:rPr kumimoji="1" lang="zh-CN" altLang="en-US" sz="3200" b="1" dirty="0">
                <a:latin typeface="Arial" charset="0"/>
                <a:ea typeface="宋体" charset="-122"/>
                <a:cs typeface="+mn-cs"/>
              </a:rPr>
              <a:t>树和森林</a:t>
            </a:r>
          </a:p>
        </p:txBody>
      </p:sp>
      <p:sp>
        <p:nvSpPr>
          <p:cNvPr id="3" name="内容占位符 2"/>
          <p:cNvSpPr>
            <a:spLocks noGrp="1"/>
          </p:cNvSpPr>
          <p:nvPr>
            <p:ph idx="1"/>
          </p:nvPr>
        </p:nvSpPr>
        <p:spPr>
          <a:xfrm>
            <a:off x="457200" y="1143000"/>
            <a:ext cx="8229600" cy="5105400"/>
          </a:xfrm>
        </p:spPr>
        <p:txBody>
          <a:bodyPr>
            <a:normAutofit/>
          </a:bodyPr>
          <a:lstStyle/>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rPr>
              <a:t> </a:t>
            </a:r>
            <a:r>
              <a:rPr kumimoji="1" lang="en-US" altLang="zh-CN" b="1" dirty="0">
                <a:solidFill>
                  <a:srgbClr val="0707F9"/>
                </a:solidFill>
                <a:latin typeface="Times New Roman" pitchFamily="18" charset="0"/>
              </a:rPr>
              <a:t>5.5.1  </a:t>
            </a:r>
            <a:r>
              <a:rPr kumimoji="1" lang="zh-CN" altLang="en-US" b="1" dirty="0">
                <a:solidFill>
                  <a:srgbClr val="0707F9"/>
                </a:solidFill>
                <a:latin typeface="Times New Roman" pitchFamily="18" charset="0"/>
              </a:rPr>
              <a:t>树的存储结构</a:t>
            </a:r>
          </a:p>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rPr>
              <a:t> </a:t>
            </a:r>
            <a:r>
              <a:rPr kumimoji="1" lang="en-US" altLang="zh-CN" b="1" dirty="0">
                <a:solidFill>
                  <a:srgbClr val="0707F9"/>
                </a:solidFill>
                <a:latin typeface="Times New Roman" pitchFamily="18" charset="0"/>
              </a:rPr>
              <a:t>5.5.2  </a:t>
            </a:r>
            <a:r>
              <a:rPr kumimoji="1" lang="zh-CN" altLang="en-US" b="1" dirty="0">
                <a:solidFill>
                  <a:srgbClr val="0707F9"/>
                </a:solidFill>
                <a:latin typeface="Times New Roman" pitchFamily="18" charset="0"/>
              </a:rPr>
              <a:t>树、森林与二叉树的转换</a:t>
            </a:r>
          </a:p>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rPr>
              <a:t> </a:t>
            </a:r>
            <a:r>
              <a:rPr kumimoji="1" lang="en-US" altLang="zh-CN" b="1" dirty="0">
                <a:solidFill>
                  <a:srgbClr val="0707F9"/>
                </a:solidFill>
                <a:latin typeface="Times New Roman" pitchFamily="18" charset="0"/>
              </a:rPr>
              <a:t>5.5.3  </a:t>
            </a:r>
            <a:r>
              <a:rPr kumimoji="1" lang="zh-CN" altLang="en-US" b="1" dirty="0">
                <a:solidFill>
                  <a:srgbClr val="0707F9"/>
                </a:solidFill>
                <a:latin typeface="Times New Roman" pitchFamily="18" charset="0"/>
              </a:rPr>
              <a:t>树和森林的遍历</a:t>
            </a:r>
          </a:p>
          <a:p>
            <a:pPr marL="0" indent="0" fontAlgn="base">
              <a:lnSpc>
                <a:spcPct val="200000"/>
              </a:lnSpc>
              <a:spcBef>
                <a:spcPct val="0"/>
              </a:spcBef>
              <a:spcAft>
                <a:spcPct val="0"/>
              </a:spcAft>
              <a:buNone/>
            </a:pPr>
            <a:r>
              <a:rPr kumimoji="1" lang="en-US" altLang="zh-CN" b="1" dirty="0">
                <a:solidFill>
                  <a:srgbClr val="0707F9"/>
                </a:solidFill>
                <a:latin typeface="Times New Roman" pitchFamily="18" charset="0"/>
              </a:rPr>
              <a:t>5.5.4   </a:t>
            </a:r>
            <a:r>
              <a:rPr kumimoji="1" lang="en-US" altLang="zh-CN" b="1" dirty="0" err="1">
                <a:solidFill>
                  <a:srgbClr val="0707F9"/>
                </a:solidFill>
                <a:latin typeface="Times New Roman" pitchFamily="18" charset="0"/>
              </a:rPr>
              <a:t>huffman</a:t>
            </a:r>
            <a:r>
              <a:rPr kumimoji="1" lang="zh-CN" altLang="en-US" b="1" dirty="0">
                <a:solidFill>
                  <a:srgbClr val="0707F9"/>
                </a:solidFill>
                <a:latin typeface="Times New Roman" pitchFamily="18" charset="0"/>
              </a:rPr>
              <a:t>树及其应用</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4AAC8D80-5336-4311-9D86-760E8F8DAE9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121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13276502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5.6  </a:t>
            </a:r>
            <a:r>
              <a:rPr kumimoji="1" lang="zh-CN" altLang="en-US" sz="3200" b="1" dirty="0">
                <a:latin typeface="Arial" charset="0"/>
                <a:ea typeface="宋体" charset="-122"/>
                <a:cs typeface="+mn-cs"/>
              </a:rPr>
              <a:t>树和森林</a:t>
            </a:r>
          </a:p>
        </p:txBody>
      </p:sp>
      <p:sp>
        <p:nvSpPr>
          <p:cNvPr id="3" name="内容占位符 2"/>
          <p:cNvSpPr>
            <a:spLocks noGrp="1"/>
          </p:cNvSpPr>
          <p:nvPr>
            <p:ph idx="1"/>
          </p:nvPr>
        </p:nvSpPr>
        <p:spPr>
          <a:xfrm>
            <a:off x="457200" y="1143000"/>
            <a:ext cx="8229600" cy="5105400"/>
          </a:xfrm>
        </p:spPr>
        <p:txBody>
          <a:bodyPr>
            <a:normAutofit/>
          </a:bodyPr>
          <a:lstStyle/>
          <a:p>
            <a:pPr marL="0" indent="0" fontAlgn="base">
              <a:lnSpc>
                <a:spcPct val="200000"/>
              </a:lnSpc>
              <a:spcBef>
                <a:spcPct val="0"/>
              </a:spcBef>
              <a:spcAft>
                <a:spcPct val="0"/>
              </a:spcAft>
              <a:buNone/>
            </a:pPr>
            <a:r>
              <a:rPr kumimoji="1" lang="zh-CN" altLang="en-US" b="1" dirty="0">
                <a:solidFill>
                  <a:srgbClr val="FF0000"/>
                </a:solidFill>
                <a:latin typeface="Times New Roman" pitchFamily="18" charset="0"/>
              </a:rPr>
              <a:t> </a:t>
            </a:r>
            <a:r>
              <a:rPr kumimoji="1" lang="en-US" altLang="zh-CN" b="1" dirty="0">
                <a:solidFill>
                  <a:srgbClr val="FF0000"/>
                </a:solidFill>
                <a:latin typeface="Times New Roman" pitchFamily="18" charset="0"/>
              </a:rPr>
              <a:t>5.5.1  </a:t>
            </a:r>
            <a:r>
              <a:rPr kumimoji="1" lang="zh-CN" altLang="en-US" b="1" dirty="0">
                <a:solidFill>
                  <a:srgbClr val="FF0000"/>
                </a:solidFill>
                <a:latin typeface="Times New Roman" pitchFamily="18" charset="0"/>
              </a:rPr>
              <a:t>树的存储结构</a:t>
            </a:r>
          </a:p>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rPr>
              <a:t> </a:t>
            </a:r>
            <a:r>
              <a:rPr kumimoji="1" lang="en-US" altLang="zh-CN" b="1" dirty="0">
                <a:solidFill>
                  <a:srgbClr val="0707F9"/>
                </a:solidFill>
                <a:latin typeface="Times New Roman" pitchFamily="18" charset="0"/>
              </a:rPr>
              <a:t>5.5.2  </a:t>
            </a:r>
            <a:r>
              <a:rPr kumimoji="1" lang="zh-CN" altLang="en-US" b="1" dirty="0">
                <a:solidFill>
                  <a:srgbClr val="0707F9"/>
                </a:solidFill>
                <a:latin typeface="Times New Roman" pitchFamily="18" charset="0"/>
              </a:rPr>
              <a:t>树、森林与二叉树的转换</a:t>
            </a:r>
          </a:p>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rPr>
              <a:t> </a:t>
            </a:r>
            <a:r>
              <a:rPr kumimoji="1" lang="en-US" altLang="zh-CN" b="1" dirty="0">
                <a:solidFill>
                  <a:srgbClr val="0707F9"/>
                </a:solidFill>
                <a:latin typeface="Times New Roman" pitchFamily="18" charset="0"/>
              </a:rPr>
              <a:t>5.5.3  </a:t>
            </a:r>
            <a:r>
              <a:rPr kumimoji="1" lang="zh-CN" altLang="en-US" b="1" dirty="0">
                <a:solidFill>
                  <a:srgbClr val="0707F9"/>
                </a:solidFill>
                <a:latin typeface="Times New Roman" pitchFamily="18" charset="0"/>
              </a:rPr>
              <a:t>树和森林的遍历</a:t>
            </a:r>
          </a:p>
          <a:p>
            <a:pPr marL="0" indent="0" fontAlgn="base">
              <a:lnSpc>
                <a:spcPct val="200000"/>
              </a:lnSpc>
              <a:spcBef>
                <a:spcPct val="0"/>
              </a:spcBef>
              <a:spcAft>
                <a:spcPct val="0"/>
              </a:spcAft>
              <a:buNone/>
            </a:pPr>
            <a:r>
              <a:rPr kumimoji="1" lang="en-US" altLang="zh-CN" b="1" dirty="0">
                <a:solidFill>
                  <a:srgbClr val="0707F9"/>
                </a:solidFill>
                <a:latin typeface="Times New Roman" pitchFamily="18" charset="0"/>
              </a:rPr>
              <a:t>5.5.4   </a:t>
            </a:r>
            <a:r>
              <a:rPr kumimoji="1" lang="en-US" altLang="zh-CN" b="1" dirty="0" err="1">
                <a:solidFill>
                  <a:srgbClr val="0707F9"/>
                </a:solidFill>
                <a:latin typeface="Times New Roman" pitchFamily="18" charset="0"/>
              </a:rPr>
              <a:t>huffman</a:t>
            </a:r>
            <a:r>
              <a:rPr kumimoji="1" lang="zh-CN" altLang="en-US" b="1" dirty="0">
                <a:solidFill>
                  <a:srgbClr val="0707F9"/>
                </a:solidFill>
                <a:latin typeface="Times New Roman" pitchFamily="18" charset="0"/>
              </a:rPr>
              <a:t>树及其应用</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5570D7BF-B434-490E-A66D-36785225D7DB}"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122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13648067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5.5.1  </a:t>
            </a:r>
            <a:r>
              <a:rPr kumimoji="1" lang="zh-CN" altLang="en-US" sz="3200" b="1" dirty="0">
                <a:latin typeface="Arial" charset="0"/>
                <a:ea typeface="宋体" charset="-122"/>
                <a:cs typeface="+mn-cs"/>
              </a:rPr>
              <a:t>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双亲表示法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1C42F03D-B3C9-4EBC-9489-54E5B9DF4AD4}"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123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AutoShape 64"/>
          <p:cNvSpPr>
            <a:spLocks noChangeArrowheads="1"/>
          </p:cNvSpPr>
          <p:nvPr/>
        </p:nvSpPr>
        <p:spPr bwMode="auto">
          <a:xfrm>
            <a:off x="7543800" y="2113713"/>
            <a:ext cx="1524000" cy="533400"/>
          </a:xfrm>
          <a:prstGeom prst="wedgeRoundRectCallout">
            <a:avLst>
              <a:gd name="adj1" fmla="val -63621"/>
              <a:gd name="adj2" fmla="val 146597"/>
              <a:gd name="adj3" fmla="val 16667"/>
            </a:avLst>
          </a:prstGeom>
          <a:solidFill>
            <a:srgbClr val="85DFD0"/>
          </a:solidFill>
          <a:ln w="12700" cap="rnd">
            <a:solidFill>
              <a:srgbClr val="DBF5F9"/>
            </a:solidFill>
            <a:miter lim="800000"/>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Times New Roman" pitchFamily="18" charset="0"/>
              </a:rPr>
              <a:t>结点数</a:t>
            </a:r>
          </a:p>
        </p:txBody>
      </p:sp>
      <p:sp>
        <p:nvSpPr>
          <p:cNvPr id="14" name="Text Box 3"/>
          <p:cNvSpPr txBox="1">
            <a:spLocks noChangeArrowheads="1"/>
          </p:cNvSpPr>
          <p:nvPr/>
        </p:nvSpPr>
        <p:spPr bwMode="auto">
          <a:xfrm>
            <a:off x="457200" y="1676400"/>
            <a:ext cx="7272337" cy="1200150"/>
          </a:xfrm>
          <a:prstGeom prst="rect">
            <a:avLst/>
          </a:prstGeom>
          <a:noFill/>
          <a:ln w="12700" cap="rnd">
            <a:solidFill>
              <a:srgbClr val="04617B"/>
            </a:solidFill>
            <a:miter lim="800000"/>
            <a:headEnd/>
            <a:tailEnd/>
          </a:ln>
        </p:spPr>
        <p:txBody>
          <a:bodyPr>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宋体" pitchFamily="2" charset="-122"/>
              </a:rPr>
              <a:t>采用一组</a:t>
            </a:r>
            <a:r>
              <a:rPr kumimoji="1" lang="zh-CN" altLang="en-US" sz="2400" b="1" i="0" u="none" strike="noStrike" kern="0" cap="none" spc="0" normalizeH="0" baseline="0" noProof="0" dirty="0">
                <a:ln>
                  <a:noFill/>
                </a:ln>
                <a:solidFill>
                  <a:srgbClr val="FF3300"/>
                </a:solidFill>
                <a:effectLst/>
                <a:uLnTx/>
                <a:uFillTx/>
                <a:latin typeface="宋体" pitchFamily="2" charset="-122"/>
              </a:rPr>
              <a:t>连续</a:t>
            </a:r>
            <a:r>
              <a:rPr kumimoji="1" lang="zh-CN" altLang="en-US" sz="2400" b="1" i="0" u="none" strike="noStrike" kern="0" cap="none" spc="0" normalizeH="0" baseline="0" noProof="0" dirty="0">
                <a:ln>
                  <a:noFill/>
                </a:ln>
                <a:solidFill>
                  <a:srgbClr val="0000FF"/>
                </a:solidFill>
                <a:effectLst/>
                <a:uLnTx/>
                <a:uFillTx/>
                <a:latin typeface="宋体" pitchFamily="2" charset="-122"/>
              </a:rPr>
              <a:t>空间存储树的结点,通过保存每个结点的双亲结点的位置，表示树中结点之间的结构关系。</a:t>
            </a:r>
            <a:r>
              <a:rPr kumimoji="1" lang="zh-CN" altLang="en-US" sz="2400" b="1" i="0" u="none" strike="noStrike" kern="0" cap="none" spc="0" normalizeH="0" baseline="0" noProof="0" dirty="0">
                <a:ln>
                  <a:noFill/>
                </a:ln>
                <a:solidFill>
                  <a:srgbClr val="FFFF99"/>
                </a:solidFill>
                <a:effectLst/>
                <a:uLnTx/>
                <a:uFillTx/>
                <a:latin typeface="宋体" pitchFamily="2" charset="-122"/>
              </a:rPr>
              <a:t>    </a:t>
            </a:r>
            <a:endParaRPr kumimoji="1" lang="zh-CN" altLang="en-US" sz="2400" b="1" i="0" u="none" strike="noStrike" kern="0" cap="none" spc="0" normalizeH="0" baseline="0" noProof="0" dirty="0">
              <a:ln>
                <a:noFill/>
              </a:ln>
              <a:solidFill>
                <a:srgbClr val="FFFF66"/>
              </a:solidFill>
              <a:effectLst/>
              <a:uLnTx/>
              <a:uFillTx/>
              <a:latin typeface="宋体" pitchFamily="2" charset="-122"/>
            </a:endParaRPr>
          </a:p>
        </p:txBody>
      </p:sp>
      <p:grpSp>
        <p:nvGrpSpPr>
          <p:cNvPr id="15" name="Group 42"/>
          <p:cNvGrpSpPr>
            <a:grpSpLocks/>
          </p:cNvGrpSpPr>
          <p:nvPr/>
        </p:nvGrpSpPr>
        <p:grpSpPr bwMode="auto">
          <a:xfrm>
            <a:off x="5845175" y="2770187"/>
            <a:ext cx="2438400" cy="4392613"/>
            <a:chOff x="3504" y="672"/>
            <a:chExt cx="1536" cy="2767"/>
          </a:xfrm>
        </p:grpSpPr>
        <p:grpSp>
          <p:nvGrpSpPr>
            <p:cNvPr id="16" name="Group 43"/>
            <p:cNvGrpSpPr>
              <a:grpSpLocks/>
            </p:cNvGrpSpPr>
            <p:nvPr/>
          </p:nvGrpSpPr>
          <p:grpSpPr bwMode="auto">
            <a:xfrm>
              <a:off x="3504" y="912"/>
              <a:ext cx="1152" cy="2527"/>
              <a:chOff x="3504" y="912"/>
              <a:chExt cx="1152" cy="2527"/>
            </a:xfrm>
          </p:grpSpPr>
          <p:grpSp>
            <p:nvGrpSpPr>
              <p:cNvPr id="19" name="Group 44"/>
              <p:cNvGrpSpPr>
                <a:grpSpLocks/>
              </p:cNvGrpSpPr>
              <p:nvPr/>
            </p:nvGrpSpPr>
            <p:grpSpPr bwMode="auto">
              <a:xfrm>
                <a:off x="3888" y="960"/>
                <a:ext cx="720" cy="2256"/>
                <a:chOff x="3696" y="1008"/>
                <a:chExt cx="720" cy="2256"/>
              </a:xfrm>
            </p:grpSpPr>
            <p:sp>
              <p:nvSpPr>
                <p:cNvPr id="22" name="Rectangle 45"/>
                <p:cNvSpPr>
                  <a:spLocks noChangeArrowheads="1"/>
                </p:cNvSpPr>
                <p:nvPr/>
              </p:nvSpPr>
              <p:spPr bwMode="auto">
                <a:xfrm>
                  <a:off x="3696" y="1008"/>
                  <a:ext cx="720" cy="2256"/>
                </a:xfrm>
                <a:prstGeom prst="rect">
                  <a:avLst/>
                </a:prstGeom>
                <a:solidFill>
                  <a:srgbClr val="85DFD0"/>
                </a:solidFill>
                <a:ln w="12700" cap="rnd">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3" name="Line 46"/>
                <p:cNvSpPr>
                  <a:spLocks noChangeShapeType="1"/>
                </p:cNvSpPr>
                <p:nvPr/>
              </p:nvSpPr>
              <p:spPr bwMode="auto">
                <a:xfrm>
                  <a:off x="4080" y="1008"/>
                  <a:ext cx="0" cy="2256"/>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4" name="Line 47"/>
                <p:cNvSpPr>
                  <a:spLocks noChangeShapeType="1"/>
                </p:cNvSpPr>
                <p:nvPr/>
              </p:nvSpPr>
              <p:spPr bwMode="auto">
                <a:xfrm>
                  <a:off x="3696" y="1200"/>
                  <a:ext cx="720" cy="0"/>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Line 48"/>
                <p:cNvSpPr>
                  <a:spLocks noChangeShapeType="1"/>
                </p:cNvSpPr>
                <p:nvPr/>
              </p:nvSpPr>
              <p:spPr bwMode="auto">
                <a:xfrm>
                  <a:off x="3696" y="1414"/>
                  <a:ext cx="720" cy="0"/>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Line 49"/>
                <p:cNvSpPr>
                  <a:spLocks noChangeShapeType="1"/>
                </p:cNvSpPr>
                <p:nvPr/>
              </p:nvSpPr>
              <p:spPr bwMode="auto">
                <a:xfrm>
                  <a:off x="3696" y="2736"/>
                  <a:ext cx="720" cy="0"/>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7" name="Line 50"/>
                <p:cNvSpPr>
                  <a:spLocks noChangeShapeType="1"/>
                </p:cNvSpPr>
                <p:nvPr/>
              </p:nvSpPr>
              <p:spPr bwMode="auto">
                <a:xfrm>
                  <a:off x="3696" y="1632"/>
                  <a:ext cx="720" cy="0"/>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Line 51"/>
                <p:cNvSpPr>
                  <a:spLocks noChangeShapeType="1"/>
                </p:cNvSpPr>
                <p:nvPr/>
              </p:nvSpPr>
              <p:spPr bwMode="auto">
                <a:xfrm>
                  <a:off x="3696" y="1849"/>
                  <a:ext cx="720" cy="0"/>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Line 52"/>
                <p:cNvSpPr>
                  <a:spLocks noChangeShapeType="1"/>
                </p:cNvSpPr>
                <p:nvPr/>
              </p:nvSpPr>
              <p:spPr bwMode="auto">
                <a:xfrm>
                  <a:off x="3696" y="2062"/>
                  <a:ext cx="720" cy="0"/>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0" name="Line 53"/>
                <p:cNvSpPr>
                  <a:spLocks noChangeShapeType="1"/>
                </p:cNvSpPr>
                <p:nvPr/>
              </p:nvSpPr>
              <p:spPr bwMode="auto">
                <a:xfrm>
                  <a:off x="3696" y="2303"/>
                  <a:ext cx="720" cy="0"/>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1" name="Line 54"/>
                <p:cNvSpPr>
                  <a:spLocks noChangeShapeType="1"/>
                </p:cNvSpPr>
                <p:nvPr/>
              </p:nvSpPr>
              <p:spPr bwMode="auto">
                <a:xfrm>
                  <a:off x="3696" y="2520"/>
                  <a:ext cx="720" cy="0"/>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2" name="Line 55"/>
                <p:cNvSpPr>
                  <a:spLocks noChangeShapeType="1"/>
                </p:cNvSpPr>
                <p:nvPr/>
              </p:nvSpPr>
              <p:spPr bwMode="auto">
                <a:xfrm>
                  <a:off x="3696" y="2953"/>
                  <a:ext cx="720" cy="0"/>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20" name="Text Box 56"/>
              <p:cNvSpPr txBox="1">
                <a:spLocks noChangeArrowheads="1"/>
              </p:cNvSpPr>
              <p:nvPr/>
            </p:nvSpPr>
            <p:spPr bwMode="auto">
              <a:xfrm>
                <a:off x="3888" y="912"/>
                <a:ext cx="768" cy="2527"/>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15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隶书" pitchFamily="49" charset="-122"/>
                    <a:ea typeface="隶书" pitchFamily="49" charset="-122"/>
                  </a:rPr>
                  <a:t>      </a:t>
                </a:r>
                <a:r>
                  <a:rPr kumimoji="1" lang="zh-CN" altLang="en-US" sz="2000" b="1" i="0" u="none" strike="noStrike" kern="0" cap="none" spc="0" normalizeH="0" baseline="0" noProof="0">
                    <a:ln>
                      <a:noFill/>
                    </a:ln>
                    <a:solidFill>
                      <a:srgbClr val="000000"/>
                    </a:solidFill>
                    <a:effectLst/>
                    <a:uLnTx/>
                    <a:uFillTx/>
                    <a:latin typeface="隶书" pitchFamily="49" charset="-122"/>
                    <a:ea typeface="隶书" pitchFamily="49" charset="-122"/>
                  </a:rPr>
                  <a:t>9</a:t>
                </a:r>
              </a:p>
              <a:p>
                <a:pPr marL="0" marR="0" lvl="0" indent="0" defTabSz="914400" eaLnBrk="0" fontAlgn="base" latinLnBrk="0" hangingPunct="0">
                  <a:lnSpc>
                    <a:spcPct val="100000"/>
                  </a:lnSpc>
                  <a:spcBef>
                    <a:spcPct val="1500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隶书" pitchFamily="49" charset="-122"/>
                    <a:ea typeface="隶书" pitchFamily="49" charset="-122"/>
                  </a:rPr>
                  <a:t> </a:t>
                </a:r>
                <a:r>
                  <a:rPr kumimoji="1" lang="en-US" altLang="zh-CN" sz="2000" b="1" i="0" u="none" strike="noStrike" kern="0" cap="none" spc="0" normalizeH="0" baseline="0" noProof="0">
                    <a:ln>
                      <a:noFill/>
                    </a:ln>
                    <a:solidFill>
                      <a:srgbClr val="000000"/>
                    </a:solidFill>
                    <a:effectLst/>
                    <a:uLnTx/>
                    <a:uFillTx/>
                    <a:latin typeface="隶书" pitchFamily="49" charset="-122"/>
                    <a:ea typeface="隶书" pitchFamily="49" charset="-122"/>
                  </a:rPr>
                  <a:t>A    0  </a:t>
                </a:r>
              </a:p>
              <a:p>
                <a:pPr marL="0" marR="0" lvl="0" indent="0" defTabSz="914400" eaLnBrk="0" fontAlgn="base" latinLnBrk="0" hangingPunct="0">
                  <a:lnSpc>
                    <a:spcPct val="100000"/>
                  </a:lnSpc>
                  <a:spcBef>
                    <a:spcPct val="1500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隶书" pitchFamily="49" charset="-122"/>
                    <a:ea typeface="隶书" pitchFamily="49" charset="-122"/>
                  </a:rPr>
                  <a:t> B    1</a:t>
                </a:r>
              </a:p>
              <a:p>
                <a:pPr marL="0" marR="0" lvl="0" indent="0" defTabSz="914400" eaLnBrk="0" fontAlgn="base" latinLnBrk="0" hangingPunct="0">
                  <a:lnSpc>
                    <a:spcPct val="100000"/>
                  </a:lnSpc>
                  <a:spcBef>
                    <a:spcPct val="1500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隶书" pitchFamily="49" charset="-122"/>
                    <a:ea typeface="隶书" pitchFamily="49" charset="-122"/>
                  </a:rPr>
                  <a:t> C    1</a:t>
                </a:r>
              </a:p>
              <a:p>
                <a:pPr marL="0" marR="0" lvl="0" indent="0" defTabSz="914400" eaLnBrk="0" fontAlgn="base" latinLnBrk="0" hangingPunct="0">
                  <a:lnSpc>
                    <a:spcPct val="100000"/>
                  </a:lnSpc>
                  <a:spcBef>
                    <a:spcPct val="1500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隶书" pitchFamily="49" charset="-122"/>
                    <a:ea typeface="隶书" pitchFamily="49" charset="-122"/>
                  </a:rPr>
                  <a:t> D    2</a:t>
                </a:r>
              </a:p>
              <a:p>
                <a:pPr marL="0" marR="0" lvl="0" indent="0" defTabSz="914400" eaLnBrk="0" fontAlgn="base" latinLnBrk="0" hangingPunct="0">
                  <a:lnSpc>
                    <a:spcPct val="100000"/>
                  </a:lnSpc>
                  <a:spcBef>
                    <a:spcPct val="1500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隶书" pitchFamily="49" charset="-122"/>
                    <a:ea typeface="隶书" pitchFamily="49" charset="-122"/>
                  </a:rPr>
                  <a:t> E    2</a:t>
                </a:r>
              </a:p>
              <a:p>
                <a:pPr marL="0" marR="0" lvl="0" indent="0" defTabSz="914400" eaLnBrk="0" fontAlgn="base" latinLnBrk="0" hangingPunct="0">
                  <a:lnSpc>
                    <a:spcPct val="100000"/>
                  </a:lnSpc>
                  <a:spcBef>
                    <a:spcPct val="1500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隶书" pitchFamily="49" charset="-122"/>
                    <a:ea typeface="隶书" pitchFamily="49" charset="-122"/>
                  </a:rPr>
                  <a:t> F    3</a:t>
                </a:r>
              </a:p>
              <a:p>
                <a:pPr marL="0" marR="0" lvl="0" indent="0" defTabSz="914400" eaLnBrk="0" fontAlgn="base" latinLnBrk="0" hangingPunct="0">
                  <a:lnSpc>
                    <a:spcPct val="100000"/>
                  </a:lnSpc>
                  <a:spcBef>
                    <a:spcPct val="1500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隶书" pitchFamily="49" charset="-122"/>
                    <a:ea typeface="隶书" pitchFamily="49" charset="-122"/>
                  </a:rPr>
                  <a:t> G    5</a:t>
                </a:r>
              </a:p>
              <a:p>
                <a:pPr marL="0" marR="0" lvl="0" indent="0" defTabSz="914400" eaLnBrk="0" fontAlgn="base" latinLnBrk="0" hangingPunct="0">
                  <a:lnSpc>
                    <a:spcPct val="100000"/>
                  </a:lnSpc>
                  <a:spcBef>
                    <a:spcPct val="1500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隶书" pitchFamily="49" charset="-122"/>
                    <a:ea typeface="隶书" pitchFamily="49" charset="-122"/>
                  </a:rPr>
                  <a:t> H    5</a:t>
                </a:r>
              </a:p>
              <a:p>
                <a:pPr marL="0" marR="0" lvl="0" indent="0" defTabSz="914400" eaLnBrk="0" fontAlgn="base" latinLnBrk="0" hangingPunct="0">
                  <a:lnSpc>
                    <a:spcPct val="100000"/>
                  </a:lnSpc>
                  <a:spcBef>
                    <a:spcPct val="1500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隶书" pitchFamily="49" charset="-122"/>
                    <a:ea typeface="隶书" pitchFamily="49" charset="-122"/>
                  </a:rPr>
                  <a:t> I    5</a:t>
                </a:r>
              </a:p>
              <a:p>
                <a:pPr marL="0" marR="0" lvl="0" indent="0" defTabSz="914400" eaLnBrk="0" fontAlgn="base" latinLnBrk="0" hangingPunct="0">
                  <a:lnSpc>
                    <a:spcPct val="100000"/>
                  </a:lnSpc>
                  <a:spcBef>
                    <a:spcPct val="50000"/>
                  </a:spcBef>
                  <a:spcAft>
                    <a:spcPct val="0"/>
                  </a:spcAft>
                  <a:buClrTx/>
                  <a:buSzTx/>
                  <a:buFontTx/>
                  <a:buNone/>
                  <a:tabLst/>
                  <a:defRPr/>
                </a:pPr>
                <a:endParaRPr kumimoji="1" lang="en-US" altLang="zh-CN" sz="2000" b="1" i="0" u="none" strike="noStrike" kern="0" cap="none" spc="0" normalizeH="0" baseline="0" noProof="0">
                  <a:ln>
                    <a:noFill/>
                  </a:ln>
                  <a:solidFill>
                    <a:srgbClr val="000000"/>
                  </a:solidFill>
                  <a:effectLst/>
                  <a:uLnTx/>
                  <a:uFillTx/>
                  <a:latin typeface="隶书" pitchFamily="49" charset="-122"/>
                  <a:ea typeface="隶书" pitchFamily="49" charset="-122"/>
                </a:endParaRPr>
              </a:p>
            </p:txBody>
          </p:sp>
          <p:sp>
            <p:nvSpPr>
              <p:cNvPr id="21" name="Text Box 57"/>
              <p:cNvSpPr txBox="1">
                <a:spLocks noChangeArrowheads="1"/>
              </p:cNvSpPr>
              <p:nvPr/>
            </p:nvSpPr>
            <p:spPr bwMode="auto">
              <a:xfrm>
                <a:off x="3504" y="912"/>
                <a:ext cx="480" cy="2450"/>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15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0</a:t>
                </a:r>
              </a:p>
              <a:p>
                <a:pPr marL="0" marR="0" lvl="0" indent="0" algn="ctr" defTabSz="914400" eaLnBrk="0" fontAlgn="base" latinLnBrk="0" hangingPunct="0">
                  <a:lnSpc>
                    <a:spcPct val="100000"/>
                  </a:lnSpc>
                  <a:spcBef>
                    <a:spcPct val="15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1</a:t>
                </a:r>
              </a:p>
              <a:p>
                <a:pPr marL="0" marR="0" lvl="0" indent="0" algn="ctr" defTabSz="914400" eaLnBrk="0" fontAlgn="base" latinLnBrk="0" hangingPunct="0">
                  <a:lnSpc>
                    <a:spcPct val="100000"/>
                  </a:lnSpc>
                  <a:spcBef>
                    <a:spcPct val="15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2</a:t>
                </a:r>
              </a:p>
              <a:p>
                <a:pPr marL="0" marR="0" lvl="0" indent="0" algn="ctr" defTabSz="914400" eaLnBrk="0" fontAlgn="base" latinLnBrk="0" hangingPunct="0">
                  <a:lnSpc>
                    <a:spcPct val="100000"/>
                  </a:lnSpc>
                  <a:spcBef>
                    <a:spcPct val="15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3</a:t>
                </a:r>
              </a:p>
              <a:p>
                <a:pPr marL="0" marR="0" lvl="0" indent="0" algn="ctr" defTabSz="914400" eaLnBrk="0" fontAlgn="base" latinLnBrk="0" hangingPunct="0">
                  <a:lnSpc>
                    <a:spcPct val="100000"/>
                  </a:lnSpc>
                  <a:spcBef>
                    <a:spcPct val="15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4</a:t>
                </a:r>
              </a:p>
              <a:p>
                <a:pPr marL="0" marR="0" lvl="0" indent="0" algn="ctr" defTabSz="914400" eaLnBrk="0" fontAlgn="base" latinLnBrk="0" hangingPunct="0">
                  <a:lnSpc>
                    <a:spcPct val="100000"/>
                  </a:lnSpc>
                  <a:spcBef>
                    <a:spcPct val="15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5</a:t>
                </a:r>
              </a:p>
              <a:p>
                <a:pPr marL="0" marR="0" lvl="0" indent="0" algn="ctr" defTabSz="914400" eaLnBrk="0" fontAlgn="base" latinLnBrk="0" hangingPunct="0">
                  <a:lnSpc>
                    <a:spcPct val="100000"/>
                  </a:lnSpc>
                  <a:spcBef>
                    <a:spcPct val="15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6</a:t>
                </a:r>
              </a:p>
              <a:p>
                <a:pPr marL="0" marR="0" lvl="0" indent="0" algn="ctr" defTabSz="914400" eaLnBrk="0" fontAlgn="base" latinLnBrk="0" hangingPunct="0">
                  <a:lnSpc>
                    <a:spcPct val="100000"/>
                  </a:lnSpc>
                  <a:spcBef>
                    <a:spcPct val="15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7</a:t>
                </a:r>
              </a:p>
              <a:p>
                <a:pPr marL="0" marR="0" lvl="0" indent="0" algn="ctr" defTabSz="914400" eaLnBrk="0" fontAlgn="base" latinLnBrk="0" hangingPunct="0">
                  <a:lnSpc>
                    <a:spcPct val="100000"/>
                  </a:lnSpc>
                  <a:spcBef>
                    <a:spcPct val="15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8</a:t>
                </a:r>
              </a:p>
              <a:p>
                <a:pPr marL="0" marR="0" lvl="0" indent="0" algn="ctr" defTabSz="914400" eaLnBrk="0" fontAlgn="base" latinLnBrk="0" hangingPunct="0">
                  <a:lnSpc>
                    <a:spcPct val="100000"/>
                  </a:lnSpc>
                  <a:spcBef>
                    <a:spcPct val="15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9</a:t>
                </a:r>
              </a:p>
              <a:p>
                <a:pPr marL="0" marR="0" lvl="0" indent="0" algn="ctr" defTabSz="914400" eaLnBrk="0" fontAlgn="base" latinLnBrk="0" hangingPunct="0">
                  <a:lnSpc>
                    <a:spcPct val="100000"/>
                  </a:lnSpc>
                  <a:spcBef>
                    <a:spcPct val="10000"/>
                  </a:spcBef>
                  <a:spcAft>
                    <a:spcPct val="0"/>
                  </a:spcAft>
                  <a:buClrTx/>
                  <a:buSzTx/>
                  <a:buFontTx/>
                  <a:buNone/>
                  <a:tabLst/>
                  <a:defRPr/>
                </a:pPr>
                <a:endPar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grpSp>
        <p:sp>
          <p:nvSpPr>
            <p:cNvPr id="17" name="Text Box 58"/>
            <p:cNvSpPr txBox="1">
              <a:spLocks noChangeArrowheads="1"/>
            </p:cNvSpPr>
            <p:nvPr/>
          </p:nvSpPr>
          <p:spPr bwMode="auto">
            <a:xfrm>
              <a:off x="3600" y="672"/>
              <a:ext cx="1440" cy="250"/>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dirty="0">
                  <a:ln>
                    <a:noFill/>
                  </a:ln>
                  <a:solidFill>
                    <a:srgbClr val="000000"/>
                  </a:solidFill>
                  <a:effectLst/>
                  <a:uLnTx/>
                  <a:uFillTx/>
                  <a:latin typeface="宋体" pitchFamily="2" charset="-122"/>
                </a:rPr>
                <a:t>data parent</a:t>
              </a:r>
              <a:r>
                <a:rPr kumimoji="1" lang="en-US" altLang="zh-CN" sz="2000" b="0" i="0" u="none" strike="noStrike" kern="0" cap="none" spc="0" normalizeH="0" baseline="0" noProof="0" dirty="0">
                  <a:ln>
                    <a:noFill/>
                  </a:ln>
                  <a:solidFill>
                    <a:srgbClr val="FFFFA5"/>
                  </a:solidFill>
                  <a:effectLst/>
                  <a:uLnTx/>
                  <a:uFillTx/>
                  <a:latin typeface="宋体" pitchFamily="2" charset="-122"/>
                </a:rPr>
                <a:t>  </a:t>
              </a:r>
            </a:p>
          </p:txBody>
        </p:sp>
      </p:grpSp>
      <p:grpSp>
        <p:nvGrpSpPr>
          <p:cNvPr id="33" name="Group 70"/>
          <p:cNvGrpSpPr>
            <a:grpSpLocks/>
          </p:cNvGrpSpPr>
          <p:nvPr/>
        </p:nvGrpSpPr>
        <p:grpSpPr bwMode="auto">
          <a:xfrm>
            <a:off x="1752600" y="3171825"/>
            <a:ext cx="2651125" cy="2454275"/>
            <a:chOff x="308" y="663"/>
            <a:chExt cx="1670" cy="1546"/>
          </a:xfrm>
        </p:grpSpPr>
        <p:grpSp>
          <p:nvGrpSpPr>
            <p:cNvPr id="34" name="Group 71"/>
            <p:cNvGrpSpPr>
              <a:grpSpLocks/>
            </p:cNvGrpSpPr>
            <p:nvPr/>
          </p:nvGrpSpPr>
          <p:grpSpPr bwMode="auto">
            <a:xfrm>
              <a:off x="1082" y="663"/>
              <a:ext cx="320" cy="250"/>
              <a:chOff x="2880" y="1104"/>
              <a:chExt cx="367" cy="343"/>
            </a:xfrm>
          </p:grpSpPr>
          <p:sp>
            <p:nvSpPr>
              <p:cNvPr id="67" name="Oval 7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8" name="Text Box 7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A</a:t>
                </a:r>
              </a:p>
            </p:txBody>
          </p:sp>
        </p:grpSp>
        <p:grpSp>
          <p:nvGrpSpPr>
            <p:cNvPr id="35" name="Group 74"/>
            <p:cNvGrpSpPr>
              <a:grpSpLocks/>
            </p:cNvGrpSpPr>
            <p:nvPr/>
          </p:nvGrpSpPr>
          <p:grpSpPr bwMode="auto">
            <a:xfrm>
              <a:off x="1658" y="1335"/>
              <a:ext cx="320" cy="250"/>
              <a:chOff x="2880" y="1104"/>
              <a:chExt cx="367" cy="343"/>
            </a:xfrm>
          </p:grpSpPr>
          <p:sp>
            <p:nvSpPr>
              <p:cNvPr id="65" name="Oval 7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6" name="Text Box 76"/>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C</a:t>
                </a:r>
              </a:p>
            </p:txBody>
          </p:sp>
        </p:grpSp>
        <p:grpSp>
          <p:nvGrpSpPr>
            <p:cNvPr id="36" name="Group 77"/>
            <p:cNvGrpSpPr>
              <a:grpSpLocks/>
            </p:cNvGrpSpPr>
            <p:nvPr/>
          </p:nvGrpSpPr>
          <p:grpSpPr bwMode="auto">
            <a:xfrm>
              <a:off x="842" y="1959"/>
              <a:ext cx="320" cy="250"/>
              <a:chOff x="2880" y="1104"/>
              <a:chExt cx="367" cy="343"/>
            </a:xfrm>
          </p:grpSpPr>
          <p:sp>
            <p:nvSpPr>
              <p:cNvPr id="63" name="Oval 7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4" name="Text Box 7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H</a:t>
                </a:r>
              </a:p>
            </p:txBody>
          </p:sp>
        </p:grpSp>
        <p:grpSp>
          <p:nvGrpSpPr>
            <p:cNvPr id="37" name="Group 80"/>
            <p:cNvGrpSpPr>
              <a:grpSpLocks/>
            </p:cNvGrpSpPr>
            <p:nvPr/>
          </p:nvGrpSpPr>
          <p:grpSpPr bwMode="auto">
            <a:xfrm>
              <a:off x="458" y="1959"/>
              <a:ext cx="320" cy="250"/>
              <a:chOff x="2880" y="1104"/>
              <a:chExt cx="367" cy="343"/>
            </a:xfrm>
          </p:grpSpPr>
          <p:sp>
            <p:nvSpPr>
              <p:cNvPr id="61" name="Oval 8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2" name="Text Box 8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G</a:t>
                </a:r>
              </a:p>
            </p:txBody>
          </p:sp>
        </p:grpSp>
        <p:grpSp>
          <p:nvGrpSpPr>
            <p:cNvPr id="38" name="Group 83"/>
            <p:cNvGrpSpPr>
              <a:grpSpLocks/>
            </p:cNvGrpSpPr>
            <p:nvPr/>
          </p:nvGrpSpPr>
          <p:grpSpPr bwMode="auto">
            <a:xfrm>
              <a:off x="308" y="1504"/>
              <a:ext cx="320" cy="250"/>
              <a:chOff x="2880" y="1104"/>
              <a:chExt cx="367" cy="343"/>
            </a:xfrm>
          </p:grpSpPr>
          <p:sp>
            <p:nvSpPr>
              <p:cNvPr id="59" name="Oval 8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0" name="Text Box 8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D</a:t>
                </a:r>
              </a:p>
            </p:txBody>
          </p:sp>
        </p:grpSp>
        <p:sp>
          <p:nvSpPr>
            <p:cNvPr id="39" name="Line 86"/>
            <p:cNvSpPr>
              <a:spLocks noChangeShapeType="1"/>
            </p:cNvSpPr>
            <p:nvPr/>
          </p:nvSpPr>
          <p:spPr bwMode="auto">
            <a:xfrm flipH="1">
              <a:off x="965" y="1752"/>
              <a:ext cx="2" cy="207"/>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0" name="Line 87"/>
            <p:cNvSpPr>
              <a:spLocks noChangeShapeType="1"/>
            </p:cNvSpPr>
            <p:nvPr/>
          </p:nvSpPr>
          <p:spPr bwMode="auto">
            <a:xfrm flipH="1">
              <a:off x="842" y="903"/>
              <a:ext cx="336" cy="287"/>
            </a:xfrm>
            <a:prstGeom prst="line">
              <a:avLst/>
            </a:prstGeom>
            <a:noFill/>
            <a:ln w="12700" cap="rnd">
              <a:solidFill>
                <a:srgbClr val="00008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1" name="Line 88"/>
            <p:cNvSpPr>
              <a:spLocks noChangeShapeType="1"/>
            </p:cNvSpPr>
            <p:nvPr/>
          </p:nvSpPr>
          <p:spPr bwMode="auto">
            <a:xfrm flipH="1">
              <a:off x="506" y="1334"/>
              <a:ext cx="144" cy="192"/>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2" name="Line 89"/>
            <p:cNvSpPr>
              <a:spLocks noChangeShapeType="1"/>
            </p:cNvSpPr>
            <p:nvPr/>
          </p:nvSpPr>
          <p:spPr bwMode="auto">
            <a:xfrm>
              <a:off x="794" y="1334"/>
              <a:ext cx="144" cy="192"/>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3" name="Line 90"/>
            <p:cNvSpPr>
              <a:spLocks noChangeShapeType="1"/>
            </p:cNvSpPr>
            <p:nvPr/>
          </p:nvSpPr>
          <p:spPr bwMode="auto">
            <a:xfrm>
              <a:off x="1802" y="1574"/>
              <a:ext cx="0" cy="144"/>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4" name="Line 91"/>
            <p:cNvSpPr>
              <a:spLocks noChangeShapeType="1"/>
            </p:cNvSpPr>
            <p:nvPr/>
          </p:nvSpPr>
          <p:spPr bwMode="auto">
            <a:xfrm>
              <a:off x="1274" y="903"/>
              <a:ext cx="528" cy="432"/>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5" name="Line 92"/>
            <p:cNvSpPr>
              <a:spLocks noChangeShapeType="1"/>
            </p:cNvSpPr>
            <p:nvPr/>
          </p:nvSpPr>
          <p:spPr bwMode="auto">
            <a:xfrm flipH="1">
              <a:off x="650" y="1706"/>
              <a:ext cx="247" cy="253"/>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6" name="Line 93"/>
            <p:cNvSpPr>
              <a:spLocks noChangeShapeType="1"/>
            </p:cNvSpPr>
            <p:nvPr/>
          </p:nvSpPr>
          <p:spPr bwMode="auto">
            <a:xfrm>
              <a:off x="1034" y="1719"/>
              <a:ext cx="288" cy="288"/>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47" name="Group 94"/>
            <p:cNvGrpSpPr>
              <a:grpSpLocks/>
            </p:cNvGrpSpPr>
            <p:nvPr/>
          </p:nvGrpSpPr>
          <p:grpSpPr bwMode="auto">
            <a:xfrm>
              <a:off x="1658" y="1671"/>
              <a:ext cx="320" cy="250"/>
              <a:chOff x="2880" y="1104"/>
              <a:chExt cx="367" cy="343"/>
            </a:xfrm>
          </p:grpSpPr>
          <p:sp>
            <p:nvSpPr>
              <p:cNvPr id="57" name="Oval 9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8" name="Text Box 96"/>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F</a:t>
                </a:r>
              </a:p>
            </p:txBody>
          </p:sp>
        </p:grpSp>
        <p:grpSp>
          <p:nvGrpSpPr>
            <p:cNvPr id="48" name="Group 97"/>
            <p:cNvGrpSpPr>
              <a:grpSpLocks/>
            </p:cNvGrpSpPr>
            <p:nvPr/>
          </p:nvGrpSpPr>
          <p:grpSpPr bwMode="auto">
            <a:xfrm>
              <a:off x="596" y="1143"/>
              <a:ext cx="320" cy="250"/>
              <a:chOff x="2880" y="1104"/>
              <a:chExt cx="367" cy="343"/>
            </a:xfrm>
          </p:grpSpPr>
          <p:sp>
            <p:nvSpPr>
              <p:cNvPr id="55" name="Oval 9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6" name="Text Box 9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B</a:t>
                </a:r>
              </a:p>
            </p:txBody>
          </p:sp>
        </p:grpSp>
        <p:grpSp>
          <p:nvGrpSpPr>
            <p:cNvPr id="49" name="Group 100"/>
            <p:cNvGrpSpPr>
              <a:grpSpLocks/>
            </p:cNvGrpSpPr>
            <p:nvPr/>
          </p:nvGrpSpPr>
          <p:grpSpPr bwMode="auto">
            <a:xfrm>
              <a:off x="794" y="1504"/>
              <a:ext cx="320" cy="250"/>
              <a:chOff x="2880" y="1104"/>
              <a:chExt cx="367" cy="343"/>
            </a:xfrm>
          </p:grpSpPr>
          <p:sp>
            <p:nvSpPr>
              <p:cNvPr id="53" name="Oval 10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4" name="Text Box 10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E</a:t>
                </a:r>
              </a:p>
            </p:txBody>
          </p:sp>
        </p:grpSp>
        <p:grpSp>
          <p:nvGrpSpPr>
            <p:cNvPr id="50" name="Group 103"/>
            <p:cNvGrpSpPr>
              <a:grpSpLocks/>
            </p:cNvGrpSpPr>
            <p:nvPr/>
          </p:nvGrpSpPr>
          <p:grpSpPr bwMode="auto">
            <a:xfrm>
              <a:off x="1226" y="1959"/>
              <a:ext cx="320" cy="250"/>
              <a:chOff x="2880" y="1104"/>
              <a:chExt cx="367" cy="343"/>
            </a:xfrm>
          </p:grpSpPr>
          <p:sp>
            <p:nvSpPr>
              <p:cNvPr id="51" name="Oval 10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2" name="Text Box 10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I</a:t>
                </a:r>
              </a:p>
            </p:txBody>
          </p:sp>
        </p:grpSp>
      </p:grpSp>
    </p:spTree>
    <p:extLst>
      <p:ext uri="{BB962C8B-B14F-4D97-AF65-F5344CB8AC3E}">
        <p14:creationId xmlns:p14="http://schemas.microsoft.com/office/powerpoint/2010/main" val="2543175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5.5.1  </a:t>
            </a:r>
            <a:r>
              <a:rPr kumimoji="1" lang="zh-CN" altLang="en-US" sz="3200" b="1" dirty="0">
                <a:latin typeface="Arial" charset="0"/>
                <a:ea typeface="宋体" charset="-122"/>
                <a:cs typeface="+mn-cs"/>
              </a:rPr>
              <a:t>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双亲表示法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2428C594-A61F-4E98-A0BE-90BEA2862AC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124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69" name="Rectangle 4"/>
          <p:cNvSpPr>
            <a:spLocks noChangeArrowheads="1"/>
          </p:cNvSpPr>
          <p:nvPr/>
        </p:nvSpPr>
        <p:spPr bwMode="auto">
          <a:xfrm>
            <a:off x="1271588" y="3200400"/>
            <a:ext cx="6119812" cy="3108543"/>
          </a:xfrm>
          <a:prstGeom prst="rect">
            <a:avLst/>
          </a:prstGeom>
          <a:noFill/>
          <a:ln w="12700" cap="rnd">
            <a:solidFill>
              <a:srgbClr val="0000FF"/>
            </a:solidFill>
            <a:miter lim="800000"/>
            <a:headEnd/>
            <a:tailEnd/>
          </a:ln>
        </p:spPr>
        <p:txBody>
          <a:bodyPr>
            <a:spAutoFit/>
          </a:bodyPr>
          <a:lstStyle/>
          <a:p>
            <a:pPr eaLnBrk="0" fontAlgn="base" hangingPunct="0">
              <a:spcBef>
                <a:spcPct val="0"/>
              </a:spcBef>
              <a:spcAft>
                <a:spcPct val="0"/>
              </a:spcAft>
            </a:pPr>
            <a:r>
              <a:rPr kumimoji="1" lang="zh-CN" altLang="en-US" sz="2800" b="1">
                <a:solidFill>
                  <a:srgbClr val="FF3300"/>
                </a:solidFill>
                <a:latin typeface="Times New Roman" pitchFamily="18" charset="0"/>
              </a:rPr>
              <a:t>双亲表示类型定义</a:t>
            </a:r>
          </a:p>
          <a:p>
            <a:pPr eaLnBrk="0" fontAlgn="base" hangingPunct="0">
              <a:spcBef>
                <a:spcPct val="0"/>
              </a:spcBef>
              <a:spcAft>
                <a:spcPct val="0"/>
              </a:spcAft>
            </a:pPr>
            <a:r>
              <a:rPr kumimoji="1" lang="zh-CN" altLang="en-US" sz="2800" b="1">
                <a:solidFill>
                  <a:srgbClr val="04617B"/>
                </a:solidFill>
                <a:latin typeface="Times New Roman" pitchFamily="18" charset="0"/>
              </a:rPr>
              <a:t>    </a:t>
            </a:r>
            <a:r>
              <a:rPr kumimoji="1" lang="zh-CN" altLang="en-US" sz="2800" b="1">
                <a:solidFill>
                  <a:srgbClr val="0000FF"/>
                </a:solidFill>
                <a:latin typeface="Times New Roman" pitchFamily="18" charset="0"/>
              </a:rPr>
              <a:t>#</a:t>
            </a:r>
            <a:r>
              <a:rPr kumimoji="1" lang="en-US" altLang="zh-CN" sz="2800" b="1">
                <a:solidFill>
                  <a:srgbClr val="0000FF"/>
                </a:solidFill>
                <a:latin typeface="Times New Roman" pitchFamily="18" charset="0"/>
              </a:rPr>
              <a:t>define MAX 100</a:t>
            </a:r>
          </a:p>
          <a:p>
            <a:pPr fontAlgn="base">
              <a:spcBef>
                <a:spcPct val="0"/>
              </a:spcBef>
              <a:spcAft>
                <a:spcPct val="0"/>
              </a:spcAft>
            </a:pPr>
            <a:r>
              <a:rPr lang="en-US" altLang="zh-CN" sz="2800" b="1">
                <a:solidFill>
                  <a:srgbClr val="0000FF"/>
                </a:solidFill>
                <a:latin typeface="Times New Roman" pitchFamily="18" charset="0"/>
              </a:rPr>
              <a:t>Typedef s</a:t>
            </a:r>
            <a:r>
              <a:rPr kumimoji="1" lang="en-US" altLang="zh-CN" sz="2800" b="1">
                <a:solidFill>
                  <a:srgbClr val="0000FF"/>
                </a:solidFill>
                <a:latin typeface="Times New Roman" pitchFamily="18" charset="0"/>
              </a:rPr>
              <a:t>truct PTnode</a:t>
            </a:r>
            <a:r>
              <a:rPr kumimoji="1" lang="en-US" altLang="zh-CN" sz="2800" b="1">
                <a:solidFill>
                  <a:srgbClr val="000000"/>
                </a:solidFill>
                <a:latin typeface="Times New Roman" pitchFamily="18" charset="0"/>
              </a:rPr>
              <a:t>{</a:t>
            </a:r>
          </a:p>
          <a:p>
            <a:pPr fontAlgn="base">
              <a:spcBef>
                <a:spcPct val="0"/>
              </a:spcBef>
              <a:spcAft>
                <a:spcPct val="0"/>
              </a:spcAft>
            </a:pPr>
            <a:r>
              <a:rPr kumimoji="1" lang="en-US" altLang="zh-CN" sz="2800" b="1">
                <a:solidFill>
                  <a:srgbClr val="000000"/>
                </a:solidFill>
                <a:latin typeface="Times New Roman" pitchFamily="18" charset="0"/>
              </a:rPr>
              <a:t>                           //</a:t>
            </a:r>
            <a:r>
              <a:rPr kumimoji="1" lang="zh-CN" altLang="en-US" sz="2800" b="1">
                <a:solidFill>
                  <a:srgbClr val="000000"/>
                </a:solidFill>
                <a:latin typeface="Times New Roman" pitchFamily="18" charset="0"/>
              </a:rPr>
              <a:t>结点结构</a:t>
            </a:r>
            <a:endParaRPr kumimoji="1" lang="en-US" altLang="zh-CN" sz="2800" b="1">
              <a:solidFill>
                <a:srgbClr val="000000"/>
              </a:solidFill>
              <a:latin typeface="Times New Roman" pitchFamily="18" charset="0"/>
            </a:endParaRPr>
          </a:p>
          <a:p>
            <a:pPr fontAlgn="base">
              <a:spcBef>
                <a:spcPct val="0"/>
              </a:spcBef>
              <a:spcAft>
                <a:spcPct val="0"/>
              </a:spcAft>
            </a:pPr>
            <a:r>
              <a:rPr kumimoji="1" lang="en-US" altLang="zh-CN" sz="2800" b="1">
                <a:solidFill>
                  <a:srgbClr val="0000FF"/>
                </a:solidFill>
                <a:latin typeface="Times New Roman" pitchFamily="18" charset="0"/>
              </a:rPr>
              <a:t>    Elem data;</a:t>
            </a:r>
          </a:p>
          <a:p>
            <a:pPr fontAlgn="base">
              <a:spcBef>
                <a:spcPct val="0"/>
              </a:spcBef>
              <a:spcAft>
                <a:spcPct val="0"/>
              </a:spcAft>
            </a:pPr>
            <a:r>
              <a:rPr kumimoji="1" lang="en-US" altLang="zh-CN" sz="2800" b="1">
                <a:solidFill>
                  <a:srgbClr val="0000FF"/>
                </a:solidFill>
                <a:latin typeface="Times New Roman" pitchFamily="18" charset="0"/>
              </a:rPr>
              <a:t>    int   parent;   </a:t>
            </a:r>
            <a:r>
              <a:rPr kumimoji="1" lang="en-US" altLang="zh-CN" sz="2800" b="1">
                <a:solidFill>
                  <a:srgbClr val="000000"/>
                </a:solidFill>
                <a:latin typeface="Times New Roman" pitchFamily="18" charset="0"/>
              </a:rPr>
              <a:t>//</a:t>
            </a:r>
            <a:r>
              <a:rPr kumimoji="1" lang="zh-CN" altLang="en-US" sz="2800" b="1">
                <a:solidFill>
                  <a:srgbClr val="000000"/>
                </a:solidFill>
                <a:latin typeface="Times New Roman" pitchFamily="18" charset="0"/>
              </a:rPr>
              <a:t>双亲位置域</a:t>
            </a:r>
          </a:p>
          <a:p>
            <a:pPr fontAlgn="base">
              <a:spcBef>
                <a:spcPct val="0"/>
              </a:spcBef>
              <a:spcAft>
                <a:spcPct val="0"/>
              </a:spcAft>
            </a:pPr>
            <a:r>
              <a:rPr kumimoji="1" lang="zh-CN" altLang="en-US" sz="2800" b="1">
                <a:solidFill>
                  <a:srgbClr val="0000FF"/>
                </a:solidFill>
                <a:latin typeface="Times New Roman" pitchFamily="18" charset="0"/>
              </a:rPr>
              <a:t>}</a:t>
            </a:r>
            <a:r>
              <a:rPr kumimoji="1" lang="en-US" altLang="zh-CN" sz="2800" b="1">
                <a:solidFill>
                  <a:srgbClr val="0000FF"/>
                </a:solidFill>
                <a:latin typeface="Times New Roman" pitchFamily="18" charset="0"/>
              </a:rPr>
              <a:t> PTnode</a:t>
            </a:r>
          </a:p>
        </p:txBody>
      </p:sp>
      <p:grpSp>
        <p:nvGrpSpPr>
          <p:cNvPr id="70" name="Group 110"/>
          <p:cNvGrpSpPr>
            <a:grpSpLocks/>
          </p:cNvGrpSpPr>
          <p:nvPr/>
        </p:nvGrpSpPr>
        <p:grpSpPr bwMode="auto">
          <a:xfrm>
            <a:off x="3503613" y="2284194"/>
            <a:ext cx="3200400" cy="719138"/>
            <a:chOff x="605" y="1480"/>
            <a:chExt cx="2016" cy="453"/>
          </a:xfrm>
        </p:grpSpPr>
        <p:sp>
          <p:nvSpPr>
            <p:cNvPr id="71" name="Text Box 108"/>
            <p:cNvSpPr txBox="1">
              <a:spLocks noChangeArrowheads="1"/>
            </p:cNvSpPr>
            <p:nvPr/>
          </p:nvSpPr>
          <p:spPr bwMode="auto">
            <a:xfrm>
              <a:off x="605" y="1480"/>
              <a:ext cx="2016" cy="407"/>
            </a:xfrm>
            <a:prstGeom prst="rect">
              <a:avLst/>
            </a:prstGeom>
            <a:noFill/>
            <a:ln w="12700" cap="sq">
              <a:solidFill>
                <a:srgbClr val="336600"/>
              </a:solidFill>
              <a:miter lim="800000"/>
              <a:headEnd type="none" w="sm" len="sm"/>
              <a:tailEnd type="none" w="sm" len="sm"/>
            </a:ln>
          </p:spPr>
          <p:txBody>
            <a:bodyPr>
              <a:spAutoFit/>
            </a:bodyPr>
            <a:lstStyle/>
            <a:p>
              <a:pPr fontAlgn="base">
                <a:spcBef>
                  <a:spcPct val="50000"/>
                </a:spcBef>
                <a:spcAft>
                  <a:spcPct val="0"/>
                </a:spcAft>
              </a:pPr>
              <a:r>
                <a:rPr kumimoji="1" lang="zh-CN" altLang="en-US" sz="3600">
                  <a:solidFill>
                    <a:srgbClr val="0000FF"/>
                  </a:solidFill>
                  <a:latin typeface="Times New Roman" pitchFamily="18" charset="0"/>
                </a:rPr>
                <a:t> </a:t>
              </a:r>
              <a:r>
                <a:rPr kumimoji="1" lang="en-US" altLang="zh-CN" sz="3600" b="1">
                  <a:solidFill>
                    <a:srgbClr val="0000FF"/>
                  </a:solidFill>
                  <a:latin typeface="Times New Roman" pitchFamily="18" charset="0"/>
                </a:rPr>
                <a:t>data   parent</a:t>
              </a:r>
              <a:endParaRPr kumimoji="1" lang="en-US" altLang="zh-CN" sz="3600">
                <a:solidFill>
                  <a:srgbClr val="0000FF"/>
                </a:solidFill>
                <a:latin typeface="Times New Roman" pitchFamily="18" charset="0"/>
              </a:endParaRPr>
            </a:p>
          </p:txBody>
        </p:sp>
        <p:sp>
          <p:nvSpPr>
            <p:cNvPr id="72" name="Line 109"/>
            <p:cNvSpPr>
              <a:spLocks noChangeShapeType="1"/>
            </p:cNvSpPr>
            <p:nvPr/>
          </p:nvSpPr>
          <p:spPr bwMode="auto">
            <a:xfrm>
              <a:off x="1487" y="1480"/>
              <a:ext cx="0" cy="453"/>
            </a:xfrm>
            <a:prstGeom prst="line">
              <a:avLst/>
            </a:prstGeom>
            <a:noFill/>
            <a:ln w="12700" cap="rnd">
              <a:solidFill>
                <a:srgbClr val="336600"/>
              </a:solidFill>
              <a:round/>
              <a:headEnd/>
              <a:tailEnd/>
            </a:ln>
          </p:spPr>
          <p:txBody>
            <a:bodyPr>
              <a:spAutoFit/>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grpSp>
      <p:sp>
        <p:nvSpPr>
          <p:cNvPr id="73" name="Rectangle 65"/>
          <p:cNvSpPr>
            <a:spLocks noChangeArrowheads="1"/>
          </p:cNvSpPr>
          <p:nvPr/>
        </p:nvSpPr>
        <p:spPr bwMode="auto">
          <a:xfrm>
            <a:off x="701675" y="1742857"/>
            <a:ext cx="1899879" cy="714170"/>
          </a:xfrm>
          <a:prstGeom prst="rect">
            <a:avLst/>
          </a:prstGeom>
          <a:noFill/>
          <a:ln w="12700" cap="sq">
            <a:noFill/>
            <a:miter lim="800000"/>
            <a:headEnd type="none" w="sm" len="sm"/>
            <a:tailEnd type="none" w="sm" len="sm"/>
          </a:ln>
        </p:spPr>
        <p:txBody>
          <a:bodyPr wrap="none">
            <a:spAutoFit/>
          </a:bodyPr>
          <a:lstStyle/>
          <a:p>
            <a:pPr fontAlgn="base">
              <a:lnSpc>
                <a:spcPct val="110000"/>
              </a:lnSpc>
              <a:spcBef>
                <a:spcPct val="0"/>
              </a:spcBef>
              <a:spcAft>
                <a:spcPct val="0"/>
              </a:spcAft>
            </a:pPr>
            <a:r>
              <a:rPr kumimoji="1" lang="zh-CN" altLang="en-US" sz="4000" b="1">
                <a:solidFill>
                  <a:srgbClr val="0000FF"/>
                </a:solidFill>
                <a:latin typeface="Times New Roman" pitchFamily="18" charset="0"/>
                <a:ea typeface="楷体_GB2312" pitchFamily="49" charset="-122"/>
              </a:rPr>
              <a:t>树结构</a:t>
            </a:r>
            <a:r>
              <a:rPr kumimoji="1" lang="en-US" altLang="zh-CN" sz="4000" b="1">
                <a:solidFill>
                  <a:srgbClr val="0000FF"/>
                </a:solidFill>
                <a:latin typeface="Times New Roman" pitchFamily="18" charset="0"/>
                <a:ea typeface="楷体_GB2312" pitchFamily="49" charset="-122"/>
              </a:rPr>
              <a:t>:</a:t>
            </a:r>
          </a:p>
        </p:txBody>
      </p:sp>
    </p:spTree>
    <p:extLst>
      <p:ext uri="{BB962C8B-B14F-4D97-AF65-F5344CB8AC3E}">
        <p14:creationId xmlns:p14="http://schemas.microsoft.com/office/powerpoint/2010/main" val="2499963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5.5.1  </a:t>
            </a:r>
            <a:r>
              <a:rPr kumimoji="1" lang="zh-CN" altLang="en-US" sz="3200" b="1" dirty="0">
                <a:latin typeface="Arial" charset="0"/>
                <a:ea typeface="宋体" charset="-122"/>
                <a:cs typeface="+mn-cs"/>
              </a:rPr>
              <a:t>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双亲表示法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8E8BF33F-BBA3-4979-855F-8276507B50FA}"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125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
          <p:cNvSpPr txBox="1">
            <a:spLocks noChangeArrowheads="1"/>
          </p:cNvSpPr>
          <p:nvPr/>
        </p:nvSpPr>
        <p:spPr bwMode="auto">
          <a:xfrm>
            <a:off x="625475" y="2971800"/>
            <a:ext cx="7756525" cy="3324225"/>
          </a:xfrm>
          <a:prstGeom prst="rect">
            <a:avLst/>
          </a:prstGeom>
          <a:noFill/>
          <a:ln w="12700" cap="sq">
            <a:solidFill>
              <a:srgbClr val="003300"/>
            </a:solidFill>
            <a:miter lim="800000"/>
            <a:headEnd type="none" w="sm" len="sm"/>
            <a:tailEnd type="none" w="sm" len="sm"/>
          </a:ln>
        </p:spPr>
        <p:txBody>
          <a:bodyPr wrap="none">
            <a:spAutoFit/>
          </a:bodyPr>
          <a:lstStyle/>
          <a:p>
            <a:pPr fontAlgn="base">
              <a:lnSpc>
                <a:spcPct val="110000"/>
              </a:lnSpc>
              <a:spcBef>
                <a:spcPct val="0"/>
              </a:spcBef>
              <a:spcAft>
                <a:spcPct val="0"/>
              </a:spcAft>
            </a:pPr>
            <a:r>
              <a:rPr kumimoji="1" lang="en-US" altLang="zh-CN" sz="3200" b="1">
                <a:solidFill>
                  <a:srgbClr val="0000FF"/>
                </a:solidFill>
                <a:latin typeface="Times New Roman" pitchFamily="18" charset="0"/>
              </a:rPr>
              <a:t>typedef struct {</a:t>
            </a:r>
          </a:p>
          <a:p>
            <a:pPr fontAlgn="base">
              <a:lnSpc>
                <a:spcPct val="110000"/>
              </a:lnSpc>
              <a:spcBef>
                <a:spcPct val="0"/>
              </a:spcBef>
              <a:spcAft>
                <a:spcPct val="0"/>
              </a:spcAft>
            </a:pPr>
            <a:r>
              <a:rPr kumimoji="1" lang="en-US" altLang="zh-CN" sz="3200" b="1">
                <a:solidFill>
                  <a:srgbClr val="0000FF"/>
                </a:solidFill>
                <a:latin typeface="Times New Roman" pitchFamily="18" charset="0"/>
              </a:rPr>
              <a:t>     PTNode  nodes</a:t>
            </a:r>
          </a:p>
          <a:p>
            <a:pPr fontAlgn="base">
              <a:lnSpc>
                <a:spcPct val="110000"/>
              </a:lnSpc>
              <a:spcBef>
                <a:spcPct val="0"/>
              </a:spcBef>
              <a:spcAft>
                <a:spcPct val="0"/>
              </a:spcAft>
            </a:pPr>
            <a:r>
              <a:rPr kumimoji="1" lang="en-US" altLang="zh-CN" sz="3200" b="1">
                <a:solidFill>
                  <a:srgbClr val="0000FF"/>
                </a:solidFill>
                <a:latin typeface="Times New Roman" pitchFamily="18" charset="0"/>
              </a:rPr>
              <a:t>                      [MAX_TREE_SIZE];</a:t>
            </a:r>
          </a:p>
          <a:p>
            <a:pPr fontAlgn="base">
              <a:lnSpc>
                <a:spcPct val="110000"/>
              </a:lnSpc>
              <a:spcBef>
                <a:spcPct val="0"/>
              </a:spcBef>
              <a:spcAft>
                <a:spcPct val="0"/>
              </a:spcAft>
            </a:pPr>
            <a:r>
              <a:rPr kumimoji="1" lang="en-US" altLang="zh-CN" sz="3200" b="1">
                <a:solidFill>
                  <a:srgbClr val="0000FF"/>
                </a:solidFill>
                <a:latin typeface="Times New Roman" pitchFamily="18" charset="0"/>
              </a:rPr>
              <a:t>     int    r, n;</a:t>
            </a:r>
            <a:r>
              <a:rPr kumimoji="1" lang="en-US" altLang="zh-CN" sz="3200" b="1">
                <a:solidFill>
                  <a:srgbClr val="0000FF"/>
                </a:solidFill>
                <a:latin typeface="宋体" pitchFamily="2" charset="-122"/>
              </a:rPr>
              <a:t>     </a:t>
            </a:r>
          </a:p>
          <a:p>
            <a:pPr fontAlgn="base">
              <a:lnSpc>
                <a:spcPct val="110000"/>
              </a:lnSpc>
              <a:spcBef>
                <a:spcPct val="0"/>
              </a:spcBef>
              <a:spcAft>
                <a:spcPct val="0"/>
              </a:spcAft>
            </a:pPr>
            <a:r>
              <a:rPr kumimoji="1" lang="en-US" altLang="zh-CN" sz="3200" b="1">
                <a:solidFill>
                  <a:srgbClr val="0000FF"/>
                </a:solidFill>
                <a:latin typeface="宋体" pitchFamily="2" charset="-122"/>
              </a:rPr>
              <a:t>            // </a:t>
            </a:r>
            <a:r>
              <a:rPr kumimoji="1" lang="zh-CN" altLang="en-US" sz="3200" b="1">
                <a:solidFill>
                  <a:srgbClr val="0000FF"/>
                </a:solidFill>
                <a:latin typeface="宋体" pitchFamily="2" charset="-122"/>
              </a:rPr>
              <a:t>根结点的位置和结点个数</a:t>
            </a:r>
          </a:p>
          <a:p>
            <a:pPr fontAlgn="base">
              <a:lnSpc>
                <a:spcPct val="110000"/>
              </a:lnSpc>
              <a:spcBef>
                <a:spcPct val="0"/>
              </a:spcBef>
              <a:spcAft>
                <a:spcPct val="0"/>
              </a:spcAft>
            </a:pPr>
            <a:r>
              <a:rPr kumimoji="1" lang="zh-CN" altLang="en-US" sz="3200" b="1">
                <a:solidFill>
                  <a:srgbClr val="0000FF"/>
                </a:solidFill>
                <a:latin typeface="宋体" pitchFamily="2" charset="-122"/>
              </a:rPr>
              <a:t>   </a:t>
            </a:r>
            <a:r>
              <a:rPr kumimoji="1" lang="en-US" altLang="zh-CN" sz="3200" b="1">
                <a:solidFill>
                  <a:srgbClr val="0000FF"/>
                </a:solidFill>
                <a:latin typeface="Times New Roman" pitchFamily="18" charset="0"/>
              </a:rPr>
              <a:t>} PTree;</a:t>
            </a:r>
          </a:p>
        </p:txBody>
      </p:sp>
      <p:sp>
        <p:nvSpPr>
          <p:cNvPr id="14" name="Rectangle 7"/>
          <p:cNvSpPr>
            <a:spLocks noChangeArrowheads="1"/>
          </p:cNvSpPr>
          <p:nvPr/>
        </p:nvSpPr>
        <p:spPr bwMode="auto">
          <a:xfrm>
            <a:off x="708025" y="1679575"/>
            <a:ext cx="2051050" cy="828675"/>
          </a:xfrm>
          <a:prstGeom prst="rect">
            <a:avLst/>
          </a:prstGeom>
          <a:noFill/>
          <a:ln w="12700" cap="sq">
            <a:noFill/>
            <a:miter lim="800000"/>
            <a:headEnd type="none" w="sm" len="sm"/>
            <a:tailEnd type="none" w="sm" len="sm"/>
          </a:ln>
        </p:spPr>
        <p:txBody>
          <a:bodyPr wrap="none">
            <a:spAutoFit/>
          </a:bodyPr>
          <a:lstStyle/>
          <a:p>
            <a:pPr fontAlgn="base">
              <a:lnSpc>
                <a:spcPct val="110000"/>
              </a:lnSpc>
              <a:spcBef>
                <a:spcPct val="0"/>
              </a:spcBef>
              <a:spcAft>
                <a:spcPct val="0"/>
              </a:spcAft>
            </a:pPr>
            <a:r>
              <a:rPr kumimoji="1" lang="zh-CN" altLang="en-US" sz="4400" b="1">
                <a:solidFill>
                  <a:srgbClr val="0000FF"/>
                </a:solidFill>
                <a:latin typeface="Times New Roman" pitchFamily="18" charset="0"/>
                <a:ea typeface="楷体_GB2312" pitchFamily="49" charset="-122"/>
              </a:rPr>
              <a:t>树结构</a:t>
            </a:r>
            <a:r>
              <a:rPr kumimoji="1" lang="en-US" altLang="zh-CN" sz="4400" b="1">
                <a:solidFill>
                  <a:srgbClr val="0000FF"/>
                </a:solidFill>
                <a:latin typeface="Times New Roman" pitchFamily="18" charset="0"/>
                <a:ea typeface="楷体_GB2312" pitchFamily="49" charset="-122"/>
              </a:rPr>
              <a:t>:</a:t>
            </a:r>
          </a:p>
        </p:txBody>
      </p:sp>
    </p:spTree>
    <p:extLst>
      <p:ext uri="{BB962C8B-B14F-4D97-AF65-F5344CB8AC3E}">
        <p14:creationId xmlns:p14="http://schemas.microsoft.com/office/powerpoint/2010/main" val="9423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5.5.1  </a:t>
            </a:r>
            <a:r>
              <a:rPr kumimoji="1" lang="zh-CN" altLang="en-US" sz="3200" b="1" dirty="0">
                <a:latin typeface="Arial" charset="0"/>
                <a:ea typeface="宋体" charset="-122"/>
                <a:cs typeface="+mn-cs"/>
              </a:rPr>
              <a:t>树的存储结构</a:t>
            </a:r>
          </a:p>
        </p:txBody>
      </p:sp>
      <p:sp>
        <p:nvSpPr>
          <p:cNvPr id="3" name="内容占位符 2"/>
          <p:cNvSpPr>
            <a:spLocks noGrp="1"/>
          </p:cNvSpPr>
          <p:nvPr>
            <p:ph idx="1"/>
          </p:nvPr>
        </p:nvSpPr>
        <p:spPr>
          <a:xfrm>
            <a:off x="457200" y="1066800"/>
            <a:ext cx="8229600" cy="5105400"/>
          </a:xfrm>
        </p:spPr>
        <p:txBody>
          <a:bodyPr>
            <a:normAutofit/>
          </a:bodyPr>
          <a:lstStyle/>
          <a:p>
            <a:pPr>
              <a:lnSpc>
                <a:spcPts val="3600"/>
              </a:lnSpc>
            </a:pPr>
            <a:r>
              <a:rPr lang="zh-CN" altLang="en-US" sz="2800" b="1" dirty="0">
                <a:solidFill>
                  <a:srgbClr val="FF0000"/>
                </a:solidFill>
              </a:rPr>
              <a:t>孩子链表表示法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6FD2BBB9-1287-4272-9B6E-9A0B7571092D}"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126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aphicFrame>
        <p:nvGraphicFramePr>
          <p:cNvPr id="13" name="Group 2"/>
          <p:cNvGraphicFramePr>
            <a:graphicFrameLocks noGrp="1"/>
          </p:cNvGraphicFramePr>
          <p:nvPr>
            <p:extLst>
              <p:ext uri="{D42A27DB-BD31-4B8C-83A1-F6EECF244321}">
                <p14:modId xmlns:p14="http://schemas.microsoft.com/office/powerpoint/2010/main" val="853678629"/>
              </p:ext>
            </p:extLst>
          </p:nvPr>
        </p:nvGraphicFramePr>
        <p:xfrm>
          <a:off x="4460875" y="2401887"/>
          <a:ext cx="1276350" cy="4098927"/>
        </p:xfrm>
        <a:graphic>
          <a:graphicData uri="http://schemas.openxmlformats.org/drawingml/2006/table">
            <a:tbl>
              <a:tblPr/>
              <a:tblGrid>
                <a:gridCol w="638175">
                  <a:extLst>
                    <a:ext uri="{9D8B030D-6E8A-4147-A177-3AD203B41FA5}">
                      <a16:colId xmlns:a16="http://schemas.microsoft.com/office/drawing/2014/main" val="20000"/>
                    </a:ext>
                  </a:extLst>
                </a:gridCol>
                <a:gridCol w="638175">
                  <a:extLst>
                    <a:ext uri="{9D8B030D-6E8A-4147-A177-3AD203B41FA5}">
                      <a16:colId xmlns:a16="http://schemas.microsoft.com/office/drawing/2014/main" val="20001"/>
                    </a:ext>
                  </a:extLst>
                </a:gridCol>
              </a:tblGrid>
              <a:tr h="403225">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en-US" altLang="zh-CN" sz="2000" b="0" i="0" u="none" strike="noStrike" cap="none" normalizeH="0" baseline="0">
                        <a:ln>
                          <a:noFill/>
                        </a:ln>
                        <a:solidFill>
                          <a:schemeClr val="tx1"/>
                        </a:solidFill>
                        <a:effectLst/>
                        <a:latin typeface="Constantia"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4813">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r>
                        <a:rPr kumimoji="0" lang="en-US" altLang="zh-CN" sz="2000" b="0" i="0" u="none" strike="noStrike" cap="none" normalizeH="0" baseline="0">
                          <a:ln>
                            <a:noFill/>
                          </a:ln>
                          <a:solidFill>
                            <a:schemeClr val="tx1"/>
                          </a:solidFill>
                          <a:effectLst/>
                          <a:latin typeface="Constantia" pitchFamily="18" charset="0"/>
                          <a:ea typeface="宋体" pitchFamily="2" charset="-122"/>
                        </a:rPr>
                        <a:t>A</a:t>
                      </a: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3225">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r>
                        <a:rPr kumimoji="0" lang="en-US" altLang="zh-CN" sz="2000" b="0" i="0" u="none" strike="noStrike" cap="none" normalizeH="0" baseline="0">
                          <a:ln>
                            <a:noFill/>
                          </a:ln>
                          <a:solidFill>
                            <a:schemeClr val="tx1"/>
                          </a:solidFill>
                          <a:effectLst/>
                          <a:latin typeface="Constantia" pitchFamily="18" charset="0"/>
                          <a:ea typeface="宋体" pitchFamily="2" charset="-122"/>
                        </a:rPr>
                        <a:t>B</a:t>
                      </a: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225">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000" b="0" i="0" u="none" strike="noStrike" cap="none" normalizeH="0" baseline="0">
                          <a:ln>
                            <a:noFill/>
                          </a:ln>
                          <a:solidFill>
                            <a:schemeClr val="tx1"/>
                          </a:solidFill>
                          <a:effectLst/>
                          <a:latin typeface="Constantia" pitchFamily="18" charset="0"/>
                          <a:ea typeface="宋体" pitchFamily="2" charset="-122"/>
                        </a:rPr>
                        <a:t>   C</a:t>
                      </a: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4813">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000" b="0" i="0" u="none" strike="noStrike" cap="none" normalizeH="0" baseline="0">
                          <a:ln>
                            <a:noFill/>
                          </a:ln>
                          <a:solidFill>
                            <a:schemeClr val="tx1"/>
                          </a:solidFill>
                          <a:effectLst/>
                          <a:latin typeface="Constantia" pitchFamily="18" charset="0"/>
                          <a:ea typeface="宋体" pitchFamily="2" charset="-122"/>
                        </a:rPr>
                        <a:t>   D   </a:t>
                      </a: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225">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000" b="0" i="0" u="none" strike="noStrike" cap="none" normalizeH="0" baseline="0">
                          <a:ln>
                            <a:noFill/>
                          </a:ln>
                          <a:solidFill>
                            <a:schemeClr val="tx1"/>
                          </a:solidFill>
                          <a:effectLst/>
                          <a:latin typeface="Constantia" pitchFamily="18" charset="0"/>
                          <a:ea typeface="宋体" pitchFamily="2" charset="-122"/>
                        </a:rPr>
                        <a:t>   E</a:t>
                      </a:r>
                      <a:r>
                        <a:rPr kumimoji="0" lang="zh-CN" altLang="en-US" sz="2000" b="0" i="0" u="none" strike="noStrike" cap="none" normalizeH="0" baseline="0">
                          <a:ln>
                            <a:noFill/>
                          </a:ln>
                          <a:solidFill>
                            <a:schemeClr val="tx1"/>
                          </a:solidFill>
                          <a:effectLst/>
                          <a:latin typeface="Constantia" pitchFamily="18" charset="0"/>
                          <a:ea typeface="宋体" pitchFamily="2" charset="-122"/>
                        </a:rPr>
                        <a:t> </a:t>
                      </a:r>
                      <a:endParaRPr kumimoji="0" lang="en-US" altLang="zh-CN" sz="2000" b="0" i="0" u="none" strike="noStrike" cap="none" normalizeH="0" baseline="0">
                        <a:ln>
                          <a:noFill/>
                        </a:ln>
                        <a:solidFill>
                          <a:schemeClr val="tx1"/>
                        </a:solidFill>
                        <a:effectLst/>
                        <a:latin typeface="Constantia" pitchFamily="18" charset="0"/>
                        <a:ea typeface="宋体" pitchFamily="2" charset="-122"/>
                      </a:endParaRP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225">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r>
                        <a:rPr kumimoji="0" lang="en-US" altLang="zh-CN" sz="2000" b="0" i="0" u="none" strike="noStrike" cap="none" normalizeH="0" baseline="0">
                          <a:ln>
                            <a:noFill/>
                          </a:ln>
                          <a:solidFill>
                            <a:schemeClr val="tx1"/>
                          </a:solidFill>
                          <a:effectLst/>
                          <a:latin typeface="Constantia" pitchFamily="18" charset="0"/>
                          <a:ea typeface="宋体" pitchFamily="2" charset="-122"/>
                        </a:rPr>
                        <a:t>F</a:t>
                      </a: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4813">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r>
                        <a:rPr kumimoji="0" lang="en-US" altLang="zh-CN" sz="2000" b="0" i="0" u="none" strike="noStrike" cap="none" normalizeH="0" baseline="0">
                          <a:ln>
                            <a:noFill/>
                          </a:ln>
                          <a:solidFill>
                            <a:schemeClr val="tx1"/>
                          </a:solidFill>
                          <a:effectLst/>
                          <a:latin typeface="Constantia" pitchFamily="18" charset="0"/>
                          <a:ea typeface="宋体" pitchFamily="2" charset="-122"/>
                        </a:rPr>
                        <a:t>G</a:t>
                      </a: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225">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r>
                        <a:rPr kumimoji="0" lang="en-US" altLang="zh-CN" sz="2000" b="0" i="0" u="none" strike="noStrike" cap="none" normalizeH="0" baseline="0">
                          <a:ln>
                            <a:noFill/>
                          </a:ln>
                          <a:solidFill>
                            <a:schemeClr val="tx1"/>
                          </a:solidFill>
                          <a:effectLst/>
                          <a:latin typeface="Constantia" pitchFamily="18" charset="0"/>
                          <a:ea typeface="宋体" pitchFamily="2" charset="-122"/>
                        </a:rPr>
                        <a:t>H</a:t>
                      </a:r>
                      <a:r>
                        <a:rPr kumimoji="0" lang="zh-CN" altLang="en-US" sz="2000" b="0" i="0" u="none" strike="noStrike" cap="none" normalizeH="0" baseline="0">
                          <a:ln>
                            <a:noFill/>
                          </a:ln>
                          <a:solidFill>
                            <a:schemeClr val="tx1"/>
                          </a:solidFill>
                          <a:effectLst/>
                          <a:latin typeface="Constantia" pitchFamily="18" charset="0"/>
                          <a:ea typeface="宋体" pitchFamily="2" charset="-122"/>
                        </a:rPr>
                        <a:t>    </a:t>
                      </a:r>
                      <a:endParaRPr kumimoji="0" lang="en-US" altLang="zh-CN" sz="2000" b="0" i="0" u="none" strike="noStrike" cap="none" normalizeH="0" baseline="0">
                        <a:ln>
                          <a:noFill/>
                        </a:ln>
                        <a:solidFill>
                          <a:schemeClr val="tx1"/>
                        </a:solidFill>
                        <a:effectLst/>
                        <a:latin typeface="Constantia" pitchFamily="18" charset="0"/>
                        <a:ea typeface="宋体" pitchFamily="2" charset="-122"/>
                      </a:endParaRP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6513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400" b="0" i="0" u="none" strike="noStrike" cap="none" normalizeH="0" baseline="0">
                          <a:ln>
                            <a:noFill/>
                          </a:ln>
                          <a:solidFill>
                            <a:schemeClr val="tx1"/>
                          </a:solidFill>
                          <a:effectLst/>
                          <a:latin typeface="Constantia" pitchFamily="18" charset="0"/>
                          <a:ea typeface="宋体" pitchFamily="2" charset="-122"/>
                        </a:rPr>
                        <a:t>   </a:t>
                      </a:r>
                      <a:r>
                        <a:rPr kumimoji="0" lang="en-US" altLang="zh-CN" sz="2000" b="0" i="0" u="none" strike="noStrike" cap="none" normalizeH="0" baseline="0">
                          <a:ln>
                            <a:noFill/>
                          </a:ln>
                          <a:solidFill>
                            <a:schemeClr val="tx1"/>
                          </a:solidFill>
                          <a:effectLst/>
                          <a:latin typeface="Constantia" pitchFamily="18" charset="0"/>
                          <a:ea typeface="宋体" pitchFamily="2" charset="-122"/>
                        </a:rPr>
                        <a:t>I</a:t>
                      </a:r>
                      <a:endParaRPr kumimoji="0" lang="zh-CN" altLang="en-US" sz="2000" b="0" i="0" u="none" strike="noStrike" cap="none" normalizeH="0" baseline="0">
                        <a:ln>
                          <a:noFill/>
                        </a:ln>
                        <a:solidFill>
                          <a:schemeClr val="tx1"/>
                        </a:solidFill>
                        <a:effectLst/>
                        <a:latin typeface="Constantia" pitchFamily="18" charset="0"/>
                        <a:ea typeface="宋体" pitchFamily="2" charset="-122"/>
                      </a:endParaRP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4" name="Text Box 39"/>
          <p:cNvSpPr txBox="1">
            <a:spLocks noChangeArrowheads="1"/>
          </p:cNvSpPr>
          <p:nvPr/>
        </p:nvSpPr>
        <p:spPr bwMode="auto">
          <a:xfrm>
            <a:off x="3930650" y="2249487"/>
            <a:ext cx="549275" cy="4294188"/>
          </a:xfrm>
          <a:prstGeom prst="rect">
            <a:avLst/>
          </a:prstGeom>
          <a:noFill/>
          <a:ln w="9525">
            <a:noFill/>
            <a:miter lim="800000"/>
            <a:headEnd/>
            <a:tailEnd/>
          </a:ln>
        </p:spPr>
        <p:txBody>
          <a:bodyPr vert="eaVert">
            <a:spAutoFit/>
          </a:bodyPr>
          <a:lstStyle/>
          <a:p>
            <a:pPr fontAlgn="base">
              <a:spcBef>
                <a:spcPct val="20000"/>
              </a:spcBef>
              <a:spcAft>
                <a:spcPct val="0"/>
              </a:spcAft>
            </a:pPr>
            <a:r>
              <a:rPr kumimoji="1" lang="zh-CN" altLang="en-US" sz="2400">
                <a:solidFill>
                  <a:srgbClr val="000000"/>
                </a:solidFill>
                <a:latin typeface="Arial" pitchFamily="34" charset="0"/>
              </a:rPr>
              <a:t>0 1 2 3 4 5 6 7 8 9</a:t>
            </a:r>
          </a:p>
        </p:txBody>
      </p:sp>
      <p:sp>
        <p:nvSpPr>
          <p:cNvPr id="15" name="Line 79"/>
          <p:cNvSpPr>
            <a:spLocks noChangeShapeType="1"/>
          </p:cNvSpPr>
          <p:nvPr/>
        </p:nvSpPr>
        <p:spPr bwMode="auto">
          <a:xfrm>
            <a:off x="5451475" y="4687887"/>
            <a:ext cx="533400" cy="0"/>
          </a:xfrm>
          <a:prstGeom prst="line">
            <a:avLst/>
          </a:prstGeom>
          <a:noFill/>
          <a:ln w="9525">
            <a:solidFill>
              <a:srgbClr val="372E6E"/>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6" name="Line 80"/>
          <p:cNvSpPr>
            <a:spLocks noChangeShapeType="1"/>
          </p:cNvSpPr>
          <p:nvPr/>
        </p:nvSpPr>
        <p:spPr bwMode="auto">
          <a:xfrm>
            <a:off x="5491163" y="2935287"/>
            <a:ext cx="533400" cy="0"/>
          </a:xfrm>
          <a:prstGeom prst="line">
            <a:avLst/>
          </a:prstGeom>
          <a:noFill/>
          <a:ln w="9525">
            <a:solidFill>
              <a:srgbClr val="372E6E"/>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7" name="Line 81"/>
          <p:cNvSpPr>
            <a:spLocks noChangeShapeType="1"/>
          </p:cNvSpPr>
          <p:nvPr/>
        </p:nvSpPr>
        <p:spPr bwMode="auto">
          <a:xfrm>
            <a:off x="5451475" y="3392487"/>
            <a:ext cx="533400" cy="0"/>
          </a:xfrm>
          <a:prstGeom prst="line">
            <a:avLst/>
          </a:prstGeom>
          <a:noFill/>
          <a:ln w="9525">
            <a:solidFill>
              <a:srgbClr val="372E6E"/>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9" name="Line 82"/>
          <p:cNvSpPr>
            <a:spLocks noChangeShapeType="1"/>
          </p:cNvSpPr>
          <p:nvPr/>
        </p:nvSpPr>
        <p:spPr bwMode="auto">
          <a:xfrm>
            <a:off x="5451475" y="3849687"/>
            <a:ext cx="533400" cy="0"/>
          </a:xfrm>
          <a:prstGeom prst="line">
            <a:avLst/>
          </a:prstGeom>
          <a:noFill/>
          <a:ln w="9525">
            <a:solidFill>
              <a:srgbClr val="372E6E"/>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20" name="Group 84"/>
          <p:cNvGrpSpPr>
            <a:grpSpLocks/>
          </p:cNvGrpSpPr>
          <p:nvPr/>
        </p:nvGrpSpPr>
        <p:grpSpPr bwMode="auto">
          <a:xfrm>
            <a:off x="5908675" y="4535487"/>
            <a:ext cx="990600" cy="396875"/>
            <a:chOff x="2256" y="672"/>
            <a:chExt cx="624" cy="283"/>
          </a:xfrm>
        </p:grpSpPr>
        <p:grpSp>
          <p:nvGrpSpPr>
            <p:cNvPr id="21" name="Group 85"/>
            <p:cNvGrpSpPr>
              <a:grpSpLocks/>
            </p:cNvGrpSpPr>
            <p:nvPr/>
          </p:nvGrpSpPr>
          <p:grpSpPr bwMode="auto">
            <a:xfrm>
              <a:off x="2288" y="672"/>
              <a:ext cx="544" cy="240"/>
              <a:chOff x="3504" y="1584"/>
              <a:chExt cx="672" cy="288"/>
            </a:xfrm>
          </p:grpSpPr>
          <p:sp>
            <p:nvSpPr>
              <p:cNvPr id="23" name="Rectangle 86"/>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4" name="Line 87"/>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22" name="Text Box 88"/>
            <p:cNvSpPr txBox="1">
              <a:spLocks noChangeArrowheads="1"/>
            </p:cNvSpPr>
            <p:nvPr/>
          </p:nvSpPr>
          <p:spPr bwMode="auto">
            <a:xfrm>
              <a:off x="2256" y="672"/>
              <a:ext cx="624" cy="283"/>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7</a:t>
              </a:r>
            </a:p>
          </p:txBody>
        </p:sp>
      </p:grpSp>
      <p:sp>
        <p:nvSpPr>
          <p:cNvPr id="25" name="Line 89"/>
          <p:cNvSpPr>
            <a:spLocks noChangeShapeType="1"/>
          </p:cNvSpPr>
          <p:nvPr/>
        </p:nvSpPr>
        <p:spPr bwMode="auto">
          <a:xfrm>
            <a:off x="6670675" y="4764087"/>
            <a:ext cx="457200" cy="0"/>
          </a:xfrm>
          <a:prstGeom prst="line">
            <a:avLst/>
          </a:prstGeom>
          <a:noFill/>
          <a:ln w="9525">
            <a:solidFill>
              <a:srgbClr val="372E6E"/>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26" name="Group 290"/>
          <p:cNvGrpSpPr>
            <a:grpSpLocks/>
          </p:cNvGrpSpPr>
          <p:nvPr/>
        </p:nvGrpSpPr>
        <p:grpSpPr bwMode="auto">
          <a:xfrm>
            <a:off x="8194675" y="4527550"/>
            <a:ext cx="990600" cy="396875"/>
            <a:chOff x="5616" y="2251"/>
            <a:chExt cx="624" cy="250"/>
          </a:xfrm>
        </p:grpSpPr>
        <p:grpSp>
          <p:nvGrpSpPr>
            <p:cNvPr id="27" name="Group 91"/>
            <p:cNvGrpSpPr>
              <a:grpSpLocks/>
            </p:cNvGrpSpPr>
            <p:nvPr/>
          </p:nvGrpSpPr>
          <p:grpSpPr bwMode="auto">
            <a:xfrm>
              <a:off x="5648" y="2256"/>
              <a:ext cx="544" cy="240"/>
              <a:chOff x="3504" y="1584"/>
              <a:chExt cx="672" cy="288"/>
            </a:xfrm>
          </p:grpSpPr>
          <p:sp>
            <p:nvSpPr>
              <p:cNvPr id="29" name="Rectangle 92"/>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0" name="Line 93"/>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28" name="Text Box 94"/>
            <p:cNvSpPr txBox="1">
              <a:spLocks noChangeArrowheads="1"/>
            </p:cNvSpPr>
            <p:nvPr/>
          </p:nvSpPr>
          <p:spPr bwMode="auto">
            <a:xfrm>
              <a:off x="5616" y="2251"/>
              <a:ext cx="624" cy="250"/>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9   ∧</a:t>
              </a:r>
            </a:p>
          </p:txBody>
        </p:sp>
      </p:grpSp>
      <p:grpSp>
        <p:nvGrpSpPr>
          <p:cNvPr id="31" name="Group 95"/>
          <p:cNvGrpSpPr>
            <a:grpSpLocks/>
          </p:cNvGrpSpPr>
          <p:nvPr/>
        </p:nvGrpSpPr>
        <p:grpSpPr bwMode="auto">
          <a:xfrm>
            <a:off x="7051675" y="4535487"/>
            <a:ext cx="990600" cy="396875"/>
            <a:chOff x="2256" y="672"/>
            <a:chExt cx="624" cy="250"/>
          </a:xfrm>
        </p:grpSpPr>
        <p:grpSp>
          <p:nvGrpSpPr>
            <p:cNvPr id="32" name="Group 96"/>
            <p:cNvGrpSpPr>
              <a:grpSpLocks/>
            </p:cNvGrpSpPr>
            <p:nvPr/>
          </p:nvGrpSpPr>
          <p:grpSpPr bwMode="auto">
            <a:xfrm>
              <a:off x="2288" y="672"/>
              <a:ext cx="544" cy="240"/>
              <a:chOff x="3504" y="1584"/>
              <a:chExt cx="672" cy="288"/>
            </a:xfrm>
          </p:grpSpPr>
          <p:sp>
            <p:nvSpPr>
              <p:cNvPr id="34" name="Rectangle 97"/>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5" name="Line 98"/>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33" name="Text Box 99"/>
            <p:cNvSpPr txBox="1">
              <a:spLocks noChangeArrowheads="1"/>
            </p:cNvSpPr>
            <p:nvPr/>
          </p:nvSpPr>
          <p:spPr bwMode="auto">
            <a:xfrm>
              <a:off x="2256" y="672"/>
              <a:ext cx="624" cy="250"/>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8</a:t>
              </a:r>
            </a:p>
          </p:txBody>
        </p:sp>
      </p:grpSp>
      <p:sp>
        <p:nvSpPr>
          <p:cNvPr id="36" name="Line 100"/>
          <p:cNvSpPr>
            <a:spLocks noChangeShapeType="1"/>
          </p:cNvSpPr>
          <p:nvPr/>
        </p:nvSpPr>
        <p:spPr bwMode="auto">
          <a:xfrm>
            <a:off x="7737475" y="4764087"/>
            <a:ext cx="457200" cy="0"/>
          </a:xfrm>
          <a:prstGeom prst="line">
            <a:avLst/>
          </a:prstGeom>
          <a:noFill/>
          <a:ln w="9525">
            <a:solidFill>
              <a:srgbClr val="372E6E"/>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37" name="Group 101"/>
          <p:cNvGrpSpPr>
            <a:grpSpLocks/>
          </p:cNvGrpSpPr>
          <p:nvPr/>
        </p:nvGrpSpPr>
        <p:grpSpPr bwMode="auto">
          <a:xfrm>
            <a:off x="5948363" y="2817812"/>
            <a:ext cx="990600" cy="396875"/>
            <a:chOff x="2256" y="672"/>
            <a:chExt cx="624" cy="283"/>
          </a:xfrm>
        </p:grpSpPr>
        <p:grpSp>
          <p:nvGrpSpPr>
            <p:cNvPr id="38" name="Group 102"/>
            <p:cNvGrpSpPr>
              <a:grpSpLocks/>
            </p:cNvGrpSpPr>
            <p:nvPr/>
          </p:nvGrpSpPr>
          <p:grpSpPr bwMode="auto">
            <a:xfrm>
              <a:off x="2288" y="672"/>
              <a:ext cx="544" cy="240"/>
              <a:chOff x="3504" y="1584"/>
              <a:chExt cx="672" cy="288"/>
            </a:xfrm>
          </p:grpSpPr>
          <p:sp>
            <p:nvSpPr>
              <p:cNvPr id="40" name="Rectangle 103"/>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1" name="Line 104"/>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39" name="Text Box 105"/>
            <p:cNvSpPr txBox="1">
              <a:spLocks noChangeArrowheads="1"/>
            </p:cNvSpPr>
            <p:nvPr/>
          </p:nvSpPr>
          <p:spPr bwMode="auto">
            <a:xfrm>
              <a:off x="2256" y="672"/>
              <a:ext cx="624" cy="283"/>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2</a:t>
              </a:r>
            </a:p>
          </p:txBody>
        </p:sp>
      </p:grpSp>
      <p:grpSp>
        <p:nvGrpSpPr>
          <p:cNvPr id="42" name="Group 116"/>
          <p:cNvGrpSpPr>
            <a:grpSpLocks/>
          </p:cNvGrpSpPr>
          <p:nvPr/>
        </p:nvGrpSpPr>
        <p:grpSpPr bwMode="auto">
          <a:xfrm>
            <a:off x="5908675" y="3656012"/>
            <a:ext cx="990600" cy="396875"/>
            <a:chOff x="2256" y="672"/>
            <a:chExt cx="624" cy="260"/>
          </a:xfrm>
        </p:grpSpPr>
        <p:grpSp>
          <p:nvGrpSpPr>
            <p:cNvPr id="43" name="Group 117"/>
            <p:cNvGrpSpPr>
              <a:grpSpLocks/>
            </p:cNvGrpSpPr>
            <p:nvPr/>
          </p:nvGrpSpPr>
          <p:grpSpPr bwMode="auto">
            <a:xfrm>
              <a:off x="2288" y="672"/>
              <a:ext cx="544" cy="240"/>
              <a:chOff x="3504" y="1584"/>
              <a:chExt cx="672" cy="288"/>
            </a:xfrm>
          </p:grpSpPr>
          <p:sp>
            <p:nvSpPr>
              <p:cNvPr id="45" name="Rectangle 118"/>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6" name="Line 119"/>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4" name="Text Box 120"/>
            <p:cNvSpPr txBox="1">
              <a:spLocks noChangeArrowheads="1"/>
            </p:cNvSpPr>
            <p:nvPr/>
          </p:nvSpPr>
          <p:spPr bwMode="auto">
            <a:xfrm>
              <a:off x="2256" y="672"/>
              <a:ext cx="624" cy="260"/>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6    ∧</a:t>
              </a:r>
            </a:p>
          </p:txBody>
        </p:sp>
      </p:grpSp>
      <p:grpSp>
        <p:nvGrpSpPr>
          <p:cNvPr id="47" name="Group 121"/>
          <p:cNvGrpSpPr>
            <a:grpSpLocks/>
          </p:cNvGrpSpPr>
          <p:nvPr/>
        </p:nvGrpSpPr>
        <p:grpSpPr bwMode="auto">
          <a:xfrm>
            <a:off x="5908675" y="3240087"/>
            <a:ext cx="990600" cy="396875"/>
            <a:chOff x="2256" y="672"/>
            <a:chExt cx="624" cy="271"/>
          </a:xfrm>
        </p:grpSpPr>
        <p:grpSp>
          <p:nvGrpSpPr>
            <p:cNvPr id="48" name="Group 122"/>
            <p:cNvGrpSpPr>
              <a:grpSpLocks/>
            </p:cNvGrpSpPr>
            <p:nvPr/>
          </p:nvGrpSpPr>
          <p:grpSpPr bwMode="auto">
            <a:xfrm>
              <a:off x="2288" y="672"/>
              <a:ext cx="544" cy="240"/>
              <a:chOff x="3504" y="1584"/>
              <a:chExt cx="672" cy="288"/>
            </a:xfrm>
          </p:grpSpPr>
          <p:sp>
            <p:nvSpPr>
              <p:cNvPr id="50" name="Rectangle 123"/>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1" name="Line 124"/>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9" name="Text Box 125"/>
            <p:cNvSpPr txBox="1">
              <a:spLocks noChangeArrowheads="1"/>
            </p:cNvSpPr>
            <p:nvPr/>
          </p:nvSpPr>
          <p:spPr bwMode="auto">
            <a:xfrm>
              <a:off x="2256" y="672"/>
              <a:ext cx="624" cy="27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4</a:t>
              </a:r>
            </a:p>
          </p:txBody>
        </p:sp>
      </p:grpSp>
      <p:grpSp>
        <p:nvGrpSpPr>
          <p:cNvPr id="52" name="Group 292"/>
          <p:cNvGrpSpPr>
            <a:grpSpLocks/>
          </p:cNvGrpSpPr>
          <p:nvPr/>
        </p:nvGrpSpPr>
        <p:grpSpPr bwMode="auto">
          <a:xfrm>
            <a:off x="6680200" y="3303587"/>
            <a:ext cx="1400175" cy="401638"/>
            <a:chOff x="4662" y="1480"/>
            <a:chExt cx="882" cy="253"/>
          </a:xfrm>
        </p:grpSpPr>
        <p:grpSp>
          <p:nvGrpSpPr>
            <p:cNvPr id="53" name="Group 112"/>
            <p:cNvGrpSpPr>
              <a:grpSpLocks/>
            </p:cNvGrpSpPr>
            <p:nvPr/>
          </p:nvGrpSpPr>
          <p:grpSpPr bwMode="auto">
            <a:xfrm>
              <a:off x="4921" y="1480"/>
              <a:ext cx="544" cy="240"/>
              <a:chOff x="3504" y="1584"/>
              <a:chExt cx="672" cy="288"/>
            </a:xfrm>
          </p:grpSpPr>
          <p:sp>
            <p:nvSpPr>
              <p:cNvPr id="56" name="Rectangle 113"/>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7" name="Line 114"/>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4" name="Text Box 115"/>
            <p:cNvSpPr txBox="1">
              <a:spLocks noChangeArrowheads="1"/>
            </p:cNvSpPr>
            <p:nvPr/>
          </p:nvSpPr>
          <p:spPr bwMode="auto">
            <a:xfrm>
              <a:off x="4920" y="1483"/>
              <a:ext cx="624" cy="250"/>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Arial" pitchFamily="34" charset="0"/>
                </a:rPr>
                <a:t> 5   ∧</a:t>
              </a:r>
            </a:p>
          </p:txBody>
        </p:sp>
        <p:sp>
          <p:nvSpPr>
            <p:cNvPr id="55" name="Line 126"/>
            <p:cNvSpPr>
              <a:spLocks noChangeShapeType="1"/>
            </p:cNvSpPr>
            <p:nvPr/>
          </p:nvSpPr>
          <p:spPr bwMode="auto">
            <a:xfrm>
              <a:off x="4662" y="1570"/>
              <a:ext cx="288" cy="0"/>
            </a:xfrm>
            <a:prstGeom prst="line">
              <a:avLst/>
            </a:prstGeom>
            <a:noFill/>
            <a:ln w="9525">
              <a:solidFill>
                <a:srgbClr val="0000FF"/>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grpSp>
        <p:nvGrpSpPr>
          <p:cNvPr id="58" name="Group 291"/>
          <p:cNvGrpSpPr>
            <a:grpSpLocks/>
          </p:cNvGrpSpPr>
          <p:nvPr/>
        </p:nvGrpSpPr>
        <p:grpSpPr bwMode="auto">
          <a:xfrm>
            <a:off x="6670675" y="2782887"/>
            <a:ext cx="1409700" cy="423863"/>
            <a:chOff x="4656" y="1152"/>
            <a:chExt cx="888" cy="267"/>
          </a:xfrm>
        </p:grpSpPr>
        <p:grpSp>
          <p:nvGrpSpPr>
            <p:cNvPr id="59" name="Group 107"/>
            <p:cNvGrpSpPr>
              <a:grpSpLocks/>
            </p:cNvGrpSpPr>
            <p:nvPr/>
          </p:nvGrpSpPr>
          <p:grpSpPr bwMode="auto">
            <a:xfrm>
              <a:off x="4928" y="1152"/>
              <a:ext cx="544" cy="244"/>
              <a:chOff x="3504" y="1584"/>
              <a:chExt cx="672" cy="288"/>
            </a:xfrm>
          </p:grpSpPr>
          <p:sp>
            <p:nvSpPr>
              <p:cNvPr id="62" name="Rectangle 108"/>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3" name="Line 109"/>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60" name="Text Box 110"/>
            <p:cNvSpPr txBox="1">
              <a:spLocks noChangeArrowheads="1"/>
            </p:cNvSpPr>
            <p:nvPr/>
          </p:nvSpPr>
          <p:spPr bwMode="auto">
            <a:xfrm>
              <a:off x="4920" y="1169"/>
              <a:ext cx="624" cy="250"/>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3 </a:t>
              </a: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a:t>
              </a:r>
            </a:p>
          </p:txBody>
        </p:sp>
        <p:sp>
          <p:nvSpPr>
            <p:cNvPr id="61" name="Line 127"/>
            <p:cNvSpPr>
              <a:spLocks noChangeShapeType="1"/>
            </p:cNvSpPr>
            <p:nvPr/>
          </p:nvSpPr>
          <p:spPr bwMode="auto">
            <a:xfrm>
              <a:off x="4656" y="1296"/>
              <a:ext cx="288" cy="0"/>
            </a:xfrm>
            <a:prstGeom prst="line">
              <a:avLst/>
            </a:prstGeom>
            <a:noFill/>
            <a:ln w="9525">
              <a:solidFill>
                <a:srgbClr val="372E6E"/>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64" name="Text Box 135"/>
          <p:cNvSpPr txBox="1">
            <a:spLocks noChangeArrowheads="1"/>
          </p:cNvSpPr>
          <p:nvPr/>
        </p:nvSpPr>
        <p:spPr bwMode="auto">
          <a:xfrm>
            <a:off x="-304800" y="5942012"/>
            <a:ext cx="3505200" cy="457200"/>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r>
              <a:rPr kumimoji="1" lang="zh-CN" altLang="en-US" sz="2400" b="1">
                <a:solidFill>
                  <a:srgbClr val="0000FF"/>
                </a:solidFill>
                <a:latin typeface="Times New Roman" pitchFamily="18" charset="0"/>
              </a:rPr>
              <a:t>树的孩子链表图示</a:t>
            </a:r>
          </a:p>
        </p:txBody>
      </p:sp>
      <p:sp>
        <p:nvSpPr>
          <p:cNvPr id="65" name="AutoShape 137"/>
          <p:cNvSpPr>
            <a:spLocks noChangeArrowheads="1"/>
          </p:cNvSpPr>
          <p:nvPr/>
        </p:nvSpPr>
        <p:spPr bwMode="auto">
          <a:xfrm>
            <a:off x="6248400" y="5464175"/>
            <a:ext cx="2667000" cy="838200"/>
          </a:xfrm>
          <a:prstGeom prst="wedgeRoundRectCallout">
            <a:avLst>
              <a:gd name="adj1" fmla="val -53153"/>
              <a:gd name="adj2" fmla="val -125000"/>
              <a:gd name="adj3" fmla="val 16667"/>
            </a:avLst>
          </a:prstGeom>
          <a:solidFill>
            <a:srgbClr val="85DFD0"/>
          </a:solidFill>
          <a:ln w="12700" cap="rnd">
            <a:solidFill>
              <a:srgbClr val="DBF5F9"/>
            </a:solidFill>
            <a:miter lim="800000"/>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Times New Roman" pitchFamily="18" charset="0"/>
              </a:rPr>
              <a:t>结点的孩子结点链表</a:t>
            </a:r>
          </a:p>
        </p:txBody>
      </p:sp>
      <p:sp>
        <p:nvSpPr>
          <p:cNvPr id="66" name="Text Box 174"/>
          <p:cNvSpPr txBox="1">
            <a:spLocks noChangeArrowheads="1"/>
          </p:cNvSpPr>
          <p:nvPr/>
        </p:nvSpPr>
        <p:spPr bwMode="auto">
          <a:xfrm>
            <a:off x="76200" y="1600200"/>
            <a:ext cx="6681787" cy="469900"/>
          </a:xfrm>
          <a:prstGeom prst="rect">
            <a:avLst/>
          </a:prstGeom>
          <a:noFill/>
          <a:ln w="12700" cap="rnd">
            <a:solidFill>
              <a:srgbClr val="336600"/>
            </a:solidFill>
            <a:miter lim="800000"/>
            <a:headEnd/>
            <a:tailEnd/>
          </a:ln>
        </p:spPr>
        <p:txBody>
          <a:bodyPr>
            <a:spAutoFit/>
          </a:bodyPr>
          <a:lstStyle/>
          <a:p>
            <a:pPr fontAlgn="base">
              <a:spcBef>
                <a:spcPct val="30000"/>
              </a:spcBef>
              <a:spcAft>
                <a:spcPct val="0"/>
              </a:spcAft>
              <a:buClr>
                <a:srgbClr val="6600CC"/>
              </a:buClr>
              <a:buFont typeface="Wingdings" pitchFamily="2" charset="2"/>
              <a:buNone/>
            </a:pPr>
            <a:r>
              <a:rPr kumimoji="1" lang="zh-CN" altLang="en-US" sz="2400" b="1">
                <a:solidFill>
                  <a:srgbClr val="0000FF"/>
                </a:solidFill>
                <a:latin typeface="Times New Roman" pitchFamily="18" charset="0"/>
              </a:rPr>
              <a:t>对树的每个结点用线性链表存贮它的孩子结点</a:t>
            </a:r>
          </a:p>
        </p:txBody>
      </p:sp>
      <p:grpSp>
        <p:nvGrpSpPr>
          <p:cNvPr id="67" name="Group 293"/>
          <p:cNvGrpSpPr>
            <a:grpSpLocks/>
          </p:cNvGrpSpPr>
          <p:nvPr/>
        </p:nvGrpSpPr>
        <p:grpSpPr bwMode="auto">
          <a:xfrm>
            <a:off x="212725" y="2794000"/>
            <a:ext cx="2651125" cy="2454275"/>
            <a:chOff x="308" y="663"/>
            <a:chExt cx="1670" cy="1546"/>
          </a:xfrm>
        </p:grpSpPr>
        <p:grpSp>
          <p:nvGrpSpPr>
            <p:cNvPr id="68" name="Group 258"/>
            <p:cNvGrpSpPr>
              <a:grpSpLocks/>
            </p:cNvGrpSpPr>
            <p:nvPr/>
          </p:nvGrpSpPr>
          <p:grpSpPr bwMode="auto">
            <a:xfrm>
              <a:off x="1082" y="663"/>
              <a:ext cx="320" cy="250"/>
              <a:chOff x="2880" y="1104"/>
              <a:chExt cx="367" cy="343"/>
            </a:xfrm>
          </p:grpSpPr>
          <p:sp>
            <p:nvSpPr>
              <p:cNvPr id="101" name="Oval 25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02" name="Text Box 260"/>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A</a:t>
                </a:r>
              </a:p>
            </p:txBody>
          </p:sp>
        </p:grpSp>
        <p:grpSp>
          <p:nvGrpSpPr>
            <p:cNvPr id="69" name="Group 261"/>
            <p:cNvGrpSpPr>
              <a:grpSpLocks/>
            </p:cNvGrpSpPr>
            <p:nvPr/>
          </p:nvGrpSpPr>
          <p:grpSpPr bwMode="auto">
            <a:xfrm>
              <a:off x="1658" y="1335"/>
              <a:ext cx="320" cy="250"/>
              <a:chOff x="2880" y="1104"/>
              <a:chExt cx="367" cy="343"/>
            </a:xfrm>
          </p:grpSpPr>
          <p:sp>
            <p:nvSpPr>
              <p:cNvPr id="99" name="Oval 26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00" name="Text Box 26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C</a:t>
                </a:r>
              </a:p>
            </p:txBody>
          </p:sp>
        </p:grpSp>
        <p:grpSp>
          <p:nvGrpSpPr>
            <p:cNvPr id="70" name="Group 267"/>
            <p:cNvGrpSpPr>
              <a:grpSpLocks/>
            </p:cNvGrpSpPr>
            <p:nvPr/>
          </p:nvGrpSpPr>
          <p:grpSpPr bwMode="auto">
            <a:xfrm>
              <a:off x="842" y="1959"/>
              <a:ext cx="320" cy="250"/>
              <a:chOff x="2880" y="1104"/>
              <a:chExt cx="367" cy="343"/>
            </a:xfrm>
          </p:grpSpPr>
          <p:sp>
            <p:nvSpPr>
              <p:cNvPr id="97" name="Oval 26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8" name="Text Box 26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H</a:t>
                </a:r>
              </a:p>
            </p:txBody>
          </p:sp>
        </p:grpSp>
        <p:grpSp>
          <p:nvGrpSpPr>
            <p:cNvPr id="71" name="Group 270"/>
            <p:cNvGrpSpPr>
              <a:grpSpLocks/>
            </p:cNvGrpSpPr>
            <p:nvPr/>
          </p:nvGrpSpPr>
          <p:grpSpPr bwMode="auto">
            <a:xfrm>
              <a:off x="458" y="1959"/>
              <a:ext cx="320" cy="250"/>
              <a:chOff x="2880" y="1104"/>
              <a:chExt cx="367" cy="343"/>
            </a:xfrm>
          </p:grpSpPr>
          <p:sp>
            <p:nvSpPr>
              <p:cNvPr id="95" name="Oval 27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6" name="Text Box 27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G</a:t>
                </a:r>
              </a:p>
            </p:txBody>
          </p:sp>
        </p:grpSp>
        <p:grpSp>
          <p:nvGrpSpPr>
            <p:cNvPr id="72" name="Group 279"/>
            <p:cNvGrpSpPr>
              <a:grpSpLocks/>
            </p:cNvGrpSpPr>
            <p:nvPr/>
          </p:nvGrpSpPr>
          <p:grpSpPr bwMode="auto">
            <a:xfrm>
              <a:off x="308" y="1504"/>
              <a:ext cx="320" cy="250"/>
              <a:chOff x="2880" y="1104"/>
              <a:chExt cx="367" cy="343"/>
            </a:xfrm>
          </p:grpSpPr>
          <p:sp>
            <p:nvSpPr>
              <p:cNvPr id="93" name="Oval 28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4" name="Text Box 28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D</a:t>
                </a:r>
              </a:p>
            </p:txBody>
          </p:sp>
        </p:grpSp>
        <p:sp>
          <p:nvSpPr>
            <p:cNvPr id="73" name="Line 282"/>
            <p:cNvSpPr>
              <a:spLocks noChangeShapeType="1"/>
            </p:cNvSpPr>
            <p:nvPr/>
          </p:nvSpPr>
          <p:spPr bwMode="auto">
            <a:xfrm flipH="1">
              <a:off x="965" y="1752"/>
              <a:ext cx="2" cy="207"/>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74" name="Line 283"/>
            <p:cNvSpPr>
              <a:spLocks noChangeShapeType="1"/>
            </p:cNvSpPr>
            <p:nvPr/>
          </p:nvSpPr>
          <p:spPr bwMode="auto">
            <a:xfrm flipH="1">
              <a:off x="842" y="903"/>
              <a:ext cx="336" cy="287"/>
            </a:xfrm>
            <a:prstGeom prst="line">
              <a:avLst/>
            </a:prstGeom>
            <a:noFill/>
            <a:ln w="12700" cap="rnd">
              <a:solidFill>
                <a:srgbClr val="00008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75" name="Line 284"/>
            <p:cNvSpPr>
              <a:spLocks noChangeShapeType="1"/>
            </p:cNvSpPr>
            <p:nvPr/>
          </p:nvSpPr>
          <p:spPr bwMode="auto">
            <a:xfrm flipH="1">
              <a:off x="506" y="1334"/>
              <a:ext cx="144" cy="192"/>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76" name="Line 285"/>
            <p:cNvSpPr>
              <a:spLocks noChangeShapeType="1"/>
            </p:cNvSpPr>
            <p:nvPr/>
          </p:nvSpPr>
          <p:spPr bwMode="auto">
            <a:xfrm>
              <a:off x="794" y="1334"/>
              <a:ext cx="144" cy="192"/>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77" name="Line 286"/>
            <p:cNvSpPr>
              <a:spLocks noChangeShapeType="1"/>
            </p:cNvSpPr>
            <p:nvPr/>
          </p:nvSpPr>
          <p:spPr bwMode="auto">
            <a:xfrm>
              <a:off x="1802" y="1574"/>
              <a:ext cx="0" cy="144"/>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78" name="Line 287"/>
            <p:cNvSpPr>
              <a:spLocks noChangeShapeType="1"/>
            </p:cNvSpPr>
            <p:nvPr/>
          </p:nvSpPr>
          <p:spPr bwMode="auto">
            <a:xfrm>
              <a:off x="1274" y="903"/>
              <a:ext cx="528" cy="432"/>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79" name="Line 288"/>
            <p:cNvSpPr>
              <a:spLocks noChangeShapeType="1"/>
            </p:cNvSpPr>
            <p:nvPr/>
          </p:nvSpPr>
          <p:spPr bwMode="auto">
            <a:xfrm flipH="1">
              <a:off x="650" y="1706"/>
              <a:ext cx="247" cy="253"/>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0" name="Line 289"/>
            <p:cNvSpPr>
              <a:spLocks noChangeShapeType="1"/>
            </p:cNvSpPr>
            <p:nvPr/>
          </p:nvSpPr>
          <p:spPr bwMode="auto">
            <a:xfrm>
              <a:off x="1034" y="1719"/>
              <a:ext cx="288" cy="288"/>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81" name="Group 273"/>
            <p:cNvGrpSpPr>
              <a:grpSpLocks/>
            </p:cNvGrpSpPr>
            <p:nvPr/>
          </p:nvGrpSpPr>
          <p:grpSpPr bwMode="auto">
            <a:xfrm>
              <a:off x="1658" y="1671"/>
              <a:ext cx="320" cy="250"/>
              <a:chOff x="2880" y="1104"/>
              <a:chExt cx="367" cy="343"/>
            </a:xfrm>
          </p:grpSpPr>
          <p:sp>
            <p:nvSpPr>
              <p:cNvPr id="91" name="Oval 27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2" name="Text Box 27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F</a:t>
                </a:r>
              </a:p>
            </p:txBody>
          </p:sp>
        </p:grpSp>
        <p:grpSp>
          <p:nvGrpSpPr>
            <p:cNvPr id="82" name="Group 264"/>
            <p:cNvGrpSpPr>
              <a:grpSpLocks/>
            </p:cNvGrpSpPr>
            <p:nvPr/>
          </p:nvGrpSpPr>
          <p:grpSpPr bwMode="auto">
            <a:xfrm>
              <a:off x="596" y="1143"/>
              <a:ext cx="320" cy="250"/>
              <a:chOff x="2880" y="1104"/>
              <a:chExt cx="367" cy="343"/>
            </a:xfrm>
          </p:grpSpPr>
          <p:sp>
            <p:nvSpPr>
              <p:cNvPr id="89" name="Oval 26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0" name="Text Box 266"/>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B</a:t>
                </a:r>
              </a:p>
            </p:txBody>
          </p:sp>
        </p:grpSp>
        <p:grpSp>
          <p:nvGrpSpPr>
            <p:cNvPr id="83" name="Group 276"/>
            <p:cNvGrpSpPr>
              <a:grpSpLocks/>
            </p:cNvGrpSpPr>
            <p:nvPr/>
          </p:nvGrpSpPr>
          <p:grpSpPr bwMode="auto">
            <a:xfrm>
              <a:off x="794" y="1504"/>
              <a:ext cx="320" cy="250"/>
              <a:chOff x="2880" y="1104"/>
              <a:chExt cx="367" cy="343"/>
            </a:xfrm>
          </p:grpSpPr>
          <p:sp>
            <p:nvSpPr>
              <p:cNvPr id="87" name="Oval 27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88" name="Text Box 27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E</a:t>
                </a:r>
              </a:p>
            </p:txBody>
          </p:sp>
        </p:grpSp>
        <p:grpSp>
          <p:nvGrpSpPr>
            <p:cNvPr id="84" name="Group 255"/>
            <p:cNvGrpSpPr>
              <a:grpSpLocks/>
            </p:cNvGrpSpPr>
            <p:nvPr/>
          </p:nvGrpSpPr>
          <p:grpSpPr bwMode="auto">
            <a:xfrm>
              <a:off x="1226" y="1959"/>
              <a:ext cx="320" cy="250"/>
              <a:chOff x="2880" y="1104"/>
              <a:chExt cx="367" cy="343"/>
            </a:xfrm>
          </p:grpSpPr>
          <p:sp>
            <p:nvSpPr>
              <p:cNvPr id="85" name="Oval 25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86" name="Text Box 25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I</a:t>
                </a:r>
              </a:p>
            </p:txBody>
          </p:sp>
        </p:grpSp>
      </p:grpSp>
      <p:sp>
        <p:nvSpPr>
          <p:cNvPr id="103" name="Text Box 298"/>
          <p:cNvSpPr txBox="1">
            <a:spLocks noChangeArrowheads="1"/>
          </p:cNvSpPr>
          <p:nvPr/>
        </p:nvSpPr>
        <p:spPr bwMode="auto">
          <a:xfrm>
            <a:off x="3944938" y="1981200"/>
            <a:ext cx="2879725" cy="457200"/>
          </a:xfrm>
          <a:prstGeom prst="rect">
            <a:avLst/>
          </a:prstGeom>
          <a:noFill/>
          <a:ln w="12700" cap="sq">
            <a:noFill/>
            <a:miter lim="800000"/>
            <a:headEnd type="none" w="sm" len="sm"/>
            <a:tailEnd type="none" w="sm" len="sm"/>
          </a:ln>
        </p:spPr>
        <p:txBody>
          <a:bodyPr>
            <a:spAutoFit/>
          </a:bodyPr>
          <a:lstStyle/>
          <a:p>
            <a:pPr fontAlgn="base">
              <a:spcBef>
                <a:spcPct val="50000"/>
              </a:spcBef>
              <a:spcAft>
                <a:spcPct val="0"/>
              </a:spcAft>
            </a:pPr>
            <a:r>
              <a:rPr kumimoji="1" lang="zh-CN" altLang="en-US" sz="2400" b="1" dirty="0">
                <a:solidFill>
                  <a:srgbClr val="0000FF"/>
                </a:solidFill>
                <a:latin typeface="Times New Roman" pitchFamily="18" charset="0"/>
              </a:rPr>
              <a:t>     </a:t>
            </a:r>
            <a:r>
              <a:rPr kumimoji="1" lang="en-US" altLang="zh-CN" sz="2400" b="1" dirty="0">
                <a:solidFill>
                  <a:srgbClr val="0000FF"/>
                </a:solidFill>
                <a:latin typeface="Times New Roman" pitchFamily="18" charset="0"/>
              </a:rPr>
              <a:t>data  </a:t>
            </a:r>
            <a:r>
              <a:rPr kumimoji="1" lang="en-US" altLang="zh-CN" sz="2400" b="1" dirty="0" err="1">
                <a:solidFill>
                  <a:srgbClr val="0000FF"/>
                </a:solidFill>
                <a:latin typeface="Times New Roman" pitchFamily="18" charset="0"/>
              </a:rPr>
              <a:t>firstchild</a:t>
            </a:r>
            <a:r>
              <a:rPr kumimoji="1" lang="en-US" altLang="zh-CN" sz="2400" b="1" dirty="0">
                <a:solidFill>
                  <a:srgbClr val="0000FF"/>
                </a:solidFill>
                <a:latin typeface="Times New Roman" pitchFamily="18" charset="0"/>
              </a:rPr>
              <a:t> </a:t>
            </a:r>
          </a:p>
        </p:txBody>
      </p:sp>
      <p:sp>
        <p:nvSpPr>
          <p:cNvPr id="104" name="Line 299"/>
          <p:cNvSpPr>
            <a:spLocks noChangeShapeType="1"/>
          </p:cNvSpPr>
          <p:nvPr/>
        </p:nvSpPr>
        <p:spPr bwMode="auto">
          <a:xfrm>
            <a:off x="4953000" y="1873250"/>
            <a:ext cx="0" cy="495300"/>
          </a:xfrm>
          <a:prstGeom prst="line">
            <a:avLst/>
          </a:prstGeom>
          <a:noFill/>
          <a:ln w="12700" cap="rnd">
            <a:noFill/>
            <a:round/>
            <a:headEnd/>
            <a:tailEnd/>
          </a:ln>
        </p:spPr>
        <p:txBody>
          <a:bodyPr>
            <a:spAutoFit/>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105" name="Group 300"/>
          <p:cNvGrpSpPr>
            <a:grpSpLocks/>
          </p:cNvGrpSpPr>
          <p:nvPr/>
        </p:nvGrpSpPr>
        <p:grpSpPr bwMode="auto">
          <a:xfrm>
            <a:off x="6319838" y="2295525"/>
            <a:ext cx="2160587" cy="504825"/>
            <a:chOff x="3256" y="1207"/>
            <a:chExt cx="1361" cy="318"/>
          </a:xfrm>
        </p:grpSpPr>
        <p:sp>
          <p:nvSpPr>
            <p:cNvPr id="106" name="Text Box 301"/>
            <p:cNvSpPr txBox="1">
              <a:spLocks noChangeArrowheads="1"/>
            </p:cNvSpPr>
            <p:nvPr/>
          </p:nvSpPr>
          <p:spPr bwMode="auto">
            <a:xfrm>
              <a:off x="3256" y="1207"/>
              <a:ext cx="1361" cy="288"/>
            </a:xfrm>
            <a:prstGeom prst="rect">
              <a:avLst/>
            </a:prstGeom>
            <a:noFill/>
            <a:ln w="12700" cap="sq">
              <a:noFill/>
              <a:miter lim="800000"/>
              <a:headEnd type="none" w="sm" len="sm"/>
              <a:tailEnd type="none" w="sm" len="sm"/>
            </a:ln>
          </p:spPr>
          <p:txBody>
            <a:bodyPr>
              <a:spAutoFit/>
            </a:bodyPr>
            <a:lstStyle/>
            <a:p>
              <a:pPr fontAlgn="base">
                <a:spcBef>
                  <a:spcPct val="50000"/>
                </a:spcBef>
                <a:spcAft>
                  <a:spcPct val="0"/>
                </a:spcAft>
              </a:pPr>
              <a:r>
                <a:rPr kumimoji="1" lang="zh-CN" altLang="en-US" sz="2400">
                  <a:solidFill>
                    <a:srgbClr val="0000FF"/>
                  </a:solidFill>
                  <a:latin typeface="Times New Roman" pitchFamily="18" charset="0"/>
                </a:rPr>
                <a:t> </a:t>
              </a:r>
              <a:r>
                <a:rPr kumimoji="1" lang="en-US" altLang="zh-CN" sz="2400" b="1">
                  <a:solidFill>
                    <a:srgbClr val="0000FF"/>
                  </a:solidFill>
                  <a:latin typeface="Times New Roman" pitchFamily="18" charset="0"/>
                </a:rPr>
                <a:t>child   next</a:t>
              </a:r>
              <a:endParaRPr kumimoji="1" lang="en-US" altLang="zh-CN" sz="2400">
                <a:solidFill>
                  <a:srgbClr val="0000FF"/>
                </a:solidFill>
                <a:latin typeface="Times New Roman" pitchFamily="18" charset="0"/>
              </a:endParaRPr>
            </a:p>
          </p:txBody>
        </p:sp>
        <p:sp>
          <p:nvSpPr>
            <p:cNvPr id="107" name="Line 302"/>
            <p:cNvSpPr>
              <a:spLocks noChangeShapeType="1"/>
            </p:cNvSpPr>
            <p:nvPr/>
          </p:nvSpPr>
          <p:spPr bwMode="auto">
            <a:xfrm>
              <a:off x="3961" y="1213"/>
              <a:ext cx="0" cy="312"/>
            </a:xfrm>
            <a:prstGeom prst="line">
              <a:avLst/>
            </a:prstGeom>
            <a:noFill/>
            <a:ln w="12700" cap="rnd">
              <a:noFill/>
              <a:round/>
              <a:headEnd/>
              <a:tailEnd/>
            </a:ln>
          </p:spPr>
          <p:txBody>
            <a:bodyPr>
              <a:spAutoFit/>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sp>
        <p:nvSpPr>
          <p:cNvPr id="108" name="Text Box 135"/>
          <p:cNvSpPr txBox="1">
            <a:spLocks noChangeArrowheads="1"/>
          </p:cNvSpPr>
          <p:nvPr/>
        </p:nvSpPr>
        <p:spPr bwMode="auto">
          <a:xfrm>
            <a:off x="3660775" y="6507162"/>
            <a:ext cx="2803525" cy="396875"/>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pPr>
            <a:r>
              <a:rPr kumimoji="1" lang="zh-CN" altLang="en-US" sz="2000">
                <a:solidFill>
                  <a:srgbClr val="003300"/>
                </a:solidFill>
                <a:latin typeface="Times New Roman" pitchFamily="18" charset="0"/>
              </a:rPr>
              <a:t> </a:t>
            </a:r>
            <a:r>
              <a:rPr kumimoji="1" lang="zh-CN" altLang="en-US" sz="2000" b="1">
                <a:solidFill>
                  <a:srgbClr val="003300"/>
                </a:solidFill>
                <a:latin typeface="Times New Roman" pitchFamily="18" charset="0"/>
              </a:rPr>
              <a:t>孩子链表表示法示意图</a:t>
            </a:r>
          </a:p>
        </p:txBody>
      </p:sp>
    </p:spTree>
    <p:extLst>
      <p:ext uri="{BB962C8B-B14F-4D97-AF65-F5344CB8AC3E}">
        <p14:creationId xmlns:p14="http://schemas.microsoft.com/office/powerpoint/2010/main" val="2111758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6" grpId="0" animBg="1"/>
      <p:bldP spid="17" grpId="0" animBg="1"/>
      <p:bldP spid="19" grpId="0" animBg="1"/>
      <p:bldP spid="25" grpId="0" animBg="1"/>
      <p:bldP spid="36" grpId="0" animBg="1"/>
      <p:bldP spid="64" grpId="0"/>
      <p:bldP spid="65" grpId="0" animBg="1"/>
      <p:bldP spid="103"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5.5.1  </a:t>
            </a:r>
            <a:r>
              <a:rPr kumimoji="1" lang="zh-CN" altLang="en-US" sz="3200" b="1" dirty="0">
                <a:latin typeface="Arial" charset="0"/>
                <a:ea typeface="宋体" charset="-122"/>
                <a:cs typeface="+mn-cs"/>
              </a:rPr>
              <a:t>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孩子链表表示法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D1BA34C6-8357-406C-9FE5-CE848ED09FD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127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134"/>
          <p:cNvSpPr txBox="1">
            <a:spLocks noChangeArrowheads="1"/>
          </p:cNvSpPr>
          <p:nvPr/>
        </p:nvSpPr>
        <p:spPr bwMode="auto">
          <a:xfrm>
            <a:off x="935038" y="1657290"/>
            <a:ext cx="6681787" cy="400110"/>
          </a:xfrm>
          <a:prstGeom prst="rect">
            <a:avLst/>
          </a:prstGeom>
          <a:noFill/>
          <a:ln w="12700" cap="rnd">
            <a:solidFill>
              <a:srgbClr val="336600"/>
            </a:solidFill>
            <a:miter lim="800000"/>
            <a:headEnd/>
            <a:tailEnd/>
          </a:ln>
        </p:spPr>
        <p:txBody>
          <a:bodyPr>
            <a:spAutoFit/>
          </a:bodyPr>
          <a:lstStyle/>
          <a:p>
            <a:pPr fontAlgn="base">
              <a:spcBef>
                <a:spcPct val="30000"/>
              </a:spcBef>
              <a:spcAft>
                <a:spcPct val="0"/>
              </a:spcAft>
              <a:buClr>
                <a:srgbClr val="6600CC"/>
              </a:buClr>
              <a:buFont typeface="Wingdings" pitchFamily="2" charset="2"/>
              <a:buNone/>
            </a:pPr>
            <a:r>
              <a:rPr kumimoji="1" lang="zh-CN" altLang="en-US" sz="2000" b="1">
                <a:solidFill>
                  <a:srgbClr val="0000FF"/>
                </a:solidFill>
                <a:latin typeface="Times New Roman" pitchFamily="18" charset="0"/>
              </a:rPr>
              <a:t>对树的每个结点用线性链表存贮它的孩子结点</a:t>
            </a:r>
          </a:p>
        </p:txBody>
      </p:sp>
      <p:sp>
        <p:nvSpPr>
          <p:cNvPr id="14" name="Text Box 136"/>
          <p:cNvSpPr txBox="1">
            <a:spLocks noChangeArrowheads="1"/>
          </p:cNvSpPr>
          <p:nvPr/>
        </p:nvSpPr>
        <p:spPr bwMode="auto">
          <a:xfrm>
            <a:off x="560388" y="3302000"/>
            <a:ext cx="3425938" cy="1757212"/>
          </a:xfrm>
          <a:prstGeom prst="rect">
            <a:avLst/>
          </a:prstGeom>
          <a:noFill/>
          <a:ln w="12700" cap="sq">
            <a:solidFill>
              <a:srgbClr val="336600"/>
            </a:solidFill>
            <a:miter lim="800000"/>
            <a:headEnd type="none" w="sm" len="sm"/>
            <a:tailEnd type="none" w="sm" len="sm"/>
          </a:ln>
        </p:spPr>
        <p:txBody>
          <a:bodyPr wrap="none">
            <a:spAutoFit/>
          </a:bodyPr>
          <a:lstStyle/>
          <a:p>
            <a:pPr fontAlgn="base">
              <a:lnSpc>
                <a:spcPct val="115000"/>
              </a:lnSpc>
              <a:spcBef>
                <a:spcPct val="0"/>
              </a:spcBef>
              <a:spcAft>
                <a:spcPct val="0"/>
              </a:spcAft>
            </a:pPr>
            <a:r>
              <a:rPr kumimoji="1" lang="en-US" altLang="zh-CN" sz="2400" b="1">
                <a:solidFill>
                  <a:srgbClr val="0000FF"/>
                </a:solidFill>
                <a:latin typeface="Times New Roman" pitchFamily="18" charset="0"/>
                <a:ea typeface="楷体_GB2312" pitchFamily="49" charset="-122"/>
              </a:rPr>
              <a:t>typedef struct </a:t>
            </a:r>
            <a:r>
              <a:rPr kumimoji="1" lang="en-US" altLang="zh-CN" sz="2400" b="1">
                <a:solidFill>
                  <a:srgbClr val="336600"/>
                </a:solidFill>
                <a:latin typeface="Times New Roman" pitchFamily="18" charset="0"/>
                <a:ea typeface="楷体_GB2312" pitchFamily="49" charset="-122"/>
              </a:rPr>
              <a:t>CTNode</a:t>
            </a:r>
            <a:r>
              <a:rPr kumimoji="1" lang="en-US" altLang="zh-CN" sz="2400" b="1">
                <a:solidFill>
                  <a:srgbClr val="0000FF"/>
                </a:solidFill>
                <a:latin typeface="Times New Roman" pitchFamily="18" charset="0"/>
                <a:ea typeface="楷体_GB2312" pitchFamily="49" charset="-122"/>
              </a:rPr>
              <a:t> {</a:t>
            </a:r>
          </a:p>
          <a:p>
            <a:pPr fontAlgn="base">
              <a:lnSpc>
                <a:spcPct val="115000"/>
              </a:lnSpc>
              <a:spcBef>
                <a:spcPct val="0"/>
              </a:spcBef>
              <a:spcAft>
                <a:spcPct val="0"/>
              </a:spcAft>
            </a:pPr>
            <a:r>
              <a:rPr kumimoji="1" lang="en-US" altLang="zh-CN" sz="2400" b="1">
                <a:solidFill>
                  <a:srgbClr val="0000FF"/>
                </a:solidFill>
                <a:latin typeface="Times New Roman" pitchFamily="18" charset="0"/>
                <a:ea typeface="楷体_GB2312" pitchFamily="49" charset="-122"/>
              </a:rPr>
              <a:t>     int          child;</a:t>
            </a:r>
          </a:p>
          <a:p>
            <a:pPr fontAlgn="base">
              <a:lnSpc>
                <a:spcPct val="115000"/>
              </a:lnSpc>
              <a:spcBef>
                <a:spcPct val="0"/>
              </a:spcBef>
              <a:spcAft>
                <a:spcPct val="0"/>
              </a:spcAft>
            </a:pPr>
            <a:r>
              <a:rPr kumimoji="1" lang="en-US" altLang="zh-CN" sz="2400" b="1">
                <a:solidFill>
                  <a:srgbClr val="0000FF"/>
                </a:solidFill>
                <a:latin typeface="Times New Roman" pitchFamily="18" charset="0"/>
                <a:ea typeface="楷体_GB2312" pitchFamily="49" charset="-122"/>
              </a:rPr>
              <a:t>     struct </a:t>
            </a:r>
            <a:r>
              <a:rPr kumimoji="1" lang="en-US" altLang="zh-CN" sz="2400" b="1">
                <a:solidFill>
                  <a:srgbClr val="336600"/>
                </a:solidFill>
                <a:latin typeface="Times New Roman" pitchFamily="18" charset="0"/>
                <a:ea typeface="楷体_GB2312" pitchFamily="49" charset="-122"/>
              </a:rPr>
              <a:t>CTNode</a:t>
            </a:r>
            <a:r>
              <a:rPr kumimoji="1" lang="en-US" altLang="zh-CN" sz="2400" b="1">
                <a:solidFill>
                  <a:srgbClr val="0000FF"/>
                </a:solidFill>
                <a:latin typeface="Times New Roman" pitchFamily="18" charset="0"/>
                <a:ea typeface="楷体_GB2312" pitchFamily="49" charset="-122"/>
              </a:rPr>
              <a:t> *next;</a:t>
            </a:r>
          </a:p>
          <a:p>
            <a:pPr fontAlgn="base">
              <a:lnSpc>
                <a:spcPct val="115000"/>
              </a:lnSpc>
              <a:spcBef>
                <a:spcPct val="0"/>
              </a:spcBef>
              <a:spcAft>
                <a:spcPct val="0"/>
              </a:spcAft>
            </a:pPr>
            <a:r>
              <a:rPr kumimoji="1" lang="en-US" altLang="zh-CN" sz="2400" b="1">
                <a:solidFill>
                  <a:srgbClr val="0000FF"/>
                </a:solidFill>
                <a:latin typeface="Times New Roman" pitchFamily="18" charset="0"/>
                <a:ea typeface="楷体_GB2312" pitchFamily="49" charset="-122"/>
              </a:rPr>
              <a:t>   } *</a:t>
            </a:r>
            <a:r>
              <a:rPr kumimoji="1" lang="en-US" altLang="zh-CN" sz="2400" b="1">
                <a:solidFill>
                  <a:srgbClr val="FF3300"/>
                </a:solidFill>
                <a:latin typeface="Times New Roman" pitchFamily="18" charset="0"/>
                <a:ea typeface="楷体_GB2312" pitchFamily="49" charset="-122"/>
              </a:rPr>
              <a:t>ChildPtr;</a:t>
            </a:r>
          </a:p>
        </p:txBody>
      </p:sp>
      <p:sp>
        <p:nvSpPr>
          <p:cNvPr id="15" name="Rectangle 137"/>
          <p:cNvSpPr>
            <a:spLocks noChangeArrowheads="1"/>
          </p:cNvSpPr>
          <p:nvPr/>
        </p:nvSpPr>
        <p:spPr bwMode="auto">
          <a:xfrm>
            <a:off x="919163" y="2081213"/>
            <a:ext cx="2143536" cy="517065"/>
          </a:xfrm>
          <a:prstGeom prst="rect">
            <a:avLst/>
          </a:prstGeom>
          <a:noFill/>
          <a:ln w="12700" cap="sq">
            <a:noFill/>
            <a:miter lim="800000"/>
            <a:headEnd type="none" w="sm" len="sm"/>
            <a:tailEnd type="none" w="sm" len="sm"/>
          </a:ln>
        </p:spPr>
        <p:txBody>
          <a:bodyPr wrap="none">
            <a:spAutoFit/>
          </a:bodyPr>
          <a:lstStyle/>
          <a:p>
            <a:pPr fontAlgn="base">
              <a:lnSpc>
                <a:spcPct val="115000"/>
              </a:lnSpc>
              <a:spcBef>
                <a:spcPct val="0"/>
              </a:spcBef>
              <a:spcAft>
                <a:spcPct val="0"/>
              </a:spcAft>
            </a:pPr>
            <a:r>
              <a:rPr kumimoji="1" lang="zh-CN" altLang="en-US" sz="2400" b="1">
                <a:solidFill>
                  <a:srgbClr val="0000FF"/>
                </a:solidFill>
                <a:latin typeface="Times New Roman" pitchFamily="18" charset="0"/>
                <a:ea typeface="楷体_GB2312" pitchFamily="49" charset="-122"/>
              </a:rPr>
              <a:t>孩子结点结构</a:t>
            </a:r>
            <a:r>
              <a:rPr kumimoji="1" lang="en-US" altLang="zh-CN" sz="2400" b="1">
                <a:solidFill>
                  <a:srgbClr val="0000FF"/>
                </a:solidFill>
                <a:latin typeface="Times New Roman" pitchFamily="18" charset="0"/>
                <a:ea typeface="楷体_GB2312" pitchFamily="49" charset="-122"/>
              </a:rPr>
              <a:t>:</a:t>
            </a:r>
          </a:p>
        </p:txBody>
      </p:sp>
      <p:grpSp>
        <p:nvGrpSpPr>
          <p:cNvPr id="16" name="Group 141"/>
          <p:cNvGrpSpPr>
            <a:grpSpLocks/>
          </p:cNvGrpSpPr>
          <p:nvPr/>
        </p:nvGrpSpPr>
        <p:grpSpPr bwMode="auto">
          <a:xfrm>
            <a:off x="1136650" y="2689225"/>
            <a:ext cx="2160588" cy="504825"/>
            <a:chOff x="3256" y="1207"/>
            <a:chExt cx="1361" cy="318"/>
          </a:xfrm>
        </p:grpSpPr>
        <p:sp>
          <p:nvSpPr>
            <p:cNvPr id="17" name="Text Box 138"/>
            <p:cNvSpPr txBox="1">
              <a:spLocks noChangeArrowheads="1"/>
            </p:cNvSpPr>
            <p:nvPr/>
          </p:nvSpPr>
          <p:spPr bwMode="auto">
            <a:xfrm>
              <a:off x="3256" y="1207"/>
              <a:ext cx="1361" cy="291"/>
            </a:xfrm>
            <a:prstGeom prst="rect">
              <a:avLst/>
            </a:prstGeom>
            <a:noFill/>
            <a:ln w="12700" cap="sq">
              <a:solidFill>
                <a:srgbClr val="336600"/>
              </a:solidFill>
              <a:miter lim="800000"/>
              <a:headEnd type="none" w="sm" len="sm"/>
              <a:tailEnd type="none" w="sm" len="sm"/>
            </a:ln>
          </p:spPr>
          <p:txBody>
            <a:bodyPr>
              <a:spAutoFit/>
            </a:bodyPr>
            <a:lstStyle/>
            <a:p>
              <a:pPr fontAlgn="base">
                <a:spcBef>
                  <a:spcPct val="50000"/>
                </a:spcBef>
                <a:spcAft>
                  <a:spcPct val="0"/>
                </a:spcAft>
              </a:pPr>
              <a:r>
                <a:rPr kumimoji="1" lang="zh-CN" altLang="en-US" sz="2400" dirty="0">
                  <a:solidFill>
                    <a:srgbClr val="0000FF"/>
                  </a:solidFill>
                  <a:latin typeface="Times New Roman" pitchFamily="18" charset="0"/>
                </a:rPr>
                <a:t> </a:t>
              </a:r>
              <a:r>
                <a:rPr kumimoji="1" lang="en-US" altLang="zh-CN" sz="2400" b="1" dirty="0">
                  <a:solidFill>
                    <a:srgbClr val="0000FF"/>
                  </a:solidFill>
                  <a:latin typeface="Times New Roman" pitchFamily="18" charset="0"/>
                </a:rPr>
                <a:t>child     next</a:t>
              </a:r>
              <a:endParaRPr kumimoji="1" lang="en-US" altLang="zh-CN" sz="2400" dirty="0">
                <a:solidFill>
                  <a:srgbClr val="0000FF"/>
                </a:solidFill>
                <a:latin typeface="Times New Roman" pitchFamily="18" charset="0"/>
              </a:endParaRPr>
            </a:p>
          </p:txBody>
        </p:sp>
        <p:sp>
          <p:nvSpPr>
            <p:cNvPr id="19" name="Line 139"/>
            <p:cNvSpPr>
              <a:spLocks noChangeShapeType="1"/>
            </p:cNvSpPr>
            <p:nvPr/>
          </p:nvSpPr>
          <p:spPr bwMode="auto">
            <a:xfrm>
              <a:off x="3961" y="1213"/>
              <a:ext cx="0" cy="312"/>
            </a:xfrm>
            <a:prstGeom prst="line">
              <a:avLst/>
            </a:prstGeom>
            <a:noFill/>
            <a:ln w="12700" cap="rnd">
              <a:solidFill>
                <a:srgbClr val="336600"/>
              </a:solidFill>
              <a:round/>
              <a:headEnd/>
              <a:tailEnd/>
            </a:ln>
          </p:spPr>
          <p:txBody>
            <a:bodyPr>
              <a:spAutoFit/>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grpSp>
      <p:sp>
        <p:nvSpPr>
          <p:cNvPr id="20" name="Text Box 148"/>
          <p:cNvSpPr txBox="1">
            <a:spLocks noChangeArrowheads="1"/>
          </p:cNvSpPr>
          <p:nvPr/>
        </p:nvSpPr>
        <p:spPr bwMode="auto">
          <a:xfrm>
            <a:off x="4711700" y="3200400"/>
            <a:ext cx="4213013" cy="1938992"/>
          </a:xfrm>
          <a:prstGeom prst="rect">
            <a:avLst/>
          </a:prstGeom>
          <a:noFill/>
          <a:ln w="12700" cap="sq">
            <a:solidFill>
              <a:srgbClr val="336600"/>
            </a:solidFill>
            <a:miter lim="800000"/>
            <a:headEnd type="none" w="sm" len="sm"/>
            <a:tailEnd type="none" w="sm" len="sm"/>
          </a:ln>
        </p:spPr>
        <p:txBody>
          <a:bodyPr wrap="none">
            <a:spAutoFit/>
          </a:bodyPr>
          <a:lstStyle/>
          <a:p>
            <a:pPr fontAlgn="base">
              <a:spcBef>
                <a:spcPct val="0"/>
              </a:spcBef>
              <a:spcAft>
                <a:spcPct val="0"/>
              </a:spcAft>
            </a:pPr>
            <a:r>
              <a:rPr kumimoji="1" lang="zh-CN" altLang="en-US" sz="2400" b="1">
                <a:solidFill>
                  <a:srgbClr val="0000FF"/>
                </a:solidFill>
                <a:latin typeface="Times New Roman" pitchFamily="18" charset="0"/>
                <a:ea typeface="楷体_GB2312" pitchFamily="49" charset="-122"/>
              </a:rPr>
              <a:t>   </a:t>
            </a:r>
            <a:r>
              <a:rPr kumimoji="1" lang="en-US" altLang="zh-CN" sz="2400" b="1">
                <a:solidFill>
                  <a:srgbClr val="0000FF"/>
                </a:solidFill>
                <a:latin typeface="Times New Roman" pitchFamily="18" charset="0"/>
                <a:ea typeface="楷体_GB2312" pitchFamily="49" charset="-122"/>
              </a:rPr>
              <a:t>typedef struct {</a:t>
            </a:r>
          </a:p>
          <a:p>
            <a:pPr fontAlgn="base">
              <a:spcBef>
                <a:spcPct val="0"/>
              </a:spcBef>
              <a:spcAft>
                <a:spcPct val="0"/>
              </a:spcAft>
            </a:pPr>
            <a:r>
              <a:rPr kumimoji="1" lang="en-US" altLang="zh-CN" sz="2400" b="1">
                <a:solidFill>
                  <a:srgbClr val="0000FF"/>
                </a:solidFill>
                <a:latin typeface="Times New Roman" pitchFamily="18" charset="0"/>
                <a:ea typeface="楷体_GB2312" pitchFamily="49" charset="-122"/>
              </a:rPr>
              <a:t>     Elem    data;</a:t>
            </a:r>
          </a:p>
          <a:p>
            <a:pPr fontAlgn="base">
              <a:spcBef>
                <a:spcPct val="0"/>
              </a:spcBef>
              <a:spcAft>
                <a:spcPct val="0"/>
              </a:spcAft>
            </a:pPr>
            <a:r>
              <a:rPr kumimoji="1" lang="en-US" altLang="zh-CN" sz="2400" b="1">
                <a:solidFill>
                  <a:srgbClr val="FF3300"/>
                </a:solidFill>
                <a:latin typeface="Times New Roman" pitchFamily="18" charset="0"/>
                <a:ea typeface="楷体_GB2312" pitchFamily="49" charset="-122"/>
              </a:rPr>
              <a:t>     ChildPtr</a:t>
            </a:r>
            <a:r>
              <a:rPr kumimoji="1" lang="en-US" altLang="zh-CN" sz="2400" b="1">
                <a:solidFill>
                  <a:srgbClr val="0000FF"/>
                </a:solidFill>
                <a:latin typeface="Times New Roman" pitchFamily="18" charset="0"/>
                <a:ea typeface="楷体_GB2312" pitchFamily="49" charset="-122"/>
              </a:rPr>
              <a:t>  firstchild; </a:t>
            </a:r>
          </a:p>
          <a:p>
            <a:pPr fontAlgn="base">
              <a:spcBef>
                <a:spcPct val="0"/>
              </a:spcBef>
              <a:spcAft>
                <a:spcPct val="0"/>
              </a:spcAft>
            </a:pPr>
            <a:r>
              <a:rPr kumimoji="1" lang="en-US" altLang="zh-CN" sz="2400" b="1">
                <a:solidFill>
                  <a:srgbClr val="0000FF"/>
                </a:solidFill>
                <a:latin typeface="Times New Roman" pitchFamily="18" charset="0"/>
                <a:ea typeface="楷体_GB2312" pitchFamily="49" charset="-122"/>
              </a:rPr>
              <a:t>                     // </a:t>
            </a:r>
            <a:r>
              <a:rPr kumimoji="1" lang="zh-CN" altLang="en-US" sz="2400" b="1">
                <a:solidFill>
                  <a:srgbClr val="0000FF"/>
                </a:solidFill>
                <a:latin typeface="Times New Roman" pitchFamily="18" charset="0"/>
                <a:ea typeface="楷体_GB2312" pitchFamily="49" charset="-122"/>
              </a:rPr>
              <a:t>孩子链的头指针</a:t>
            </a:r>
          </a:p>
          <a:p>
            <a:pPr fontAlgn="base">
              <a:spcBef>
                <a:spcPct val="0"/>
              </a:spcBef>
              <a:spcAft>
                <a:spcPct val="0"/>
              </a:spcAft>
            </a:pPr>
            <a:r>
              <a:rPr kumimoji="1" lang="zh-CN" altLang="en-US" sz="2400" b="1">
                <a:solidFill>
                  <a:srgbClr val="0000FF"/>
                </a:solidFill>
                <a:latin typeface="Times New Roman" pitchFamily="18" charset="0"/>
                <a:ea typeface="楷体_GB2312" pitchFamily="49" charset="-122"/>
              </a:rPr>
              <a:t>   </a:t>
            </a:r>
            <a:r>
              <a:rPr kumimoji="1" lang="en-US" altLang="zh-CN" sz="2400" b="1">
                <a:solidFill>
                  <a:srgbClr val="0000FF"/>
                </a:solidFill>
                <a:latin typeface="Times New Roman" pitchFamily="18" charset="0"/>
                <a:ea typeface="楷体_GB2312" pitchFamily="49" charset="-122"/>
              </a:rPr>
              <a:t>} CTBox;</a:t>
            </a:r>
          </a:p>
        </p:txBody>
      </p:sp>
      <p:sp>
        <p:nvSpPr>
          <p:cNvPr id="21" name="Rectangle 149"/>
          <p:cNvSpPr>
            <a:spLocks noChangeArrowheads="1"/>
          </p:cNvSpPr>
          <p:nvPr/>
        </p:nvSpPr>
        <p:spPr bwMode="auto">
          <a:xfrm>
            <a:off x="5792788" y="2057400"/>
            <a:ext cx="2143536" cy="517065"/>
          </a:xfrm>
          <a:prstGeom prst="rect">
            <a:avLst/>
          </a:prstGeom>
          <a:noFill/>
          <a:ln w="12700" cap="sq">
            <a:noFill/>
            <a:miter lim="800000"/>
            <a:headEnd type="none" w="sm" len="sm"/>
            <a:tailEnd type="none" w="sm" len="sm"/>
          </a:ln>
        </p:spPr>
        <p:txBody>
          <a:bodyPr wrap="none">
            <a:spAutoFit/>
          </a:bodyPr>
          <a:lstStyle/>
          <a:p>
            <a:pPr fontAlgn="base">
              <a:lnSpc>
                <a:spcPct val="115000"/>
              </a:lnSpc>
              <a:spcBef>
                <a:spcPct val="0"/>
              </a:spcBef>
              <a:spcAft>
                <a:spcPct val="0"/>
              </a:spcAft>
            </a:pPr>
            <a:r>
              <a:rPr kumimoji="1" lang="zh-CN" altLang="en-US" sz="2400" b="1">
                <a:solidFill>
                  <a:srgbClr val="0000FF"/>
                </a:solidFill>
                <a:latin typeface="Times New Roman" pitchFamily="18" charset="0"/>
                <a:ea typeface="楷体_GB2312" pitchFamily="49" charset="-122"/>
              </a:rPr>
              <a:t>双亲结点结构</a:t>
            </a:r>
            <a:r>
              <a:rPr kumimoji="1" lang="en-US" altLang="zh-CN" sz="2400" b="1">
                <a:solidFill>
                  <a:srgbClr val="0000FF"/>
                </a:solidFill>
                <a:latin typeface="Times New Roman" pitchFamily="18" charset="0"/>
                <a:ea typeface="楷体_GB2312" pitchFamily="49" charset="-122"/>
              </a:rPr>
              <a:t>:</a:t>
            </a:r>
          </a:p>
        </p:txBody>
      </p:sp>
      <p:grpSp>
        <p:nvGrpSpPr>
          <p:cNvPr id="22" name="Group 150"/>
          <p:cNvGrpSpPr>
            <a:grpSpLocks/>
          </p:cNvGrpSpPr>
          <p:nvPr/>
        </p:nvGrpSpPr>
        <p:grpSpPr bwMode="auto">
          <a:xfrm>
            <a:off x="6008688" y="2667000"/>
            <a:ext cx="2879725" cy="504825"/>
            <a:chOff x="943" y="1661"/>
            <a:chExt cx="1814" cy="318"/>
          </a:xfrm>
        </p:grpSpPr>
        <p:sp>
          <p:nvSpPr>
            <p:cNvPr id="23" name="Text Box 151"/>
            <p:cNvSpPr txBox="1">
              <a:spLocks noChangeArrowheads="1"/>
            </p:cNvSpPr>
            <p:nvPr/>
          </p:nvSpPr>
          <p:spPr bwMode="auto">
            <a:xfrm>
              <a:off x="943" y="1661"/>
              <a:ext cx="1814" cy="291"/>
            </a:xfrm>
            <a:prstGeom prst="rect">
              <a:avLst/>
            </a:prstGeom>
            <a:noFill/>
            <a:ln w="12700" cap="sq">
              <a:solidFill>
                <a:srgbClr val="336600"/>
              </a:solidFill>
              <a:miter lim="800000"/>
              <a:headEnd type="none" w="sm" len="sm"/>
              <a:tailEnd type="none" w="sm" len="sm"/>
            </a:ln>
          </p:spPr>
          <p:txBody>
            <a:bodyPr>
              <a:spAutoFit/>
            </a:bodyPr>
            <a:lstStyle/>
            <a:p>
              <a:pPr fontAlgn="base">
                <a:spcBef>
                  <a:spcPct val="50000"/>
                </a:spcBef>
                <a:spcAft>
                  <a:spcPct val="0"/>
                </a:spcAft>
              </a:pPr>
              <a:r>
                <a:rPr kumimoji="1" lang="zh-CN" altLang="en-US" sz="2400" b="1">
                  <a:solidFill>
                    <a:srgbClr val="0000FF"/>
                  </a:solidFill>
                  <a:latin typeface="Times New Roman" pitchFamily="18" charset="0"/>
                </a:rPr>
                <a:t> </a:t>
              </a:r>
              <a:r>
                <a:rPr kumimoji="1" lang="en-US" altLang="zh-CN" sz="2400" b="1">
                  <a:solidFill>
                    <a:srgbClr val="0000FF"/>
                  </a:solidFill>
                  <a:latin typeface="Times New Roman" pitchFamily="18" charset="0"/>
                </a:rPr>
                <a:t>data     firstchild </a:t>
              </a:r>
            </a:p>
          </p:txBody>
        </p:sp>
        <p:sp>
          <p:nvSpPr>
            <p:cNvPr id="24" name="Line 152"/>
            <p:cNvSpPr>
              <a:spLocks noChangeShapeType="1"/>
            </p:cNvSpPr>
            <p:nvPr/>
          </p:nvSpPr>
          <p:spPr bwMode="auto">
            <a:xfrm>
              <a:off x="1578" y="1667"/>
              <a:ext cx="0" cy="312"/>
            </a:xfrm>
            <a:prstGeom prst="line">
              <a:avLst/>
            </a:prstGeom>
            <a:noFill/>
            <a:ln w="12700" cap="rnd">
              <a:solidFill>
                <a:srgbClr val="336600"/>
              </a:solidFill>
              <a:round/>
              <a:headEnd/>
              <a:tailEnd/>
            </a:ln>
          </p:spPr>
          <p:txBody>
            <a:bodyPr>
              <a:spAutoFit/>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grpSp>
      <p:sp>
        <p:nvSpPr>
          <p:cNvPr id="25" name="AutoShape 153"/>
          <p:cNvSpPr>
            <a:spLocks noChangeArrowheads="1"/>
          </p:cNvSpPr>
          <p:nvPr/>
        </p:nvSpPr>
        <p:spPr bwMode="auto">
          <a:xfrm>
            <a:off x="685800" y="5257800"/>
            <a:ext cx="8066087" cy="1295400"/>
          </a:xfrm>
          <a:prstGeom prst="cloudCallout">
            <a:avLst>
              <a:gd name="adj1" fmla="val -24689"/>
              <a:gd name="adj2" fmla="val 70219"/>
            </a:avLst>
          </a:prstGeom>
          <a:solidFill>
            <a:srgbClr val="FFFFFF"/>
          </a:solidFill>
          <a:ln w="25400" cap="flat" cmpd="sng" algn="ctr">
            <a:solidFill>
              <a:srgbClr val="0F6FC6"/>
            </a:solidFill>
            <a:prstDash val="solid"/>
            <a:headEnd/>
            <a:tailEnd/>
          </a:ln>
          <a:effectLst/>
        </p:spPr>
        <p:txBody>
          <a:bodyPr/>
          <a:lstStyle/>
          <a:p>
            <a:pPr marL="0" marR="0" lvl="0" indent="0" defTabSz="914400" eaLnBrk="1" fontAlgn="base" latinLnBrk="0" hangingPunct="1">
              <a:lnSpc>
                <a:spcPct val="100000"/>
              </a:lnSpc>
              <a:spcBef>
                <a:spcPct val="30000"/>
              </a:spcBef>
              <a:spcAft>
                <a:spcPct val="0"/>
              </a:spcAft>
              <a:buClrTx/>
              <a:buSzTx/>
              <a:buFontTx/>
              <a:buNone/>
              <a:tabLst/>
              <a:defRPr/>
            </a:pPr>
            <a:r>
              <a:rPr kumimoji="1" lang="zh-CN" altLang="en-US" sz="3200" b="0" i="0" u="none" strike="noStrike" kern="0" cap="none" spc="0" normalizeH="0" baseline="0" noProof="0" dirty="0">
                <a:ln>
                  <a:noFill/>
                </a:ln>
                <a:solidFill>
                  <a:srgbClr val="DBF5F9"/>
                </a:solidFill>
                <a:effectLst/>
                <a:uLnTx/>
                <a:uFillTx/>
                <a:latin typeface="隶书" pitchFamily="49" charset="-122"/>
                <a:ea typeface="隶书" pitchFamily="49" charset="-122"/>
                <a:cs typeface="+mn-cs"/>
              </a:rPr>
              <a:t> </a:t>
            </a:r>
            <a:r>
              <a:rPr kumimoji="1" lang="zh-CN" altLang="en-US" sz="2000" b="1" i="0" u="none" strike="noStrike" kern="0" cap="none" spc="0" normalizeH="0" baseline="0" noProof="0" dirty="0">
                <a:ln>
                  <a:noFill/>
                </a:ln>
                <a:solidFill>
                  <a:srgbClr val="0000FF"/>
                </a:solidFill>
                <a:effectLst/>
                <a:uLnTx/>
                <a:uFillTx/>
                <a:latin typeface="华文楷体" pitchFamily="2" charset="-122"/>
                <a:ea typeface="华文楷体" pitchFamily="2" charset="-122"/>
                <a:cs typeface="+mn-cs"/>
              </a:rPr>
              <a:t>找一个结点的孩子十分方便，但要找一个结点的双亲则要遍历整个结构</a:t>
            </a:r>
          </a:p>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dirty="0">
              <a:ln>
                <a:noFill/>
              </a:ln>
              <a:solidFill>
                <a:srgbClr val="0000FF"/>
              </a:solidFill>
              <a:effectLst/>
              <a:uLnTx/>
              <a:uFillTx/>
              <a:latin typeface="华文楷体" pitchFamily="2" charset="-122"/>
              <a:ea typeface="华文楷体" pitchFamily="2" charset="-122"/>
              <a:cs typeface="+mn-cs"/>
            </a:endParaRPr>
          </a:p>
        </p:txBody>
      </p:sp>
    </p:spTree>
    <p:extLst>
      <p:ext uri="{BB962C8B-B14F-4D97-AF65-F5344CB8AC3E}">
        <p14:creationId xmlns:p14="http://schemas.microsoft.com/office/powerpoint/2010/main" val="9423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P spid="15" grpId="0" autoUpdateAnimBg="0"/>
      <p:bldP spid="20" grpId="0" animBg="1" autoUpdateAnimBg="0"/>
      <p:bldP spid="21" grpId="0" autoUpdateAnimBg="0"/>
      <p:bldP spid="25"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5.5.1  </a:t>
            </a:r>
            <a:r>
              <a:rPr kumimoji="1" lang="zh-CN" altLang="en-US" sz="3200" b="1" dirty="0">
                <a:latin typeface="Arial" charset="0"/>
                <a:ea typeface="宋体" charset="-122"/>
                <a:cs typeface="+mn-cs"/>
              </a:rPr>
              <a:t>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双亲孩子表示法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F314DD41-225C-4802-B9E5-6445967AE344}"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128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aphicFrame>
        <p:nvGraphicFramePr>
          <p:cNvPr id="13" name="Group 187"/>
          <p:cNvGraphicFramePr>
            <a:graphicFrameLocks noGrp="1"/>
          </p:cNvGraphicFramePr>
          <p:nvPr>
            <p:extLst>
              <p:ext uri="{D42A27DB-BD31-4B8C-83A1-F6EECF244321}">
                <p14:modId xmlns:p14="http://schemas.microsoft.com/office/powerpoint/2010/main" val="3063359825"/>
              </p:ext>
            </p:extLst>
          </p:nvPr>
        </p:nvGraphicFramePr>
        <p:xfrm>
          <a:off x="3935412" y="1930400"/>
          <a:ext cx="1752600" cy="4343402"/>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tblGrid>
              <a:tr h="423863">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en-US" altLang="zh-CN" sz="2000" b="0" i="0" u="none" strike="noStrike" cap="none" normalizeH="0" baseline="0">
                        <a:ln>
                          <a:noFill/>
                        </a:ln>
                        <a:solidFill>
                          <a:schemeClr val="tx1"/>
                        </a:solidFill>
                        <a:effectLst/>
                        <a:latin typeface="Constantia"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rgbClr val="FF0000"/>
                          </a:solidFill>
                          <a:effectLst/>
                          <a:latin typeface="Constantia" pitchFamily="18" charset="0"/>
                          <a:ea typeface="宋体" pitchFamily="2" charset="-122"/>
                        </a:rPr>
                        <a:t>9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2275">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r>
                        <a:rPr kumimoji="0" lang="en-US" altLang="zh-CN" sz="2000" b="0" i="0" u="none" strike="noStrike" cap="none" normalizeH="0" baseline="0">
                          <a:ln>
                            <a:noFill/>
                          </a:ln>
                          <a:solidFill>
                            <a:schemeClr val="tx1"/>
                          </a:solidFill>
                          <a:effectLst/>
                          <a:latin typeface="Constantia" pitchFamily="18" charset="0"/>
                          <a:ea typeface="宋体" pitchFamily="2" charset="-122"/>
                        </a:rPr>
                        <a:t>A</a:t>
                      </a: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rgbClr val="FF0000"/>
                          </a:solidFill>
                          <a:effectLst/>
                          <a:latin typeface="Constantia" pitchFamily="18" charset="0"/>
                          <a:ea typeface="宋体" pitchFamily="2" charset="-122"/>
                        </a:rPr>
                        <a:t>0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000" b="0" i="0" u="none" strike="noStrike" cap="none" normalizeH="0" baseline="0">
                        <a:ln>
                          <a:noFill/>
                        </a:ln>
                        <a:solidFill>
                          <a:schemeClr val="tx1"/>
                        </a:solidFill>
                        <a:effectLst/>
                        <a:latin typeface="Constantia"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3863">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r>
                        <a:rPr kumimoji="0" lang="en-US" altLang="zh-CN" sz="2000" b="0" i="0" u="none" strike="noStrike" cap="none" normalizeH="0" baseline="0">
                          <a:ln>
                            <a:noFill/>
                          </a:ln>
                          <a:solidFill>
                            <a:schemeClr val="tx1"/>
                          </a:solidFill>
                          <a:effectLst/>
                          <a:latin typeface="Constantia" pitchFamily="18" charset="0"/>
                          <a:ea typeface="宋体" pitchFamily="2" charset="-122"/>
                        </a:rPr>
                        <a:t>B</a:t>
                      </a: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rgbClr val="FF0000"/>
                          </a:solidFill>
                          <a:effectLst/>
                          <a:latin typeface="Constantia" pitchFamily="18" charset="0"/>
                          <a:ea typeface="宋体" pitchFamily="2" charset="-122"/>
                        </a:rPr>
                        <a:t>1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000" b="0" i="0" u="none" strike="noStrike" cap="none" normalizeH="0" baseline="0">
                        <a:ln>
                          <a:noFill/>
                        </a:ln>
                        <a:solidFill>
                          <a:schemeClr val="tx1"/>
                        </a:solidFill>
                        <a:effectLst/>
                        <a:latin typeface="Constantia"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2275">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000" b="0" i="0" u="none" strike="noStrike" cap="none" normalizeH="0" baseline="0">
                          <a:ln>
                            <a:noFill/>
                          </a:ln>
                          <a:solidFill>
                            <a:schemeClr val="tx1"/>
                          </a:solidFill>
                          <a:effectLst/>
                          <a:latin typeface="Constantia" pitchFamily="18" charset="0"/>
                          <a:ea typeface="宋体" pitchFamily="2" charset="-122"/>
                        </a:rPr>
                        <a:t>   C</a:t>
                      </a: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rgbClr val="FF0000"/>
                          </a:solidFill>
                          <a:effectLst/>
                          <a:latin typeface="Constantia" pitchFamily="18" charset="0"/>
                          <a:ea typeface="宋体" pitchFamily="2" charset="-122"/>
                        </a:rPr>
                        <a:t>1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000" b="0" i="0" u="none" strike="noStrike" cap="none" normalizeH="0" baseline="0">
                        <a:ln>
                          <a:noFill/>
                        </a:ln>
                        <a:solidFill>
                          <a:schemeClr val="tx1"/>
                        </a:solidFill>
                        <a:effectLst/>
                        <a:latin typeface="Constantia"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338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000" b="0" i="0" u="none" strike="noStrike" cap="none" normalizeH="0" baseline="0">
                          <a:ln>
                            <a:noFill/>
                          </a:ln>
                          <a:solidFill>
                            <a:schemeClr val="tx1"/>
                          </a:solidFill>
                          <a:effectLst/>
                          <a:latin typeface="Constantia" pitchFamily="18" charset="0"/>
                          <a:ea typeface="宋体" pitchFamily="2" charset="-122"/>
                        </a:rPr>
                        <a:t>   D   </a:t>
                      </a: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rgbClr val="FF0000"/>
                          </a:solidFill>
                          <a:effectLst/>
                          <a:latin typeface="Constantia" pitchFamily="18" charset="0"/>
                          <a:ea typeface="宋体" pitchFamily="2" charset="-122"/>
                        </a:rPr>
                        <a:t>2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3863">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en-US" altLang="zh-CN" sz="2000" b="0" i="0" u="none" strike="noStrike" cap="none" normalizeH="0" baseline="0">
                          <a:ln>
                            <a:noFill/>
                          </a:ln>
                          <a:solidFill>
                            <a:schemeClr val="tx1"/>
                          </a:solidFill>
                          <a:effectLst/>
                          <a:latin typeface="Constantia" pitchFamily="18" charset="0"/>
                          <a:ea typeface="宋体" pitchFamily="2" charset="-122"/>
                        </a:rPr>
                        <a:t>   E</a:t>
                      </a:r>
                      <a:r>
                        <a:rPr kumimoji="0" lang="zh-CN" altLang="en-US" sz="2000" b="0" i="0" u="none" strike="noStrike" cap="none" normalizeH="0" baseline="0">
                          <a:ln>
                            <a:noFill/>
                          </a:ln>
                          <a:solidFill>
                            <a:schemeClr val="tx1"/>
                          </a:solidFill>
                          <a:effectLst/>
                          <a:latin typeface="Constantia" pitchFamily="18" charset="0"/>
                          <a:ea typeface="宋体" pitchFamily="2" charset="-122"/>
                        </a:rPr>
                        <a:t> </a:t>
                      </a:r>
                      <a:endParaRPr kumimoji="0" lang="en-US" altLang="zh-CN" sz="2000" b="0" i="0" u="none" strike="noStrike" cap="none" normalizeH="0" baseline="0">
                        <a:ln>
                          <a:noFill/>
                        </a:ln>
                        <a:solidFill>
                          <a:schemeClr val="tx1"/>
                        </a:solidFill>
                        <a:effectLst/>
                        <a:latin typeface="Constantia" pitchFamily="18" charset="0"/>
                        <a:ea typeface="宋体" pitchFamily="2" charset="-122"/>
                      </a:endParaRP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rgbClr val="FF0000"/>
                          </a:solidFill>
                          <a:effectLst/>
                          <a:latin typeface="Constantia" pitchFamily="18" charset="0"/>
                          <a:ea typeface="宋体" pitchFamily="2" charset="-122"/>
                        </a:rPr>
                        <a:t>2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endParaRPr kumimoji="0" lang="zh-CN" altLang="en-US" sz="2000" b="0" i="0" u="none" strike="noStrike" cap="none" normalizeH="0" baseline="0">
                        <a:ln>
                          <a:noFill/>
                        </a:ln>
                        <a:solidFill>
                          <a:schemeClr val="tx1"/>
                        </a:solidFill>
                        <a:effectLst/>
                        <a:latin typeface="Constantia"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180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r>
                        <a:rPr kumimoji="0" lang="en-US" altLang="zh-CN" sz="2000" b="0" i="0" u="none" strike="noStrike" cap="none" normalizeH="0" baseline="0">
                          <a:ln>
                            <a:noFill/>
                          </a:ln>
                          <a:solidFill>
                            <a:schemeClr val="tx1"/>
                          </a:solidFill>
                          <a:effectLst/>
                          <a:latin typeface="Constantia" pitchFamily="18" charset="0"/>
                          <a:ea typeface="宋体" pitchFamily="2" charset="-122"/>
                        </a:rPr>
                        <a:t>F</a:t>
                      </a: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rgbClr val="FF0000"/>
                          </a:solidFill>
                          <a:effectLst/>
                          <a:latin typeface="Constantia" pitchFamily="18" charset="0"/>
                          <a:ea typeface="宋体" pitchFamily="2" charset="-122"/>
                        </a:rPr>
                        <a:t>3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3180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r>
                        <a:rPr kumimoji="0" lang="en-US" altLang="zh-CN" sz="2000" b="0" i="0" u="none" strike="noStrike" cap="none" normalizeH="0" baseline="0">
                          <a:ln>
                            <a:noFill/>
                          </a:ln>
                          <a:solidFill>
                            <a:schemeClr val="tx1"/>
                          </a:solidFill>
                          <a:effectLst/>
                          <a:latin typeface="Constantia" pitchFamily="18" charset="0"/>
                          <a:ea typeface="宋体" pitchFamily="2" charset="-122"/>
                        </a:rPr>
                        <a:t>G</a:t>
                      </a: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rgbClr val="FF0000"/>
                          </a:solidFill>
                          <a:effectLst/>
                          <a:latin typeface="Constantia" pitchFamily="18" charset="0"/>
                          <a:ea typeface="宋体" pitchFamily="2" charset="-122"/>
                        </a:rPr>
                        <a:t>5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3180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   </a:t>
                      </a:r>
                      <a:r>
                        <a:rPr kumimoji="0" lang="en-US" altLang="zh-CN" sz="2000" b="0" i="0" u="none" strike="noStrike" cap="none" normalizeH="0" baseline="0">
                          <a:ln>
                            <a:noFill/>
                          </a:ln>
                          <a:solidFill>
                            <a:schemeClr val="tx1"/>
                          </a:solidFill>
                          <a:effectLst/>
                          <a:latin typeface="Constantia" pitchFamily="18" charset="0"/>
                          <a:ea typeface="宋体" pitchFamily="2" charset="-122"/>
                        </a:rPr>
                        <a:t>H</a:t>
                      </a:r>
                      <a:r>
                        <a:rPr kumimoji="0" lang="zh-CN" altLang="en-US" sz="2000" b="0" i="0" u="none" strike="noStrike" cap="none" normalizeH="0" baseline="0">
                          <a:ln>
                            <a:noFill/>
                          </a:ln>
                          <a:solidFill>
                            <a:schemeClr val="tx1"/>
                          </a:solidFill>
                          <a:effectLst/>
                          <a:latin typeface="Constantia" pitchFamily="18" charset="0"/>
                          <a:ea typeface="宋体" pitchFamily="2" charset="-122"/>
                        </a:rPr>
                        <a:t>    </a:t>
                      </a:r>
                      <a:endParaRPr kumimoji="0" lang="en-US" altLang="zh-CN" sz="2000" b="0" i="0" u="none" strike="noStrike" cap="none" normalizeH="0" baseline="0">
                        <a:ln>
                          <a:noFill/>
                        </a:ln>
                        <a:solidFill>
                          <a:schemeClr val="tx1"/>
                        </a:solidFill>
                        <a:effectLst/>
                        <a:latin typeface="Constantia" pitchFamily="18" charset="0"/>
                        <a:ea typeface="宋体" pitchFamily="2" charset="-122"/>
                      </a:endParaRP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rgbClr val="FF0000"/>
                          </a:solidFill>
                          <a:effectLst/>
                          <a:latin typeface="Constantia" pitchFamily="18" charset="0"/>
                          <a:ea typeface="宋体" pitchFamily="2" charset="-122"/>
                        </a:rPr>
                        <a:t>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98475">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400" b="0" i="0" u="none" strike="noStrike" cap="none" normalizeH="0" baseline="0">
                          <a:ln>
                            <a:noFill/>
                          </a:ln>
                          <a:solidFill>
                            <a:schemeClr val="tx1"/>
                          </a:solidFill>
                          <a:effectLst/>
                          <a:latin typeface="Constantia" pitchFamily="18" charset="0"/>
                          <a:ea typeface="宋体" pitchFamily="2" charset="-122"/>
                        </a:rPr>
                        <a:t>   </a:t>
                      </a:r>
                      <a:r>
                        <a:rPr kumimoji="0" lang="en-US" altLang="zh-CN" sz="2000" b="0" i="0" u="none" strike="noStrike" cap="none" normalizeH="0" baseline="0">
                          <a:ln>
                            <a:noFill/>
                          </a:ln>
                          <a:solidFill>
                            <a:schemeClr val="tx1"/>
                          </a:solidFill>
                          <a:effectLst/>
                          <a:latin typeface="Constantia" pitchFamily="18" charset="0"/>
                          <a:ea typeface="宋体" pitchFamily="2" charset="-122"/>
                        </a:rPr>
                        <a:t>I</a:t>
                      </a:r>
                      <a:endParaRPr kumimoji="0" lang="zh-CN" altLang="en-US" sz="2000" b="0" i="0" u="none" strike="noStrike" cap="none" normalizeH="0" baseline="0">
                        <a:ln>
                          <a:noFill/>
                        </a:ln>
                        <a:solidFill>
                          <a:schemeClr val="tx1"/>
                        </a:solidFill>
                        <a:effectLst/>
                        <a:latin typeface="Constantia" pitchFamily="18" charset="0"/>
                        <a:ea typeface="宋体" pitchFamily="2" charset="-122"/>
                      </a:endParaRP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rgbClr val="FF0000"/>
                          </a:solidFill>
                          <a:effectLst/>
                          <a:latin typeface="Constantia" pitchFamily="18" charset="0"/>
                          <a:ea typeface="宋体" pitchFamily="2" charset="-122"/>
                        </a:rPr>
                        <a:t>5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pPr>
                      <a:r>
                        <a:rPr kumimoji="0" lang="zh-CN" altLang="en-US" sz="2000" b="0" i="0" u="none" strike="noStrike" cap="none" normalizeH="0" baseline="0">
                          <a:ln>
                            <a:noFill/>
                          </a:ln>
                          <a:solidFill>
                            <a:schemeClr val="tx1"/>
                          </a:solidFill>
                          <a:effectLst/>
                          <a:latin typeface="Constantia" pitchFamily="18" charset="0"/>
                          <a:ea typeface="宋体" pitchFamily="2" charset="-122"/>
                        </a:rPr>
                        <a:t>∧</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4" name="Text Box 39"/>
          <p:cNvSpPr txBox="1">
            <a:spLocks noChangeArrowheads="1"/>
          </p:cNvSpPr>
          <p:nvPr/>
        </p:nvSpPr>
        <p:spPr bwMode="auto">
          <a:xfrm>
            <a:off x="3402012" y="2006600"/>
            <a:ext cx="549275" cy="4343400"/>
          </a:xfrm>
          <a:prstGeom prst="rect">
            <a:avLst/>
          </a:prstGeom>
          <a:noFill/>
          <a:ln w="9525">
            <a:noFill/>
            <a:miter lim="800000"/>
            <a:headEnd/>
            <a:tailEnd/>
          </a:ln>
        </p:spPr>
        <p:txBody>
          <a:bodyPr vert="eaVert">
            <a:spAutoFit/>
          </a:bodyPr>
          <a:lstStyle/>
          <a:p>
            <a:pPr fontAlgn="base">
              <a:spcBef>
                <a:spcPct val="20000"/>
              </a:spcBef>
              <a:spcAft>
                <a:spcPct val="0"/>
              </a:spcAft>
            </a:pPr>
            <a:r>
              <a:rPr kumimoji="1" lang="zh-CN" altLang="en-US" sz="2400">
                <a:solidFill>
                  <a:srgbClr val="000000"/>
                </a:solidFill>
                <a:latin typeface="Arial" pitchFamily="34" charset="0"/>
              </a:rPr>
              <a:t>0 1 2 3 4 5 6 7 8 9</a:t>
            </a:r>
          </a:p>
        </p:txBody>
      </p:sp>
      <p:sp>
        <p:nvSpPr>
          <p:cNvPr id="15" name="Line 40"/>
          <p:cNvSpPr>
            <a:spLocks noChangeShapeType="1"/>
          </p:cNvSpPr>
          <p:nvPr/>
        </p:nvSpPr>
        <p:spPr bwMode="auto">
          <a:xfrm>
            <a:off x="5459412" y="4216400"/>
            <a:ext cx="533400" cy="0"/>
          </a:xfrm>
          <a:prstGeom prst="line">
            <a:avLst/>
          </a:prstGeom>
          <a:noFill/>
          <a:ln w="9525">
            <a:solidFill>
              <a:srgbClr val="372E6E"/>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6" name="Line 41"/>
          <p:cNvSpPr>
            <a:spLocks noChangeShapeType="1"/>
          </p:cNvSpPr>
          <p:nvPr/>
        </p:nvSpPr>
        <p:spPr bwMode="auto">
          <a:xfrm>
            <a:off x="5457825" y="2463800"/>
            <a:ext cx="533400" cy="0"/>
          </a:xfrm>
          <a:prstGeom prst="line">
            <a:avLst/>
          </a:prstGeom>
          <a:noFill/>
          <a:ln w="9525">
            <a:solidFill>
              <a:srgbClr val="372E6E"/>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7" name="Line 42"/>
          <p:cNvSpPr>
            <a:spLocks noChangeShapeType="1"/>
          </p:cNvSpPr>
          <p:nvPr/>
        </p:nvSpPr>
        <p:spPr bwMode="auto">
          <a:xfrm>
            <a:off x="5459412" y="2921000"/>
            <a:ext cx="533400" cy="0"/>
          </a:xfrm>
          <a:prstGeom prst="line">
            <a:avLst/>
          </a:prstGeom>
          <a:noFill/>
          <a:ln w="9525">
            <a:solidFill>
              <a:srgbClr val="372E6E"/>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9" name="Line 43"/>
          <p:cNvSpPr>
            <a:spLocks noChangeShapeType="1"/>
          </p:cNvSpPr>
          <p:nvPr/>
        </p:nvSpPr>
        <p:spPr bwMode="auto">
          <a:xfrm>
            <a:off x="5459412" y="3378200"/>
            <a:ext cx="533400" cy="0"/>
          </a:xfrm>
          <a:prstGeom prst="line">
            <a:avLst/>
          </a:prstGeom>
          <a:noFill/>
          <a:ln w="9525">
            <a:solidFill>
              <a:srgbClr val="372E6E"/>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0" name="Text Box 89"/>
          <p:cNvSpPr txBox="1">
            <a:spLocks noChangeArrowheads="1"/>
          </p:cNvSpPr>
          <p:nvPr/>
        </p:nvSpPr>
        <p:spPr bwMode="auto">
          <a:xfrm>
            <a:off x="2944812" y="6384925"/>
            <a:ext cx="3505200" cy="396875"/>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r>
              <a:rPr kumimoji="1" lang="zh-CN" altLang="en-US" sz="2000" b="1">
                <a:solidFill>
                  <a:srgbClr val="0000FF"/>
                </a:solidFill>
                <a:latin typeface="Times New Roman" pitchFamily="18" charset="0"/>
              </a:rPr>
              <a:t>带双亲孩子链表示意图</a:t>
            </a:r>
          </a:p>
        </p:txBody>
      </p:sp>
      <p:sp>
        <p:nvSpPr>
          <p:cNvPr id="21" name="AutoShape 91"/>
          <p:cNvSpPr>
            <a:spLocks noChangeArrowheads="1"/>
          </p:cNvSpPr>
          <p:nvPr/>
        </p:nvSpPr>
        <p:spPr bwMode="auto">
          <a:xfrm>
            <a:off x="6221412" y="5130800"/>
            <a:ext cx="2667000" cy="838200"/>
          </a:xfrm>
          <a:prstGeom prst="wedgeRoundRectCallout">
            <a:avLst>
              <a:gd name="adj1" fmla="val -53153"/>
              <a:gd name="adj2" fmla="val -125000"/>
              <a:gd name="adj3" fmla="val 16667"/>
            </a:avLst>
          </a:prstGeom>
          <a:solidFill>
            <a:srgbClr val="FFFFFF"/>
          </a:solidFill>
          <a:ln w="25400" cap="flat" cmpd="sng" algn="ctr">
            <a:solidFill>
              <a:srgbClr val="0F6FC6"/>
            </a:solidFill>
            <a:prstDash val="solid"/>
            <a:headEnd/>
            <a:tailEnd/>
          </a:ln>
          <a:effec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Constantia"/>
                <a:ea typeface="宋体"/>
                <a:cs typeface="+mn-cs"/>
              </a:rPr>
              <a:t>结点的孩子结点链表</a:t>
            </a:r>
          </a:p>
        </p:txBody>
      </p:sp>
      <p:sp>
        <p:nvSpPr>
          <p:cNvPr id="22" name="Text Box 92"/>
          <p:cNvSpPr txBox="1">
            <a:spLocks noChangeArrowheads="1"/>
          </p:cNvSpPr>
          <p:nvPr/>
        </p:nvSpPr>
        <p:spPr bwMode="auto">
          <a:xfrm>
            <a:off x="299244" y="1683603"/>
            <a:ext cx="2520156" cy="830997"/>
          </a:xfrm>
          <a:prstGeom prst="rect">
            <a:avLst/>
          </a:prstGeom>
          <a:noFill/>
          <a:ln w="12700" cap="rnd">
            <a:solidFill>
              <a:srgbClr val="336600"/>
            </a:solidFill>
            <a:miter lim="800000"/>
            <a:headEnd/>
            <a:tailEnd/>
          </a:ln>
        </p:spPr>
        <p:txBody>
          <a:bodyPr wrap="square">
            <a:spAutoFit/>
          </a:bodyPr>
          <a:lstStyle/>
          <a:p>
            <a:pPr fontAlgn="base">
              <a:spcBef>
                <a:spcPct val="30000"/>
              </a:spcBef>
              <a:spcAft>
                <a:spcPct val="0"/>
              </a:spcAft>
              <a:buClr>
                <a:srgbClr val="6600FF"/>
              </a:buClr>
              <a:buFont typeface="Wingdings" pitchFamily="2" charset="2"/>
              <a:buNone/>
            </a:pPr>
            <a:r>
              <a:rPr kumimoji="1" lang="zh-CN" altLang="en-US" sz="2400" b="1" dirty="0">
                <a:solidFill>
                  <a:srgbClr val="0000FF"/>
                </a:solidFill>
                <a:latin typeface="黑体" pitchFamily="2" charset="-122"/>
              </a:rPr>
              <a:t>结合双亲表示法和孩子表示法</a:t>
            </a:r>
            <a:endParaRPr kumimoji="1" lang="zh-CN" altLang="en-US" sz="2400" b="1" dirty="0">
              <a:solidFill>
                <a:srgbClr val="0000FF"/>
              </a:solidFill>
              <a:latin typeface="Times New Roman" pitchFamily="18" charset="0"/>
            </a:endParaRPr>
          </a:p>
        </p:txBody>
      </p:sp>
      <p:grpSp>
        <p:nvGrpSpPr>
          <p:cNvPr id="23" name="Group 225"/>
          <p:cNvGrpSpPr>
            <a:grpSpLocks/>
          </p:cNvGrpSpPr>
          <p:nvPr/>
        </p:nvGrpSpPr>
        <p:grpSpPr bwMode="auto">
          <a:xfrm>
            <a:off x="5938837" y="4035425"/>
            <a:ext cx="990600" cy="396875"/>
            <a:chOff x="2256" y="672"/>
            <a:chExt cx="624" cy="283"/>
          </a:xfrm>
        </p:grpSpPr>
        <p:grpSp>
          <p:nvGrpSpPr>
            <p:cNvPr id="24" name="Group 226"/>
            <p:cNvGrpSpPr>
              <a:grpSpLocks/>
            </p:cNvGrpSpPr>
            <p:nvPr/>
          </p:nvGrpSpPr>
          <p:grpSpPr bwMode="auto">
            <a:xfrm>
              <a:off x="2288" y="672"/>
              <a:ext cx="544" cy="240"/>
              <a:chOff x="3504" y="1584"/>
              <a:chExt cx="672" cy="288"/>
            </a:xfrm>
          </p:grpSpPr>
          <p:sp>
            <p:nvSpPr>
              <p:cNvPr id="26" name="Rectangle 227"/>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7" name="Line 228"/>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25" name="Text Box 229"/>
            <p:cNvSpPr txBox="1">
              <a:spLocks noChangeArrowheads="1"/>
            </p:cNvSpPr>
            <p:nvPr/>
          </p:nvSpPr>
          <p:spPr bwMode="auto">
            <a:xfrm>
              <a:off x="2256" y="672"/>
              <a:ext cx="624" cy="283"/>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7</a:t>
              </a:r>
            </a:p>
          </p:txBody>
        </p:sp>
      </p:grpSp>
      <p:sp>
        <p:nvSpPr>
          <p:cNvPr id="28" name="Line 230"/>
          <p:cNvSpPr>
            <a:spLocks noChangeShapeType="1"/>
          </p:cNvSpPr>
          <p:nvPr/>
        </p:nvSpPr>
        <p:spPr bwMode="auto">
          <a:xfrm>
            <a:off x="6700837" y="4264025"/>
            <a:ext cx="457200" cy="0"/>
          </a:xfrm>
          <a:prstGeom prst="line">
            <a:avLst/>
          </a:prstGeom>
          <a:noFill/>
          <a:ln w="9525">
            <a:solidFill>
              <a:srgbClr val="372E6E"/>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29" name="Group 231"/>
          <p:cNvGrpSpPr>
            <a:grpSpLocks/>
          </p:cNvGrpSpPr>
          <p:nvPr/>
        </p:nvGrpSpPr>
        <p:grpSpPr bwMode="auto">
          <a:xfrm>
            <a:off x="8224837" y="4027488"/>
            <a:ext cx="990600" cy="396875"/>
            <a:chOff x="5616" y="2251"/>
            <a:chExt cx="624" cy="250"/>
          </a:xfrm>
        </p:grpSpPr>
        <p:grpSp>
          <p:nvGrpSpPr>
            <p:cNvPr id="30" name="Group 232"/>
            <p:cNvGrpSpPr>
              <a:grpSpLocks/>
            </p:cNvGrpSpPr>
            <p:nvPr/>
          </p:nvGrpSpPr>
          <p:grpSpPr bwMode="auto">
            <a:xfrm>
              <a:off x="5648" y="2256"/>
              <a:ext cx="544" cy="240"/>
              <a:chOff x="3504" y="1584"/>
              <a:chExt cx="672" cy="288"/>
            </a:xfrm>
          </p:grpSpPr>
          <p:sp>
            <p:nvSpPr>
              <p:cNvPr id="32" name="Rectangle 233"/>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3" name="Line 234"/>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31" name="Text Box 235"/>
            <p:cNvSpPr txBox="1">
              <a:spLocks noChangeArrowheads="1"/>
            </p:cNvSpPr>
            <p:nvPr/>
          </p:nvSpPr>
          <p:spPr bwMode="auto">
            <a:xfrm>
              <a:off x="5616" y="2251"/>
              <a:ext cx="624" cy="250"/>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9   ∧</a:t>
              </a:r>
            </a:p>
          </p:txBody>
        </p:sp>
      </p:grpSp>
      <p:grpSp>
        <p:nvGrpSpPr>
          <p:cNvPr id="34" name="Group 236"/>
          <p:cNvGrpSpPr>
            <a:grpSpLocks/>
          </p:cNvGrpSpPr>
          <p:nvPr/>
        </p:nvGrpSpPr>
        <p:grpSpPr bwMode="auto">
          <a:xfrm>
            <a:off x="7081837" y="4035425"/>
            <a:ext cx="990600" cy="396875"/>
            <a:chOff x="2256" y="672"/>
            <a:chExt cx="624" cy="250"/>
          </a:xfrm>
        </p:grpSpPr>
        <p:grpSp>
          <p:nvGrpSpPr>
            <p:cNvPr id="35" name="Group 237"/>
            <p:cNvGrpSpPr>
              <a:grpSpLocks/>
            </p:cNvGrpSpPr>
            <p:nvPr/>
          </p:nvGrpSpPr>
          <p:grpSpPr bwMode="auto">
            <a:xfrm>
              <a:off x="2288" y="672"/>
              <a:ext cx="544" cy="240"/>
              <a:chOff x="3504" y="1584"/>
              <a:chExt cx="672" cy="288"/>
            </a:xfrm>
          </p:grpSpPr>
          <p:sp>
            <p:nvSpPr>
              <p:cNvPr id="37" name="Rectangle 238"/>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8" name="Line 239"/>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36" name="Text Box 240"/>
            <p:cNvSpPr txBox="1">
              <a:spLocks noChangeArrowheads="1"/>
            </p:cNvSpPr>
            <p:nvPr/>
          </p:nvSpPr>
          <p:spPr bwMode="auto">
            <a:xfrm>
              <a:off x="2256" y="672"/>
              <a:ext cx="624" cy="250"/>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8</a:t>
              </a:r>
            </a:p>
          </p:txBody>
        </p:sp>
      </p:grpSp>
      <p:sp>
        <p:nvSpPr>
          <p:cNvPr id="39" name="Line 241"/>
          <p:cNvSpPr>
            <a:spLocks noChangeShapeType="1"/>
          </p:cNvSpPr>
          <p:nvPr/>
        </p:nvSpPr>
        <p:spPr bwMode="auto">
          <a:xfrm>
            <a:off x="7767637" y="4264025"/>
            <a:ext cx="457200" cy="0"/>
          </a:xfrm>
          <a:prstGeom prst="line">
            <a:avLst/>
          </a:prstGeom>
          <a:noFill/>
          <a:ln w="9525">
            <a:solidFill>
              <a:srgbClr val="372E6E"/>
            </a:solidFill>
            <a:round/>
            <a:headEnd/>
            <a:tailEnd type="triangle" w="med" len="me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40" name="Group 242"/>
          <p:cNvGrpSpPr>
            <a:grpSpLocks/>
          </p:cNvGrpSpPr>
          <p:nvPr/>
        </p:nvGrpSpPr>
        <p:grpSpPr bwMode="auto">
          <a:xfrm>
            <a:off x="5978525" y="2317750"/>
            <a:ext cx="990600" cy="396875"/>
            <a:chOff x="2256" y="672"/>
            <a:chExt cx="624" cy="283"/>
          </a:xfrm>
        </p:grpSpPr>
        <p:grpSp>
          <p:nvGrpSpPr>
            <p:cNvPr id="41" name="Group 243"/>
            <p:cNvGrpSpPr>
              <a:grpSpLocks/>
            </p:cNvGrpSpPr>
            <p:nvPr/>
          </p:nvGrpSpPr>
          <p:grpSpPr bwMode="auto">
            <a:xfrm>
              <a:off x="2288" y="672"/>
              <a:ext cx="544" cy="240"/>
              <a:chOff x="3504" y="1584"/>
              <a:chExt cx="672" cy="288"/>
            </a:xfrm>
          </p:grpSpPr>
          <p:sp>
            <p:nvSpPr>
              <p:cNvPr id="43" name="Rectangle 244"/>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4" name="Line 245"/>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2" name="Text Box 246"/>
            <p:cNvSpPr txBox="1">
              <a:spLocks noChangeArrowheads="1"/>
            </p:cNvSpPr>
            <p:nvPr/>
          </p:nvSpPr>
          <p:spPr bwMode="auto">
            <a:xfrm>
              <a:off x="2256" y="672"/>
              <a:ext cx="624" cy="283"/>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2</a:t>
              </a:r>
            </a:p>
          </p:txBody>
        </p:sp>
      </p:grpSp>
      <p:grpSp>
        <p:nvGrpSpPr>
          <p:cNvPr id="45" name="Group 247"/>
          <p:cNvGrpSpPr>
            <a:grpSpLocks/>
          </p:cNvGrpSpPr>
          <p:nvPr/>
        </p:nvGrpSpPr>
        <p:grpSpPr bwMode="auto">
          <a:xfrm>
            <a:off x="5938837" y="3155950"/>
            <a:ext cx="990600" cy="396875"/>
            <a:chOff x="2256" y="672"/>
            <a:chExt cx="624" cy="260"/>
          </a:xfrm>
        </p:grpSpPr>
        <p:grpSp>
          <p:nvGrpSpPr>
            <p:cNvPr id="46" name="Group 248"/>
            <p:cNvGrpSpPr>
              <a:grpSpLocks/>
            </p:cNvGrpSpPr>
            <p:nvPr/>
          </p:nvGrpSpPr>
          <p:grpSpPr bwMode="auto">
            <a:xfrm>
              <a:off x="2288" y="672"/>
              <a:ext cx="544" cy="240"/>
              <a:chOff x="3504" y="1584"/>
              <a:chExt cx="672" cy="288"/>
            </a:xfrm>
          </p:grpSpPr>
          <p:sp>
            <p:nvSpPr>
              <p:cNvPr id="48" name="Rectangle 249"/>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9" name="Line 250"/>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7" name="Text Box 251"/>
            <p:cNvSpPr txBox="1">
              <a:spLocks noChangeArrowheads="1"/>
            </p:cNvSpPr>
            <p:nvPr/>
          </p:nvSpPr>
          <p:spPr bwMode="auto">
            <a:xfrm>
              <a:off x="2256" y="672"/>
              <a:ext cx="624" cy="260"/>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6    ∧</a:t>
              </a:r>
            </a:p>
          </p:txBody>
        </p:sp>
      </p:grpSp>
      <p:grpSp>
        <p:nvGrpSpPr>
          <p:cNvPr id="50" name="Group 252"/>
          <p:cNvGrpSpPr>
            <a:grpSpLocks/>
          </p:cNvGrpSpPr>
          <p:nvPr/>
        </p:nvGrpSpPr>
        <p:grpSpPr bwMode="auto">
          <a:xfrm>
            <a:off x="5938837" y="2740025"/>
            <a:ext cx="990600" cy="396875"/>
            <a:chOff x="2256" y="672"/>
            <a:chExt cx="624" cy="271"/>
          </a:xfrm>
        </p:grpSpPr>
        <p:grpSp>
          <p:nvGrpSpPr>
            <p:cNvPr id="51" name="Group 253"/>
            <p:cNvGrpSpPr>
              <a:grpSpLocks/>
            </p:cNvGrpSpPr>
            <p:nvPr/>
          </p:nvGrpSpPr>
          <p:grpSpPr bwMode="auto">
            <a:xfrm>
              <a:off x="2288" y="672"/>
              <a:ext cx="544" cy="240"/>
              <a:chOff x="3504" y="1584"/>
              <a:chExt cx="672" cy="288"/>
            </a:xfrm>
          </p:grpSpPr>
          <p:sp>
            <p:nvSpPr>
              <p:cNvPr id="53" name="Rectangle 254"/>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4" name="Line 255"/>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2" name="Text Box 256"/>
            <p:cNvSpPr txBox="1">
              <a:spLocks noChangeArrowheads="1"/>
            </p:cNvSpPr>
            <p:nvPr/>
          </p:nvSpPr>
          <p:spPr bwMode="auto">
            <a:xfrm>
              <a:off x="2256" y="672"/>
              <a:ext cx="624" cy="27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4</a:t>
              </a:r>
            </a:p>
          </p:txBody>
        </p:sp>
      </p:grpSp>
      <p:grpSp>
        <p:nvGrpSpPr>
          <p:cNvPr id="55" name="Group 257"/>
          <p:cNvGrpSpPr>
            <a:grpSpLocks/>
          </p:cNvGrpSpPr>
          <p:nvPr/>
        </p:nvGrpSpPr>
        <p:grpSpPr bwMode="auto">
          <a:xfrm>
            <a:off x="6710362" y="2803525"/>
            <a:ext cx="1400175" cy="401638"/>
            <a:chOff x="4662" y="1480"/>
            <a:chExt cx="882" cy="253"/>
          </a:xfrm>
        </p:grpSpPr>
        <p:grpSp>
          <p:nvGrpSpPr>
            <p:cNvPr id="56" name="Group 258"/>
            <p:cNvGrpSpPr>
              <a:grpSpLocks/>
            </p:cNvGrpSpPr>
            <p:nvPr/>
          </p:nvGrpSpPr>
          <p:grpSpPr bwMode="auto">
            <a:xfrm>
              <a:off x="4921" y="1480"/>
              <a:ext cx="544" cy="240"/>
              <a:chOff x="3504" y="1584"/>
              <a:chExt cx="672" cy="288"/>
            </a:xfrm>
          </p:grpSpPr>
          <p:sp>
            <p:nvSpPr>
              <p:cNvPr id="59" name="Rectangle 259"/>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0" name="Line 260"/>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7" name="Text Box 261"/>
            <p:cNvSpPr txBox="1">
              <a:spLocks noChangeArrowheads="1"/>
            </p:cNvSpPr>
            <p:nvPr/>
          </p:nvSpPr>
          <p:spPr bwMode="auto">
            <a:xfrm>
              <a:off x="4920" y="1483"/>
              <a:ext cx="624" cy="250"/>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Arial" pitchFamily="34" charset="0"/>
                </a:rPr>
                <a:t> 5   ∧</a:t>
              </a:r>
            </a:p>
          </p:txBody>
        </p:sp>
        <p:sp>
          <p:nvSpPr>
            <p:cNvPr id="58" name="Line 262"/>
            <p:cNvSpPr>
              <a:spLocks noChangeShapeType="1"/>
            </p:cNvSpPr>
            <p:nvPr/>
          </p:nvSpPr>
          <p:spPr bwMode="auto">
            <a:xfrm>
              <a:off x="4662" y="1570"/>
              <a:ext cx="288" cy="0"/>
            </a:xfrm>
            <a:prstGeom prst="line">
              <a:avLst/>
            </a:prstGeom>
            <a:noFill/>
            <a:ln w="9525">
              <a:solidFill>
                <a:srgbClr val="0000FF"/>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grpSp>
        <p:nvGrpSpPr>
          <p:cNvPr id="61" name="Group 263"/>
          <p:cNvGrpSpPr>
            <a:grpSpLocks/>
          </p:cNvGrpSpPr>
          <p:nvPr/>
        </p:nvGrpSpPr>
        <p:grpSpPr bwMode="auto">
          <a:xfrm>
            <a:off x="6700837" y="2282825"/>
            <a:ext cx="1409700" cy="423863"/>
            <a:chOff x="4656" y="1152"/>
            <a:chExt cx="888" cy="267"/>
          </a:xfrm>
        </p:grpSpPr>
        <p:grpSp>
          <p:nvGrpSpPr>
            <p:cNvPr id="62" name="Group 264"/>
            <p:cNvGrpSpPr>
              <a:grpSpLocks/>
            </p:cNvGrpSpPr>
            <p:nvPr/>
          </p:nvGrpSpPr>
          <p:grpSpPr bwMode="auto">
            <a:xfrm>
              <a:off x="4928" y="1152"/>
              <a:ext cx="544" cy="244"/>
              <a:chOff x="3504" y="1584"/>
              <a:chExt cx="672" cy="288"/>
            </a:xfrm>
          </p:grpSpPr>
          <p:sp>
            <p:nvSpPr>
              <p:cNvPr id="65" name="Rectangle 265"/>
              <p:cNvSpPr>
                <a:spLocks noChangeArrowheads="1"/>
              </p:cNvSpPr>
              <p:nvPr/>
            </p:nvSpPr>
            <p:spPr bwMode="auto">
              <a:xfrm>
                <a:off x="3504" y="1584"/>
                <a:ext cx="672" cy="288"/>
              </a:xfrm>
              <a:prstGeom prst="rect">
                <a:avLst/>
              </a:prstGeom>
              <a:solidFill>
                <a:srgbClr val="85DFD0"/>
              </a:solidFill>
              <a:ln w="12700" cap="rnd">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6" name="Line 266"/>
              <p:cNvSpPr>
                <a:spLocks noChangeShapeType="1"/>
              </p:cNvSpPr>
              <p:nvPr/>
            </p:nvSpPr>
            <p:spPr bwMode="auto">
              <a:xfrm>
                <a:off x="3840" y="1584"/>
                <a:ext cx="0" cy="288"/>
              </a:xfrm>
              <a:prstGeom prst="line">
                <a:avLst/>
              </a:prstGeom>
              <a:noFill/>
              <a:ln w="1270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63" name="Text Box 267"/>
            <p:cNvSpPr txBox="1">
              <a:spLocks noChangeArrowheads="1"/>
            </p:cNvSpPr>
            <p:nvPr/>
          </p:nvSpPr>
          <p:spPr bwMode="auto">
            <a:xfrm>
              <a:off x="4920" y="1169"/>
              <a:ext cx="624" cy="250"/>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3 </a:t>
              </a:r>
              <a:r>
                <a:rPr kumimoji="1" lang="zh-CN" altLang="en-US" sz="2000" b="1" i="0" u="none" strike="noStrike" kern="0" cap="none" spc="0" normalizeH="0" baseline="0" noProof="0">
                  <a:ln>
                    <a:noFill/>
                  </a:ln>
                  <a:solidFill>
                    <a:srgbClr val="DBF5F9"/>
                  </a:solidFill>
                  <a:effectLst/>
                  <a:uLnTx/>
                  <a:uFillTx/>
                  <a:latin typeface="Arial" pitchFamily="34" charset="0"/>
                </a:rPr>
                <a:t>   </a:t>
              </a:r>
              <a:r>
                <a:rPr kumimoji="1" lang="zh-CN" altLang="en-US" sz="2000" b="1" i="0" u="none" strike="noStrike" kern="0" cap="none" spc="0" normalizeH="0" baseline="0" noProof="0">
                  <a:ln>
                    <a:noFill/>
                  </a:ln>
                  <a:solidFill>
                    <a:srgbClr val="000000"/>
                  </a:solidFill>
                  <a:effectLst/>
                  <a:uLnTx/>
                  <a:uFillTx/>
                  <a:latin typeface="Arial" pitchFamily="34" charset="0"/>
                </a:rPr>
                <a:t>∧</a:t>
              </a:r>
            </a:p>
          </p:txBody>
        </p:sp>
        <p:sp>
          <p:nvSpPr>
            <p:cNvPr id="64" name="Line 268"/>
            <p:cNvSpPr>
              <a:spLocks noChangeShapeType="1"/>
            </p:cNvSpPr>
            <p:nvPr/>
          </p:nvSpPr>
          <p:spPr bwMode="auto">
            <a:xfrm>
              <a:off x="4656" y="1296"/>
              <a:ext cx="288" cy="0"/>
            </a:xfrm>
            <a:prstGeom prst="line">
              <a:avLst/>
            </a:prstGeom>
            <a:noFill/>
            <a:ln w="9525">
              <a:solidFill>
                <a:srgbClr val="372E6E"/>
              </a:solidFill>
              <a:round/>
              <a:headEnd/>
              <a:tailEnd type="triangle" w="med" len="me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grpSp>
        <p:nvGrpSpPr>
          <p:cNvPr id="67" name="Group 269"/>
          <p:cNvGrpSpPr>
            <a:grpSpLocks/>
          </p:cNvGrpSpPr>
          <p:nvPr/>
        </p:nvGrpSpPr>
        <p:grpSpPr bwMode="auto">
          <a:xfrm>
            <a:off x="15875" y="2879725"/>
            <a:ext cx="2651125" cy="2454275"/>
            <a:chOff x="308" y="663"/>
            <a:chExt cx="1670" cy="1546"/>
          </a:xfrm>
        </p:grpSpPr>
        <p:grpSp>
          <p:nvGrpSpPr>
            <p:cNvPr id="68" name="Group 270"/>
            <p:cNvGrpSpPr>
              <a:grpSpLocks/>
            </p:cNvGrpSpPr>
            <p:nvPr/>
          </p:nvGrpSpPr>
          <p:grpSpPr bwMode="auto">
            <a:xfrm>
              <a:off x="1082" y="663"/>
              <a:ext cx="320" cy="250"/>
              <a:chOff x="2880" y="1104"/>
              <a:chExt cx="367" cy="343"/>
            </a:xfrm>
          </p:grpSpPr>
          <p:sp>
            <p:nvSpPr>
              <p:cNvPr id="101" name="Oval 27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02" name="Text Box 27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A</a:t>
                </a:r>
              </a:p>
            </p:txBody>
          </p:sp>
        </p:grpSp>
        <p:grpSp>
          <p:nvGrpSpPr>
            <p:cNvPr id="69" name="Group 273"/>
            <p:cNvGrpSpPr>
              <a:grpSpLocks/>
            </p:cNvGrpSpPr>
            <p:nvPr/>
          </p:nvGrpSpPr>
          <p:grpSpPr bwMode="auto">
            <a:xfrm>
              <a:off x="1658" y="1335"/>
              <a:ext cx="320" cy="250"/>
              <a:chOff x="2880" y="1104"/>
              <a:chExt cx="367" cy="343"/>
            </a:xfrm>
          </p:grpSpPr>
          <p:sp>
            <p:nvSpPr>
              <p:cNvPr id="99" name="Oval 27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00" name="Text Box 27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C</a:t>
                </a:r>
              </a:p>
            </p:txBody>
          </p:sp>
        </p:grpSp>
        <p:grpSp>
          <p:nvGrpSpPr>
            <p:cNvPr id="70" name="Group 276"/>
            <p:cNvGrpSpPr>
              <a:grpSpLocks/>
            </p:cNvGrpSpPr>
            <p:nvPr/>
          </p:nvGrpSpPr>
          <p:grpSpPr bwMode="auto">
            <a:xfrm>
              <a:off x="842" y="1959"/>
              <a:ext cx="320" cy="250"/>
              <a:chOff x="2880" y="1104"/>
              <a:chExt cx="367" cy="343"/>
            </a:xfrm>
          </p:grpSpPr>
          <p:sp>
            <p:nvSpPr>
              <p:cNvPr id="97" name="Oval 27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8" name="Text Box 27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H</a:t>
                </a:r>
              </a:p>
            </p:txBody>
          </p:sp>
        </p:grpSp>
        <p:grpSp>
          <p:nvGrpSpPr>
            <p:cNvPr id="71" name="Group 279"/>
            <p:cNvGrpSpPr>
              <a:grpSpLocks/>
            </p:cNvGrpSpPr>
            <p:nvPr/>
          </p:nvGrpSpPr>
          <p:grpSpPr bwMode="auto">
            <a:xfrm>
              <a:off x="458" y="1959"/>
              <a:ext cx="320" cy="250"/>
              <a:chOff x="2880" y="1104"/>
              <a:chExt cx="367" cy="343"/>
            </a:xfrm>
          </p:grpSpPr>
          <p:sp>
            <p:nvSpPr>
              <p:cNvPr id="95" name="Oval 28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6" name="Text Box 28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G</a:t>
                </a:r>
              </a:p>
            </p:txBody>
          </p:sp>
        </p:grpSp>
        <p:grpSp>
          <p:nvGrpSpPr>
            <p:cNvPr id="72" name="Group 282"/>
            <p:cNvGrpSpPr>
              <a:grpSpLocks/>
            </p:cNvGrpSpPr>
            <p:nvPr/>
          </p:nvGrpSpPr>
          <p:grpSpPr bwMode="auto">
            <a:xfrm>
              <a:off x="308" y="1504"/>
              <a:ext cx="320" cy="250"/>
              <a:chOff x="2880" y="1104"/>
              <a:chExt cx="367" cy="343"/>
            </a:xfrm>
          </p:grpSpPr>
          <p:sp>
            <p:nvSpPr>
              <p:cNvPr id="93" name="Oval 28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4" name="Text Box 28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D</a:t>
                </a:r>
              </a:p>
            </p:txBody>
          </p:sp>
        </p:grpSp>
        <p:sp>
          <p:nvSpPr>
            <p:cNvPr id="73" name="Line 285"/>
            <p:cNvSpPr>
              <a:spLocks noChangeShapeType="1"/>
            </p:cNvSpPr>
            <p:nvPr/>
          </p:nvSpPr>
          <p:spPr bwMode="auto">
            <a:xfrm flipH="1">
              <a:off x="965" y="1752"/>
              <a:ext cx="2" cy="207"/>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74" name="Line 286"/>
            <p:cNvSpPr>
              <a:spLocks noChangeShapeType="1"/>
            </p:cNvSpPr>
            <p:nvPr/>
          </p:nvSpPr>
          <p:spPr bwMode="auto">
            <a:xfrm flipH="1">
              <a:off x="842" y="903"/>
              <a:ext cx="336" cy="287"/>
            </a:xfrm>
            <a:prstGeom prst="line">
              <a:avLst/>
            </a:prstGeom>
            <a:noFill/>
            <a:ln w="12700" cap="rnd">
              <a:solidFill>
                <a:srgbClr val="00008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75" name="Line 287"/>
            <p:cNvSpPr>
              <a:spLocks noChangeShapeType="1"/>
            </p:cNvSpPr>
            <p:nvPr/>
          </p:nvSpPr>
          <p:spPr bwMode="auto">
            <a:xfrm flipH="1">
              <a:off x="506" y="1334"/>
              <a:ext cx="144" cy="192"/>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76" name="Line 288"/>
            <p:cNvSpPr>
              <a:spLocks noChangeShapeType="1"/>
            </p:cNvSpPr>
            <p:nvPr/>
          </p:nvSpPr>
          <p:spPr bwMode="auto">
            <a:xfrm>
              <a:off x="794" y="1334"/>
              <a:ext cx="144" cy="192"/>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77" name="Line 289"/>
            <p:cNvSpPr>
              <a:spLocks noChangeShapeType="1"/>
            </p:cNvSpPr>
            <p:nvPr/>
          </p:nvSpPr>
          <p:spPr bwMode="auto">
            <a:xfrm>
              <a:off x="1802" y="1574"/>
              <a:ext cx="0" cy="144"/>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78" name="Line 290"/>
            <p:cNvSpPr>
              <a:spLocks noChangeShapeType="1"/>
            </p:cNvSpPr>
            <p:nvPr/>
          </p:nvSpPr>
          <p:spPr bwMode="auto">
            <a:xfrm>
              <a:off x="1274" y="903"/>
              <a:ext cx="528" cy="432"/>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79" name="Line 291"/>
            <p:cNvSpPr>
              <a:spLocks noChangeShapeType="1"/>
            </p:cNvSpPr>
            <p:nvPr/>
          </p:nvSpPr>
          <p:spPr bwMode="auto">
            <a:xfrm flipH="1">
              <a:off x="650" y="1706"/>
              <a:ext cx="247" cy="253"/>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0" name="Line 292"/>
            <p:cNvSpPr>
              <a:spLocks noChangeShapeType="1"/>
            </p:cNvSpPr>
            <p:nvPr/>
          </p:nvSpPr>
          <p:spPr bwMode="auto">
            <a:xfrm>
              <a:off x="1034" y="1719"/>
              <a:ext cx="288" cy="288"/>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81" name="Group 293"/>
            <p:cNvGrpSpPr>
              <a:grpSpLocks/>
            </p:cNvGrpSpPr>
            <p:nvPr/>
          </p:nvGrpSpPr>
          <p:grpSpPr bwMode="auto">
            <a:xfrm>
              <a:off x="1658" y="1671"/>
              <a:ext cx="320" cy="250"/>
              <a:chOff x="2880" y="1104"/>
              <a:chExt cx="367" cy="343"/>
            </a:xfrm>
          </p:grpSpPr>
          <p:sp>
            <p:nvSpPr>
              <p:cNvPr id="91" name="Oval 29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2" name="Text Box 29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F</a:t>
                </a:r>
              </a:p>
            </p:txBody>
          </p:sp>
        </p:grpSp>
        <p:grpSp>
          <p:nvGrpSpPr>
            <p:cNvPr id="82" name="Group 296"/>
            <p:cNvGrpSpPr>
              <a:grpSpLocks/>
            </p:cNvGrpSpPr>
            <p:nvPr/>
          </p:nvGrpSpPr>
          <p:grpSpPr bwMode="auto">
            <a:xfrm>
              <a:off x="596" y="1143"/>
              <a:ext cx="320" cy="250"/>
              <a:chOff x="2880" y="1104"/>
              <a:chExt cx="367" cy="343"/>
            </a:xfrm>
          </p:grpSpPr>
          <p:sp>
            <p:nvSpPr>
              <p:cNvPr id="89" name="Oval 29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0" name="Text Box 29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B</a:t>
                </a:r>
              </a:p>
            </p:txBody>
          </p:sp>
        </p:grpSp>
        <p:grpSp>
          <p:nvGrpSpPr>
            <p:cNvPr id="83" name="Group 299"/>
            <p:cNvGrpSpPr>
              <a:grpSpLocks/>
            </p:cNvGrpSpPr>
            <p:nvPr/>
          </p:nvGrpSpPr>
          <p:grpSpPr bwMode="auto">
            <a:xfrm>
              <a:off x="794" y="1504"/>
              <a:ext cx="320" cy="250"/>
              <a:chOff x="2880" y="1104"/>
              <a:chExt cx="367" cy="343"/>
            </a:xfrm>
          </p:grpSpPr>
          <p:sp>
            <p:nvSpPr>
              <p:cNvPr id="87" name="Oval 30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88" name="Text Box 30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E</a:t>
                </a:r>
              </a:p>
            </p:txBody>
          </p:sp>
        </p:grpSp>
        <p:grpSp>
          <p:nvGrpSpPr>
            <p:cNvPr id="84" name="Group 302"/>
            <p:cNvGrpSpPr>
              <a:grpSpLocks/>
            </p:cNvGrpSpPr>
            <p:nvPr/>
          </p:nvGrpSpPr>
          <p:grpSpPr bwMode="auto">
            <a:xfrm>
              <a:off x="1226" y="1959"/>
              <a:ext cx="320" cy="250"/>
              <a:chOff x="2880" y="1104"/>
              <a:chExt cx="367" cy="343"/>
            </a:xfrm>
          </p:grpSpPr>
          <p:sp>
            <p:nvSpPr>
              <p:cNvPr id="85" name="Oval 30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86" name="Text Box 30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I</a:t>
                </a:r>
              </a:p>
            </p:txBody>
          </p:sp>
        </p:grpSp>
      </p:grpSp>
      <p:sp>
        <p:nvSpPr>
          <p:cNvPr id="103" name="Text Box 313"/>
          <p:cNvSpPr txBox="1">
            <a:spLocks noChangeArrowheads="1"/>
          </p:cNvSpPr>
          <p:nvPr/>
        </p:nvSpPr>
        <p:spPr bwMode="auto">
          <a:xfrm>
            <a:off x="3597275" y="1452563"/>
            <a:ext cx="2514600" cy="396875"/>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r>
              <a:rPr kumimoji="1" lang="en-US" altLang="zh-CN" sz="2000" b="1">
                <a:solidFill>
                  <a:srgbClr val="0000FF"/>
                </a:solidFill>
                <a:latin typeface="Times New Roman" pitchFamily="18" charset="0"/>
              </a:rPr>
              <a:t>data   parent  link</a:t>
            </a:r>
          </a:p>
        </p:txBody>
      </p:sp>
      <p:sp>
        <p:nvSpPr>
          <p:cNvPr id="104" name="Text Box 142"/>
          <p:cNvSpPr txBox="1">
            <a:spLocks noChangeArrowheads="1"/>
          </p:cNvSpPr>
          <p:nvPr/>
        </p:nvSpPr>
        <p:spPr bwMode="auto">
          <a:xfrm>
            <a:off x="2764719" y="1941493"/>
            <a:ext cx="769762" cy="954107"/>
          </a:xfrm>
          <a:prstGeom prst="rect">
            <a:avLst/>
          </a:prstGeom>
          <a:noFill/>
          <a:ln w="12700" cap="rnd" algn="ctr">
            <a:noFill/>
            <a:miter lim="800000"/>
            <a:headEnd/>
            <a:tailEnd/>
          </a:ln>
        </p:spPr>
        <p:txBody>
          <a:bodyPr wrap="none">
            <a:spAutoFit/>
          </a:bodyPr>
          <a:lstStyle/>
          <a:p>
            <a:pPr algn="ctr" eaLnBrk="0" fontAlgn="base" hangingPunct="0">
              <a:spcBef>
                <a:spcPct val="0"/>
              </a:spcBef>
              <a:spcAft>
                <a:spcPct val="0"/>
              </a:spcAft>
            </a:pPr>
            <a:r>
              <a:rPr kumimoji="1" lang="en-US" altLang="zh-CN" sz="2800" b="1" dirty="0">
                <a:solidFill>
                  <a:srgbClr val="000000"/>
                </a:solidFill>
                <a:latin typeface="Times New Roman" pitchFamily="18" charset="0"/>
              </a:rPr>
              <a:t>r=0</a:t>
            </a:r>
          </a:p>
          <a:p>
            <a:pPr algn="ctr" eaLnBrk="0" fontAlgn="base" hangingPunct="0">
              <a:spcBef>
                <a:spcPct val="0"/>
              </a:spcBef>
              <a:spcAft>
                <a:spcPct val="0"/>
              </a:spcAft>
            </a:pPr>
            <a:r>
              <a:rPr kumimoji="1" lang="en-US" altLang="zh-CN" sz="2800" b="1" dirty="0">
                <a:solidFill>
                  <a:srgbClr val="000000"/>
                </a:solidFill>
                <a:latin typeface="Times New Roman" pitchFamily="18" charset="0"/>
              </a:rPr>
              <a:t>n=9</a:t>
            </a:r>
          </a:p>
        </p:txBody>
      </p:sp>
    </p:spTree>
    <p:extLst>
      <p:ext uri="{BB962C8B-B14F-4D97-AF65-F5344CB8AC3E}">
        <p14:creationId xmlns:p14="http://schemas.microsoft.com/office/powerpoint/2010/main" val="140595975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5.5.1  </a:t>
            </a:r>
            <a:r>
              <a:rPr kumimoji="1" lang="zh-CN" altLang="en-US" sz="3200" b="1" dirty="0">
                <a:latin typeface="Arial" charset="0"/>
                <a:ea typeface="宋体" charset="-122"/>
                <a:cs typeface="+mn-cs"/>
              </a:rPr>
              <a:t>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树的二叉链表</a:t>
            </a:r>
            <a:r>
              <a:rPr lang="en-US" altLang="zh-CN" sz="2800" b="1" dirty="0">
                <a:solidFill>
                  <a:srgbClr val="FF0000"/>
                </a:solidFill>
              </a:rPr>
              <a:t>---</a:t>
            </a:r>
            <a:r>
              <a:rPr lang="zh-CN" altLang="en-US" sz="2800" b="1" dirty="0">
                <a:solidFill>
                  <a:srgbClr val="FF0000"/>
                </a:solidFill>
              </a:rPr>
              <a:t>孩子兄弟表示法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B7019821-44DF-46F6-976E-9B3DC7DCFBDD}"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129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26" name="双波形 25"/>
          <p:cNvSpPr/>
          <p:nvPr/>
        </p:nvSpPr>
        <p:spPr bwMode="auto">
          <a:xfrm>
            <a:off x="1143000" y="3027363"/>
            <a:ext cx="6715125" cy="2330450"/>
          </a:xfrm>
          <a:prstGeom prst="doubleWave">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en-US" altLang="zh-CN" sz="3600" b="1" i="0" u="none" strike="noStrike" kern="0" cap="none" spc="0" normalizeH="0" baseline="0" noProof="0" dirty="0">
              <a:ln>
                <a:noFill/>
              </a:ln>
              <a:solidFill>
                <a:srgbClr val="0000FF"/>
              </a:solidFill>
              <a:effectLst/>
              <a:uLnTx/>
              <a:uFillTx/>
              <a:latin typeface="Times New Roman" pitchFamily="18" charset="0"/>
              <a:ea typeface="宋体"/>
              <a:cs typeface="+mn-cs"/>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1" i="0" u="none" strike="noStrike" kern="0" cap="none" spc="0" normalizeH="0" baseline="0" noProof="0" dirty="0">
                <a:ln>
                  <a:noFill/>
                </a:ln>
                <a:solidFill>
                  <a:srgbClr val="0000FF"/>
                </a:solidFill>
                <a:effectLst/>
                <a:uLnTx/>
                <a:uFillTx/>
                <a:latin typeface="Times New Roman" pitchFamily="18" charset="0"/>
                <a:ea typeface="宋体"/>
                <a:cs typeface="+mn-cs"/>
              </a:rPr>
              <a:t>如何把树与二叉树联系起来？</a:t>
            </a:r>
            <a:endParaRPr kumimoji="1" lang="en-US" altLang="zh-CN" sz="3600" b="1" i="0" u="none" strike="noStrike" kern="0" cap="none" spc="0" normalizeH="0" baseline="0" noProof="0" dirty="0">
              <a:ln>
                <a:noFill/>
              </a:ln>
              <a:solidFill>
                <a:srgbClr val="0000FF"/>
              </a:solidFill>
              <a:effectLst/>
              <a:uLnTx/>
              <a:uFillTx/>
              <a:latin typeface="Times New Roman" pitchFamily="18" charset="0"/>
              <a:ea typeface="宋体"/>
              <a:cs typeface="+mn-cs"/>
            </a:endParaRPr>
          </a:p>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1" i="0" u="none" strike="noStrike" kern="0" cap="none" spc="0" normalizeH="0" baseline="0" noProof="0" dirty="0">
              <a:ln>
                <a:noFill/>
              </a:ln>
              <a:solidFill>
                <a:srgbClr val="0000FF"/>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321899768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5.5.1  </a:t>
            </a:r>
            <a:r>
              <a:rPr kumimoji="1" lang="zh-CN" altLang="en-US" sz="3200" b="1" dirty="0">
                <a:latin typeface="Arial" charset="0"/>
                <a:ea typeface="宋体" charset="-122"/>
                <a:cs typeface="+mn-cs"/>
              </a:rPr>
              <a:t>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树的二叉链表</a:t>
            </a:r>
            <a:r>
              <a:rPr lang="en-US" altLang="zh-CN" sz="2800" b="1" dirty="0">
                <a:solidFill>
                  <a:srgbClr val="FF0000"/>
                </a:solidFill>
              </a:rPr>
              <a:t>---</a:t>
            </a:r>
            <a:r>
              <a:rPr lang="zh-CN" altLang="en-US" sz="2800" b="1" dirty="0">
                <a:solidFill>
                  <a:srgbClr val="FF0000"/>
                </a:solidFill>
              </a:rPr>
              <a:t>孩子兄弟表示法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065F9C08-0E09-4056-87C8-E5C289DEDD2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130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50"/>
          <p:cNvSpPr txBox="1">
            <a:spLocks noChangeArrowheads="1"/>
          </p:cNvSpPr>
          <p:nvPr/>
        </p:nvSpPr>
        <p:spPr bwMode="auto">
          <a:xfrm>
            <a:off x="3297238" y="3998912"/>
            <a:ext cx="5003800" cy="2554288"/>
          </a:xfrm>
          <a:prstGeom prst="rect">
            <a:avLst/>
          </a:prstGeom>
          <a:noFill/>
          <a:ln w="9525" cap="sq">
            <a:solidFill>
              <a:srgbClr val="336600"/>
            </a:solidFill>
            <a:miter lim="800000"/>
            <a:headEnd type="none" w="sm" len="sm"/>
            <a:tailEnd type="none" w="sm" len="sm"/>
          </a:ln>
        </p:spPr>
        <p:txBody>
          <a:bodyPr wrap="none">
            <a:spAutoFit/>
          </a:bodyPr>
          <a:lstStyle/>
          <a:p>
            <a:pPr fontAlgn="base">
              <a:lnSpc>
                <a:spcPct val="115000"/>
              </a:lnSpc>
              <a:spcBef>
                <a:spcPct val="0"/>
              </a:spcBef>
              <a:spcAft>
                <a:spcPct val="0"/>
              </a:spcAft>
            </a:pPr>
            <a:r>
              <a:rPr kumimoji="1" lang="en-US" altLang="zh-CN" sz="2800" b="1">
                <a:solidFill>
                  <a:srgbClr val="0000FF"/>
                </a:solidFill>
                <a:latin typeface="Times New Roman" pitchFamily="18" charset="0"/>
                <a:ea typeface="楷体_GB2312" pitchFamily="49" charset="-122"/>
              </a:rPr>
              <a:t>typedef struct </a:t>
            </a:r>
            <a:r>
              <a:rPr kumimoji="1" lang="en-US" altLang="zh-CN" sz="2800" b="1">
                <a:solidFill>
                  <a:srgbClr val="FF3300"/>
                </a:solidFill>
                <a:latin typeface="Times New Roman" pitchFamily="18" charset="0"/>
                <a:ea typeface="楷体_GB2312" pitchFamily="49" charset="-122"/>
              </a:rPr>
              <a:t>CSNode</a:t>
            </a:r>
            <a:r>
              <a:rPr kumimoji="1" lang="en-US" altLang="zh-CN" sz="2800" b="1">
                <a:solidFill>
                  <a:srgbClr val="0000FF"/>
                </a:solidFill>
                <a:latin typeface="Times New Roman" pitchFamily="18" charset="0"/>
                <a:ea typeface="楷体_GB2312" pitchFamily="49" charset="-122"/>
              </a:rPr>
              <a:t>{</a:t>
            </a:r>
          </a:p>
          <a:p>
            <a:pPr fontAlgn="base">
              <a:lnSpc>
                <a:spcPct val="115000"/>
              </a:lnSpc>
              <a:spcBef>
                <a:spcPct val="0"/>
              </a:spcBef>
              <a:spcAft>
                <a:spcPct val="0"/>
              </a:spcAft>
            </a:pPr>
            <a:r>
              <a:rPr kumimoji="1" lang="en-US" altLang="zh-CN" sz="2800" b="1">
                <a:solidFill>
                  <a:srgbClr val="0000FF"/>
                </a:solidFill>
                <a:latin typeface="Times New Roman" pitchFamily="18" charset="0"/>
                <a:ea typeface="楷体_GB2312" pitchFamily="49" charset="-122"/>
              </a:rPr>
              <a:t>     Elem          data;</a:t>
            </a:r>
          </a:p>
          <a:p>
            <a:pPr fontAlgn="base">
              <a:lnSpc>
                <a:spcPct val="115000"/>
              </a:lnSpc>
              <a:spcBef>
                <a:spcPct val="0"/>
              </a:spcBef>
              <a:spcAft>
                <a:spcPct val="0"/>
              </a:spcAft>
            </a:pPr>
            <a:r>
              <a:rPr kumimoji="1" lang="en-US" altLang="zh-CN" sz="2800" b="1">
                <a:solidFill>
                  <a:srgbClr val="0000FF"/>
                </a:solidFill>
                <a:latin typeface="Times New Roman" pitchFamily="18" charset="0"/>
                <a:ea typeface="楷体_GB2312" pitchFamily="49" charset="-122"/>
              </a:rPr>
              <a:t>     struct </a:t>
            </a:r>
            <a:r>
              <a:rPr kumimoji="1" lang="en-US" altLang="zh-CN" sz="2800" b="1">
                <a:solidFill>
                  <a:srgbClr val="FF3300"/>
                </a:solidFill>
                <a:latin typeface="Times New Roman" pitchFamily="18" charset="0"/>
                <a:ea typeface="楷体_GB2312" pitchFamily="49" charset="-122"/>
              </a:rPr>
              <a:t>CSNode</a:t>
            </a:r>
            <a:r>
              <a:rPr kumimoji="1" lang="en-US" altLang="zh-CN" sz="2800" b="1">
                <a:solidFill>
                  <a:srgbClr val="0000FF"/>
                </a:solidFill>
                <a:latin typeface="Times New Roman" pitchFamily="18" charset="0"/>
                <a:ea typeface="楷体_GB2312" pitchFamily="49" charset="-122"/>
              </a:rPr>
              <a:t>  </a:t>
            </a:r>
          </a:p>
          <a:p>
            <a:pPr fontAlgn="base">
              <a:lnSpc>
                <a:spcPct val="115000"/>
              </a:lnSpc>
              <a:spcBef>
                <a:spcPct val="0"/>
              </a:spcBef>
              <a:spcAft>
                <a:spcPct val="0"/>
              </a:spcAft>
            </a:pPr>
            <a:r>
              <a:rPr kumimoji="1" lang="en-US" altLang="zh-CN" sz="2800" b="1">
                <a:solidFill>
                  <a:srgbClr val="0000FF"/>
                </a:solidFill>
                <a:latin typeface="Times New Roman" pitchFamily="18" charset="0"/>
                <a:ea typeface="楷体_GB2312" pitchFamily="49" charset="-122"/>
              </a:rPr>
              <a:t>           *firstchild, *firstbrother;</a:t>
            </a:r>
          </a:p>
          <a:p>
            <a:pPr fontAlgn="base">
              <a:lnSpc>
                <a:spcPct val="115000"/>
              </a:lnSpc>
              <a:spcBef>
                <a:spcPct val="0"/>
              </a:spcBef>
              <a:spcAft>
                <a:spcPct val="0"/>
              </a:spcAft>
            </a:pPr>
            <a:r>
              <a:rPr kumimoji="1" lang="en-US" altLang="zh-CN" sz="2800" b="1">
                <a:solidFill>
                  <a:srgbClr val="0000FF"/>
                </a:solidFill>
                <a:latin typeface="Times New Roman" pitchFamily="18" charset="0"/>
                <a:ea typeface="楷体_GB2312" pitchFamily="49" charset="-122"/>
              </a:rPr>
              <a:t>} CSNode, *CSTree;</a:t>
            </a:r>
            <a:endParaRPr kumimoji="1" lang="en-US" altLang="zh-CN" sz="2800" b="1">
              <a:solidFill>
                <a:srgbClr val="0000FF"/>
              </a:solidFill>
              <a:latin typeface="Times New Roman" pitchFamily="18" charset="0"/>
            </a:endParaRPr>
          </a:p>
        </p:txBody>
      </p:sp>
      <p:sp>
        <p:nvSpPr>
          <p:cNvPr id="14" name="Rectangle 51"/>
          <p:cNvSpPr>
            <a:spLocks noChangeArrowheads="1"/>
          </p:cNvSpPr>
          <p:nvPr/>
        </p:nvSpPr>
        <p:spPr bwMode="auto">
          <a:xfrm>
            <a:off x="1423988" y="3292475"/>
            <a:ext cx="1792287" cy="582613"/>
          </a:xfrm>
          <a:prstGeom prst="rect">
            <a:avLst/>
          </a:prstGeom>
          <a:noFill/>
          <a:ln w="9525" cap="sq">
            <a:noFill/>
            <a:miter lim="800000"/>
            <a:headEnd type="none" w="sm" len="sm"/>
            <a:tailEnd type="none" w="sm" len="sm"/>
          </a:ln>
        </p:spPr>
        <p:txBody>
          <a:bodyPr wrap="none">
            <a:spAutoFit/>
          </a:bodyPr>
          <a:lstStyle/>
          <a:p>
            <a:pPr fontAlgn="base">
              <a:lnSpc>
                <a:spcPct val="115000"/>
              </a:lnSpc>
              <a:spcBef>
                <a:spcPct val="0"/>
              </a:spcBef>
              <a:spcAft>
                <a:spcPct val="0"/>
              </a:spcAft>
            </a:pPr>
            <a:r>
              <a:rPr kumimoji="1" lang="zh-CN" altLang="en-US" sz="2800" b="1">
                <a:solidFill>
                  <a:srgbClr val="0000FF"/>
                </a:solidFill>
                <a:latin typeface="宋体" pitchFamily="2" charset="-122"/>
              </a:rPr>
              <a:t>结点结构</a:t>
            </a:r>
            <a:r>
              <a:rPr kumimoji="1" lang="en-US" altLang="zh-CN" sz="2800" b="1">
                <a:solidFill>
                  <a:srgbClr val="0000FF"/>
                </a:solidFill>
                <a:latin typeface="宋体" pitchFamily="2" charset="-122"/>
              </a:rPr>
              <a:t>:</a:t>
            </a:r>
          </a:p>
        </p:txBody>
      </p:sp>
      <p:grpSp>
        <p:nvGrpSpPr>
          <p:cNvPr id="15" name="Group 56"/>
          <p:cNvGrpSpPr>
            <a:grpSpLocks/>
          </p:cNvGrpSpPr>
          <p:nvPr/>
        </p:nvGrpSpPr>
        <p:grpSpPr bwMode="auto">
          <a:xfrm>
            <a:off x="3505200" y="3357563"/>
            <a:ext cx="4471988" cy="528637"/>
            <a:chOff x="2208" y="1506"/>
            <a:chExt cx="2409" cy="333"/>
          </a:xfrm>
        </p:grpSpPr>
        <p:sp>
          <p:nvSpPr>
            <p:cNvPr id="16" name="Text Box 52"/>
            <p:cNvSpPr txBox="1">
              <a:spLocks noChangeArrowheads="1"/>
            </p:cNvSpPr>
            <p:nvPr/>
          </p:nvSpPr>
          <p:spPr bwMode="auto">
            <a:xfrm>
              <a:off x="2208" y="1506"/>
              <a:ext cx="2409" cy="333"/>
            </a:xfrm>
            <a:prstGeom prst="rect">
              <a:avLst/>
            </a:prstGeom>
            <a:noFill/>
            <a:ln w="9525" cap="sq">
              <a:solidFill>
                <a:srgbClr val="336600"/>
              </a:solidFill>
              <a:miter lim="800000"/>
              <a:headEnd type="none" w="sm" len="sm"/>
              <a:tailEnd type="none" w="sm" len="sm"/>
            </a:ln>
          </p:spPr>
          <p:txBody>
            <a:bodyPr>
              <a:spAutoFit/>
            </a:bodyPr>
            <a:lstStyle/>
            <a:p>
              <a:pPr fontAlgn="base">
                <a:spcBef>
                  <a:spcPct val="50000"/>
                </a:spcBef>
                <a:spcAft>
                  <a:spcPct val="0"/>
                </a:spcAft>
              </a:pPr>
              <a:r>
                <a:rPr kumimoji="1" lang="zh-CN" altLang="en-US" sz="2800" b="1">
                  <a:solidFill>
                    <a:srgbClr val="0000FF"/>
                  </a:solidFill>
                  <a:latin typeface="Times New Roman" pitchFamily="18" charset="0"/>
                </a:rPr>
                <a:t> </a:t>
              </a:r>
              <a:r>
                <a:rPr kumimoji="1" lang="en-US" altLang="zh-CN" sz="2800" b="1">
                  <a:solidFill>
                    <a:srgbClr val="0000FF"/>
                  </a:solidFill>
                  <a:latin typeface="Times New Roman" pitchFamily="18" charset="0"/>
                </a:rPr>
                <a:t>firstchild  data firstbrother</a:t>
              </a:r>
            </a:p>
          </p:txBody>
        </p:sp>
        <p:sp>
          <p:nvSpPr>
            <p:cNvPr id="17" name="Line 53"/>
            <p:cNvSpPr>
              <a:spLocks noChangeShapeType="1"/>
            </p:cNvSpPr>
            <p:nvPr/>
          </p:nvSpPr>
          <p:spPr bwMode="auto">
            <a:xfrm>
              <a:off x="3075" y="1525"/>
              <a:ext cx="0" cy="272"/>
            </a:xfrm>
            <a:prstGeom prst="line">
              <a:avLst/>
            </a:prstGeom>
            <a:noFill/>
            <a:ln w="12700" cap="rnd">
              <a:solidFill>
                <a:srgbClr val="336600"/>
              </a:solidFill>
              <a:round/>
              <a:headEnd/>
              <a:tailEnd/>
            </a:ln>
          </p:spPr>
          <p:txBody>
            <a:bodyPr>
              <a:spAutoFit/>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9" name="Line 55"/>
            <p:cNvSpPr>
              <a:spLocks noChangeShapeType="1"/>
            </p:cNvSpPr>
            <p:nvPr/>
          </p:nvSpPr>
          <p:spPr bwMode="auto">
            <a:xfrm>
              <a:off x="3574" y="1525"/>
              <a:ext cx="0" cy="272"/>
            </a:xfrm>
            <a:prstGeom prst="line">
              <a:avLst/>
            </a:prstGeom>
            <a:noFill/>
            <a:ln w="12700" cap="rnd">
              <a:solidFill>
                <a:srgbClr val="336600"/>
              </a:solidFill>
              <a:round/>
              <a:headEnd/>
              <a:tailEnd/>
            </a:ln>
          </p:spPr>
          <p:txBody>
            <a:bodyPr>
              <a:spAutoFit/>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sp>
        <p:nvSpPr>
          <p:cNvPr id="20" name="Text Box 233"/>
          <p:cNvSpPr txBox="1">
            <a:spLocks noChangeArrowheads="1"/>
          </p:cNvSpPr>
          <p:nvPr/>
        </p:nvSpPr>
        <p:spPr bwMode="auto">
          <a:xfrm>
            <a:off x="573087" y="1752600"/>
            <a:ext cx="8266113" cy="1016817"/>
          </a:xfrm>
          <a:prstGeom prst="rect">
            <a:avLst/>
          </a:prstGeom>
          <a:noFill/>
          <a:ln w="12700" cap="rnd">
            <a:solidFill>
              <a:srgbClr val="04617B"/>
            </a:solidFill>
            <a:miter lim="800000"/>
            <a:headEnd/>
            <a:tailEnd/>
          </a:ln>
        </p:spPr>
        <p:txBody>
          <a:bodyPr>
            <a:spAutoFit/>
          </a:bodyPr>
          <a:lstStyle/>
          <a:p>
            <a:pPr marL="0" marR="0" lvl="0" indent="0" defTabSz="914400" eaLnBrk="1" fontAlgn="base" latinLnBrk="0" hangingPunct="1">
              <a:lnSpc>
                <a:spcPct val="135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用二叉链表作为树的存贮结构。链表的两个指针域分别指向该结点的</a:t>
            </a:r>
            <a:r>
              <a:rPr kumimoji="1" lang="zh-CN" altLang="en-US" sz="2400" b="1" i="0" u="none" strike="noStrike" kern="0" cap="none" spc="0" normalizeH="0" baseline="0" noProof="0">
                <a:ln>
                  <a:noFill/>
                </a:ln>
                <a:solidFill>
                  <a:srgbClr val="FF3300"/>
                </a:solidFill>
                <a:effectLst/>
                <a:uLnTx/>
                <a:uFillTx/>
                <a:latin typeface="宋体" pitchFamily="2" charset="-122"/>
              </a:rPr>
              <a:t>第一个孩子结点</a:t>
            </a:r>
            <a:r>
              <a:rPr kumimoji="1" lang="zh-CN" altLang="en-US" sz="2400" b="1" i="0" u="none" strike="noStrike" kern="0" cap="none" spc="0" normalizeH="0" baseline="0" noProof="0">
                <a:ln>
                  <a:noFill/>
                </a:ln>
                <a:solidFill>
                  <a:srgbClr val="0000FF"/>
                </a:solidFill>
                <a:effectLst/>
                <a:uLnTx/>
                <a:uFillTx/>
                <a:latin typeface="宋体" pitchFamily="2" charset="-122"/>
              </a:rPr>
              <a:t>和</a:t>
            </a:r>
            <a:r>
              <a:rPr kumimoji="1" lang="zh-CN" altLang="en-US" sz="2400" b="1" i="0" u="none" strike="noStrike" kern="0" cap="none" spc="0" normalizeH="0" baseline="0" noProof="0">
                <a:ln>
                  <a:noFill/>
                </a:ln>
                <a:solidFill>
                  <a:srgbClr val="FF3300"/>
                </a:solidFill>
                <a:effectLst/>
                <a:uLnTx/>
                <a:uFillTx/>
                <a:latin typeface="宋体" pitchFamily="2" charset="-122"/>
              </a:rPr>
              <a:t>右边下一个兄弟结点</a:t>
            </a:r>
            <a:r>
              <a:rPr kumimoji="1" lang="zh-CN" altLang="en-US" sz="2400" b="1" i="0" u="none" strike="noStrike" kern="0" cap="none" spc="0" normalizeH="0" baseline="0" noProof="0">
                <a:ln>
                  <a:noFill/>
                </a:ln>
                <a:solidFill>
                  <a:srgbClr val="0000FF"/>
                </a:solidFill>
                <a:effectLst/>
                <a:uLnTx/>
                <a:uFillTx/>
                <a:latin typeface="宋体" pitchFamily="2" charset="-122"/>
              </a:rPr>
              <a:t>。</a:t>
            </a:r>
          </a:p>
        </p:txBody>
      </p:sp>
    </p:spTree>
    <p:extLst>
      <p:ext uri="{BB962C8B-B14F-4D97-AF65-F5344CB8AC3E}">
        <p14:creationId xmlns:p14="http://schemas.microsoft.com/office/powerpoint/2010/main" val="3604916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P spid="14" grpId="0"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5.5.1  </a:t>
            </a:r>
            <a:r>
              <a:rPr kumimoji="1" lang="zh-CN" altLang="en-US" sz="3200" b="1" dirty="0">
                <a:latin typeface="Arial" charset="0"/>
                <a:ea typeface="宋体" charset="-122"/>
                <a:cs typeface="+mn-cs"/>
              </a:rPr>
              <a:t>树的存储结构</a:t>
            </a:r>
          </a:p>
        </p:txBody>
      </p:sp>
      <p:sp>
        <p:nvSpPr>
          <p:cNvPr id="3" name="内容占位符 2"/>
          <p:cNvSpPr>
            <a:spLocks noGrp="1"/>
          </p:cNvSpPr>
          <p:nvPr>
            <p:ph idx="1"/>
          </p:nvPr>
        </p:nvSpPr>
        <p:spPr>
          <a:xfrm>
            <a:off x="457200" y="1066800"/>
            <a:ext cx="8229600" cy="5105400"/>
          </a:xfrm>
        </p:spPr>
        <p:txBody>
          <a:bodyPr>
            <a:normAutofit/>
          </a:bodyPr>
          <a:lstStyle/>
          <a:p>
            <a:pPr>
              <a:lnSpc>
                <a:spcPts val="3600"/>
              </a:lnSpc>
            </a:pPr>
            <a:r>
              <a:rPr lang="zh-CN" altLang="en-US" sz="2800" b="1" dirty="0">
                <a:solidFill>
                  <a:srgbClr val="FF0000"/>
                </a:solidFill>
              </a:rPr>
              <a:t>树的二叉链表</a:t>
            </a:r>
            <a:r>
              <a:rPr lang="en-US" altLang="zh-CN" sz="2800" b="1" dirty="0">
                <a:solidFill>
                  <a:srgbClr val="FF0000"/>
                </a:solidFill>
              </a:rPr>
              <a:t>---</a:t>
            </a:r>
            <a:r>
              <a:rPr lang="zh-CN" altLang="en-US" sz="2800" b="1" dirty="0">
                <a:solidFill>
                  <a:srgbClr val="FF0000"/>
                </a:solidFill>
              </a:rPr>
              <a:t>孩子兄弟表示法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078015D5-E218-4F4E-961A-827CD1CBD33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131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13" name="Group 237"/>
          <p:cNvGrpSpPr>
            <a:grpSpLocks/>
          </p:cNvGrpSpPr>
          <p:nvPr/>
        </p:nvGrpSpPr>
        <p:grpSpPr bwMode="auto">
          <a:xfrm>
            <a:off x="2932113" y="2327275"/>
            <a:ext cx="6319837" cy="4537075"/>
            <a:chOff x="2067" y="1268"/>
            <a:chExt cx="3981" cy="2858"/>
          </a:xfrm>
        </p:grpSpPr>
        <p:grpSp>
          <p:nvGrpSpPr>
            <p:cNvPr id="14" name="Group 42"/>
            <p:cNvGrpSpPr>
              <a:grpSpLocks/>
            </p:cNvGrpSpPr>
            <p:nvPr/>
          </p:nvGrpSpPr>
          <p:grpSpPr bwMode="auto">
            <a:xfrm>
              <a:off x="5136" y="1268"/>
              <a:ext cx="624" cy="288"/>
              <a:chOff x="3840" y="2688"/>
              <a:chExt cx="816" cy="288"/>
            </a:xfrm>
          </p:grpSpPr>
          <p:grpSp>
            <p:nvGrpSpPr>
              <p:cNvPr id="85" name="Group 43"/>
              <p:cNvGrpSpPr>
                <a:grpSpLocks/>
              </p:cNvGrpSpPr>
              <p:nvPr/>
            </p:nvGrpSpPr>
            <p:grpSpPr bwMode="auto">
              <a:xfrm>
                <a:off x="3888" y="2736"/>
                <a:ext cx="676" cy="218"/>
                <a:chOff x="3552" y="2160"/>
                <a:chExt cx="768" cy="192"/>
              </a:xfrm>
            </p:grpSpPr>
            <p:sp>
              <p:nvSpPr>
                <p:cNvPr id="87" name="Rectangle 44"/>
                <p:cNvSpPr>
                  <a:spLocks noChangeArrowheads="1"/>
                </p:cNvSpPr>
                <p:nvPr/>
              </p:nvSpPr>
              <p:spPr bwMode="auto">
                <a:xfrm>
                  <a:off x="3552" y="2160"/>
                  <a:ext cx="768" cy="192"/>
                </a:xfrm>
                <a:prstGeom prst="rect">
                  <a:avLst/>
                </a:prstGeom>
                <a:solidFill>
                  <a:srgbClr val="99CCFF"/>
                </a:solidFill>
                <a:ln w="12700" cap="rnd">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88" name="Line 45"/>
                <p:cNvSpPr>
                  <a:spLocks noChangeShapeType="1"/>
                </p:cNvSpPr>
                <p:nvPr/>
              </p:nvSpPr>
              <p:spPr bwMode="auto">
                <a:xfrm>
                  <a:off x="3792"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9" name="Line 46"/>
                <p:cNvSpPr>
                  <a:spLocks noChangeShapeType="1"/>
                </p:cNvSpPr>
                <p:nvPr/>
              </p:nvSpPr>
              <p:spPr bwMode="auto">
                <a:xfrm>
                  <a:off x="4080"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86" name="Text Box 47"/>
              <p:cNvSpPr txBox="1">
                <a:spLocks noChangeArrowheads="1"/>
              </p:cNvSpPr>
              <p:nvPr/>
            </p:nvSpPr>
            <p:spPr bwMode="auto">
              <a:xfrm>
                <a:off x="3840" y="2688"/>
                <a:ext cx="816"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33CC"/>
                    </a:solidFill>
                    <a:effectLst/>
                    <a:uLnTx/>
                    <a:uFillTx/>
                    <a:latin typeface="宋体" pitchFamily="2" charset="-122"/>
                  </a:rPr>
                  <a:t>A</a:t>
                </a:r>
              </a:p>
            </p:txBody>
          </p:sp>
        </p:grpSp>
        <p:grpSp>
          <p:nvGrpSpPr>
            <p:cNvPr id="15" name="Group 48"/>
            <p:cNvGrpSpPr>
              <a:grpSpLocks/>
            </p:cNvGrpSpPr>
            <p:nvPr/>
          </p:nvGrpSpPr>
          <p:grpSpPr bwMode="auto">
            <a:xfrm>
              <a:off x="4073" y="3484"/>
              <a:ext cx="624" cy="288"/>
              <a:chOff x="3840" y="2688"/>
              <a:chExt cx="816" cy="288"/>
            </a:xfrm>
          </p:grpSpPr>
          <p:grpSp>
            <p:nvGrpSpPr>
              <p:cNvPr id="80" name="Group 49"/>
              <p:cNvGrpSpPr>
                <a:grpSpLocks/>
              </p:cNvGrpSpPr>
              <p:nvPr/>
            </p:nvGrpSpPr>
            <p:grpSpPr bwMode="auto">
              <a:xfrm>
                <a:off x="3888" y="2736"/>
                <a:ext cx="676" cy="218"/>
                <a:chOff x="3552" y="2160"/>
                <a:chExt cx="768" cy="192"/>
              </a:xfrm>
            </p:grpSpPr>
            <p:sp>
              <p:nvSpPr>
                <p:cNvPr id="82" name="Rectangle 50"/>
                <p:cNvSpPr>
                  <a:spLocks noChangeArrowheads="1"/>
                </p:cNvSpPr>
                <p:nvPr/>
              </p:nvSpPr>
              <p:spPr bwMode="auto">
                <a:xfrm>
                  <a:off x="3552" y="2160"/>
                  <a:ext cx="768" cy="192"/>
                </a:xfrm>
                <a:prstGeom prst="rect">
                  <a:avLst/>
                </a:prstGeom>
                <a:solidFill>
                  <a:srgbClr val="99CCFF"/>
                </a:solidFill>
                <a:ln w="12700" cap="rnd">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83" name="Line 51"/>
                <p:cNvSpPr>
                  <a:spLocks noChangeShapeType="1"/>
                </p:cNvSpPr>
                <p:nvPr/>
              </p:nvSpPr>
              <p:spPr bwMode="auto">
                <a:xfrm>
                  <a:off x="3792"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4" name="Line 52"/>
                <p:cNvSpPr>
                  <a:spLocks noChangeShapeType="1"/>
                </p:cNvSpPr>
                <p:nvPr/>
              </p:nvSpPr>
              <p:spPr bwMode="auto">
                <a:xfrm>
                  <a:off x="4080"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81" name="Text Box 53"/>
              <p:cNvSpPr txBox="1">
                <a:spLocks noChangeArrowheads="1"/>
              </p:cNvSpPr>
              <p:nvPr/>
            </p:nvSpPr>
            <p:spPr bwMode="auto">
              <a:xfrm>
                <a:off x="3840" y="2688"/>
                <a:ext cx="816"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33CC"/>
                    </a:solidFill>
                    <a:effectLst/>
                    <a:uLnTx/>
                    <a:uFillTx/>
                    <a:latin typeface="宋体" pitchFamily="2" charset="-122"/>
                  </a:rPr>
                  <a:t>I</a:t>
                </a:r>
              </a:p>
            </p:txBody>
          </p:sp>
        </p:grpSp>
        <p:grpSp>
          <p:nvGrpSpPr>
            <p:cNvPr id="16" name="Group 54"/>
            <p:cNvGrpSpPr>
              <a:grpSpLocks/>
            </p:cNvGrpSpPr>
            <p:nvPr/>
          </p:nvGrpSpPr>
          <p:grpSpPr bwMode="auto">
            <a:xfrm>
              <a:off x="3696" y="3092"/>
              <a:ext cx="624" cy="288"/>
              <a:chOff x="3840" y="2688"/>
              <a:chExt cx="816" cy="288"/>
            </a:xfrm>
          </p:grpSpPr>
          <p:grpSp>
            <p:nvGrpSpPr>
              <p:cNvPr id="75" name="Group 55"/>
              <p:cNvGrpSpPr>
                <a:grpSpLocks/>
              </p:cNvGrpSpPr>
              <p:nvPr/>
            </p:nvGrpSpPr>
            <p:grpSpPr bwMode="auto">
              <a:xfrm>
                <a:off x="3888" y="2736"/>
                <a:ext cx="676" cy="218"/>
                <a:chOff x="3552" y="2160"/>
                <a:chExt cx="768" cy="192"/>
              </a:xfrm>
            </p:grpSpPr>
            <p:sp>
              <p:nvSpPr>
                <p:cNvPr id="77" name="Rectangle 56"/>
                <p:cNvSpPr>
                  <a:spLocks noChangeArrowheads="1"/>
                </p:cNvSpPr>
                <p:nvPr/>
              </p:nvSpPr>
              <p:spPr bwMode="auto">
                <a:xfrm>
                  <a:off x="3552" y="2160"/>
                  <a:ext cx="768" cy="192"/>
                </a:xfrm>
                <a:prstGeom prst="rect">
                  <a:avLst/>
                </a:prstGeom>
                <a:solidFill>
                  <a:srgbClr val="99CCFF"/>
                </a:solidFill>
                <a:ln w="12700" cap="rnd">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8" name="Line 57"/>
                <p:cNvSpPr>
                  <a:spLocks noChangeShapeType="1"/>
                </p:cNvSpPr>
                <p:nvPr/>
              </p:nvSpPr>
              <p:spPr bwMode="auto">
                <a:xfrm>
                  <a:off x="3792"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9" name="Line 58"/>
                <p:cNvSpPr>
                  <a:spLocks noChangeShapeType="1"/>
                </p:cNvSpPr>
                <p:nvPr/>
              </p:nvSpPr>
              <p:spPr bwMode="auto">
                <a:xfrm>
                  <a:off x="4080"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76" name="Text Box 59"/>
              <p:cNvSpPr txBox="1">
                <a:spLocks noChangeArrowheads="1"/>
              </p:cNvSpPr>
              <p:nvPr/>
            </p:nvSpPr>
            <p:spPr bwMode="auto">
              <a:xfrm>
                <a:off x="3840" y="2688"/>
                <a:ext cx="816"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33CC"/>
                    </a:solidFill>
                    <a:effectLst/>
                    <a:uLnTx/>
                    <a:uFillTx/>
                    <a:latin typeface="宋体" pitchFamily="2" charset="-122"/>
                  </a:rPr>
                  <a:t>H</a:t>
                </a:r>
              </a:p>
            </p:txBody>
          </p:sp>
        </p:grpSp>
        <p:grpSp>
          <p:nvGrpSpPr>
            <p:cNvPr id="17" name="Group 60"/>
            <p:cNvGrpSpPr>
              <a:grpSpLocks/>
            </p:cNvGrpSpPr>
            <p:nvPr/>
          </p:nvGrpSpPr>
          <p:grpSpPr bwMode="auto">
            <a:xfrm>
              <a:off x="3264" y="2708"/>
              <a:ext cx="624" cy="288"/>
              <a:chOff x="3840" y="2688"/>
              <a:chExt cx="816" cy="288"/>
            </a:xfrm>
          </p:grpSpPr>
          <p:grpSp>
            <p:nvGrpSpPr>
              <p:cNvPr id="70" name="Group 61"/>
              <p:cNvGrpSpPr>
                <a:grpSpLocks/>
              </p:cNvGrpSpPr>
              <p:nvPr/>
            </p:nvGrpSpPr>
            <p:grpSpPr bwMode="auto">
              <a:xfrm>
                <a:off x="3888" y="2736"/>
                <a:ext cx="676" cy="218"/>
                <a:chOff x="3552" y="2160"/>
                <a:chExt cx="768" cy="192"/>
              </a:xfrm>
            </p:grpSpPr>
            <p:sp>
              <p:nvSpPr>
                <p:cNvPr id="72" name="Rectangle 62"/>
                <p:cNvSpPr>
                  <a:spLocks noChangeArrowheads="1"/>
                </p:cNvSpPr>
                <p:nvPr/>
              </p:nvSpPr>
              <p:spPr bwMode="auto">
                <a:xfrm>
                  <a:off x="3552" y="2160"/>
                  <a:ext cx="768" cy="192"/>
                </a:xfrm>
                <a:prstGeom prst="rect">
                  <a:avLst/>
                </a:prstGeom>
                <a:solidFill>
                  <a:srgbClr val="99CCFF"/>
                </a:solidFill>
                <a:ln w="12700" cap="rnd">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3" name="Line 63"/>
                <p:cNvSpPr>
                  <a:spLocks noChangeShapeType="1"/>
                </p:cNvSpPr>
                <p:nvPr/>
              </p:nvSpPr>
              <p:spPr bwMode="auto">
                <a:xfrm>
                  <a:off x="3792"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4" name="Line 64"/>
                <p:cNvSpPr>
                  <a:spLocks noChangeShapeType="1"/>
                </p:cNvSpPr>
                <p:nvPr/>
              </p:nvSpPr>
              <p:spPr bwMode="auto">
                <a:xfrm>
                  <a:off x="4080"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71" name="Text Box 65"/>
              <p:cNvSpPr txBox="1">
                <a:spLocks noChangeArrowheads="1"/>
              </p:cNvSpPr>
              <p:nvPr/>
            </p:nvSpPr>
            <p:spPr bwMode="auto">
              <a:xfrm>
                <a:off x="3840" y="2688"/>
                <a:ext cx="816"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33CC"/>
                    </a:solidFill>
                    <a:effectLst/>
                    <a:uLnTx/>
                    <a:uFillTx/>
                    <a:latin typeface="宋体" pitchFamily="2" charset="-122"/>
                  </a:rPr>
                  <a:t>G</a:t>
                </a:r>
              </a:p>
            </p:txBody>
          </p:sp>
        </p:grpSp>
        <p:grpSp>
          <p:nvGrpSpPr>
            <p:cNvPr id="19" name="Group 66"/>
            <p:cNvGrpSpPr>
              <a:grpSpLocks/>
            </p:cNvGrpSpPr>
            <p:nvPr/>
          </p:nvGrpSpPr>
          <p:grpSpPr bwMode="auto">
            <a:xfrm>
              <a:off x="4254" y="2260"/>
              <a:ext cx="624" cy="288"/>
              <a:chOff x="3840" y="2688"/>
              <a:chExt cx="816" cy="288"/>
            </a:xfrm>
          </p:grpSpPr>
          <p:grpSp>
            <p:nvGrpSpPr>
              <p:cNvPr id="65" name="Group 67"/>
              <p:cNvGrpSpPr>
                <a:grpSpLocks/>
              </p:cNvGrpSpPr>
              <p:nvPr/>
            </p:nvGrpSpPr>
            <p:grpSpPr bwMode="auto">
              <a:xfrm>
                <a:off x="3888" y="2736"/>
                <a:ext cx="676" cy="218"/>
                <a:chOff x="3552" y="2160"/>
                <a:chExt cx="768" cy="192"/>
              </a:xfrm>
            </p:grpSpPr>
            <p:sp>
              <p:nvSpPr>
                <p:cNvPr id="67" name="Rectangle 68"/>
                <p:cNvSpPr>
                  <a:spLocks noChangeArrowheads="1"/>
                </p:cNvSpPr>
                <p:nvPr/>
              </p:nvSpPr>
              <p:spPr bwMode="auto">
                <a:xfrm>
                  <a:off x="3552" y="2160"/>
                  <a:ext cx="768" cy="192"/>
                </a:xfrm>
                <a:prstGeom prst="rect">
                  <a:avLst/>
                </a:prstGeom>
                <a:solidFill>
                  <a:srgbClr val="99CCFF"/>
                </a:solidFill>
                <a:ln w="12700" cap="rnd">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8" name="Line 69"/>
                <p:cNvSpPr>
                  <a:spLocks noChangeShapeType="1"/>
                </p:cNvSpPr>
                <p:nvPr/>
              </p:nvSpPr>
              <p:spPr bwMode="auto">
                <a:xfrm>
                  <a:off x="3792"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9" name="Line 70"/>
                <p:cNvSpPr>
                  <a:spLocks noChangeShapeType="1"/>
                </p:cNvSpPr>
                <p:nvPr/>
              </p:nvSpPr>
              <p:spPr bwMode="auto">
                <a:xfrm>
                  <a:off x="4080"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66" name="Text Box 71"/>
              <p:cNvSpPr txBox="1">
                <a:spLocks noChangeArrowheads="1"/>
              </p:cNvSpPr>
              <p:nvPr/>
            </p:nvSpPr>
            <p:spPr bwMode="auto">
              <a:xfrm>
                <a:off x="3840" y="2688"/>
                <a:ext cx="816"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33CC"/>
                    </a:solidFill>
                    <a:effectLst/>
                    <a:uLnTx/>
                    <a:uFillTx/>
                    <a:latin typeface="宋体" pitchFamily="2" charset="-122"/>
                  </a:rPr>
                  <a:t>F</a:t>
                </a:r>
              </a:p>
            </p:txBody>
          </p:sp>
        </p:grpSp>
        <p:grpSp>
          <p:nvGrpSpPr>
            <p:cNvPr id="20" name="Group 72"/>
            <p:cNvGrpSpPr>
              <a:grpSpLocks/>
            </p:cNvGrpSpPr>
            <p:nvPr/>
          </p:nvGrpSpPr>
          <p:grpSpPr bwMode="auto">
            <a:xfrm>
              <a:off x="3696" y="2276"/>
              <a:ext cx="624" cy="288"/>
              <a:chOff x="3840" y="2688"/>
              <a:chExt cx="816" cy="288"/>
            </a:xfrm>
          </p:grpSpPr>
          <p:grpSp>
            <p:nvGrpSpPr>
              <p:cNvPr id="60" name="Group 73"/>
              <p:cNvGrpSpPr>
                <a:grpSpLocks/>
              </p:cNvGrpSpPr>
              <p:nvPr/>
            </p:nvGrpSpPr>
            <p:grpSpPr bwMode="auto">
              <a:xfrm>
                <a:off x="3888" y="2736"/>
                <a:ext cx="676" cy="218"/>
                <a:chOff x="3552" y="2160"/>
                <a:chExt cx="768" cy="192"/>
              </a:xfrm>
            </p:grpSpPr>
            <p:sp>
              <p:nvSpPr>
                <p:cNvPr id="62" name="Rectangle 74"/>
                <p:cNvSpPr>
                  <a:spLocks noChangeArrowheads="1"/>
                </p:cNvSpPr>
                <p:nvPr/>
              </p:nvSpPr>
              <p:spPr bwMode="auto">
                <a:xfrm>
                  <a:off x="3552" y="2160"/>
                  <a:ext cx="768" cy="192"/>
                </a:xfrm>
                <a:prstGeom prst="rect">
                  <a:avLst/>
                </a:prstGeom>
                <a:solidFill>
                  <a:srgbClr val="99CCFF"/>
                </a:solidFill>
                <a:ln w="12700" cap="rnd">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63" name="Line 75"/>
                <p:cNvSpPr>
                  <a:spLocks noChangeShapeType="1"/>
                </p:cNvSpPr>
                <p:nvPr/>
              </p:nvSpPr>
              <p:spPr bwMode="auto">
                <a:xfrm>
                  <a:off x="3792"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4" name="Line 76"/>
                <p:cNvSpPr>
                  <a:spLocks noChangeShapeType="1"/>
                </p:cNvSpPr>
                <p:nvPr/>
              </p:nvSpPr>
              <p:spPr bwMode="auto">
                <a:xfrm>
                  <a:off x="4080"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61" name="Text Box 77"/>
              <p:cNvSpPr txBox="1">
                <a:spLocks noChangeArrowheads="1"/>
              </p:cNvSpPr>
              <p:nvPr/>
            </p:nvSpPr>
            <p:spPr bwMode="auto">
              <a:xfrm>
                <a:off x="3840" y="2688"/>
                <a:ext cx="816"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33CC"/>
                    </a:solidFill>
                    <a:effectLst/>
                    <a:uLnTx/>
                    <a:uFillTx/>
                    <a:latin typeface="宋体" pitchFamily="2" charset="-122"/>
                  </a:rPr>
                  <a:t>E</a:t>
                </a:r>
              </a:p>
            </p:txBody>
          </p:sp>
        </p:grpSp>
        <p:grpSp>
          <p:nvGrpSpPr>
            <p:cNvPr id="21" name="Group 78"/>
            <p:cNvGrpSpPr>
              <a:grpSpLocks/>
            </p:cNvGrpSpPr>
            <p:nvPr/>
          </p:nvGrpSpPr>
          <p:grpSpPr bwMode="auto">
            <a:xfrm>
              <a:off x="4560" y="1940"/>
              <a:ext cx="624" cy="288"/>
              <a:chOff x="3840" y="2688"/>
              <a:chExt cx="816" cy="288"/>
            </a:xfrm>
          </p:grpSpPr>
          <p:grpSp>
            <p:nvGrpSpPr>
              <p:cNvPr id="55" name="Group 79"/>
              <p:cNvGrpSpPr>
                <a:grpSpLocks/>
              </p:cNvGrpSpPr>
              <p:nvPr/>
            </p:nvGrpSpPr>
            <p:grpSpPr bwMode="auto">
              <a:xfrm>
                <a:off x="3888" y="2736"/>
                <a:ext cx="676" cy="218"/>
                <a:chOff x="3552" y="2160"/>
                <a:chExt cx="768" cy="192"/>
              </a:xfrm>
            </p:grpSpPr>
            <p:sp>
              <p:nvSpPr>
                <p:cNvPr id="57" name="Rectangle 80"/>
                <p:cNvSpPr>
                  <a:spLocks noChangeArrowheads="1"/>
                </p:cNvSpPr>
                <p:nvPr/>
              </p:nvSpPr>
              <p:spPr bwMode="auto">
                <a:xfrm>
                  <a:off x="3552" y="2160"/>
                  <a:ext cx="768" cy="192"/>
                </a:xfrm>
                <a:prstGeom prst="rect">
                  <a:avLst/>
                </a:prstGeom>
                <a:solidFill>
                  <a:srgbClr val="99CCFF"/>
                </a:solidFill>
                <a:ln w="12700" cap="rnd">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8" name="Line 81"/>
                <p:cNvSpPr>
                  <a:spLocks noChangeShapeType="1"/>
                </p:cNvSpPr>
                <p:nvPr/>
              </p:nvSpPr>
              <p:spPr bwMode="auto">
                <a:xfrm>
                  <a:off x="3792"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9" name="Line 82"/>
                <p:cNvSpPr>
                  <a:spLocks noChangeShapeType="1"/>
                </p:cNvSpPr>
                <p:nvPr/>
              </p:nvSpPr>
              <p:spPr bwMode="auto">
                <a:xfrm>
                  <a:off x="4080"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6" name="Text Box 83"/>
              <p:cNvSpPr txBox="1">
                <a:spLocks noChangeArrowheads="1"/>
              </p:cNvSpPr>
              <p:nvPr/>
            </p:nvSpPr>
            <p:spPr bwMode="auto">
              <a:xfrm>
                <a:off x="3840" y="2688"/>
                <a:ext cx="816"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33CC"/>
                    </a:solidFill>
                    <a:effectLst/>
                    <a:uLnTx/>
                    <a:uFillTx/>
                    <a:latin typeface="宋体" pitchFamily="2" charset="-122"/>
                  </a:rPr>
                  <a:t>C</a:t>
                </a:r>
              </a:p>
            </p:txBody>
          </p:sp>
        </p:grpSp>
        <p:grpSp>
          <p:nvGrpSpPr>
            <p:cNvPr id="22" name="Group 84"/>
            <p:cNvGrpSpPr>
              <a:grpSpLocks/>
            </p:cNvGrpSpPr>
            <p:nvPr/>
          </p:nvGrpSpPr>
          <p:grpSpPr bwMode="auto">
            <a:xfrm>
              <a:off x="3360" y="1940"/>
              <a:ext cx="624" cy="288"/>
              <a:chOff x="3840" y="2688"/>
              <a:chExt cx="816" cy="288"/>
            </a:xfrm>
          </p:grpSpPr>
          <p:grpSp>
            <p:nvGrpSpPr>
              <p:cNvPr id="50" name="Group 85"/>
              <p:cNvGrpSpPr>
                <a:grpSpLocks/>
              </p:cNvGrpSpPr>
              <p:nvPr/>
            </p:nvGrpSpPr>
            <p:grpSpPr bwMode="auto">
              <a:xfrm>
                <a:off x="3888" y="2736"/>
                <a:ext cx="676" cy="218"/>
                <a:chOff x="3552" y="2160"/>
                <a:chExt cx="768" cy="192"/>
              </a:xfrm>
            </p:grpSpPr>
            <p:sp>
              <p:nvSpPr>
                <p:cNvPr id="52" name="Rectangle 86"/>
                <p:cNvSpPr>
                  <a:spLocks noChangeArrowheads="1"/>
                </p:cNvSpPr>
                <p:nvPr/>
              </p:nvSpPr>
              <p:spPr bwMode="auto">
                <a:xfrm>
                  <a:off x="3552" y="2160"/>
                  <a:ext cx="768" cy="192"/>
                </a:xfrm>
                <a:prstGeom prst="rect">
                  <a:avLst/>
                </a:prstGeom>
                <a:solidFill>
                  <a:srgbClr val="99CCFF"/>
                </a:solidFill>
                <a:ln w="12700" cap="rnd">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3" name="Line 87"/>
                <p:cNvSpPr>
                  <a:spLocks noChangeShapeType="1"/>
                </p:cNvSpPr>
                <p:nvPr/>
              </p:nvSpPr>
              <p:spPr bwMode="auto">
                <a:xfrm>
                  <a:off x="3792"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4" name="Line 88"/>
                <p:cNvSpPr>
                  <a:spLocks noChangeShapeType="1"/>
                </p:cNvSpPr>
                <p:nvPr/>
              </p:nvSpPr>
              <p:spPr bwMode="auto">
                <a:xfrm>
                  <a:off x="4080"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1" name="Text Box 89"/>
              <p:cNvSpPr txBox="1">
                <a:spLocks noChangeArrowheads="1"/>
              </p:cNvSpPr>
              <p:nvPr/>
            </p:nvSpPr>
            <p:spPr bwMode="auto">
              <a:xfrm>
                <a:off x="3840" y="2688"/>
                <a:ext cx="816"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33CC"/>
                    </a:solidFill>
                    <a:effectLst/>
                    <a:uLnTx/>
                    <a:uFillTx/>
                    <a:latin typeface="宋体" pitchFamily="2" charset="-122"/>
                  </a:rPr>
                  <a:t>D</a:t>
                </a:r>
              </a:p>
            </p:txBody>
          </p:sp>
        </p:grpSp>
        <p:grpSp>
          <p:nvGrpSpPr>
            <p:cNvPr id="23" name="Group 90"/>
            <p:cNvGrpSpPr>
              <a:grpSpLocks/>
            </p:cNvGrpSpPr>
            <p:nvPr/>
          </p:nvGrpSpPr>
          <p:grpSpPr bwMode="auto">
            <a:xfrm>
              <a:off x="3982" y="1625"/>
              <a:ext cx="624" cy="288"/>
              <a:chOff x="3840" y="2688"/>
              <a:chExt cx="816" cy="288"/>
            </a:xfrm>
          </p:grpSpPr>
          <p:grpSp>
            <p:nvGrpSpPr>
              <p:cNvPr id="45" name="Group 91"/>
              <p:cNvGrpSpPr>
                <a:grpSpLocks/>
              </p:cNvGrpSpPr>
              <p:nvPr/>
            </p:nvGrpSpPr>
            <p:grpSpPr bwMode="auto">
              <a:xfrm>
                <a:off x="3888" y="2736"/>
                <a:ext cx="676" cy="218"/>
                <a:chOff x="3552" y="2160"/>
                <a:chExt cx="768" cy="192"/>
              </a:xfrm>
            </p:grpSpPr>
            <p:sp>
              <p:nvSpPr>
                <p:cNvPr id="47" name="Rectangle 92"/>
                <p:cNvSpPr>
                  <a:spLocks noChangeArrowheads="1"/>
                </p:cNvSpPr>
                <p:nvPr/>
              </p:nvSpPr>
              <p:spPr bwMode="auto">
                <a:xfrm>
                  <a:off x="3552" y="2160"/>
                  <a:ext cx="768" cy="192"/>
                </a:xfrm>
                <a:prstGeom prst="rect">
                  <a:avLst/>
                </a:prstGeom>
                <a:solidFill>
                  <a:srgbClr val="99CCFF"/>
                </a:solidFill>
                <a:ln w="12700" cap="rnd">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8" name="Line 93"/>
                <p:cNvSpPr>
                  <a:spLocks noChangeShapeType="1"/>
                </p:cNvSpPr>
                <p:nvPr/>
              </p:nvSpPr>
              <p:spPr bwMode="auto">
                <a:xfrm>
                  <a:off x="3792"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9" name="Line 94"/>
                <p:cNvSpPr>
                  <a:spLocks noChangeShapeType="1"/>
                </p:cNvSpPr>
                <p:nvPr/>
              </p:nvSpPr>
              <p:spPr bwMode="auto">
                <a:xfrm>
                  <a:off x="4080" y="2160"/>
                  <a:ext cx="0" cy="192"/>
                </a:xfrm>
                <a:prstGeom prst="line">
                  <a:avLst/>
                </a:prstGeom>
                <a:noFill/>
                <a:ln w="28575"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46" name="Text Box 95"/>
              <p:cNvSpPr txBox="1">
                <a:spLocks noChangeArrowheads="1"/>
              </p:cNvSpPr>
              <p:nvPr/>
            </p:nvSpPr>
            <p:spPr bwMode="auto">
              <a:xfrm>
                <a:off x="3840" y="2688"/>
                <a:ext cx="816"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33CC"/>
                    </a:solidFill>
                    <a:effectLst/>
                    <a:uLnTx/>
                    <a:uFillTx/>
                    <a:latin typeface="宋体" pitchFamily="2" charset="-122"/>
                  </a:rPr>
                  <a:t>B</a:t>
                </a:r>
              </a:p>
            </p:txBody>
          </p:sp>
        </p:grpSp>
        <p:sp>
          <p:nvSpPr>
            <p:cNvPr id="24" name="Line 96"/>
            <p:cNvSpPr>
              <a:spLocks noChangeShapeType="1"/>
            </p:cNvSpPr>
            <p:nvPr/>
          </p:nvSpPr>
          <p:spPr bwMode="auto">
            <a:xfrm flipH="1">
              <a:off x="4416" y="1412"/>
              <a:ext cx="816" cy="240"/>
            </a:xfrm>
            <a:prstGeom prst="line">
              <a:avLst/>
            </a:prstGeom>
            <a:noFill/>
            <a:ln w="28575" cap="rnd">
              <a:solidFill>
                <a:srgbClr val="33339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Line 97"/>
            <p:cNvSpPr>
              <a:spLocks noChangeShapeType="1"/>
            </p:cNvSpPr>
            <p:nvPr/>
          </p:nvSpPr>
          <p:spPr bwMode="auto">
            <a:xfrm flipH="1">
              <a:off x="3648" y="1796"/>
              <a:ext cx="432" cy="192"/>
            </a:xfrm>
            <a:prstGeom prst="line">
              <a:avLst/>
            </a:prstGeom>
            <a:noFill/>
            <a:ln w="28575" cap="rnd">
              <a:solidFill>
                <a:srgbClr val="33339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Line 98"/>
            <p:cNvSpPr>
              <a:spLocks noChangeShapeType="1"/>
            </p:cNvSpPr>
            <p:nvPr/>
          </p:nvSpPr>
          <p:spPr bwMode="auto">
            <a:xfrm>
              <a:off x="4464" y="1796"/>
              <a:ext cx="240" cy="240"/>
            </a:xfrm>
            <a:prstGeom prst="line">
              <a:avLst/>
            </a:prstGeom>
            <a:noFill/>
            <a:ln w="28575" cap="rnd">
              <a:solidFill>
                <a:srgbClr val="33339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7" name="Line 99"/>
            <p:cNvSpPr>
              <a:spLocks noChangeShapeType="1"/>
            </p:cNvSpPr>
            <p:nvPr/>
          </p:nvSpPr>
          <p:spPr bwMode="auto">
            <a:xfrm>
              <a:off x="3888" y="2132"/>
              <a:ext cx="192" cy="192"/>
            </a:xfrm>
            <a:prstGeom prst="line">
              <a:avLst/>
            </a:prstGeom>
            <a:noFill/>
            <a:ln w="28575" cap="rnd">
              <a:solidFill>
                <a:srgbClr val="33339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Line 100"/>
            <p:cNvSpPr>
              <a:spLocks noChangeShapeType="1"/>
            </p:cNvSpPr>
            <p:nvPr/>
          </p:nvSpPr>
          <p:spPr bwMode="auto">
            <a:xfrm flipH="1">
              <a:off x="4560" y="2132"/>
              <a:ext cx="192" cy="192"/>
            </a:xfrm>
            <a:prstGeom prst="line">
              <a:avLst/>
            </a:prstGeom>
            <a:noFill/>
            <a:ln w="28575" cap="rnd">
              <a:solidFill>
                <a:srgbClr val="33339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Line 101"/>
            <p:cNvSpPr>
              <a:spLocks noChangeShapeType="1"/>
            </p:cNvSpPr>
            <p:nvPr/>
          </p:nvSpPr>
          <p:spPr bwMode="auto">
            <a:xfrm>
              <a:off x="3792" y="2948"/>
              <a:ext cx="192" cy="192"/>
            </a:xfrm>
            <a:prstGeom prst="line">
              <a:avLst/>
            </a:prstGeom>
            <a:noFill/>
            <a:ln w="28575" cap="rnd">
              <a:solidFill>
                <a:srgbClr val="33339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0" name="Line 102"/>
            <p:cNvSpPr>
              <a:spLocks noChangeShapeType="1"/>
            </p:cNvSpPr>
            <p:nvPr/>
          </p:nvSpPr>
          <p:spPr bwMode="auto">
            <a:xfrm>
              <a:off x="4128" y="3332"/>
              <a:ext cx="192" cy="192"/>
            </a:xfrm>
            <a:prstGeom prst="line">
              <a:avLst/>
            </a:prstGeom>
            <a:noFill/>
            <a:ln w="28575" cap="rnd">
              <a:solidFill>
                <a:srgbClr val="33339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1" name="Line 103"/>
            <p:cNvSpPr>
              <a:spLocks noChangeShapeType="1"/>
            </p:cNvSpPr>
            <p:nvPr/>
          </p:nvSpPr>
          <p:spPr bwMode="auto">
            <a:xfrm flipH="1">
              <a:off x="3600" y="2564"/>
              <a:ext cx="192" cy="192"/>
            </a:xfrm>
            <a:prstGeom prst="line">
              <a:avLst/>
            </a:prstGeom>
            <a:noFill/>
            <a:ln w="28575" cap="rnd">
              <a:solidFill>
                <a:srgbClr val="33339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2" name="Text Box 104"/>
            <p:cNvSpPr txBox="1">
              <a:spLocks noChangeArrowheads="1"/>
            </p:cNvSpPr>
            <p:nvPr/>
          </p:nvSpPr>
          <p:spPr bwMode="auto">
            <a:xfrm>
              <a:off x="2784" y="3838"/>
              <a:ext cx="3264"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rPr>
                <a:t>树的孩子兄弟表示法图示</a:t>
              </a:r>
            </a:p>
          </p:txBody>
        </p:sp>
        <p:sp>
          <p:nvSpPr>
            <p:cNvPr id="33" name="AutoShape 105"/>
            <p:cNvSpPr>
              <a:spLocks/>
            </p:cNvSpPr>
            <p:nvPr/>
          </p:nvSpPr>
          <p:spPr bwMode="auto">
            <a:xfrm>
              <a:off x="2067" y="2673"/>
              <a:ext cx="1008" cy="485"/>
            </a:xfrm>
            <a:prstGeom prst="borderCallout1">
              <a:avLst>
                <a:gd name="adj1" fmla="val 14847"/>
                <a:gd name="adj2" fmla="val 104764"/>
                <a:gd name="adj3" fmla="val -98968"/>
                <a:gd name="adj4" fmla="val 149306"/>
              </a:avLst>
            </a:prstGeom>
            <a:solidFill>
              <a:srgbClr val="009DD9">
                <a:lumMod val="20000"/>
                <a:lumOff val="80000"/>
              </a:srgbClr>
            </a:solidFill>
            <a:ln w="12700" cap="rnd">
              <a:solidFill>
                <a:srgbClr val="993300"/>
              </a:solidFill>
              <a:miter lim="800000"/>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0000FF"/>
                  </a:solidFill>
                  <a:effectLst/>
                  <a:uLnTx/>
                  <a:uFillTx/>
                  <a:latin typeface="Times New Roman" pitchFamily="18" charset="0"/>
                </a:rPr>
                <a:t>B</a:t>
              </a:r>
              <a:r>
                <a:rPr kumimoji="1" lang="zh-CN" altLang="en-US" sz="2000" b="1" i="0" u="none" strike="noStrike" kern="0" cap="none" spc="0" normalizeH="0" baseline="0" noProof="0" dirty="0">
                  <a:ln>
                    <a:noFill/>
                  </a:ln>
                  <a:solidFill>
                    <a:srgbClr val="0000FF"/>
                  </a:solidFill>
                  <a:effectLst/>
                  <a:uLnTx/>
                  <a:uFillTx/>
                  <a:latin typeface="Times New Roman" pitchFamily="18" charset="0"/>
                </a:rPr>
                <a:t>的第一个孩子结点</a:t>
              </a:r>
              <a:endParaRPr kumimoji="1" lang="zh-CN" altLang="en-US" sz="2000" b="1" i="0" u="none" strike="noStrike" kern="0" cap="none" spc="0" normalizeH="0" baseline="0" noProof="0" dirty="0">
                <a:ln>
                  <a:noFill/>
                </a:ln>
                <a:solidFill>
                  <a:srgbClr val="0000FF"/>
                </a:solidFill>
                <a:effectLst/>
                <a:uLnTx/>
                <a:uFillTx/>
                <a:latin typeface="隶书" pitchFamily="49" charset="-122"/>
                <a:ea typeface="隶书" pitchFamily="49" charset="-122"/>
              </a:endParaRPr>
            </a:p>
          </p:txBody>
        </p:sp>
        <p:sp>
          <p:nvSpPr>
            <p:cNvPr id="34" name="AutoShape 106"/>
            <p:cNvSpPr>
              <a:spLocks/>
            </p:cNvSpPr>
            <p:nvPr/>
          </p:nvSpPr>
          <p:spPr bwMode="auto">
            <a:xfrm>
              <a:off x="4965" y="3150"/>
              <a:ext cx="990" cy="581"/>
            </a:xfrm>
            <a:prstGeom prst="borderCallout1">
              <a:avLst>
                <a:gd name="adj1" fmla="val 12394"/>
                <a:gd name="adj2" fmla="val -6250"/>
                <a:gd name="adj3" fmla="val 14974"/>
                <a:gd name="adj4" fmla="val -73290"/>
              </a:avLst>
            </a:prstGeom>
            <a:solidFill>
              <a:srgbClr val="009DD9">
                <a:lumMod val="20000"/>
                <a:lumOff val="80000"/>
              </a:srgbClr>
            </a:solidFill>
            <a:ln w="12700" cap="rnd">
              <a:solidFill>
                <a:srgbClr val="993300"/>
              </a:solidFill>
              <a:miter lim="800000"/>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0000FF"/>
                  </a:solidFill>
                  <a:effectLst/>
                  <a:uLnTx/>
                  <a:uFillTx/>
                  <a:latin typeface="Times New Roman" pitchFamily="18" charset="0"/>
                </a:rPr>
                <a:t>G</a:t>
              </a:r>
              <a:r>
                <a:rPr kumimoji="1" lang="zh-CN" altLang="en-US" sz="2000" b="1" i="0" u="none" strike="noStrike" kern="0" cap="none" spc="0" normalizeH="0" baseline="0" noProof="0" dirty="0">
                  <a:ln>
                    <a:noFill/>
                  </a:ln>
                  <a:solidFill>
                    <a:srgbClr val="0000FF"/>
                  </a:solidFill>
                  <a:effectLst/>
                  <a:uLnTx/>
                  <a:uFillTx/>
                  <a:latin typeface="Times New Roman" pitchFamily="18" charset="0"/>
                </a:rPr>
                <a:t>的第一个</a:t>
              </a:r>
              <a:r>
                <a:rPr kumimoji="1" lang="zh-CN" altLang="en-US" sz="2000" b="1" i="0" u="none" strike="noStrike" kern="0" cap="none" spc="0" normalizeH="0" baseline="0" noProof="0" dirty="0">
                  <a:ln>
                    <a:noFill/>
                  </a:ln>
                  <a:solidFill>
                    <a:srgbClr val="0000FF"/>
                  </a:solidFill>
                  <a:effectLst/>
                  <a:uLnTx/>
                  <a:uFillTx/>
                  <a:latin typeface="宋体" pitchFamily="2" charset="-122"/>
                </a:rPr>
                <a:t>兄弟</a:t>
              </a:r>
              <a:r>
                <a:rPr kumimoji="1" lang="zh-CN" altLang="en-US" sz="2000" b="1" i="0" u="none" strike="noStrike" kern="0" cap="none" spc="0" normalizeH="0" baseline="0" noProof="0" dirty="0">
                  <a:ln>
                    <a:noFill/>
                  </a:ln>
                  <a:solidFill>
                    <a:srgbClr val="0000FF"/>
                  </a:solidFill>
                  <a:effectLst/>
                  <a:uLnTx/>
                  <a:uFillTx/>
                  <a:latin typeface="Times New Roman" pitchFamily="18" charset="0"/>
                </a:rPr>
                <a:t>结点</a:t>
              </a:r>
            </a:p>
          </p:txBody>
        </p:sp>
        <p:sp>
          <p:nvSpPr>
            <p:cNvPr id="35" name="Rectangle 110"/>
            <p:cNvSpPr>
              <a:spLocks noChangeArrowheads="1"/>
            </p:cNvSpPr>
            <p:nvPr/>
          </p:nvSpPr>
          <p:spPr bwMode="auto">
            <a:xfrm>
              <a:off x="3256" y="2759"/>
              <a:ext cx="243" cy="212"/>
            </a:xfrm>
            <a:prstGeom prst="rect">
              <a:avLst/>
            </a:prstGeom>
            <a:noFill/>
            <a:ln w="12700" cap="rnd">
              <a:noFill/>
              <a:miter lim="800000"/>
              <a:headEnd/>
              <a:tailEnd/>
            </a:ln>
          </p:spPr>
          <p:txBody>
            <a:bodyPr wrap="none">
              <a:spAutoFit/>
            </a:bodyPr>
            <a:lstStyle/>
            <a:p>
              <a:pPr marL="0" marR="0" lvl="0" indent="0" algn="ctr" defTabSz="914400" eaLnBrk="1" fontAlgn="base" latinLnBrk="0" hangingPunct="1">
                <a:lnSpc>
                  <a:spcPct val="100000"/>
                </a:lnSpc>
                <a:spcBef>
                  <a:spcPct val="20000"/>
                </a:spcBef>
                <a:spcAft>
                  <a:spcPct val="0"/>
                </a:spcAft>
                <a:buClr>
                  <a:srgbClr val="009DD9"/>
                </a:buClr>
                <a:buSzPct val="80000"/>
                <a:buFont typeface="Wingdings" pitchFamily="2" charset="2"/>
                <a:buNone/>
                <a:tabLst/>
                <a:defRPr/>
              </a:pPr>
              <a:r>
                <a:rPr kumimoji="1" lang="zh-CN" altLang="en-US" sz="1600" b="1" i="0" u="none" strike="noStrike" kern="0" cap="none" spc="0" normalizeH="0" baseline="0" noProof="0">
                  <a:ln>
                    <a:noFill/>
                  </a:ln>
                  <a:solidFill>
                    <a:srgbClr val="0033CC"/>
                  </a:solidFill>
                  <a:effectLst/>
                  <a:uLnTx/>
                  <a:uFillTx/>
                  <a:latin typeface="Arial" pitchFamily="34" charset="0"/>
                </a:rPr>
                <a:t>∧</a:t>
              </a:r>
            </a:p>
          </p:txBody>
        </p:sp>
        <p:sp>
          <p:nvSpPr>
            <p:cNvPr id="36" name="Rectangle 111"/>
            <p:cNvSpPr>
              <a:spLocks noChangeArrowheads="1"/>
            </p:cNvSpPr>
            <p:nvPr/>
          </p:nvSpPr>
          <p:spPr bwMode="auto">
            <a:xfrm>
              <a:off x="3360" y="1988"/>
              <a:ext cx="243" cy="212"/>
            </a:xfrm>
            <a:prstGeom prst="rect">
              <a:avLst/>
            </a:prstGeom>
            <a:noFill/>
            <a:ln w="12700" cap="rnd">
              <a:noFill/>
              <a:miter lim="800000"/>
              <a:headEnd/>
              <a:tailEnd/>
            </a:ln>
          </p:spPr>
          <p:txBody>
            <a:bodyPr wrap="none">
              <a:spAutoFit/>
            </a:bodyPr>
            <a:lstStyle/>
            <a:p>
              <a:pPr marL="0" marR="0" lvl="0" indent="0" algn="ctr" defTabSz="914400" eaLnBrk="1" fontAlgn="base" latinLnBrk="0" hangingPunct="1">
                <a:lnSpc>
                  <a:spcPct val="100000"/>
                </a:lnSpc>
                <a:spcBef>
                  <a:spcPct val="20000"/>
                </a:spcBef>
                <a:spcAft>
                  <a:spcPct val="0"/>
                </a:spcAft>
                <a:buClr>
                  <a:srgbClr val="009DD9"/>
                </a:buClr>
                <a:buSzPct val="80000"/>
                <a:buFont typeface="Wingdings" pitchFamily="2" charset="2"/>
                <a:buNone/>
                <a:tabLst/>
                <a:defRPr/>
              </a:pPr>
              <a:r>
                <a:rPr kumimoji="1" lang="zh-CN" altLang="en-US" sz="1600" b="1" i="0" u="none" strike="noStrike" kern="0" cap="none" spc="0" normalizeH="0" baseline="0" noProof="0">
                  <a:ln>
                    <a:noFill/>
                  </a:ln>
                  <a:solidFill>
                    <a:srgbClr val="0033CC"/>
                  </a:solidFill>
                  <a:effectLst/>
                  <a:uLnTx/>
                  <a:uFillTx/>
                  <a:latin typeface="Arial" pitchFamily="34" charset="0"/>
                </a:rPr>
                <a:t>∧</a:t>
              </a:r>
            </a:p>
          </p:txBody>
        </p:sp>
        <p:sp>
          <p:nvSpPr>
            <p:cNvPr id="37" name="Rectangle 112"/>
            <p:cNvSpPr>
              <a:spLocks noChangeArrowheads="1"/>
            </p:cNvSpPr>
            <p:nvPr/>
          </p:nvSpPr>
          <p:spPr bwMode="auto">
            <a:xfrm>
              <a:off x="5472" y="1316"/>
              <a:ext cx="243" cy="212"/>
            </a:xfrm>
            <a:prstGeom prst="rect">
              <a:avLst/>
            </a:prstGeom>
            <a:noFill/>
            <a:ln w="12700" cap="rnd">
              <a:noFill/>
              <a:miter lim="800000"/>
              <a:headEnd/>
              <a:tailEnd/>
            </a:ln>
          </p:spPr>
          <p:txBody>
            <a:bodyPr wrap="none">
              <a:spAutoFit/>
            </a:bodyPr>
            <a:lstStyle/>
            <a:p>
              <a:pPr marL="0" marR="0" lvl="0" indent="0" algn="ctr" defTabSz="914400" eaLnBrk="1" fontAlgn="base" latinLnBrk="0" hangingPunct="1">
                <a:lnSpc>
                  <a:spcPct val="100000"/>
                </a:lnSpc>
                <a:spcBef>
                  <a:spcPct val="20000"/>
                </a:spcBef>
                <a:spcAft>
                  <a:spcPct val="0"/>
                </a:spcAft>
                <a:buClr>
                  <a:srgbClr val="009DD9"/>
                </a:buClr>
                <a:buSzPct val="80000"/>
                <a:buFont typeface="Wingdings" pitchFamily="2" charset="2"/>
                <a:buNone/>
                <a:tabLst/>
                <a:defRPr/>
              </a:pPr>
              <a:r>
                <a:rPr kumimoji="1" lang="zh-CN" altLang="en-US" sz="1600" b="1" i="0" u="none" strike="noStrike" kern="0" cap="none" spc="0" normalizeH="0" baseline="0" noProof="0">
                  <a:ln>
                    <a:noFill/>
                  </a:ln>
                  <a:solidFill>
                    <a:srgbClr val="0033CC"/>
                  </a:solidFill>
                  <a:effectLst/>
                  <a:uLnTx/>
                  <a:uFillTx/>
                  <a:latin typeface="Arial" pitchFamily="34" charset="0"/>
                </a:rPr>
                <a:t>∧</a:t>
              </a:r>
            </a:p>
          </p:txBody>
        </p:sp>
        <p:sp>
          <p:nvSpPr>
            <p:cNvPr id="38" name="Rectangle 113"/>
            <p:cNvSpPr>
              <a:spLocks noChangeArrowheads="1"/>
            </p:cNvSpPr>
            <p:nvPr/>
          </p:nvSpPr>
          <p:spPr bwMode="auto">
            <a:xfrm>
              <a:off x="4896" y="1988"/>
              <a:ext cx="243" cy="212"/>
            </a:xfrm>
            <a:prstGeom prst="rect">
              <a:avLst/>
            </a:prstGeom>
            <a:noFill/>
            <a:ln w="12700" cap="rnd">
              <a:noFill/>
              <a:miter lim="800000"/>
              <a:headEnd/>
              <a:tailEnd/>
            </a:ln>
          </p:spPr>
          <p:txBody>
            <a:bodyPr wrap="none">
              <a:spAutoFit/>
            </a:bodyPr>
            <a:lstStyle/>
            <a:p>
              <a:pPr marL="0" marR="0" lvl="0" indent="0" algn="ctr" defTabSz="914400" eaLnBrk="1" fontAlgn="base" latinLnBrk="0" hangingPunct="1">
                <a:lnSpc>
                  <a:spcPct val="100000"/>
                </a:lnSpc>
                <a:spcBef>
                  <a:spcPct val="20000"/>
                </a:spcBef>
                <a:spcAft>
                  <a:spcPct val="0"/>
                </a:spcAft>
                <a:buClr>
                  <a:srgbClr val="009DD9"/>
                </a:buClr>
                <a:buSzPct val="80000"/>
                <a:buFont typeface="Wingdings" pitchFamily="2" charset="2"/>
                <a:buNone/>
                <a:tabLst/>
                <a:defRPr/>
              </a:pPr>
              <a:r>
                <a:rPr kumimoji="1" lang="zh-CN" altLang="en-US" sz="1600" b="1" i="0" u="none" strike="noStrike" kern="0" cap="none" spc="0" normalizeH="0" baseline="0" noProof="0">
                  <a:ln>
                    <a:noFill/>
                  </a:ln>
                  <a:solidFill>
                    <a:srgbClr val="0033CC"/>
                  </a:solidFill>
                  <a:effectLst/>
                  <a:uLnTx/>
                  <a:uFillTx/>
                  <a:latin typeface="Arial" pitchFamily="34" charset="0"/>
                </a:rPr>
                <a:t>∧</a:t>
              </a:r>
            </a:p>
          </p:txBody>
        </p:sp>
        <p:sp>
          <p:nvSpPr>
            <p:cNvPr id="39" name="Rectangle 114"/>
            <p:cNvSpPr>
              <a:spLocks noChangeArrowheads="1"/>
            </p:cNvSpPr>
            <p:nvPr/>
          </p:nvSpPr>
          <p:spPr bwMode="auto">
            <a:xfrm>
              <a:off x="4617" y="2305"/>
              <a:ext cx="243" cy="212"/>
            </a:xfrm>
            <a:prstGeom prst="rect">
              <a:avLst/>
            </a:prstGeom>
            <a:noFill/>
            <a:ln w="12700" cap="rnd">
              <a:noFill/>
              <a:miter lim="800000"/>
              <a:headEnd/>
              <a:tailEnd/>
            </a:ln>
          </p:spPr>
          <p:txBody>
            <a:bodyPr wrap="none">
              <a:spAutoFit/>
            </a:bodyPr>
            <a:lstStyle/>
            <a:p>
              <a:pPr marL="0" marR="0" lvl="0" indent="0" algn="ctr" defTabSz="914400" eaLnBrk="1" fontAlgn="base" latinLnBrk="0" hangingPunct="1">
                <a:lnSpc>
                  <a:spcPct val="100000"/>
                </a:lnSpc>
                <a:spcBef>
                  <a:spcPct val="20000"/>
                </a:spcBef>
                <a:spcAft>
                  <a:spcPct val="0"/>
                </a:spcAft>
                <a:buClr>
                  <a:srgbClr val="009DD9"/>
                </a:buClr>
                <a:buSzPct val="80000"/>
                <a:buFont typeface="Wingdings" pitchFamily="2" charset="2"/>
                <a:buNone/>
                <a:tabLst/>
                <a:defRPr/>
              </a:pPr>
              <a:r>
                <a:rPr kumimoji="1" lang="zh-CN" altLang="en-US" sz="1600" b="1" i="0" u="none" strike="noStrike" kern="0" cap="none" spc="0" normalizeH="0" baseline="0" noProof="0">
                  <a:ln>
                    <a:noFill/>
                  </a:ln>
                  <a:solidFill>
                    <a:srgbClr val="0033CC"/>
                  </a:solidFill>
                  <a:effectLst/>
                  <a:uLnTx/>
                  <a:uFillTx/>
                  <a:latin typeface="Arial" pitchFamily="34" charset="0"/>
                </a:rPr>
                <a:t>∧</a:t>
              </a:r>
            </a:p>
          </p:txBody>
        </p:sp>
        <p:sp>
          <p:nvSpPr>
            <p:cNvPr id="40" name="Rectangle 115"/>
            <p:cNvSpPr>
              <a:spLocks noChangeArrowheads="1"/>
            </p:cNvSpPr>
            <p:nvPr/>
          </p:nvSpPr>
          <p:spPr bwMode="auto">
            <a:xfrm>
              <a:off x="4272" y="2324"/>
              <a:ext cx="243" cy="212"/>
            </a:xfrm>
            <a:prstGeom prst="rect">
              <a:avLst/>
            </a:prstGeom>
            <a:noFill/>
            <a:ln w="12700" cap="rnd">
              <a:noFill/>
              <a:miter lim="800000"/>
              <a:headEnd/>
              <a:tailEnd/>
            </a:ln>
          </p:spPr>
          <p:txBody>
            <a:bodyPr wrap="none">
              <a:spAutoFit/>
            </a:bodyPr>
            <a:lstStyle/>
            <a:p>
              <a:pPr marL="0" marR="0" lvl="0" indent="0" algn="ctr" defTabSz="914400" eaLnBrk="1" fontAlgn="base" latinLnBrk="0" hangingPunct="1">
                <a:lnSpc>
                  <a:spcPct val="100000"/>
                </a:lnSpc>
                <a:spcBef>
                  <a:spcPct val="20000"/>
                </a:spcBef>
                <a:spcAft>
                  <a:spcPct val="0"/>
                </a:spcAft>
                <a:buClr>
                  <a:srgbClr val="009DD9"/>
                </a:buClr>
                <a:buSzPct val="80000"/>
                <a:buFont typeface="Wingdings" pitchFamily="2" charset="2"/>
                <a:buNone/>
                <a:tabLst/>
                <a:defRPr/>
              </a:pPr>
              <a:r>
                <a:rPr kumimoji="1" lang="zh-CN" altLang="en-US" sz="1600" b="1" i="0" u="none" strike="noStrike" kern="0" cap="none" spc="0" normalizeH="0" baseline="0" noProof="0">
                  <a:ln>
                    <a:noFill/>
                  </a:ln>
                  <a:solidFill>
                    <a:srgbClr val="0033CC"/>
                  </a:solidFill>
                  <a:effectLst/>
                  <a:uLnTx/>
                  <a:uFillTx/>
                  <a:latin typeface="Arial" pitchFamily="34" charset="0"/>
                </a:rPr>
                <a:t>∧</a:t>
              </a:r>
            </a:p>
          </p:txBody>
        </p:sp>
        <p:sp>
          <p:nvSpPr>
            <p:cNvPr id="41" name="Rectangle 116"/>
            <p:cNvSpPr>
              <a:spLocks noChangeArrowheads="1"/>
            </p:cNvSpPr>
            <p:nvPr/>
          </p:nvSpPr>
          <p:spPr bwMode="auto">
            <a:xfrm>
              <a:off x="4032" y="2324"/>
              <a:ext cx="243" cy="212"/>
            </a:xfrm>
            <a:prstGeom prst="rect">
              <a:avLst/>
            </a:prstGeom>
            <a:noFill/>
            <a:ln w="12700" cap="rnd">
              <a:noFill/>
              <a:miter lim="800000"/>
              <a:headEnd/>
              <a:tailEnd/>
            </a:ln>
          </p:spPr>
          <p:txBody>
            <a:bodyPr wrap="none">
              <a:spAutoFit/>
            </a:bodyPr>
            <a:lstStyle/>
            <a:p>
              <a:pPr marL="0" marR="0" lvl="0" indent="0" algn="ctr" defTabSz="914400" eaLnBrk="1" fontAlgn="base" latinLnBrk="0" hangingPunct="1">
                <a:lnSpc>
                  <a:spcPct val="100000"/>
                </a:lnSpc>
                <a:spcBef>
                  <a:spcPct val="20000"/>
                </a:spcBef>
                <a:spcAft>
                  <a:spcPct val="0"/>
                </a:spcAft>
                <a:buClr>
                  <a:srgbClr val="009DD9"/>
                </a:buClr>
                <a:buSzPct val="80000"/>
                <a:buFont typeface="Wingdings" pitchFamily="2" charset="2"/>
                <a:buNone/>
                <a:tabLst/>
                <a:defRPr/>
              </a:pPr>
              <a:r>
                <a:rPr kumimoji="1" lang="zh-CN" altLang="en-US" sz="1600" b="1" i="0" u="none" strike="noStrike" kern="0" cap="none" spc="0" normalizeH="0" baseline="0" noProof="0">
                  <a:ln>
                    <a:noFill/>
                  </a:ln>
                  <a:solidFill>
                    <a:srgbClr val="0033CC"/>
                  </a:solidFill>
                  <a:effectLst/>
                  <a:uLnTx/>
                  <a:uFillTx/>
                  <a:latin typeface="Arial" pitchFamily="34" charset="0"/>
                </a:rPr>
                <a:t>∧</a:t>
              </a:r>
            </a:p>
          </p:txBody>
        </p:sp>
        <p:sp>
          <p:nvSpPr>
            <p:cNvPr id="42" name="Rectangle 117"/>
            <p:cNvSpPr>
              <a:spLocks noChangeArrowheads="1"/>
            </p:cNvSpPr>
            <p:nvPr/>
          </p:nvSpPr>
          <p:spPr bwMode="auto">
            <a:xfrm>
              <a:off x="3696" y="3140"/>
              <a:ext cx="243" cy="212"/>
            </a:xfrm>
            <a:prstGeom prst="rect">
              <a:avLst/>
            </a:prstGeom>
            <a:noFill/>
            <a:ln w="12700" cap="rnd">
              <a:noFill/>
              <a:miter lim="800000"/>
              <a:headEnd/>
              <a:tailEnd/>
            </a:ln>
          </p:spPr>
          <p:txBody>
            <a:bodyPr wrap="none">
              <a:spAutoFit/>
            </a:bodyPr>
            <a:lstStyle/>
            <a:p>
              <a:pPr marL="0" marR="0" lvl="0" indent="0" algn="ctr" defTabSz="914400" eaLnBrk="1" fontAlgn="base" latinLnBrk="0" hangingPunct="1">
                <a:lnSpc>
                  <a:spcPct val="100000"/>
                </a:lnSpc>
                <a:spcBef>
                  <a:spcPct val="20000"/>
                </a:spcBef>
                <a:spcAft>
                  <a:spcPct val="0"/>
                </a:spcAft>
                <a:buClr>
                  <a:srgbClr val="009DD9"/>
                </a:buClr>
                <a:buSzPct val="80000"/>
                <a:buFont typeface="Wingdings" pitchFamily="2" charset="2"/>
                <a:buNone/>
                <a:tabLst/>
                <a:defRPr/>
              </a:pPr>
              <a:r>
                <a:rPr kumimoji="1" lang="zh-CN" altLang="en-US" sz="1600" b="1" i="0" u="none" strike="noStrike" kern="0" cap="none" spc="0" normalizeH="0" baseline="0" noProof="0">
                  <a:ln>
                    <a:noFill/>
                  </a:ln>
                  <a:solidFill>
                    <a:srgbClr val="0033CC"/>
                  </a:solidFill>
                  <a:effectLst/>
                  <a:uLnTx/>
                  <a:uFillTx/>
                  <a:latin typeface="Arial" pitchFamily="34" charset="0"/>
                </a:rPr>
                <a:t>∧</a:t>
              </a:r>
            </a:p>
          </p:txBody>
        </p:sp>
        <p:sp>
          <p:nvSpPr>
            <p:cNvPr id="43" name="Rectangle 118"/>
            <p:cNvSpPr>
              <a:spLocks noChangeArrowheads="1"/>
            </p:cNvSpPr>
            <p:nvPr/>
          </p:nvSpPr>
          <p:spPr bwMode="auto">
            <a:xfrm>
              <a:off x="4416" y="3524"/>
              <a:ext cx="243" cy="212"/>
            </a:xfrm>
            <a:prstGeom prst="rect">
              <a:avLst/>
            </a:prstGeom>
            <a:noFill/>
            <a:ln w="12700" cap="rnd">
              <a:noFill/>
              <a:miter lim="800000"/>
              <a:headEnd/>
              <a:tailEnd/>
            </a:ln>
          </p:spPr>
          <p:txBody>
            <a:bodyPr wrap="none">
              <a:spAutoFit/>
            </a:bodyPr>
            <a:lstStyle/>
            <a:p>
              <a:pPr marL="0" marR="0" lvl="0" indent="0" algn="ctr" defTabSz="914400" eaLnBrk="1" fontAlgn="base" latinLnBrk="0" hangingPunct="1">
                <a:lnSpc>
                  <a:spcPct val="100000"/>
                </a:lnSpc>
                <a:spcBef>
                  <a:spcPct val="20000"/>
                </a:spcBef>
                <a:spcAft>
                  <a:spcPct val="0"/>
                </a:spcAft>
                <a:buClr>
                  <a:srgbClr val="009DD9"/>
                </a:buClr>
                <a:buSzPct val="80000"/>
                <a:buFont typeface="Wingdings" pitchFamily="2" charset="2"/>
                <a:buNone/>
                <a:tabLst/>
                <a:defRPr/>
              </a:pPr>
              <a:r>
                <a:rPr kumimoji="1" lang="zh-CN" altLang="en-US" sz="1600" b="1" i="0" u="none" strike="noStrike" kern="0" cap="none" spc="0" normalizeH="0" baseline="0" noProof="0">
                  <a:ln>
                    <a:noFill/>
                  </a:ln>
                  <a:solidFill>
                    <a:srgbClr val="0033CC"/>
                  </a:solidFill>
                  <a:effectLst/>
                  <a:uLnTx/>
                  <a:uFillTx/>
                  <a:latin typeface="Arial" pitchFamily="34" charset="0"/>
                </a:rPr>
                <a:t>∧</a:t>
              </a:r>
            </a:p>
          </p:txBody>
        </p:sp>
        <p:sp>
          <p:nvSpPr>
            <p:cNvPr id="44" name="Rectangle 119"/>
            <p:cNvSpPr>
              <a:spLocks noChangeArrowheads="1"/>
            </p:cNvSpPr>
            <p:nvPr/>
          </p:nvSpPr>
          <p:spPr bwMode="auto">
            <a:xfrm>
              <a:off x="4080" y="3524"/>
              <a:ext cx="243" cy="212"/>
            </a:xfrm>
            <a:prstGeom prst="rect">
              <a:avLst/>
            </a:prstGeom>
            <a:noFill/>
            <a:ln w="12700" cap="rnd">
              <a:noFill/>
              <a:miter lim="800000"/>
              <a:headEnd/>
              <a:tailEnd/>
            </a:ln>
          </p:spPr>
          <p:txBody>
            <a:bodyPr wrap="none">
              <a:spAutoFit/>
            </a:bodyPr>
            <a:lstStyle/>
            <a:p>
              <a:pPr marL="0" marR="0" lvl="0" indent="0" algn="ctr" defTabSz="914400" eaLnBrk="1" fontAlgn="base" latinLnBrk="0" hangingPunct="1">
                <a:lnSpc>
                  <a:spcPct val="100000"/>
                </a:lnSpc>
                <a:spcBef>
                  <a:spcPct val="20000"/>
                </a:spcBef>
                <a:spcAft>
                  <a:spcPct val="0"/>
                </a:spcAft>
                <a:buClr>
                  <a:srgbClr val="009DD9"/>
                </a:buClr>
                <a:buSzPct val="80000"/>
                <a:buFont typeface="Wingdings" pitchFamily="2" charset="2"/>
                <a:buNone/>
                <a:tabLst/>
                <a:defRPr/>
              </a:pPr>
              <a:r>
                <a:rPr kumimoji="1" lang="zh-CN" altLang="en-US" sz="1600" b="1" i="0" u="none" strike="noStrike" kern="0" cap="none" spc="0" normalizeH="0" baseline="0" noProof="0">
                  <a:ln>
                    <a:noFill/>
                  </a:ln>
                  <a:solidFill>
                    <a:srgbClr val="0033CC"/>
                  </a:solidFill>
                  <a:effectLst/>
                  <a:uLnTx/>
                  <a:uFillTx/>
                  <a:latin typeface="Arial" pitchFamily="34" charset="0"/>
                </a:rPr>
                <a:t>∧</a:t>
              </a:r>
            </a:p>
          </p:txBody>
        </p:sp>
      </p:grpSp>
      <p:grpSp>
        <p:nvGrpSpPr>
          <p:cNvPr id="90" name="Group 194"/>
          <p:cNvGrpSpPr>
            <a:grpSpLocks/>
          </p:cNvGrpSpPr>
          <p:nvPr/>
        </p:nvGrpSpPr>
        <p:grpSpPr bwMode="auto">
          <a:xfrm>
            <a:off x="-4762" y="3382963"/>
            <a:ext cx="2651125" cy="2454275"/>
            <a:chOff x="308" y="663"/>
            <a:chExt cx="1670" cy="1546"/>
          </a:xfrm>
        </p:grpSpPr>
        <p:grpSp>
          <p:nvGrpSpPr>
            <p:cNvPr id="91" name="Group 195"/>
            <p:cNvGrpSpPr>
              <a:grpSpLocks/>
            </p:cNvGrpSpPr>
            <p:nvPr/>
          </p:nvGrpSpPr>
          <p:grpSpPr bwMode="auto">
            <a:xfrm>
              <a:off x="1082" y="663"/>
              <a:ext cx="320" cy="250"/>
              <a:chOff x="2880" y="1104"/>
              <a:chExt cx="367" cy="343"/>
            </a:xfrm>
          </p:grpSpPr>
          <p:sp>
            <p:nvSpPr>
              <p:cNvPr id="124" name="Oval 19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25" name="Text Box 19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A</a:t>
                </a:r>
              </a:p>
            </p:txBody>
          </p:sp>
        </p:grpSp>
        <p:grpSp>
          <p:nvGrpSpPr>
            <p:cNvPr id="92" name="Group 198"/>
            <p:cNvGrpSpPr>
              <a:grpSpLocks/>
            </p:cNvGrpSpPr>
            <p:nvPr/>
          </p:nvGrpSpPr>
          <p:grpSpPr bwMode="auto">
            <a:xfrm>
              <a:off x="1658" y="1335"/>
              <a:ext cx="320" cy="250"/>
              <a:chOff x="2880" y="1104"/>
              <a:chExt cx="367" cy="343"/>
            </a:xfrm>
          </p:grpSpPr>
          <p:sp>
            <p:nvSpPr>
              <p:cNvPr id="122" name="Oval 19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23" name="Text Box 200"/>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C</a:t>
                </a:r>
              </a:p>
            </p:txBody>
          </p:sp>
        </p:grpSp>
        <p:grpSp>
          <p:nvGrpSpPr>
            <p:cNvPr id="93" name="Group 201"/>
            <p:cNvGrpSpPr>
              <a:grpSpLocks/>
            </p:cNvGrpSpPr>
            <p:nvPr/>
          </p:nvGrpSpPr>
          <p:grpSpPr bwMode="auto">
            <a:xfrm>
              <a:off x="842" y="1959"/>
              <a:ext cx="320" cy="250"/>
              <a:chOff x="2880" y="1104"/>
              <a:chExt cx="367" cy="343"/>
            </a:xfrm>
          </p:grpSpPr>
          <p:sp>
            <p:nvSpPr>
              <p:cNvPr id="120" name="Oval 20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21" name="Text Box 20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H</a:t>
                </a:r>
              </a:p>
            </p:txBody>
          </p:sp>
        </p:grpSp>
        <p:grpSp>
          <p:nvGrpSpPr>
            <p:cNvPr id="94" name="Group 204"/>
            <p:cNvGrpSpPr>
              <a:grpSpLocks/>
            </p:cNvGrpSpPr>
            <p:nvPr/>
          </p:nvGrpSpPr>
          <p:grpSpPr bwMode="auto">
            <a:xfrm>
              <a:off x="458" y="1959"/>
              <a:ext cx="320" cy="250"/>
              <a:chOff x="2880" y="1104"/>
              <a:chExt cx="367" cy="343"/>
            </a:xfrm>
          </p:grpSpPr>
          <p:sp>
            <p:nvSpPr>
              <p:cNvPr id="118" name="Oval 20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19" name="Text Box 206"/>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G</a:t>
                </a:r>
              </a:p>
            </p:txBody>
          </p:sp>
        </p:grpSp>
        <p:grpSp>
          <p:nvGrpSpPr>
            <p:cNvPr id="95" name="Group 207"/>
            <p:cNvGrpSpPr>
              <a:grpSpLocks/>
            </p:cNvGrpSpPr>
            <p:nvPr/>
          </p:nvGrpSpPr>
          <p:grpSpPr bwMode="auto">
            <a:xfrm>
              <a:off x="308" y="1504"/>
              <a:ext cx="320" cy="250"/>
              <a:chOff x="2880" y="1104"/>
              <a:chExt cx="367" cy="343"/>
            </a:xfrm>
          </p:grpSpPr>
          <p:sp>
            <p:nvSpPr>
              <p:cNvPr id="116" name="Oval 20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17" name="Text Box 20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D</a:t>
                </a:r>
              </a:p>
            </p:txBody>
          </p:sp>
        </p:grpSp>
        <p:sp>
          <p:nvSpPr>
            <p:cNvPr id="96" name="Line 210"/>
            <p:cNvSpPr>
              <a:spLocks noChangeShapeType="1"/>
            </p:cNvSpPr>
            <p:nvPr/>
          </p:nvSpPr>
          <p:spPr bwMode="auto">
            <a:xfrm flipH="1">
              <a:off x="965" y="1752"/>
              <a:ext cx="2" cy="207"/>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7" name="Line 211"/>
            <p:cNvSpPr>
              <a:spLocks noChangeShapeType="1"/>
            </p:cNvSpPr>
            <p:nvPr/>
          </p:nvSpPr>
          <p:spPr bwMode="auto">
            <a:xfrm flipH="1">
              <a:off x="842" y="903"/>
              <a:ext cx="336" cy="287"/>
            </a:xfrm>
            <a:prstGeom prst="line">
              <a:avLst/>
            </a:prstGeom>
            <a:noFill/>
            <a:ln w="12700" cap="rnd">
              <a:solidFill>
                <a:srgbClr val="00008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8" name="Line 212"/>
            <p:cNvSpPr>
              <a:spLocks noChangeShapeType="1"/>
            </p:cNvSpPr>
            <p:nvPr/>
          </p:nvSpPr>
          <p:spPr bwMode="auto">
            <a:xfrm flipH="1">
              <a:off x="506" y="1334"/>
              <a:ext cx="144" cy="192"/>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9" name="Line 213"/>
            <p:cNvSpPr>
              <a:spLocks noChangeShapeType="1"/>
            </p:cNvSpPr>
            <p:nvPr/>
          </p:nvSpPr>
          <p:spPr bwMode="auto">
            <a:xfrm>
              <a:off x="794" y="1334"/>
              <a:ext cx="144" cy="192"/>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00" name="Line 214"/>
            <p:cNvSpPr>
              <a:spLocks noChangeShapeType="1"/>
            </p:cNvSpPr>
            <p:nvPr/>
          </p:nvSpPr>
          <p:spPr bwMode="auto">
            <a:xfrm>
              <a:off x="1802" y="1574"/>
              <a:ext cx="0" cy="144"/>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01" name="Line 215"/>
            <p:cNvSpPr>
              <a:spLocks noChangeShapeType="1"/>
            </p:cNvSpPr>
            <p:nvPr/>
          </p:nvSpPr>
          <p:spPr bwMode="auto">
            <a:xfrm>
              <a:off x="1274" y="903"/>
              <a:ext cx="528" cy="432"/>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02" name="Line 216"/>
            <p:cNvSpPr>
              <a:spLocks noChangeShapeType="1"/>
            </p:cNvSpPr>
            <p:nvPr/>
          </p:nvSpPr>
          <p:spPr bwMode="auto">
            <a:xfrm flipH="1">
              <a:off x="650" y="1706"/>
              <a:ext cx="247" cy="253"/>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03" name="Line 217"/>
            <p:cNvSpPr>
              <a:spLocks noChangeShapeType="1"/>
            </p:cNvSpPr>
            <p:nvPr/>
          </p:nvSpPr>
          <p:spPr bwMode="auto">
            <a:xfrm>
              <a:off x="1034" y="1719"/>
              <a:ext cx="288" cy="288"/>
            </a:xfrm>
            <a:prstGeom prst="line">
              <a:avLst/>
            </a:prstGeom>
            <a:noFill/>
            <a:ln w="12700" cap="rnd">
              <a:solidFill>
                <a:srgbClr val="372E6E"/>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104" name="Group 218"/>
            <p:cNvGrpSpPr>
              <a:grpSpLocks/>
            </p:cNvGrpSpPr>
            <p:nvPr/>
          </p:nvGrpSpPr>
          <p:grpSpPr bwMode="auto">
            <a:xfrm>
              <a:off x="1658" y="1671"/>
              <a:ext cx="320" cy="250"/>
              <a:chOff x="2880" y="1104"/>
              <a:chExt cx="367" cy="343"/>
            </a:xfrm>
          </p:grpSpPr>
          <p:sp>
            <p:nvSpPr>
              <p:cNvPr id="114" name="Oval 21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15" name="Text Box 220"/>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F</a:t>
                </a:r>
              </a:p>
            </p:txBody>
          </p:sp>
        </p:grpSp>
        <p:grpSp>
          <p:nvGrpSpPr>
            <p:cNvPr id="105" name="Group 221"/>
            <p:cNvGrpSpPr>
              <a:grpSpLocks/>
            </p:cNvGrpSpPr>
            <p:nvPr/>
          </p:nvGrpSpPr>
          <p:grpSpPr bwMode="auto">
            <a:xfrm>
              <a:off x="596" y="1143"/>
              <a:ext cx="320" cy="250"/>
              <a:chOff x="2880" y="1104"/>
              <a:chExt cx="367" cy="343"/>
            </a:xfrm>
          </p:grpSpPr>
          <p:sp>
            <p:nvSpPr>
              <p:cNvPr id="112" name="Oval 22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13" name="Text Box 22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B</a:t>
                </a:r>
              </a:p>
            </p:txBody>
          </p:sp>
        </p:grpSp>
        <p:grpSp>
          <p:nvGrpSpPr>
            <p:cNvPr id="106" name="Group 224"/>
            <p:cNvGrpSpPr>
              <a:grpSpLocks/>
            </p:cNvGrpSpPr>
            <p:nvPr/>
          </p:nvGrpSpPr>
          <p:grpSpPr bwMode="auto">
            <a:xfrm>
              <a:off x="794" y="1504"/>
              <a:ext cx="320" cy="250"/>
              <a:chOff x="2880" y="1104"/>
              <a:chExt cx="367" cy="343"/>
            </a:xfrm>
          </p:grpSpPr>
          <p:sp>
            <p:nvSpPr>
              <p:cNvPr id="110" name="Oval 22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11" name="Text Box 226"/>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E</a:t>
                </a:r>
              </a:p>
            </p:txBody>
          </p:sp>
        </p:grpSp>
        <p:grpSp>
          <p:nvGrpSpPr>
            <p:cNvPr id="107" name="Group 227"/>
            <p:cNvGrpSpPr>
              <a:grpSpLocks/>
            </p:cNvGrpSpPr>
            <p:nvPr/>
          </p:nvGrpSpPr>
          <p:grpSpPr bwMode="auto">
            <a:xfrm>
              <a:off x="1226" y="1959"/>
              <a:ext cx="320" cy="250"/>
              <a:chOff x="2880" y="1104"/>
              <a:chExt cx="367" cy="343"/>
            </a:xfrm>
          </p:grpSpPr>
          <p:sp>
            <p:nvSpPr>
              <p:cNvPr id="108" name="Oval 22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09" name="Text Box 22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I</a:t>
                </a:r>
              </a:p>
            </p:txBody>
          </p:sp>
        </p:grpSp>
      </p:grpSp>
      <p:sp>
        <p:nvSpPr>
          <p:cNvPr id="126" name="Text Box 233"/>
          <p:cNvSpPr txBox="1">
            <a:spLocks noChangeArrowheads="1"/>
          </p:cNvSpPr>
          <p:nvPr/>
        </p:nvSpPr>
        <p:spPr bwMode="auto">
          <a:xfrm>
            <a:off x="723900" y="1532585"/>
            <a:ext cx="6896100" cy="923330"/>
          </a:xfrm>
          <a:prstGeom prst="rect">
            <a:avLst/>
          </a:prstGeom>
          <a:noFill/>
          <a:ln w="12700" cap="rnd">
            <a:solidFill>
              <a:srgbClr val="04617B"/>
            </a:solidFill>
            <a:miter lim="800000"/>
            <a:headEnd/>
            <a:tailEnd/>
          </a:ln>
        </p:spPr>
        <p:txBody>
          <a:bodyPr wrap="square">
            <a:spAutoFit/>
          </a:bodyPr>
          <a:lstStyle/>
          <a:p>
            <a:pPr marL="0" marR="0" lvl="0" indent="0" defTabSz="914400" eaLnBrk="1" fontAlgn="base" latinLnBrk="0" hangingPunct="1">
              <a:lnSpc>
                <a:spcPct val="135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FF"/>
                </a:solidFill>
                <a:effectLst/>
                <a:uLnTx/>
                <a:uFillTx/>
                <a:latin typeface="宋体" pitchFamily="2" charset="-122"/>
              </a:rPr>
              <a:t>用二叉链表作为树的存贮结构。链表的两个指针域分别指向该结点的</a:t>
            </a:r>
            <a:r>
              <a:rPr kumimoji="1" lang="zh-CN" altLang="en-US" sz="2000" b="1" i="0" u="none" strike="noStrike" kern="0" cap="none" spc="0" normalizeH="0" baseline="0" noProof="0" dirty="0">
                <a:ln>
                  <a:noFill/>
                </a:ln>
                <a:solidFill>
                  <a:srgbClr val="FF3300"/>
                </a:solidFill>
                <a:effectLst/>
                <a:uLnTx/>
                <a:uFillTx/>
                <a:latin typeface="宋体" pitchFamily="2" charset="-122"/>
              </a:rPr>
              <a:t>第一个孩子结点</a:t>
            </a:r>
            <a:r>
              <a:rPr kumimoji="1" lang="zh-CN" altLang="en-US" sz="2000" b="1" i="0" u="none" strike="noStrike" kern="0" cap="none" spc="0" normalizeH="0" baseline="0" noProof="0" dirty="0">
                <a:ln>
                  <a:noFill/>
                </a:ln>
                <a:solidFill>
                  <a:srgbClr val="0000FF"/>
                </a:solidFill>
                <a:effectLst/>
                <a:uLnTx/>
                <a:uFillTx/>
                <a:latin typeface="宋体" pitchFamily="2" charset="-122"/>
              </a:rPr>
              <a:t>和</a:t>
            </a:r>
            <a:r>
              <a:rPr kumimoji="1" lang="zh-CN" altLang="en-US" sz="2000" b="1" i="0" u="none" strike="noStrike" kern="0" cap="none" spc="0" normalizeH="0" baseline="0" noProof="0" dirty="0">
                <a:ln>
                  <a:noFill/>
                </a:ln>
                <a:solidFill>
                  <a:srgbClr val="FF3300"/>
                </a:solidFill>
                <a:effectLst/>
                <a:uLnTx/>
                <a:uFillTx/>
                <a:latin typeface="宋体" pitchFamily="2" charset="-122"/>
              </a:rPr>
              <a:t>右边第一个兄弟结点</a:t>
            </a:r>
            <a:r>
              <a:rPr kumimoji="1" lang="zh-CN" altLang="en-US" sz="2000" b="1" i="0" u="none" strike="noStrike" kern="0" cap="none" spc="0" normalizeH="0" baseline="0" noProof="0" dirty="0">
                <a:ln>
                  <a:noFill/>
                </a:ln>
                <a:solidFill>
                  <a:srgbClr val="0000FF"/>
                </a:solidFill>
                <a:effectLst/>
                <a:uLnTx/>
                <a:uFillTx/>
                <a:latin typeface="宋体" pitchFamily="2" charset="-122"/>
              </a:rPr>
              <a:t>。</a:t>
            </a:r>
          </a:p>
        </p:txBody>
      </p:sp>
      <p:sp>
        <p:nvSpPr>
          <p:cNvPr id="127" name="Text Box 119"/>
          <p:cNvSpPr txBox="1">
            <a:spLocks noChangeArrowheads="1"/>
          </p:cNvSpPr>
          <p:nvPr/>
        </p:nvSpPr>
        <p:spPr bwMode="auto">
          <a:xfrm>
            <a:off x="0" y="2514600"/>
            <a:ext cx="6256338" cy="519113"/>
          </a:xfrm>
          <a:prstGeom prst="rect">
            <a:avLst/>
          </a:prstGeom>
          <a:solidFill>
            <a:srgbClr val="DEF5FA"/>
          </a:solidFill>
          <a:ln w="12700" cap="rnd" algn="ctr">
            <a:noFill/>
            <a:miter lim="800000"/>
            <a:headEnd/>
            <a:tailEnd/>
          </a:ln>
        </p:spPr>
        <p:txBody>
          <a:bodyPr wrap="none">
            <a:spAutoFit/>
          </a:bodyPr>
          <a:lstStyle/>
          <a:p>
            <a:pPr algn="ctr" eaLnBrk="0" fontAlgn="base" hangingPunct="0">
              <a:spcBef>
                <a:spcPct val="0"/>
              </a:spcBef>
              <a:spcAft>
                <a:spcPct val="0"/>
              </a:spcAft>
            </a:pPr>
            <a:r>
              <a:rPr kumimoji="1" lang="zh-CN" altLang="en-US" sz="2800" b="1">
                <a:solidFill>
                  <a:srgbClr val="FF0000"/>
                </a:solidFill>
                <a:latin typeface="Times New Roman" pitchFamily="18" charset="0"/>
              </a:rPr>
              <a:t>与二叉树的存储表示一样，但含义不同</a:t>
            </a:r>
          </a:p>
        </p:txBody>
      </p:sp>
    </p:spTree>
    <p:extLst>
      <p:ext uri="{BB962C8B-B14F-4D97-AF65-F5344CB8AC3E}">
        <p14:creationId xmlns:p14="http://schemas.microsoft.com/office/powerpoint/2010/main" val="600786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27"/>
                                        </p:tgtEl>
                                        <p:attrNameLst>
                                          <p:attrName>style.visibility</p:attrName>
                                        </p:attrNameLst>
                                      </p:cBhvr>
                                      <p:to>
                                        <p:strVal val="visible"/>
                                      </p:to>
                                    </p:set>
                                    <p:anim calcmode="lin" valueType="num">
                                      <p:cBhvr additive="base">
                                        <p:cTn id="15" dur="500" fill="hold"/>
                                        <p:tgtEl>
                                          <p:spTgt spid="127"/>
                                        </p:tgtEl>
                                        <p:attrNameLst>
                                          <p:attrName>ppt_x</p:attrName>
                                        </p:attrNameLst>
                                      </p:cBhvr>
                                      <p:tavLst>
                                        <p:tav tm="0">
                                          <p:val>
                                            <p:strVal val="#ppt_x"/>
                                          </p:val>
                                        </p:tav>
                                        <p:tav tm="100000">
                                          <p:val>
                                            <p:strVal val="#ppt_x"/>
                                          </p:val>
                                        </p:tav>
                                      </p:tavLst>
                                    </p:anim>
                                    <p:anim calcmode="lin" valueType="num">
                                      <p:cBhvr additive="base">
                                        <p:cTn id="16" dur="500" fill="hold"/>
                                        <p:tgtEl>
                                          <p:spTgt spid="1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endParaRPr kumimoji="1" lang="zh-CN" altLang="en-US" sz="3200" b="1" dirty="0">
              <a:latin typeface="Arial" charset="0"/>
              <a:ea typeface="宋体" charset="-122"/>
              <a:cs typeface="+mn-cs"/>
            </a:endParaRPr>
          </a:p>
        </p:txBody>
      </p:sp>
      <p:sp>
        <p:nvSpPr>
          <p:cNvPr id="3" name="内容占位符 2"/>
          <p:cNvSpPr>
            <a:spLocks noGrp="1"/>
          </p:cNvSpPr>
          <p:nvPr>
            <p:ph idx="1"/>
          </p:nvPr>
        </p:nvSpPr>
        <p:spPr>
          <a:xfrm>
            <a:off x="457200" y="228600"/>
            <a:ext cx="8229600" cy="5105400"/>
          </a:xfrm>
        </p:spPr>
        <p:txBody>
          <a:bodyPr>
            <a:normAutofit/>
          </a:bodyPr>
          <a:lstStyle/>
          <a:p>
            <a:pPr>
              <a:lnSpc>
                <a:spcPts val="3600"/>
              </a:lnSpc>
            </a:pPr>
            <a:r>
              <a:rPr lang="zh-CN" altLang="en-US" sz="2800" b="1" dirty="0">
                <a:solidFill>
                  <a:srgbClr val="FF0000"/>
                </a:solidFill>
              </a:rPr>
              <a:t>树的二叉链表</a:t>
            </a:r>
            <a:r>
              <a:rPr lang="en-US" altLang="zh-CN" sz="2800" b="1" dirty="0">
                <a:solidFill>
                  <a:srgbClr val="FF0000"/>
                </a:solidFill>
              </a:rPr>
              <a:t>---</a:t>
            </a:r>
            <a:r>
              <a:rPr lang="zh-CN" altLang="en-US" sz="2800" b="1" dirty="0">
                <a:solidFill>
                  <a:srgbClr val="FF0000"/>
                </a:solidFill>
              </a:rPr>
              <a:t>孩子兄弟表示法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FACA5B9D-7257-4B45-B19F-D2E6429A936A}"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132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Oval 6"/>
          <p:cNvSpPr>
            <a:spLocks noChangeArrowheads="1"/>
          </p:cNvSpPr>
          <p:nvPr/>
        </p:nvSpPr>
        <p:spPr bwMode="auto">
          <a:xfrm>
            <a:off x="971550" y="1143000"/>
            <a:ext cx="609600" cy="6096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4" name="Text Box 7"/>
          <p:cNvSpPr txBox="1">
            <a:spLocks noChangeArrowheads="1"/>
          </p:cNvSpPr>
          <p:nvPr/>
        </p:nvSpPr>
        <p:spPr bwMode="auto">
          <a:xfrm>
            <a:off x="993775" y="1066800"/>
            <a:ext cx="587375" cy="76200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4400">
                <a:solidFill>
                  <a:srgbClr val="000000"/>
                </a:solidFill>
                <a:latin typeface="Times New Roman" pitchFamily="18" charset="0"/>
              </a:rPr>
              <a:t>A</a:t>
            </a:r>
            <a:endParaRPr kumimoji="1" lang="en-US" altLang="zh-CN" sz="2400">
              <a:solidFill>
                <a:srgbClr val="000000"/>
              </a:solidFill>
              <a:latin typeface="Times New Roman" pitchFamily="18" charset="0"/>
            </a:endParaRPr>
          </a:p>
        </p:txBody>
      </p:sp>
      <p:sp>
        <p:nvSpPr>
          <p:cNvPr id="15" name="Oval 8"/>
          <p:cNvSpPr>
            <a:spLocks noChangeArrowheads="1"/>
          </p:cNvSpPr>
          <p:nvPr/>
        </p:nvSpPr>
        <p:spPr bwMode="auto">
          <a:xfrm>
            <a:off x="971550" y="2209800"/>
            <a:ext cx="609600" cy="6096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6" name="Oval 9"/>
          <p:cNvSpPr>
            <a:spLocks noChangeArrowheads="1"/>
          </p:cNvSpPr>
          <p:nvPr/>
        </p:nvSpPr>
        <p:spPr bwMode="auto">
          <a:xfrm>
            <a:off x="-19050" y="2209800"/>
            <a:ext cx="609600" cy="6096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7" name="Oval 10"/>
          <p:cNvSpPr>
            <a:spLocks noChangeArrowheads="1"/>
          </p:cNvSpPr>
          <p:nvPr/>
        </p:nvSpPr>
        <p:spPr bwMode="auto">
          <a:xfrm>
            <a:off x="1962150" y="2209800"/>
            <a:ext cx="609600" cy="6096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9" name="Oval 11"/>
          <p:cNvSpPr>
            <a:spLocks noChangeArrowheads="1"/>
          </p:cNvSpPr>
          <p:nvPr/>
        </p:nvSpPr>
        <p:spPr bwMode="auto">
          <a:xfrm>
            <a:off x="590550" y="3352800"/>
            <a:ext cx="609600" cy="6096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0" name="Oval 12"/>
          <p:cNvSpPr>
            <a:spLocks noChangeArrowheads="1"/>
          </p:cNvSpPr>
          <p:nvPr/>
        </p:nvSpPr>
        <p:spPr bwMode="auto">
          <a:xfrm>
            <a:off x="1504950" y="3352800"/>
            <a:ext cx="609600" cy="6096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1" name="Oval 13"/>
          <p:cNvSpPr>
            <a:spLocks noChangeArrowheads="1"/>
          </p:cNvSpPr>
          <p:nvPr/>
        </p:nvSpPr>
        <p:spPr bwMode="auto">
          <a:xfrm>
            <a:off x="1504950" y="4495800"/>
            <a:ext cx="609600" cy="6096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2" name="Text Box 14"/>
          <p:cNvSpPr txBox="1">
            <a:spLocks noChangeArrowheads="1"/>
          </p:cNvSpPr>
          <p:nvPr/>
        </p:nvSpPr>
        <p:spPr bwMode="auto">
          <a:xfrm>
            <a:off x="57150" y="2133600"/>
            <a:ext cx="557213" cy="76200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4400">
                <a:solidFill>
                  <a:srgbClr val="000000"/>
                </a:solidFill>
                <a:latin typeface="Times New Roman" pitchFamily="18" charset="0"/>
              </a:rPr>
              <a:t>B</a:t>
            </a:r>
            <a:endParaRPr kumimoji="1" lang="en-US" altLang="zh-CN" sz="2400">
              <a:solidFill>
                <a:srgbClr val="000000"/>
              </a:solidFill>
              <a:latin typeface="Times New Roman" pitchFamily="18" charset="0"/>
            </a:endParaRPr>
          </a:p>
        </p:txBody>
      </p:sp>
      <p:sp>
        <p:nvSpPr>
          <p:cNvPr id="23" name="Text Box 15"/>
          <p:cNvSpPr txBox="1">
            <a:spLocks noChangeArrowheads="1"/>
          </p:cNvSpPr>
          <p:nvPr/>
        </p:nvSpPr>
        <p:spPr bwMode="auto">
          <a:xfrm>
            <a:off x="971550" y="2133600"/>
            <a:ext cx="557213" cy="76200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4400">
                <a:solidFill>
                  <a:srgbClr val="000000"/>
                </a:solidFill>
                <a:latin typeface="Times New Roman" pitchFamily="18" charset="0"/>
              </a:rPr>
              <a:t>C</a:t>
            </a:r>
            <a:endParaRPr kumimoji="1" lang="en-US" altLang="zh-CN" sz="2400">
              <a:solidFill>
                <a:srgbClr val="000000"/>
              </a:solidFill>
              <a:latin typeface="Times New Roman" pitchFamily="18" charset="0"/>
            </a:endParaRPr>
          </a:p>
        </p:txBody>
      </p:sp>
      <p:sp>
        <p:nvSpPr>
          <p:cNvPr id="24" name="Text Box 16"/>
          <p:cNvSpPr txBox="1">
            <a:spLocks noChangeArrowheads="1"/>
          </p:cNvSpPr>
          <p:nvPr/>
        </p:nvSpPr>
        <p:spPr bwMode="auto">
          <a:xfrm>
            <a:off x="1962150" y="2133600"/>
            <a:ext cx="587375" cy="76200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4400">
                <a:solidFill>
                  <a:srgbClr val="000000"/>
                </a:solidFill>
                <a:latin typeface="Times New Roman" pitchFamily="18" charset="0"/>
              </a:rPr>
              <a:t>D</a:t>
            </a:r>
            <a:endParaRPr kumimoji="1" lang="en-US" altLang="zh-CN" sz="2400">
              <a:solidFill>
                <a:srgbClr val="000000"/>
              </a:solidFill>
              <a:latin typeface="Times New Roman" pitchFamily="18" charset="0"/>
            </a:endParaRPr>
          </a:p>
        </p:txBody>
      </p:sp>
      <p:sp>
        <p:nvSpPr>
          <p:cNvPr id="25" name="Text Box 17"/>
          <p:cNvSpPr txBox="1">
            <a:spLocks noChangeArrowheads="1"/>
          </p:cNvSpPr>
          <p:nvPr/>
        </p:nvSpPr>
        <p:spPr bwMode="auto">
          <a:xfrm>
            <a:off x="666750" y="3276600"/>
            <a:ext cx="525463" cy="76200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4400">
                <a:solidFill>
                  <a:srgbClr val="000000"/>
                </a:solidFill>
                <a:latin typeface="Times New Roman" pitchFamily="18" charset="0"/>
              </a:rPr>
              <a:t>E</a:t>
            </a:r>
            <a:endParaRPr kumimoji="1" lang="en-US" altLang="zh-CN" sz="2400">
              <a:solidFill>
                <a:srgbClr val="000000"/>
              </a:solidFill>
              <a:latin typeface="Times New Roman" pitchFamily="18" charset="0"/>
            </a:endParaRPr>
          </a:p>
        </p:txBody>
      </p:sp>
      <p:sp>
        <p:nvSpPr>
          <p:cNvPr id="26" name="Text Box 18"/>
          <p:cNvSpPr txBox="1">
            <a:spLocks noChangeArrowheads="1"/>
          </p:cNvSpPr>
          <p:nvPr/>
        </p:nvSpPr>
        <p:spPr bwMode="auto">
          <a:xfrm>
            <a:off x="1581150" y="3276600"/>
            <a:ext cx="495300" cy="76200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4400">
                <a:solidFill>
                  <a:srgbClr val="000000"/>
                </a:solidFill>
                <a:latin typeface="Times New Roman" pitchFamily="18" charset="0"/>
              </a:rPr>
              <a:t>F</a:t>
            </a:r>
            <a:endParaRPr kumimoji="1" lang="en-US" altLang="zh-CN" sz="2400">
              <a:solidFill>
                <a:srgbClr val="000000"/>
              </a:solidFill>
              <a:latin typeface="Times New Roman" pitchFamily="18" charset="0"/>
            </a:endParaRPr>
          </a:p>
        </p:txBody>
      </p:sp>
      <p:sp>
        <p:nvSpPr>
          <p:cNvPr id="27" name="Text Box 19"/>
          <p:cNvSpPr txBox="1">
            <a:spLocks noChangeArrowheads="1"/>
          </p:cNvSpPr>
          <p:nvPr/>
        </p:nvSpPr>
        <p:spPr bwMode="auto">
          <a:xfrm>
            <a:off x="1504950" y="4419600"/>
            <a:ext cx="587375" cy="76200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4400">
                <a:solidFill>
                  <a:srgbClr val="000000"/>
                </a:solidFill>
                <a:latin typeface="Times New Roman" pitchFamily="18" charset="0"/>
              </a:rPr>
              <a:t>G</a:t>
            </a:r>
            <a:endParaRPr kumimoji="1" lang="en-US" altLang="zh-CN" sz="2400">
              <a:solidFill>
                <a:srgbClr val="000000"/>
              </a:solidFill>
              <a:latin typeface="Times New Roman" pitchFamily="18" charset="0"/>
            </a:endParaRPr>
          </a:p>
        </p:txBody>
      </p:sp>
      <p:sp>
        <p:nvSpPr>
          <p:cNvPr id="28" name="Line 20"/>
          <p:cNvSpPr>
            <a:spLocks noChangeShapeType="1"/>
          </p:cNvSpPr>
          <p:nvPr/>
        </p:nvSpPr>
        <p:spPr bwMode="auto">
          <a:xfrm>
            <a:off x="1581150" y="1600200"/>
            <a:ext cx="609600" cy="609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Line 21"/>
          <p:cNvSpPr>
            <a:spLocks noChangeShapeType="1"/>
          </p:cNvSpPr>
          <p:nvPr/>
        </p:nvSpPr>
        <p:spPr bwMode="auto">
          <a:xfrm flipH="1">
            <a:off x="285750" y="1600200"/>
            <a:ext cx="762000" cy="609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0" name="Line 22"/>
          <p:cNvSpPr>
            <a:spLocks noChangeShapeType="1"/>
          </p:cNvSpPr>
          <p:nvPr/>
        </p:nvSpPr>
        <p:spPr bwMode="auto">
          <a:xfrm flipH="1">
            <a:off x="895350" y="2743200"/>
            <a:ext cx="152400" cy="609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1" name="Line 23"/>
          <p:cNvSpPr>
            <a:spLocks noChangeShapeType="1"/>
          </p:cNvSpPr>
          <p:nvPr/>
        </p:nvSpPr>
        <p:spPr bwMode="auto">
          <a:xfrm>
            <a:off x="1276350" y="1752600"/>
            <a:ext cx="0" cy="4572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2" name="Line 24"/>
          <p:cNvSpPr>
            <a:spLocks noChangeShapeType="1"/>
          </p:cNvSpPr>
          <p:nvPr/>
        </p:nvSpPr>
        <p:spPr bwMode="auto">
          <a:xfrm>
            <a:off x="1504950" y="2667000"/>
            <a:ext cx="304800" cy="6858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3" name="Line 25"/>
          <p:cNvSpPr>
            <a:spLocks noChangeShapeType="1"/>
          </p:cNvSpPr>
          <p:nvPr/>
        </p:nvSpPr>
        <p:spPr bwMode="auto">
          <a:xfrm>
            <a:off x="1809750" y="3962400"/>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4" name="Text Box 26"/>
          <p:cNvSpPr txBox="1">
            <a:spLocks noChangeArrowheads="1"/>
          </p:cNvSpPr>
          <p:nvPr/>
        </p:nvSpPr>
        <p:spPr bwMode="auto">
          <a:xfrm>
            <a:off x="4705350" y="993775"/>
            <a:ext cx="4038600" cy="4111625"/>
          </a:xfrm>
          <a:prstGeom prst="rect">
            <a:avLst/>
          </a:prstGeom>
          <a:noFill/>
          <a:ln w="12700" cap="sq">
            <a:noFill/>
            <a:miter lim="800000"/>
            <a:headEnd type="none" w="sm" len="sm"/>
            <a:tailEnd type="none" w="sm" len="sm"/>
          </a:ln>
        </p:spPr>
        <p:txBody>
          <a:bodyPr>
            <a:spAutoFit/>
          </a:bodyPr>
          <a:lstStyle/>
          <a:p>
            <a:pPr fontAlgn="base">
              <a:spcBef>
                <a:spcPct val="0"/>
              </a:spcBef>
              <a:spcAft>
                <a:spcPct val="0"/>
              </a:spcAft>
            </a:pPr>
            <a:r>
              <a:rPr kumimoji="1" lang="zh-CN" altLang="en-US" sz="4400" b="1">
                <a:solidFill>
                  <a:srgbClr val="000000"/>
                </a:solidFill>
                <a:latin typeface="Times New Roman" pitchFamily="18" charset="0"/>
              </a:rPr>
              <a:t>          </a:t>
            </a:r>
            <a:r>
              <a:rPr kumimoji="1" lang="en-US" altLang="zh-CN" sz="4400" b="1">
                <a:solidFill>
                  <a:srgbClr val="000000"/>
                </a:solidFill>
                <a:latin typeface="Times New Roman" pitchFamily="18" charset="0"/>
              </a:rPr>
              <a:t>A</a:t>
            </a:r>
          </a:p>
          <a:p>
            <a:pPr fontAlgn="base">
              <a:spcBef>
                <a:spcPct val="0"/>
              </a:spcBef>
              <a:spcAft>
                <a:spcPct val="0"/>
              </a:spcAft>
            </a:pPr>
            <a:r>
              <a:rPr kumimoji="1" lang="en-US" altLang="zh-CN" sz="4400" b="1">
                <a:solidFill>
                  <a:srgbClr val="000000"/>
                </a:solidFill>
                <a:latin typeface="Times New Roman" pitchFamily="18" charset="0"/>
              </a:rPr>
              <a:t>B</a:t>
            </a:r>
          </a:p>
          <a:p>
            <a:pPr fontAlgn="base">
              <a:spcBef>
                <a:spcPct val="0"/>
              </a:spcBef>
              <a:spcAft>
                <a:spcPct val="0"/>
              </a:spcAft>
            </a:pPr>
            <a:r>
              <a:rPr kumimoji="1" lang="en-US" altLang="zh-CN" sz="4400" b="1">
                <a:solidFill>
                  <a:srgbClr val="000000"/>
                </a:solidFill>
                <a:latin typeface="Times New Roman" pitchFamily="18" charset="0"/>
              </a:rPr>
              <a:t>          C</a:t>
            </a:r>
          </a:p>
          <a:p>
            <a:pPr fontAlgn="base">
              <a:spcBef>
                <a:spcPct val="0"/>
              </a:spcBef>
              <a:spcAft>
                <a:spcPct val="0"/>
              </a:spcAft>
            </a:pPr>
            <a:r>
              <a:rPr kumimoji="1" lang="en-US" altLang="zh-CN" sz="4400" b="1">
                <a:solidFill>
                  <a:srgbClr val="000000"/>
                </a:solidFill>
                <a:latin typeface="Times New Roman" pitchFamily="18" charset="0"/>
              </a:rPr>
              <a:t>   E                D</a:t>
            </a:r>
          </a:p>
          <a:p>
            <a:pPr fontAlgn="base">
              <a:spcBef>
                <a:spcPct val="0"/>
              </a:spcBef>
              <a:spcAft>
                <a:spcPct val="0"/>
              </a:spcAft>
            </a:pPr>
            <a:r>
              <a:rPr kumimoji="1" lang="en-US" altLang="zh-CN" sz="4400" b="1">
                <a:solidFill>
                  <a:srgbClr val="000000"/>
                </a:solidFill>
                <a:latin typeface="Times New Roman" pitchFamily="18" charset="0"/>
              </a:rPr>
              <a:t>              F</a:t>
            </a:r>
          </a:p>
          <a:p>
            <a:pPr fontAlgn="base">
              <a:spcBef>
                <a:spcPct val="0"/>
              </a:spcBef>
              <a:spcAft>
                <a:spcPct val="0"/>
              </a:spcAft>
            </a:pPr>
            <a:r>
              <a:rPr kumimoji="1" lang="en-US" altLang="zh-CN" sz="4400" b="1">
                <a:solidFill>
                  <a:srgbClr val="000000"/>
                </a:solidFill>
                <a:latin typeface="Times New Roman" pitchFamily="18" charset="0"/>
              </a:rPr>
              <a:t>       G</a:t>
            </a:r>
            <a:endParaRPr kumimoji="1" lang="en-US" altLang="zh-CN" sz="2400">
              <a:solidFill>
                <a:srgbClr val="000000"/>
              </a:solidFill>
              <a:latin typeface="Times New Roman" pitchFamily="18" charset="0"/>
            </a:endParaRPr>
          </a:p>
        </p:txBody>
      </p:sp>
      <p:sp>
        <p:nvSpPr>
          <p:cNvPr id="35" name="Rectangle 27"/>
          <p:cNvSpPr>
            <a:spLocks noChangeArrowheads="1"/>
          </p:cNvSpPr>
          <p:nvPr/>
        </p:nvSpPr>
        <p:spPr bwMode="auto">
          <a:xfrm>
            <a:off x="5848350" y="1146175"/>
            <a:ext cx="1066800" cy="533400"/>
          </a:xfrm>
          <a:prstGeom prst="rect">
            <a:avLst/>
          </a:prstGeom>
          <a:noFill/>
          <a:ln w="12700" cap="sq">
            <a:solidFill>
              <a:srgbClr val="000000"/>
            </a:solidFill>
            <a:miter lim="800000"/>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6" name="Line 28"/>
          <p:cNvSpPr>
            <a:spLocks noChangeShapeType="1"/>
          </p:cNvSpPr>
          <p:nvPr/>
        </p:nvSpPr>
        <p:spPr bwMode="auto">
          <a:xfrm>
            <a:off x="6153150" y="1146175"/>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7" name="Line 29"/>
          <p:cNvSpPr>
            <a:spLocks noChangeShapeType="1"/>
          </p:cNvSpPr>
          <p:nvPr/>
        </p:nvSpPr>
        <p:spPr bwMode="auto">
          <a:xfrm>
            <a:off x="6610350" y="1146175"/>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8" name="Line 30"/>
          <p:cNvSpPr>
            <a:spLocks noChangeShapeType="1"/>
          </p:cNvSpPr>
          <p:nvPr/>
        </p:nvSpPr>
        <p:spPr bwMode="auto">
          <a:xfrm flipH="1">
            <a:off x="6686550" y="12985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9" name="Line 31"/>
          <p:cNvSpPr>
            <a:spLocks noChangeShapeType="1"/>
          </p:cNvSpPr>
          <p:nvPr/>
        </p:nvSpPr>
        <p:spPr bwMode="auto">
          <a:xfrm>
            <a:off x="6762750" y="12985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0" name="Line 32"/>
          <p:cNvSpPr>
            <a:spLocks noChangeShapeType="1"/>
          </p:cNvSpPr>
          <p:nvPr/>
        </p:nvSpPr>
        <p:spPr bwMode="auto">
          <a:xfrm flipH="1">
            <a:off x="4552950" y="19081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1" name="Line 33"/>
          <p:cNvSpPr>
            <a:spLocks noChangeShapeType="1"/>
          </p:cNvSpPr>
          <p:nvPr/>
        </p:nvSpPr>
        <p:spPr bwMode="auto">
          <a:xfrm>
            <a:off x="4629150" y="19081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2" name="Line 34"/>
          <p:cNvSpPr>
            <a:spLocks noChangeShapeType="1"/>
          </p:cNvSpPr>
          <p:nvPr/>
        </p:nvSpPr>
        <p:spPr bwMode="auto">
          <a:xfrm flipH="1">
            <a:off x="7600950" y="32797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3" name="Line 35"/>
          <p:cNvSpPr>
            <a:spLocks noChangeShapeType="1"/>
          </p:cNvSpPr>
          <p:nvPr/>
        </p:nvSpPr>
        <p:spPr bwMode="auto">
          <a:xfrm>
            <a:off x="7677150" y="32797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4" name="Line 36"/>
          <p:cNvSpPr>
            <a:spLocks noChangeShapeType="1"/>
          </p:cNvSpPr>
          <p:nvPr/>
        </p:nvSpPr>
        <p:spPr bwMode="auto">
          <a:xfrm flipH="1">
            <a:off x="4933950" y="32797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5" name="Line 37"/>
          <p:cNvSpPr>
            <a:spLocks noChangeShapeType="1"/>
          </p:cNvSpPr>
          <p:nvPr/>
        </p:nvSpPr>
        <p:spPr bwMode="auto">
          <a:xfrm>
            <a:off x="5010150" y="3303588"/>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6" name="Rectangle 38"/>
          <p:cNvSpPr>
            <a:spLocks noChangeArrowheads="1"/>
          </p:cNvSpPr>
          <p:nvPr/>
        </p:nvSpPr>
        <p:spPr bwMode="auto">
          <a:xfrm>
            <a:off x="6381750" y="3813175"/>
            <a:ext cx="1066800" cy="533400"/>
          </a:xfrm>
          <a:prstGeom prst="rect">
            <a:avLst/>
          </a:prstGeom>
          <a:noFill/>
          <a:ln w="12700" cap="sq">
            <a:solidFill>
              <a:srgbClr val="000000"/>
            </a:solidFill>
            <a:miter lim="800000"/>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7" name="Line 39"/>
          <p:cNvSpPr>
            <a:spLocks noChangeShapeType="1"/>
          </p:cNvSpPr>
          <p:nvPr/>
        </p:nvSpPr>
        <p:spPr bwMode="auto">
          <a:xfrm>
            <a:off x="6686550" y="3813175"/>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8" name="Line 40"/>
          <p:cNvSpPr>
            <a:spLocks noChangeShapeType="1"/>
          </p:cNvSpPr>
          <p:nvPr/>
        </p:nvSpPr>
        <p:spPr bwMode="auto">
          <a:xfrm>
            <a:off x="7143750" y="3813175"/>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9" name="Line 41"/>
          <p:cNvSpPr>
            <a:spLocks noChangeShapeType="1"/>
          </p:cNvSpPr>
          <p:nvPr/>
        </p:nvSpPr>
        <p:spPr bwMode="auto">
          <a:xfrm flipH="1">
            <a:off x="7219950" y="39655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0" name="Line 42"/>
          <p:cNvSpPr>
            <a:spLocks noChangeShapeType="1"/>
          </p:cNvSpPr>
          <p:nvPr/>
        </p:nvSpPr>
        <p:spPr bwMode="auto">
          <a:xfrm>
            <a:off x="7296150" y="39655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1" name="Rectangle 43"/>
          <p:cNvSpPr>
            <a:spLocks noChangeArrowheads="1"/>
          </p:cNvSpPr>
          <p:nvPr/>
        </p:nvSpPr>
        <p:spPr bwMode="auto">
          <a:xfrm>
            <a:off x="7524750" y="3127375"/>
            <a:ext cx="1066800" cy="533400"/>
          </a:xfrm>
          <a:prstGeom prst="rect">
            <a:avLst/>
          </a:prstGeom>
          <a:noFill/>
          <a:ln w="12700" cap="sq">
            <a:solidFill>
              <a:srgbClr val="000000"/>
            </a:solidFill>
            <a:miter lim="800000"/>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2" name="Line 44"/>
          <p:cNvSpPr>
            <a:spLocks noChangeShapeType="1"/>
          </p:cNvSpPr>
          <p:nvPr/>
        </p:nvSpPr>
        <p:spPr bwMode="auto">
          <a:xfrm>
            <a:off x="7829550" y="3127375"/>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3" name="Line 45"/>
          <p:cNvSpPr>
            <a:spLocks noChangeShapeType="1"/>
          </p:cNvSpPr>
          <p:nvPr/>
        </p:nvSpPr>
        <p:spPr bwMode="auto">
          <a:xfrm>
            <a:off x="8286750" y="3127375"/>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4" name="Line 46"/>
          <p:cNvSpPr>
            <a:spLocks noChangeShapeType="1"/>
          </p:cNvSpPr>
          <p:nvPr/>
        </p:nvSpPr>
        <p:spPr bwMode="auto">
          <a:xfrm flipH="1">
            <a:off x="8362950" y="32797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5" name="Line 47"/>
          <p:cNvSpPr>
            <a:spLocks noChangeShapeType="1"/>
          </p:cNvSpPr>
          <p:nvPr/>
        </p:nvSpPr>
        <p:spPr bwMode="auto">
          <a:xfrm>
            <a:off x="8439150" y="32797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6" name="Rectangle 48"/>
          <p:cNvSpPr>
            <a:spLocks noChangeArrowheads="1"/>
          </p:cNvSpPr>
          <p:nvPr/>
        </p:nvSpPr>
        <p:spPr bwMode="auto">
          <a:xfrm>
            <a:off x="4857750" y="3127375"/>
            <a:ext cx="1066800" cy="533400"/>
          </a:xfrm>
          <a:prstGeom prst="rect">
            <a:avLst/>
          </a:prstGeom>
          <a:noFill/>
          <a:ln w="12700" cap="sq">
            <a:solidFill>
              <a:srgbClr val="000000"/>
            </a:solidFill>
            <a:miter lim="800000"/>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7" name="Line 49"/>
          <p:cNvSpPr>
            <a:spLocks noChangeShapeType="1"/>
          </p:cNvSpPr>
          <p:nvPr/>
        </p:nvSpPr>
        <p:spPr bwMode="auto">
          <a:xfrm>
            <a:off x="5162550" y="3127375"/>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8" name="Line 50"/>
          <p:cNvSpPr>
            <a:spLocks noChangeShapeType="1"/>
          </p:cNvSpPr>
          <p:nvPr/>
        </p:nvSpPr>
        <p:spPr bwMode="auto">
          <a:xfrm>
            <a:off x="5619750" y="3127375"/>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9" name="Rectangle 51"/>
          <p:cNvSpPr>
            <a:spLocks noChangeArrowheads="1"/>
          </p:cNvSpPr>
          <p:nvPr/>
        </p:nvSpPr>
        <p:spPr bwMode="auto">
          <a:xfrm>
            <a:off x="5848350" y="2441575"/>
            <a:ext cx="1066800" cy="533400"/>
          </a:xfrm>
          <a:prstGeom prst="rect">
            <a:avLst/>
          </a:prstGeom>
          <a:noFill/>
          <a:ln w="12700" cap="sq">
            <a:solidFill>
              <a:srgbClr val="000000"/>
            </a:solidFill>
            <a:miter lim="800000"/>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0" name="Line 52"/>
          <p:cNvSpPr>
            <a:spLocks noChangeShapeType="1"/>
          </p:cNvSpPr>
          <p:nvPr/>
        </p:nvSpPr>
        <p:spPr bwMode="auto">
          <a:xfrm>
            <a:off x="6153150" y="2441575"/>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1" name="Line 53"/>
          <p:cNvSpPr>
            <a:spLocks noChangeShapeType="1"/>
          </p:cNvSpPr>
          <p:nvPr/>
        </p:nvSpPr>
        <p:spPr bwMode="auto">
          <a:xfrm>
            <a:off x="6610350" y="2441575"/>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2" name="Rectangle 54"/>
          <p:cNvSpPr>
            <a:spLocks noChangeArrowheads="1"/>
          </p:cNvSpPr>
          <p:nvPr/>
        </p:nvSpPr>
        <p:spPr bwMode="auto">
          <a:xfrm>
            <a:off x="4476750" y="1755775"/>
            <a:ext cx="1066800" cy="533400"/>
          </a:xfrm>
          <a:prstGeom prst="rect">
            <a:avLst/>
          </a:prstGeom>
          <a:noFill/>
          <a:ln w="12700" cap="sq">
            <a:solidFill>
              <a:srgbClr val="000000"/>
            </a:solidFill>
            <a:miter lim="800000"/>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3" name="Line 55"/>
          <p:cNvSpPr>
            <a:spLocks noChangeShapeType="1"/>
          </p:cNvSpPr>
          <p:nvPr/>
        </p:nvSpPr>
        <p:spPr bwMode="auto">
          <a:xfrm>
            <a:off x="4781550" y="1755775"/>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4" name="Line 56"/>
          <p:cNvSpPr>
            <a:spLocks noChangeShapeType="1"/>
          </p:cNvSpPr>
          <p:nvPr/>
        </p:nvSpPr>
        <p:spPr bwMode="auto">
          <a:xfrm>
            <a:off x="5238750" y="1755775"/>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5" name="Line 57"/>
          <p:cNvSpPr>
            <a:spLocks noChangeShapeType="1"/>
          </p:cNvSpPr>
          <p:nvPr/>
        </p:nvSpPr>
        <p:spPr bwMode="auto">
          <a:xfrm flipH="1">
            <a:off x="5010150" y="1450975"/>
            <a:ext cx="990600" cy="3048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6" name="Line 58"/>
          <p:cNvSpPr>
            <a:spLocks noChangeShapeType="1"/>
          </p:cNvSpPr>
          <p:nvPr/>
        </p:nvSpPr>
        <p:spPr bwMode="auto">
          <a:xfrm>
            <a:off x="5391150" y="2060575"/>
            <a:ext cx="990600" cy="3810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7" name="Line 59"/>
          <p:cNvSpPr>
            <a:spLocks noChangeShapeType="1"/>
          </p:cNvSpPr>
          <p:nvPr/>
        </p:nvSpPr>
        <p:spPr bwMode="auto">
          <a:xfrm flipH="1">
            <a:off x="5391150" y="2670175"/>
            <a:ext cx="609600" cy="4572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8" name="Line 60"/>
          <p:cNvSpPr>
            <a:spLocks noChangeShapeType="1"/>
          </p:cNvSpPr>
          <p:nvPr/>
        </p:nvSpPr>
        <p:spPr bwMode="auto">
          <a:xfrm>
            <a:off x="6762750" y="2670175"/>
            <a:ext cx="1295400" cy="4572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9" name="Line 61"/>
          <p:cNvSpPr>
            <a:spLocks noChangeShapeType="1"/>
          </p:cNvSpPr>
          <p:nvPr/>
        </p:nvSpPr>
        <p:spPr bwMode="auto">
          <a:xfrm>
            <a:off x="5772150" y="3355975"/>
            <a:ext cx="1143000" cy="4572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cxnSp>
        <p:nvCxnSpPr>
          <p:cNvPr id="70" name="AutoShape 62"/>
          <p:cNvCxnSpPr>
            <a:cxnSpLocks noChangeShapeType="1"/>
            <a:endCxn id="35" idx="0"/>
          </p:cNvCxnSpPr>
          <p:nvPr/>
        </p:nvCxnSpPr>
        <p:spPr bwMode="auto">
          <a:xfrm>
            <a:off x="5467350" y="841375"/>
            <a:ext cx="914400" cy="304800"/>
          </a:xfrm>
          <a:prstGeom prst="curvedConnector2">
            <a:avLst/>
          </a:prstGeom>
          <a:noFill/>
          <a:ln w="12700" cap="sq">
            <a:solidFill>
              <a:srgbClr val="0000FF"/>
            </a:solidFill>
            <a:round/>
            <a:headEnd type="none" w="sm" len="sm"/>
            <a:tailEnd type="triangle" w="med" len="lg"/>
          </a:ln>
        </p:spPr>
      </p:cxnSp>
      <p:sp>
        <p:nvSpPr>
          <p:cNvPr id="71" name="Text Box 63"/>
          <p:cNvSpPr txBox="1">
            <a:spLocks noChangeArrowheads="1"/>
          </p:cNvSpPr>
          <p:nvPr/>
        </p:nvSpPr>
        <p:spPr bwMode="auto">
          <a:xfrm>
            <a:off x="4705350" y="487363"/>
            <a:ext cx="838200" cy="579437"/>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3200">
                <a:solidFill>
                  <a:srgbClr val="0000FF"/>
                </a:solidFill>
                <a:latin typeface="Times New Roman" pitchFamily="18" charset="0"/>
              </a:rPr>
              <a:t>root</a:t>
            </a:r>
            <a:endParaRPr kumimoji="1" lang="en-US" altLang="zh-CN" sz="2400">
              <a:solidFill>
                <a:srgbClr val="000000"/>
              </a:solidFill>
              <a:latin typeface="Times New Roman" pitchFamily="18" charset="0"/>
            </a:endParaRPr>
          </a:p>
        </p:txBody>
      </p:sp>
      <p:sp>
        <p:nvSpPr>
          <p:cNvPr id="72" name="Text Box 64"/>
          <p:cNvSpPr txBox="1">
            <a:spLocks noChangeArrowheads="1"/>
          </p:cNvSpPr>
          <p:nvPr/>
        </p:nvSpPr>
        <p:spPr bwMode="auto">
          <a:xfrm>
            <a:off x="2647950" y="3733800"/>
            <a:ext cx="2578100" cy="301625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3200" b="1">
                <a:solidFill>
                  <a:srgbClr val="000000"/>
                </a:solidFill>
                <a:latin typeface="Times New Roman" pitchFamily="18" charset="0"/>
              </a:rPr>
              <a:t>         </a:t>
            </a:r>
            <a:r>
              <a:rPr kumimoji="1" lang="en-US" altLang="zh-CN" sz="3200" b="1">
                <a:solidFill>
                  <a:srgbClr val="000000"/>
                </a:solidFill>
                <a:latin typeface="Times New Roman" pitchFamily="18" charset="0"/>
              </a:rPr>
              <a:t>A</a:t>
            </a:r>
          </a:p>
          <a:p>
            <a:pPr fontAlgn="base">
              <a:spcBef>
                <a:spcPct val="0"/>
              </a:spcBef>
              <a:spcAft>
                <a:spcPct val="0"/>
              </a:spcAft>
            </a:pPr>
            <a:r>
              <a:rPr kumimoji="1" lang="en-US" altLang="zh-CN" sz="3200" b="1">
                <a:solidFill>
                  <a:srgbClr val="000000"/>
                </a:solidFill>
                <a:latin typeface="Times New Roman" pitchFamily="18" charset="0"/>
              </a:rPr>
              <a:t>B</a:t>
            </a:r>
          </a:p>
          <a:p>
            <a:pPr fontAlgn="base">
              <a:spcBef>
                <a:spcPct val="0"/>
              </a:spcBef>
              <a:spcAft>
                <a:spcPct val="0"/>
              </a:spcAft>
            </a:pPr>
            <a:r>
              <a:rPr kumimoji="1" lang="en-US" altLang="zh-CN" sz="3200" b="1">
                <a:solidFill>
                  <a:srgbClr val="000000"/>
                </a:solidFill>
                <a:latin typeface="Times New Roman" pitchFamily="18" charset="0"/>
              </a:rPr>
              <a:t>          C</a:t>
            </a:r>
          </a:p>
          <a:p>
            <a:pPr fontAlgn="base">
              <a:spcBef>
                <a:spcPct val="0"/>
              </a:spcBef>
              <a:spcAft>
                <a:spcPct val="0"/>
              </a:spcAft>
            </a:pPr>
            <a:r>
              <a:rPr kumimoji="1" lang="en-US" altLang="zh-CN" sz="3200" b="1">
                <a:solidFill>
                  <a:srgbClr val="000000"/>
                </a:solidFill>
                <a:latin typeface="Times New Roman" pitchFamily="18" charset="0"/>
              </a:rPr>
              <a:t>   E               D</a:t>
            </a:r>
          </a:p>
          <a:p>
            <a:pPr fontAlgn="base">
              <a:spcBef>
                <a:spcPct val="0"/>
              </a:spcBef>
              <a:spcAft>
                <a:spcPct val="0"/>
              </a:spcAft>
            </a:pPr>
            <a:r>
              <a:rPr kumimoji="1" lang="en-US" altLang="zh-CN" sz="3200" b="1">
                <a:solidFill>
                  <a:srgbClr val="000000"/>
                </a:solidFill>
                <a:latin typeface="Times New Roman" pitchFamily="18" charset="0"/>
              </a:rPr>
              <a:t>              F</a:t>
            </a:r>
          </a:p>
          <a:p>
            <a:pPr fontAlgn="base">
              <a:spcBef>
                <a:spcPct val="0"/>
              </a:spcBef>
              <a:spcAft>
                <a:spcPct val="0"/>
              </a:spcAft>
            </a:pPr>
            <a:r>
              <a:rPr kumimoji="1" lang="en-US" altLang="zh-CN" sz="3200" b="1">
                <a:solidFill>
                  <a:srgbClr val="000000"/>
                </a:solidFill>
                <a:latin typeface="Times New Roman" pitchFamily="18" charset="0"/>
              </a:rPr>
              <a:t>      G</a:t>
            </a:r>
            <a:r>
              <a:rPr kumimoji="1" lang="en-US" altLang="zh-CN" sz="3200">
                <a:solidFill>
                  <a:srgbClr val="000000"/>
                </a:solidFill>
                <a:latin typeface="Times New Roman" pitchFamily="18" charset="0"/>
              </a:rPr>
              <a:t>  </a:t>
            </a:r>
          </a:p>
        </p:txBody>
      </p:sp>
      <p:sp>
        <p:nvSpPr>
          <p:cNvPr id="73" name="Oval 65"/>
          <p:cNvSpPr>
            <a:spLocks noChangeArrowheads="1"/>
          </p:cNvSpPr>
          <p:nvPr/>
        </p:nvSpPr>
        <p:spPr bwMode="auto">
          <a:xfrm>
            <a:off x="3562350" y="3810000"/>
            <a:ext cx="457200" cy="4572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4" name="Oval 66"/>
          <p:cNvSpPr>
            <a:spLocks noChangeArrowheads="1"/>
          </p:cNvSpPr>
          <p:nvPr/>
        </p:nvSpPr>
        <p:spPr bwMode="auto">
          <a:xfrm>
            <a:off x="3714750" y="4724400"/>
            <a:ext cx="457200" cy="4572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5" name="Oval 67"/>
          <p:cNvSpPr>
            <a:spLocks noChangeArrowheads="1"/>
          </p:cNvSpPr>
          <p:nvPr/>
        </p:nvSpPr>
        <p:spPr bwMode="auto">
          <a:xfrm>
            <a:off x="2647950" y="4267200"/>
            <a:ext cx="457200" cy="4572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6" name="Oval 68"/>
          <p:cNvSpPr>
            <a:spLocks noChangeArrowheads="1"/>
          </p:cNvSpPr>
          <p:nvPr/>
        </p:nvSpPr>
        <p:spPr bwMode="auto">
          <a:xfrm>
            <a:off x="4781550" y="5257800"/>
            <a:ext cx="457200" cy="4572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7" name="Oval 69"/>
          <p:cNvSpPr>
            <a:spLocks noChangeArrowheads="1"/>
          </p:cNvSpPr>
          <p:nvPr/>
        </p:nvSpPr>
        <p:spPr bwMode="auto">
          <a:xfrm>
            <a:off x="2952750" y="5257800"/>
            <a:ext cx="457200" cy="4572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8" name="Oval 70"/>
          <p:cNvSpPr>
            <a:spLocks noChangeArrowheads="1"/>
          </p:cNvSpPr>
          <p:nvPr/>
        </p:nvSpPr>
        <p:spPr bwMode="auto">
          <a:xfrm>
            <a:off x="4019550" y="5715000"/>
            <a:ext cx="457200" cy="4572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9" name="Line 71"/>
          <p:cNvSpPr>
            <a:spLocks noChangeShapeType="1"/>
          </p:cNvSpPr>
          <p:nvPr/>
        </p:nvSpPr>
        <p:spPr bwMode="auto">
          <a:xfrm>
            <a:off x="3105150" y="4572000"/>
            <a:ext cx="609600" cy="3048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0" name="Line 72"/>
          <p:cNvSpPr>
            <a:spLocks noChangeShapeType="1"/>
          </p:cNvSpPr>
          <p:nvPr/>
        </p:nvSpPr>
        <p:spPr bwMode="auto">
          <a:xfrm>
            <a:off x="4171950" y="5029200"/>
            <a:ext cx="685800" cy="3048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1" name="Line 73"/>
          <p:cNvSpPr>
            <a:spLocks noChangeShapeType="1"/>
          </p:cNvSpPr>
          <p:nvPr/>
        </p:nvSpPr>
        <p:spPr bwMode="auto">
          <a:xfrm>
            <a:off x="3409950" y="5562600"/>
            <a:ext cx="609600" cy="3048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2" name="Line 74"/>
          <p:cNvSpPr>
            <a:spLocks noChangeShapeType="1"/>
          </p:cNvSpPr>
          <p:nvPr/>
        </p:nvSpPr>
        <p:spPr bwMode="auto">
          <a:xfrm flipH="1">
            <a:off x="3333750" y="5029200"/>
            <a:ext cx="381000" cy="3048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3" name="Line 75"/>
          <p:cNvSpPr>
            <a:spLocks noChangeShapeType="1"/>
          </p:cNvSpPr>
          <p:nvPr/>
        </p:nvSpPr>
        <p:spPr bwMode="auto">
          <a:xfrm flipH="1">
            <a:off x="3028950" y="4114800"/>
            <a:ext cx="5334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4" name="Line 76"/>
          <p:cNvSpPr>
            <a:spLocks noChangeShapeType="1"/>
          </p:cNvSpPr>
          <p:nvPr/>
        </p:nvSpPr>
        <p:spPr bwMode="auto">
          <a:xfrm flipH="1">
            <a:off x="5543550" y="46513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5" name="Line 77"/>
          <p:cNvSpPr>
            <a:spLocks noChangeShapeType="1"/>
          </p:cNvSpPr>
          <p:nvPr/>
        </p:nvSpPr>
        <p:spPr bwMode="auto">
          <a:xfrm>
            <a:off x="5619750" y="46513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6" name="Rectangle 78"/>
          <p:cNvSpPr>
            <a:spLocks noChangeArrowheads="1"/>
          </p:cNvSpPr>
          <p:nvPr/>
        </p:nvSpPr>
        <p:spPr bwMode="auto">
          <a:xfrm>
            <a:off x="5467350" y="4498975"/>
            <a:ext cx="1066800" cy="533400"/>
          </a:xfrm>
          <a:prstGeom prst="rect">
            <a:avLst/>
          </a:prstGeom>
          <a:noFill/>
          <a:ln w="12700" cap="sq">
            <a:solidFill>
              <a:srgbClr val="000000"/>
            </a:solidFill>
            <a:miter lim="800000"/>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7" name="Line 79"/>
          <p:cNvSpPr>
            <a:spLocks noChangeShapeType="1"/>
          </p:cNvSpPr>
          <p:nvPr/>
        </p:nvSpPr>
        <p:spPr bwMode="auto">
          <a:xfrm>
            <a:off x="5772150" y="4498975"/>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8" name="Line 80"/>
          <p:cNvSpPr>
            <a:spLocks noChangeShapeType="1"/>
          </p:cNvSpPr>
          <p:nvPr/>
        </p:nvSpPr>
        <p:spPr bwMode="auto">
          <a:xfrm>
            <a:off x="6229350" y="4498975"/>
            <a:ext cx="0" cy="5334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9" name="Line 81"/>
          <p:cNvSpPr>
            <a:spLocks noChangeShapeType="1"/>
          </p:cNvSpPr>
          <p:nvPr/>
        </p:nvSpPr>
        <p:spPr bwMode="auto">
          <a:xfrm flipH="1">
            <a:off x="6305550" y="46513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0" name="Line 82"/>
          <p:cNvSpPr>
            <a:spLocks noChangeShapeType="1"/>
          </p:cNvSpPr>
          <p:nvPr/>
        </p:nvSpPr>
        <p:spPr bwMode="auto">
          <a:xfrm>
            <a:off x="6381750" y="4651375"/>
            <a:ext cx="76200" cy="2286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1" name="Line 83"/>
          <p:cNvSpPr>
            <a:spLocks noChangeShapeType="1"/>
          </p:cNvSpPr>
          <p:nvPr/>
        </p:nvSpPr>
        <p:spPr bwMode="auto">
          <a:xfrm flipH="1">
            <a:off x="6000750" y="4041775"/>
            <a:ext cx="533400" cy="4572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2" name="Oval 84"/>
          <p:cNvSpPr>
            <a:spLocks noChangeArrowheads="1"/>
          </p:cNvSpPr>
          <p:nvPr/>
        </p:nvSpPr>
        <p:spPr bwMode="auto">
          <a:xfrm>
            <a:off x="3257550" y="6248400"/>
            <a:ext cx="457200" cy="4572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3" name="Line 85"/>
          <p:cNvSpPr>
            <a:spLocks noChangeShapeType="1"/>
          </p:cNvSpPr>
          <p:nvPr/>
        </p:nvSpPr>
        <p:spPr bwMode="auto">
          <a:xfrm flipH="1">
            <a:off x="3638550" y="6019800"/>
            <a:ext cx="381000" cy="3048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cxnSp>
        <p:nvCxnSpPr>
          <p:cNvPr id="94" name="AutoShape 86"/>
          <p:cNvCxnSpPr>
            <a:cxnSpLocks noChangeShapeType="1"/>
            <a:endCxn id="73" idx="0"/>
          </p:cNvCxnSpPr>
          <p:nvPr/>
        </p:nvCxnSpPr>
        <p:spPr bwMode="auto">
          <a:xfrm>
            <a:off x="3105150" y="3581400"/>
            <a:ext cx="685800" cy="228600"/>
          </a:xfrm>
          <a:prstGeom prst="curvedConnector2">
            <a:avLst/>
          </a:prstGeom>
          <a:noFill/>
          <a:ln w="12700" cap="sq">
            <a:solidFill>
              <a:srgbClr val="0000FF"/>
            </a:solidFill>
            <a:round/>
            <a:headEnd type="none" w="sm" len="sm"/>
            <a:tailEnd type="triangle" w="med" len="lg"/>
          </a:ln>
        </p:spPr>
      </p:cxnSp>
      <p:sp>
        <p:nvSpPr>
          <p:cNvPr id="95" name="Text Box 89"/>
          <p:cNvSpPr txBox="1">
            <a:spLocks noChangeArrowheads="1"/>
          </p:cNvSpPr>
          <p:nvPr/>
        </p:nvSpPr>
        <p:spPr bwMode="auto">
          <a:xfrm>
            <a:off x="5108575" y="5843588"/>
            <a:ext cx="4035425" cy="898525"/>
          </a:xfrm>
          <a:prstGeom prst="rect">
            <a:avLst/>
          </a:prstGeom>
          <a:solidFill>
            <a:srgbClr val="DBF5F9"/>
          </a:solidFill>
          <a:ln w="12700" cap="sq">
            <a:solidFill>
              <a:srgbClr val="003300"/>
            </a:solidFill>
            <a:miter lim="800000"/>
            <a:headEnd type="none" w="sm" len="sm"/>
            <a:tailEnd type="none" w="sm" len="sm"/>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1" lang="zh-CN" altLang="en-US" sz="2600" b="1" i="0" u="none" strike="noStrike" kern="0" cap="none" spc="0" normalizeH="0" baseline="0" noProof="0">
                <a:ln>
                  <a:noFill/>
                </a:ln>
                <a:solidFill>
                  <a:srgbClr val="0000FF"/>
                </a:solidFill>
                <a:effectLst/>
                <a:uLnTx/>
                <a:uFillTx/>
                <a:latin typeface="Times New Roman" pitchFamily="18" charset="0"/>
              </a:rPr>
              <a:t>二叉树：左、右子树</a:t>
            </a:r>
          </a:p>
          <a:p>
            <a:pPr marL="0" marR="0" lvl="0" indent="0" defTabSz="914400" eaLnBrk="0" fontAlgn="base" latinLnBrk="0" hangingPunct="0">
              <a:lnSpc>
                <a:spcPct val="100000"/>
              </a:lnSpc>
              <a:spcBef>
                <a:spcPct val="0"/>
              </a:spcBef>
              <a:spcAft>
                <a:spcPct val="0"/>
              </a:spcAft>
              <a:buClrTx/>
              <a:buSzTx/>
              <a:buFontTx/>
              <a:buNone/>
              <a:tabLst/>
              <a:defRPr/>
            </a:pPr>
            <a:r>
              <a:rPr kumimoji="1" lang="zh-CN" altLang="en-US" sz="2600" b="1" i="0" u="none" strike="noStrike" kern="0" cap="none" spc="0" normalizeH="0" baseline="0" noProof="0">
                <a:ln>
                  <a:noFill/>
                </a:ln>
                <a:solidFill>
                  <a:srgbClr val="0000FF"/>
                </a:solidFill>
                <a:effectLst/>
                <a:uLnTx/>
                <a:uFillTx/>
                <a:latin typeface="Times New Roman" pitchFamily="18" charset="0"/>
              </a:rPr>
              <a:t>树： 左是孩子，右是兄弟</a:t>
            </a:r>
          </a:p>
        </p:txBody>
      </p:sp>
    </p:spTree>
    <p:extLst>
      <p:ext uri="{BB962C8B-B14F-4D97-AF65-F5344CB8AC3E}">
        <p14:creationId xmlns:p14="http://schemas.microsoft.com/office/powerpoint/2010/main" val="1644231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5.5.1  </a:t>
            </a:r>
            <a:r>
              <a:rPr kumimoji="1" lang="zh-CN" altLang="en-US" sz="3200" b="1" dirty="0">
                <a:latin typeface="Arial" charset="0"/>
                <a:ea typeface="宋体" charset="-122"/>
                <a:cs typeface="+mn-cs"/>
              </a:rPr>
              <a:t>树的存储结构</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800" b="1" dirty="0">
                <a:solidFill>
                  <a:srgbClr val="FF0000"/>
                </a:solidFill>
              </a:rPr>
              <a:t>树的二叉链表</a:t>
            </a:r>
            <a:r>
              <a:rPr lang="en-US" altLang="zh-CN" sz="2800" b="1" dirty="0">
                <a:solidFill>
                  <a:srgbClr val="FF0000"/>
                </a:solidFill>
              </a:rPr>
              <a:t>---</a:t>
            </a:r>
            <a:r>
              <a:rPr lang="zh-CN" altLang="en-US" sz="2800" b="1" dirty="0">
                <a:solidFill>
                  <a:srgbClr val="FF0000"/>
                </a:solidFill>
              </a:rPr>
              <a:t>孩子兄弟表示法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440F2D58-C18C-407D-B1FE-380353D67F59}"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133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33"/>
          <p:cNvSpPr txBox="1">
            <a:spLocks noChangeArrowheads="1"/>
          </p:cNvSpPr>
          <p:nvPr/>
        </p:nvSpPr>
        <p:spPr bwMode="auto">
          <a:xfrm>
            <a:off x="431800" y="1752600"/>
            <a:ext cx="8266113" cy="2014013"/>
          </a:xfrm>
          <a:prstGeom prst="rect">
            <a:avLst/>
          </a:prstGeom>
          <a:noFill/>
          <a:ln w="12700" cap="rnd">
            <a:solidFill>
              <a:srgbClr val="04617B"/>
            </a:solidFill>
            <a:miter lim="800000"/>
            <a:headEnd/>
            <a:tailEnd/>
          </a:ln>
        </p:spPr>
        <p:txBody>
          <a:bodyPr>
            <a:spAutoFit/>
          </a:bodyPr>
          <a:lstStyle/>
          <a:p>
            <a:pPr marL="0" marR="0" lvl="0" indent="0" defTabSz="914400" eaLnBrk="1" fontAlgn="base" latinLnBrk="0" hangingPunct="1">
              <a:lnSpc>
                <a:spcPct val="135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宋体" pitchFamily="2" charset="-122"/>
              </a:rPr>
              <a:t>树和二叉树的存储表示方式是一样的，只是左右孩子表达的逻辑关系不同：</a:t>
            </a:r>
          </a:p>
          <a:p>
            <a:pPr marL="0" marR="0" lvl="0" indent="0" defTabSz="914400" eaLnBrk="1" fontAlgn="base" latinLnBrk="0" hangingPunct="1">
              <a:lnSpc>
                <a:spcPct val="135000"/>
              </a:lnSpc>
              <a:spcBef>
                <a:spcPct val="0"/>
              </a:spcBef>
              <a:spcAft>
                <a:spcPct val="0"/>
              </a:spcAft>
              <a:buClrTx/>
              <a:buSzTx/>
              <a:buFontTx/>
              <a:buBlip>
                <a:blip r:embed="rId4"/>
              </a:buBlip>
              <a:tabLst/>
              <a:defRPr/>
            </a:pPr>
            <a:r>
              <a:rPr kumimoji="1" lang="zh-CN" altLang="en-US" sz="2400" b="1" i="0" u="none" strike="noStrike" kern="0" cap="none" spc="0" normalizeH="0" baseline="0" noProof="0" dirty="0">
                <a:ln>
                  <a:noFill/>
                </a:ln>
                <a:solidFill>
                  <a:srgbClr val="0000FF"/>
                </a:solidFill>
                <a:effectLst/>
                <a:uLnTx/>
                <a:uFillTx/>
                <a:latin typeface="宋体" pitchFamily="2" charset="-122"/>
              </a:rPr>
              <a:t>  二叉树：左右孩子；</a:t>
            </a:r>
          </a:p>
          <a:p>
            <a:pPr marL="0" marR="0" lvl="0" indent="0" defTabSz="914400" eaLnBrk="1" fontAlgn="base" latinLnBrk="0" hangingPunct="1">
              <a:lnSpc>
                <a:spcPct val="135000"/>
              </a:lnSpc>
              <a:spcBef>
                <a:spcPct val="0"/>
              </a:spcBef>
              <a:spcAft>
                <a:spcPct val="0"/>
              </a:spcAft>
              <a:buClrTx/>
              <a:buSzTx/>
              <a:buFontTx/>
              <a:buBlip>
                <a:blip r:embed="rId4"/>
              </a:buBlip>
              <a:tabLst/>
              <a:defRPr/>
            </a:pPr>
            <a:r>
              <a:rPr kumimoji="1" lang="zh-CN" altLang="en-US" sz="2400" b="1" i="0" u="none" strike="noStrike" kern="0" cap="none" spc="0" normalizeH="0" baseline="0" noProof="0" dirty="0">
                <a:ln>
                  <a:noFill/>
                </a:ln>
                <a:solidFill>
                  <a:srgbClr val="0000FF"/>
                </a:solidFill>
                <a:effectLst/>
                <a:uLnTx/>
                <a:uFillTx/>
                <a:latin typeface="宋体" pitchFamily="2" charset="-122"/>
              </a:rPr>
              <a:t>  树的二叉链表：</a:t>
            </a:r>
            <a:r>
              <a:rPr kumimoji="1" lang="zh-CN" altLang="en-US" sz="2400" b="1" i="0" u="none" strike="noStrike" kern="0" cap="none" spc="0" normalizeH="0" baseline="0" noProof="0" dirty="0">
                <a:ln>
                  <a:noFill/>
                </a:ln>
                <a:solidFill>
                  <a:srgbClr val="FF3300"/>
                </a:solidFill>
                <a:effectLst/>
                <a:uLnTx/>
                <a:uFillTx/>
                <a:latin typeface="宋体" pitchFamily="2" charset="-122"/>
              </a:rPr>
              <a:t>第一个孩子结点</a:t>
            </a:r>
            <a:r>
              <a:rPr kumimoji="1" lang="zh-CN" altLang="en-US" sz="2400" b="1" i="0" u="none" strike="noStrike" kern="0" cap="none" spc="0" normalizeH="0" baseline="0" noProof="0" dirty="0">
                <a:ln>
                  <a:noFill/>
                </a:ln>
                <a:solidFill>
                  <a:srgbClr val="0000FF"/>
                </a:solidFill>
                <a:effectLst/>
                <a:uLnTx/>
                <a:uFillTx/>
                <a:latin typeface="宋体" pitchFamily="2" charset="-122"/>
              </a:rPr>
              <a:t>和</a:t>
            </a:r>
            <a:r>
              <a:rPr kumimoji="1" lang="zh-CN" altLang="en-US" sz="2400" b="1" i="0" u="none" strike="noStrike" kern="0" cap="none" spc="0" normalizeH="0" baseline="0" noProof="0" dirty="0">
                <a:ln>
                  <a:noFill/>
                </a:ln>
                <a:solidFill>
                  <a:srgbClr val="FF3300"/>
                </a:solidFill>
                <a:effectLst/>
                <a:uLnTx/>
                <a:uFillTx/>
                <a:latin typeface="宋体" pitchFamily="2" charset="-122"/>
              </a:rPr>
              <a:t>右边第一个兄弟结点</a:t>
            </a:r>
            <a:r>
              <a:rPr kumimoji="1" lang="zh-CN" altLang="en-US" sz="2400" b="1" i="0" u="none" strike="noStrike" kern="0" cap="none" spc="0" normalizeH="0" baseline="0" noProof="0" dirty="0">
                <a:ln>
                  <a:noFill/>
                </a:ln>
                <a:solidFill>
                  <a:srgbClr val="0000FF"/>
                </a:solidFill>
                <a:effectLst/>
                <a:uLnTx/>
                <a:uFillTx/>
                <a:latin typeface="宋体" pitchFamily="2" charset="-122"/>
              </a:rPr>
              <a:t>。</a:t>
            </a:r>
          </a:p>
        </p:txBody>
      </p:sp>
      <p:sp>
        <p:nvSpPr>
          <p:cNvPr id="14" name="Text Box 119"/>
          <p:cNvSpPr txBox="1">
            <a:spLocks noChangeArrowheads="1"/>
          </p:cNvSpPr>
          <p:nvPr/>
        </p:nvSpPr>
        <p:spPr bwMode="auto">
          <a:xfrm>
            <a:off x="2641442" y="4205288"/>
            <a:ext cx="3775393" cy="523220"/>
          </a:xfrm>
          <a:prstGeom prst="rect">
            <a:avLst/>
          </a:prstGeom>
          <a:noFill/>
          <a:ln w="12700" cap="rnd" algn="ctr">
            <a:solidFill>
              <a:srgbClr val="003300"/>
            </a:solidFill>
            <a:miter lim="800000"/>
            <a:headEnd/>
            <a:tailEnd/>
          </a:ln>
        </p:spPr>
        <p:txBody>
          <a:bodyPr wrap="none">
            <a:spAutoFit/>
          </a:bodyPr>
          <a:lstStyle/>
          <a:p>
            <a:pPr algn="ctr" eaLnBrk="0" fontAlgn="base" hangingPunct="0">
              <a:spcBef>
                <a:spcPct val="0"/>
              </a:spcBef>
              <a:spcAft>
                <a:spcPct val="0"/>
              </a:spcAft>
            </a:pPr>
            <a:r>
              <a:rPr kumimoji="1" lang="zh-CN" altLang="en-US" sz="2800">
                <a:solidFill>
                  <a:srgbClr val="FF0000"/>
                </a:solidFill>
                <a:latin typeface="Times New Roman" pitchFamily="18" charset="0"/>
                <a:ea typeface="隶书" pitchFamily="49" charset="-122"/>
              </a:rPr>
              <a:t>把树和二叉树对应起来</a:t>
            </a:r>
          </a:p>
        </p:txBody>
      </p:sp>
      <p:sp>
        <p:nvSpPr>
          <p:cNvPr id="15" name="AutoShape 153"/>
          <p:cNvSpPr>
            <a:spLocks noChangeArrowheads="1"/>
          </p:cNvSpPr>
          <p:nvPr/>
        </p:nvSpPr>
        <p:spPr bwMode="auto">
          <a:xfrm>
            <a:off x="992188" y="5013325"/>
            <a:ext cx="8066087" cy="1295400"/>
          </a:xfrm>
          <a:prstGeom prst="cloudCallout">
            <a:avLst>
              <a:gd name="adj1" fmla="val -38389"/>
              <a:gd name="adj2" fmla="val 3556"/>
            </a:avLst>
          </a:prstGeom>
          <a:solidFill>
            <a:srgbClr val="FFFFFF"/>
          </a:solidFill>
          <a:ln w="25400" algn="ctr">
            <a:solidFill>
              <a:srgbClr val="0F6FC6"/>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800" b="1" i="0" u="none" strike="noStrike" kern="0" cap="none" spc="0" normalizeH="0" baseline="0" noProof="0" dirty="0">
                <a:ln>
                  <a:noFill/>
                </a:ln>
                <a:solidFill>
                  <a:srgbClr val="0000CC"/>
                </a:solidFill>
                <a:effectLst/>
                <a:uLnTx/>
                <a:uFillTx/>
                <a:latin typeface="Times New Roman" pitchFamily="18" charset="0"/>
                <a:ea typeface="隶书" pitchFamily="49" charset="-122"/>
              </a:rPr>
              <a:t> 如何把树转化成二叉树？</a:t>
            </a:r>
          </a:p>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dirty="0">
              <a:ln>
                <a:noFill/>
              </a:ln>
              <a:solidFill>
                <a:srgbClr val="0000FF"/>
              </a:solidFill>
              <a:effectLst/>
              <a:uLnTx/>
              <a:uFillTx/>
              <a:latin typeface="华文楷体" pitchFamily="2" charset="-122"/>
              <a:ea typeface="华文楷体" pitchFamily="2" charset="-122"/>
            </a:endParaRPr>
          </a:p>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dirty="0">
              <a:ln>
                <a:noFill/>
              </a:ln>
              <a:solidFill>
                <a:srgbClr val="0000FF"/>
              </a:solidFill>
              <a:effectLst/>
              <a:uLnTx/>
              <a:uFillTx/>
              <a:latin typeface="华文楷体" pitchFamily="2" charset="-122"/>
              <a:ea typeface="华文楷体" pitchFamily="2" charset="-122"/>
            </a:endParaRPr>
          </a:p>
        </p:txBody>
      </p:sp>
    </p:spTree>
    <p:extLst>
      <p:ext uri="{BB962C8B-B14F-4D97-AF65-F5344CB8AC3E}">
        <p14:creationId xmlns:p14="http://schemas.microsoft.com/office/powerpoint/2010/main" val="3152652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5.6  </a:t>
            </a:r>
            <a:r>
              <a:rPr kumimoji="1" lang="zh-CN" altLang="en-US" sz="3200" b="1" dirty="0">
                <a:latin typeface="Arial" charset="0"/>
                <a:ea typeface="宋体" charset="-122"/>
                <a:cs typeface="+mn-cs"/>
              </a:rPr>
              <a:t>树和森林</a:t>
            </a:r>
          </a:p>
        </p:txBody>
      </p:sp>
      <p:sp>
        <p:nvSpPr>
          <p:cNvPr id="3" name="内容占位符 2"/>
          <p:cNvSpPr>
            <a:spLocks noGrp="1"/>
          </p:cNvSpPr>
          <p:nvPr>
            <p:ph idx="1"/>
          </p:nvPr>
        </p:nvSpPr>
        <p:spPr>
          <a:xfrm>
            <a:off x="457200" y="1143000"/>
            <a:ext cx="8229600" cy="5105400"/>
          </a:xfrm>
        </p:spPr>
        <p:txBody>
          <a:bodyPr>
            <a:normAutofit/>
          </a:bodyPr>
          <a:lstStyle/>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rPr>
              <a:t> </a:t>
            </a:r>
            <a:r>
              <a:rPr kumimoji="1" lang="en-US" altLang="zh-CN" b="1" dirty="0">
                <a:solidFill>
                  <a:srgbClr val="0707F9"/>
                </a:solidFill>
                <a:latin typeface="Times New Roman" pitchFamily="18" charset="0"/>
              </a:rPr>
              <a:t>5.5.1  </a:t>
            </a:r>
            <a:r>
              <a:rPr kumimoji="1" lang="zh-CN" altLang="en-US" b="1" dirty="0">
                <a:solidFill>
                  <a:srgbClr val="0707F9"/>
                </a:solidFill>
                <a:latin typeface="Times New Roman" pitchFamily="18" charset="0"/>
              </a:rPr>
              <a:t>树的存储结构</a:t>
            </a:r>
          </a:p>
          <a:p>
            <a:pPr marL="0" indent="0" fontAlgn="base">
              <a:lnSpc>
                <a:spcPct val="200000"/>
              </a:lnSpc>
              <a:spcBef>
                <a:spcPct val="0"/>
              </a:spcBef>
              <a:spcAft>
                <a:spcPct val="0"/>
              </a:spcAft>
              <a:buNone/>
            </a:pPr>
            <a:r>
              <a:rPr kumimoji="1" lang="zh-CN" altLang="en-US" b="1" dirty="0">
                <a:solidFill>
                  <a:srgbClr val="FF0000"/>
                </a:solidFill>
                <a:latin typeface="Times New Roman" pitchFamily="18" charset="0"/>
              </a:rPr>
              <a:t> </a:t>
            </a:r>
            <a:r>
              <a:rPr kumimoji="1" lang="en-US" altLang="zh-CN" b="1" dirty="0">
                <a:solidFill>
                  <a:srgbClr val="FF0000"/>
                </a:solidFill>
                <a:latin typeface="Times New Roman" pitchFamily="18" charset="0"/>
              </a:rPr>
              <a:t>5.5.2  </a:t>
            </a:r>
            <a:r>
              <a:rPr kumimoji="1" lang="zh-CN" altLang="en-US" b="1" dirty="0">
                <a:solidFill>
                  <a:srgbClr val="FF0000"/>
                </a:solidFill>
                <a:latin typeface="Times New Roman" pitchFamily="18" charset="0"/>
              </a:rPr>
              <a:t>树、森林与二叉树的转换</a:t>
            </a:r>
          </a:p>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rPr>
              <a:t> </a:t>
            </a:r>
            <a:r>
              <a:rPr kumimoji="1" lang="en-US" altLang="zh-CN" b="1" dirty="0">
                <a:solidFill>
                  <a:srgbClr val="0707F9"/>
                </a:solidFill>
                <a:latin typeface="Times New Roman" pitchFamily="18" charset="0"/>
              </a:rPr>
              <a:t>5.5.3  </a:t>
            </a:r>
            <a:r>
              <a:rPr kumimoji="1" lang="zh-CN" altLang="en-US" b="1" dirty="0">
                <a:solidFill>
                  <a:srgbClr val="0707F9"/>
                </a:solidFill>
                <a:latin typeface="Times New Roman" pitchFamily="18" charset="0"/>
              </a:rPr>
              <a:t>树和森林的遍历</a:t>
            </a:r>
          </a:p>
          <a:p>
            <a:pPr marL="0" indent="0" fontAlgn="base">
              <a:lnSpc>
                <a:spcPct val="200000"/>
              </a:lnSpc>
              <a:spcBef>
                <a:spcPct val="0"/>
              </a:spcBef>
              <a:spcAft>
                <a:spcPct val="0"/>
              </a:spcAft>
              <a:buNone/>
            </a:pPr>
            <a:r>
              <a:rPr kumimoji="1" lang="en-US" altLang="zh-CN" b="1" dirty="0">
                <a:solidFill>
                  <a:srgbClr val="0707F9"/>
                </a:solidFill>
                <a:latin typeface="Times New Roman" pitchFamily="18" charset="0"/>
              </a:rPr>
              <a:t>5.5.4   </a:t>
            </a:r>
            <a:r>
              <a:rPr kumimoji="1" lang="en-US" altLang="zh-CN" b="1" dirty="0" err="1">
                <a:solidFill>
                  <a:srgbClr val="0707F9"/>
                </a:solidFill>
                <a:latin typeface="Times New Roman" pitchFamily="18" charset="0"/>
              </a:rPr>
              <a:t>huffman</a:t>
            </a:r>
            <a:r>
              <a:rPr kumimoji="1" lang="zh-CN" altLang="en-US" b="1" dirty="0">
                <a:solidFill>
                  <a:srgbClr val="0707F9"/>
                </a:solidFill>
                <a:latin typeface="Times New Roman" pitchFamily="18" charset="0"/>
              </a:rPr>
              <a:t>树及其应用</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A15F34C0-429C-4313-8451-19D5DFF97D80}"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134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355190252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树、森林与二叉树的转换</a:t>
            </a:r>
          </a:p>
        </p:txBody>
      </p:sp>
      <p:sp>
        <p:nvSpPr>
          <p:cNvPr id="3" name="内容占位符 2"/>
          <p:cNvSpPr>
            <a:spLocks noGrp="1"/>
          </p:cNvSpPr>
          <p:nvPr>
            <p:ph idx="1"/>
          </p:nvPr>
        </p:nvSpPr>
        <p:spPr>
          <a:xfrm>
            <a:off x="457200" y="1295400"/>
            <a:ext cx="8229600" cy="5105400"/>
          </a:xfrm>
        </p:spPr>
        <p:txBody>
          <a:bodyPr>
            <a:normAutofit/>
          </a:bodyPr>
          <a:lstStyle/>
          <a:p>
            <a:pPr>
              <a:lnSpc>
                <a:spcPts val="3600"/>
              </a:lnSpc>
            </a:pPr>
            <a:r>
              <a:rPr lang="zh-CN" altLang="en-US" sz="2800" b="1" dirty="0">
                <a:solidFill>
                  <a:srgbClr val="FF0000"/>
                </a:solidFill>
              </a:rPr>
              <a:t>树转换为二叉树的方法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903CD0D6-9878-41E1-BF8C-F467E34AE67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135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5"/>
          <p:cNvSpPr txBox="1">
            <a:spLocks noChangeArrowheads="1"/>
          </p:cNvSpPr>
          <p:nvPr/>
        </p:nvSpPr>
        <p:spPr bwMode="auto">
          <a:xfrm>
            <a:off x="600075" y="2149475"/>
            <a:ext cx="7934325" cy="3032125"/>
          </a:xfrm>
          <a:prstGeom prst="rect">
            <a:avLst/>
          </a:prstGeom>
          <a:noFill/>
          <a:ln w="12700" cap="rnd">
            <a:solidFill>
              <a:srgbClr val="04617B"/>
            </a:solidFill>
            <a:miter lim="800000"/>
            <a:headEnd/>
            <a:tailEnd/>
          </a:ln>
        </p:spPr>
        <p:txBody>
          <a:bodyPr>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FF3300"/>
                </a:solidFill>
                <a:effectLst/>
                <a:uLnTx/>
                <a:uFillTx/>
                <a:latin typeface="Times New Roman" pitchFamily="18" charset="0"/>
              </a:rPr>
              <a:t>树转换为二叉树的方法</a:t>
            </a:r>
            <a:endParaRPr kumimoji="1" lang="zh-CN" altLang="en-US" sz="3200" b="1" i="0" u="none" strike="noStrike" kern="0" cap="none" spc="0" normalizeH="0" baseline="0" noProof="0">
              <a:ln>
                <a:noFill/>
              </a:ln>
              <a:solidFill>
                <a:srgbClr val="FF3300"/>
              </a:solidFill>
              <a:effectLst/>
              <a:uLnTx/>
              <a:uFillTx/>
              <a:latin typeface="宋体" pitchFamily="2" charset="-122"/>
            </a:endParaRPr>
          </a:p>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0000FF"/>
                </a:solidFill>
                <a:effectLst/>
                <a:uLnTx/>
                <a:uFillTx/>
                <a:latin typeface="宋体" pitchFamily="2" charset="-122"/>
              </a:rPr>
              <a:t>（</a:t>
            </a:r>
            <a:r>
              <a:rPr kumimoji="1" lang="en-US" altLang="zh-CN" sz="3200" b="1" i="0" u="none" strike="noStrike" kern="0" cap="none" spc="0" normalizeH="0" baseline="0" noProof="0">
                <a:ln>
                  <a:noFill/>
                </a:ln>
                <a:solidFill>
                  <a:srgbClr val="0000FF"/>
                </a:solidFill>
                <a:effectLst/>
                <a:uLnTx/>
                <a:uFillTx/>
                <a:latin typeface="宋体" pitchFamily="2" charset="-122"/>
              </a:rPr>
              <a:t>1</a:t>
            </a:r>
            <a:r>
              <a:rPr kumimoji="1" lang="zh-CN" altLang="en-US" sz="3200" b="1" i="0" u="none" strike="noStrike" kern="0" cap="none" spc="0" normalizeH="0" baseline="0" noProof="0">
                <a:ln>
                  <a:noFill/>
                </a:ln>
                <a:solidFill>
                  <a:srgbClr val="0000FF"/>
                </a:solidFill>
                <a:effectLst/>
                <a:uLnTx/>
                <a:uFillTx/>
                <a:latin typeface="宋体" pitchFamily="2" charset="-122"/>
              </a:rPr>
              <a:t>）在所有兄弟结点之间加一条连线；</a:t>
            </a:r>
          </a:p>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0000FF"/>
                </a:solidFill>
                <a:effectLst/>
                <a:uLnTx/>
                <a:uFillTx/>
                <a:latin typeface="宋体" pitchFamily="2" charset="-122"/>
              </a:rPr>
              <a:t>（</a:t>
            </a:r>
            <a:r>
              <a:rPr kumimoji="1" lang="en-US" altLang="zh-CN" sz="3200" b="1" i="0" u="none" strike="noStrike" kern="0" cap="none" spc="0" normalizeH="0" baseline="0" noProof="0">
                <a:ln>
                  <a:noFill/>
                </a:ln>
                <a:solidFill>
                  <a:srgbClr val="0000FF"/>
                </a:solidFill>
                <a:effectLst/>
                <a:uLnTx/>
                <a:uFillTx/>
                <a:latin typeface="宋体" pitchFamily="2" charset="-122"/>
              </a:rPr>
              <a:t>2</a:t>
            </a:r>
            <a:r>
              <a:rPr kumimoji="1" lang="zh-CN" altLang="en-US" sz="3200" b="1" i="0" u="none" strike="noStrike" kern="0" cap="none" spc="0" normalizeH="0" baseline="0" noProof="0">
                <a:ln>
                  <a:noFill/>
                </a:ln>
                <a:solidFill>
                  <a:srgbClr val="0000FF"/>
                </a:solidFill>
                <a:effectLst/>
                <a:uLnTx/>
                <a:uFillTx/>
                <a:latin typeface="宋体" pitchFamily="2" charset="-122"/>
              </a:rPr>
              <a:t>）对每个结点，除了保留与其长子的连线外，去掉该结点与其它孩子的连线；</a:t>
            </a:r>
            <a:endParaRPr kumimoji="1" lang="en-US" altLang="zh-CN" sz="3200" b="1" i="0" u="none" strike="noStrike" kern="0" cap="none" spc="0" normalizeH="0" baseline="0" noProof="0">
              <a:ln>
                <a:noFill/>
              </a:ln>
              <a:solidFill>
                <a:srgbClr val="0000FF"/>
              </a:solidFill>
              <a:effectLst/>
              <a:uLnTx/>
              <a:uFillTx/>
              <a:latin typeface="宋体" pitchFamily="2" charset="-122"/>
            </a:endParaRPr>
          </a:p>
        </p:txBody>
      </p:sp>
      <p:sp>
        <p:nvSpPr>
          <p:cNvPr id="14" name="AutoShape 8">
            <a:hlinkClick r:id="rId4" action="ppaction://hlinkfile"/>
          </p:cNvPr>
          <p:cNvSpPr>
            <a:spLocks noChangeArrowheads="1"/>
          </p:cNvSpPr>
          <p:nvPr/>
        </p:nvSpPr>
        <p:spPr bwMode="auto">
          <a:xfrm>
            <a:off x="7467600" y="5429250"/>
            <a:ext cx="1462087" cy="1000125"/>
          </a:xfrm>
          <a:custGeom>
            <a:avLst/>
            <a:gdLst>
              <a:gd name="T0" fmla="*/ 162088028 w 21600"/>
              <a:gd name="T1" fmla="*/ 0 h 21600"/>
              <a:gd name="T2" fmla="*/ 0 w 21600"/>
              <a:gd name="T3" fmla="*/ 20307112 h 21600"/>
              <a:gd name="T4" fmla="*/ 162088028 w 21600"/>
              <a:gd name="T5" fmla="*/ 40614181 h 21600"/>
              <a:gd name="T6" fmla="*/ 216117338 w 21600"/>
              <a:gd name="T7" fmla="*/ 20307112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003300"/>
                </a:solidFill>
                <a:effectLst/>
                <a:uLnTx/>
                <a:uFillTx/>
                <a:latin typeface="隶书" pitchFamily="49" charset="-122"/>
                <a:ea typeface="隶书" pitchFamily="49" charset="-122"/>
                <a:cs typeface="+mn-cs"/>
              </a:rPr>
              <a:t>图示</a:t>
            </a:r>
          </a:p>
        </p:txBody>
      </p:sp>
    </p:spTree>
    <p:extLst>
      <p:ext uri="{BB962C8B-B14F-4D97-AF65-F5344CB8AC3E}">
        <p14:creationId xmlns:p14="http://schemas.microsoft.com/office/powerpoint/2010/main" val="3909526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树、森林与二叉树的转换</a:t>
            </a:r>
          </a:p>
        </p:txBody>
      </p:sp>
      <p:sp>
        <p:nvSpPr>
          <p:cNvPr id="3" name="内容占位符 2"/>
          <p:cNvSpPr>
            <a:spLocks noGrp="1"/>
          </p:cNvSpPr>
          <p:nvPr>
            <p:ph idx="1"/>
          </p:nvPr>
        </p:nvSpPr>
        <p:spPr>
          <a:xfrm>
            <a:off x="457200" y="1295400"/>
            <a:ext cx="8229600" cy="5105400"/>
          </a:xfrm>
        </p:spPr>
        <p:txBody>
          <a:bodyPr>
            <a:normAutofit/>
          </a:bodyPr>
          <a:lstStyle/>
          <a:p>
            <a:pPr marL="0" indent="0">
              <a:lnSpc>
                <a:spcPts val="3600"/>
              </a:lnSpc>
              <a:buNone/>
            </a:pP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FFB8C0A7-CCAD-42ED-8D08-C92F8F83BB14}"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136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4" name="Text Box 94"/>
          <p:cNvSpPr txBox="1">
            <a:spLocks noChangeArrowheads="1"/>
          </p:cNvSpPr>
          <p:nvPr/>
        </p:nvSpPr>
        <p:spPr bwMode="auto">
          <a:xfrm>
            <a:off x="1928813" y="6019800"/>
            <a:ext cx="5486400" cy="457200"/>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r>
              <a:rPr kumimoji="1" lang="zh-CN" altLang="en-US" sz="2400" b="1">
                <a:solidFill>
                  <a:srgbClr val="0000FF"/>
                </a:solidFill>
                <a:latin typeface="宋体" pitchFamily="2" charset="-122"/>
              </a:rPr>
              <a:t>每棵树对应的二叉树</a:t>
            </a:r>
          </a:p>
        </p:txBody>
      </p:sp>
      <p:sp>
        <p:nvSpPr>
          <p:cNvPr id="15" name="AutoShape 95"/>
          <p:cNvSpPr>
            <a:spLocks noChangeArrowheads="1"/>
          </p:cNvSpPr>
          <p:nvPr/>
        </p:nvSpPr>
        <p:spPr bwMode="auto">
          <a:xfrm>
            <a:off x="2133600" y="3419475"/>
            <a:ext cx="125412" cy="441486"/>
          </a:xfrm>
          <a:prstGeom prst="downArrow">
            <a:avLst>
              <a:gd name="adj1" fmla="val 50000"/>
              <a:gd name="adj2" fmla="val 119512"/>
            </a:avLst>
          </a:prstGeom>
          <a:solidFill>
            <a:srgbClr val="0000FF"/>
          </a:solidFill>
          <a:ln w="3175" cap="rnd">
            <a:solidFill>
              <a:srgbClr val="000000"/>
            </a:solidFill>
            <a:miter lim="800000"/>
            <a:headEnd/>
            <a:tailEnd/>
          </a:ln>
        </p:spPr>
        <p:txBody>
          <a:bodyPr vert="eaVert"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6" name="AutoShape 96"/>
          <p:cNvSpPr>
            <a:spLocks noChangeArrowheads="1"/>
          </p:cNvSpPr>
          <p:nvPr/>
        </p:nvSpPr>
        <p:spPr bwMode="auto">
          <a:xfrm>
            <a:off x="4573588" y="3429000"/>
            <a:ext cx="130175" cy="431961"/>
          </a:xfrm>
          <a:prstGeom prst="downArrow">
            <a:avLst>
              <a:gd name="adj1" fmla="val 50000"/>
              <a:gd name="adj2" fmla="val 119512"/>
            </a:avLst>
          </a:prstGeom>
          <a:solidFill>
            <a:srgbClr val="0000FF"/>
          </a:solidFill>
          <a:ln w="3175" cap="rnd">
            <a:solidFill>
              <a:srgbClr val="000000"/>
            </a:solidFill>
            <a:miter lim="800000"/>
            <a:headEnd/>
            <a:tailEnd/>
          </a:ln>
        </p:spPr>
        <p:txBody>
          <a:bodyPr vert="eaVert"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7" name="AutoShape 97"/>
          <p:cNvSpPr>
            <a:spLocks noChangeArrowheads="1"/>
          </p:cNvSpPr>
          <p:nvPr/>
        </p:nvSpPr>
        <p:spPr bwMode="auto">
          <a:xfrm>
            <a:off x="6949841" y="3352800"/>
            <a:ext cx="136759" cy="511175"/>
          </a:xfrm>
          <a:prstGeom prst="downArrow">
            <a:avLst>
              <a:gd name="adj1" fmla="val 50000"/>
              <a:gd name="adj2" fmla="val 119512"/>
            </a:avLst>
          </a:prstGeom>
          <a:solidFill>
            <a:srgbClr val="0000FF"/>
          </a:solidFill>
          <a:ln w="3175" cap="rnd">
            <a:solidFill>
              <a:srgbClr val="000000"/>
            </a:solidFill>
            <a:miter lim="800000"/>
            <a:headEnd/>
            <a:tailEnd/>
          </a:ln>
        </p:spPr>
        <p:txBody>
          <a:bodyPr vert="eaVert"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9" name="Rectangle 195"/>
          <p:cNvSpPr>
            <a:spLocks noChangeArrowheads="1"/>
          </p:cNvSpPr>
          <p:nvPr/>
        </p:nvSpPr>
        <p:spPr bwMode="auto">
          <a:xfrm>
            <a:off x="1568450" y="1219200"/>
            <a:ext cx="3041650" cy="519112"/>
          </a:xfrm>
          <a:prstGeom prst="rect">
            <a:avLst/>
          </a:prstGeom>
          <a:noFill/>
          <a:ln w="12700" cap="rnd">
            <a:noFill/>
            <a:miter lim="800000"/>
            <a:headEnd/>
            <a:tailEnd/>
          </a:ln>
        </p:spPr>
        <p:txBody>
          <a:bodyPr wrap="none">
            <a:spAutoFit/>
          </a:bodyPr>
          <a:lstStyle/>
          <a:p>
            <a:pPr algn="ctr" fontAlgn="base">
              <a:spcBef>
                <a:spcPct val="30000"/>
              </a:spcBef>
              <a:spcAft>
                <a:spcPct val="0"/>
              </a:spcAft>
            </a:pPr>
            <a:r>
              <a:rPr kumimoji="1" lang="zh-CN" altLang="en-US" sz="2800" b="1" dirty="0">
                <a:solidFill>
                  <a:srgbClr val="000000"/>
                </a:solidFill>
                <a:latin typeface="宋体" pitchFamily="2" charset="-122"/>
              </a:rPr>
              <a:t>将树转换为二叉树</a:t>
            </a:r>
          </a:p>
        </p:txBody>
      </p:sp>
      <p:grpSp>
        <p:nvGrpSpPr>
          <p:cNvPr id="20" name="Group 198"/>
          <p:cNvGrpSpPr>
            <a:grpSpLocks/>
          </p:cNvGrpSpPr>
          <p:nvPr/>
        </p:nvGrpSpPr>
        <p:grpSpPr bwMode="auto">
          <a:xfrm>
            <a:off x="4440238" y="2498725"/>
            <a:ext cx="508000" cy="396875"/>
            <a:chOff x="2880" y="1104"/>
            <a:chExt cx="367" cy="343"/>
          </a:xfrm>
        </p:grpSpPr>
        <p:sp>
          <p:nvSpPr>
            <p:cNvPr id="21" name="Oval 19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22" name="Text Box 200"/>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F</a:t>
              </a:r>
            </a:p>
          </p:txBody>
        </p:sp>
      </p:grpSp>
      <p:sp>
        <p:nvSpPr>
          <p:cNvPr id="23" name="Line 201"/>
          <p:cNvSpPr>
            <a:spLocks noChangeShapeType="1"/>
          </p:cNvSpPr>
          <p:nvPr/>
        </p:nvSpPr>
        <p:spPr bwMode="auto">
          <a:xfrm flipH="1">
            <a:off x="4338638" y="2859088"/>
            <a:ext cx="228600" cy="304800"/>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4" name="Line 202"/>
          <p:cNvSpPr>
            <a:spLocks noChangeShapeType="1"/>
          </p:cNvSpPr>
          <p:nvPr/>
        </p:nvSpPr>
        <p:spPr bwMode="auto">
          <a:xfrm>
            <a:off x="4775200" y="2847975"/>
            <a:ext cx="228600" cy="304800"/>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5" name="Line 203"/>
          <p:cNvSpPr>
            <a:spLocks noChangeShapeType="1"/>
          </p:cNvSpPr>
          <p:nvPr/>
        </p:nvSpPr>
        <p:spPr bwMode="auto">
          <a:xfrm>
            <a:off x="4699000" y="2219325"/>
            <a:ext cx="0" cy="301625"/>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26" name="Group 204"/>
          <p:cNvGrpSpPr>
            <a:grpSpLocks/>
          </p:cNvGrpSpPr>
          <p:nvPr/>
        </p:nvGrpSpPr>
        <p:grpSpPr bwMode="auto">
          <a:xfrm>
            <a:off x="4775200" y="3132138"/>
            <a:ext cx="508000" cy="396875"/>
            <a:chOff x="2880" y="1104"/>
            <a:chExt cx="367" cy="343"/>
          </a:xfrm>
        </p:grpSpPr>
        <p:sp>
          <p:nvSpPr>
            <p:cNvPr id="27" name="Oval 20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28" name="Text Box 206"/>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H</a:t>
              </a:r>
            </a:p>
          </p:txBody>
        </p:sp>
      </p:grpSp>
      <p:grpSp>
        <p:nvGrpSpPr>
          <p:cNvPr id="29" name="Group 207"/>
          <p:cNvGrpSpPr>
            <a:grpSpLocks/>
          </p:cNvGrpSpPr>
          <p:nvPr/>
        </p:nvGrpSpPr>
        <p:grpSpPr bwMode="auto">
          <a:xfrm>
            <a:off x="4089400" y="3132138"/>
            <a:ext cx="508000" cy="396875"/>
            <a:chOff x="2880" y="1104"/>
            <a:chExt cx="367" cy="343"/>
          </a:xfrm>
        </p:grpSpPr>
        <p:sp>
          <p:nvSpPr>
            <p:cNvPr id="30" name="Oval 20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31" name="Text Box 20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G</a:t>
              </a:r>
            </a:p>
          </p:txBody>
        </p:sp>
      </p:grpSp>
      <p:grpSp>
        <p:nvGrpSpPr>
          <p:cNvPr id="32" name="Group 210"/>
          <p:cNvGrpSpPr>
            <a:grpSpLocks/>
          </p:cNvGrpSpPr>
          <p:nvPr/>
        </p:nvGrpSpPr>
        <p:grpSpPr bwMode="auto">
          <a:xfrm>
            <a:off x="4470400" y="1836738"/>
            <a:ext cx="508000" cy="396875"/>
            <a:chOff x="2880" y="1104"/>
            <a:chExt cx="367" cy="343"/>
          </a:xfrm>
        </p:grpSpPr>
        <p:sp>
          <p:nvSpPr>
            <p:cNvPr id="33" name="Oval 21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34" name="Text Box 21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E</a:t>
              </a:r>
            </a:p>
          </p:txBody>
        </p:sp>
      </p:grpSp>
      <p:grpSp>
        <p:nvGrpSpPr>
          <p:cNvPr id="35" name="Group 213"/>
          <p:cNvGrpSpPr>
            <a:grpSpLocks/>
          </p:cNvGrpSpPr>
          <p:nvPr/>
        </p:nvGrpSpPr>
        <p:grpSpPr bwMode="auto">
          <a:xfrm>
            <a:off x="1281113" y="1979613"/>
            <a:ext cx="1955800" cy="1006475"/>
            <a:chOff x="716" y="1431"/>
            <a:chExt cx="1232" cy="634"/>
          </a:xfrm>
        </p:grpSpPr>
        <p:sp>
          <p:nvSpPr>
            <p:cNvPr id="36" name="Line 214"/>
            <p:cNvSpPr>
              <a:spLocks noChangeShapeType="1"/>
            </p:cNvSpPr>
            <p:nvPr/>
          </p:nvSpPr>
          <p:spPr bwMode="auto">
            <a:xfrm>
              <a:off x="1340" y="1670"/>
              <a:ext cx="0" cy="163"/>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37" name="Line 215"/>
            <p:cNvSpPr>
              <a:spLocks noChangeShapeType="1"/>
            </p:cNvSpPr>
            <p:nvPr/>
          </p:nvSpPr>
          <p:spPr bwMode="auto">
            <a:xfrm flipH="1">
              <a:off x="860" y="1623"/>
              <a:ext cx="384" cy="240"/>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38" name="Line 216"/>
            <p:cNvSpPr>
              <a:spLocks noChangeShapeType="1"/>
            </p:cNvSpPr>
            <p:nvPr/>
          </p:nvSpPr>
          <p:spPr bwMode="auto">
            <a:xfrm>
              <a:off x="1436" y="1623"/>
              <a:ext cx="288"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39" name="Group 217"/>
            <p:cNvGrpSpPr>
              <a:grpSpLocks/>
            </p:cNvGrpSpPr>
            <p:nvPr/>
          </p:nvGrpSpPr>
          <p:grpSpPr bwMode="auto">
            <a:xfrm>
              <a:off x="1196" y="1431"/>
              <a:ext cx="320" cy="250"/>
              <a:chOff x="2880" y="1104"/>
              <a:chExt cx="367" cy="343"/>
            </a:xfrm>
          </p:grpSpPr>
          <p:sp>
            <p:nvSpPr>
              <p:cNvPr id="49" name="Oval 21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0" name="Text Box 21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A</a:t>
                </a:r>
              </a:p>
            </p:txBody>
          </p:sp>
        </p:grpSp>
        <p:grpSp>
          <p:nvGrpSpPr>
            <p:cNvPr id="40" name="Group 220"/>
            <p:cNvGrpSpPr>
              <a:grpSpLocks/>
            </p:cNvGrpSpPr>
            <p:nvPr/>
          </p:nvGrpSpPr>
          <p:grpSpPr bwMode="auto">
            <a:xfrm>
              <a:off x="1196" y="1815"/>
              <a:ext cx="320" cy="250"/>
              <a:chOff x="2880" y="1104"/>
              <a:chExt cx="367" cy="343"/>
            </a:xfrm>
          </p:grpSpPr>
          <p:sp>
            <p:nvSpPr>
              <p:cNvPr id="47" name="Oval 22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8" name="Text Box 22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C</a:t>
                </a:r>
              </a:p>
            </p:txBody>
          </p:sp>
        </p:grpSp>
        <p:grpSp>
          <p:nvGrpSpPr>
            <p:cNvPr id="41" name="Group 223"/>
            <p:cNvGrpSpPr>
              <a:grpSpLocks/>
            </p:cNvGrpSpPr>
            <p:nvPr/>
          </p:nvGrpSpPr>
          <p:grpSpPr bwMode="auto">
            <a:xfrm>
              <a:off x="716" y="1815"/>
              <a:ext cx="320" cy="250"/>
              <a:chOff x="2880" y="1104"/>
              <a:chExt cx="367" cy="343"/>
            </a:xfrm>
          </p:grpSpPr>
          <p:sp>
            <p:nvSpPr>
              <p:cNvPr id="45" name="Oval 22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6" name="Text Box 22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B</a:t>
                </a:r>
              </a:p>
            </p:txBody>
          </p:sp>
        </p:grpSp>
        <p:grpSp>
          <p:nvGrpSpPr>
            <p:cNvPr id="42" name="Group 226"/>
            <p:cNvGrpSpPr>
              <a:grpSpLocks/>
            </p:cNvGrpSpPr>
            <p:nvPr/>
          </p:nvGrpSpPr>
          <p:grpSpPr bwMode="auto">
            <a:xfrm>
              <a:off x="1628" y="1815"/>
              <a:ext cx="320" cy="250"/>
              <a:chOff x="2880" y="1104"/>
              <a:chExt cx="367" cy="343"/>
            </a:xfrm>
          </p:grpSpPr>
          <p:sp>
            <p:nvSpPr>
              <p:cNvPr id="43" name="Oval 22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4" name="Text Box 22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D</a:t>
                </a:r>
              </a:p>
            </p:txBody>
          </p:sp>
        </p:grpSp>
      </p:grpSp>
      <p:grpSp>
        <p:nvGrpSpPr>
          <p:cNvPr id="51" name="Group 229"/>
          <p:cNvGrpSpPr>
            <a:grpSpLocks/>
          </p:cNvGrpSpPr>
          <p:nvPr/>
        </p:nvGrpSpPr>
        <p:grpSpPr bwMode="auto">
          <a:xfrm>
            <a:off x="6321425" y="1908175"/>
            <a:ext cx="1371600" cy="1620838"/>
            <a:chOff x="3392" y="1389"/>
            <a:chExt cx="864" cy="1021"/>
          </a:xfrm>
        </p:grpSpPr>
        <p:sp>
          <p:nvSpPr>
            <p:cNvPr id="52" name="Line 230"/>
            <p:cNvSpPr>
              <a:spLocks noChangeShapeType="1"/>
            </p:cNvSpPr>
            <p:nvPr/>
          </p:nvSpPr>
          <p:spPr bwMode="auto">
            <a:xfrm flipH="1">
              <a:off x="3552" y="1575"/>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53" name="Line 231"/>
            <p:cNvSpPr>
              <a:spLocks noChangeShapeType="1"/>
            </p:cNvSpPr>
            <p:nvPr/>
          </p:nvSpPr>
          <p:spPr bwMode="auto">
            <a:xfrm>
              <a:off x="3840" y="1623"/>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54" name="Group 232"/>
            <p:cNvGrpSpPr>
              <a:grpSpLocks/>
            </p:cNvGrpSpPr>
            <p:nvPr/>
          </p:nvGrpSpPr>
          <p:grpSpPr bwMode="auto">
            <a:xfrm>
              <a:off x="3664" y="1389"/>
              <a:ext cx="320" cy="250"/>
              <a:chOff x="2880" y="1104"/>
              <a:chExt cx="367" cy="343"/>
            </a:xfrm>
          </p:grpSpPr>
          <p:sp>
            <p:nvSpPr>
              <p:cNvPr id="65" name="Oval 23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6" name="Text Box 23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I</a:t>
                </a:r>
              </a:p>
            </p:txBody>
          </p:sp>
        </p:grpSp>
        <p:sp>
          <p:nvSpPr>
            <p:cNvPr id="55" name="Line 235"/>
            <p:cNvSpPr>
              <a:spLocks noChangeShapeType="1"/>
            </p:cNvSpPr>
            <p:nvPr/>
          </p:nvSpPr>
          <p:spPr bwMode="auto">
            <a:xfrm>
              <a:off x="4080" y="1959"/>
              <a:ext cx="0" cy="288"/>
            </a:xfrm>
            <a:prstGeom prst="line">
              <a:avLst/>
            </a:prstGeom>
            <a:noFill/>
            <a:ln w="12700" cap="rnd">
              <a:solidFill>
                <a:srgbClr val="99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56" name="Group 236"/>
            <p:cNvGrpSpPr>
              <a:grpSpLocks/>
            </p:cNvGrpSpPr>
            <p:nvPr/>
          </p:nvGrpSpPr>
          <p:grpSpPr bwMode="auto">
            <a:xfrm>
              <a:off x="3936" y="1752"/>
              <a:ext cx="320" cy="250"/>
              <a:chOff x="2880" y="1104"/>
              <a:chExt cx="367" cy="343"/>
            </a:xfrm>
          </p:grpSpPr>
          <p:sp>
            <p:nvSpPr>
              <p:cNvPr id="63" name="Oval 23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4" name="Text Box 23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K</a:t>
                </a:r>
              </a:p>
            </p:txBody>
          </p:sp>
        </p:grpSp>
        <p:grpSp>
          <p:nvGrpSpPr>
            <p:cNvPr id="57" name="Group 239"/>
            <p:cNvGrpSpPr>
              <a:grpSpLocks/>
            </p:cNvGrpSpPr>
            <p:nvPr/>
          </p:nvGrpSpPr>
          <p:grpSpPr bwMode="auto">
            <a:xfrm>
              <a:off x="3392" y="1752"/>
              <a:ext cx="320" cy="250"/>
              <a:chOff x="2880" y="1104"/>
              <a:chExt cx="367" cy="343"/>
            </a:xfrm>
          </p:grpSpPr>
          <p:sp>
            <p:nvSpPr>
              <p:cNvPr id="61" name="Oval 24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2" name="Text Box 24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J</a:t>
                </a:r>
              </a:p>
            </p:txBody>
          </p:sp>
        </p:grpSp>
        <p:grpSp>
          <p:nvGrpSpPr>
            <p:cNvPr id="58" name="Group 242"/>
            <p:cNvGrpSpPr>
              <a:grpSpLocks/>
            </p:cNvGrpSpPr>
            <p:nvPr/>
          </p:nvGrpSpPr>
          <p:grpSpPr bwMode="auto">
            <a:xfrm>
              <a:off x="3936" y="2160"/>
              <a:ext cx="317" cy="250"/>
              <a:chOff x="2880" y="1104"/>
              <a:chExt cx="367" cy="343"/>
            </a:xfrm>
          </p:grpSpPr>
          <p:sp>
            <p:nvSpPr>
              <p:cNvPr id="59" name="Oval 24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0" name="Text Box 24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L</a:t>
                </a:r>
              </a:p>
            </p:txBody>
          </p:sp>
        </p:grpSp>
      </p:grpSp>
      <p:grpSp>
        <p:nvGrpSpPr>
          <p:cNvPr id="67" name="Group 268"/>
          <p:cNvGrpSpPr>
            <a:grpSpLocks/>
          </p:cNvGrpSpPr>
          <p:nvPr/>
        </p:nvGrpSpPr>
        <p:grpSpPr bwMode="auto">
          <a:xfrm>
            <a:off x="1136650" y="3930650"/>
            <a:ext cx="1803400" cy="1981200"/>
            <a:chOff x="172" y="1706"/>
            <a:chExt cx="1136" cy="1248"/>
          </a:xfrm>
        </p:grpSpPr>
        <p:sp>
          <p:nvSpPr>
            <p:cNvPr id="68" name="Line 247"/>
            <p:cNvSpPr>
              <a:spLocks noChangeShapeType="1"/>
            </p:cNvSpPr>
            <p:nvPr/>
          </p:nvSpPr>
          <p:spPr bwMode="auto">
            <a:xfrm flipH="1">
              <a:off x="270" y="1853"/>
              <a:ext cx="384" cy="240"/>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69" name="Line 248"/>
            <p:cNvSpPr>
              <a:spLocks noChangeShapeType="1"/>
            </p:cNvSpPr>
            <p:nvPr/>
          </p:nvSpPr>
          <p:spPr bwMode="auto">
            <a:xfrm>
              <a:off x="308" y="2251"/>
              <a:ext cx="288"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70" name="Group 249"/>
            <p:cNvGrpSpPr>
              <a:grpSpLocks/>
            </p:cNvGrpSpPr>
            <p:nvPr/>
          </p:nvGrpSpPr>
          <p:grpSpPr bwMode="auto">
            <a:xfrm>
              <a:off x="535" y="1706"/>
              <a:ext cx="320" cy="250"/>
              <a:chOff x="2880" y="1104"/>
              <a:chExt cx="367" cy="343"/>
            </a:xfrm>
          </p:grpSpPr>
          <p:sp>
            <p:nvSpPr>
              <p:cNvPr id="81" name="Oval 25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82" name="Text Box 25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A</a:t>
                </a:r>
              </a:p>
            </p:txBody>
          </p:sp>
        </p:grpSp>
        <p:grpSp>
          <p:nvGrpSpPr>
            <p:cNvPr id="71" name="Group 255"/>
            <p:cNvGrpSpPr>
              <a:grpSpLocks/>
            </p:cNvGrpSpPr>
            <p:nvPr/>
          </p:nvGrpSpPr>
          <p:grpSpPr bwMode="auto">
            <a:xfrm>
              <a:off x="172" y="2069"/>
              <a:ext cx="320" cy="250"/>
              <a:chOff x="2880" y="1104"/>
              <a:chExt cx="367" cy="343"/>
            </a:xfrm>
          </p:grpSpPr>
          <p:sp>
            <p:nvSpPr>
              <p:cNvPr id="79" name="Oval 25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80" name="Text Box 25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B</a:t>
                </a:r>
              </a:p>
            </p:txBody>
          </p:sp>
        </p:grpSp>
        <p:grpSp>
          <p:nvGrpSpPr>
            <p:cNvPr id="72" name="Group 261"/>
            <p:cNvGrpSpPr>
              <a:grpSpLocks/>
            </p:cNvGrpSpPr>
            <p:nvPr/>
          </p:nvGrpSpPr>
          <p:grpSpPr bwMode="auto">
            <a:xfrm>
              <a:off x="535" y="2387"/>
              <a:ext cx="320" cy="250"/>
              <a:chOff x="2880" y="1104"/>
              <a:chExt cx="367" cy="343"/>
            </a:xfrm>
          </p:grpSpPr>
          <p:sp>
            <p:nvSpPr>
              <p:cNvPr id="77" name="Oval 26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78" name="Text Box 26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C</a:t>
                </a:r>
              </a:p>
            </p:txBody>
          </p:sp>
        </p:grpSp>
        <p:sp>
          <p:nvSpPr>
            <p:cNvPr id="73" name="Line 264"/>
            <p:cNvSpPr>
              <a:spLocks noChangeShapeType="1"/>
            </p:cNvSpPr>
            <p:nvPr/>
          </p:nvSpPr>
          <p:spPr bwMode="auto">
            <a:xfrm>
              <a:off x="761" y="2614"/>
              <a:ext cx="288"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74" name="Group 265"/>
            <p:cNvGrpSpPr>
              <a:grpSpLocks/>
            </p:cNvGrpSpPr>
            <p:nvPr/>
          </p:nvGrpSpPr>
          <p:grpSpPr bwMode="auto">
            <a:xfrm>
              <a:off x="988" y="2704"/>
              <a:ext cx="320" cy="250"/>
              <a:chOff x="2880" y="1104"/>
              <a:chExt cx="367" cy="343"/>
            </a:xfrm>
          </p:grpSpPr>
          <p:sp>
            <p:nvSpPr>
              <p:cNvPr id="75" name="Oval 26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76" name="Text Box 26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D</a:t>
                </a:r>
              </a:p>
            </p:txBody>
          </p:sp>
        </p:grpSp>
      </p:grpSp>
      <p:grpSp>
        <p:nvGrpSpPr>
          <p:cNvPr id="83" name="Group 288"/>
          <p:cNvGrpSpPr>
            <a:grpSpLocks/>
          </p:cNvGrpSpPr>
          <p:nvPr/>
        </p:nvGrpSpPr>
        <p:grpSpPr bwMode="auto">
          <a:xfrm>
            <a:off x="3657600" y="3930650"/>
            <a:ext cx="1193800" cy="2006600"/>
            <a:chOff x="2280" y="2341"/>
            <a:chExt cx="752" cy="1264"/>
          </a:xfrm>
        </p:grpSpPr>
        <p:sp>
          <p:nvSpPr>
            <p:cNvPr id="84" name="Line 285"/>
            <p:cNvSpPr>
              <a:spLocks noChangeShapeType="1"/>
            </p:cNvSpPr>
            <p:nvPr/>
          </p:nvSpPr>
          <p:spPr bwMode="auto">
            <a:xfrm flipH="1">
              <a:off x="2442" y="2896"/>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5" name="Line 272"/>
            <p:cNvSpPr>
              <a:spLocks noChangeShapeType="1"/>
            </p:cNvSpPr>
            <p:nvPr/>
          </p:nvSpPr>
          <p:spPr bwMode="auto">
            <a:xfrm flipH="1">
              <a:off x="2677" y="2523"/>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86" name="Group 287"/>
            <p:cNvGrpSpPr>
              <a:grpSpLocks/>
            </p:cNvGrpSpPr>
            <p:nvPr/>
          </p:nvGrpSpPr>
          <p:grpSpPr bwMode="auto">
            <a:xfrm>
              <a:off x="2522" y="2673"/>
              <a:ext cx="333" cy="254"/>
              <a:chOff x="2501" y="2659"/>
              <a:chExt cx="333" cy="254"/>
            </a:xfrm>
          </p:grpSpPr>
          <p:sp>
            <p:nvSpPr>
              <p:cNvPr id="96" name="Oval 270"/>
              <p:cNvSpPr>
                <a:spLocks noChangeArrowheads="1"/>
              </p:cNvSpPr>
              <p:nvPr/>
            </p:nvSpPr>
            <p:spPr bwMode="auto">
              <a:xfrm>
                <a:off x="2501" y="2668"/>
                <a:ext cx="276" cy="245"/>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7" name="Text Box 271"/>
              <p:cNvSpPr txBox="1">
                <a:spLocks noChangeArrowheads="1"/>
              </p:cNvSpPr>
              <p:nvPr/>
            </p:nvSpPr>
            <p:spPr bwMode="auto">
              <a:xfrm>
                <a:off x="2556" y="2659"/>
                <a:ext cx="278"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F</a:t>
                </a:r>
              </a:p>
            </p:txBody>
          </p:sp>
        </p:grpSp>
        <p:sp>
          <p:nvSpPr>
            <p:cNvPr id="87" name="Line 273"/>
            <p:cNvSpPr>
              <a:spLocks noChangeShapeType="1"/>
            </p:cNvSpPr>
            <p:nvPr/>
          </p:nvSpPr>
          <p:spPr bwMode="auto">
            <a:xfrm>
              <a:off x="2530" y="3249"/>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88" name="Group 286"/>
            <p:cNvGrpSpPr>
              <a:grpSpLocks/>
            </p:cNvGrpSpPr>
            <p:nvPr/>
          </p:nvGrpSpPr>
          <p:grpSpPr bwMode="auto">
            <a:xfrm>
              <a:off x="2621" y="3339"/>
              <a:ext cx="318" cy="266"/>
              <a:chOff x="2621" y="3409"/>
              <a:chExt cx="318" cy="266"/>
            </a:xfrm>
          </p:grpSpPr>
          <p:sp>
            <p:nvSpPr>
              <p:cNvPr id="94" name="Oval 276"/>
              <p:cNvSpPr>
                <a:spLocks noChangeArrowheads="1"/>
              </p:cNvSpPr>
              <p:nvPr/>
            </p:nvSpPr>
            <p:spPr bwMode="auto">
              <a:xfrm>
                <a:off x="2621" y="3430"/>
                <a:ext cx="276" cy="245"/>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5" name="Text Box 277"/>
              <p:cNvSpPr txBox="1">
                <a:spLocks noChangeArrowheads="1"/>
              </p:cNvSpPr>
              <p:nvPr/>
            </p:nvSpPr>
            <p:spPr bwMode="auto">
              <a:xfrm>
                <a:off x="2661" y="3409"/>
                <a:ext cx="278"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H</a:t>
                </a:r>
              </a:p>
            </p:txBody>
          </p:sp>
        </p:grpSp>
        <p:sp>
          <p:nvSpPr>
            <p:cNvPr id="89" name="Oval 279"/>
            <p:cNvSpPr>
              <a:spLocks noChangeArrowheads="1"/>
            </p:cNvSpPr>
            <p:nvPr/>
          </p:nvSpPr>
          <p:spPr bwMode="auto">
            <a:xfrm>
              <a:off x="2280" y="3067"/>
              <a:ext cx="276" cy="245"/>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0" name="Text Box 280"/>
            <p:cNvSpPr txBox="1">
              <a:spLocks noChangeArrowheads="1"/>
            </p:cNvSpPr>
            <p:nvPr/>
          </p:nvSpPr>
          <p:spPr bwMode="auto">
            <a:xfrm>
              <a:off x="2322" y="3067"/>
              <a:ext cx="278"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G</a:t>
              </a:r>
            </a:p>
          </p:txBody>
        </p:sp>
        <p:grpSp>
          <p:nvGrpSpPr>
            <p:cNvPr id="91" name="Group 284"/>
            <p:cNvGrpSpPr>
              <a:grpSpLocks/>
            </p:cNvGrpSpPr>
            <p:nvPr/>
          </p:nvGrpSpPr>
          <p:grpSpPr bwMode="auto">
            <a:xfrm>
              <a:off x="2712" y="2341"/>
              <a:ext cx="320" cy="250"/>
              <a:chOff x="2520" y="2251"/>
              <a:chExt cx="320" cy="250"/>
            </a:xfrm>
          </p:grpSpPr>
          <p:sp>
            <p:nvSpPr>
              <p:cNvPr id="92" name="Oval 282"/>
              <p:cNvSpPr>
                <a:spLocks noChangeArrowheads="1"/>
              </p:cNvSpPr>
              <p:nvPr/>
            </p:nvSpPr>
            <p:spPr bwMode="auto">
              <a:xfrm>
                <a:off x="2520" y="2251"/>
                <a:ext cx="276" cy="245"/>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3" name="Text Box 283"/>
              <p:cNvSpPr txBox="1">
                <a:spLocks noChangeArrowheads="1"/>
              </p:cNvSpPr>
              <p:nvPr/>
            </p:nvSpPr>
            <p:spPr bwMode="auto">
              <a:xfrm>
                <a:off x="2562" y="2251"/>
                <a:ext cx="278"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E</a:t>
                </a:r>
              </a:p>
            </p:txBody>
          </p:sp>
        </p:grpSp>
      </p:grpSp>
      <p:grpSp>
        <p:nvGrpSpPr>
          <p:cNvPr id="98" name="Group 306"/>
          <p:cNvGrpSpPr>
            <a:grpSpLocks/>
          </p:cNvGrpSpPr>
          <p:nvPr/>
        </p:nvGrpSpPr>
        <p:grpSpPr bwMode="auto">
          <a:xfrm>
            <a:off x="6392863" y="3930650"/>
            <a:ext cx="1011237" cy="2125662"/>
            <a:chOff x="4708" y="2296"/>
            <a:chExt cx="637" cy="1339"/>
          </a:xfrm>
        </p:grpSpPr>
        <p:sp>
          <p:nvSpPr>
            <p:cNvPr id="99" name="Line 290"/>
            <p:cNvSpPr>
              <a:spLocks noChangeShapeType="1"/>
            </p:cNvSpPr>
            <p:nvPr/>
          </p:nvSpPr>
          <p:spPr bwMode="auto">
            <a:xfrm flipH="1">
              <a:off x="4868" y="2482"/>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00" name="Line 291"/>
            <p:cNvSpPr>
              <a:spLocks noChangeShapeType="1"/>
            </p:cNvSpPr>
            <p:nvPr/>
          </p:nvSpPr>
          <p:spPr bwMode="auto">
            <a:xfrm>
              <a:off x="4929" y="2893"/>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101" name="Group 292"/>
            <p:cNvGrpSpPr>
              <a:grpSpLocks/>
            </p:cNvGrpSpPr>
            <p:nvPr/>
          </p:nvGrpSpPr>
          <p:grpSpPr bwMode="auto">
            <a:xfrm>
              <a:off x="4980" y="2296"/>
              <a:ext cx="320" cy="250"/>
              <a:chOff x="2880" y="1104"/>
              <a:chExt cx="367" cy="343"/>
            </a:xfrm>
          </p:grpSpPr>
          <p:sp>
            <p:nvSpPr>
              <p:cNvPr id="112" name="Oval 29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13" name="Text Box 29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I</a:t>
                </a:r>
              </a:p>
            </p:txBody>
          </p:sp>
        </p:grpSp>
        <p:grpSp>
          <p:nvGrpSpPr>
            <p:cNvPr id="102" name="Group 299"/>
            <p:cNvGrpSpPr>
              <a:grpSpLocks/>
            </p:cNvGrpSpPr>
            <p:nvPr/>
          </p:nvGrpSpPr>
          <p:grpSpPr bwMode="auto">
            <a:xfrm>
              <a:off x="4708" y="2659"/>
              <a:ext cx="320" cy="250"/>
              <a:chOff x="2880" y="1104"/>
              <a:chExt cx="367" cy="343"/>
            </a:xfrm>
          </p:grpSpPr>
          <p:sp>
            <p:nvSpPr>
              <p:cNvPr id="110" name="Oval 30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11" name="Text Box 30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J</a:t>
                </a:r>
              </a:p>
            </p:txBody>
          </p:sp>
        </p:grpSp>
        <p:grpSp>
          <p:nvGrpSpPr>
            <p:cNvPr id="103" name="Group 302"/>
            <p:cNvGrpSpPr>
              <a:grpSpLocks/>
            </p:cNvGrpSpPr>
            <p:nvPr/>
          </p:nvGrpSpPr>
          <p:grpSpPr bwMode="auto">
            <a:xfrm>
              <a:off x="4708" y="3385"/>
              <a:ext cx="317" cy="250"/>
              <a:chOff x="2880" y="1104"/>
              <a:chExt cx="367" cy="343"/>
            </a:xfrm>
          </p:grpSpPr>
          <p:sp>
            <p:nvSpPr>
              <p:cNvPr id="108" name="Oval 30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09" name="Text Box 30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L</a:t>
                </a:r>
              </a:p>
            </p:txBody>
          </p:sp>
        </p:grpSp>
        <p:sp>
          <p:nvSpPr>
            <p:cNvPr id="104" name="Line 305"/>
            <p:cNvSpPr>
              <a:spLocks noChangeShapeType="1"/>
            </p:cNvSpPr>
            <p:nvPr/>
          </p:nvSpPr>
          <p:spPr bwMode="auto">
            <a:xfrm flipH="1">
              <a:off x="4889" y="3203"/>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105" name="Group 296"/>
            <p:cNvGrpSpPr>
              <a:grpSpLocks/>
            </p:cNvGrpSpPr>
            <p:nvPr/>
          </p:nvGrpSpPr>
          <p:grpSpPr bwMode="auto">
            <a:xfrm>
              <a:off x="5025" y="3022"/>
              <a:ext cx="320" cy="250"/>
              <a:chOff x="2880" y="1104"/>
              <a:chExt cx="367" cy="343"/>
            </a:xfrm>
          </p:grpSpPr>
          <p:sp>
            <p:nvSpPr>
              <p:cNvPr id="106" name="Oval 29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07" name="Text Box 29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K</a:t>
                </a:r>
              </a:p>
            </p:txBody>
          </p:sp>
        </p:grpSp>
      </p:grpSp>
      <p:sp>
        <p:nvSpPr>
          <p:cNvPr id="114" name="Oval 308"/>
          <p:cNvSpPr>
            <a:spLocks noChangeArrowheads="1"/>
          </p:cNvSpPr>
          <p:nvPr/>
        </p:nvSpPr>
        <p:spPr bwMode="auto">
          <a:xfrm>
            <a:off x="381000" y="1219200"/>
            <a:ext cx="1200150" cy="4572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dirty="0">
                <a:solidFill>
                  <a:srgbClr val="000000"/>
                </a:solidFill>
                <a:latin typeface="Times New Roman" pitchFamily="18" charset="0"/>
              </a:rPr>
              <a:t>例</a:t>
            </a:r>
          </a:p>
        </p:txBody>
      </p:sp>
    </p:spTree>
    <p:extLst>
      <p:ext uri="{BB962C8B-B14F-4D97-AF65-F5344CB8AC3E}">
        <p14:creationId xmlns:p14="http://schemas.microsoft.com/office/powerpoint/2010/main" val="3279555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树、森林与二叉树的转换</a:t>
            </a:r>
          </a:p>
        </p:txBody>
      </p:sp>
      <p:sp>
        <p:nvSpPr>
          <p:cNvPr id="3" name="内容占位符 2"/>
          <p:cNvSpPr>
            <a:spLocks noGrp="1"/>
          </p:cNvSpPr>
          <p:nvPr>
            <p:ph idx="1"/>
          </p:nvPr>
        </p:nvSpPr>
        <p:spPr>
          <a:xfrm>
            <a:off x="457200" y="1295400"/>
            <a:ext cx="8229600" cy="5105400"/>
          </a:xfrm>
        </p:spPr>
        <p:txBody>
          <a:bodyPr>
            <a:normAutofit/>
          </a:bodyPr>
          <a:lstStyle/>
          <a:p>
            <a:pPr>
              <a:lnSpc>
                <a:spcPts val="3600"/>
              </a:lnSpc>
            </a:pPr>
            <a:r>
              <a:rPr lang="zh-CN" altLang="en-US" sz="2800" b="1" dirty="0">
                <a:solidFill>
                  <a:srgbClr val="FF0000"/>
                </a:solidFill>
              </a:rPr>
              <a:t>森林转换为二叉树的方法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2B0C90A4-EF47-452F-8E9D-406E2184311C}"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137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7"/>
          <p:cNvSpPr txBox="1">
            <a:spLocks noChangeArrowheads="1"/>
          </p:cNvSpPr>
          <p:nvPr/>
        </p:nvSpPr>
        <p:spPr bwMode="auto">
          <a:xfrm>
            <a:off x="533400" y="1968500"/>
            <a:ext cx="8208962" cy="2867025"/>
          </a:xfrm>
          <a:prstGeom prst="rect">
            <a:avLst/>
          </a:prstGeom>
          <a:noFill/>
          <a:ln w="12700" cap="rnd">
            <a:solidFill>
              <a:srgbClr val="04617B"/>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L="273050" marR="0" lvl="0" indent="-273050" algn="l" defTabSz="914400" rtl="0" eaLnBrk="0" fontAlgn="base" latinLnBrk="0" hangingPunct="0">
              <a:lnSpc>
                <a:spcPct val="140000"/>
              </a:lnSpc>
              <a:spcBef>
                <a:spcPct val="0"/>
              </a:spcBef>
              <a:spcAft>
                <a:spcPct val="0"/>
              </a:spcAft>
              <a:buClrTx/>
              <a:buSzTx/>
              <a:buFontTx/>
              <a:buNone/>
              <a:tabLst/>
              <a:defRPr/>
            </a:pPr>
            <a:r>
              <a:rPr kumimoji="1" lang="zh-CN" altLang="en-US" sz="3600" b="0" i="0" u="none" strike="noStrike" kern="0" cap="none" spc="0" normalizeH="0" baseline="0" noProof="0">
                <a:ln>
                  <a:noFill/>
                </a:ln>
                <a:solidFill>
                  <a:srgbClr val="0000FF"/>
                </a:solidFill>
                <a:effectLst/>
                <a:uLnTx/>
                <a:uFillTx/>
                <a:latin typeface="Times New Roman" pitchFamily="18" charset="0"/>
                <a:ea typeface="宋体"/>
                <a:cs typeface="+mn-cs"/>
              </a:rPr>
              <a:t>（</a:t>
            </a:r>
            <a:r>
              <a:rPr kumimoji="1" lang="en-US" altLang="zh-CN" sz="3600" b="1" i="0" u="none" strike="noStrike" kern="0" cap="none" spc="0" normalizeH="0" baseline="0" noProof="0">
                <a:ln>
                  <a:noFill/>
                </a:ln>
                <a:solidFill>
                  <a:srgbClr val="0000FF"/>
                </a:solidFill>
                <a:effectLst/>
                <a:uLnTx/>
                <a:uFillTx/>
                <a:latin typeface="Times New Roman" pitchFamily="18" charset="0"/>
                <a:ea typeface="宋体"/>
                <a:cs typeface="+mn-cs"/>
              </a:rPr>
              <a:t>1</a:t>
            </a:r>
            <a:r>
              <a:rPr kumimoji="1" lang="zh-CN" altLang="en-US" sz="3600" b="1" i="0" u="none" strike="noStrike" kern="0" cap="none" spc="0" normalizeH="0" baseline="0" noProof="0">
                <a:ln>
                  <a:noFill/>
                </a:ln>
                <a:solidFill>
                  <a:srgbClr val="0000FF"/>
                </a:solidFill>
                <a:effectLst/>
                <a:uLnTx/>
                <a:uFillTx/>
                <a:latin typeface="Times New Roman" pitchFamily="18" charset="0"/>
                <a:ea typeface="宋体"/>
                <a:cs typeface="+mn-cs"/>
              </a:rPr>
              <a:t>）将森林中的每一树转换二叉树；</a:t>
            </a:r>
          </a:p>
          <a:p>
            <a:pPr marL="273050" marR="0" lvl="0" indent="-273050" algn="l" defTabSz="914400" rtl="0" eaLnBrk="0" fontAlgn="base" latinLnBrk="0" hangingPunct="0">
              <a:lnSpc>
                <a:spcPct val="140000"/>
              </a:lnSpc>
              <a:spcBef>
                <a:spcPct val="0"/>
              </a:spcBef>
              <a:spcAft>
                <a:spcPct val="0"/>
              </a:spcAft>
              <a:buClrTx/>
              <a:buSzTx/>
              <a:buFontTx/>
              <a:buNone/>
              <a:tabLst/>
              <a:defRPr/>
            </a:pPr>
            <a:r>
              <a:rPr kumimoji="1" lang="zh-CN" altLang="en-US" sz="3600" b="1" i="0" u="none" strike="noStrike" kern="0" cap="none" spc="0" normalizeH="0" baseline="0" noProof="0">
                <a:ln>
                  <a:noFill/>
                </a:ln>
                <a:solidFill>
                  <a:srgbClr val="0000FF"/>
                </a:solidFill>
                <a:effectLst/>
                <a:uLnTx/>
                <a:uFillTx/>
                <a:latin typeface="Times New Roman" pitchFamily="18" charset="0"/>
                <a:ea typeface="宋体"/>
                <a:cs typeface="+mn-cs"/>
              </a:rPr>
              <a:t>（</a:t>
            </a:r>
            <a:r>
              <a:rPr kumimoji="1" lang="en-US" altLang="zh-CN" sz="3600" b="1" i="0" u="none" strike="noStrike" kern="0" cap="none" spc="0" normalizeH="0" baseline="0" noProof="0">
                <a:ln>
                  <a:noFill/>
                </a:ln>
                <a:solidFill>
                  <a:srgbClr val="0000FF"/>
                </a:solidFill>
                <a:effectLst/>
                <a:uLnTx/>
                <a:uFillTx/>
                <a:latin typeface="Times New Roman" pitchFamily="18" charset="0"/>
                <a:ea typeface="宋体"/>
                <a:cs typeface="+mn-cs"/>
              </a:rPr>
              <a:t>2</a:t>
            </a:r>
            <a:r>
              <a:rPr kumimoji="1" lang="zh-CN" altLang="en-US" sz="3600" b="1" i="0" u="none" strike="noStrike" kern="0" cap="none" spc="0" normalizeH="0" baseline="0" noProof="0">
                <a:ln>
                  <a:noFill/>
                </a:ln>
                <a:solidFill>
                  <a:srgbClr val="0000FF"/>
                </a:solidFill>
                <a:effectLst/>
                <a:uLnTx/>
                <a:uFillTx/>
                <a:latin typeface="Times New Roman" pitchFamily="18" charset="0"/>
                <a:ea typeface="宋体"/>
                <a:cs typeface="+mn-cs"/>
              </a:rPr>
              <a:t>）将各二叉树的根结点视为兄弟连在一起。</a:t>
            </a:r>
            <a:endParaRPr kumimoji="1" lang="en-US" altLang="zh-CN" sz="3600" b="1" i="0" u="none" strike="noStrike" kern="0" cap="none" spc="0" normalizeH="0" baseline="0" noProof="0">
              <a:ln>
                <a:noFill/>
              </a:ln>
              <a:solidFill>
                <a:srgbClr val="0000FF"/>
              </a:solidFill>
              <a:effectLst/>
              <a:uLnTx/>
              <a:uFillTx/>
              <a:latin typeface="Times New Roman" pitchFamily="18" charset="0"/>
              <a:ea typeface="宋体"/>
              <a:cs typeface="+mn-cs"/>
            </a:endParaRPr>
          </a:p>
        </p:txBody>
      </p:sp>
      <p:sp>
        <p:nvSpPr>
          <p:cNvPr id="14" name="AutoShape 8">
            <a:hlinkClick r:id="rId4" action="ppaction://hlinkfile"/>
          </p:cNvPr>
          <p:cNvSpPr>
            <a:spLocks noChangeArrowheads="1"/>
          </p:cNvSpPr>
          <p:nvPr/>
        </p:nvSpPr>
        <p:spPr bwMode="auto">
          <a:xfrm>
            <a:off x="7496175" y="5334000"/>
            <a:ext cx="1462087" cy="1000125"/>
          </a:xfrm>
          <a:custGeom>
            <a:avLst/>
            <a:gdLst>
              <a:gd name="T0" fmla="*/ 162088028 w 21600"/>
              <a:gd name="T1" fmla="*/ 0 h 21600"/>
              <a:gd name="T2" fmla="*/ 0 w 21600"/>
              <a:gd name="T3" fmla="*/ 20307112 h 21600"/>
              <a:gd name="T4" fmla="*/ 162088028 w 21600"/>
              <a:gd name="T5" fmla="*/ 40614181 h 21600"/>
              <a:gd name="T6" fmla="*/ 216117338 w 21600"/>
              <a:gd name="T7" fmla="*/ 20307112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003300"/>
                </a:solidFill>
                <a:effectLst/>
                <a:uLnTx/>
                <a:uFillTx/>
                <a:latin typeface="隶书" pitchFamily="49" charset="-122"/>
                <a:ea typeface="隶书" pitchFamily="49" charset="-122"/>
                <a:cs typeface="+mn-cs"/>
              </a:rPr>
              <a:t>图示</a:t>
            </a:r>
          </a:p>
        </p:txBody>
      </p:sp>
    </p:spTree>
    <p:extLst>
      <p:ext uri="{BB962C8B-B14F-4D97-AF65-F5344CB8AC3E}">
        <p14:creationId xmlns:p14="http://schemas.microsoft.com/office/powerpoint/2010/main" val="1693378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bg/>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
                                            <p:txEl>
                                              <p:pRg st="0" end="0"/>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endParaRPr kumimoji="1" lang="zh-CN" altLang="en-US" sz="3200" b="1" dirty="0">
              <a:latin typeface="Arial" charset="0"/>
              <a:ea typeface="宋体" charset="-122"/>
              <a:cs typeface="+mn-cs"/>
            </a:endParaRPr>
          </a:p>
        </p:txBody>
      </p:sp>
      <p:sp>
        <p:nvSpPr>
          <p:cNvPr id="3" name="内容占位符 2"/>
          <p:cNvSpPr>
            <a:spLocks noGrp="1"/>
          </p:cNvSpPr>
          <p:nvPr>
            <p:ph idx="1"/>
          </p:nvPr>
        </p:nvSpPr>
        <p:spPr>
          <a:xfrm>
            <a:off x="457200" y="304800"/>
            <a:ext cx="8229600" cy="5105400"/>
          </a:xfrm>
        </p:spPr>
        <p:txBody>
          <a:bodyPr>
            <a:normAutofit/>
          </a:bodyPr>
          <a:lstStyle/>
          <a:p>
            <a:pPr>
              <a:lnSpc>
                <a:spcPts val="3600"/>
              </a:lnSpc>
            </a:pPr>
            <a:r>
              <a:rPr lang="zh-CN" altLang="en-US" sz="2800" b="1" dirty="0">
                <a:solidFill>
                  <a:srgbClr val="FF0000"/>
                </a:solidFill>
              </a:rPr>
              <a:t>森林转换为二叉树的方法</a:t>
            </a:r>
            <a:endParaRPr lang="en-US" altLang="zh-CN" sz="2800" b="1" dirty="0">
              <a:solidFill>
                <a:srgbClr val="FF0000"/>
              </a:solidFill>
            </a:endParaRPr>
          </a:p>
        </p:txBody>
      </p:sp>
      <p:sp>
        <p:nvSpPr>
          <p:cNvPr id="4" name="日期占位符 3"/>
          <p:cNvSpPr>
            <a:spLocks noGrp="1"/>
          </p:cNvSpPr>
          <p:nvPr>
            <p:ph type="dt" sz="half" idx="10"/>
          </p:nvPr>
        </p:nvSpPr>
        <p:spPr/>
        <p:txBody>
          <a:bodyPr/>
          <a:lstStyle/>
          <a:p>
            <a:fld id="{203D7F7D-EA44-4420-B035-45AFA2F4525A}"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138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51"/>
          <p:cNvSpPr txBox="1">
            <a:spLocks noChangeArrowheads="1"/>
          </p:cNvSpPr>
          <p:nvPr/>
        </p:nvSpPr>
        <p:spPr bwMode="auto">
          <a:xfrm>
            <a:off x="344488" y="3213100"/>
            <a:ext cx="5486400" cy="457200"/>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r>
              <a:rPr kumimoji="1" lang="zh-CN" altLang="en-US" sz="2400" b="1">
                <a:solidFill>
                  <a:srgbClr val="0000FF"/>
                </a:solidFill>
                <a:latin typeface="宋体" pitchFamily="2" charset="-122"/>
              </a:rPr>
              <a:t>包含3棵树的森林</a:t>
            </a:r>
          </a:p>
        </p:txBody>
      </p:sp>
      <p:sp>
        <p:nvSpPr>
          <p:cNvPr id="14" name="Text Box 143"/>
          <p:cNvSpPr txBox="1">
            <a:spLocks noChangeArrowheads="1"/>
          </p:cNvSpPr>
          <p:nvPr/>
        </p:nvSpPr>
        <p:spPr bwMode="auto">
          <a:xfrm>
            <a:off x="690563" y="5867400"/>
            <a:ext cx="5486400" cy="457200"/>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r>
              <a:rPr kumimoji="1" lang="zh-CN" altLang="en-US" sz="2400" b="1" dirty="0">
                <a:solidFill>
                  <a:srgbClr val="0000FF"/>
                </a:solidFill>
                <a:latin typeface="宋体" pitchFamily="2" charset="-122"/>
              </a:rPr>
              <a:t>每棵树对应的二叉树</a:t>
            </a:r>
          </a:p>
        </p:txBody>
      </p:sp>
      <p:sp>
        <p:nvSpPr>
          <p:cNvPr id="15" name="Text Box 144"/>
          <p:cNvSpPr txBox="1">
            <a:spLocks noChangeArrowheads="1"/>
          </p:cNvSpPr>
          <p:nvPr/>
        </p:nvSpPr>
        <p:spPr bwMode="auto">
          <a:xfrm>
            <a:off x="6105525" y="4508500"/>
            <a:ext cx="3325813" cy="457200"/>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r>
              <a:rPr kumimoji="1" lang="zh-CN" altLang="en-US" sz="2400" b="1">
                <a:solidFill>
                  <a:srgbClr val="0000FF"/>
                </a:solidFill>
                <a:latin typeface="宋体" pitchFamily="2" charset="-122"/>
              </a:rPr>
              <a:t>森林对应的二叉树</a:t>
            </a:r>
          </a:p>
        </p:txBody>
      </p:sp>
      <p:sp>
        <p:nvSpPr>
          <p:cNvPr id="16" name="Rectangle 289"/>
          <p:cNvSpPr>
            <a:spLocks noChangeArrowheads="1"/>
          </p:cNvSpPr>
          <p:nvPr/>
        </p:nvSpPr>
        <p:spPr bwMode="auto">
          <a:xfrm>
            <a:off x="1495425" y="776287"/>
            <a:ext cx="4033838" cy="519113"/>
          </a:xfrm>
          <a:prstGeom prst="rect">
            <a:avLst/>
          </a:prstGeom>
          <a:noFill/>
          <a:ln w="12700" cap="rnd">
            <a:noFill/>
            <a:miter lim="800000"/>
            <a:headEnd/>
            <a:tailEnd/>
          </a:ln>
        </p:spPr>
        <p:txBody>
          <a:bodyPr>
            <a:spAutoFit/>
          </a:bodyPr>
          <a:lstStyle/>
          <a:p>
            <a:pPr fontAlgn="base">
              <a:spcBef>
                <a:spcPct val="30000"/>
              </a:spcBef>
              <a:spcAft>
                <a:spcPct val="0"/>
              </a:spcAft>
            </a:pPr>
            <a:r>
              <a:rPr kumimoji="1" lang="zh-CN" altLang="en-US" sz="2800" b="1" dirty="0">
                <a:solidFill>
                  <a:srgbClr val="000000"/>
                </a:solidFill>
                <a:latin typeface="宋体" pitchFamily="2" charset="-122"/>
              </a:rPr>
              <a:t>森林转换为二叉树</a:t>
            </a:r>
          </a:p>
        </p:txBody>
      </p:sp>
      <p:grpSp>
        <p:nvGrpSpPr>
          <p:cNvPr id="17" name="Group 290"/>
          <p:cNvGrpSpPr>
            <a:grpSpLocks/>
          </p:cNvGrpSpPr>
          <p:nvPr/>
        </p:nvGrpSpPr>
        <p:grpSpPr bwMode="auto">
          <a:xfrm>
            <a:off x="2505075" y="1341438"/>
            <a:ext cx="1193800" cy="1692275"/>
            <a:chOff x="2400" y="1335"/>
            <a:chExt cx="752" cy="1066"/>
          </a:xfrm>
        </p:grpSpPr>
        <p:grpSp>
          <p:nvGrpSpPr>
            <p:cNvPr id="19" name="Group 291"/>
            <p:cNvGrpSpPr>
              <a:grpSpLocks/>
            </p:cNvGrpSpPr>
            <p:nvPr/>
          </p:nvGrpSpPr>
          <p:grpSpPr bwMode="auto">
            <a:xfrm>
              <a:off x="2621" y="1752"/>
              <a:ext cx="320" cy="250"/>
              <a:chOff x="2880" y="1104"/>
              <a:chExt cx="367" cy="343"/>
            </a:xfrm>
          </p:grpSpPr>
          <p:sp>
            <p:nvSpPr>
              <p:cNvPr id="32" name="Oval 29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33" name="Text Box 29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F</a:t>
                </a:r>
              </a:p>
            </p:txBody>
          </p:sp>
        </p:grpSp>
        <p:sp>
          <p:nvSpPr>
            <p:cNvPr id="20" name="Line 294"/>
            <p:cNvSpPr>
              <a:spLocks noChangeShapeType="1"/>
            </p:cNvSpPr>
            <p:nvPr/>
          </p:nvSpPr>
          <p:spPr bwMode="auto">
            <a:xfrm flipH="1">
              <a:off x="2557" y="1979"/>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1" name="Line 295"/>
            <p:cNvSpPr>
              <a:spLocks noChangeShapeType="1"/>
            </p:cNvSpPr>
            <p:nvPr/>
          </p:nvSpPr>
          <p:spPr bwMode="auto">
            <a:xfrm>
              <a:off x="2832" y="1972"/>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2" name="Line 296"/>
            <p:cNvSpPr>
              <a:spLocks noChangeShapeType="1"/>
            </p:cNvSpPr>
            <p:nvPr/>
          </p:nvSpPr>
          <p:spPr bwMode="auto">
            <a:xfrm>
              <a:off x="2784" y="1576"/>
              <a:ext cx="0" cy="190"/>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23" name="Group 297"/>
            <p:cNvGrpSpPr>
              <a:grpSpLocks/>
            </p:cNvGrpSpPr>
            <p:nvPr/>
          </p:nvGrpSpPr>
          <p:grpSpPr bwMode="auto">
            <a:xfrm>
              <a:off x="2832" y="2151"/>
              <a:ext cx="320" cy="250"/>
              <a:chOff x="2880" y="1104"/>
              <a:chExt cx="367" cy="343"/>
            </a:xfrm>
          </p:grpSpPr>
          <p:sp>
            <p:nvSpPr>
              <p:cNvPr id="30" name="Oval 29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31" name="Text Box 29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H</a:t>
                </a:r>
              </a:p>
            </p:txBody>
          </p:sp>
        </p:grpSp>
        <p:grpSp>
          <p:nvGrpSpPr>
            <p:cNvPr id="24" name="Group 300"/>
            <p:cNvGrpSpPr>
              <a:grpSpLocks/>
            </p:cNvGrpSpPr>
            <p:nvPr/>
          </p:nvGrpSpPr>
          <p:grpSpPr bwMode="auto">
            <a:xfrm>
              <a:off x="2400" y="2151"/>
              <a:ext cx="320" cy="250"/>
              <a:chOff x="2880" y="1104"/>
              <a:chExt cx="367" cy="343"/>
            </a:xfrm>
          </p:grpSpPr>
          <p:sp>
            <p:nvSpPr>
              <p:cNvPr id="28" name="Oval 30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29" name="Text Box 30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G</a:t>
                </a:r>
              </a:p>
            </p:txBody>
          </p:sp>
        </p:grpSp>
        <p:grpSp>
          <p:nvGrpSpPr>
            <p:cNvPr id="25" name="Group 303"/>
            <p:cNvGrpSpPr>
              <a:grpSpLocks/>
            </p:cNvGrpSpPr>
            <p:nvPr/>
          </p:nvGrpSpPr>
          <p:grpSpPr bwMode="auto">
            <a:xfrm>
              <a:off x="2640" y="1335"/>
              <a:ext cx="320" cy="250"/>
              <a:chOff x="2880" y="1104"/>
              <a:chExt cx="367" cy="343"/>
            </a:xfrm>
          </p:grpSpPr>
          <p:sp>
            <p:nvSpPr>
              <p:cNvPr id="26" name="Oval 30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27" name="Text Box 30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E</a:t>
                </a:r>
              </a:p>
            </p:txBody>
          </p:sp>
        </p:grpSp>
      </p:grpSp>
      <p:grpSp>
        <p:nvGrpSpPr>
          <p:cNvPr id="34" name="Group 306"/>
          <p:cNvGrpSpPr>
            <a:grpSpLocks/>
          </p:cNvGrpSpPr>
          <p:nvPr/>
        </p:nvGrpSpPr>
        <p:grpSpPr bwMode="auto">
          <a:xfrm>
            <a:off x="344488" y="1412875"/>
            <a:ext cx="1955800" cy="1006475"/>
            <a:chOff x="716" y="1431"/>
            <a:chExt cx="1232" cy="634"/>
          </a:xfrm>
        </p:grpSpPr>
        <p:sp>
          <p:nvSpPr>
            <p:cNvPr id="35" name="Line 307"/>
            <p:cNvSpPr>
              <a:spLocks noChangeShapeType="1"/>
            </p:cNvSpPr>
            <p:nvPr/>
          </p:nvSpPr>
          <p:spPr bwMode="auto">
            <a:xfrm>
              <a:off x="1340" y="1670"/>
              <a:ext cx="0" cy="163"/>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36" name="Line 308"/>
            <p:cNvSpPr>
              <a:spLocks noChangeShapeType="1"/>
            </p:cNvSpPr>
            <p:nvPr/>
          </p:nvSpPr>
          <p:spPr bwMode="auto">
            <a:xfrm flipH="1">
              <a:off x="860" y="1623"/>
              <a:ext cx="384" cy="240"/>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37" name="Line 309"/>
            <p:cNvSpPr>
              <a:spLocks noChangeShapeType="1"/>
            </p:cNvSpPr>
            <p:nvPr/>
          </p:nvSpPr>
          <p:spPr bwMode="auto">
            <a:xfrm>
              <a:off x="1436" y="1623"/>
              <a:ext cx="288"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38" name="Group 310"/>
            <p:cNvGrpSpPr>
              <a:grpSpLocks/>
            </p:cNvGrpSpPr>
            <p:nvPr/>
          </p:nvGrpSpPr>
          <p:grpSpPr bwMode="auto">
            <a:xfrm>
              <a:off x="1196" y="1431"/>
              <a:ext cx="320" cy="250"/>
              <a:chOff x="2880" y="1104"/>
              <a:chExt cx="367" cy="343"/>
            </a:xfrm>
          </p:grpSpPr>
          <p:sp>
            <p:nvSpPr>
              <p:cNvPr id="48" name="Oval 31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9" name="Text Box 31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A</a:t>
                </a:r>
              </a:p>
            </p:txBody>
          </p:sp>
        </p:grpSp>
        <p:grpSp>
          <p:nvGrpSpPr>
            <p:cNvPr id="39" name="Group 313"/>
            <p:cNvGrpSpPr>
              <a:grpSpLocks/>
            </p:cNvGrpSpPr>
            <p:nvPr/>
          </p:nvGrpSpPr>
          <p:grpSpPr bwMode="auto">
            <a:xfrm>
              <a:off x="1196" y="1815"/>
              <a:ext cx="320" cy="250"/>
              <a:chOff x="2880" y="1104"/>
              <a:chExt cx="367" cy="343"/>
            </a:xfrm>
          </p:grpSpPr>
          <p:sp>
            <p:nvSpPr>
              <p:cNvPr id="46" name="Oval 31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7" name="Text Box 31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C</a:t>
                </a:r>
              </a:p>
            </p:txBody>
          </p:sp>
        </p:grpSp>
        <p:grpSp>
          <p:nvGrpSpPr>
            <p:cNvPr id="40" name="Group 316"/>
            <p:cNvGrpSpPr>
              <a:grpSpLocks/>
            </p:cNvGrpSpPr>
            <p:nvPr/>
          </p:nvGrpSpPr>
          <p:grpSpPr bwMode="auto">
            <a:xfrm>
              <a:off x="716" y="1815"/>
              <a:ext cx="320" cy="250"/>
              <a:chOff x="2880" y="1104"/>
              <a:chExt cx="367" cy="343"/>
            </a:xfrm>
          </p:grpSpPr>
          <p:sp>
            <p:nvSpPr>
              <p:cNvPr id="44" name="Oval 31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5" name="Text Box 31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B</a:t>
                </a:r>
              </a:p>
            </p:txBody>
          </p:sp>
        </p:grpSp>
        <p:grpSp>
          <p:nvGrpSpPr>
            <p:cNvPr id="41" name="Group 319"/>
            <p:cNvGrpSpPr>
              <a:grpSpLocks/>
            </p:cNvGrpSpPr>
            <p:nvPr/>
          </p:nvGrpSpPr>
          <p:grpSpPr bwMode="auto">
            <a:xfrm>
              <a:off x="1628" y="1815"/>
              <a:ext cx="320" cy="250"/>
              <a:chOff x="2880" y="1104"/>
              <a:chExt cx="367" cy="343"/>
            </a:xfrm>
          </p:grpSpPr>
          <p:sp>
            <p:nvSpPr>
              <p:cNvPr id="42" name="Oval 32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3" name="Text Box 32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D</a:t>
                </a:r>
              </a:p>
            </p:txBody>
          </p:sp>
        </p:grpSp>
      </p:grpSp>
      <p:grpSp>
        <p:nvGrpSpPr>
          <p:cNvPr id="50" name="Group 322"/>
          <p:cNvGrpSpPr>
            <a:grpSpLocks/>
          </p:cNvGrpSpPr>
          <p:nvPr/>
        </p:nvGrpSpPr>
        <p:grpSpPr bwMode="auto">
          <a:xfrm>
            <a:off x="4016375" y="1341438"/>
            <a:ext cx="1371600" cy="1620837"/>
            <a:chOff x="3392" y="1389"/>
            <a:chExt cx="864" cy="1021"/>
          </a:xfrm>
        </p:grpSpPr>
        <p:sp>
          <p:nvSpPr>
            <p:cNvPr id="51" name="Line 323"/>
            <p:cNvSpPr>
              <a:spLocks noChangeShapeType="1"/>
            </p:cNvSpPr>
            <p:nvPr/>
          </p:nvSpPr>
          <p:spPr bwMode="auto">
            <a:xfrm flipH="1">
              <a:off x="3552" y="1575"/>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52" name="Line 324"/>
            <p:cNvSpPr>
              <a:spLocks noChangeShapeType="1"/>
            </p:cNvSpPr>
            <p:nvPr/>
          </p:nvSpPr>
          <p:spPr bwMode="auto">
            <a:xfrm>
              <a:off x="3840" y="1623"/>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53" name="Group 325"/>
            <p:cNvGrpSpPr>
              <a:grpSpLocks/>
            </p:cNvGrpSpPr>
            <p:nvPr/>
          </p:nvGrpSpPr>
          <p:grpSpPr bwMode="auto">
            <a:xfrm>
              <a:off x="3664" y="1389"/>
              <a:ext cx="320" cy="250"/>
              <a:chOff x="2880" y="1104"/>
              <a:chExt cx="367" cy="343"/>
            </a:xfrm>
          </p:grpSpPr>
          <p:sp>
            <p:nvSpPr>
              <p:cNvPr id="64" name="Oval 32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5" name="Text Box 32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I</a:t>
                </a:r>
              </a:p>
            </p:txBody>
          </p:sp>
        </p:grpSp>
        <p:sp>
          <p:nvSpPr>
            <p:cNvPr id="54" name="Line 328"/>
            <p:cNvSpPr>
              <a:spLocks noChangeShapeType="1"/>
            </p:cNvSpPr>
            <p:nvPr/>
          </p:nvSpPr>
          <p:spPr bwMode="auto">
            <a:xfrm>
              <a:off x="4080" y="1959"/>
              <a:ext cx="0" cy="288"/>
            </a:xfrm>
            <a:prstGeom prst="line">
              <a:avLst/>
            </a:prstGeom>
            <a:noFill/>
            <a:ln w="12700" cap="rnd">
              <a:solidFill>
                <a:srgbClr val="99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55" name="Group 329"/>
            <p:cNvGrpSpPr>
              <a:grpSpLocks/>
            </p:cNvGrpSpPr>
            <p:nvPr/>
          </p:nvGrpSpPr>
          <p:grpSpPr bwMode="auto">
            <a:xfrm>
              <a:off x="3936" y="1752"/>
              <a:ext cx="320" cy="250"/>
              <a:chOff x="2880" y="1104"/>
              <a:chExt cx="367" cy="343"/>
            </a:xfrm>
          </p:grpSpPr>
          <p:sp>
            <p:nvSpPr>
              <p:cNvPr id="62" name="Oval 33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3" name="Text Box 33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K</a:t>
                </a:r>
              </a:p>
            </p:txBody>
          </p:sp>
        </p:grpSp>
        <p:grpSp>
          <p:nvGrpSpPr>
            <p:cNvPr id="56" name="Group 332"/>
            <p:cNvGrpSpPr>
              <a:grpSpLocks/>
            </p:cNvGrpSpPr>
            <p:nvPr/>
          </p:nvGrpSpPr>
          <p:grpSpPr bwMode="auto">
            <a:xfrm>
              <a:off x="3392" y="1752"/>
              <a:ext cx="320" cy="250"/>
              <a:chOff x="2880" y="1104"/>
              <a:chExt cx="367" cy="343"/>
            </a:xfrm>
          </p:grpSpPr>
          <p:sp>
            <p:nvSpPr>
              <p:cNvPr id="60" name="Oval 33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1" name="Text Box 33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J</a:t>
                </a:r>
              </a:p>
            </p:txBody>
          </p:sp>
        </p:grpSp>
        <p:grpSp>
          <p:nvGrpSpPr>
            <p:cNvPr id="57" name="Group 335"/>
            <p:cNvGrpSpPr>
              <a:grpSpLocks/>
            </p:cNvGrpSpPr>
            <p:nvPr/>
          </p:nvGrpSpPr>
          <p:grpSpPr bwMode="auto">
            <a:xfrm>
              <a:off x="3936" y="2160"/>
              <a:ext cx="317" cy="250"/>
              <a:chOff x="2880" y="1104"/>
              <a:chExt cx="367" cy="343"/>
            </a:xfrm>
          </p:grpSpPr>
          <p:sp>
            <p:nvSpPr>
              <p:cNvPr id="58" name="Oval 33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9" name="Text Box 33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L</a:t>
                </a:r>
              </a:p>
            </p:txBody>
          </p:sp>
        </p:grpSp>
      </p:grpSp>
      <p:grpSp>
        <p:nvGrpSpPr>
          <p:cNvPr id="66" name="Group 338"/>
          <p:cNvGrpSpPr>
            <a:grpSpLocks/>
          </p:cNvGrpSpPr>
          <p:nvPr/>
        </p:nvGrpSpPr>
        <p:grpSpPr bwMode="auto">
          <a:xfrm>
            <a:off x="273050" y="3716338"/>
            <a:ext cx="1803400" cy="1981200"/>
            <a:chOff x="172" y="1706"/>
            <a:chExt cx="1136" cy="1248"/>
          </a:xfrm>
        </p:grpSpPr>
        <p:sp>
          <p:nvSpPr>
            <p:cNvPr id="67" name="Line 339"/>
            <p:cNvSpPr>
              <a:spLocks noChangeShapeType="1"/>
            </p:cNvSpPr>
            <p:nvPr/>
          </p:nvSpPr>
          <p:spPr bwMode="auto">
            <a:xfrm flipH="1">
              <a:off x="270" y="1853"/>
              <a:ext cx="384" cy="240"/>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68" name="Line 340"/>
            <p:cNvSpPr>
              <a:spLocks noChangeShapeType="1"/>
            </p:cNvSpPr>
            <p:nvPr/>
          </p:nvSpPr>
          <p:spPr bwMode="auto">
            <a:xfrm>
              <a:off x="308" y="2251"/>
              <a:ext cx="288"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69" name="Group 341"/>
            <p:cNvGrpSpPr>
              <a:grpSpLocks/>
            </p:cNvGrpSpPr>
            <p:nvPr/>
          </p:nvGrpSpPr>
          <p:grpSpPr bwMode="auto">
            <a:xfrm>
              <a:off x="535" y="1706"/>
              <a:ext cx="320" cy="250"/>
              <a:chOff x="2880" y="1104"/>
              <a:chExt cx="367" cy="343"/>
            </a:xfrm>
          </p:grpSpPr>
          <p:sp>
            <p:nvSpPr>
              <p:cNvPr id="80" name="Oval 34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81" name="Text Box 34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A</a:t>
                </a:r>
              </a:p>
            </p:txBody>
          </p:sp>
        </p:grpSp>
        <p:grpSp>
          <p:nvGrpSpPr>
            <p:cNvPr id="70" name="Group 344"/>
            <p:cNvGrpSpPr>
              <a:grpSpLocks/>
            </p:cNvGrpSpPr>
            <p:nvPr/>
          </p:nvGrpSpPr>
          <p:grpSpPr bwMode="auto">
            <a:xfrm>
              <a:off x="172" y="2069"/>
              <a:ext cx="320" cy="250"/>
              <a:chOff x="2880" y="1104"/>
              <a:chExt cx="367" cy="343"/>
            </a:xfrm>
          </p:grpSpPr>
          <p:sp>
            <p:nvSpPr>
              <p:cNvPr id="78" name="Oval 34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79" name="Text Box 346"/>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B</a:t>
                </a:r>
              </a:p>
            </p:txBody>
          </p:sp>
        </p:grpSp>
        <p:grpSp>
          <p:nvGrpSpPr>
            <p:cNvPr id="71" name="Group 347"/>
            <p:cNvGrpSpPr>
              <a:grpSpLocks/>
            </p:cNvGrpSpPr>
            <p:nvPr/>
          </p:nvGrpSpPr>
          <p:grpSpPr bwMode="auto">
            <a:xfrm>
              <a:off x="535" y="2387"/>
              <a:ext cx="320" cy="250"/>
              <a:chOff x="2880" y="1104"/>
              <a:chExt cx="367" cy="343"/>
            </a:xfrm>
          </p:grpSpPr>
          <p:sp>
            <p:nvSpPr>
              <p:cNvPr id="76" name="Oval 34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77" name="Text Box 34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C</a:t>
                </a:r>
              </a:p>
            </p:txBody>
          </p:sp>
        </p:grpSp>
        <p:sp>
          <p:nvSpPr>
            <p:cNvPr id="72" name="Line 350"/>
            <p:cNvSpPr>
              <a:spLocks noChangeShapeType="1"/>
            </p:cNvSpPr>
            <p:nvPr/>
          </p:nvSpPr>
          <p:spPr bwMode="auto">
            <a:xfrm>
              <a:off x="761" y="2614"/>
              <a:ext cx="288"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73" name="Group 351"/>
            <p:cNvGrpSpPr>
              <a:grpSpLocks/>
            </p:cNvGrpSpPr>
            <p:nvPr/>
          </p:nvGrpSpPr>
          <p:grpSpPr bwMode="auto">
            <a:xfrm>
              <a:off x="988" y="2704"/>
              <a:ext cx="320" cy="250"/>
              <a:chOff x="2880" y="1104"/>
              <a:chExt cx="367" cy="343"/>
            </a:xfrm>
          </p:grpSpPr>
          <p:sp>
            <p:nvSpPr>
              <p:cNvPr id="74" name="Oval 35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75" name="Text Box 35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D</a:t>
                </a:r>
              </a:p>
            </p:txBody>
          </p:sp>
        </p:grpSp>
      </p:grpSp>
      <p:grpSp>
        <p:nvGrpSpPr>
          <p:cNvPr id="82" name="Group 354"/>
          <p:cNvGrpSpPr>
            <a:grpSpLocks/>
          </p:cNvGrpSpPr>
          <p:nvPr/>
        </p:nvGrpSpPr>
        <p:grpSpPr bwMode="auto">
          <a:xfrm>
            <a:off x="2073275" y="3789363"/>
            <a:ext cx="1193800" cy="2006600"/>
            <a:chOff x="2280" y="2341"/>
            <a:chExt cx="752" cy="1264"/>
          </a:xfrm>
        </p:grpSpPr>
        <p:sp>
          <p:nvSpPr>
            <p:cNvPr id="83" name="Line 355"/>
            <p:cNvSpPr>
              <a:spLocks noChangeShapeType="1"/>
            </p:cNvSpPr>
            <p:nvPr/>
          </p:nvSpPr>
          <p:spPr bwMode="auto">
            <a:xfrm flipH="1">
              <a:off x="2442" y="2896"/>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4" name="Line 356"/>
            <p:cNvSpPr>
              <a:spLocks noChangeShapeType="1"/>
            </p:cNvSpPr>
            <p:nvPr/>
          </p:nvSpPr>
          <p:spPr bwMode="auto">
            <a:xfrm flipH="1">
              <a:off x="2677" y="2523"/>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85" name="Group 357"/>
            <p:cNvGrpSpPr>
              <a:grpSpLocks/>
            </p:cNvGrpSpPr>
            <p:nvPr/>
          </p:nvGrpSpPr>
          <p:grpSpPr bwMode="auto">
            <a:xfrm>
              <a:off x="2522" y="2673"/>
              <a:ext cx="333" cy="254"/>
              <a:chOff x="2501" y="2659"/>
              <a:chExt cx="333" cy="254"/>
            </a:xfrm>
          </p:grpSpPr>
          <p:sp>
            <p:nvSpPr>
              <p:cNvPr id="95" name="Oval 358"/>
              <p:cNvSpPr>
                <a:spLocks noChangeArrowheads="1"/>
              </p:cNvSpPr>
              <p:nvPr/>
            </p:nvSpPr>
            <p:spPr bwMode="auto">
              <a:xfrm>
                <a:off x="2501" y="2668"/>
                <a:ext cx="276" cy="245"/>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6" name="Text Box 359"/>
              <p:cNvSpPr txBox="1">
                <a:spLocks noChangeArrowheads="1"/>
              </p:cNvSpPr>
              <p:nvPr/>
            </p:nvSpPr>
            <p:spPr bwMode="auto">
              <a:xfrm>
                <a:off x="2556" y="2659"/>
                <a:ext cx="278"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F</a:t>
                </a:r>
              </a:p>
            </p:txBody>
          </p:sp>
        </p:grpSp>
        <p:sp>
          <p:nvSpPr>
            <p:cNvPr id="86" name="Line 360"/>
            <p:cNvSpPr>
              <a:spLocks noChangeShapeType="1"/>
            </p:cNvSpPr>
            <p:nvPr/>
          </p:nvSpPr>
          <p:spPr bwMode="auto">
            <a:xfrm>
              <a:off x="2530" y="3249"/>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87" name="Group 361"/>
            <p:cNvGrpSpPr>
              <a:grpSpLocks/>
            </p:cNvGrpSpPr>
            <p:nvPr/>
          </p:nvGrpSpPr>
          <p:grpSpPr bwMode="auto">
            <a:xfrm>
              <a:off x="2621" y="3339"/>
              <a:ext cx="318" cy="266"/>
              <a:chOff x="2621" y="3409"/>
              <a:chExt cx="318" cy="266"/>
            </a:xfrm>
          </p:grpSpPr>
          <p:sp>
            <p:nvSpPr>
              <p:cNvPr id="93" name="Oval 362"/>
              <p:cNvSpPr>
                <a:spLocks noChangeArrowheads="1"/>
              </p:cNvSpPr>
              <p:nvPr/>
            </p:nvSpPr>
            <p:spPr bwMode="auto">
              <a:xfrm>
                <a:off x="2621" y="3430"/>
                <a:ext cx="276" cy="245"/>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4" name="Text Box 363"/>
              <p:cNvSpPr txBox="1">
                <a:spLocks noChangeArrowheads="1"/>
              </p:cNvSpPr>
              <p:nvPr/>
            </p:nvSpPr>
            <p:spPr bwMode="auto">
              <a:xfrm>
                <a:off x="2661" y="3409"/>
                <a:ext cx="278"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H</a:t>
                </a:r>
              </a:p>
            </p:txBody>
          </p:sp>
        </p:grpSp>
        <p:sp>
          <p:nvSpPr>
            <p:cNvPr id="88" name="Oval 364"/>
            <p:cNvSpPr>
              <a:spLocks noChangeArrowheads="1"/>
            </p:cNvSpPr>
            <p:nvPr/>
          </p:nvSpPr>
          <p:spPr bwMode="auto">
            <a:xfrm>
              <a:off x="2280" y="3067"/>
              <a:ext cx="276" cy="245"/>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89" name="Text Box 365"/>
            <p:cNvSpPr txBox="1">
              <a:spLocks noChangeArrowheads="1"/>
            </p:cNvSpPr>
            <p:nvPr/>
          </p:nvSpPr>
          <p:spPr bwMode="auto">
            <a:xfrm>
              <a:off x="2322" y="3067"/>
              <a:ext cx="278"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G</a:t>
              </a:r>
            </a:p>
          </p:txBody>
        </p:sp>
        <p:grpSp>
          <p:nvGrpSpPr>
            <p:cNvPr id="90" name="Group 366"/>
            <p:cNvGrpSpPr>
              <a:grpSpLocks/>
            </p:cNvGrpSpPr>
            <p:nvPr/>
          </p:nvGrpSpPr>
          <p:grpSpPr bwMode="auto">
            <a:xfrm>
              <a:off x="2712" y="2341"/>
              <a:ext cx="320" cy="250"/>
              <a:chOff x="2520" y="2251"/>
              <a:chExt cx="320" cy="250"/>
            </a:xfrm>
          </p:grpSpPr>
          <p:sp>
            <p:nvSpPr>
              <p:cNvPr id="91" name="Oval 367"/>
              <p:cNvSpPr>
                <a:spLocks noChangeArrowheads="1"/>
              </p:cNvSpPr>
              <p:nvPr/>
            </p:nvSpPr>
            <p:spPr bwMode="auto">
              <a:xfrm>
                <a:off x="2520" y="2251"/>
                <a:ext cx="276" cy="245"/>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2" name="Text Box 368"/>
              <p:cNvSpPr txBox="1">
                <a:spLocks noChangeArrowheads="1"/>
              </p:cNvSpPr>
              <p:nvPr/>
            </p:nvSpPr>
            <p:spPr bwMode="auto">
              <a:xfrm>
                <a:off x="2562" y="2251"/>
                <a:ext cx="278"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E</a:t>
                </a:r>
              </a:p>
            </p:txBody>
          </p:sp>
        </p:grpSp>
      </p:grpSp>
      <p:grpSp>
        <p:nvGrpSpPr>
          <p:cNvPr id="97" name="Group 369"/>
          <p:cNvGrpSpPr>
            <a:grpSpLocks/>
          </p:cNvGrpSpPr>
          <p:nvPr/>
        </p:nvGrpSpPr>
        <p:grpSpPr bwMode="auto">
          <a:xfrm>
            <a:off x="4160838" y="3716338"/>
            <a:ext cx="1011237" cy="2125662"/>
            <a:chOff x="4708" y="2296"/>
            <a:chExt cx="637" cy="1339"/>
          </a:xfrm>
        </p:grpSpPr>
        <p:sp>
          <p:nvSpPr>
            <p:cNvPr id="98" name="Line 370"/>
            <p:cNvSpPr>
              <a:spLocks noChangeShapeType="1"/>
            </p:cNvSpPr>
            <p:nvPr/>
          </p:nvSpPr>
          <p:spPr bwMode="auto">
            <a:xfrm flipH="1">
              <a:off x="4868" y="2482"/>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99" name="Line 371"/>
            <p:cNvSpPr>
              <a:spLocks noChangeShapeType="1"/>
            </p:cNvSpPr>
            <p:nvPr/>
          </p:nvSpPr>
          <p:spPr bwMode="auto">
            <a:xfrm>
              <a:off x="4929" y="2893"/>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100" name="Group 372"/>
            <p:cNvGrpSpPr>
              <a:grpSpLocks/>
            </p:cNvGrpSpPr>
            <p:nvPr/>
          </p:nvGrpSpPr>
          <p:grpSpPr bwMode="auto">
            <a:xfrm>
              <a:off x="4980" y="2296"/>
              <a:ext cx="320" cy="250"/>
              <a:chOff x="2880" y="1104"/>
              <a:chExt cx="367" cy="343"/>
            </a:xfrm>
          </p:grpSpPr>
          <p:sp>
            <p:nvSpPr>
              <p:cNvPr id="111" name="Oval 37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12" name="Text Box 37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I</a:t>
                </a:r>
              </a:p>
            </p:txBody>
          </p:sp>
        </p:grpSp>
        <p:grpSp>
          <p:nvGrpSpPr>
            <p:cNvPr id="101" name="Group 375"/>
            <p:cNvGrpSpPr>
              <a:grpSpLocks/>
            </p:cNvGrpSpPr>
            <p:nvPr/>
          </p:nvGrpSpPr>
          <p:grpSpPr bwMode="auto">
            <a:xfrm>
              <a:off x="4708" y="2659"/>
              <a:ext cx="320" cy="250"/>
              <a:chOff x="2880" y="1104"/>
              <a:chExt cx="367" cy="343"/>
            </a:xfrm>
          </p:grpSpPr>
          <p:sp>
            <p:nvSpPr>
              <p:cNvPr id="109" name="Oval 37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10" name="Text Box 37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J</a:t>
                </a:r>
              </a:p>
            </p:txBody>
          </p:sp>
        </p:grpSp>
        <p:grpSp>
          <p:nvGrpSpPr>
            <p:cNvPr id="102" name="Group 378"/>
            <p:cNvGrpSpPr>
              <a:grpSpLocks/>
            </p:cNvGrpSpPr>
            <p:nvPr/>
          </p:nvGrpSpPr>
          <p:grpSpPr bwMode="auto">
            <a:xfrm>
              <a:off x="4708" y="3385"/>
              <a:ext cx="317" cy="250"/>
              <a:chOff x="2880" y="1104"/>
              <a:chExt cx="367" cy="343"/>
            </a:xfrm>
          </p:grpSpPr>
          <p:sp>
            <p:nvSpPr>
              <p:cNvPr id="107" name="Oval 37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08" name="Text Box 380"/>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L</a:t>
                </a:r>
              </a:p>
            </p:txBody>
          </p:sp>
        </p:grpSp>
        <p:sp>
          <p:nvSpPr>
            <p:cNvPr id="103" name="Line 381"/>
            <p:cNvSpPr>
              <a:spLocks noChangeShapeType="1"/>
            </p:cNvSpPr>
            <p:nvPr/>
          </p:nvSpPr>
          <p:spPr bwMode="auto">
            <a:xfrm flipH="1">
              <a:off x="4889" y="3203"/>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104" name="Group 382"/>
            <p:cNvGrpSpPr>
              <a:grpSpLocks/>
            </p:cNvGrpSpPr>
            <p:nvPr/>
          </p:nvGrpSpPr>
          <p:grpSpPr bwMode="auto">
            <a:xfrm>
              <a:off x="5025" y="3022"/>
              <a:ext cx="320" cy="250"/>
              <a:chOff x="2880" y="1104"/>
              <a:chExt cx="367" cy="343"/>
            </a:xfrm>
          </p:grpSpPr>
          <p:sp>
            <p:nvSpPr>
              <p:cNvPr id="105" name="Oval 38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06" name="Text Box 38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K</a:t>
                </a:r>
              </a:p>
            </p:txBody>
          </p:sp>
        </p:grpSp>
      </p:grpSp>
      <p:grpSp>
        <p:nvGrpSpPr>
          <p:cNvPr id="113" name="Group 445"/>
          <p:cNvGrpSpPr>
            <a:grpSpLocks/>
          </p:cNvGrpSpPr>
          <p:nvPr/>
        </p:nvGrpSpPr>
        <p:grpSpPr bwMode="auto">
          <a:xfrm>
            <a:off x="6321425" y="1125538"/>
            <a:ext cx="2690813" cy="2928937"/>
            <a:chOff x="3846" y="709"/>
            <a:chExt cx="1695" cy="1845"/>
          </a:xfrm>
        </p:grpSpPr>
        <p:sp>
          <p:nvSpPr>
            <p:cNvPr id="114" name="Line 443"/>
            <p:cNvSpPr>
              <a:spLocks noChangeShapeType="1"/>
            </p:cNvSpPr>
            <p:nvPr/>
          </p:nvSpPr>
          <p:spPr bwMode="auto">
            <a:xfrm>
              <a:off x="5025" y="1208"/>
              <a:ext cx="272" cy="226"/>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15" name="Line 425"/>
            <p:cNvSpPr>
              <a:spLocks noChangeShapeType="1"/>
            </p:cNvSpPr>
            <p:nvPr/>
          </p:nvSpPr>
          <p:spPr bwMode="auto">
            <a:xfrm>
              <a:off x="4572" y="891"/>
              <a:ext cx="272" cy="226"/>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16" name="Line 423"/>
            <p:cNvSpPr>
              <a:spLocks noChangeShapeType="1"/>
            </p:cNvSpPr>
            <p:nvPr/>
          </p:nvSpPr>
          <p:spPr bwMode="auto">
            <a:xfrm>
              <a:off x="3982" y="1253"/>
              <a:ext cx="227" cy="227"/>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17" name="Line 397"/>
            <p:cNvSpPr>
              <a:spLocks noChangeShapeType="1"/>
            </p:cNvSpPr>
            <p:nvPr/>
          </p:nvSpPr>
          <p:spPr bwMode="auto">
            <a:xfrm>
              <a:off x="4118" y="1571"/>
              <a:ext cx="227" cy="227"/>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18" name="Line 386"/>
            <p:cNvSpPr>
              <a:spLocks noChangeShapeType="1"/>
            </p:cNvSpPr>
            <p:nvPr/>
          </p:nvSpPr>
          <p:spPr bwMode="auto">
            <a:xfrm flipH="1">
              <a:off x="3944" y="800"/>
              <a:ext cx="582" cy="341"/>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119" name="Group 388"/>
            <p:cNvGrpSpPr>
              <a:grpSpLocks/>
            </p:cNvGrpSpPr>
            <p:nvPr/>
          </p:nvGrpSpPr>
          <p:grpSpPr bwMode="auto">
            <a:xfrm>
              <a:off x="4345" y="709"/>
              <a:ext cx="320" cy="250"/>
              <a:chOff x="2880" y="1104"/>
              <a:chExt cx="367" cy="343"/>
            </a:xfrm>
          </p:grpSpPr>
          <p:sp>
            <p:nvSpPr>
              <p:cNvPr id="159" name="Oval 38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60" name="Text Box 390"/>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A</a:t>
                </a:r>
              </a:p>
            </p:txBody>
          </p:sp>
        </p:grpSp>
        <p:grpSp>
          <p:nvGrpSpPr>
            <p:cNvPr id="120" name="Group 391"/>
            <p:cNvGrpSpPr>
              <a:grpSpLocks/>
            </p:cNvGrpSpPr>
            <p:nvPr/>
          </p:nvGrpSpPr>
          <p:grpSpPr bwMode="auto">
            <a:xfrm>
              <a:off x="3846" y="1072"/>
              <a:ext cx="320" cy="250"/>
              <a:chOff x="2880" y="1104"/>
              <a:chExt cx="367" cy="343"/>
            </a:xfrm>
          </p:grpSpPr>
          <p:sp>
            <p:nvSpPr>
              <p:cNvPr id="157" name="Oval 39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58" name="Text Box 39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B</a:t>
                </a:r>
              </a:p>
            </p:txBody>
          </p:sp>
        </p:grpSp>
        <p:grpSp>
          <p:nvGrpSpPr>
            <p:cNvPr id="121" name="Group 398"/>
            <p:cNvGrpSpPr>
              <a:grpSpLocks/>
            </p:cNvGrpSpPr>
            <p:nvPr/>
          </p:nvGrpSpPr>
          <p:grpSpPr bwMode="auto">
            <a:xfrm>
              <a:off x="4118" y="1707"/>
              <a:ext cx="317" cy="250"/>
              <a:chOff x="2880" y="1104"/>
              <a:chExt cx="367" cy="343"/>
            </a:xfrm>
          </p:grpSpPr>
          <p:sp>
            <p:nvSpPr>
              <p:cNvPr id="155" name="Oval 39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56" name="Text Box 400"/>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D</a:t>
                </a:r>
              </a:p>
            </p:txBody>
          </p:sp>
        </p:grpSp>
        <p:sp>
          <p:nvSpPr>
            <p:cNvPr id="122" name="Line 402"/>
            <p:cNvSpPr>
              <a:spLocks noChangeShapeType="1"/>
            </p:cNvSpPr>
            <p:nvPr/>
          </p:nvSpPr>
          <p:spPr bwMode="auto">
            <a:xfrm flipH="1">
              <a:off x="4598" y="1627"/>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23" name="Line 403"/>
            <p:cNvSpPr>
              <a:spLocks noChangeShapeType="1"/>
            </p:cNvSpPr>
            <p:nvPr/>
          </p:nvSpPr>
          <p:spPr bwMode="auto">
            <a:xfrm flipH="1">
              <a:off x="4784" y="1254"/>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124" name="Group 404"/>
            <p:cNvGrpSpPr>
              <a:grpSpLocks/>
            </p:cNvGrpSpPr>
            <p:nvPr/>
          </p:nvGrpSpPr>
          <p:grpSpPr bwMode="auto">
            <a:xfrm>
              <a:off x="4629" y="1404"/>
              <a:ext cx="333" cy="254"/>
              <a:chOff x="2501" y="2659"/>
              <a:chExt cx="333" cy="254"/>
            </a:xfrm>
          </p:grpSpPr>
          <p:sp>
            <p:nvSpPr>
              <p:cNvPr id="153" name="Oval 405"/>
              <p:cNvSpPr>
                <a:spLocks noChangeArrowheads="1"/>
              </p:cNvSpPr>
              <p:nvPr/>
            </p:nvSpPr>
            <p:spPr bwMode="auto">
              <a:xfrm>
                <a:off x="2501" y="2668"/>
                <a:ext cx="276" cy="245"/>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54" name="Text Box 406"/>
              <p:cNvSpPr txBox="1">
                <a:spLocks noChangeArrowheads="1"/>
              </p:cNvSpPr>
              <p:nvPr/>
            </p:nvSpPr>
            <p:spPr bwMode="auto">
              <a:xfrm>
                <a:off x="2556" y="2659"/>
                <a:ext cx="278"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F</a:t>
                </a:r>
              </a:p>
            </p:txBody>
          </p:sp>
        </p:grpSp>
        <p:sp>
          <p:nvSpPr>
            <p:cNvPr id="125" name="Line 407"/>
            <p:cNvSpPr>
              <a:spLocks noChangeShapeType="1"/>
            </p:cNvSpPr>
            <p:nvPr/>
          </p:nvSpPr>
          <p:spPr bwMode="auto">
            <a:xfrm>
              <a:off x="4630" y="1881"/>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126" name="Group 408"/>
            <p:cNvGrpSpPr>
              <a:grpSpLocks/>
            </p:cNvGrpSpPr>
            <p:nvPr/>
          </p:nvGrpSpPr>
          <p:grpSpPr bwMode="auto">
            <a:xfrm>
              <a:off x="4721" y="1971"/>
              <a:ext cx="318" cy="266"/>
              <a:chOff x="2621" y="3409"/>
              <a:chExt cx="318" cy="266"/>
            </a:xfrm>
          </p:grpSpPr>
          <p:sp>
            <p:nvSpPr>
              <p:cNvPr id="151" name="Oval 409"/>
              <p:cNvSpPr>
                <a:spLocks noChangeArrowheads="1"/>
              </p:cNvSpPr>
              <p:nvPr/>
            </p:nvSpPr>
            <p:spPr bwMode="auto">
              <a:xfrm>
                <a:off x="2621" y="3430"/>
                <a:ext cx="276" cy="245"/>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52" name="Text Box 410"/>
              <p:cNvSpPr txBox="1">
                <a:spLocks noChangeArrowheads="1"/>
              </p:cNvSpPr>
              <p:nvPr/>
            </p:nvSpPr>
            <p:spPr bwMode="auto">
              <a:xfrm>
                <a:off x="2661" y="3409"/>
                <a:ext cx="278"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H</a:t>
                </a:r>
              </a:p>
            </p:txBody>
          </p:sp>
        </p:grpSp>
        <p:grpSp>
          <p:nvGrpSpPr>
            <p:cNvPr id="127" name="Group 424"/>
            <p:cNvGrpSpPr>
              <a:grpSpLocks/>
            </p:cNvGrpSpPr>
            <p:nvPr/>
          </p:nvGrpSpPr>
          <p:grpSpPr bwMode="auto">
            <a:xfrm>
              <a:off x="4450" y="1700"/>
              <a:ext cx="323" cy="250"/>
              <a:chOff x="4073" y="4020"/>
              <a:chExt cx="323" cy="250"/>
            </a:xfrm>
          </p:grpSpPr>
          <p:sp>
            <p:nvSpPr>
              <p:cNvPr id="149" name="Oval 411"/>
              <p:cNvSpPr>
                <a:spLocks noChangeArrowheads="1"/>
              </p:cNvSpPr>
              <p:nvPr/>
            </p:nvSpPr>
            <p:spPr bwMode="auto">
              <a:xfrm>
                <a:off x="4073" y="4020"/>
                <a:ext cx="276" cy="245"/>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50" name="Text Box 412"/>
              <p:cNvSpPr txBox="1">
                <a:spLocks noChangeArrowheads="1"/>
              </p:cNvSpPr>
              <p:nvPr/>
            </p:nvSpPr>
            <p:spPr bwMode="auto">
              <a:xfrm>
                <a:off x="4118" y="4020"/>
                <a:ext cx="278"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G</a:t>
                </a:r>
              </a:p>
            </p:txBody>
          </p:sp>
        </p:grpSp>
        <p:grpSp>
          <p:nvGrpSpPr>
            <p:cNvPr id="128" name="Group 413"/>
            <p:cNvGrpSpPr>
              <a:grpSpLocks/>
            </p:cNvGrpSpPr>
            <p:nvPr/>
          </p:nvGrpSpPr>
          <p:grpSpPr bwMode="auto">
            <a:xfrm>
              <a:off x="4798" y="1072"/>
              <a:ext cx="320" cy="250"/>
              <a:chOff x="2520" y="2251"/>
              <a:chExt cx="320" cy="250"/>
            </a:xfrm>
          </p:grpSpPr>
          <p:sp>
            <p:nvSpPr>
              <p:cNvPr id="147" name="Oval 414"/>
              <p:cNvSpPr>
                <a:spLocks noChangeArrowheads="1"/>
              </p:cNvSpPr>
              <p:nvPr/>
            </p:nvSpPr>
            <p:spPr bwMode="auto">
              <a:xfrm>
                <a:off x="2520" y="2251"/>
                <a:ext cx="276" cy="245"/>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48" name="Text Box 415"/>
              <p:cNvSpPr txBox="1">
                <a:spLocks noChangeArrowheads="1"/>
              </p:cNvSpPr>
              <p:nvPr/>
            </p:nvSpPr>
            <p:spPr bwMode="auto">
              <a:xfrm>
                <a:off x="2562" y="2251"/>
                <a:ext cx="278"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E</a:t>
                </a:r>
              </a:p>
            </p:txBody>
          </p:sp>
        </p:grpSp>
        <p:grpSp>
          <p:nvGrpSpPr>
            <p:cNvPr id="129" name="Group 416"/>
            <p:cNvGrpSpPr>
              <a:grpSpLocks/>
            </p:cNvGrpSpPr>
            <p:nvPr/>
          </p:nvGrpSpPr>
          <p:grpSpPr bwMode="auto">
            <a:xfrm>
              <a:off x="3982" y="1390"/>
              <a:ext cx="320" cy="250"/>
              <a:chOff x="2880" y="1104"/>
              <a:chExt cx="367" cy="343"/>
            </a:xfrm>
          </p:grpSpPr>
          <p:sp>
            <p:nvSpPr>
              <p:cNvPr id="145" name="Oval 41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46" name="Text Box 41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C</a:t>
                </a:r>
              </a:p>
            </p:txBody>
          </p:sp>
        </p:grpSp>
        <p:sp>
          <p:nvSpPr>
            <p:cNvPr id="130" name="Line 438"/>
            <p:cNvSpPr>
              <a:spLocks noChangeShapeType="1"/>
            </p:cNvSpPr>
            <p:nvPr/>
          </p:nvSpPr>
          <p:spPr bwMode="auto">
            <a:xfrm flipH="1">
              <a:off x="5109" y="2242"/>
              <a:ext cx="181" cy="136"/>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31" name="Line 427"/>
            <p:cNvSpPr>
              <a:spLocks noChangeShapeType="1"/>
            </p:cNvSpPr>
            <p:nvPr/>
          </p:nvSpPr>
          <p:spPr bwMode="auto">
            <a:xfrm flipH="1">
              <a:off x="5119" y="1569"/>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32" name="Line 428"/>
            <p:cNvSpPr>
              <a:spLocks noChangeShapeType="1"/>
            </p:cNvSpPr>
            <p:nvPr/>
          </p:nvSpPr>
          <p:spPr bwMode="auto">
            <a:xfrm>
              <a:off x="5109" y="1914"/>
              <a:ext cx="202" cy="237"/>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133" name="Group 429"/>
            <p:cNvGrpSpPr>
              <a:grpSpLocks/>
            </p:cNvGrpSpPr>
            <p:nvPr/>
          </p:nvGrpSpPr>
          <p:grpSpPr bwMode="auto">
            <a:xfrm>
              <a:off x="5199" y="1411"/>
              <a:ext cx="320" cy="250"/>
              <a:chOff x="2880" y="1104"/>
              <a:chExt cx="367" cy="343"/>
            </a:xfrm>
          </p:grpSpPr>
          <p:sp>
            <p:nvSpPr>
              <p:cNvPr id="143" name="Oval 43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44" name="Text Box 43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I</a:t>
                </a:r>
              </a:p>
            </p:txBody>
          </p:sp>
        </p:grpSp>
        <p:grpSp>
          <p:nvGrpSpPr>
            <p:cNvPr id="134" name="Group 432"/>
            <p:cNvGrpSpPr>
              <a:grpSpLocks/>
            </p:cNvGrpSpPr>
            <p:nvPr/>
          </p:nvGrpSpPr>
          <p:grpSpPr bwMode="auto">
            <a:xfrm>
              <a:off x="4990" y="1732"/>
              <a:ext cx="272" cy="250"/>
              <a:chOff x="2880" y="1104"/>
              <a:chExt cx="367" cy="378"/>
            </a:xfrm>
          </p:grpSpPr>
          <p:sp>
            <p:nvSpPr>
              <p:cNvPr id="141" name="Oval 43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42" name="Text Box 434"/>
              <p:cNvSpPr txBox="1">
                <a:spLocks noChangeArrowheads="1"/>
              </p:cNvSpPr>
              <p:nvPr/>
            </p:nvSpPr>
            <p:spPr bwMode="auto">
              <a:xfrm>
                <a:off x="2929" y="1104"/>
                <a:ext cx="318" cy="378"/>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J</a:t>
                </a:r>
              </a:p>
            </p:txBody>
          </p:sp>
        </p:grpSp>
        <p:grpSp>
          <p:nvGrpSpPr>
            <p:cNvPr id="135" name="Group 435"/>
            <p:cNvGrpSpPr>
              <a:grpSpLocks/>
            </p:cNvGrpSpPr>
            <p:nvPr/>
          </p:nvGrpSpPr>
          <p:grpSpPr bwMode="auto">
            <a:xfrm>
              <a:off x="4949" y="2304"/>
              <a:ext cx="317" cy="250"/>
              <a:chOff x="2880" y="1104"/>
              <a:chExt cx="367" cy="343"/>
            </a:xfrm>
          </p:grpSpPr>
          <p:sp>
            <p:nvSpPr>
              <p:cNvPr id="139" name="Oval 43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40" name="Text Box 43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L</a:t>
                </a:r>
              </a:p>
            </p:txBody>
          </p:sp>
        </p:grpSp>
        <p:grpSp>
          <p:nvGrpSpPr>
            <p:cNvPr id="136" name="Group 439"/>
            <p:cNvGrpSpPr>
              <a:grpSpLocks/>
            </p:cNvGrpSpPr>
            <p:nvPr/>
          </p:nvGrpSpPr>
          <p:grpSpPr bwMode="auto">
            <a:xfrm>
              <a:off x="5221" y="2026"/>
              <a:ext cx="320" cy="250"/>
              <a:chOff x="2880" y="1104"/>
              <a:chExt cx="367" cy="343"/>
            </a:xfrm>
          </p:grpSpPr>
          <p:sp>
            <p:nvSpPr>
              <p:cNvPr id="137" name="Oval 44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38" name="Text Box 44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K</a:t>
                </a:r>
              </a:p>
            </p:txBody>
          </p:sp>
        </p:grpSp>
      </p:grpSp>
      <p:sp>
        <p:nvSpPr>
          <p:cNvPr id="161" name="Oval 447"/>
          <p:cNvSpPr>
            <a:spLocks noChangeArrowheads="1"/>
          </p:cNvSpPr>
          <p:nvPr/>
        </p:nvSpPr>
        <p:spPr bwMode="auto">
          <a:xfrm>
            <a:off x="381000" y="838200"/>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a:solidFill>
                  <a:srgbClr val="000000"/>
                </a:solidFill>
                <a:latin typeface="Times New Roman" pitchFamily="18" charset="0"/>
              </a:rPr>
              <a:t>例</a:t>
            </a:r>
          </a:p>
        </p:txBody>
      </p:sp>
    </p:spTree>
    <p:extLst>
      <p:ext uri="{BB962C8B-B14F-4D97-AF65-F5344CB8AC3E}">
        <p14:creationId xmlns:p14="http://schemas.microsoft.com/office/powerpoint/2010/main" val="1175258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树、森林与二叉树的转换</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森林和二叉树的对应关系</a:t>
            </a:r>
          </a:p>
        </p:txBody>
      </p:sp>
      <p:sp>
        <p:nvSpPr>
          <p:cNvPr id="4" name="日期占位符 3"/>
          <p:cNvSpPr>
            <a:spLocks noGrp="1"/>
          </p:cNvSpPr>
          <p:nvPr>
            <p:ph type="dt" sz="half" idx="10"/>
          </p:nvPr>
        </p:nvSpPr>
        <p:spPr/>
        <p:txBody>
          <a:bodyPr/>
          <a:lstStyle/>
          <a:p>
            <a:fld id="{9B24096B-E20A-4568-BCE1-7E917E45C5DA}"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139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5" name="Text Box 2"/>
          <p:cNvSpPr txBox="1">
            <a:spLocks noChangeArrowheads="1"/>
          </p:cNvSpPr>
          <p:nvPr/>
        </p:nvSpPr>
        <p:spPr bwMode="auto">
          <a:xfrm>
            <a:off x="657949" y="3272135"/>
            <a:ext cx="4980851" cy="46166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400" b="1" dirty="0">
                <a:solidFill>
                  <a:srgbClr val="0000FF"/>
                </a:solidFill>
                <a:latin typeface="Times New Roman" pitchFamily="18" charset="0"/>
                <a:ea typeface="楷体_GB2312" pitchFamily="49" charset="-122"/>
              </a:rPr>
              <a:t>由森林转换成二叉树的</a:t>
            </a:r>
            <a:r>
              <a:rPr kumimoji="1" lang="zh-CN" altLang="en-US" sz="2400" b="1" dirty="0">
                <a:solidFill>
                  <a:srgbClr val="0000FF"/>
                </a:solidFill>
                <a:latin typeface="楷体_GB2312" pitchFamily="49" charset="-122"/>
                <a:ea typeface="楷体_GB2312" pitchFamily="49" charset="-122"/>
              </a:rPr>
              <a:t>转换规则为</a:t>
            </a:r>
            <a:r>
              <a:rPr kumimoji="1" lang="en-US" altLang="zh-CN" sz="2400" b="1" dirty="0">
                <a:solidFill>
                  <a:srgbClr val="0000FF"/>
                </a:solidFill>
                <a:latin typeface="楷体_GB2312" pitchFamily="49" charset="-122"/>
                <a:ea typeface="楷体_GB2312" pitchFamily="49" charset="-122"/>
              </a:rPr>
              <a:t>:</a:t>
            </a:r>
            <a:endParaRPr kumimoji="1" lang="en-US" altLang="zh-CN" sz="2400" b="1" dirty="0">
              <a:solidFill>
                <a:srgbClr val="0000FF"/>
              </a:solidFill>
              <a:latin typeface="Times New Roman" pitchFamily="18" charset="0"/>
            </a:endParaRPr>
          </a:p>
        </p:txBody>
      </p:sp>
      <p:sp>
        <p:nvSpPr>
          <p:cNvPr id="16" name="Text Box 3"/>
          <p:cNvSpPr txBox="1">
            <a:spLocks noChangeArrowheads="1"/>
          </p:cNvSpPr>
          <p:nvPr/>
        </p:nvSpPr>
        <p:spPr bwMode="auto">
          <a:xfrm>
            <a:off x="968375" y="3783993"/>
            <a:ext cx="5500288" cy="2616807"/>
          </a:xfrm>
          <a:prstGeom prst="rect">
            <a:avLst/>
          </a:prstGeom>
          <a:noFill/>
          <a:ln w="12700" cap="sq">
            <a:solidFill>
              <a:srgbClr val="003300"/>
            </a:solidFill>
            <a:miter lim="800000"/>
            <a:headEnd type="none" w="sm" len="sm"/>
            <a:tailEnd type="none" w="sm" len="sm"/>
          </a:ln>
        </p:spPr>
        <p:txBody>
          <a:bodyPr wrap="none">
            <a:spAutoFit/>
          </a:bodyPr>
          <a:lstStyle/>
          <a:p>
            <a:pPr fontAlgn="base">
              <a:lnSpc>
                <a:spcPct val="140000"/>
              </a:lnSpc>
              <a:spcBef>
                <a:spcPct val="0"/>
              </a:spcBef>
              <a:spcAft>
                <a:spcPct val="0"/>
              </a:spcAft>
            </a:pPr>
            <a:r>
              <a:rPr kumimoji="1" lang="zh-CN" altLang="en-US" sz="2400" b="1" dirty="0">
                <a:solidFill>
                  <a:srgbClr val="0000FF"/>
                </a:solidFill>
                <a:latin typeface="Times New Roman" pitchFamily="18" charset="0"/>
              </a:rPr>
              <a:t>若 </a:t>
            </a:r>
            <a:r>
              <a:rPr kumimoji="1" lang="en-US" altLang="zh-CN" sz="2400" b="1" dirty="0">
                <a:solidFill>
                  <a:srgbClr val="0000FF"/>
                </a:solidFill>
                <a:latin typeface="Times New Roman" pitchFamily="18" charset="0"/>
              </a:rPr>
              <a:t>F = Φ</a:t>
            </a:r>
            <a:r>
              <a:rPr kumimoji="1" lang="zh-CN" altLang="en-US" sz="2400" b="1" dirty="0">
                <a:solidFill>
                  <a:srgbClr val="0000FF"/>
                </a:solidFill>
                <a:latin typeface="Times New Roman" pitchFamily="18" charset="0"/>
              </a:rPr>
              <a:t>，则 </a:t>
            </a:r>
            <a:r>
              <a:rPr kumimoji="1" lang="en-US" altLang="zh-CN" sz="2400" b="1" dirty="0">
                <a:solidFill>
                  <a:srgbClr val="0000FF"/>
                </a:solidFill>
                <a:latin typeface="Times New Roman" pitchFamily="18" charset="0"/>
              </a:rPr>
              <a:t>B = Φ</a:t>
            </a:r>
            <a:r>
              <a:rPr kumimoji="1" lang="zh-CN" altLang="en-US" sz="2400" b="1" dirty="0">
                <a:solidFill>
                  <a:srgbClr val="0000FF"/>
                </a:solidFill>
                <a:latin typeface="Times New Roman" pitchFamily="18" charset="0"/>
              </a:rPr>
              <a:t>；</a:t>
            </a:r>
          </a:p>
          <a:p>
            <a:pPr fontAlgn="base">
              <a:lnSpc>
                <a:spcPct val="140000"/>
              </a:lnSpc>
              <a:spcBef>
                <a:spcPct val="0"/>
              </a:spcBef>
              <a:spcAft>
                <a:spcPct val="0"/>
              </a:spcAft>
            </a:pPr>
            <a:r>
              <a:rPr kumimoji="1" lang="zh-CN" altLang="en-US" sz="2400" b="1" dirty="0">
                <a:solidFill>
                  <a:srgbClr val="0000FF"/>
                </a:solidFill>
                <a:latin typeface="Times New Roman" pitchFamily="18" charset="0"/>
              </a:rPr>
              <a:t>否则，</a:t>
            </a:r>
          </a:p>
          <a:p>
            <a:pPr fontAlgn="base">
              <a:lnSpc>
                <a:spcPct val="140000"/>
              </a:lnSpc>
              <a:spcBef>
                <a:spcPct val="0"/>
              </a:spcBef>
              <a:spcAft>
                <a:spcPct val="0"/>
              </a:spcAft>
            </a:pPr>
            <a:r>
              <a:rPr kumimoji="1" lang="zh-CN" altLang="en-US" sz="2400" b="1" dirty="0">
                <a:solidFill>
                  <a:srgbClr val="0000FF"/>
                </a:solidFill>
                <a:latin typeface="Times New Roman" pitchFamily="18" charset="0"/>
              </a:rPr>
              <a:t>   由 </a:t>
            </a:r>
            <a:r>
              <a:rPr kumimoji="1" lang="en-US" altLang="zh-CN" sz="2400" b="1" dirty="0">
                <a:solidFill>
                  <a:srgbClr val="0000FF"/>
                </a:solidFill>
                <a:latin typeface="Times New Roman" pitchFamily="18" charset="0"/>
              </a:rPr>
              <a:t>ROOT( T</a:t>
            </a:r>
            <a:r>
              <a:rPr kumimoji="1" lang="en-US" altLang="zh-CN" sz="2400" b="1" baseline="-25000" dirty="0">
                <a:solidFill>
                  <a:srgbClr val="0000FF"/>
                </a:solidFill>
                <a:latin typeface="Times New Roman" pitchFamily="18" charset="0"/>
              </a:rPr>
              <a:t>1</a:t>
            </a:r>
            <a:r>
              <a:rPr kumimoji="1" lang="en-US" altLang="zh-CN" sz="2400" b="1" dirty="0">
                <a:solidFill>
                  <a:srgbClr val="0000FF"/>
                </a:solidFill>
                <a:latin typeface="Times New Roman" pitchFamily="18" charset="0"/>
              </a:rPr>
              <a:t> ) </a:t>
            </a:r>
            <a:r>
              <a:rPr kumimoji="1" lang="zh-CN" altLang="en-US" sz="2400" b="1" dirty="0">
                <a:solidFill>
                  <a:srgbClr val="0000FF"/>
                </a:solidFill>
                <a:latin typeface="Times New Roman" pitchFamily="18" charset="0"/>
              </a:rPr>
              <a:t>对应得到 </a:t>
            </a:r>
            <a:r>
              <a:rPr kumimoji="1" lang="en-US" altLang="zh-CN" sz="2400" b="1" dirty="0">
                <a:solidFill>
                  <a:srgbClr val="0000FF"/>
                </a:solidFill>
                <a:latin typeface="Times New Roman" pitchFamily="18" charset="0"/>
              </a:rPr>
              <a:t>Node(root)</a:t>
            </a:r>
            <a:r>
              <a:rPr kumimoji="1" lang="zh-CN" altLang="en-US" sz="2400" b="1" dirty="0">
                <a:solidFill>
                  <a:srgbClr val="0000FF"/>
                </a:solidFill>
                <a:latin typeface="Times New Roman" pitchFamily="18" charset="0"/>
              </a:rPr>
              <a:t>；</a:t>
            </a:r>
          </a:p>
          <a:p>
            <a:pPr fontAlgn="base">
              <a:lnSpc>
                <a:spcPct val="140000"/>
              </a:lnSpc>
              <a:spcBef>
                <a:spcPct val="0"/>
              </a:spcBef>
              <a:spcAft>
                <a:spcPct val="0"/>
              </a:spcAft>
            </a:pPr>
            <a:r>
              <a:rPr kumimoji="1" lang="zh-CN" altLang="en-US" sz="2400" b="1" dirty="0">
                <a:solidFill>
                  <a:srgbClr val="0000FF"/>
                </a:solidFill>
                <a:latin typeface="Times New Roman" pitchFamily="18" charset="0"/>
              </a:rPr>
              <a:t>   由 </a:t>
            </a:r>
            <a:r>
              <a:rPr kumimoji="1" lang="en-US" altLang="zh-CN" sz="2400" b="1" dirty="0">
                <a:solidFill>
                  <a:srgbClr val="0000FF"/>
                </a:solidFill>
                <a:latin typeface="Times New Roman" pitchFamily="18" charset="0"/>
              </a:rPr>
              <a:t>(t</a:t>
            </a:r>
            <a:r>
              <a:rPr kumimoji="1" lang="en-US" altLang="zh-CN" sz="2400" b="1" baseline="-25000" dirty="0">
                <a:solidFill>
                  <a:srgbClr val="0000FF"/>
                </a:solidFill>
                <a:latin typeface="Times New Roman" pitchFamily="18" charset="0"/>
              </a:rPr>
              <a:t>11</a:t>
            </a:r>
            <a:r>
              <a:rPr kumimoji="1" lang="en-US" altLang="zh-CN" sz="2400" b="1" dirty="0">
                <a:solidFill>
                  <a:srgbClr val="0000FF"/>
                </a:solidFill>
                <a:latin typeface="Times New Roman" pitchFamily="18" charset="0"/>
              </a:rPr>
              <a:t>, t</a:t>
            </a:r>
            <a:r>
              <a:rPr kumimoji="1" lang="en-US" altLang="zh-CN" sz="2400" b="1" baseline="-25000" dirty="0">
                <a:solidFill>
                  <a:srgbClr val="0000FF"/>
                </a:solidFill>
                <a:latin typeface="Times New Roman" pitchFamily="18" charset="0"/>
              </a:rPr>
              <a:t>12</a:t>
            </a:r>
            <a:r>
              <a:rPr kumimoji="1" lang="en-US" altLang="zh-CN" sz="2400" b="1" dirty="0">
                <a:solidFill>
                  <a:srgbClr val="0000FF"/>
                </a:solidFill>
                <a:latin typeface="Times New Roman" pitchFamily="18" charset="0"/>
              </a:rPr>
              <a:t>, …, t</a:t>
            </a:r>
            <a:r>
              <a:rPr kumimoji="1" lang="en-US" altLang="zh-CN" sz="2400" b="1" baseline="-25000" dirty="0">
                <a:solidFill>
                  <a:srgbClr val="0000FF"/>
                </a:solidFill>
                <a:latin typeface="Times New Roman" pitchFamily="18" charset="0"/>
              </a:rPr>
              <a:t>1m</a:t>
            </a:r>
            <a:r>
              <a:rPr kumimoji="1" lang="en-US" altLang="zh-CN" sz="2400" b="1" dirty="0">
                <a:solidFill>
                  <a:srgbClr val="0000FF"/>
                </a:solidFill>
                <a:latin typeface="Times New Roman" pitchFamily="18" charset="0"/>
              </a:rPr>
              <a:t> ) </a:t>
            </a:r>
            <a:r>
              <a:rPr kumimoji="1" lang="zh-CN" altLang="en-US" sz="2400" b="1" dirty="0">
                <a:solidFill>
                  <a:srgbClr val="0000FF"/>
                </a:solidFill>
                <a:latin typeface="Times New Roman" pitchFamily="18" charset="0"/>
              </a:rPr>
              <a:t>对应得到 </a:t>
            </a:r>
            <a:r>
              <a:rPr kumimoji="1" lang="en-US" altLang="zh-CN" sz="2400" b="1" dirty="0">
                <a:solidFill>
                  <a:srgbClr val="0000FF"/>
                </a:solidFill>
                <a:latin typeface="Times New Roman" pitchFamily="18" charset="0"/>
              </a:rPr>
              <a:t>LBT</a:t>
            </a:r>
            <a:r>
              <a:rPr kumimoji="1" lang="zh-CN" altLang="en-US" sz="2400" b="1" dirty="0">
                <a:solidFill>
                  <a:srgbClr val="0000FF"/>
                </a:solidFill>
                <a:latin typeface="Times New Roman" pitchFamily="18" charset="0"/>
              </a:rPr>
              <a:t>；</a:t>
            </a:r>
          </a:p>
          <a:p>
            <a:pPr fontAlgn="base">
              <a:lnSpc>
                <a:spcPct val="140000"/>
              </a:lnSpc>
              <a:spcBef>
                <a:spcPct val="0"/>
              </a:spcBef>
              <a:spcAft>
                <a:spcPct val="0"/>
              </a:spcAft>
            </a:pPr>
            <a:r>
              <a:rPr kumimoji="1" lang="zh-CN" altLang="en-US" sz="2400" b="1" dirty="0">
                <a:solidFill>
                  <a:srgbClr val="0000FF"/>
                </a:solidFill>
                <a:latin typeface="Times New Roman" pitchFamily="18" charset="0"/>
              </a:rPr>
              <a:t>   由 </a:t>
            </a:r>
            <a:r>
              <a:rPr kumimoji="1" lang="en-US" altLang="zh-CN" sz="2400" b="1" dirty="0">
                <a:solidFill>
                  <a:srgbClr val="0000FF"/>
                </a:solidFill>
                <a:latin typeface="Times New Roman" pitchFamily="18" charset="0"/>
              </a:rPr>
              <a:t>(T</a:t>
            </a:r>
            <a:r>
              <a:rPr kumimoji="1" lang="en-US" altLang="zh-CN" sz="2400" b="1" baseline="-25000" dirty="0">
                <a:solidFill>
                  <a:srgbClr val="0000FF"/>
                </a:solidFill>
                <a:latin typeface="Times New Roman" pitchFamily="18" charset="0"/>
              </a:rPr>
              <a:t>2</a:t>
            </a:r>
            <a:r>
              <a:rPr kumimoji="1" lang="en-US" altLang="zh-CN" sz="2400" b="1" dirty="0">
                <a:solidFill>
                  <a:srgbClr val="0000FF"/>
                </a:solidFill>
                <a:latin typeface="Times New Roman" pitchFamily="18" charset="0"/>
              </a:rPr>
              <a:t>, T</a:t>
            </a:r>
            <a:r>
              <a:rPr kumimoji="1" lang="en-US" altLang="zh-CN" sz="2400" b="1" baseline="-25000" dirty="0">
                <a:solidFill>
                  <a:srgbClr val="0000FF"/>
                </a:solidFill>
                <a:latin typeface="Times New Roman" pitchFamily="18" charset="0"/>
              </a:rPr>
              <a:t>3</a:t>
            </a:r>
            <a:r>
              <a:rPr kumimoji="1" lang="en-US" altLang="zh-CN" sz="2400" b="1" dirty="0">
                <a:solidFill>
                  <a:srgbClr val="0000FF"/>
                </a:solidFill>
                <a:latin typeface="Times New Roman" pitchFamily="18" charset="0"/>
              </a:rPr>
              <a:t>,…, </a:t>
            </a:r>
            <a:r>
              <a:rPr kumimoji="1" lang="en-US" altLang="zh-CN" sz="2400" b="1" dirty="0" err="1">
                <a:solidFill>
                  <a:srgbClr val="0000FF"/>
                </a:solidFill>
                <a:latin typeface="Times New Roman" pitchFamily="18" charset="0"/>
              </a:rPr>
              <a:t>T</a:t>
            </a:r>
            <a:r>
              <a:rPr kumimoji="1" lang="en-US" altLang="zh-CN" sz="2400" b="1" baseline="-25000" dirty="0" err="1">
                <a:solidFill>
                  <a:srgbClr val="0000FF"/>
                </a:solidFill>
                <a:latin typeface="Times New Roman" pitchFamily="18" charset="0"/>
              </a:rPr>
              <a:t>n</a:t>
            </a:r>
            <a:r>
              <a:rPr kumimoji="1" lang="en-US" altLang="zh-CN" sz="2400" b="1" baseline="-25000" dirty="0">
                <a:solidFill>
                  <a:srgbClr val="0000FF"/>
                </a:solidFill>
                <a:latin typeface="Times New Roman" pitchFamily="18" charset="0"/>
              </a:rPr>
              <a:t> </a:t>
            </a:r>
            <a:r>
              <a:rPr kumimoji="1" lang="en-US" altLang="zh-CN" sz="2400" b="1" dirty="0">
                <a:solidFill>
                  <a:srgbClr val="0000FF"/>
                </a:solidFill>
                <a:latin typeface="Times New Roman" pitchFamily="18" charset="0"/>
              </a:rPr>
              <a:t>) </a:t>
            </a:r>
            <a:r>
              <a:rPr kumimoji="1" lang="zh-CN" altLang="en-US" sz="2400" b="1" dirty="0">
                <a:solidFill>
                  <a:srgbClr val="0000FF"/>
                </a:solidFill>
                <a:latin typeface="Times New Roman" pitchFamily="18" charset="0"/>
              </a:rPr>
              <a:t>对应得到 </a:t>
            </a:r>
            <a:r>
              <a:rPr kumimoji="1" lang="en-US" altLang="zh-CN" sz="2400" b="1" dirty="0">
                <a:solidFill>
                  <a:srgbClr val="0000FF"/>
                </a:solidFill>
                <a:latin typeface="Times New Roman" pitchFamily="18" charset="0"/>
              </a:rPr>
              <a:t>RBT</a:t>
            </a:r>
            <a:r>
              <a:rPr kumimoji="1" lang="zh-CN" altLang="en-US" sz="2400" b="1" dirty="0">
                <a:solidFill>
                  <a:srgbClr val="0000FF"/>
                </a:solidFill>
                <a:latin typeface="Times New Roman" pitchFamily="18" charset="0"/>
              </a:rPr>
              <a:t>。</a:t>
            </a:r>
          </a:p>
        </p:txBody>
      </p:sp>
      <p:sp>
        <p:nvSpPr>
          <p:cNvPr id="17" name="Text Box 6"/>
          <p:cNvSpPr txBox="1">
            <a:spLocks noChangeArrowheads="1"/>
          </p:cNvSpPr>
          <p:nvPr/>
        </p:nvSpPr>
        <p:spPr bwMode="auto">
          <a:xfrm>
            <a:off x="684212" y="1770072"/>
            <a:ext cx="8002588" cy="1477328"/>
          </a:xfrm>
          <a:prstGeom prst="rect">
            <a:avLst/>
          </a:prstGeom>
          <a:noFill/>
          <a:ln w="12700" cap="sq">
            <a:solidFill>
              <a:srgbClr val="003300"/>
            </a:solidFill>
            <a:miter lim="800000"/>
            <a:headEnd type="none" w="sm" len="sm"/>
            <a:tailEnd type="none" w="sm" len="sm"/>
          </a:ln>
        </p:spPr>
        <p:txBody>
          <a:bodyPr wrap="square">
            <a:spAutoFit/>
          </a:bodyPr>
          <a:lstStyle/>
          <a:p>
            <a:pPr fontAlgn="base">
              <a:lnSpc>
                <a:spcPct val="125000"/>
              </a:lnSpc>
              <a:spcBef>
                <a:spcPct val="0"/>
              </a:spcBef>
              <a:spcAft>
                <a:spcPct val="0"/>
              </a:spcAft>
            </a:pPr>
            <a:r>
              <a:rPr kumimoji="1" lang="zh-CN" altLang="en-US" sz="2400" b="1">
                <a:solidFill>
                  <a:srgbClr val="003300"/>
                </a:solidFill>
                <a:latin typeface="Times New Roman" pitchFamily="18" charset="0"/>
              </a:rPr>
              <a:t>设森林</a:t>
            </a:r>
            <a:r>
              <a:rPr kumimoji="1" lang="zh-CN" altLang="en-US" sz="2400" b="1">
                <a:solidFill>
                  <a:srgbClr val="003300"/>
                </a:solidFill>
                <a:latin typeface="Times New Roman" pitchFamily="18" charset="0"/>
                <a:ea typeface="楷体_GB2312" pitchFamily="49" charset="-122"/>
              </a:rPr>
              <a:t>  </a:t>
            </a:r>
            <a:r>
              <a:rPr kumimoji="1" lang="en-US" altLang="zh-CN" sz="2400" b="1">
                <a:solidFill>
                  <a:srgbClr val="003300"/>
                </a:solidFill>
                <a:latin typeface="Times New Roman" pitchFamily="18" charset="0"/>
                <a:ea typeface="楷体_GB2312" pitchFamily="49" charset="-122"/>
              </a:rPr>
              <a:t>F = ( T</a:t>
            </a:r>
            <a:r>
              <a:rPr kumimoji="1" lang="en-US" altLang="zh-CN" sz="2400" b="1" baseline="-25000">
                <a:solidFill>
                  <a:srgbClr val="003300"/>
                </a:solidFill>
                <a:latin typeface="Times New Roman" pitchFamily="18" charset="0"/>
                <a:ea typeface="楷体_GB2312" pitchFamily="49" charset="-122"/>
              </a:rPr>
              <a:t>1</a:t>
            </a:r>
            <a:r>
              <a:rPr kumimoji="1" lang="en-US" altLang="zh-CN" sz="2400" b="1">
                <a:solidFill>
                  <a:srgbClr val="003300"/>
                </a:solidFill>
                <a:latin typeface="Times New Roman" pitchFamily="18" charset="0"/>
                <a:ea typeface="楷体_GB2312" pitchFamily="49" charset="-122"/>
              </a:rPr>
              <a:t>, T</a:t>
            </a:r>
            <a:r>
              <a:rPr kumimoji="1" lang="en-US" altLang="zh-CN" sz="2400" b="1" baseline="-25000">
                <a:solidFill>
                  <a:srgbClr val="003300"/>
                </a:solidFill>
                <a:latin typeface="Times New Roman" pitchFamily="18" charset="0"/>
                <a:ea typeface="楷体_GB2312" pitchFamily="49" charset="-122"/>
              </a:rPr>
              <a:t>2</a:t>
            </a:r>
            <a:r>
              <a:rPr kumimoji="1" lang="en-US" altLang="zh-CN" sz="2400" b="1">
                <a:solidFill>
                  <a:srgbClr val="003300"/>
                </a:solidFill>
                <a:latin typeface="Times New Roman" pitchFamily="18" charset="0"/>
                <a:ea typeface="楷体_GB2312" pitchFamily="49" charset="-122"/>
              </a:rPr>
              <a:t>, …, T</a:t>
            </a:r>
            <a:r>
              <a:rPr kumimoji="1" lang="en-US" altLang="zh-CN" sz="2400" b="1" baseline="-25000">
                <a:solidFill>
                  <a:srgbClr val="003300"/>
                </a:solidFill>
                <a:latin typeface="Times New Roman" pitchFamily="18" charset="0"/>
                <a:ea typeface="楷体_GB2312" pitchFamily="49" charset="-122"/>
              </a:rPr>
              <a:t>n</a:t>
            </a:r>
            <a:r>
              <a:rPr kumimoji="1" lang="en-US" altLang="zh-CN" sz="2400" b="1">
                <a:solidFill>
                  <a:srgbClr val="003300"/>
                </a:solidFill>
                <a:latin typeface="Times New Roman" pitchFamily="18" charset="0"/>
                <a:ea typeface="楷体_GB2312" pitchFamily="49" charset="-122"/>
              </a:rPr>
              <a:t> );    </a:t>
            </a:r>
          </a:p>
          <a:p>
            <a:pPr fontAlgn="base">
              <a:lnSpc>
                <a:spcPct val="125000"/>
              </a:lnSpc>
              <a:spcBef>
                <a:spcPct val="0"/>
              </a:spcBef>
              <a:spcAft>
                <a:spcPct val="0"/>
              </a:spcAft>
            </a:pPr>
            <a:r>
              <a:rPr kumimoji="1" lang="en-US" altLang="zh-CN" sz="2400" b="1">
                <a:solidFill>
                  <a:srgbClr val="003300"/>
                </a:solidFill>
                <a:latin typeface="Times New Roman" pitchFamily="18" charset="0"/>
                <a:ea typeface="楷体_GB2312" pitchFamily="49" charset="-122"/>
              </a:rPr>
              <a:t>                       T</a:t>
            </a:r>
            <a:r>
              <a:rPr kumimoji="1" lang="en-US" altLang="zh-CN" sz="2400" b="1" baseline="-25000">
                <a:solidFill>
                  <a:srgbClr val="003300"/>
                </a:solidFill>
                <a:latin typeface="Times New Roman" pitchFamily="18" charset="0"/>
                <a:ea typeface="楷体_GB2312" pitchFamily="49" charset="-122"/>
              </a:rPr>
              <a:t>1</a:t>
            </a:r>
            <a:r>
              <a:rPr kumimoji="1" lang="en-US" altLang="zh-CN" sz="2400" b="1">
                <a:solidFill>
                  <a:srgbClr val="003300"/>
                </a:solidFill>
                <a:latin typeface="Times New Roman" pitchFamily="18" charset="0"/>
                <a:ea typeface="楷体_GB2312" pitchFamily="49" charset="-122"/>
              </a:rPr>
              <a:t> = (root</a:t>
            </a:r>
            <a:r>
              <a:rPr kumimoji="1" lang="zh-CN" altLang="en-US" sz="2400" b="1">
                <a:solidFill>
                  <a:srgbClr val="003300"/>
                </a:solidFill>
                <a:latin typeface="Times New Roman" pitchFamily="18" charset="0"/>
                <a:ea typeface="楷体_GB2312" pitchFamily="49" charset="-122"/>
              </a:rPr>
              <a:t>，</a:t>
            </a:r>
            <a:r>
              <a:rPr kumimoji="1" lang="en-US" altLang="zh-CN" sz="2400" b="1">
                <a:solidFill>
                  <a:srgbClr val="003300"/>
                </a:solidFill>
                <a:latin typeface="Times New Roman" pitchFamily="18" charset="0"/>
                <a:ea typeface="楷体_GB2312" pitchFamily="49" charset="-122"/>
              </a:rPr>
              <a:t>t</a:t>
            </a:r>
            <a:r>
              <a:rPr kumimoji="1" lang="en-US" altLang="zh-CN" sz="2400" b="1" baseline="-25000">
                <a:solidFill>
                  <a:srgbClr val="003300"/>
                </a:solidFill>
                <a:latin typeface="Times New Roman" pitchFamily="18" charset="0"/>
                <a:ea typeface="楷体_GB2312" pitchFamily="49" charset="-122"/>
              </a:rPr>
              <a:t>11</a:t>
            </a:r>
            <a:r>
              <a:rPr kumimoji="1" lang="en-US" altLang="zh-CN" sz="2400" b="1">
                <a:solidFill>
                  <a:srgbClr val="003300"/>
                </a:solidFill>
                <a:latin typeface="Times New Roman" pitchFamily="18" charset="0"/>
                <a:ea typeface="楷体_GB2312" pitchFamily="49" charset="-122"/>
              </a:rPr>
              <a:t>, t</a:t>
            </a:r>
            <a:r>
              <a:rPr kumimoji="1" lang="en-US" altLang="zh-CN" sz="2400" b="1" baseline="-25000">
                <a:solidFill>
                  <a:srgbClr val="003300"/>
                </a:solidFill>
                <a:latin typeface="Times New Roman" pitchFamily="18" charset="0"/>
                <a:ea typeface="楷体_GB2312" pitchFamily="49" charset="-122"/>
              </a:rPr>
              <a:t>12</a:t>
            </a:r>
            <a:r>
              <a:rPr kumimoji="1" lang="en-US" altLang="zh-CN" sz="2400" b="1">
                <a:solidFill>
                  <a:srgbClr val="003300"/>
                </a:solidFill>
                <a:latin typeface="Times New Roman" pitchFamily="18" charset="0"/>
                <a:ea typeface="楷体_GB2312" pitchFamily="49" charset="-122"/>
              </a:rPr>
              <a:t>, …, t</a:t>
            </a:r>
            <a:r>
              <a:rPr kumimoji="1" lang="en-US" altLang="zh-CN" sz="2400" b="1" baseline="-25000">
                <a:solidFill>
                  <a:srgbClr val="003300"/>
                </a:solidFill>
                <a:latin typeface="Times New Roman" pitchFamily="18" charset="0"/>
                <a:ea typeface="楷体_GB2312" pitchFamily="49" charset="-122"/>
              </a:rPr>
              <a:t>1m</a:t>
            </a:r>
            <a:r>
              <a:rPr kumimoji="1" lang="en-US" altLang="zh-CN" sz="2400" b="1">
                <a:solidFill>
                  <a:srgbClr val="003300"/>
                </a:solidFill>
                <a:latin typeface="Times New Roman" pitchFamily="18" charset="0"/>
                <a:ea typeface="楷体_GB2312" pitchFamily="49" charset="-122"/>
              </a:rPr>
              <a:t>);</a:t>
            </a:r>
          </a:p>
          <a:p>
            <a:pPr fontAlgn="base">
              <a:lnSpc>
                <a:spcPct val="125000"/>
              </a:lnSpc>
              <a:spcBef>
                <a:spcPct val="0"/>
              </a:spcBef>
              <a:spcAft>
                <a:spcPct val="0"/>
              </a:spcAft>
            </a:pPr>
            <a:r>
              <a:rPr kumimoji="1" lang="zh-CN" altLang="en-US" sz="2400" b="1">
                <a:solidFill>
                  <a:srgbClr val="003300"/>
                </a:solidFill>
                <a:latin typeface="Times New Roman" pitchFamily="18" charset="0"/>
              </a:rPr>
              <a:t>二叉树   </a:t>
            </a:r>
            <a:r>
              <a:rPr kumimoji="1" lang="en-US" altLang="zh-CN" sz="2400" b="1">
                <a:solidFill>
                  <a:srgbClr val="003300"/>
                </a:solidFill>
                <a:latin typeface="Times New Roman" pitchFamily="18" charset="0"/>
              </a:rPr>
              <a:t>B =(Node(root), LBT, RBT )</a:t>
            </a:r>
            <a:r>
              <a:rPr kumimoji="1" lang="en-US" altLang="zh-CN" sz="2400">
                <a:solidFill>
                  <a:srgbClr val="003300"/>
                </a:solidFill>
                <a:latin typeface="Times New Roman" pitchFamily="18" charset="0"/>
              </a:rPr>
              <a:t>;</a:t>
            </a:r>
          </a:p>
        </p:txBody>
      </p:sp>
    </p:spTree>
    <p:extLst>
      <p:ext uri="{BB962C8B-B14F-4D97-AF65-F5344CB8AC3E}">
        <p14:creationId xmlns:p14="http://schemas.microsoft.com/office/powerpoint/2010/main" val="1168139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树、森林与二叉树的转换</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森林和二叉树的对应关系</a:t>
            </a:r>
          </a:p>
        </p:txBody>
      </p:sp>
      <p:sp>
        <p:nvSpPr>
          <p:cNvPr id="4" name="日期占位符 3"/>
          <p:cNvSpPr>
            <a:spLocks noGrp="1"/>
          </p:cNvSpPr>
          <p:nvPr>
            <p:ph type="dt" sz="half" idx="10"/>
          </p:nvPr>
        </p:nvSpPr>
        <p:spPr/>
        <p:txBody>
          <a:bodyPr/>
          <a:lstStyle/>
          <a:p>
            <a:fld id="{A497654D-3F28-4B5D-957B-5190C9A95A03}"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140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9" name="Text Box 2"/>
          <p:cNvSpPr txBox="1">
            <a:spLocks noChangeArrowheads="1"/>
          </p:cNvSpPr>
          <p:nvPr/>
        </p:nvSpPr>
        <p:spPr bwMode="auto">
          <a:xfrm>
            <a:off x="808038" y="1991380"/>
            <a:ext cx="5944256" cy="52322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2800" b="1" dirty="0">
                <a:solidFill>
                  <a:srgbClr val="003300"/>
                </a:solidFill>
                <a:latin typeface="Times New Roman" pitchFamily="18" charset="0"/>
                <a:ea typeface="楷体_GB2312" pitchFamily="49" charset="-122"/>
              </a:rPr>
              <a:t>由二叉树转换为森林</a:t>
            </a:r>
            <a:r>
              <a:rPr kumimoji="1" lang="zh-CN" altLang="en-US" sz="2800" dirty="0">
                <a:solidFill>
                  <a:srgbClr val="003300"/>
                </a:solidFill>
                <a:latin typeface="Times New Roman" pitchFamily="18" charset="0"/>
                <a:ea typeface="楷体_GB2312" pitchFamily="49" charset="-122"/>
              </a:rPr>
              <a:t>的转换规则为：</a:t>
            </a:r>
            <a:endParaRPr kumimoji="1" lang="zh-CN" altLang="en-US" sz="2800" dirty="0">
              <a:solidFill>
                <a:srgbClr val="003300"/>
              </a:solidFill>
              <a:latin typeface="Times New Roman" pitchFamily="18" charset="0"/>
            </a:endParaRPr>
          </a:p>
        </p:txBody>
      </p:sp>
      <p:sp>
        <p:nvSpPr>
          <p:cNvPr id="20" name="Text Box 3"/>
          <p:cNvSpPr txBox="1">
            <a:spLocks noChangeArrowheads="1"/>
          </p:cNvSpPr>
          <p:nvPr/>
        </p:nvSpPr>
        <p:spPr bwMode="auto">
          <a:xfrm>
            <a:off x="931770" y="2743200"/>
            <a:ext cx="6916830" cy="3539430"/>
          </a:xfrm>
          <a:prstGeom prst="rect">
            <a:avLst/>
          </a:prstGeom>
          <a:noFill/>
          <a:ln w="12700" cap="sq">
            <a:solidFill>
              <a:srgbClr val="003300"/>
            </a:solidFill>
            <a:miter lim="800000"/>
            <a:headEnd type="none" w="sm" len="sm"/>
            <a:tailEnd type="none" w="sm" len="sm"/>
          </a:ln>
        </p:spPr>
        <p:txBody>
          <a:bodyPr wrap="none">
            <a:spAutoFit/>
          </a:bodyPr>
          <a:lstStyle/>
          <a:p>
            <a:pPr fontAlgn="base">
              <a:lnSpc>
                <a:spcPct val="140000"/>
              </a:lnSpc>
              <a:spcBef>
                <a:spcPct val="0"/>
              </a:spcBef>
              <a:spcAft>
                <a:spcPct val="0"/>
              </a:spcAft>
            </a:pPr>
            <a:r>
              <a:rPr kumimoji="1" lang="zh-CN" altLang="en-US" sz="3200">
                <a:solidFill>
                  <a:srgbClr val="0000FF"/>
                </a:solidFill>
                <a:latin typeface="Times New Roman" pitchFamily="18" charset="0"/>
                <a:ea typeface="楷体_GB2312" pitchFamily="49" charset="-122"/>
              </a:rPr>
              <a:t>若 </a:t>
            </a:r>
            <a:r>
              <a:rPr kumimoji="1" lang="en-US" altLang="zh-CN" sz="3200" b="1">
                <a:solidFill>
                  <a:srgbClr val="0000FF"/>
                </a:solidFill>
                <a:latin typeface="Times New Roman" pitchFamily="18" charset="0"/>
                <a:ea typeface="楷体_GB2312" pitchFamily="49" charset="-122"/>
              </a:rPr>
              <a:t>B = Φ</a:t>
            </a:r>
            <a:r>
              <a:rPr kumimoji="1" lang="zh-CN" altLang="en-US" sz="3200">
                <a:solidFill>
                  <a:srgbClr val="0000FF"/>
                </a:solidFill>
                <a:latin typeface="Times New Roman" pitchFamily="18" charset="0"/>
                <a:ea typeface="楷体_GB2312" pitchFamily="49" charset="-122"/>
              </a:rPr>
              <a:t>， 则 </a:t>
            </a:r>
            <a:r>
              <a:rPr kumimoji="1" lang="en-US" altLang="zh-CN" sz="3200" b="1">
                <a:solidFill>
                  <a:srgbClr val="0000FF"/>
                </a:solidFill>
                <a:latin typeface="Times New Roman" pitchFamily="18" charset="0"/>
                <a:ea typeface="楷体_GB2312" pitchFamily="49" charset="-122"/>
              </a:rPr>
              <a:t>F = Φ</a:t>
            </a:r>
            <a:r>
              <a:rPr kumimoji="1" lang="zh-CN" altLang="en-US" sz="3200">
                <a:solidFill>
                  <a:srgbClr val="0000FF"/>
                </a:solidFill>
                <a:latin typeface="Times New Roman" pitchFamily="18" charset="0"/>
                <a:ea typeface="楷体_GB2312" pitchFamily="49" charset="-122"/>
              </a:rPr>
              <a:t>；</a:t>
            </a:r>
          </a:p>
          <a:p>
            <a:pPr fontAlgn="base">
              <a:lnSpc>
                <a:spcPct val="140000"/>
              </a:lnSpc>
              <a:spcBef>
                <a:spcPct val="0"/>
              </a:spcBef>
              <a:spcAft>
                <a:spcPct val="0"/>
              </a:spcAft>
            </a:pPr>
            <a:r>
              <a:rPr kumimoji="1" lang="zh-CN" altLang="en-US" sz="3200">
                <a:solidFill>
                  <a:srgbClr val="0000FF"/>
                </a:solidFill>
                <a:latin typeface="Times New Roman" pitchFamily="18" charset="0"/>
                <a:ea typeface="楷体_GB2312" pitchFamily="49" charset="-122"/>
              </a:rPr>
              <a:t>否则，</a:t>
            </a:r>
          </a:p>
          <a:p>
            <a:pPr fontAlgn="base">
              <a:lnSpc>
                <a:spcPct val="140000"/>
              </a:lnSpc>
              <a:spcBef>
                <a:spcPct val="0"/>
              </a:spcBef>
              <a:spcAft>
                <a:spcPct val="0"/>
              </a:spcAft>
            </a:pPr>
            <a:r>
              <a:rPr kumimoji="1" lang="zh-CN" altLang="en-US" sz="3200">
                <a:solidFill>
                  <a:srgbClr val="0000FF"/>
                </a:solidFill>
                <a:latin typeface="Times New Roman" pitchFamily="18" charset="0"/>
                <a:ea typeface="楷体_GB2312" pitchFamily="49" charset="-122"/>
              </a:rPr>
              <a:t>由 </a:t>
            </a:r>
            <a:r>
              <a:rPr kumimoji="1" lang="en-US" altLang="zh-CN" sz="3200" b="1">
                <a:solidFill>
                  <a:srgbClr val="0000FF"/>
                </a:solidFill>
                <a:latin typeface="Times New Roman" pitchFamily="18" charset="0"/>
                <a:ea typeface="楷体_GB2312" pitchFamily="49" charset="-122"/>
              </a:rPr>
              <a:t>Node(root)</a:t>
            </a:r>
            <a:r>
              <a:rPr kumimoji="1" lang="en-US" altLang="zh-CN" sz="3200">
                <a:solidFill>
                  <a:srgbClr val="0000FF"/>
                </a:solidFill>
                <a:latin typeface="Times New Roman" pitchFamily="18" charset="0"/>
                <a:ea typeface="楷体_GB2312" pitchFamily="49" charset="-122"/>
              </a:rPr>
              <a:t> </a:t>
            </a:r>
            <a:r>
              <a:rPr kumimoji="1" lang="zh-CN" altLang="en-US" sz="3200">
                <a:solidFill>
                  <a:srgbClr val="0000FF"/>
                </a:solidFill>
                <a:latin typeface="Times New Roman" pitchFamily="18" charset="0"/>
                <a:ea typeface="楷体_GB2312" pitchFamily="49" charset="-122"/>
              </a:rPr>
              <a:t>对应得到 </a:t>
            </a:r>
            <a:r>
              <a:rPr kumimoji="1" lang="en-US" altLang="zh-CN" sz="3200" b="1">
                <a:solidFill>
                  <a:srgbClr val="0000FF"/>
                </a:solidFill>
                <a:latin typeface="Times New Roman" pitchFamily="18" charset="0"/>
                <a:ea typeface="楷体_GB2312" pitchFamily="49" charset="-122"/>
              </a:rPr>
              <a:t>ROOT( T</a:t>
            </a:r>
            <a:r>
              <a:rPr kumimoji="1" lang="en-US" altLang="zh-CN" sz="3200" b="1" baseline="-25000">
                <a:solidFill>
                  <a:srgbClr val="0000FF"/>
                </a:solidFill>
                <a:latin typeface="Times New Roman" pitchFamily="18" charset="0"/>
                <a:ea typeface="楷体_GB2312" pitchFamily="49" charset="-122"/>
              </a:rPr>
              <a:t>1</a:t>
            </a:r>
            <a:r>
              <a:rPr kumimoji="1" lang="en-US" altLang="zh-CN" sz="3200" baseline="-25000">
                <a:solidFill>
                  <a:srgbClr val="0000FF"/>
                </a:solidFill>
                <a:latin typeface="Times New Roman" pitchFamily="18" charset="0"/>
                <a:ea typeface="楷体_GB2312" pitchFamily="49" charset="-122"/>
              </a:rPr>
              <a:t> </a:t>
            </a:r>
            <a:r>
              <a:rPr kumimoji="1" lang="en-US" altLang="zh-CN" sz="3200" b="1">
                <a:solidFill>
                  <a:srgbClr val="0000FF"/>
                </a:solidFill>
                <a:latin typeface="Times New Roman" pitchFamily="18" charset="0"/>
                <a:ea typeface="楷体_GB2312" pitchFamily="49" charset="-122"/>
              </a:rPr>
              <a:t>)</a:t>
            </a:r>
            <a:r>
              <a:rPr kumimoji="1" lang="zh-CN" altLang="en-US" sz="3200">
                <a:solidFill>
                  <a:srgbClr val="0000FF"/>
                </a:solidFill>
                <a:latin typeface="Times New Roman" pitchFamily="18" charset="0"/>
                <a:ea typeface="楷体_GB2312" pitchFamily="49" charset="-122"/>
              </a:rPr>
              <a:t>；</a:t>
            </a:r>
          </a:p>
          <a:p>
            <a:pPr fontAlgn="base">
              <a:lnSpc>
                <a:spcPct val="140000"/>
              </a:lnSpc>
              <a:spcBef>
                <a:spcPct val="0"/>
              </a:spcBef>
              <a:spcAft>
                <a:spcPct val="0"/>
              </a:spcAft>
            </a:pPr>
            <a:r>
              <a:rPr kumimoji="1" lang="zh-CN" altLang="en-US" sz="3200">
                <a:solidFill>
                  <a:srgbClr val="0000FF"/>
                </a:solidFill>
                <a:latin typeface="Times New Roman" pitchFamily="18" charset="0"/>
                <a:ea typeface="楷体_GB2312" pitchFamily="49" charset="-122"/>
              </a:rPr>
              <a:t>由</a:t>
            </a:r>
            <a:r>
              <a:rPr kumimoji="1" lang="en-US" altLang="zh-CN" sz="3200" b="1">
                <a:solidFill>
                  <a:srgbClr val="0000FF"/>
                </a:solidFill>
                <a:latin typeface="Times New Roman" pitchFamily="18" charset="0"/>
                <a:ea typeface="楷体_GB2312" pitchFamily="49" charset="-122"/>
              </a:rPr>
              <a:t>LBT</a:t>
            </a:r>
            <a:r>
              <a:rPr kumimoji="1" lang="en-US" altLang="zh-CN" sz="3200">
                <a:solidFill>
                  <a:srgbClr val="0000FF"/>
                </a:solidFill>
                <a:latin typeface="Times New Roman" pitchFamily="18" charset="0"/>
                <a:ea typeface="楷体_GB2312" pitchFamily="49" charset="-122"/>
              </a:rPr>
              <a:t> </a:t>
            </a:r>
            <a:r>
              <a:rPr kumimoji="1" lang="zh-CN" altLang="en-US" sz="3200">
                <a:solidFill>
                  <a:srgbClr val="0000FF"/>
                </a:solidFill>
                <a:latin typeface="Times New Roman" pitchFamily="18" charset="0"/>
                <a:ea typeface="楷体_GB2312" pitchFamily="49" charset="-122"/>
              </a:rPr>
              <a:t>对应得到 </a:t>
            </a:r>
            <a:r>
              <a:rPr kumimoji="1" lang="en-US" altLang="zh-CN" sz="3200" b="1">
                <a:solidFill>
                  <a:srgbClr val="0000FF"/>
                </a:solidFill>
                <a:latin typeface="Times New Roman" pitchFamily="18" charset="0"/>
                <a:ea typeface="楷体_GB2312" pitchFamily="49" charset="-122"/>
              </a:rPr>
              <a:t>( t</a:t>
            </a:r>
            <a:r>
              <a:rPr kumimoji="1" lang="en-US" altLang="zh-CN" sz="3200" b="1" baseline="-25000">
                <a:solidFill>
                  <a:srgbClr val="0000FF"/>
                </a:solidFill>
                <a:latin typeface="Times New Roman" pitchFamily="18" charset="0"/>
                <a:ea typeface="楷体_GB2312" pitchFamily="49" charset="-122"/>
              </a:rPr>
              <a:t>11</a:t>
            </a:r>
            <a:r>
              <a:rPr kumimoji="1" lang="en-US" altLang="zh-CN" sz="3200" b="1">
                <a:solidFill>
                  <a:srgbClr val="0000FF"/>
                </a:solidFill>
                <a:latin typeface="Times New Roman" pitchFamily="18" charset="0"/>
                <a:ea typeface="楷体_GB2312" pitchFamily="49" charset="-122"/>
              </a:rPr>
              <a:t>, t</a:t>
            </a:r>
            <a:r>
              <a:rPr kumimoji="1" lang="en-US" altLang="zh-CN" sz="3200" b="1" baseline="-25000">
                <a:solidFill>
                  <a:srgbClr val="0000FF"/>
                </a:solidFill>
                <a:latin typeface="Times New Roman" pitchFamily="18" charset="0"/>
                <a:ea typeface="楷体_GB2312" pitchFamily="49" charset="-122"/>
              </a:rPr>
              <a:t>12</a:t>
            </a:r>
            <a:r>
              <a:rPr kumimoji="1" lang="en-US" altLang="zh-CN" sz="3200" b="1">
                <a:solidFill>
                  <a:srgbClr val="0000FF"/>
                </a:solidFill>
                <a:latin typeface="Times New Roman" pitchFamily="18" charset="0"/>
                <a:ea typeface="楷体_GB2312" pitchFamily="49" charset="-122"/>
              </a:rPr>
              <a:t>, …</a:t>
            </a:r>
            <a:r>
              <a:rPr kumimoji="1" lang="zh-CN" altLang="en-US" sz="3200" b="1">
                <a:solidFill>
                  <a:srgbClr val="0000FF"/>
                </a:solidFill>
                <a:latin typeface="Times New Roman" pitchFamily="18" charset="0"/>
                <a:ea typeface="楷体_GB2312" pitchFamily="49" charset="-122"/>
              </a:rPr>
              <a:t>，</a:t>
            </a:r>
            <a:r>
              <a:rPr kumimoji="1" lang="en-US" altLang="zh-CN" sz="3200" b="1">
                <a:solidFill>
                  <a:srgbClr val="0000FF"/>
                </a:solidFill>
                <a:latin typeface="Times New Roman" pitchFamily="18" charset="0"/>
                <a:ea typeface="楷体_GB2312" pitchFamily="49" charset="-122"/>
              </a:rPr>
              <a:t>t</a:t>
            </a:r>
            <a:r>
              <a:rPr kumimoji="1" lang="en-US" altLang="zh-CN" sz="3200" b="1" baseline="-25000">
                <a:solidFill>
                  <a:srgbClr val="0000FF"/>
                </a:solidFill>
                <a:latin typeface="Times New Roman" pitchFamily="18" charset="0"/>
                <a:ea typeface="楷体_GB2312" pitchFamily="49" charset="-122"/>
              </a:rPr>
              <a:t>1m</a:t>
            </a:r>
            <a:r>
              <a:rPr kumimoji="1" lang="en-US" altLang="zh-CN" sz="3200" b="1">
                <a:solidFill>
                  <a:srgbClr val="0000FF"/>
                </a:solidFill>
                <a:latin typeface="Times New Roman" pitchFamily="18" charset="0"/>
                <a:ea typeface="楷体_GB2312" pitchFamily="49" charset="-122"/>
              </a:rPr>
              <a:t>)</a:t>
            </a:r>
            <a:r>
              <a:rPr kumimoji="1" lang="zh-CN" altLang="en-US" sz="3200">
                <a:solidFill>
                  <a:srgbClr val="0000FF"/>
                </a:solidFill>
                <a:latin typeface="Times New Roman" pitchFamily="18" charset="0"/>
                <a:ea typeface="楷体_GB2312" pitchFamily="49" charset="-122"/>
              </a:rPr>
              <a:t>；</a:t>
            </a:r>
          </a:p>
          <a:p>
            <a:pPr fontAlgn="base">
              <a:lnSpc>
                <a:spcPct val="140000"/>
              </a:lnSpc>
              <a:spcBef>
                <a:spcPct val="0"/>
              </a:spcBef>
              <a:spcAft>
                <a:spcPct val="0"/>
              </a:spcAft>
            </a:pPr>
            <a:r>
              <a:rPr kumimoji="1" lang="zh-CN" altLang="en-US" sz="3200">
                <a:solidFill>
                  <a:srgbClr val="0000FF"/>
                </a:solidFill>
                <a:latin typeface="Times New Roman" pitchFamily="18" charset="0"/>
                <a:ea typeface="楷体_GB2312" pitchFamily="49" charset="-122"/>
              </a:rPr>
              <a:t>由</a:t>
            </a:r>
            <a:r>
              <a:rPr kumimoji="1" lang="en-US" altLang="zh-CN" sz="3200" b="1">
                <a:solidFill>
                  <a:srgbClr val="0000FF"/>
                </a:solidFill>
                <a:latin typeface="Times New Roman" pitchFamily="18" charset="0"/>
                <a:ea typeface="楷体_GB2312" pitchFamily="49" charset="-122"/>
              </a:rPr>
              <a:t>RBT</a:t>
            </a:r>
            <a:r>
              <a:rPr kumimoji="1" lang="en-US" altLang="zh-CN" sz="3200">
                <a:solidFill>
                  <a:srgbClr val="0000FF"/>
                </a:solidFill>
                <a:latin typeface="Times New Roman" pitchFamily="18" charset="0"/>
                <a:ea typeface="楷体_GB2312" pitchFamily="49" charset="-122"/>
              </a:rPr>
              <a:t> </a:t>
            </a:r>
            <a:r>
              <a:rPr kumimoji="1" lang="zh-CN" altLang="en-US" sz="3200">
                <a:solidFill>
                  <a:srgbClr val="0000FF"/>
                </a:solidFill>
                <a:latin typeface="Times New Roman" pitchFamily="18" charset="0"/>
                <a:ea typeface="楷体_GB2312" pitchFamily="49" charset="-122"/>
              </a:rPr>
              <a:t>对应得到 </a:t>
            </a:r>
            <a:r>
              <a:rPr kumimoji="1" lang="en-US" altLang="zh-CN" sz="3200" b="1">
                <a:solidFill>
                  <a:srgbClr val="0000FF"/>
                </a:solidFill>
                <a:latin typeface="Times New Roman" pitchFamily="18" charset="0"/>
                <a:ea typeface="楷体_GB2312" pitchFamily="49" charset="-122"/>
              </a:rPr>
              <a:t>(T</a:t>
            </a:r>
            <a:r>
              <a:rPr kumimoji="1" lang="en-US" altLang="zh-CN" sz="3200" b="1" baseline="-25000">
                <a:solidFill>
                  <a:srgbClr val="0000FF"/>
                </a:solidFill>
                <a:latin typeface="Times New Roman" pitchFamily="18" charset="0"/>
                <a:ea typeface="楷体_GB2312" pitchFamily="49" charset="-122"/>
              </a:rPr>
              <a:t>2</a:t>
            </a:r>
            <a:r>
              <a:rPr kumimoji="1" lang="en-US" altLang="zh-CN" sz="3200" b="1">
                <a:solidFill>
                  <a:srgbClr val="0000FF"/>
                </a:solidFill>
                <a:latin typeface="Times New Roman" pitchFamily="18" charset="0"/>
                <a:ea typeface="楷体_GB2312" pitchFamily="49" charset="-122"/>
              </a:rPr>
              <a:t>, T</a:t>
            </a:r>
            <a:r>
              <a:rPr kumimoji="1" lang="en-US" altLang="zh-CN" sz="3200" b="1" baseline="-25000">
                <a:solidFill>
                  <a:srgbClr val="0000FF"/>
                </a:solidFill>
                <a:latin typeface="Times New Roman" pitchFamily="18" charset="0"/>
                <a:ea typeface="楷体_GB2312" pitchFamily="49" charset="-122"/>
              </a:rPr>
              <a:t>3</a:t>
            </a:r>
            <a:r>
              <a:rPr kumimoji="1" lang="en-US" altLang="zh-CN" sz="3200" b="1">
                <a:solidFill>
                  <a:srgbClr val="0000FF"/>
                </a:solidFill>
                <a:latin typeface="Times New Roman" pitchFamily="18" charset="0"/>
                <a:ea typeface="楷体_GB2312" pitchFamily="49" charset="-122"/>
              </a:rPr>
              <a:t>, …, T</a:t>
            </a:r>
            <a:r>
              <a:rPr kumimoji="1" lang="en-US" altLang="zh-CN" sz="3200" b="1" baseline="-25000">
                <a:solidFill>
                  <a:srgbClr val="0000FF"/>
                </a:solidFill>
                <a:latin typeface="Times New Roman" pitchFamily="18" charset="0"/>
                <a:ea typeface="楷体_GB2312" pitchFamily="49" charset="-122"/>
              </a:rPr>
              <a:t>n</a:t>
            </a:r>
            <a:r>
              <a:rPr kumimoji="1" lang="en-US" altLang="zh-CN" sz="3200" b="1">
                <a:solidFill>
                  <a:srgbClr val="0000FF"/>
                </a:solidFill>
                <a:latin typeface="Times New Roman" pitchFamily="18" charset="0"/>
                <a:ea typeface="楷体_GB2312" pitchFamily="49" charset="-122"/>
              </a:rPr>
              <a:t>)</a:t>
            </a:r>
            <a:r>
              <a:rPr kumimoji="1" lang="zh-CN" altLang="en-US" sz="3200" b="1">
                <a:solidFill>
                  <a:srgbClr val="0000FF"/>
                </a:solidFill>
                <a:latin typeface="Times New Roman" pitchFamily="18" charset="0"/>
                <a:ea typeface="楷体_GB2312" pitchFamily="49" charset="-122"/>
              </a:rPr>
              <a:t>。</a:t>
            </a:r>
            <a:endParaRPr kumimoji="1" lang="zh-CN" altLang="en-US">
              <a:solidFill>
                <a:srgbClr val="0000FF"/>
              </a:solidFill>
              <a:latin typeface="Times New Roman" pitchFamily="18" charset="0"/>
            </a:endParaRPr>
          </a:p>
        </p:txBody>
      </p:sp>
    </p:spTree>
    <p:extLst>
      <p:ext uri="{BB962C8B-B14F-4D97-AF65-F5344CB8AC3E}">
        <p14:creationId xmlns:p14="http://schemas.microsoft.com/office/powerpoint/2010/main" val="78193248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树、森林与二叉树的转换</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二叉树到树、森林的转换</a:t>
            </a:r>
          </a:p>
        </p:txBody>
      </p:sp>
      <p:sp>
        <p:nvSpPr>
          <p:cNvPr id="4" name="日期占位符 3"/>
          <p:cNvSpPr>
            <a:spLocks noGrp="1"/>
          </p:cNvSpPr>
          <p:nvPr>
            <p:ph type="dt" sz="half" idx="10"/>
          </p:nvPr>
        </p:nvSpPr>
        <p:spPr/>
        <p:txBody>
          <a:bodyPr/>
          <a:lstStyle/>
          <a:p>
            <a:fld id="{7D4BECC8-00A4-4AC0-91FF-9EFE8E3C6C3C}"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141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3"/>
          <p:cNvSpPr txBox="1">
            <a:spLocks noChangeArrowheads="1"/>
          </p:cNvSpPr>
          <p:nvPr/>
        </p:nvSpPr>
        <p:spPr bwMode="auto">
          <a:xfrm>
            <a:off x="777875" y="2062163"/>
            <a:ext cx="7561263" cy="3311525"/>
          </a:xfrm>
          <a:prstGeom prst="rect">
            <a:avLst/>
          </a:prstGeom>
          <a:noFill/>
          <a:ln w="9525">
            <a:solidFill>
              <a:srgbClr val="04617B"/>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L="273050" marR="0" lvl="0" indent="-273050" algn="l" defTabSz="914400" rtl="0" eaLnBrk="1" fontAlgn="base" latinLnBrk="0" hangingPunct="1">
              <a:lnSpc>
                <a:spcPct val="150000"/>
              </a:lnSpc>
              <a:spcBef>
                <a:spcPct val="20000"/>
              </a:spcBef>
              <a:spcAft>
                <a:spcPct val="0"/>
              </a:spcAft>
              <a:buClr>
                <a:srgbClr val="0BD0D9"/>
              </a:buClr>
              <a:buSzPct val="95000"/>
              <a:buFont typeface="Wingdings 2" pitchFamily="18" charset="2"/>
              <a:buNone/>
              <a:tabLst/>
              <a:defRPr/>
            </a:pPr>
            <a:r>
              <a:rPr kumimoji="0" lang="zh-CN" altLang="en-US" sz="3200" b="1" i="0" u="none" strike="noStrike" kern="0" cap="none" spc="0" normalizeH="0" baseline="0" noProof="0">
                <a:ln>
                  <a:noFill/>
                </a:ln>
                <a:solidFill>
                  <a:srgbClr val="0000FF"/>
                </a:solidFill>
                <a:effectLst/>
                <a:uLnTx/>
                <a:uFillTx/>
                <a:latin typeface="Times New Roman" pitchFamily="18" charset="0"/>
                <a:ea typeface="宋体"/>
                <a:cs typeface="+mn-cs"/>
              </a:rPr>
              <a:t>（</a:t>
            </a:r>
            <a:r>
              <a:rPr kumimoji="0" lang="en-US" altLang="zh-CN" sz="3200" b="1" i="0" u="none" strike="noStrike" kern="0" cap="none" spc="0" normalizeH="0" baseline="0" noProof="0">
                <a:ln>
                  <a:noFill/>
                </a:ln>
                <a:solidFill>
                  <a:srgbClr val="0000FF"/>
                </a:solidFill>
                <a:effectLst/>
                <a:uLnTx/>
                <a:uFillTx/>
                <a:latin typeface="Times New Roman" pitchFamily="18" charset="0"/>
                <a:ea typeface="宋体"/>
                <a:cs typeface="+mn-cs"/>
              </a:rPr>
              <a:t>1</a:t>
            </a:r>
            <a:r>
              <a:rPr kumimoji="0" lang="zh-CN" altLang="en-US" sz="3200" b="1" i="0" u="none" strike="noStrike" kern="0" cap="none" spc="0" normalizeH="0" baseline="0" noProof="0">
                <a:ln>
                  <a:noFill/>
                </a:ln>
                <a:solidFill>
                  <a:srgbClr val="0000FF"/>
                </a:solidFill>
                <a:effectLst/>
                <a:uLnTx/>
                <a:uFillTx/>
                <a:latin typeface="Times New Roman" pitchFamily="18" charset="0"/>
                <a:ea typeface="宋体"/>
                <a:cs typeface="+mn-cs"/>
              </a:rPr>
              <a:t>）如果结点</a:t>
            </a:r>
            <a:r>
              <a:rPr kumimoji="0" lang="en-US" altLang="zh-CN" sz="3200" b="1" i="0" u="none" strike="noStrike" kern="0" cap="none" spc="0" normalizeH="0" baseline="0" noProof="0">
                <a:ln>
                  <a:noFill/>
                </a:ln>
                <a:solidFill>
                  <a:srgbClr val="0000FF"/>
                </a:solidFill>
                <a:effectLst/>
                <a:uLnTx/>
                <a:uFillTx/>
                <a:latin typeface="Times New Roman" pitchFamily="18" charset="0"/>
                <a:ea typeface="宋体"/>
                <a:cs typeface="+mn-cs"/>
              </a:rPr>
              <a:t>X</a:t>
            </a:r>
            <a:r>
              <a:rPr kumimoji="0" lang="zh-CN" altLang="en-US" sz="3200" b="1" i="0" u="none" strike="noStrike" kern="0" cap="none" spc="0" normalizeH="0" baseline="0" noProof="0">
                <a:ln>
                  <a:noFill/>
                </a:ln>
                <a:solidFill>
                  <a:srgbClr val="0000FF"/>
                </a:solidFill>
                <a:effectLst/>
                <a:uLnTx/>
                <a:uFillTx/>
                <a:latin typeface="Times New Roman" pitchFamily="18" charset="0"/>
                <a:ea typeface="宋体"/>
                <a:cs typeface="+mn-cs"/>
              </a:rPr>
              <a:t>是其双亲</a:t>
            </a:r>
            <a:r>
              <a:rPr kumimoji="0" lang="en-US" altLang="zh-CN" sz="3200" b="1" i="0" u="none" strike="noStrike" kern="0" cap="none" spc="0" normalizeH="0" baseline="0" noProof="0">
                <a:ln>
                  <a:noFill/>
                </a:ln>
                <a:solidFill>
                  <a:srgbClr val="0000FF"/>
                </a:solidFill>
                <a:effectLst/>
                <a:uLnTx/>
                <a:uFillTx/>
                <a:latin typeface="Times New Roman" pitchFamily="18" charset="0"/>
                <a:ea typeface="宋体"/>
                <a:cs typeface="+mn-cs"/>
              </a:rPr>
              <a:t>Y</a:t>
            </a:r>
            <a:r>
              <a:rPr kumimoji="0" lang="zh-CN" altLang="en-US" sz="3200" b="1" i="0" u="none" strike="noStrike" kern="0" cap="none" spc="0" normalizeH="0" baseline="0" noProof="0">
                <a:ln>
                  <a:noFill/>
                </a:ln>
                <a:solidFill>
                  <a:srgbClr val="0000FF"/>
                </a:solidFill>
                <a:effectLst/>
                <a:uLnTx/>
                <a:uFillTx/>
                <a:latin typeface="Times New Roman" pitchFamily="18" charset="0"/>
                <a:ea typeface="宋体"/>
                <a:cs typeface="+mn-cs"/>
              </a:rPr>
              <a:t>的左孩子，则把</a:t>
            </a:r>
            <a:r>
              <a:rPr kumimoji="0" lang="en-US" altLang="zh-CN" sz="3200" b="1" i="0" u="none" strike="noStrike" kern="0" cap="none" spc="0" normalizeH="0" baseline="0" noProof="0">
                <a:ln>
                  <a:noFill/>
                </a:ln>
                <a:solidFill>
                  <a:srgbClr val="0000FF"/>
                </a:solidFill>
                <a:effectLst/>
                <a:uLnTx/>
                <a:uFillTx/>
                <a:latin typeface="Times New Roman" pitchFamily="18" charset="0"/>
                <a:ea typeface="宋体"/>
                <a:cs typeface="+mn-cs"/>
              </a:rPr>
              <a:t>x</a:t>
            </a:r>
            <a:r>
              <a:rPr kumimoji="0" lang="zh-CN" altLang="en-US" sz="3200" b="1" i="0" u="none" strike="noStrike" kern="0" cap="none" spc="0" normalizeH="0" baseline="0" noProof="0">
                <a:ln>
                  <a:noFill/>
                </a:ln>
                <a:solidFill>
                  <a:srgbClr val="0000FF"/>
                </a:solidFill>
                <a:effectLst/>
                <a:uLnTx/>
                <a:uFillTx/>
                <a:latin typeface="Times New Roman" pitchFamily="18" charset="0"/>
                <a:ea typeface="宋体"/>
                <a:cs typeface="+mn-cs"/>
              </a:rPr>
              <a:t>的右孩子，右孩子的右孩子，</a:t>
            </a:r>
            <a:r>
              <a:rPr kumimoji="0" lang="en-US" altLang="zh-CN" sz="3200" b="1" i="0" u="none" strike="noStrike" kern="0" cap="none" spc="0" normalizeH="0" baseline="0" noProof="0">
                <a:ln>
                  <a:noFill/>
                </a:ln>
                <a:solidFill>
                  <a:srgbClr val="0000FF"/>
                </a:solidFill>
                <a:effectLst/>
                <a:uLnTx/>
                <a:uFillTx/>
                <a:latin typeface="Times New Roman" pitchFamily="18" charset="0"/>
                <a:ea typeface="宋体"/>
                <a:cs typeface="+mn-cs"/>
              </a:rPr>
              <a:t>…</a:t>
            </a:r>
            <a:r>
              <a:rPr kumimoji="0" lang="zh-CN" altLang="en-US" sz="3200" b="1" i="0" u="none" strike="noStrike" kern="0" cap="none" spc="0" normalizeH="0" baseline="0" noProof="0">
                <a:ln>
                  <a:noFill/>
                </a:ln>
                <a:solidFill>
                  <a:srgbClr val="0000FF"/>
                </a:solidFill>
                <a:effectLst/>
                <a:uLnTx/>
                <a:uFillTx/>
                <a:latin typeface="Times New Roman" pitchFamily="18" charset="0"/>
                <a:ea typeface="宋体"/>
                <a:cs typeface="+mn-cs"/>
              </a:rPr>
              <a:t>，都与</a:t>
            </a:r>
            <a:r>
              <a:rPr kumimoji="0" lang="en-US" altLang="zh-CN" sz="3200" b="1" i="0" u="none" strike="noStrike" kern="0" cap="none" spc="0" normalizeH="0" baseline="0" noProof="0">
                <a:ln>
                  <a:noFill/>
                </a:ln>
                <a:solidFill>
                  <a:srgbClr val="0000FF"/>
                </a:solidFill>
                <a:effectLst/>
                <a:uLnTx/>
                <a:uFillTx/>
                <a:latin typeface="Times New Roman" pitchFamily="18" charset="0"/>
                <a:ea typeface="宋体"/>
                <a:cs typeface="+mn-cs"/>
              </a:rPr>
              <a:t>Y</a:t>
            </a:r>
            <a:r>
              <a:rPr kumimoji="0" lang="zh-CN" altLang="en-US" sz="3200" b="1" i="0" u="none" strike="noStrike" kern="0" cap="none" spc="0" normalizeH="0" baseline="0" noProof="0">
                <a:ln>
                  <a:noFill/>
                </a:ln>
                <a:solidFill>
                  <a:srgbClr val="0000FF"/>
                </a:solidFill>
                <a:effectLst/>
                <a:uLnTx/>
                <a:uFillTx/>
                <a:latin typeface="Times New Roman" pitchFamily="18" charset="0"/>
                <a:ea typeface="宋体"/>
                <a:cs typeface="+mn-cs"/>
              </a:rPr>
              <a:t>用连线连起来；</a:t>
            </a:r>
          </a:p>
          <a:p>
            <a:pPr marL="273050" marR="0" lvl="0" indent="-273050" algn="l" defTabSz="914400" rtl="0" eaLnBrk="1" fontAlgn="base" latinLnBrk="0" hangingPunct="1">
              <a:lnSpc>
                <a:spcPct val="150000"/>
              </a:lnSpc>
              <a:spcBef>
                <a:spcPct val="20000"/>
              </a:spcBef>
              <a:spcAft>
                <a:spcPct val="0"/>
              </a:spcAft>
              <a:buClr>
                <a:srgbClr val="0BD0D9"/>
              </a:buClr>
              <a:buSzPct val="95000"/>
              <a:buFont typeface="Wingdings 2" pitchFamily="18" charset="2"/>
              <a:buNone/>
              <a:tabLst/>
              <a:defRPr/>
            </a:pPr>
            <a:r>
              <a:rPr kumimoji="0" lang="zh-CN" altLang="en-US" sz="3200" b="1" i="0" u="none" strike="noStrike" kern="0" cap="none" spc="0" normalizeH="0" baseline="0" noProof="0">
                <a:ln>
                  <a:noFill/>
                </a:ln>
                <a:solidFill>
                  <a:srgbClr val="0000FF"/>
                </a:solidFill>
                <a:effectLst/>
                <a:uLnTx/>
                <a:uFillTx/>
                <a:latin typeface="Times New Roman" pitchFamily="18" charset="0"/>
                <a:ea typeface="宋体"/>
                <a:cs typeface="+mn-cs"/>
              </a:rPr>
              <a:t>（</a:t>
            </a:r>
            <a:r>
              <a:rPr kumimoji="0" lang="en-US" altLang="zh-CN" sz="3200" b="1" i="0" u="none" strike="noStrike" kern="0" cap="none" spc="0" normalizeH="0" baseline="0" noProof="0">
                <a:ln>
                  <a:noFill/>
                </a:ln>
                <a:solidFill>
                  <a:srgbClr val="0000FF"/>
                </a:solidFill>
                <a:effectLst/>
                <a:uLnTx/>
                <a:uFillTx/>
                <a:latin typeface="Times New Roman" pitchFamily="18" charset="0"/>
                <a:ea typeface="宋体"/>
                <a:cs typeface="+mn-cs"/>
              </a:rPr>
              <a:t>2</a:t>
            </a:r>
            <a:r>
              <a:rPr kumimoji="0" lang="zh-CN" altLang="en-US" sz="3200" b="1" i="0" u="none" strike="noStrike" kern="0" cap="none" spc="0" normalizeH="0" baseline="0" noProof="0">
                <a:ln>
                  <a:noFill/>
                </a:ln>
                <a:solidFill>
                  <a:srgbClr val="0000FF"/>
                </a:solidFill>
                <a:effectLst/>
                <a:uLnTx/>
                <a:uFillTx/>
                <a:latin typeface="Times New Roman" pitchFamily="18" charset="0"/>
                <a:ea typeface="宋体"/>
                <a:cs typeface="+mn-cs"/>
              </a:rPr>
              <a:t>）去掉所有双亲到右孩子的连线</a:t>
            </a:r>
            <a:endParaRPr kumimoji="0" lang="en-US" altLang="zh-CN" sz="3200" b="1" i="0" u="none" strike="noStrike" kern="0" cap="none" spc="0" normalizeH="0" baseline="0" noProof="0">
              <a:ln>
                <a:noFill/>
              </a:ln>
              <a:solidFill>
                <a:srgbClr val="0000FF"/>
              </a:solidFill>
              <a:effectLst/>
              <a:uLnTx/>
              <a:uFillTx/>
              <a:latin typeface="Constantia"/>
              <a:ea typeface="宋体"/>
              <a:cs typeface="+mn-cs"/>
            </a:endParaRPr>
          </a:p>
        </p:txBody>
      </p:sp>
      <p:sp>
        <p:nvSpPr>
          <p:cNvPr id="14" name="AutoShape 8">
            <a:hlinkClick r:id="rId4" action="ppaction://hlinkfile"/>
          </p:cNvPr>
          <p:cNvSpPr>
            <a:spLocks noChangeArrowheads="1"/>
          </p:cNvSpPr>
          <p:nvPr/>
        </p:nvSpPr>
        <p:spPr bwMode="auto">
          <a:xfrm>
            <a:off x="7453313" y="5400675"/>
            <a:ext cx="1462087" cy="1000125"/>
          </a:xfrm>
          <a:custGeom>
            <a:avLst/>
            <a:gdLst>
              <a:gd name="T0" fmla="*/ 162088028 w 21600"/>
              <a:gd name="T1" fmla="*/ 0 h 21600"/>
              <a:gd name="T2" fmla="*/ 0 w 21600"/>
              <a:gd name="T3" fmla="*/ 20307112 h 21600"/>
              <a:gd name="T4" fmla="*/ 162088028 w 21600"/>
              <a:gd name="T5" fmla="*/ 40614181 h 21600"/>
              <a:gd name="T6" fmla="*/ 216117338 w 21600"/>
              <a:gd name="T7" fmla="*/ 20307112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003300"/>
                </a:solidFill>
                <a:effectLst/>
                <a:uLnTx/>
                <a:uFillTx/>
                <a:latin typeface="隶书" pitchFamily="49" charset="-122"/>
                <a:ea typeface="隶书" pitchFamily="49" charset="-122"/>
                <a:cs typeface="+mn-cs"/>
              </a:rPr>
              <a:t>图示</a:t>
            </a:r>
          </a:p>
        </p:txBody>
      </p:sp>
    </p:spTree>
    <p:extLst>
      <p:ext uri="{BB962C8B-B14F-4D97-AF65-F5344CB8AC3E}">
        <p14:creationId xmlns:p14="http://schemas.microsoft.com/office/powerpoint/2010/main" val="6605612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5.5.2  </a:t>
            </a:r>
            <a:r>
              <a:rPr kumimoji="1" lang="zh-CN" altLang="en-US" sz="3200" b="1" dirty="0">
                <a:latin typeface="Arial" charset="0"/>
                <a:ea typeface="宋体" charset="-122"/>
                <a:cs typeface="+mn-cs"/>
              </a:rPr>
              <a:t>树、森林与二叉树的转换</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endParaRPr lang="zh-CN" altLang="en-US" sz="2800" b="1" dirty="0">
              <a:solidFill>
                <a:srgbClr val="FF0000"/>
              </a:solidFill>
            </a:endParaRPr>
          </a:p>
        </p:txBody>
      </p:sp>
      <p:sp>
        <p:nvSpPr>
          <p:cNvPr id="4" name="日期占位符 3"/>
          <p:cNvSpPr>
            <a:spLocks noGrp="1"/>
          </p:cNvSpPr>
          <p:nvPr>
            <p:ph type="dt" sz="half" idx="10"/>
          </p:nvPr>
        </p:nvSpPr>
        <p:spPr/>
        <p:txBody>
          <a:bodyPr/>
          <a:lstStyle/>
          <a:p>
            <a:fld id="{91C716CC-4665-426D-8211-AA57A69242EC}"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142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4"/>
          <p:cNvSpPr txBox="1">
            <a:spLocks noChangeArrowheads="1"/>
          </p:cNvSpPr>
          <p:nvPr/>
        </p:nvSpPr>
        <p:spPr bwMode="auto">
          <a:xfrm>
            <a:off x="152401" y="1295400"/>
            <a:ext cx="8839200" cy="2028825"/>
          </a:xfrm>
          <a:prstGeom prst="rect">
            <a:avLst/>
          </a:prstGeom>
          <a:noFill/>
          <a:ln w="12700" cap="rnd">
            <a:solidFill>
              <a:srgbClr val="04617B"/>
            </a:solidFill>
            <a:miter lim="800000"/>
            <a:headEnd/>
            <a:tailEnd/>
          </a:ln>
        </p:spPr>
        <p:txBody>
          <a:bodyPr wrap="square">
            <a:spAutoFit/>
          </a:bodyPr>
          <a:lstStyle/>
          <a:p>
            <a:pPr marL="0" marR="0" lvl="0" indent="0" defTabSz="914400" eaLnBrk="1" fontAlgn="base" latinLnBrk="0" hangingPunct="1">
              <a:lnSpc>
                <a:spcPct val="150000"/>
              </a:lnSpc>
              <a:spcBef>
                <a:spcPct val="0"/>
              </a:spcBef>
              <a:spcAft>
                <a:spcPct val="0"/>
              </a:spcAft>
              <a:buClrTx/>
              <a:buSzTx/>
              <a:buFont typeface="Wingdings" pitchFamily="2" charset="2"/>
              <a:buChar char="Ø"/>
              <a:tabLst/>
              <a:defRPr/>
            </a:pPr>
            <a:r>
              <a:rPr kumimoji="1" lang="zh-CN" altLang="en-US" sz="2800" b="1" i="0" u="none" strike="noStrike" kern="0" cap="none" spc="0" normalizeH="0" baseline="0" noProof="0">
                <a:ln>
                  <a:noFill/>
                </a:ln>
                <a:solidFill>
                  <a:srgbClr val="0000FF"/>
                </a:solidFill>
                <a:effectLst/>
                <a:uLnTx/>
                <a:uFillTx/>
                <a:latin typeface="宋体" pitchFamily="2" charset="-122"/>
              </a:rPr>
              <a:t>树或森林与二叉树之间有一个自然的一一对应的关系。</a:t>
            </a:r>
          </a:p>
          <a:p>
            <a:pPr marL="0" marR="0" lvl="0" indent="0" defTabSz="914400" eaLnBrk="1" fontAlgn="base" latinLnBrk="0" hangingPunct="1">
              <a:lnSpc>
                <a:spcPct val="150000"/>
              </a:lnSpc>
              <a:spcBef>
                <a:spcPct val="0"/>
              </a:spcBef>
              <a:spcAft>
                <a:spcPct val="0"/>
              </a:spcAft>
              <a:buClrTx/>
              <a:buSzTx/>
              <a:buFont typeface="Wingdings" pitchFamily="2" charset="2"/>
              <a:buChar char="Ø"/>
              <a:tabLst/>
              <a:defRPr/>
            </a:pPr>
            <a:r>
              <a:rPr kumimoji="1" lang="zh-CN" altLang="en-US" sz="2800" b="1" i="0" u="none" strike="noStrike" kern="0" cap="none" spc="0" normalizeH="0" baseline="0" noProof="0">
                <a:ln>
                  <a:noFill/>
                </a:ln>
                <a:solidFill>
                  <a:srgbClr val="0000FF"/>
                </a:solidFill>
                <a:effectLst/>
                <a:uLnTx/>
                <a:uFillTx/>
                <a:latin typeface="宋体" pitchFamily="2" charset="-122"/>
              </a:rPr>
              <a:t>任何一个</a:t>
            </a:r>
            <a:r>
              <a:rPr kumimoji="1" lang="zh-CN" altLang="en-US" sz="2800" b="1" i="0" u="none" strike="noStrike" kern="0" cap="none" spc="0" normalizeH="0" baseline="0" noProof="0">
                <a:ln>
                  <a:noFill/>
                </a:ln>
                <a:solidFill>
                  <a:srgbClr val="FC1C04"/>
                </a:solidFill>
                <a:effectLst/>
                <a:uLnTx/>
                <a:uFillTx/>
                <a:latin typeface="宋体" pitchFamily="2" charset="-122"/>
              </a:rPr>
              <a:t>森林或树</a:t>
            </a:r>
            <a:r>
              <a:rPr kumimoji="1" lang="zh-CN" altLang="en-US" sz="2800" b="1" i="0" u="none" strike="noStrike" kern="0" cap="none" spc="0" normalizeH="0" baseline="0" noProof="0">
                <a:ln>
                  <a:noFill/>
                </a:ln>
                <a:solidFill>
                  <a:srgbClr val="0000FF"/>
                </a:solidFill>
                <a:effectLst/>
                <a:uLnTx/>
                <a:uFillTx/>
                <a:latin typeface="宋体" pitchFamily="2" charset="-122"/>
              </a:rPr>
              <a:t>可以唯一地对应到一棵</a:t>
            </a:r>
            <a:r>
              <a:rPr kumimoji="1" lang="zh-CN" altLang="en-US" sz="2800" b="1" i="0" u="none" strike="noStrike" kern="0" cap="none" spc="0" normalizeH="0" baseline="0" noProof="0">
                <a:ln>
                  <a:noFill/>
                </a:ln>
                <a:solidFill>
                  <a:srgbClr val="FC1C04"/>
                </a:solidFill>
                <a:effectLst/>
                <a:uLnTx/>
                <a:uFillTx/>
                <a:latin typeface="宋体" pitchFamily="2" charset="-122"/>
              </a:rPr>
              <a:t>二叉树；</a:t>
            </a:r>
          </a:p>
          <a:p>
            <a:pPr marL="0" marR="0" lvl="0" indent="0" defTabSz="914400" eaLnBrk="1" fontAlgn="base" latinLnBrk="0" hangingPunct="1">
              <a:lnSpc>
                <a:spcPct val="150000"/>
              </a:lnSpc>
              <a:spcBef>
                <a:spcPct val="0"/>
              </a:spcBef>
              <a:spcAft>
                <a:spcPct val="0"/>
              </a:spcAft>
              <a:buClrTx/>
              <a:buSzTx/>
              <a:buFont typeface="Wingdings" pitchFamily="2" charset="2"/>
              <a:buChar char="Ø"/>
              <a:tabLst/>
              <a:defRPr/>
            </a:pPr>
            <a:r>
              <a:rPr kumimoji="1" lang="zh-CN" altLang="en-US" sz="2800" b="1" i="0" u="none" strike="noStrike" kern="0" cap="none" spc="0" normalizeH="0" baseline="0" noProof="0">
                <a:ln>
                  <a:noFill/>
                </a:ln>
                <a:solidFill>
                  <a:srgbClr val="0000FF"/>
                </a:solidFill>
                <a:effectLst/>
                <a:uLnTx/>
                <a:uFillTx/>
                <a:latin typeface="宋体" pitchFamily="2" charset="-122"/>
              </a:rPr>
              <a:t>任何一棵</a:t>
            </a:r>
            <a:r>
              <a:rPr kumimoji="1" lang="zh-CN" altLang="en-US" sz="2800" b="1" i="0" u="none" strike="noStrike" kern="0" cap="none" spc="0" normalizeH="0" baseline="0" noProof="0">
                <a:ln>
                  <a:noFill/>
                </a:ln>
                <a:solidFill>
                  <a:srgbClr val="FC1C04"/>
                </a:solidFill>
                <a:effectLst/>
                <a:uLnTx/>
                <a:uFillTx/>
                <a:latin typeface="宋体" pitchFamily="2" charset="-122"/>
              </a:rPr>
              <a:t>二叉树</a:t>
            </a:r>
            <a:r>
              <a:rPr kumimoji="1" lang="zh-CN" altLang="en-US" sz="2800" b="1" i="0" u="none" strike="noStrike" kern="0" cap="none" spc="0" normalizeH="0" baseline="0" noProof="0">
                <a:ln>
                  <a:noFill/>
                </a:ln>
                <a:solidFill>
                  <a:srgbClr val="0000FF"/>
                </a:solidFill>
                <a:effectLst/>
                <a:uLnTx/>
                <a:uFillTx/>
                <a:latin typeface="宋体" pitchFamily="2" charset="-122"/>
              </a:rPr>
              <a:t>可以唯一地对应到</a:t>
            </a:r>
            <a:r>
              <a:rPr kumimoji="1" lang="zh-CN" altLang="en-US" sz="2800" b="1" i="0" u="none" strike="noStrike" kern="0" cap="none" spc="0" normalizeH="0" baseline="0" noProof="0">
                <a:ln>
                  <a:noFill/>
                </a:ln>
                <a:solidFill>
                  <a:srgbClr val="FC1C04"/>
                </a:solidFill>
                <a:effectLst/>
                <a:uLnTx/>
                <a:uFillTx/>
                <a:latin typeface="宋体" pitchFamily="2" charset="-122"/>
              </a:rPr>
              <a:t>一个森林或一棵树</a:t>
            </a:r>
          </a:p>
        </p:txBody>
      </p:sp>
      <p:sp>
        <p:nvSpPr>
          <p:cNvPr id="14" name="AutoShape 10"/>
          <p:cNvSpPr>
            <a:spLocks noChangeArrowheads="1"/>
          </p:cNvSpPr>
          <p:nvPr/>
        </p:nvSpPr>
        <p:spPr bwMode="auto">
          <a:xfrm>
            <a:off x="1017588" y="4175125"/>
            <a:ext cx="7777162" cy="1873250"/>
          </a:xfrm>
          <a:prstGeom prst="cloudCallout">
            <a:avLst>
              <a:gd name="adj1" fmla="val -43324"/>
              <a:gd name="adj2" fmla="val 6523"/>
            </a:avLst>
          </a:prstGeom>
          <a:solidFill>
            <a:srgbClr val="FFFFFF"/>
          </a:solidFill>
          <a:ln w="25400" algn="ctr">
            <a:solidFill>
              <a:srgbClr val="0F6FC6"/>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1" i="0" u="none" strike="noStrike" kern="0" cap="none" spc="0" normalizeH="0" baseline="0" noProof="0">
                <a:ln>
                  <a:noFill/>
                </a:ln>
                <a:solidFill>
                  <a:srgbClr val="0000FF"/>
                </a:solidFill>
                <a:effectLst/>
                <a:uLnTx/>
                <a:uFillTx/>
                <a:latin typeface="隶书" pitchFamily="49" charset="-122"/>
                <a:ea typeface="隶书" pitchFamily="49" charset="-122"/>
              </a:rPr>
              <a:t>任何一棵与树对应的</a:t>
            </a:r>
          </a:p>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1" i="0" u="none" strike="noStrike" kern="0" cap="none" spc="0" normalizeH="0" baseline="0" noProof="0">
                <a:ln>
                  <a:noFill/>
                </a:ln>
                <a:solidFill>
                  <a:srgbClr val="0000FF"/>
                </a:solidFill>
                <a:effectLst/>
                <a:uLnTx/>
                <a:uFillTx/>
                <a:latin typeface="隶书" pitchFamily="49" charset="-122"/>
                <a:ea typeface="隶书" pitchFamily="49" charset="-122"/>
              </a:rPr>
              <a:t>二叉树,其右子树必为空</a:t>
            </a:r>
          </a:p>
        </p:txBody>
      </p:sp>
    </p:spTree>
    <p:extLst>
      <p:ext uri="{BB962C8B-B14F-4D97-AF65-F5344CB8AC3E}">
        <p14:creationId xmlns:p14="http://schemas.microsoft.com/office/powerpoint/2010/main" val="291815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linds(horizontal)">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5.6  </a:t>
            </a:r>
            <a:r>
              <a:rPr kumimoji="1" lang="zh-CN" altLang="en-US" sz="3200" b="1" dirty="0">
                <a:latin typeface="Arial" charset="0"/>
                <a:ea typeface="宋体" charset="-122"/>
                <a:cs typeface="+mn-cs"/>
              </a:rPr>
              <a:t>树和森林</a:t>
            </a:r>
          </a:p>
        </p:txBody>
      </p:sp>
      <p:sp>
        <p:nvSpPr>
          <p:cNvPr id="3" name="内容占位符 2"/>
          <p:cNvSpPr>
            <a:spLocks noGrp="1"/>
          </p:cNvSpPr>
          <p:nvPr>
            <p:ph idx="1"/>
          </p:nvPr>
        </p:nvSpPr>
        <p:spPr>
          <a:xfrm>
            <a:off x="457200" y="1143000"/>
            <a:ext cx="8229600" cy="5105400"/>
          </a:xfrm>
        </p:spPr>
        <p:txBody>
          <a:bodyPr>
            <a:normAutofit/>
          </a:bodyPr>
          <a:lstStyle/>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rPr>
              <a:t> </a:t>
            </a:r>
            <a:r>
              <a:rPr kumimoji="1" lang="en-US" altLang="zh-CN" b="1" dirty="0">
                <a:solidFill>
                  <a:srgbClr val="0707F9"/>
                </a:solidFill>
                <a:latin typeface="Times New Roman" pitchFamily="18" charset="0"/>
              </a:rPr>
              <a:t>5.5.1  </a:t>
            </a:r>
            <a:r>
              <a:rPr kumimoji="1" lang="zh-CN" altLang="en-US" b="1" dirty="0">
                <a:solidFill>
                  <a:srgbClr val="0707F9"/>
                </a:solidFill>
                <a:latin typeface="Times New Roman" pitchFamily="18" charset="0"/>
              </a:rPr>
              <a:t>树的存储结构</a:t>
            </a:r>
          </a:p>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rPr>
              <a:t> </a:t>
            </a:r>
            <a:r>
              <a:rPr kumimoji="1" lang="en-US" altLang="zh-CN" b="1" dirty="0">
                <a:solidFill>
                  <a:srgbClr val="0707F9"/>
                </a:solidFill>
                <a:latin typeface="Times New Roman" pitchFamily="18" charset="0"/>
              </a:rPr>
              <a:t>5.5.2  </a:t>
            </a:r>
            <a:r>
              <a:rPr kumimoji="1" lang="zh-CN" altLang="en-US" b="1" dirty="0">
                <a:solidFill>
                  <a:srgbClr val="0707F9"/>
                </a:solidFill>
                <a:latin typeface="Times New Roman" pitchFamily="18" charset="0"/>
              </a:rPr>
              <a:t>树、森林与二叉树的转换</a:t>
            </a:r>
          </a:p>
          <a:p>
            <a:pPr marL="0" indent="0" fontAlgn="base">
              <a:lnSpc>
                <a:spcPct val="200000"/>
              </a:lnSpc>
              <a:spcBef>
                <a:spcPct val="0"/>
              </a:spcBef>
              <a:spcAft>
                <a:spcPct val="0"/>
              </a:spcAft>
              <a:buNone/>
            </a:pPr>
            <a:r>
              <a:rPr kumimoji="1" lang="zh-CN" altLang="en-US" b="1" dirty="0">
                <a:solidFill>
                  <a:srgbClr val="FF0000"/>
                </a:solidFill>
                <a:latin typeface="Times New Roman" pitchFamily="18" charset="0"/>
              </a:rPr>
              <a:t> </a:t>
            </a:r>
            <a:r>
              <a:rPr kumimoji="1" lang="en-US" altLang="zh-CN" b="1" dirty="0">
                <a:solidFill>
                  <a:srgbClr val="FF0000"/>
                </a:solidFill>
                <a:latin typeface="Times New Roman" pitchFamily="18" charset="0"/>
              </a:rPr>
              <a:t>5.5.3  </a:t>
            </a:r>
            <a:r>
              <a:rPr kumimoji="1" lang="zh-CN" altLang="en-US" b="1" dirty="0">
                <a:solidFill>
                  <a:srgbClr val="FF0000"/>
                </a:solidFill>
                <a:latin typeface="Times New Roman" pitchFamily="18" charset="0"/>
              </a:rPr>
              <a:t>树和森林的遍历</a:t>
            </a:r>
          </a:p>
          <a:p>
            <a:pPr marL="0" indent="0" fontAlgn="base">
              <a:lnSpc>
                <a:spcPct val="200000"/>
              </a:lnSpc>
              <a:spcBef>
                <a:spcPct val="0"/>
              </a:spcBef>
              <a:spcAft>
                <a:spcPct val="0"/>
              </a:spcAft>
              <a:buNone/>
            </a:pPr>
            <a:r>
              <a:rPr kumimoji="1" lang="en-US" altLang="zh-CN" b="1" dirty="0">
                <a:solidFill>
                  <a:srgbClr val="0707F9"/>
                </a:solidFill>
                <a:latin typeface="Times New Roman" pitchFamily="18" charset="0"/>
              </a:rPr>
              <a:t>5.5.4   </a:t>
            </a:r>
            <a:r>
              <a:rPr kumimoji="1" lang="en-US" altLang="zh-CN" b="1" dirty="0" err="1">
                <a:solidFill>
                  <a:srgbClr val="0707F9"/>
                </a:solidFill>
                <a:latin typeface="Times New Roman" pitchFamily="18" charset="0"/>
              </a:rPr>
              <a:t>huffman</a:t>
            </a:r>
            <a:r>
              <a:rPr kumimoji="1" lang="zh-CN" altLang="en-US" b="1" dirty="0">
                <a:solidFill>
                  <a:srgbClr val="0707F9"/>
                </a:solidFill>
                <a:latin typeface="Times New Roman" pitchFamily="18" charset="0"/>
              </a:rPr>
              <a:t>树及其应用</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619FA706-68D6-4024-81F7-3F351F5633BE}"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143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127544265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endParaRPr lang="zh-CN" altLang="en-US" sz="2800" b="1" dirty="0">
              <a:solidFill>
                <a:srgbClr val="FF0000"/>
              </a:solidFill>
            </a:endParaRPr>
          </a:p>
        </p:txBody>
      </p:sp>
      <p:sp>
        <p:nvSpPr>
          <p:cNvPr id="4" name="日期占位符 3"/>
          <p:cNvSpPr>
            <a:spLocks noGrp="1"/>
          </p:cNvSpPr>
          <p:nvPr>
            <p:ph type="dt" sz="half" idx="10"/>
          </p:nvPr>
        </p:nvSpPr>
        <p:spPr/>
        <p:txBody>
          <a:bodyPr/>
          <a:lstStyle/>
          <a:p>
            <a:fld id="{93D314D7-B0B8-4BEE-87B7-BC5005DD4C90}"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144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3"/>
          <p:cNvSpPr txBox="1">
            <a:spLocks noChangeArrowheads="1"/>
          </p:cNvSpPr>
          <p:nvPr/>
        </p:nvSpPr>
        <p:spPr bwMode="auto">
          <a:xfrm>
            <a:off x="533400" y="1155700"/>
            <a:ext cx="8305800" cy="4940300"/>
          </a:xfrm>
          <a:prstGeom prst="rect">
            <a:avLst/>
          </a:prstGeom>
          <a:noFill/>
          <a:ln w="9525">
            <a:solidFill>
              <a:srgbClr val="04617B"/>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R="0" lvl="0" algn="l" defTabSz="914400" rtl="0" eaLnBrk="1" fontAlgn="base" latinLnBrk="0" hangingPunct="1">
              <a:lnSpc>
                <a:spcPct val="140000"/>
              </a:lnSpc>
              <a:spcBef>
                <a:spcPct val="20000"/>
              </a:spcBef>
              <a:spcAft>
                <a:spcPct val="0"/>
              </a:spcAft>
              <a:buClr>
                <a:srgbClr val="0000FF"/>
              </a:buClr>
              <a:buSzPct val="95000"/>
              <a:buFont typeface="Arial" panose="020B0604020202020204" pitchFamily="34" charset="0"/>
              <a:buChar char="•"/>
              <a:tabLst/>
              <a:defRPr/>
            </a:pPr>
            <a:r>
              <a:rPr kumimoji="0" lang="zh-CN" altLang="en-US" sz="2400" b="1" i="0" u="none" strike="noStrike" kern="0" cap="none" spc="0" normalizeH="0" baseline="0" noProof="0">
                <a:ln>
                  <a:noFill/>
                </a:ln>
                <a:solidFill>
                  <a:srgbClr val="0000FF"/>
                </a:solidFill>
                <a:effectLst/>
                <a:uLnTx/>
                <a:uFillTx/>
                <a:latin typeface="华文楷体" pitchFamily="2" charset="-122"/>
                <a:ea typeface="宋体"/>
                <a:cs typeface="+mn-cs"/>
              </a:rPr>
              <a:t>与二叉树的遍历类似，树的遍历也是从根结点出发，对树中各个结点</a:t>
            </a:r>
            <a:r>
              <a:rPr kumimoji="0" lang="zh-CN" altLang="en-US" sz="2400" b="1" i="0" u="none" strike="noStrike" kern="0" cap="none" spc="0" normalizeH="0" baseline="0" noProof="0">
                <a:ln>
                  <a:noFill/>
                </a:ln>
                <a:solidFill>
                  <a:srgbClr val="FF3300"/>
                </a:solidFill>
                <a:effectLst/>
                <a:uLnTx/>
                <a:uFillTx/>
                <a:latin typeface="华文楷体" pitchFamily="2" charset="-122"/>
                <a:ea typeface="宋体"/>
                <a:cs typeface="+mn-cs"/>
              </a:rPr>
              <a:t>访问一次且仅进行一次</a:t>
            </a:r>
            <a:r>
              <a:rPr kumimoji="0" lang="zh-CN" altLang="en-US" sz="2400" b="1" i="0" u="none" strike="noStrike" kern="0" cap="none" spc="0" normalizeH="0" baseline="0" noProof="0">
                <a:ln>
                  <a:noFill/>
                </a:ln>
                <a:solidFill>
                  <a:srgbClr val="0000FF"/>
                </a:solidFill>
                <a:effectLst/>
                <a:uLnTx/>
                <a:uFillTx/>
                <a:latin typeface="华文楷体" pitchFamily="2" charset="-122"/>
                <a:ea typeface="宋体"/>
                <a:cs typeface="+mn-cs"/>
              </a:rPr>
              <a:t>。</a:t>
            </a:r>
          </a:p>
          <a:p>
            <a:pPr marR="0" lvl="0" algn="l" defTabSz="914400" rtl="0" eaLnBrk="1" fontAlgn="base" latinLnBrk="0" hangingPunct="1">
              <a:lnSpc>
                <a:spcPct val="140000"/>
              </a:lnSpc>
              <a:spcBef>
                <a:spcPct val="20000"/>
              </a:spcBef>
              <a:spcAft>
                <a:spcPct val="0"/>
              </a:spcAft>
              <a:buClr>
                <a:srgbClr val="0000FF"/>
              </a:buClr>
              <a:buSzPct val="95000"/>
              <a:buFont typeface="Arial" panose="020B0604020202020204" pitchFamily="34" charset="0"/>
              <a:buChar char="•"/>
              <a:tabLst/>
              <a:defRPr/>
            </a:pPr>
            <a:r>
              <a:rPr kumimoji="0" lang="zh-CN" altLang="en-US" sz="2400" b="1" i="0" u="none" strike="noStrike" kern="0" cap="none" spc="0" normalizeH="0" baseline="0" noProof="0">
                <a:ln>
                  <a:noFill/>
                </a:ln>
                <a:solidFill>
                  <a:srgbClr val="0000FF"/>
                </a:solidFill>
                <a:effectLst/>
                <a:uLnTx/>
                <a:uFillTx/>
                <a:latin typeface="华文楷体" pitchFamily="2" charset="-122"/>
                <a:ea typeface="宋体"/>
                <a:cs typeface="+mn-cs"/>
              </a:rPr>
              <a:t>由于一个结点可以有两棵以上的子树，因此一般不讨论中根遍历。</a:t>
            </a:r>
          </a:p>
          <a:p>
            <a:pPr marR="0" lvl="0" algn="l" defTabSz="914400" rtl="0" eaLnBrk="1" fontAlgn="base" latinLnBrk="0" hangingPunct="1">
              <a:lnSpc>
                <a:spcPct val="140000"/>
              </a:lnSpc>
              <a:spcBef>
                <a:spcPct val="20000"/>
              </a:spcBef>
              <a:spcAft>
                <a:spcPct val="0"/>
              </a:spcAft>
              <a:buClr>
                <a:srgbClr val="0000FF"/>
              </a:buClr>
              <a:buSzPct val="95000"/>
              <a:buFont typeface="Arial" panose="020B0604020202020204" pitchFamily="34" charset="0"/>
              <a:buChar char="•"/>
              <a:tabLst/>
              <a:defRPr/>
            </a:pPr>
            <a:r>
              <a:rPr kumimoji="0" lang="zh-CN" altLang="en-US" sz="2400" b="1" i="0" u="none" strike="noStrike" kern="0" cap="none" spc="0" normalizeH="0" baseline="0" noProof="0">
                <a:ln>
                  <a:noFill/>
                </a:ln>
                <a:solidFill>
                  <a:srgbClr val="0000FF"/>
                </a:solidFill>
                <a:effectLst/>
                <a:uLnTx/>
                <a:uFillTx/>
                <a:latin typeface="宋体" pitchFamily="2" charset="-122"/>
                <a:ea typeface="宋体"/>
                <a:cs typeface="+mn-cs"/>
              </a:rPr>
              <a:t>对树进行遍历可有两条搜索路径：</a:t>
            </a:r>
          </a:p>
          <a:p>
            <a:pPr marR="0" lvl="0" algn="l" defTabSz="914400" rtl="0" eaLnBrk="1" fontAlgn="base" latinLnBrk="0" hangingPunct="1">
              <a:lnSpc>
                <a:spcPct val="140000"/>
              </a:lnSpc>
              <a:spcBef>
                <a:spcPct val="20000"/>
              </a:spcBef>
              <a:spcAft>
                <a:spcPct val="0"/>
              </a:spcAft>
              <a:buClr>
                <a:srgbClr val="0000FF"/>
              </a:buClr>
              <a:buSzPct val="95000"/>
              <a:buFont typeface="Arial" panose="020B0604020202020204" pitchFamily="34" charset="0"/>
              <a:buChar char="•"/>
              <a:tabLst/>
              <a:defRPr/>
            </a:pPr>
            <a:r>
              <a:rPr kumimoji="0" lang="zh-CN" altLang="en-US" sz="2400" b="1" i="0" u="none" strike="noStrike" kern="0" cap="none" spc="0" normalizeH="0" baseline="0" noProof="0">
                <a:ln>
                  <a:noFill/>
                </a:ln>
                <a:solidFill>
                  <a:srgbClr val="0000FF"/>
                </a:solidFill>
                <a:effectLst/>
                <a:uLnTx/>
                <a:uFillTx/>
                <a:latin typeface="宋体" pitchFamily="2" charset="-122"/>
                <a:ea typeface="宋体"/>
                <a:cs typeface="+mn-cs"/>
              </a:rPr>
              <a:t>（</a:t>
            </a:r>
            <a:r>
              <a:rPr kumimoji="0" lang="en-US" altLang="zh-CN" sz="2400" b="1" i="0" u="none" strike="noStrike" kern="0" cap="none" spc="0" normalizeH="0" baseline="0" noProof="0">
                <a:ln>
                  <a:noFill/>
                </a:ln>
                <a:solidFill>
                  <a:srgbClr val="0000FF"/>
                </a:solidFill>
                <a:effectLst/>
                <a:uLnTx/>
                <a:uFillTx/>
                <a:latin typeface="宋体" pitchFamily="2" charset="-122"/>
                <a:ea typeface="宋体"/>
                <a:cs typeface="+mn-cs"/>
              </a:rPr>
              <a:t>1</a:t>
            </a:r>
            <a:r>
              <a:rPr kumimoji="0" lang="zh-CN" altLang="en-US" sz="2400" b="1" i="0" u="none" strike="noStrike" kern="0" cap="none" spc="0" normalizeH="0" baseline="0" noProof="0">
                <a:ln>
                  <a:noFill/>
                </a:ln>
                <a:solidFill>
                  <a:srgbClr val="0000FF"/>
                </a:solidFill>
                <a:effectLst/>
                <a:uLnTx/>
                <a:uFillTx/>
                <a:latin typeface="宋体" pitchFamily="2" charset="-122"/>
                <a:ea typeface="宋体"/>
                <a:cs typeface="+mn-cs"/>
              </a:rPr>
              <a:t>）</a:t>
            </a:r>
            <a:r>
              <a:rPr kumimoji="0" lang="zh-CN" altLang="en-US" sz="2400" b="1" i="0" u="none" strike="noStrike" kern="0" cap="none" spc="0" normalizeH="0" baseline="0" noProof="0">
                <a:ln>
                  <a:noFill/>
                </a:ln>
                <a:solidFill>
                  <a:srgbClr val="FF3300"/>
                </a:solidFill>
                <a:effectLst/>
                <a:uLnTx/>
                <a:uFillTx/>
                <a:latin typeface="宋体" pitchFamily="2" charset="-122"/>
                <a:ea typeface="宋体"/>
                <a:cs typeface="+mn-cs"/>
              </a:rPr>
              <a:t>从左到右</a:t>
            </a:r>
            <a:endParaRPr kumimoji="0" lang="zh-CN" altLang="en-US" sz="2400" b="1" i="0" u="none" strike="noStrike" kern="0" cap="none" spc="0" normalizeH="0" baseline="0" noProof="0">
              <a:ln>
                <a:noFill/>
              </a:ln>
              <a:solidFill>
                <a:srgbClr val="0000FF"/>
              </a:solidFill>
              <a:effectLst/>
              <a:uLnTx/>
              <a:uFillTx/>
              <a:latin typeface="宋体" pitchFamily="2" charset="-122"/>
              <a:ea typeface="宋体"/>
              <a:cs typeface="+mn-cs"/>
            </a:endParaRPr>
          </a:p>
          <a:p>
            <a:pPr marR="0" lvl="0" algn="l" defTabSz="914400" rtl="0" eaLnBrk="1" fontAlgn="base" latinLnBrk="0" hangingPunct="1">
              <a:lnSpc>
                <a:spcPct val="140000"/>
              </a:lnSpc>
              <a:spcBef>
                <a:spcPct val="20000"/>
              </a:spcBef>
              <a:spcAft>
                <a:spcPct val="0"/>
              </a:spcAft>
              <a:buClr>
                <a:srgbClr val="0000FF"/>
              </a:buClr>
              <a:buSzPct val="95000"/>
              <a:buFont typeface="Arial" panose="020B0604020202020204" pitchFamily="34" charset="0"/>
              <a:buChar char="•"/>
              <a:tabLst/>
              <a:defRPr/>
            </a:pPr>
            <a:r>
              <a:rPr kumimoji="0" lang="zh-CN" altLang="en-US" sz="2400" b="1" i="0" u="none" strike="noStrike" kern="0" cap="none" spc="0" normalizeH="0" baseline="0" noProof="0">
                <a:ln>
                  <a:noFill/>
                </a:ln>
                <a:solidFill>
                  <a:srgbClr val="0000FF"/>
                </a:solidFill>
                <a:effectLst/>
                <a:uLnTx/>
                <a:uFillTx/>
                <a:latin typeface="宋体" pitchFamily="2" charset="-122"/>
                <a:ea typeface="宋体"/>
                <a:cs typeface="+mn-cs"/>
              </a:rPr>
              <a:t>（</a:t>
            </a:r>
            <a:r>
              <a:rPr kumimoji="0" lang="en-US" altLang="zh-CN" sz="2400" b="1" i="0" u="none" strike="noStrike" kern="0" cap="none" spc="0" normalizeH="0" baseline="0" noProof="0">
                <a:ln>
                  <a:noFill/>
                </a:ln>
                <a:solidFill>
                  <a:srgbClr val="0000FF"/>
                </a:solidFill>
                <a:effectLst/>
                <a:uLnTx/>
                <a:uFillTx/>
                <a:latin typeface="宋体" pitchFamily="2" charset="-122"/>
                <a:ea typeface="宋体"/>
                <a:cs typeface="+mn-cs"/>
              </a:rPr>
              <a:t>2</a:t>
            </a:r>
            <a:r>
              <a:rPr kumimoji="0" lang="zh-CN" altLang="en-US" sz="2400" b="1" i="0" u="none" strike="noStrike" kern="0" cap="none" spc="0" normalizeH="0" baseline="0" noProof="0">
                <a:ln>
                  <a:noFill/>
                </a:ln>
                <a:solidFill>
                  <a:srgbClr val="0000FF"/>
                </a:solidFill>
                <a:effectLst/>
                <a:uLnTx/>
                <a:uFillTx/>
                <a:latin typeface="宋体" pitchFamily="2" charset="-122"/>
                <a:ea typeface="宋体"/>
                <a:cs typeface="+mn-cs"/>
              </a:rPr>
              <a:t>）按层次</a:t>
            </a:r>
            <a:r>
              <a:rPr kumimoji="0" lang="zh-CN" altLang="en-US" sz="2400" b="1" i="0" u="none" strike="noStrike" kern="0" cap="none" spc="0" normalizeH="0" baseline="0" noProof="0">
                <a:ln>
                  <a:noFill/>
                </a:ln>
                <a:solidFill>
                  <a:srgbClr val="FF3300"/>
                </a:solidFill>
                <a:effectLst/>
                <a:uLnTx/>
                <a:uFillTx/>
                <a:latin typeface="宋体" pitchFamily="2" charset="-122"/>
                <a:ea typeface="宋体"/>
                <a:cs typeface="+mn-cs"/>
              </a:rPr>
              <a:t>从上到下</a:t>
            </a:r>
            <a:r>
              <a:rPr kumimoji="0" lang="zh-CN" altLang="en-US" sz="2400" b="1" i="0" u="none" strike="noStrike" kern="0" cap="none" spc="0" normalizeH="0" baseline="0" noProof="0">
                <a:ln>
                  <a:noFill/>
                </a:ln>
                <a:solidFill>
                  <a:srgbClr val="0000FF"/>
                </a:solidFill>
                <a:effectLst/>
                <a:uLnTx/>
                <a:uFillTx/>
                <a:latin typeface="宋体" pitchFamily="2" charset="-122"/>
                <a:ea typeface="宋体"/>
                <a:cs typeface="+mn-cs"/>
              </a:rPr>
              <a:t>。</a:t>
            </a:r>
          </a:p>
          <a:p>
            <a:pPr marR="0" lvl="0" algn="l" defTabSz="914400" rtl="0" eaLnBrk="1" fontAlgn="base" latinLnBrk="0" hangingPunct="1">
              <a:lnSpc>
                <a:spcPct val="140000"/>
              </a:lnSpc>
              <a:spcBef>
                <a:spcPct val="20000"/>
              </a:spcBef>
              <a:spcAft>
                <a:spcPct val="0"/>
              </a:spcAft>
              <a:buClr>
                <a:srgbClr val="0000FF"/>
              </a:buClr>
              <a:buSzPct val="95000"/>
              <a:buFont typeface="Arial" panose="020B0604020202020204" pitchFamily="34" charset="0"/>
              <a:buChar char="•"/>
              <a:tabLst/>
              <a:defRPr/>
            </a:pPr>
            <a:r>
              <a:rPr kumimoji="0" lang="zh-CN" altLang="en-US" sz="2400" b="1" i="0" u="none" strike="noStrike" kern="0" cap="none" spc="0" normalizeH="0" baseline="0" noProof="0">
                <a:ln>
                  <a:noFill/>
                </a:ln>
                <a:solidFill>
                  <a:srgbClr val="0000FF"/>
                </a:solidFill>
                <a:effectLst/>
                <a:uLnTx/>
                <a:uFillTx/>
                <a:latin typeface="宋体" pitchFamily="2" charset="-122"/>
                <a:ea typeface="宋体"/>
                <a:cs typeface="+mn-cs"/>
              </a:rPr>
              <a:t>树的按</a:t>
            </a:r>
            <a:r>
              <a:rPr kumimoji="0" lang="zh-CN" altLang="en-US" sz="2400" b="1" i="0" u="none" strike="noStrike" kern="0" cap="none" spc="0" normalizeH="0" baseline="0" noProof="0">
                <a:ln>
                  <a:noFill/>
                </a:ln>
                <a:solidFill>
                  <a:srgbClr val="FC1C04"/>
                </a:solidFill>
                <a:effectLst/>
                <a:uLnTx/>
                <a:uFillTx/>
                <a:latin typeface="宋体" pitchFamily="2" charset="-122"/>
                <a:ea typeface="宋体"/>
                <a:cs typeface="+mn-cs"/>
              </a:rPr>
              <a:t>层次</a:t>
            </a:r>
            <a:r>
              <a:rPr kumimoji="0" lang="zh-CN" altLang="en-US" sz="2400" b="1" i="0" u="none" strike="noStrike" kern="0" cap="none" spc="0" normalizeH="0" baseline="0" noProof="0">
                <a:ln>
                  <a:noFill/>
                </a:ln>
                <a:solidFill>
                  <a:srgbClr val="0000FF"/>
                </a:solidFill>
                <a:effectLst/>
                <a:uLnTx/>
                <a:uFillTx/>
                <a:latin typeface="宋体" pitchFamily="2" charset="-122"/>
                <a:ea typeface="宋体"/>
                <a:cs typeface="+mn-cs"/>
              </a:rPr>
              <a:t>遍历类似于二叉树的按层次遍历；</a:t>
            </a:r>
            <a:endParaRPr kumimoji="0" lang="zh-CN" altLang="en-US" sz="2400" b="1" i="0" u="none" strike="noStrike" kern="0" cap="none" spc="0" normalizeH="0" baseline="0" noProof="0">
              <a:ln>
                <a:noFill/>
              </a:ln>
              <a:solidFill>
                <a:srgbClr val="000000"/>
              </a:solidFill>
              <a:effectLst/>
              <a:uLnTx/>
              <a:uFillTx/>
              <a:latin typeface="宋体" pitchFamily="2" charset="-122"/>
              <a:ea typeface="宋体"/>
              <a:cs typeface="+mn-cs"/>
            </a:endParaRPr>
          </a:p>
          <a:p>
            <a:pPr marR="0" lvl="0" algn="l" defTabSz="914400" rtl="0" eaLnBrk="1" fontAlgn="base" latinLnBrk="0" hangingPunct="1">
              <a:lnSpc>
                <a:spcPct val="140000"/>
              </a:lnSpc>
              <a:spcBef>
                <a:spcPct val="20000"/>
              </a:spcBef>
              <a:spcAft>
                <a:spcPct val="0"/>
              </a:spcAft>
              <a:buClr>
                <a:srgbClr val="0000FF"/>
              </a:buClr>
              <a:buSzPct val="95000"/>
              <a:buFont typeface="Arial" panose="020B0604020202020204" pitchFamily="34" charset="0"/>
              <a:buChar char="•"/>
              <a:tabLst/>
              <a:defRPr/>
            </a:pPr>
            <a:endParaRPr kumimoji="0" lang="zh-CN" altLang="en-US" sz="2400" b="1" i="0" u="none" strike="noStrike" kern="0" cap="none" spc="0" normalizeH="0" baseline="0" noProof="0" dirty="0">
              <a:ln>
                <a:noFill/>
              </a:ln>
              <a:solidFill>
                <a:srgbClr val="0000FF"/>
              </a:solidFill>
              <a:effectLst/>
              <a:uLnTx/>
              <a:uFillTx/>
              <a:latin typeface="Constantia"/>
              <a:ea typeface="宋体"/>
              <a:cs typeface="+mn-cs"/>
            </a:endParaRPr>
          </a:p>
        </p:txBody>
      </p:sp>
    </p:spTree>
    <p:extLst>
      <p:ext uri="{BB962C8B-B14F-4D97-AF65-F5344CB8AC3E}">
        <p14:creationId xmlns:p14="http://schemas.microsoft.com/office/powerpoint/2010/main" val="3422975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树的先根遍历</a:t>
            </a:r>
          </a:p>
        </p:txBody>
      </p:sp>
      <p:sp>
        <p:nvSpPr>
          <p:cNvPr id="4" name="日期占位符 3"/>
          <p:cNvSpPr>
            <a:spLocks noGrp="1"/>
          </p:cNvSpPr>
          <p:nvPr>
            <p:ph type="dt" sz="half" idx="10"/>
          </p:nvPr>
        </p:nvSpPr>
        <p:spPr/>
        <p:txBody>
          <a:bodyPr/>
          <a:lstStyle/>
          <a:p>
            <a:fld id="{2B8381B2-CDBE-4F43-90EF-DE43A169C9B3}"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145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4" name="Text Box 3"/>
          <p:cNvSpPr txBox="1">
            <a:spLocks noChangeArrowheads="1"/>
          </p:cNvSpPr>
          <p:nvPr/>
        </p:nvSpPr>
        <p:spPr bwMode="auto">
          <a:xfrm>
            <a:off x="685801" y="2070100"/>
            <a:ext cx="4495799" cy="3949700"/>
          </a:xfrm>
          <a:prstGeom prst="rect">
            <a:avLst/>
          </a:prstGeom>
          <a:noFill/>
          <a:ln w="9525">
            <a:solidFill>
              <a:srgbClr val="04617B"/>
            </a:solidFill>
            <a:miter lim="800000"/>
            <a:headEnd/>
            <a:tailEnd/>
          </a:ln>
        </p:spPr>
        <p:txBody>
          <a:bodyPr wrap="square" lIns="90000" tIns="46800" rIns="90000" bIns="46800">
            <a:spAutoFit/>
          </a:bodyPr>
          <a:lstStyle/>
          <a:p>
            <a:pPr marL="0" marR="0" lvl="0" indent="0" defTabSz="914400" eaLnBrk="1" fontAlgn="base" latinLnBrk="0" hangingPunct="1">
              <a:lnSpc>
                <a:spcPct val="150000"/>
              </a:lnSpc>
              <a:spcBef>
                <a:spcPct val="0"/>
              </a:spcBef>
              <a:spcAft>
                <a:spcPct val="0"/>
              </a:spcAft>
              <a:buClr>
                <a:srgbClr val="6600FF"/>
              </a:buClr>
              <a:buSzTx/>
              <a:buFont typeface="Wingdings" pitchFamily="2" charset="2"/>
              <a:buChar char="p"/>
              <a:tabLst/>
              <a:defRPr/>
            </a:pPr>
            <a:r>
              <a:rPr kumimoji="1" lang="zh-CN" altLang="en-US" sz="2800" b="1" i="0" u="none" strike="noStrike" kern="0" cap="none" spc="0" normalizeH="0" baseline="0" noProof="0">
                <a:ln>
                  <a:noFill/>
                </a:ln>
                <a:solidFill>
                  <a:srgbClr val="6600FF"/>
                </a:solidFill>
                <a:effectLst/>
                <a:uLnTx/>
                <a:uFillTx/>
                <a:latin typeface="Times New Roman" pitchFamily="18" charset="0"/>
              </a:rPr>
              <a:t>先根顺序</a:t>
            </a:r>
          </a:p>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2800" b="1" i="0" u="none" strike="noStrike" kern="0" cap="none" spc="0" normalizeH="0" baseline="0" noProof="0">
                <a:ln>
                  <a:noFill/>
                </a:ln>
                <a:solidFill>
                  <a:srgbClr val="00FFFF"/>
                </a:solidFill>
                <a:effectLst/>
                <a:uLnTx/>
                <a:uFillTx/>
                <a:latin typeface="Times New Roman" pitchFamily="18" charset="0"/>
              </a:rPr>
              <a:t> </a:t>
            </a:r>
            <a:r>
              <a:rPr kumimoji="1" lang="zh-CN" altLang="en-US" sz="2800" b="1" i="0" u="none" strike="noStrike" kern="0" cap="none" spc="0" normalizeH="0" baseline="0" noProof="0">
                <a:ln>
                  <a:noFill/>
                </a:ln>
                <a:solidFill>
                  <a:srgbClr val="0000FF"/>
                </a:solidFill>
                <a:effectLst/>
                <a:uLnTx/>
                <a:uFillTx/>
                <a:latin typeface="Times New Roman" pitchFamily="18" charset="0"/>
              </a:rPr>
              <a:t>    </a:t>
            </a:r>
            <a:r>
              <a:rPr kumimoji="1" lang="zh-CN" altLang="en-US" sz="2800" b="1" i="0" u="none" strike="noStrike" kern="0" cap="none" spc="0" normalizeH="0" baseline="0" noProof="0">
                <a:ln>
                  <a:noFill/>
                </a:ln>
                <a:solidFill>
                  <a:srgbClr val="FC1C04"/>
                </a:solidFill>
                <a:effectLst/>
                <a:uLnTx/>
                <a:uFillTx/>
                <a:latin typeface="Times New Roman" pitchFamily="18" charset="0"/>
              </a:rPr>
              <a:t>访问根结点 ；</a:t>
            </a:r>
          </a:p>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2800" b="1" i="0" u="none" strike="noStrike" kern="0" cap="none" spc="0" normalizeH="0" baseline="0" noProof="0">
                <a:ln>
                  <a:noFill/>
                </a:ln>
                <a:solidFill>
                  <a:srgbClr val="0000FF"/>
                </a:solidFill>
                <a:effectLst/>
                <a:uLnTx/>
                <a:uFillTx/>
                <a:latin typeface="Times New Roman" pitchFamily="18" charset="0"/>
              </a:rPr>
              <a:t>     先根顺序遍历</a:t>
            </a:r>
            <a:r>
              <a:rPr kumimoji="1" lang="en-US" altLang="zh-CN" sz="2800" b="1" i="0" u="none" strike="noStrike" kern="0" cap="none" spc="0" normalizeH="0" baseline="0" noProof="0">
                <a:ln>
                  <a:noFill/>
                </a:ln>
                <a:solidFill>
                  <a:srgbClr val="0000FF"/>
                </a:solidFill>
                <a:effectLst/>
                <a:uLnTx/>
                <a:uFillTx/>
                <a:latin typeface="Times New Roman" pitchFamily="18" charset="0"/>
              </a:rPr>
              <a:t>T</a:t>
            </a:r>
            <a:r>
              <a:rPr kumimoji="1" lang="en-US" altLang="zh-CN" sz="2800" b="1" i="0" u="none" strike="noStrike" kern="0" cap="none" spc="0" normalizeH="0" baseline="-25000" noProof="0">
                <a:ln>
                  <a:noFill/>
                </a:ln>
                <a:solidFill>
                  <a:srgbClr val="0000FF"/>
                </a:solidFill>
                <a:effectLst/>
                <a:uLnTx/>
                <a:uFillTx/>
                <a:latin typeface="Times New Roman" pitchFamily="18" charset="0"/>
              </a:rPr>
              <a:t>1</a:t>
            </a:r>
            <a:r>
              <a:rPr kumimoji="1" lang="en-US" altLang="zh-CN" sz="2800" b="1" i="0" u="none" strike="noStrike" kern="0" cap="none" spc="0" normalizeH="0" baseline="0" noProof="0">
                <a:ln>
                  <a:noFill/>
                </a:ln>
                <a:solidFill>
                  <a:srgbClr val="0000FF"/>
                </a:solidFill>
                <a:effectLst/>
                <a:uLnTx/>
                <a:uFillTx/>
                <a:latin typeface="Times New Roman" pitchFamily="18" charset="0"/>
              </a:rPr>
              <a:t> ;</a:t>
            </a:r>
          </a:p>
          <a:p>
            <a:pPr marL="0" marR="0" lvl="0" indent="0" defTabSz="914400" eaLnBrk="1" fontAlgn="base" latinLnBrk="0" hangingPunct="1">
              <a:lnSpc>
                <a:spcPct val="150000"/>
              </a:lnSpc>
              <a:spcBef>
                <a:spcPct val="0"/>
              </a:spcBef>
              <a:spcAft>
                <a:spcPct val="0"/>
              </a:spcAft>
              <a:buClrTx/>
              <a:buSzTx/>
              <a:buFontTx/>
              <a:buNone/>
              <a:tabLst/>
              <a:defRPr/>
            </a:pPr>
            <a:r>
              <a:rPr kumimoji="1" lang="en-US" altLang="zh-CN" sz="2800" b="1" i="0" u="none" strike="noStrike" kern="0" cap="none" spc="0" normalizeH="0" baseline="0" noProof="0">
                <a:ln>
                  <a:noFill/>
                </a:ln>
                <a:solidFill>
                  <a:srgbClr val="0000FF"/>
                </a:solidFill>
                <a:effectLst/>
                <a:uLnTx/>
                <a:uFillTx/>
                <a:latin typeface="Times New Roman" pitchFamily="18" charset="0"/>
              </a:rPr>
              <a:t>     </a:t>
            </a:r>
            <a:r>
              <a:rPr kumimoji="1" lang="zh-CN" altLang="en-US" sz="2800" b="1" i="0" u="none" strike="noStrike" kern="0" cap="none" spc="0" normalizeH="0" baseline="0" noProof="0">
                <a:ln>
                  <a:noFill/>
                </a:ln>
                <a:solidFill>
                  <a:srgbClr val="0000FF"/>
                </a:solidFill>
                <a:effectLst/>
                <a:uLnTx/>
                <a:uFillTx/>
                <a:latin typeface="Times New Roman" pitchFamily="18" charset="0"/>
              </a:rPr>
              <a:t>先根顺序遍历</a:t>
            </a:r>
            <a:r>
              <a:rPr kumimoji="1" lang="en-US" altLang="zh-CN" sz="2800" b="1" i="0" u="none" strike="noStrike" kern="0" cap="none" spc="0" normalizeH="0" baseline="0" noProof="0">
                <a:ln>
                  <a:noFill/>
                </a:ln>
                <a:solidFill>
                  <a:srgbClr val="0000FF"/>
                </a:solidFill>
                <a:effectLst/>
                <a:uLnTx/>
                <a:uFillTx/>
                <a:latin typeface="Times New Roman" pitchFamily="18" charset="0"/>
              </a:rPr>
              <a:t>T</a:t>
            </a:r>
            <a:r>
              <a:rPr kumimoji="1" lang="en-US" altLang="zh-CN" sz="2800" b="1" i="0" u="none" strike="noStrike" kern="0" cap="none" spc="0" normalizeH="0" baseline="-25000" noProof="0">
                <a:ln>
                  <a:noFill/>
                </a:ln>
                <a:solidFill>
                  <a:srgbClr val="0000FF"/>
                </a:solidFill>
                <a:effectLst/>
                <a:uLnTx/>
                <a:uFillTx/>
                <a:latin typeface="Times New Roman" pitchFamily="18" charset="0"/>
              </a:rPr>
              <a:t>2</a:t>
            </a:r>
            <a:r>
              <a:rPr kumimoji="1" lang="en-US" altLang="zh-CN" sz="2800" b="1" i="0" u="none" strike="noStrike" kern="0" cap="none" spc="0" normalizeH="0" baseline="0" noProof="0">
                <a:ln>
                  <a:noFill/>
                </a:ln>
                <a:solidFill>
                  <a:srgbClr val="0000FF"/>
                </a:solidFill>
                <a:effectLst/>
                <a:uLnTx/>
                <a:uFillTx/>
                <a:latin typeface="Times New Roman" pitchFamily="18" charset="0"/>
              </a:rPr>
              <a:t> ;</a:t>
            </a:r>
          </a:p>
          <a:p>
            <a:pPr marL="0" marR="0" lvl="0" indent="0" defTabSz="914400" eaLnBrk="1" fontAlgn="base" latinLnBrk="0" hangingPunct="1">
              <a:lnSpc>
                <a:spcPct val="150000"/>
              </a:lnSpc>
              <a:spcBef>
                <a:spcPct val="0"/>
              </a:spcBef>
              <a:spcAft>
                <a:spcPct val="0"/>
              </a:spcAft>
              <a:buClrTx/>
              <a:buSzTx/>
              <a:buFontTx/>
              <a:buNone/>
              <a:tabLst/>
              <a:defRPr/>
            </a:pPr>
            <a:r>
              <a:rPr kumimoji="1" lang="en-US" altLang="zh-CN" sz="2800" b="1" i="0" u="none" strike="noStrike" kern="0" cap="none" spc="0" normalizeH="0" baseline="0" noProof="0">
                <a:ln>
                  <a:noFill/>
                </a:ln>
                <a:solidFill>
                  <a:srgbClr val="0000FF"/>
                </a:solidFill>
                <a:effectLst/>
                <a:uLnTx/>
                <a:uFillTx/>
                <a:latin typeface="Times New Roman" pitchFamily="18" charset="0"/>
              </a:rPr>
              <a:t>     …</a:t>
            </a:r>
          </a:p>
          <a:p>
            <a:pPr marL="0" marR="0" lvl="0" indent="0" defTabSz="914400" eaLnBrk="1" fontAlgn="base" latinLnBrk="0" hangingPunct="1">
              <a:lnSpc>
                <a:spcPct val="150000"/>
              </a:lnSpc>
              <a:spcBef>
                <a:spcPct val="0"/>
              </a:spcBef>
              <a:spcAft>
                <a:spcPct val="0"/>
              </a:spcAft>
              <a:buClrTx/>
              <a:buSzTx/>
              <a:buFontTx/>
              <a:buNone/>
              <a:tabLst/>
              <a:defRPr/>
            </a:pPr>
            <a:r>
              <a:rPr kumimoji="1" lang="en-US" altLang="zh-CN" sz="2800" b="1" i="0" u="none" strike="noStrike" kern="0" cap="none" spc="0" normalizeH="0" baseline="0" noProof="0">
                <a:ln>
                  <a:noFill/>
                </a:ln>
                <a:solidFill>
                  <a:srgbClr val="0000FF"/>
                </a:solidFill>
                <a:effectLst/>
                <a:uLnTx/>
                <a:uFillTx/>
                <a:latin typeface="Times New Roman" pitchFamily="18" charset="0"/>
              </a:rPr>
              <a:t>     </a:t>
            </a:r>
            <a:r>
              <a:rPr kumimoji="1" lang="zh-CN" altLang="en-US" sz="2800" b="1" i="0" u="none" strike="noStrike" kern="0" cap="none" spc="0" normalizeH="0" baseline="0" noProof="0">
                <a:ln>
                  <a:noFill/>
                </a:ln>
                <a:solidFill>
                  <a:srgbClr val="0000FF"/>
                </a:solidFill>
                <a:effectLst/>
                <a:uLnTx/>
                <a:uFillTx/>
                <a:latin typeface="Times New Roman" pitchFamily="18" charset="0"/>
              </a:rPr>
              <a:t>先根顺序遍历</a:t>
            </a:r>
            <a:r>
              <a:rPr kumimoji="1" lang="en-US" altLang="zh-CN" sz="2800" b="1" i="0" u="none" strike="noStrike" kern="0" cap="none" spc="0" normalizeH="0" baseline="0" noProof="0">
                <a:ln>
                  <a:noFill/>
                </a:ln>
                <a:solidFill>
                  <a:srgbClr val="0000FF"/>
                </a:solidFill>
                <a:effectLst/>
                <a:uLnTx/>
                <a:uFillTx/>
                <a:latin typeface="Times New Roman" pitchFamily="18" charset="0"/>
              </a:rPr>
              <a:t>T</a:t>
            </a:r>
            <a:r>
              <a:rPr kumimoji="1" lang="en-US" altLang="zh-CN" sz="2800" b="1" i="0" u="none" strike="noStrike" kern="0" cap="none" spc="0" normalizeH="0" baseline="-25000" noProof="0">
                <a:ln>
                  <a:noFill/>
                </a:ln>
                <a:solidFill>
                  <a:srgbClr val="0000FF"/>
                </a:solidFill>
                <a:effectLst/>
                <a:uLnTx/>
                <a:uFillTx/>
                <a:latin typeface="Times New Roman" pitchFamily="18" charset="0"/>
              </a:rPr>
              <a:t>k</a:t>
            </a:r>
            <a:r>
              <a:rPr kumimoji="1" lang="en-US" altLang="zh-CN" sz="2800" b="1" i="0" u="none" strike="noStrike" kern="0" cap="none" spc="0" normalizeH="0" baseline="0" noProof="0">
                <a:ln>
                  <a:noFill/>
                </a:ln>
                <a:solidFill>
                  <a:srgbClr val="0000FF"/>
                </a:solidFill>
                <a:effectLst/>
                <a:uLnTx/>
                <a:uFillTx/>
                <a:latin typeface="Times New Roman" pitchFamily="18" charset="0"/>
              </a:rPr>
              <a:t> ;</a:t>
            </a:r>
          </a:p>
        </p:txBody>
      </p:sp>
      <p:grpSp>
        <p:nvGrpSpPr>
          <p:cNvPr id="15" name="Group 4"/>
          <p:cNvGrpSpPr>
            <a:grpSpLocks/>
          </p:cNvGrpSpPr>
          <p:nvPr/>
        </p:nvGrpSpPr>
        <p:grpSpPr bwMode="auto">
          <a:xfrm>
            <a:off x="5867400" y="1350962"/>
            <a:ext cx="2517775" cy="2320925"/>
            <a:chOff x="3952" y="410"/>
            <a:chExt cx="1464" cy="1462"/>
          </a:xfrm>
        </p:grpSpPr>
        <p:grpSp>
          <p:nvGrpSpPr>
            <p:cNvPr id="16" name="Group 5"/>
            <p:cNvGrpSpPr>
              <a:grpSpLocks/>
            </p:cNvGrpSpPr>
            <p:nvPr/>
          </p:nvGrpSpPr>
          <p:grpSpPr bwMode="auto">
            <a:xfrm>
              <a:off x="3952" y="410"/>
              <a:ext cx="1464" cy="1462"/>
              <a:chOff x="3952" y="410"/>
              <a:chExt cx="1464" cy="1462"/>
            </a:xfrm>
          </p:grpSpPr>
          <p:sp>
            <p:nvSpPr>
              <p:cNvPr id="19" name="Oval 6"/>
              <p:cNvSpPr>
                <a:spLocks noChangeArrowheads="1"/>
              </p:cNvSpPr>
              <p:nvPr/>
            </p:nvSpPr>
            <p:spPr bwMode="auto">
              <a:xfrm>
                <a:off x="4464" y="576"/>
                <a:ext cx="384" cy="336"/>
              </a:xfrm>
              <a:prstGeom prst="ellipse">
                <a:avLst/>
              </a:prstGeom>
              <a:noFill/>
              <a:ln w="952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0" name="AutoShape 7"/>
              <p:cNvSpPr>
                <a:spLocks noChangeArrowheads="1"/>
              </p:cNvSpPr>
              <p:nvPr/>
            </p:nvSpPr>
            <p:spPr bwMode="auto">
              <a:xfrm>
                <a:off x="3952" y="1440"/>
                <a:ext cx="432" cy="384"/>
              </a:xfrm>
              <a:prstGeom prst="flowChartExtract">
                <a:avLst/>
              </a:prstGeom>
              <a:noFill/>
              <a:ln w="9525">
                <a:solidFill>
                  <a:srgbClr val="000000"/>
                </a:solidFill>
                <a:miter lim="800000"/>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1" name="Text Box 8"/>
              <p:cNvSpPr txBox="1">
                <a:spLocks noChangeArrowheads="1"/>
              </p:cNvSpPr>
              <p:nvPr/>
            </p:nvSpPr>
            <p:spPr bwMode="auto">
              <a:xfrm>
                <a:off x="4032" y="1584"/>
                <a:ext cx="312"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T1</a:t>
                </a:r>
              </a:p>
            </p:txBody>
          </p:sp>
          <p:sp>
            <p:nvSpPr>
              <p:cNvPr id="22" name="AutoShape 9"/>
              <p:cNvSpPr>
                <a:spLocks noChangeArrowheads="1"/>
              </p:cNvSpPr>
              <p:nvPr/>
            </p:nvSpPr>
            <p:spPr bwMode="auto">
              <a:xfrm>
                <a:off x="4448" y="1440"/>
                <a:ext cx="432" cy="384"/>
              </a:xfrm>
              <a:prstGeom prst="flowChartExtract">
                <a:avLst/>
              </a:prstGeom>
              <a:noFill/>
              <a:ln w="9525">
                <a:solidFill>
                  <a:srgbClr val="000000"/>
                </a:solidFill>
                <a:miter lim="800000"/>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3" name="Text Box 10"/>
              <p:cNvSpPr txBox="1">
                <a:spLocks noChangeArrowheads="1"/>
              </p:cNvSpPr>
              <p:nvPr/>
            </p:nvSpPr>
            <p:spPr bwMode="auto">
              <a:xfrm>
                <a:off x="4528" y="1576"/>
                <a:ext cx="312"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T2</a:t>
                </a:r>
              </a:p>
            </p:txBody>
          </p:sp>
          <p:sp>
            <p:nvSpPr>
              <p:cNvPr id="24" name="AutoShape 11"/>
              <p:cNvSpPr>
                <a:spLocks noChangeArrowheads="1"/>
              </p:cNvSpPr>
              <p:nvPr/>
            </p:nvSpPr>
            <p:spPr bwMode="auto">
              <a:xfrm>
                <a:off x="4984" y="1440"/>
                <a:ext cx="432" cy="384"/>
              </a:xfrm>
              <a:prstGeom prst="flowChartExtract">
                <a:avLst/>
              </a:prstGeom>
              <a:noFill/>
              <a:ln w="9525">
                <a:solidFill>
                  <a:srgbClr val="000000"/>
                </a:solidFill>
                <a:miter lim="800000"/>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5" name="Text Box 12"/>
              <p:cNvSpPr txBox="1">
                <a:spLocks noChangeArrowheads="1"/>
              </p:cNvSpPr>
              <p:nvPr/>
            </p:nvSpPr>
            <p:spPr bwMode="auto">
              <a:xfrm>
                <a:off x="5056" y="1584"/>
                <a:ext cx="322"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Tk</a:t>
                </a:r>
              </a:p>
            </p:txBody>
          </p:sp>
          <p:sp>
            <p:nvSpPr>
              <p:cNvPr id="26" name="Text Box 13"/>
              <p:cNvSpPr txBox="1">
                <a:spLocks noChangeArrowheads="1"/>
              </p:cNvSpPr>
              <p:nvPr/>
            </p:nvSpPr>
            <p:spPr bwMode="auto">
              <a:xfrm>
                <a:off x="4551" y="602"/>
                <a:ext cx="204"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n</a:t>
                </a:r>
              </a:p>
            </p:txBody>
          </p:sp>
          <p:sp>
            <p:nvSpPr>
              <p:cNvPr id="27" name="Line 14"/>
              <p:cNvSpPr>
                <a:spLocks noChangeShapeType="1"/>
              </p:cNvSpPr>
              <p:nvPr/>
            </p:nvSpPr>
            <p:spPr bwMode="auto">
              <a:xfrm>
                <a:off x="4656" y="912"/>
                <a:ext cx="0" cy="528"/>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Line 15"/>
              <p:cNvSpPr>
                <a:spLocks noChangeShapeType="1"/>
              </p:cNvSpPr>
              <p:nvPr/>
            </p:nvSpPr>
            <p:spPr bwMode="auto">
              <a:xfrm flipH="1">
                <a:off x="4176" y="912"/>
                <a:ext cx="480" cy="528"/>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Line 16"/>
              <p:cNvSpPr>
                <a:spLocks noChangeShapeType="1"/>
              </p:cNvSpPr>
              <p:nvPr/>
            </p:nvSpPr>
            <p:spPr bwMode="auto">
              <a:xfrm>
                <a:off x="4656" y="912"/>
                <a:ext cx="528" cy="528"/>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0" name="Text Box 17"/>
              <p:cNvSpPr txBox="1">
                <a:spLocks noChangeArrowheads="1"/>
              </p:cNvSpPr>
              <p:nvPr/>
            </p:nvSpPr>
            <p:spPr bwMode="auto">
              <a:xfrm>
                <a:off x="4887" y="410"/>
                <a:ext cx="223"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T</a:t>
                </a:r>
              </a:p>
            </p:txBody>
          </p:sp>
        </p:grpSp>
        <p:sp>
          <p:nvSpPr>
            <p:cNvPr id="17" name="Text Box 18"/>
            <p:cNvSpPr txBox="1">
              <a:spLocks noChangeArrowheads="1"/>
            </p:cNvSpPr>
            <p:nvPr/>
          </p:nvSpPr>
          <p:spPr bwMode="auto">
            <a:xfrm>
              <a:off x="4791" y="1418"/>
              <a:ext cx="283"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a:t>
              </a:r>
            </a:p>
          </p:txBody>
        </p:sp>
      </p:grpSp>
      <p:sp>
        <p:nvSpPr>
          <p:cNvPr id="31" name="AutoShape 21">
            <a:hlinkClick r:id="rId4" action="ppaction://hlinkfile"/>
          </p:cNvPr>
          <p:cNvSpPr>
            <a:spLocks noChangeArrowheads="1"/>
          </p:cNvSpPr>
          <p:nvPr/>
        </p:nvSpPr>
        <p:spPr bwMode="auto">
          <a:xfrm>
            <a:off x="6596063" y="4271962"/>
            <a:ext cx="2484437" cy="1214438"/>
          </a:xfrm>
          <a:custGeom>
            <a:avLst/>
            <a:gdLst>
              <a:gd name="T0" fmla="*/ 220388284 w 21600"/>
              <a:gd name="T1" fmla="*/ 0 h 21600"/>
              <a:gd name="T2" fmla="*/ 0 w 21600"/>
              <a:gd name="T3" fmla="*/ 63583538 h 21600"/>
              <a:gd name="T4" fmla="*/ 220388284 w 21600"/>
              <a:gd name="T5" fmla="*/ 127167077 h 21600"/>
              <a:gd name="T6" fmla="*/ 293851163 w 21600"/>
              <a:gd name="T7" fmla="*/ 63583538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003300"/>
                </a:solidFill>
                <a:effectLst/>
                <a:uLnTx/>
                <a:uFillTx/>
                <a:latin typeface="隶书" pitchFamily="49" charset="-122"/>
                <a:ea typeface="隶书" pitchFamily="49" charset="-122"/>
                <a:cs typeface="+mn-cs"/>
              </a:rPr>
              <a:t>先根图示</a:t>
            </a:r>
          </a:p>
        </p:txBody>
      </p:sp>
    </p:spTree>
    <p:extLst>
      <p:ext uri="{BB962C8B-B14F-4D97-AF65-F5344CB8AC3E}">
        <p14:creationId xmlns:p14="http://schemas.microsoft.com/office/powerpoint/2010/main" val="229780591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树的先根遍历</a:t>
            </a:r>
          </a:p>
        </p:txBody>
      </p:sp>
      <p:sp>
        <p:nvSpPr>
          <p:cNvPr id="4" name="日期占位符 3"/>
          <p:cNvSpPr>
            <a:spLocks noGrp="1"/>
          </p:cNvSpPr>
          <p:nvPr>
            <p:ph type="dt" sz="half" idx="10"/>
          </p:nvPr>
        </p:nvSpPr>
        <p:spPr/>
        <p:txBody>
          <a:bodyPr/>
          <a:lstStyle/>
          <a:p>
            <a:fld id="{15350CAC-F7F5-4B40-B39F-844A0D20B444}"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146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23"/>
          <p:cNvSpPr>
            <a:spLocks noChangeArrowheads="1"/>
          </p:cNvSpPr>
          <p:nvPr/>
        </p:nvSpPr>
        <p:spPr bwMode="auto">
          <a:xfrm>
            <a:off x="381000" y="1812925"/>
            <a:ext cx="8351838" cy="4511675"/>
          </a:xfrm>
          <a:prstGeom prst="rect">
            <a:avLst/>
          </a:prstGeom>
          <a:noFill/>
          <a:ln w="9525">
            <a:solidFill>
              <a:srgbClr val="003300"/>
            </a:solidFill>
            <a:miter lim="800000"/>
            <a:headEnd/>
            <a:tailEnd/>
          </a:ln>
        </p:spPr>
        <p:txBody>
          <a:bodyPr/>
          <a:lstStyle/>
          <a:p>
            <a:pPr marL="273050" indent="-273050" eaLnBrk="0" fontAlgn="base" hangingPunct="0">
              <a:spcBef>
                <a:spcPct val="20000"/>
              </a:spcBef>
              <a:spcAft>
                <a:spcPct val="0"/>
              </a:spcAft>
              <a:buClr>
                <a:srgbClr val="0BD0D9"/>
              </a:buClr>
              <a:buSzPct val="95000"/>
              <a:buFont typeface="Wingdings 2" pitchFamily="18" charset="2"/>
              <a:buNone/>
            </a:pPr>
            <a:r>
              <a:rPr lang="zh-CN" altLang="en-US" sz="2400" b="1" dirty="0">
                <a:solidFill>
                  <a:srgbClr val="0000FF"/>
                </a:solidFill>
                <a:latin typeface="Constantia" pitchFamily="18" charset="0"/>
              </a:rPr>
              <a:t>树的先根遍历递归该算法如下：</a:t>
            </a: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2800" b="1" dirty="0">
                <a:solidFill>
                  <a:srgbClr val="0000FF"/>
                </a:solidFill>
                <a:latin typeface="Times New Roman" pitchFamily="18" charset="0"/>
              </a:rPr>
              <a:t>void </a:t>
            </a:r>
            <a:r>
              <a:rPr lang="en-US" altLang="zh-CN" sz="2800" b="1" dirty="0" err="1">
                <a:solidFill>
                  <a:srgbClr val="0000FF"/>
                </a:solidFill>
                <a:latin typeface="Times New Roman" pitchFamily="18" charset="0"/>
              </a:rPr>
              <a:t>preordertre</a:t>
            </a:r>
            <a:r>
              <a:rPr lang="en-US" altLang="zh-CN" sz="2800" b="1" dirty="0">
                <a:solidFill>
                  <a:srgbClr val="0000FF"/>
                </a:solidFill>
                <a:latin typeface="Times New Roman" pitchFamily="18" charset="0"/>
              </a:rPr>
              <a:t>(</a:t>
            </a:r>
            <a:r>
              <a:rPr lang="en-US" altLang="zh-CN" sz="2800" b="1" dirty="0" err="1">
                <a:solidFill>
                  <a:srgbClr val="0000FF"/>
                </a:solidFill>
                <a:latin typeface="Times New Roman" pitchFamily="18" charset="0"/>
              </a:rPr>
              <a:t>CSnode</a:t>
            </a:r>
            <a:r>
              <a:rPr lang="en-US" altLang="zh-CN" sz="2800" b="1" dirty="0">
                <a:solidFill>
                  <a:srgbClr val="0000FF"/>
                </a:solidFill>
                <a:latin typeface="Times New Roman" pitchFamily="18" charset="0"/>
              </a:rPr>
              <a:t>  * root) /* root </a:t>
            </a:r>
            <a:r>
              <a:rPr lang="zh-CN" altLang="en-US" sz="2800" b="1" dirty="0">
                <a:solidFill>
                  <a:srgbClr val="0000FF"/>
                </a:solidFill>
                <a:latin typeface="Times New Roman" pitchFamily="18" charset="0"/>
              </a:rPr>
              <a:t>一般树的根结点 *</a:t>
            </a:r>
            <a:r>
              <a:rPr lang="en-US" altLang="zh-CN" sz="2800" b="1" dirty="0">
                <a:solidFill>
                  <a:srgbClr val="0000FF"/>
                </a:solidFill>
                <a:latin typeface="Times New Roman" pitchFamily="18" charset="0"/>
              </a:rPr>
              <a:t>/</a:t>
            </a: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2800" b="1" dirty="0">
                <a:solidFill>
                  <a:srgbClr val="0000FF"/>
                </a:solidFill>
                <a:latin typeface="Times New Roman" pitchFamily="18" charset="0"/>
              </a:rPr>
              <a:t>    { if(root!=NULL)</a:t>
            </a: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2800" b="1" dirty="0">
                <a:solidFill>
                  <a:srgbClr val="0000FF"/>
                </a:solidFill>
                <a:latin typeface="Times New Roman" pitchFamily="18" charset="0"/>
              </a:rPr>
              <a:t>           {  </a:t>
            </a:r>
            <a:r>
              <a:rPr lang="en-US" altLang="zh-CN" sz="2800" b="1" dirty="0">
                <a:solidFill>
                  <a:srgbClr val="F81908"/>
                </a:solidFill>
                <a:latin typeface="Times New Roman" pitchFamily="18" charset="0"/>
              </a:rPr>
              <a:t>visit(root-&gt;data); /* </a:t>
            </a:r>
            <a:r>
              <a:rPr lang="zh-CN" altLang="en-US" sz="2800" b="1" dirty="0">
                <a:solidFill>
                  <a:srgbClr val="F81908"/>
                </a:solidFill>
                <a:latin typeface="Times New Roman" pitchFamily="18" charset="0"/>
              </a:rPr>
              <a:t>访问根结点 *</a:t>
            </a:r>
            <a:r>
              <a:rPr lang="en-US" altLang="zh-CN" sz="2800" b="1" dirty="0">
                <a:solidFill>
                  <a:srgbClr val="F81908"/>
                </a:solidFill>
                <a:latin typeface="Times New Roman" pitchFamily="18" charset="0"/>
              </a:rPr>
              <a:t>/</a:t>
            </a: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2800" b="1" dirty="0">
                <a:solidFill>
                  <a:srgbClr val="F81908"/>
                </a:solidFill>
                <a:latin typeface="Times New Roman" pitchFamily="18" charset="0"/>
              </a:rPr>
              <a:t>   		    </a:t>
            </a:r>
            <a:r>
              <a:rPr lang="en-US" altLang="zh-CN" sz="2800" b="1" dirty="0" err="1">
                <a:solidFill>
                  <a:srgbClr val="F81908"/>
                </a:solidFill>
                <a:latin typeface="Times New Roman" pitchFamily="18" charset="0"/>
              </a:rPr>
              <a:t>preordertre</a:t>
            </a:r>
            <a:r>
              <a:rPr lang="en-US" altLang="zh-CN" sz="2800" b="1" dirty="0">
                <a:solidFill>
                  <a:srgbClr val="F81908"/>
                </a:solidFill>
                <a:latin typeface="Times New Roman" pitchFamily="18" charset="0"/>
              </a:rPr>
              <a:t>( root-&gt; </a:t>
            </a:r>
            <a:r>
              <a:rPr lang="en-US" altLang="zh-CN" sz="2800" b="1" dirty="0" err="1">
                <a:solidFill>
                  <a:srgbClr val="F81908"/>
                </a:solidFill>
                <a:latin typeface="Times New Roman" pitchFamily="18" charset="0"/>
              </a:rPr>
              <a:t>firstchild</a:t>
            </a:r>
            <a:r>
              <a:rPr lang="en-US" altLang="zh-CN" sz="2800" b="1" dirty="0">
                <a:solidFill>
                  <a:srgbClr val="F81908"/>
                </a:solidFill>
                <a:latin typeface="Times New Roman" pitchFamily="18" charset="0"/>
              </a:rPr>
              <a:t>); </a:t>
            </a: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2800" b="1" dirty="0">
                <a:solidFill>
                  <a:srgbClr val="F81908"/>
                </a:solidFill>
                <a:latin typeface="Times New Roman" pitchFamily="18" charset="0"/>
              </a:rPr>
              <a:t>              </a:t>
            </a:r>
            <a:r>
              <a:rPr lang="en-US" altLang="zh-CN" sz="2800" b="1" dirty="0" err="1">
                <a:solidFill>
                  <a:srgbClr val="F81908"/>
                </a:solidFill>
                <a:latin typeface="Times New Roman" pitchFamily="18" charset="0"/>
              </a:rPr>
              <a:t>preordertre</a:t>
            </a:r>
            <a:r>
              <a:rPr lang="en-US" altLang="zh-CN" sz="2800" b="1" dirty="0">
                <a:solidFill>
                  <a:srgbClr val="F81908"/>
                </a:solidFill>
                <a:latin typeface="Times New Roman" pitchFamily="18" charset="0"/>
              </a:rPr>
              <a:t>( root-&gt; </a:t>
            </a:r>
            <a:r>
              <a:rPr lang="en-US" altLang="zh-CN" sz="2800" b="1" dirty="0" err="1">
                <a:solidFill>
                  <a:srgbClr val="F81908"/>
                </a:solidFill>
                <a:latin typeface="Times New Roman" pitchFamily="18" charset="0"/>
              </a:rPr>
              <a:t>nextsilbing</a:t>
            </a:r>
            <a:r>
              <a:rPr lang="en-US" altLang="zh-CN" sz="2800" b="1" dirty="0">
                <a:solidFill>
                  <a:srgbClr val="F81908"/>
                </a:solidFill>
                <a:latin typeface="Times New Roman" pitchFamily="18" charset="0"/>
              </a:rPr>
              <a:t>);</a:t>
            </a: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2800" b="1" dirty="0">
                <a:solidFill>
                  <a:srgbClr val="0000FF"/>
                </a:solidFill>
                <a:latin typeface="Times New Roman" pitchFamily="18" charset="0"/>
              </a:rPr>
              <a:t>            }     </a:t>
            </a: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2800" b="1" dirty="0">
                <a:solidFill>
                  <a:srgbClr val="0000FF"/>
                </a:solidFill>
                <a:latin typeface="Times New Roman" pitchFamily="18" charset="0"/>
              </a:rPr>
              <a:t>} </a:t>
            </a:r>
            <a:endParaRPr lang="zh-CN" altLang="en-US" sz="2800" b="1" dirty="0">
              <a:solidFill>
                <a:srgbClr val="0000FF"/>
              </a:solidFill>
              <a:latin typeface="Times New Roman" pitchFamily="18" charset="0"/>
            </a:endParaRPr>
          </a:p>
        </p:txBody>
      </p:sp>
    </p:spTree>
    <p:extLst>
      <p:ext uri="{BB962C8B-B14F-4D97-AF65-F5344CB8AC3E}">
        <p14:creationId xmlns:p14="http://schemas.microsoft.com/office/powerpoint/2010/main" val="42519063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树的后根遍历</a:t>
            </a:r>
          </a:p>
        </p:txBody>
      </p:sp>
      <p:sp>
        <p:nvSpPr>
          <p:cNvPr id="4" name="日期占位符 3"/>
          <p:cNvSpPr>
            <a:spLocks noGrp="1"/>
          </p:cNvSpPr>
          <p:nvPr>
            <p:ph type="dt" sz="half" idx="10"/>
          </p:nvPr>
        </p:nvSpPr>
        <p:spPr/>
        <p:txBody>
          <a:bodyPr/>
          <a:lstStyle/>
          <a:p>
            <a:fld id="{F00A428A-9220-4A4C-AE2B-5F26FEC21A3E}"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147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0"/>
          <p:cNvSpPr txBox="1">
            <a:spLocks noChangeArrowheads="1"/>
          </p:cNvSpPr>
          <p:nvPr/>
        </p:nvSpPr>
        <p:spPr bwMode="auto">
          <a:xfrm>
            <a:off x="533401" y="1831975"/>
            <a:ext cx="4343400" cy="4492625"/>
          </a:xfrm>
          <a:prstGeom prst="rect">
            <a:avLst/>
          </a:prstGeom>
          <a:noFill/>
          <a:ln w="9525">
            <a:solidFill>
              <a:srgbClr val="04617B"/>
            </a:solidFill>
            <a:miter lim="800000"/>
            <a:headEnd/>
            <a:tailEnd/>
          </a:ln>
        </p:spPr>
        <p:txBody>
          <a:bodyPr wrap="square" lIns="90000" tIns="46800" rIns="90000" bIns="46800">
            <a:spAutoFit/>
          </a:bodyPr>
          <a:lstStyle/>
          <a:p>
            <a:pPr marL="0" marR="0" lvl="0" indent="0" defTabSz="914400" eaLnBrk="1" fontAlgn="base" latinLnBrk="0" hangingPunct="1">
              <a:lnSpc>
                <a:spcPct val="150000"/>
              </a:lnSpc>
              <a:spcBef>
                <a:spcPct val="0"/>
              </a:spcBef>
              <a:spcAft>
                <a:spcPct val="0"/>
              </a:spcAft>
              <a:buClr>
                <a:srgbClr val="6600FF"/>
              </a:buClr>
              <a:buSzTx/>
              <a:buFont typeface="Wingdings" pitchFamily="2" charset="2"/>
              <a:buChar char="p"/>
              <a:tabLst/>
              <a:defRPr/>
            </a:pPr>
            <a:r>
              <a:rPr kumimoji="1" lang="zh-CN" altLang="en-US" sz="3200" b="1" i="0" u="none" strike="noStrike" kern="0" cap="none" spc="0" normalizeH="0" baseline="0" noProof="0">
                <a:ln>
                  <a:noFill/>
                </a:ln>
                <a:solidFill>
                  <a:srgbClr val="6600FF"/>
                </a:solidFill>
                <a:effectLst/>
                <a:uLnTx/>
                <a:uFillTx/>
                <a:latin typeface="Times New Roman" pitchFamily="18" charset="0"/>
              </a:rPr>
              <a:t>后根顺序</a:t>
            </a:r>
          </a:p>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00FFFF"/>
                </a:solidFill>
                <a:effectLst/>
                <a:uLnTx/>
                <a:uFillTx/>
                <a:latin typeface="Times New Roman" pitchFamily="18" charset="0"/>
              </a:rPr>
              <a:t>     </a:t>
            </a:r>
            <a:r>
              <a:rPr kumimoji="1" lang="zh-CN" altLang="en-US" sz="3200" b="1" i="0" u="none" strike="noStrike" kern="0" cap="none" spc="0" normalizeH="0" baseline="0" noProof="0">
                <a:ln>
                  <a:noFill/>
                </a:ln>
                <a:solidFill>
                  <a:srgbClr val="0000FF"/>
                </a:solidFill>
                <a:effectLst/>
                <a:uLnTx/>
                <a:uFillTx/>
                <a:latin typeface="Times New Roman" pitchFamily="18" charset="0"/>
              </a:rPr>
              <a:t>后根顺序遍历</a:t>
            </a:r>
            <a:r>
              <a:rPr kumimoji="1" lang="en-US" altLang="zh-CN" sz="3200" b="1" i="0" u="none" strike="noStrike" kern="0" cap="none" spc="0" normalizeH="0" baseline="0" noProof="0">
                <a:ln>
                  <a:noFill/>
                </a:ln>
                <a:solidFill>
                  <a:srgbClr val="0000FF"/>
                </a:solidFill>
                <a:effectLst/>
                <a:uLnTx/>
                <a:uFillTx/>
                <a:latin typeface="Times New Roman" pitchFamily="18" charset="0"/>
              </a:rPr>
              <a:t>T</a:t>
            </a:r>
            <a:r>
              <a:rPr kumimoji="1" lang="en-US" altLang="zh-CN" sz="3200" b="1" i="0" u="none" strike="noStrike" kern="0" cap="none" spc="0" normalizeH="0" baseline="-25000" noProof="0">
                <a:ln>
                  <a:noFill/>
                </a:ln>
                <a:solidFill>
                  <a:srgbClr val="0000FF"/>
                </a:solidFill>
                <a:effectLst/>
                <a:uLnTx/>
                <a:uFillTx/>
                <a:latin typeface="Times New Roman" pitchFamily="18" charset="0"/>
              </a:rPr>
              <a:t>1</a:t>
            </a:r>
            <a:r>
              <a:rPr kumimoji="1" lang="en-US" altLang="zh-CN" sz="3200" b="1" i="0" u="none" strike="noStrike" kern="0" cap="none" spc="0" normalizeH="0" baseline="0" noProof="0">
                <a:ln>
                  <a:noFill/>
                </a:ln>
                <a:solidFill>
                  <a:srgbClr val="0000FF"/>
                </a:solidFill>
                <a:effectLst/>
                <a:uLnTx/>
                <a:uFillTx/>
                <a:latin typeface="Times New Roman" pitchFamily="18" charset="0"/>
              </a:rPr>
              <a:t> ;</a:t>
            </a:r>
          </a:p>
          <a:p>
            <a:pPr marL="0" marR="0" lvl="0" indent="0" defTabSz="914400" eaLnBrk="1" fontAlgn="base" latinLnBrk="0" hangingPunct="1">
              <a:lnSpc>
                <a:spcPct val="15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0000FF"/>
                </a:solidFill>
                <a:effectLst/>
                <a:uLnTx/>
                <a:uFillTx/>
                <a:latin typeface="Times New Roman" pitchFamily="18" charset="0"/>
              </a:rPr>
              <a:t>     </a:t>
            </a:r>
            <a:r>
              <a:rPr kumimoji="1" lang="zh-CN" altLang="en-US" sz="3200" b="1" i="0" u="none" strike="noStrike" kern="0" cap="none" spc="0" normalizeH="0" baseline="0" noProof="0">
                <a:ln>
                  <a:noFill/>
                </a:ln>
                <a:solidFill>
                  <a:srgbClr val="0000FF"/>
                </a:solidFill>
                <a:effectLst/>
                <a:uLnTx/>
                <a:uFillTx/>
                <a:latin typeface="Times New Roman" pitchFamily="18" charset="0"/>
              </a:rPr>
              <a:t>后根顺序遍历</a:t>
            </a:r>
            <a:r>
              <a:rPr kumimoji="1" lang="en-US" altLang="zh-CN" sz="3200" b="1" i="0" u="none" strike="noStrike" kern="0" cap="none" spc="0" normalizeH="0" baseline="0" noProof="0">
                <a:ln>
                  <a:noFill/>
                </a:ln>
                <a:solidFill>
                  <a:srgbClr val="0000FF"/>
                </a:solidFill>
                <a:effectLst/>
                <a:uLnTx/>
                <a:uFillTx/>
                <a:latin typeface="Times New Roman" pitchFamily="18" charset="0"/>
              </a:rPr>
              <a:t>T</a:t>
            </a:r>
            <a:r>
              <a:rPr kumimoji="1" lang="en-US" altLang="zh-CN" sz="3200" b="1" i="0" u="none" strike="noStrike" kern="0" cap="none" spc="0" normalizeH="0" baseline="-25000" noProof="0">
                <a:ln>
                  <a:noFill/>
                </a:ln>
                <a:solidFill>
                  <a:srgbClr val="0000FF"/>
                </a:solidFill>
                <a:effectLst/>
                <a:uLnTx/>
                <a:uFillTx/>
                <a:latin typeface="Times New Roman" pitchFamily="18" charset="0"/>
              </a:rPr>
              <a:t>2</a:t>
            </a:r>
            <a:r>
              <a:rPr kumimoji="1" lang="en-US" altLang="zh-CN" sz="3200" b="1" i="0" u="none" strike="noStrike" kern="0" cap="none" spc="0" normalizeH="0" baseline="0" noProof="0">
                <a:ln>
                  <a:noFill/>
                </a:ln>
                <a:solidFill>
                  <a:srgbClr val="0000FF"/>
                </a:solidFill>
                <a:effectLst/>
                <a:uLnTx/>
                <a:uFillTx/>
                <a:latin typeface="Times New Roman" pitchFamily="18" charset="0"/>
              </a:rPr>
              <a:t> ;</a:t>
            </a:r>
          </a:p>
          <a:p>
            <a:pPr marL="0" marR="0" lvl="0" indent="0" defTabSz="914400" eaLnBrk="1" fontAlgn="base" latinLnBrk="0" hangingPunct="1">
              <a:lnSpc>
                <a:spcPct val="15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0000FF"/>
                </a:solidFill>
                <a:effectLst/>
                <a:uLnTx/>
                <a:uFillTx/>
                <a:latin typeface="Times New Roman" pitchFamily="18" charset="0"/>
              </a:rPr>
              <a:t>     …</a:t>
            </a:r>
          </a:p>
          <a:p>
            <a:pPr marL="0" marR="0" lvl="0" indent="0" defTabSz="914400" eaLnBrk="1" fontAlgn="base" latinLnBrk="0" hangingPunct="1">
              <a:lnSpc>
                <a:spcPct val="15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0000FF"/>
                </a:solidFill>
                <a:effectLst/>
                <a:uLnTx/>
                <a:uFillTx/>
                <a:latin typeface="Times New Roman" pitchFamily="18" charset="0"/>
              </a:rPr>
              <a:t>     </a:t>
            </a:r>
            <a:r>
              <a:rPr kumimoji="1" lang="zh-CN" altLang="en-US" sz="3200" b="1" i="0" u="none" strike="noStrike" kern="0" cap="none" spc="0" normalizeH="0" baseline="0" noProof="0">
                <a:ln>
                  <a:noFill/>
                </a:ln>
                <a:solidFill>
                  <a:srgbClr val="0000FF"/>
                </a:solidFill>
                <a:effectLst/>
                <a:uLnTx/>
                <a:uFillTx/>
                <a:latin typeface="Times New Roman" pitchFamily="18" charset="0"/>
              </a:rPr>
              <a:t>后根顺序遍历</a:t>
            </a:r>
            <a:r>
              <a:rPr kumimoji="1" lang="en-US" altLang="zh-CN" sz="3200" b="1" i="0" u="none" strike="noStrike" kern="0" cap="none" spc="0" normalizeH="0" baseline="0" noProof="0">
                <a:ln>
                  <a:noFill/>
                </a:ln>
                <a:solidFill>
                  <a:srgbClr val="0000FF"/>
                </a:solidFill>
                <a:effectLst/>
                <a:uLnTx/>
                <a:uFillTx/>
                <a:latin typeface="Times New Roman" pitchFamily="18" charset="0"/>
              </a:rPr>
              <a:t>T</a:t>
            </a:r>
            <a:r>
              <a:rPr kumimoji="1" lang="en-US" altLang="zh-CN" sz="3200" b="1" i="0" u="none" strike="noStrike" kern="0" cap="none" spc="0" normalizeH="0" baseline="-25000" noProof="0">
                <a:ln>
                  <a:noFill/>
                </a:ln>
                <a:solidFill>
                  <a:srgbClr val="0000FF"/>
                </a:solidFill>
                <a:effectLst/>
                <a:uLnTx/>
                <a:uFillTx/>
                <a:latin typeface="Times New Roman" pitchFamily="18" charset="0"/>
              </a:rPr>
              <a:t>k</a:t>
            </a:r>
            <a:r>
              <a:rPr kumimoji="1" lang="en-US" altLang="zh-CN" sz="3200" b="1" i="0" u="none" strike="noStrike" kern="0" cap="none" spc="0" normalizeH="0" baseline="0" noProof="0">
                <a:ln>
                  <a:noFill/>
                </a:ln>
                <a:solidFill>
                  <a:srgbClr val="0000FF"/>
                </a:solidFill>
                <a:effectLst/>
                <a:uLnTx/>
                <a:uFillTx/>
                <a:latin typeface="Times New Roman" pitchFamily="18" charset="0"/>
              </a:rPr>
              <a:t> ;</a:t>
            </a:r>
          </a:p>
          <a:p>
            <a:pPr marL="0" marR="0" lvl="0" indent="0" defTabSz="914400" eaLnBrk="1" fontAlgn="base" latinLnBrk="0" hangingPunct="1">
              <a:lnSpc>
                <a:spcPct val="150000"/>
              </a:lnSpc>
              <a:spcBef>
                <a:spcPct val="0"/>
              </a:spcBef>
              <a:spcAft>
                <a:spcPct val="0"/>
              </a:spcAft>
              <a:buClrTx/>
              <a:buSzTx/>
              <a:buFontTx/>
              <a:buNone/>
              <a:tabLst/>
              <a:defRPr/>
            </a:pPr>
            <a:r>
              <a:rPr kumimoji="1" lang="en-US" altLang="zh-CN" sz="3200" b="1" i="0" u="none" strike="noStrike" kern="0" cap="none" spc="0" normalizeH="0" baseline="0" noProof="0">
                <a:ln>
                  <a:noFill/>
                </a:ln>
                <a:solidFill>
                  <a:srgbClr val="0000FF"/>
                </a:solidFill>
                <a:effectLst/>
                <a:uLnTx/>
                <a:uFillTx/>
                <a:latin typeface="Times New Roman" pitchFamily="18" charset="0"/>
              </a:rPr>
              <a:t>     </a:t>
            </a:r>
            <a:r>
              <a:rPr kumimoji="1" lang="zh-CN" altLang="en-US" sz="3200" b="1" i="0" u="none" strike="noStrike" kern="0" cap="none" spc="0" normalizeH="0" baseline="0" noProof="0">
                <a:ln>
                  <a:noFill/>
                </a:ln>
                <a:solidFill>
                  <a:srgbClr val="FC1C04"/>
                </a:solidFill>
                <a:effectLst/>
                <a:uLnTx/>
                <a:uFillTx/>
                <a:latin typeface="Times New Roman" pitchFamily="18" charset="0"/>
              </a:rPr>
              <a:t>访问根结点 ；</a:t>
            </a:r>
          </a:p>
        </p:txBody>
      </p:sp>
      <p:sp>
        <p:nvSpPr>
          <p:cNvPr id="14" name="AutoShape 22">
            <a:hlinkClick r:id="rId4" action="ppaction://hlinkfile"/>
          </p:cNvPr>
          <p:cNvSpPr>
            <a:spLocks noChangeArrowheads="1"/>
          </p:cNvSpPr>
          <p:nvPr/>
        </p:nvSpPr>
        <p:spPr bwMode="auto">
          <a:xfrm>
            <a:off x="6537325" y="4791075"/>
            <a:ext cx="2519363" cy="1368425"/>
          </a:xfrm>
          <a:custGeom>
            <a:avLst/>
            <a:gdLst>
              <a:gd name="T0" fmla="*/ 220388489 w 21600"/>
              <a:gd name="T1" fmla="*/ 0 h 21600"/>
              <a:gd name="T2" fmla="*/ 0 w 21600"/>
              <a:gd name="T3" fmla="*/ 47990900 h 21600"/>
              <a:gd name="T4" fmla="*/ 220388489 w 21600"/>
              <a:gd name="T5" fmla="*/ 95981733 h 21600"/>
              <a:gd name="T6" fmla="*/ 293851279 w 21600"/>
              <a:gd name="T7" fmla="*/ 479909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003300"/>
                </a:solidFill>
                <a:effectLst/>
                <a:uLnTx/>
                <a:uFillTx/>
                <a:latin typeface="隶书" pitchFamily="49" charset="-122"/>
                <a:ea typeface="隶书" pitchFamily="49" charset="-122"/>
                <a:cs typeface="+mn-cs"/>
              </a:rPr>
              <a:t>后根图示</a:t>
            </a:r>
          </a:p>
        </p:txBody>
      </p:sp>
      <p:grpSp>
        <p:nvGrpSpPr>
          <p:cNvPr id="15" name="Group 25"/>
          <p:cNvGrpSpPr>
            <a:grpSpLocks/>
          </p:cNvGrpSpPr>
          <p:nvPr/>
        </p:nvGrpSpPr>
        <p:grpSpPr bwMode="auto">
          <a:xfrm>
            <a:off x="6026150" y="1524000"/>
            <a:ext cx="2517775" cy="2320925"/>
            <a:chOff x="3952" y="410"/>
            <a:chExt cx="1464" cy="1462"/>
          </a:xfrm>
        </p:grpSpPr>
        <p:grpSp>
          <p:nvGrpSpPr>
            <p:cNvPr id="16" name="Group 26"/>
            <p:cNvGrpSpPr>
              <a:grpSpLocks/>
            </p:cNvGrpSpPr>
            <p:nvPr/>
          </p:nvGrpSpPr>
          <p:grpSpPr bwMode="auto">
            <a:xfrm>
              <a:off x="3952" y="410"/>
              <a:ext cx="1464" cy="1462"/>
              <a:chOff x="3952" y="410"/>
              <a:chExt cx="1464" cy="1462"/>
            </a:xfrm>
          </p:grpSpPr>
          <p:sp>
            <p:nvSpPr>
              <p:cNvPr id="19" name="Oval 27"/>
              <p:cNvSpPr>
                <a:spLocks noChangeArrowheads="1"/>
              </p:cNvSpPr>
              <p:nvPr/>
            </p:nvSpPr>
            <p:spPr bwMode="auto">
              <a:xfrm>
                <a:off x="4464" y="576"/>
                <a:ext cx="384" cy="336"/>
              </a:xfrm>
              <a:prstGeom prst="ellipse">
                <a:avLst/>
              </a:prstGeom>
              <a:noFill/>
              <a:ln w="952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0" name="AutoShape 28"/>
              <p:cNvSpPr>
                <a:spLocks noChangeArrowheads="1"/>
              </p:cNvSpPr>
              <p:nvPr/>
            </p:nvSpPr>
            <p:spPr bwMode="auto">
              <a:xfrm>
                <a:off x="3952" y="1440"/>
                <a:ext cx="432" cy="384"/>
              </a:xfrm>
              <a:prstGeom prst="flowChartExtract">
                <a:avLst/>
              </a:prstGeom>
              <a:noFill/>
              <a:ln w="9525">
                <a:solidFill>
                  <a:srgbClr val="000000"/>
                </a:solidFill>
                <a:miter lim="800000"/>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1" name="Text Box 29"/>
              <p:cNvSpPr txBox="1">
                <a:spLocks noChangeArrowheads="1"/>
              </p:cNvSpPr>
              <p:nvPr/>
            </p:nvSpPr>
            <p:spPr bwMode="auto">
              <a:xfrm>
                <a:off x="4032" y="1584"/>
                <a:ext cx="312"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T1</a:t>
                </a:r>
              </a:p>
            </p:txBody>
          </p:sp>
          <p:sp>
            <p:nvSpPr>
              <p:cNvPr id="22" name="AutoShape 30"/>
              <p:cNvSpPr>
                <a:spLocks noChangeArrowheads="1"/>
              </p:cNvSpPr>
              <p:nvPr/>
            </p:nvSpPr>
            <p:spPr bwMode="auto">
              <a:xfrm>
                <a:off x="4448" y="1440"/>
                <a:ext cx="432" cy="384"/>
              </a:xfrm>
              <a:prstGeom prst="flowChartExtract">
                <a:avLst/>
              </a:prstGeom>
              <a:noFill/>
              <a:ln w="9525">
                <a:solidFill>
                  <a:srgbClr val="000000"/>
                </a:solidFill>
                <a:miter lim="800000"/>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3" name="Text Box 31"/>
              <p:cNvSpPr txBox="1">
                <a:spLocks noChangeArrowheads="1"/>
              </p:cNvSpPr>
              <p:nvPr/>
            </p:nvSpPr>
            <p:spPr bwMode="auto">
              <a:xfrm>
                <a:off x="4528" y="1576"/>
                <a:ext cx="312"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T2</a:t>
                </a:r>
              </a:p>
            </p:txBody>
          </p:sp>
          <p:sp>
            <p:nvSpPr>
              <p:cNvPr id="24" name="AutoShape 32"/>
              <p:cNvSpPr>
                <a:spLocks noChangeArrowheads="1"/>
              </p:cNvSpPr>
              <p:nvPr/>
            </p:nvSpPr>
            <p:spPr bwMode="auto">
              <a:xfrm>
                <a:off x="4984" y="1440"/>
                <a:ext cx="432" cy="384"/>
              </a:xfrm>
              <a:prstGeom prst="flowChartExtract">
                <a:avLst/>
              </a:prstGeom>
              <a:noFill/>
              <a:ln w="9525">
                <a:solidFill>
                  <a:srgbClr val="000000"/>
                </a:solidFill>
                <a:miter lim="800000"/>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5" name="Text Box 33"/>
              <p:cNvSpPr txBox="1">
                <a:spLocks noChangeArrowheads="1"/>
              </p:cNvSpPr>
              <p:nvPr/>
            </p:nvSpPr>
            <p:spPr bwMode="auto">
              <a:xfrm>
                <a:off x="5056" y="1584"/>
                <a:ext cx="322"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Tk</a:t>
                </a:r>
              </a:p>
            </p:txBody>
          </p:sp>
          <p:sp>
            <p:nvSpPr>
              <p:cNvPr id="26" name="Text Box 34"/>
              <p:cNvSpPr txBox="1">
                <a:spLocks noChangeArrowheads="1"/>
              </p:cNvSpPr>
              <p:nvPr/>
            </p:nvSpPr>
            <p:spPr bwMode="auto">
              <a:xfrm>
                <a:off x="4551" y="602"/>
                <a:ext cx="204"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FF"/>
                    </a:solidFill>
                    <a:effectLst/>
                    <a:uLnTx/>
                    <a:uFillTx/>
                    <a:latin typeface="Times New Roman" pitchFamily="18" charset="0"/>
                  </a:rPr>
                  <a:t>n</a:t>
                </a:r>
              </a:p>
            </p:txBody>
          </p:sp>
          <p:sp>
            <p:nvSpPr>
              <p:cNvPr id="27" name="Line 35"/>
              <p:cNvSpPr>
                <a:spLocks noChangeShapeType="1"/>
              </p:cNvSpPr>
              <p:nvPr/>
            </p:nvSpPr>
            <p:spPr bwMode="auto">
              <a:xfrm>
                <a:off x="4656" y="912"/>
                <a:ext cx="0" cy="528"/>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Line 36"/>
              <p:cNvSpPr>
                <a:spLocks noChangeShapeType="1"/>
              </p:cNvSpPr>
              <p:nvPr/>
            </p:nvSpPr>
            <p:spPr bwMode="auto">
              <a:xfrm flipH="1">
                <a:off x="4176" y="912"/>
                <a:ext cx="480" cy="528"/>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Line 37"/>
              <p:cNvSpPr>
                <a:spLocks noChangeShapeType="1"/>
              </p:cNvSpPr>
              <p:nvPr/>
            </p:nvSpPr>
            <p:spPr bwMode="auto">
              <a:xfrm>
                <a:off x="4656" y="912"/>
                <a:ext cx="528" cy="528"/>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0" name="Text Box 38"/>
              <p:cNvSpPr txBox="1">
                <a:spLocks noChangeArrowheads="1"/>
              </p:cNvSpPr>
              <p:nvPr/>
            </p:nvSpPr>
            <p:spPr bwMode="auto">
              <a:xfrm>
                <a:off x="4887" y="410"/>
                <a:ext cx="223"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T</a:t>
                </a:r>
              </a:p>
            </p:txBody>
          </p:sp>
        </p:grpSp>
        <p:sp>
          <p:nvSpPr>
            <p:cNvPr id="17" name="Text Box 39"/>
            <p:cNvSpPr txBox="1">
              <a:spLocks noChangeArrowheads="1"/>
            </p:cNvSpPr>
            <p:nvPr/>
          </p:nvSpPr>
          <p:spPr bwMode="auto">
            <a:xfrm>
              <a:off x="4791" y="1418"/>
              <a:ext cx="283"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a:t>
              </a:r>
            </a:p>
          </p:txBody>
        </p:sp>
      </p:grpSp>
    </p:spTree>
    <p:extLst>
      <p:ext uri="{BB962C8B-B14F-4D97-AF65-F5344CB8AC3E}">
        <p14:creationId xmlns:p14="http://schemas.microsoft.com/office/powerpoint/2010/main" val="298431796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树的后根遍历</a:t>
            </a:r>
          </a:p>
        </p:txBody>
      </p:sp>
      <p:sp>
        <p:nvSpPr>
          <p:cNvPr id="4" name="日期占位符 3"/>
          <p:cNvSpPr>
            <a:spLocks noGrp="1"/>
          </p:cNvSpPr>
          <p:nvPr>
            <p:ph type="dt" sz="half" idx="10"/>
          </p:nvPr>
        </p:nvSpPr>
        <p:spPr/>
        <p:txBody>
          <a:bodyPr/>
          <a:lstStyle/>
          <a:p>
            <a:fld id="{990C51D6-5BEB-41B3-A5A2-A3AFFEE615A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148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23"/>
          <p:cNvSpPr>
            <a:spLocks noChangeArrowheads="1"/>
          </p:cNvSpPr>
          <p:nvPr/>
        </p:nvSpPr>
        <p:spPr bwMode="auto">
          <a:xfrm>
            <a:off x="838200" y="1724025"/>
            <a:ext cx="7696200" cy="4752975"/>
          </a:xfrm>
          <a:prstGeom prst="rect">
            <a:avLst/>
          </a:prstGeom>
          <a:noFill/>
          <a:ln w="9525">
            <a:solidFill>
              <a:srgbClr val="003300"/>
            </a:solidFill>
            <a:miter lim="800000"/>
            <a:headEnd/>
            <a:tailEnd/>
          </a:ln>
        </p:spPr>
        <p:txBody>
          <a:bodyPr/>
          <a:lstStyle/>
          <a:p>
            <a:pPr marL="273050" indent="-273050" eaLnBrk="0" fontAlgn="base" hangingPunct="0">
              <a:spcBef>
                <a:spcPct val="20000"/>
              </a:spcBef>
              <a:spcAft>
                <a:spcPct val="0"/>
              </a:spcAft>
              <a:buClr>
                <a:srgbClr val="0BD0D9"/>
              </a:buClr>
              <a:buSzPct val="95000"/>
              <a:buFont typeface="Wingdings 2" pitchFamily="18" charset="2"/>
              <a:buNone/>
            </a:pPr>
            <a:r>
              <a:rPr lang="zh-CN" altLang="en-US" sz="2800" b="1">
                <a:solidFill>
                  <a:srgbClr val="0000CC"/>
                </a:solidFill>
                <a:latin typeface="Constantia" pitchFamily="18" charset="0"/>
              </a:rPr>
              <a:t>树的后根遍历递归算法：</a:t>
            </a: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2800" b="1">
                <a:solidFill>
                  <a:srgbClr val="0000CC"/>
                </a:solidFill>
                <a:latin typeface="Constantia" pitchFamily="18" charset="0"/>
              </a:rPr>
              <a:t>void postordertre(CSnode  * root) </a:t>
            </a: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2800" b="1">
                <a:solidFill>
                  <a:srgbClr val="0000CC"/>
                </a:solidFill>
                <a:latin typeface="Constantia" pitchFamily="18" charset="0"/>
              </a:rPr>
              <a:t>                                      /* root </a:t>
            </a:r>
            <a:r>
              <a:rPr lang="zh-CN" altLang="en-US" sz="2800" b="1">
                <a:solidFill>
                  <a:srgbClr val="0000CC"/>
                </a:solidFill>
                <a:latin typeface="Constantia" pitchFamily="18" charset="0"/>
              </a:rPr>
              <a:t>一般树的根结点 *</a:t>
            </a:r>
            <a:r>
              <a:rPr lang="en-US" altLang="zh-CN" sz="2800" b="1">
                <a:solidFill>
                  <a:srgbClr val="0000CC"/>
                </a:solidFill>
                <a:latin typeface="Constantia" pitchFamily="18" charset="0"/>
              </a:rPr>
              <a:t>/</a:t>
            </a: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2800" b="1">
                <a:solidFill>
                  <a:srgbClr val="0000CC"/>
                </a:solidFill>
                <a:latin typeface="Constantia" pitchFamily="18" charset="0"/>
              </a:rPr>
              <a:t>{  if (root!=NULL )</a:t>
            </a: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2800" b="1">
                <a:solidFill>
                  <a:srgbClr val="0000CC"/>
                </a:solidFill>
                <a:latin typeface="Constantia" pitchFamily="18" charset="0"/>
              </a:rPr>
              <a:t>     {    </a:t>
            </a:r>
            <a:r>
              <a:rPr lang="en-US" altLang="zh-CN" sz="2800" b="1">
                <a:solidFill>
                  <a:srgbClr val="FF0000"/>
                </a:solidFill>
                <a:latin typeface="Constantia" pitchFamily="18" charset="0"/>
              </a:rPr>
              <a:t>postordertre( root-&gt; firstchild);</a:t>
            </a: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2800" b="1">
                <a:solidFill>
                  <a:srgbClr val="FF0000"/>
                </a:solidFill>
                <a:latin typeface="Constantia" pitchFamily="18" charset="0"/>
              </a:rPr>
              <a:t>         postordertre( root-&gt; nextsilbing);</a:t>
            </a: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3200" b="1">
                <a:solidFill>
                  <a:srgbClr val="FF0000"/>
                </a:solidFill>
                <a:latin typeface="Times New Roman" pitchFamily="18" charset="0"/>
              </a:rPr>
              <a:t>       visit(root-&gt;data);</a:t>
            </a:r>
            <a:endParaRPr lang="en-US" altLang="zh-CN" sz="2800" b="1">
              <a:solidFill>
                <a:srgbClr val="FF0000"/>
              </a:solidFill>
              <a:latin typeface="Constantia" pitchFamily="18" charset="0"/>
            </a:endParaRP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2800" b="1">
                <a:solidFill>
                  <a:srgbClr val="0000CC"/>
                </a:solidFill>
                <a:latin typeface="Constantia" pitchFamily="18" charset="0"/>
              </a:rPr>
              <a:t>      }</a:t>
            </a:r>
          </a:p>
          <a:p>
            <a:pPr marL="273050" indent="-273050" eaLnBrk="0" fontAlgn="base" hangingPunct="0">
              <a:spcBef>
                <a:spcPct val="20000"/>
              </a:spcBef>
              <a:spcAft>
                <a:spcPct val="0"/>
              </a:spcAft>
              <a:buClr>
                <a:srgbClr val="0BD0D9"/>
              </a:buClr>
              <a:buSzPct val="95000"/>
              <a:buFont typeface="Wingdings 2" pitchFamily="18" charset="2"/>
              <a:buNone/>
            </a:pPr>
            <a:r>
              <a:rPr lang="en-US" altLang="zh-CN" sz="2800" b="1">
                <a:solidFill>
                  <a:srgbClr val="0000CC"/>
                </a:solidFill>
                <a:latin typeface="Constantia" pitchFamily="18" charset="0"/>
              </a:rPr>
              <a:t> }</a:t>
            </a:r>
            <a:endParaRPr lang="zh-CN" altLang="en-US" sz="2800" b="1">
              <a:solidFill>
                <a:srgbClr val="0000CC"/>
              </a:solidFill>
              <a:latin typeface="Constantia" pitchFamily="18" charset="0"/>
            </a:endParaRPr>
          </a:p>
        </p:txBody>
      </p:sp>
    </p:spTree>
    <p:extLst>
      <p:ext uri="{BB962C8B-B14F-4D97-AF65-F5344CB8AC3E}">
        <p14:creationId xmlns:p14="http://schemas.microsoft.com/office/powerpoint/2010/main" val="1846547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树的按层次遍历</a:t>
            </a:r>
          </a:p>
        </p:txBody>
      </p:sp>
      <p:sp>
        <p:nvSpPr>
          <p:cNvPr id="4" name="日期占位符 3"/>
          <p:cNvSpPr>
            <a:spLocks noGrp="1"/>
          </p:cNvSpPr>
          <p:nvPr>
            <p:ph type="dt" sz="half" idx="10"/>
          </p:nvPr>
        </p:nvSpPr>
        <p:spPr/>
        <p:txBody>
          <a:bodyPr/>
          <a:lstStyle/>
          <a:p>
            <a:fld id="{A629DB82-F6B3-405C-B805-FB7187469141}"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149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0"/>
          <p:cNvSpPr txBox="1">
            <a:spLocks noChangeArrowheads="1"/>
          </p:cNvSpPr>
          <p:nvPr/>
        </p:nvSpPr>
        <p:spPr bwMode="auto">
          <a:xfrm>
            <a:off x="737700" y="1968363"/>
            <a:ext cx="4291500" cy="2679837"/>
          </a:xfrm>
          <a:prstGeom prst="rect">
            <a:avLst/>
          </a:prstGeom>
          <a:noFill/>
          <a:ln w="9525">
            <a:solidFill>
              <a:srgbClr val="04617B"/>
            </a:solidFill>
            <a:miter lim="800000"/>
            <a:headEnd/>
            <a:tailEnd/>
          </a:ln>
        </p:spPr>
        <p:txBody>
          <a:bodyPr wrap="square" lIns="90000" tIns="46800" rIns="90000" bIns="46800">
            <a:spAutoFit/>
          </a:bodyPr>
          <a:lstStyle/>
          <a:p>
            <a:pPr marL="0" marR="0" lvl="0" indent="0" defTabSz="914400" eaLnBrk="1" fontAlgn="base" latinLnBrk="0" hangingPunct="1">
              <a:lnSpc>
                <a:spcPct val="150000"/>
              </a:lnSpc>
              <a:spcBef>
                <a:spcPct val="0"/>
              </a:spcBef>
              <a:spcAft>
                <a:spcPct val="0"/>
              </a:spcAft>
              <a:buClr>
                <a:srgbClr val="6600FF"/>
              </a:buClr>
              <a:buSzTx/>
              <a:buFont typeface="Wingdings" pitchFamily="2" charset="2"/>
              <a:buChar char="p"/>
              <a:tabLst/>
              <a:defRPr/>
            </a:pPr>
            <a:r>
              <a:rPr kumimoji="1" lang="zh-CN" altLang="en-US" sz="2800" b="1" i="0" u="none" strike="noStrike" kern="0" cap="none" spc="0" normalizeH="0" baseline="0" noProof="0">
                <a:ln>
                  <a:noFill/>
                </a:ln>
                <a:solidFill>
                  <a:srgbClr val="6600FF"/>
                </a:solidFill>
                <a:effectLst/>
                <a:uLnTx/>
                <a:uFillTx/>
                <a:latin typeface="Times New Roman" pitchFamily="18" charset="0"/>
              </a:rPr>
              <a:t>层次遍历</a:t>
            </a:r>
          </a:p>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2800" b="1" i="0" u="none" strike="noStrike" kern="0" cap="none" spc="0" normalizeH="0" baseline="0" noProof="0">
                <a:ln>
                  <a:noFill/>
                </a:ln>
                <a:solidFill>
                  <a:srgbClr val="00FFFF"/>
                </a:solidFill>
                <a:effectLst/>
                <a:uLnTx/>
                <a:uFillTx/>
                <a:latin typeface="Times New Roman" pitchFamily="18" charset="0"/>
              </a:rPr>
              <a:t>     </a:t>
            </a:r>
            <a:r>
              <a:rPr kumimoji="1" lang="zh-CN" altLang="en-US" sz="2800" b="1" i="0" u="none" strike="noStrike" kern="0" cap="none" spc="0" normalizeH="0" baseline="0" noProof="0">
                <a:ln>
                  <a:noFill/>
                </a:ln>
                <a:solidFill>
                  <a:srgbClr val="0000CC"/>
                </a:solidFill>
                <a:effectLst/>
                <a:uLnTx/>
                <a:uFillTx/>
                <a:latin typeface="Times New Roman" pitchFamily="18" charset="0"/>
              </a:rPr>
              <a:t>自上而下</a:t>
            </a:r>
          </a:p>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2800" b="1" i="0" u="none" strike="noStrike" kern="0" cap="none" spc="0" normalizeH="0" baseline="0" noProof="0">
                <a:ln>
                  <a:noFill/>
                </a:ln>
                <a:solidFill>
                  <a:srgbClr val="0000CC"/>
                </a:solidFill>
                <a:effectLst/>
                <a:uLnTx/>
                <a:uFillTx/>
                <a:latin typeface="Times New Roman" pitchFamily="18" charset="0"/>
              </a:rPr>
              <a:t>    自左到右</a:t>
            </a:r>
          </a:p>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2800" b="1" i="0" u="none" strike="noStrike" kern="0" cap="none" spc="0" normalizeH="0" baseline="0" noProof="0">
                <a:ln>
                  <a:noFill/>
                </a:ln>
                <a:solidFill>
                  <a:srgbClr val="0000CC"/>
                </a:solidFill>
                <a:effectLst/>
                <a:uLnTx/>
                <a:uFillTx/>
                <a:latin typeface="Times New Roman" pitchFamily="18" charset="0"/>
              </a:rPr>
              <a:t>依次访问树中的每个结点 </a:t>
            </a:r>
          </a:p>
        </p:txBody>
      </p:sp>
      <p:grpSp>
        <p:nvGrpSpPr>
          <p:cNvPr id="14" name="Group 25"/>
          <p:cNvGrpSpPr>
            <a:grpSpLocks/>
          </p:cNvGrpSpPr>
          <p:nvPr/>
        </p:nvGrpSpPr>
        <p:grpSpPr bwMode="auto">
          <a:xfrm>
            <a:off x="5711825" y="955675"/>
            <a:ext cx="2517775" cy="2320925"/>
            <a:chOff x="3952" y="410"/>
            <a:chExt cx="1464" cy="1462"/>
          </a:xfrm>
        </p:grpSpPr>
        <p:grpSp>
          <p:nvGrpSpPr>
            <p:cNvPr id="15" name="Group 26"/>
            <p:cNvGrpSpPr>
              <a:grpSpLocks/>
            </p:cNvGrpSpPr>
            <p:nvPr/>
          </p:nvGrpSpPr>
          <p:grpSpPr bwMode="auto">
            <a:xfrm>
              <a:off x="3952" y="410"/>
              <a:ext cx="1464" cy="1462"/>
              <a:chOff x="3952" y="410"/>
              <a:chExt cx="1464" cy="1462"/>
            </a:xfrm>
          </p:grpSpPr>
          <p:sp>
            <p:nvSpPr>
              <p:cNvPr id="17" name="Oval 27"/>
              <p:cNvSpPr>
                <a:spLocks noChangeArrowheads="1"/>
              </p:cNvSpPr>
              <p:nvPr/>
            </p:nvSpPr>
            <p:spPr bwMode="auto">
              <a:xfrm>
                <a:off x="4464" y="576"/>
                <a:ext cx="384" cy="336"/>
              </a:xfrm>
              <a:prstGeom prst="ellipse">
                <a:avLst/>
              </a:prstGeom>
              <a:noFill/>
              <a:ln w="952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19" name="AutoShape 28"/>
              <p:cNvSpPr>
                <a:spLocks noChangeArrowheads="1"/>
              </p:cNvSpPr>
              <p:nvPr/>
            </p:nvSpPr>
            <p:spPr bwMode="auto">
              <a:xfrm>
                <a:off x="3952" y="1440"/>
                <a:ext cx="432" cy="384"/>
              </a:xfrm>
              <a:prstGeom prst="flowChartExtract">
                <a:avLst/>
              </a:prstGeom>
              <a:noFill/>
              <a:ln w="9525">
                <a:solidFill>
                  <a:srgbClr val="000000"/>
                </a:solidFill>
                <a:miter lim="800000"/>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0" name="Text Box 29"/>
              <p:cNvSpPr txBox="1">
                <a:spLocks noChangeArrowheads="1"/>
              </p:cNvSpPr>
              <p:nvPr/>
            </p:nvSpPr>
            <p:spPr bwMode="auto">
              <a:xfrm>
                <a:off x="4032" y="1584"/>
                <a:ext cx="312"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T1</a:t>
                </a:r>
              </a:p>
            </p:txBody>
          </p:sp>
          <p:sp>
            <p:nvSpPr>
              <p:cNvPr id="21" name="AutoShape 30"/>
              <p:cNvSpPr>
                <a:spLocks noChangeArrowheads="1"/>
              </p:cNvSpPr>
              <p:nvPr/>
            </p:nvSpPr>
            <p:spPr bwMode="auto">
              <a:xfrm>
                <a:off x="4448" y="1440"/>
                <a:ext cx="432" cy="384"/>
              </a:xfrm>
              <a:prstGeom prst="flowChartExtract">
                <a:avLst/>
              </a:prstGeom>
              <a:noFill/>
              <a:ln w="9525">
                <a:solidFill>
                  <a:srgbClr val="000000"/>
                </a:solidFill>
                <a:miter lim="800000"/>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2" name="Text Box 31"/>
              <p:cNvSpPr txBox="1">
                <a:spLocks noChangeArrowheads="1"/>
              </p:cNvSpPr>
              <p:nvPr/>
            </p:nvSpPr>
            <p:spPr bwMode="auto">
              <a:xfrm>
                <a:off x="4528" y="1576"/>
                <a:ext cx="312"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T2</a:t>
                </a:r>
              </a:p>
            </p:txBody>
          </p:sp>
          <p:sp>
            <p:nvSpPr>
              <p:cNvPr id="23" name="AutoShape 32"/>
              <p:cNvSpPr>
                <a:spLocks noChangeArrowheads="1"/>
              </p:cNvSpPr>
              <p:nvPr/>
            </p:nvSpPr>
            <p:spPr bwMode="auto">
              <a:xfrm>
                <a:off x="4984" y="1440"/>
                <a:ext cx="432" cy="384"/>
              </a:xfrm>
              <a:prstGeom prst="flowChartExtract">
                <a:avLst/>
              </a:prstGeom>
              <a:noFill/>
              <a:ln w="9525">
                <a:solidFill>
                  <a:srgbClr val="000000"/>
                </a:solidFill>
                <a:miter lim="800000"/>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24" name="Text Box 33"/>
              <p:cNvSpPr txBox="1">
                <a:spLocks noChangeArrowheads="1"/>
              </p:cNvSpPr>
              <p:nvPr/>
            </p:nvSpPr>
            <p:spPr bwMode="auto">
              <a:xfrm>
                <a:off x="5056" y="1584"/>
                <a:ext cx="322"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Tk</a:t>
                </a:r>
              </a:p>
            </p:txBody>
          </p:sp>
          <p:sp>
            <p:nvSpPr>
              <p:cNvPr id="25" name="Text Box 34"/>
              <p:cNvSpPr txBox="1">
                <a:spLocks noChangeArrowheads="1"/>
              </p:cNvSpPr>
              <p:nvPr/>
            </p:nvSpPr>
            <p:spPr bwMode="auto">
              <a:xfrm>
                <a:off x="4551" y="602"/>
                <a:ext cx="204"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n</a:t>
                </a:r>
              </a:p>
            </p:txBody>
          </p:sp>
          <p:sp>
            <p:nvSpPr>
              <p:cNvPr id="26" name="Line 35"/>
              <p:cNvSpPr>
                <a:spLocks noChangeShapeType="1"/>
              </p:cNvSpPr>
              <p:nvPr/>
            </p:nvSpPr>
            <p:spPr bwMode="auto">
              <a:xfrm>
                <a:off x="4656" y="912"/>
                <a:ext cx="0" cy="528"/>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7" name="Line 36"/>
              <p:cNvSpPr>
                <a:spLocks noChangeShapeType="1"/>
              </p:cNvSpPr>
              <p:nvPr/>
            </p:nvSpPr>
            <p:spPr bwMode="auto">
              <a:xfrm flipH="1">
                <a:off x="4176" y="912"/>
                <a:ext cx="480" cy="528"/>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Line 37"/>
              <p:cNvSpPr>
                <a:spLocks noChangeShapeType="1"/>
              </p:cNvSpPr>
              <p:nvPr/>
            </p:nvSpPr>
            <p:spPr bwMode="auto">
              <a:xfrm>
                <a:off x="4656" y="912"/>
                <a:ext cx="528" cy="528"/>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Text Box 38"/>
              <p:cNvSpPr txBox="1">
                <a:spLocks noChangeArrowheads="1"/>
              </p:cNvSpPr>
              <p:nvPr/>
            </p:nvSpPr>
            <p:spPr bwMode="auto">
              <a:xfrm>
                <a:off x="4887" y="410"/>
                <a:ext cx="223"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T</a:t>
                </a:r>
              </a:p>
            </p:txBody>
          </p:sp>
        </p:grpSp>
        <p:sp>
          <p:nvSpPr>
            <p:cNvPr id="16" name="Text Box 39"/>
            <p:cNvSpPr txBox="1">
              <a:spLocks noChangeArrowheads="1"/>
            </p:cNvSpPr>
            <p:nvPr/>
          </p:nvSpPr>
          <p:spPr bwMode="auto">
            <a:xfrm>
              <a:off x="4791" y="1418"/>
              <a:ext cx="283" cy="288"/>
            </a:xfrm>
            <a:prstGeom prst="rect">
              <a:avLst/>
            </a:prstGeom>
            <a:noFill/>
            <a:ln w="9525">
              <a:noFill/>
              <a:miter lim="800000"/>
              <a:headEnd/>
              <a:tailEnd/>
            </a:ln>
          </p:spPr>
          <p:txBody>
            <a:bodyPr wrap="none"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Times New Roman" pitchFamily="18" charset="0"/>
                </a:rPr>
                <a:t>…</a:t>
              </a:r>
            </a:p>
          </p:txBody>
        </p:sp>
      </p:grpSp>
      <p:grpSp>
        <p:nvGrpSpPr>
          <p:cNvPr id="30" name="Group 59"/>
          <p:cNvGrpSpPr>
            <a:grpSpLocks/>
          </p:cNvGrpSpPr>
          <p:nvPr/>
        </p:nvGrpSpPr>
        <p:grpSpPr bwMode="auto">
          <a:xfrm>
            <a:off x="4748212" y="3355975"/>
            <a:ext cx="4392613" cy="2952750"/>
            <a:chOff x="2666" y="799"/>
            <a:chExt cx="2767" cy="1860"/>
          </a:xfrm>
        </p:grpSpPr>
        <p:sp>
          <p:nvSpPr>
            <p:cNvPr id="31" name="Line 56"/>
            <p:cNvSpPr>
              <a:spLocks noChangeShapeType="1"/>
            </p:cNvSpPr>
            <p:nvPr/>
          </p:nvSpPr>
          <p:spPr bwMode="auto">
            <a:xfrm>
              <a:off x="4934" y="1525"/>
              <a:ext cx="272" cy="317"/>
            </a:xfrm>
            <a:prstGeom prst="line">
              <a:avLst/>
            </a:pr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2" name="Line 55"/>
            <p:cNvSpPr>
              <a:spLocks noChangeShapeType="1"/>
            </p:cNvSpPr>
            <p:nvPr/>
          </p:nvSpPr>
          <p:spPr bwMode="auto">
            <a:xfrm flipH="1">
              <a:off x="4390" y="1525"/>
              <a:ext cx="317" cy="317"/>
            </a:xfrm>
            <a:prstGeom prst="line">
              <a:avLst/>
            </a:pr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3" name="Line 13"/>
            <p:cNvSpPr>
              <a:spLocks noChangeShapeType="1"/>
            </p:cNvSpPr>
            <p:nvPr/>
          </p:nvSpPr>
          <p:spPr bwMode="auto">
            <a:xfrm>
              <a:off x="4127" y="1109"/>
              <a:ext cx="0" cy="21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4" name="Line 14"/>
            <p:cNvSpPr>
              <a:spLocks noChangeShapeType="1"/>
            </p:cNvSpPr>
            <p:nvPr/>
          </p:nvSpPr>
          <p:spPr bwMode="auto">
            <a:xfrm flipH="1">
              <a:off x="3346" y="1048"/>
              <a:ext cx="668" cy="295"/>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5" name="Line 15"/>
            <p:cNvSpPr>
              <a:spLocks noChangeShapeType="1"/>
            </p:cNvSpPr>
            <p:nvPr/>
          </p:nvSpPr>
          <p:spPr bwMode="auto">
            <a:xfrm>
              <a:off x="4240" y="1048"/>
              <a:ext cx="512" cy="25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36" name="Group 16"/>
            <p:cNvGrpSpPr>
              <a:grpSpLocks/>
            </p:cNvGrpSpPr>
            <p:nvPr/>
          </p:nvGrpSpPr>
          <p:grpSpPr bwMode="auto">
            <a:xfrm>
              <a:off x="3957" y="799"/>
              <a:ext cx="377" cy="318"/>
              <a:chOff x="2880" y="1104"/>
              <a:chExt cx="367" cy="336"/>
            </a:xfrm>
          </p:grpSpPr>
          <p:sp>
            <p:nvSpPr>
              <p:cNvPr id="73" name="Oval 1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74" name="Text Box 18"/>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FF3300"/>
                    </a:solidFill>
                    <a:effectLst/>
                    <a:uLnTx/>
                    <a:uFillTx/>
                    <a:latin typeface="隶书" pitchFamily="49" charset="-122"/>
                    <a:ea typeface="隶书" pitchFamily="49" charset="-122"/>
                  </a:rPr>
                  <a:t>A</a:t>
                </a:r>
              </a:p>
            </p:txBody>
          </p:sp>
        </p:grpSp>
        <p:grpSp>
          <p:nvGrpSpPr>
            <p:cNvPr id="37" name="Group 19"/>
            <p:cNvGrpSpPr>
              <a:grpSpLocks/>
            </p:cNvGrpSpPr>
            <p:nvPr/>
          </p:nvGrpSpPr>
          <p:grpSpPr bwMode="auto">
            <a:xfrm>
              <a:off x="3957" y="1297"/>
              <a:ext cx="377" cy="318"/>
              <a:chOff x="2880" y="1104"/>
              <a:chExt cx="367" cy="336"/>
            </a:xfrm>
          </p:grpSpPr>
          <p:sp>
            <p:nvSpPr>
              <p:cNvPr id="71" name="Oval 2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72" name="Text Box 21"/>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隶书" pitchFamily="49" charset="-122"/>
                    <a:ea typeface="隶书" pitchFamily="49" charset="-122"/>
                  </a:rPr>
                  <a:t>C</a:t>
                </a:r>
              </a:p>
            </p:txBody>
          </p:sp>
        </p:grpSp>
        <p:grpSp>
          <p:nvGrpSpPr>
            <p:cNvPr id="38" name="Group 22"/>
            <p:cNvGrpSpPr>
              <a:grpSpLocks/>
            </p:cNvGrpSpPr>
            <p:nvPr/>
          </p:nvGrpSpPr>
          <p:grpSpPr bwMode="auto">
            <a:xfrm>
              <a:off x="3231" y="1298"/>
              <a:ext cx="377" cy="318"/>
              <a:chOff x="2880" y="1104"/>
              <a:chExt cx="367" cy="336"/>
            </a:xfrm>
          </p:grpSpPr>
          <p:sp>
            <p:nvSpPr>
              <p:cNvPr id="69" name="Oval 2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70" name="Text Box 24"/>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6600FF"/>
                    </a:solidFill>
                    <a:effectLst/>
                    <a:uLnTx/>
                    <a:uFillTx/>
                    <a:latin typeface="隶书" pitchFamily="49" charset="-122"/>
                    <a:ea typeface="隶书" pitchFamily="49" charset="-122"/>
                  </a:rPr>
                  <a:t>B</a:t>
                </a:r>
              </a:p>
            </p:txBody>
          </p:sp>
        </p:grpSp>
        <p:grpSp>
          <p:nvGrpSpPr>
            <p:cNvPr id="39" name="Group 25"/>
            <p:cNvGrpSpPr>
              <a:grpSpLocks/>
            </p:cNvGrpSpPr>
            <p:nvPr/>
          </p:nvGrpSpPr>
          <p:grpSpPr bwMode="auto">
            <a:xfrm>
              <a:off x="4655" y="1284"/>
              <a:ext cx="377" cy="318"/>
              <a:chOff x="2880" y="1104"/>
              <a:chExt cx="367" cy="336"/>
            </a:xfrm>
          </p:grpSpPr>
          <p:sp>
            <p:nvSpPr>
              <p:cNvPr id="67" name="Oval 2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68" name="Text Box 27"/>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D</a:t>
                </a:r>
              </a:p>
            </p:txBody>
          </p:sp>
        </p:grpSp>
        <p:sp>
          <p:nvSpPr>
            <p:cNvPr id="40" name="Line 28"/>
            <p:cNvSpPr>
              <a:spLocks noChangeShapeType="1"/>
            </p:cNvSpPr>
            <p:nvPr/>
          </p:nvSpPr>
          <p:spPr bwMode="auto">
            <a:xfrm>
              <a:off x="3401" y="2153"/>
              <a:ext cx="0" cy="21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1" name="Line 29"/>
            <p:cNvSpPr>
              <a:spLocks noChangeShapeType="1"/>
            </p:cNvSpPr>
            <p:nvPr/>
          </p:nvSpPr>
          <p:spPr bwMode="auto">
            <a:xfrm flipH="1">
              <a:off x="2836" y="2092"/>
              <a:ext cx="452" cy="311"/>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2" name="Line 30"/>
            <p:cNvSpPr>
              <a:spLocks noChangeShapeType="1"/>
            </p:cNvSpPr>
            <p:nvPr/>
          </p:nvSpPr>
          <p:spPr bwMode="auto">
            <a:xfrm>
              <a:off x="3514" y="2092"/>
              <a:ext cx="339" cy="249"/>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43" name="Group 31"/>
            <p:cNvGrpSpPr>
              <a:grpSpLocks/>
            </p:cNvGrpSpPr>
            <p:nvPr/>
          </p:nvGrpSpPr>
          <p:grpSpPr bwMode="auto">
            <a:xfrm>
              <a:off x="3231" y="1843"/>
              <a:ext cx="377" cy="318"/>
              <a:chOff x="2880" y="1104"/>
              <a:chExt cx="367" cy="336"/>
            </a:xfrm>
          </p:grpSpPr>
          <p:sp>
            <p:nvSpPr>
              <p:cNvPr id="65" name="Oval 3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66" name="Text Box 33"/>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6600FF"/>
                    </a:solidFill>
                    <a:effectLst/>
                    <a:uLnTx/>
                    <a:uFillTx/>
                    <a:latin typeface="隶书" pitchFamily="49" charset="-122"/>
                    <a:ea typeface="隶书" pitchFamily="49" charset="-122"/>
                  </a:rPr>
                  <a:t>E</a:t>
                </a:r>
              </a:p>
            </p:txBody>
          </p:sp>
        </p:grpSp>
        <p:grpSp>
          <p:nvGrpSpPr>
            <p:cNvPr id="44" name="Group 34"/>
            <p:cNvGrpSpPr>
              <a:grpSpLocks/>
            </p:cNvGrpSpPr>
            <p:nvPr/>
          </p:nvGrpSpPr>
          <p:grpSpPr bwMode="auto">
            <a:xfrm>
              <a:off x="3231" y="2341"/>
              <a:ext cx="377" cy="318"/>
              <a:chOff x="2880" y="1104"/>
              <a:chExt cx="367" cy="336"/>
            </a:xfrm>
          </p:grpSpPr>
          <p:sp>
            <p:nvSpPr>
              <p:cNvPr id="63" name="Oval 3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64" name="Text Box 36"/>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6600FF"/>
                    </a:solidFill>
                    <a:effectLst/>
                    <a:uLnTx/>
                    <a:uFillTx/>
                    <a:latin typeface="隶书" pitchFamily="49" charset="-122"/>
                    <a:ea typeface="隶书" pitchFamily="49" charset="-122"/>
                  </a:rPr>
                  <a:t>I</a:t>
                </a:r>
              </a:p>
            </p:txBody>
          </p:sp>
        </p:grpSp>
        <p:grpSp>
          <p:nvGrpSpPr>
            <p:cNvPr id="45" name="Group 37"/>
            <p:cNvGrpSpPr>
              <a:grpSpLocks/>
            </p:cNvGrpSpPr>
            <p:nvPr/>
          </p:nvGrpSpPr>
          <p:grpSpPr bwMode="auto">
            <a:xfrm>
              <a:off x="2666" y="2341"/>
              <a:ext cx="377" cy="318"/>
              <a:chOff x="2880" y="1104"/>
              <a:chExt cx="367" cy="336"/>
            </a:xfrm>
          </p:grpSpPr>
          <p:sp>
            <p:nvSpPr>
              <p:cNvPr id="61" name="Oval 3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62" name="Text Box 39"/>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6600FF"/>
                    </a:solidFill>
                    <a:effectLst/>
                    <a:uLnTx/>
                    <a:uFillTx/>
                    <a:latin typeface="隶书" pitchFamily="49" charset="-122"/>
                    <a:ea typeface="隶书" pitchFamily="49" charset="-122"/>
                  </a:rPr>
                  <a:t>H</a:t>
                </a:r>
              </a:p>
            </p:txBody>
          </p:sp>
        </p:grpSp>
        <p:grpSp>
          <p:nvGrpSpPr>
            <p:cNvPr id="46" name="Group 40"/>
            <p:cNvGrpSpPr>
              <a:grpSpLocks/>
            </p:cNvGrpSpPr>
            <p:nvPr/>
          </p:nvGrpSpPr>
          <p:grpSpPr bwMode="auto">
            <a:xfrm>
              <a:off x="3740" y="2341"/>
              <a:ext cx="377" cy="318"/>
              <a:chOff x="2880" y="1104"/>
              <a:chExt cx="367" cy="336"/>
            </a:xfrm>
          </p:grpSpPr>
          <p:sp>
            <p:nvSpPr>
              <p:cNvPr id="59" name="Oval 4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60" name="Text Box 42"/>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6600FF"/>
                    </a:solidFill>
                    <a:effectLst/>
                    <a:uLnTx/>
                    <a:uFillTx/>
                    <a:latin typeface="隶书" pitchFamily="49" charset="-122"/>
                    <a:ea typeface="隶书" pitchFamily="49" charset="-122"/>
                  </a:rPr>
                  <a:t>J</a:t>
                </a:r>
              </a:p>
            </p:txBody>
          </p:sp>
        </p:grpSp>
        <p:grpSp>
          <p:nvGrpSpPr>
            <p:cNvPr id="47" name="Group 43"/>
            <p:cNvGrpSpPr>
              <a:grpSpLocks/>
            </p:cNvGrpSpPr>
            <p:nvPr/>
          </p:nvGrpSpPr>
          <p:grpSpPr bwMode="auto">
            <a:xfrm>
              <a:off x="4208" y="1797"/>
              <a:ext cx="377" cy="318"/>
              <a:chOff x="2880" y="1104"/>
              <a:chExt cx="367" cy="336"/>
            </a:xfrm>
          </p:grpSpPr>
          <p:sp>
            <p:nvSpPr>
              <p:cNvPr id="57" name="Oval 4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58" name="Text Box 45"/>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C</a:t>
                </a:r>
              </a:p>
            </p:txBody>
          </p:sp>
        </p:grpSp>
        <p:sp>
          <p:nvSpPr>
            <p:cNvPr id="48" name="Line 46"/>
            <p:cNvSpPr>
              <a:spLocks noChangeShapeType="1"/>
            </p:cNvSpPr>
            <p:nvPr/>
          </p:nvSpPr>
          <p:spPr bwMode="auto">
            <a:xfrm>
              <a:off x="5226" y="2153"/>
              <a:ext cx="0" cy="212"/>
            </a:xfrm>
            <a:prstGeom prst="line">
              <a:avLst/>
            </a:prstGeom>
            <a:noFill/>
            <a:ln w="12700" cap="rnd">
              <a:solidFill>
                <a:srgbClr val="9933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49" name="Group 47"/>
            <p:cNvGrpSpPr>
              <a:grpSpLocks/>
            </p:cNvGrpSpPr>
            <p:nvPr/>
          </p:nvGrpSpPr>
          <p:grpSpPr bwMode="auto">
            <a:xfrm>
              <a:off x="5056" y="1843"/>
              <a:ext cx="377" cy="318"/>
              <a:chOff x="2880" y="1104"/>
              <a:chExt cx="367" cy="336"/>
            </a:xfrm>
          </p:grpSpPr>
          <p:sp>
            <p:nvSpPr>
              <p:cNvPr id="55" name="Oval 4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56" name="Text Box 49"/>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G</a:t>
                </a:r>
              </a:p>
            </p:txBody>
          </p:sp>
        </p:grpSp>
        <p:grpSp>
          <p:nvGrpSpPr>
            <p:cNvPr id="50" name="Group 50"/>
            <p:cNvGrpSpPr>
              <a:grpSpLocks/>
            </p:cNvGrpSpPr>
            <p:nvPr/>
          </p:nvGrpSpPr>
          <p:grpSpPr bwMode="auto">
            <a:xfrm>
              <a:off x="5056" y="2341"/>
              <a:ext cx="377" cy="318"/>
              <a:chOff x="2880" y="1104"/>
              <a:chExt cx="367" cy="336"/>
            </a:xfrm>
          </p:grpSpPr>
          <p:sp>
            <p:nvSpPr>
              <p:cNvPr id="53" name="Oval 5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54" name="Text Box 52"/>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K</a:t>
                </a:r>
              </a:p>
            </p:txBody>
          </p:sp>
        </p:grpSp>
        <p:cxnSp>
          <p:nvCxnSpPr>
            <p:cNvPr id="51" name="AutoShape 53"/>
            <p:cNvCxnSpPr>
              <a:cxnSpLocks noChangeShapeType="1"/>
              <a:stCxn id="69" idx="4"/>
              <a:endCxn id="66" idx="0"/>
            </p:cNvCxnSpPr>
            <p:nvPr/>
          </p:nvCxnSpPr>
          <p:spPr bwMode="auto">
            <a:xfrm>
              <a:off x="3394" y="1616"/>
              <a:ext cx="50" cy="227"/>
            </a:xfrm>
            <a:prstGeom prst="straightConnector1">
              <a:avLst/>
            </a:prstGeom>
            <a:noFill/>
            <a:ln w="12700" cap="rnd">
              <a:noFill/>
              <a:round/>
              <a:headEnd/>
              <a:tailEnd/>
            </a:ln>
          </p:spPr>
        </p:cxnSp>
        <p:sp>
          <p:nvSpPr>
            <p:cNvPr id="52" name="Line 54"/>
            <p:cNvSpPr>
              <a:spLocks noChangeShapeType="1"/>
            </p:cNvSpPr>
            <p:nvPr/>
          </p:nvSpPr>
          <p:spPr bwMode="auto">
            <a:xfrm>
              <a:off x="3368" y="1615"/>
              <a:ext cx="0" cy="227"/>
            </a:xfrm>
            <a:prstGeom prst="line">
              <a:avLst/>
            </a:pr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Tree>
    <p:extLst>
      <p:ext uri="{BB962C8B-B14F-4D97-AF65-F5344CB8AC3E}">
        <p14:creationId xmlns:p14="http://schemas.microsoft.com/office/powerpoint/2010/main" val="3535043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树的按层次遍历</a:t>
            </a:r>
          </a:p>
        </p:txBody>
      </p:sp>
      <p:sp>
        <p:nvSpPr>
          <p:cNvPr id="4" name="日期占位符 3"/>
          <p:cNvSpPr>
            <a:spLocks noGrp="1"/>
          </p:cNvSpPr>
          <p:nvPr>
            <p:ph type="dt" sz="half" idx="10"/>
          </p:nvPr>
        </p:nvSpPr>
        <p:spPr/>
        <p:txBody>
          <a:bodyPr/>
          <a:lstStyle/>
          <a:p>
            <a:fld id="{097D9A79-A6F6-4234-9AC0-9FCECC20F5C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150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5"/>
          <p:cNvSpPr>
            <a:spLocks noChangeArrowheads="1"/>
          </p:cNvSpPr>
          <p:nvPr/>
        </p:nvSpPr>
        <p:spPr bwMode="auto">
          <a:xfrm>
            <a:off x="700087" y="1828800"/>
            <a:ext cx="8139113" cy="4419600"/>
          </a:xfrm>
          <a:prstGeom prst="rect">
            <a:avLst/>
          </a:prstGeom>
          <a:noFill/>
          <a:ln w="9525">
            <a:solidFill>
              <a:srgbClr val="003300"/>
            </a:solidFill>
            <a:miter lim="800000"/>
            <a:headEnd/>
            <a:tailEnd/>
          </a:ln>
        </p:spPr>
        <p:txBody>
          <a:bodyPr/>
          <a:lstStyle/>
          <a:p>
            <a:pPr marL="273050" indent="-273050" eaLnBrk="0" fontAlgn="base" hangingPunct="0">
              <a:lnSpc>
                <a:spcPct val="150000"/>
              </a:lnSpc>
              <a:spcBef>
                <a:spcPct val="20000"/>
              </a:spcBef>
              <a:spcAft>
                <a:spcPct val="0"/>
              </a:spcAft>
              <a:buClr>
                <a:srgbClr val="0BD0D9"/>
              </a:buClr>
              <a:buSzPct val="95000"/>
              <a:buFont typeface="Wingdings 2" pitchFamily="18" charset="2"/>
              <a:buNone/>
            </a:pPr>
            <a:r>
              <a:rPr lang="zh-CN" altLang="en-US" sz="2400" b="1">
                <a:solidFill>
                  <a:srgbClr val="FF0000"/>
                </a:solidFill>
                <a:latin typeface="Constantia" pitchFamily="18" charset="0"/>
              </a:rPr>
              <a:t>算法思想：</a:t>
            </a:r>
          </a:p>
          <a:p>
            <a:pPr marL="639763" lvl="1" indent="-246063" eaLnBrk="0" fontAlgn="base" hangingPunct="0">
              <a:lnSpc>
                <a:spcPct val="150000"/>
              </a:lnSpc>
              <a:spcBef>
                <a:spcPct val="20000"/>
              </a:spcBef>
              <a:spcAft>
                <a:spcPct val="0"/>
              </a:spcAft>
              <a:buClr>
                <a:srgbClr val="0F6FC6"/>
              </a:buClr>
              <a:buSzPct val="85000"/>
              <a:buFont typeface="Wingdings 2" pitchFamily="18" charset="2"/>
              <a:buNone/>
            </a:pPr>
            <a:r>
              <a:rPr lang="zh-CN" altLang="en-US" sz="2400" b="1">
                <a:solidFill>
                  <a:srgbClr val="0000FF"/>
                </a:solidFill>
                <a:latin typeface="Constantia" pitchFamily="18" charset="0"/>
              </a:rPr>
              <a:t>算法运用队列做辅助存储结构。其步骤为：</a:t>
            </a:r>
          </a:p>
          <a:p>
            <a:pPr marL="639763" lvl="1" indent="-246063" eaLnBrk="0" fontAlgn="base" hangingPunct="0">
              <a:lnSpc>
                <a:spcPct val="150000"/>
              </a:lnSpc>
              <a:spcBef>
                <a:spcPct val="20000"/>
              </a:spcBef>
              <a:spcAft>
                <a:spcPct val="0"/>
              </a:spcAft>
              <a:buClr>
                <a:srgbClr val="0F6FC6"/>
              </a:buClr>
              <a:buSzPct val="85000"/>
              <a:buFont typeface="Wingdings 2" pitchFamily="18" charset="2"/>
              <a:buNone/>
            </a:pPr>
            <a:r>
              <a:rPr lang="zh-CN" altLang="en-US" sz="2400" b="1">
                <a:solidFill>
                  <a:srgbClr val="0000FF"/>
                </a:solidFill>
                <a:latin typeface="Constantia" pitchFamily="18" charset="0"/>
              </a:rPr>
              <a:t>（</a:t>
            </a:r>
            <a:r>
              <a:rPr lang="en-US" altLang="zh-CN" sz="2400" b="1">
                <a:solidFill>
                  <a:srgbClr val="0000FF"/>
                </a:solidFill>
                <a:latin typeface="Constantia" pitchFamily="18" charset="0"/>
              </a:rPr>
              <a:t>1</a:t>
            </a:r>
            <a:r>
              <a:rPr lang="zh-CN" altLang="en-US" sz="2400" b="1">
                <a:solidFill>
                  <a:srgbClr val="0000FF"/>
                </a:solidFill>
                <a:latin typeface="Constantia" pitchFamily="18" charset="0"/>
              </a:rPr>
              <a:t>）首先将树根入队列；</a:t>
            </a:r>
          </a:p>
          <a:p>
            <a:pPr marL="639763" lvl="1" indent="-246063" eaLnBrk="0" fontAlgn="base" hangingPunct="0">
              <a:lnSpc>
                <a:spcPct val="150000"/>
              </a:lnSpc>
              <a:spcBef>
                <a:spcPct val="20000"/>
              </a:spcBef>
              <a:spcAft>
                <a:spcPct val="0"/>
              </a:spcAft>
              <a:buClr>
                <a:srgbClr val="0F6FC6"/>
              </a:buClr>
              <a:buSzPct val="85000"/>
              <a:buFont typeface="Wingdings 2" pitchFamily="18" charset="2"/>
              <a:buNone/>
            </a:pPr>
            <a:r>
              <a:rPr lang="zh-CN" altLang="en-US" sz="2400" b="1">
                <a:solidFill>
                  <a:srgbClr val="0000FF"/>
                </a:solidFill>
                <a:latin typeface="Constantia" pitchFamily="18" charset="0"/>
              </a:rPr>
              <a:t>（</a:t>
            </a:r>
            <a:r>
              <a:rPr lang="en-US" altLang="zh-CN" sz="2400" b="1">
                <a:solidFill>
                  <a:srgbClr val="0000FF"/>
                </a:solidFill>
                <a:latin typeface="Constantia" pitchFamily="18" charset="0"/>
              </a:rPr>
              <a:t>2</a:t>
            </a:r>
            <a:r>
              <a:rPr lang="zh-CN" altLang="en-US" sz="2400" b="1">
                <a:solidFill>
                  <a:srgbClr val="0000FF"/>
                </a:solidFill>
                <a:latin typeface="Constantia" pitchFamily="18" charset="0"/>
              </a:rPr>
              <a:t>）出队一个结点便立即访问之，然后将它的非空的第一个孩子结点进队，同时将它的所有非空兄弟结点逐一进队；</a:t>
            </a:r>
          </a:p>
          <a:p>
            <a:pPr marL="639763" lvl="1" indent="-246063" eaLnBrk="0" fontAlgn="base" hangingPunct="0">
              <a:lnSpc>
                <a:spcPct val="150000"/>
              </a:lnSpc>
              <a:spcBef>
                <a:spcPct val="20000"/>
              </a:spcBef>
              <a:spcAft>
                <a:spcPct val="0"/>
              </a:spcAft>
              <a:buClr>
                <a:srgbClr val="0F6FC6"/>
              </a:buClr>
              <a:buSzPct val="85000"/>
              <a:buFont typeface="Wingdings 2" pitchFamily="18" charset="2"/>
              <a:buNone/>
            </a:pPr>
            <a:r>
              <a:rPr lang="zh-CN" altLang="en-US" sz="2400" b="1">
                <a:solidFill>
                  <a:srgbClr val="0000FF"/>
                </a:solidFill>
                <a:latin typeface="Constantia" pitchFamily="18" charset="0"/>
              </a:rPr>
              <a:t>（</a:t>
            </a:r>
            <a:r>
              <a:rPr lang="en-US" altLang="zh-CN" sz="2400" b="1">
                <a:solidFill>
                  <a:srgbClr val="0000FF"/>
                </a:solidFill>
                <a:latin typeface="Constantia" pitchFamily="18" charset="0"/>
              </a:rPr>
              <a:t>3</a:t>
            </a:r>
            <a:r>
              <a:rPr lang="zh-CN" altLang="en-US" sz="2400" b="1">
                <a:solidFill>
                  <a:srgbClr val="0000FF"/>
                </a:solidFill>
                <a:latin typeface="Constantia" pitchFamily="18" charset="0"/>
              </a:rPr>
              <a:t>）重复（</a:t>
            </a:r>
            <a:r>
              <a:rPr lang="en-US" altLang="zh-CN" sz="2400" b="1">
                <a:solidFill>
                  <a:srgbClr val="0000FF"/>
                </a:solidFill>
                <a:latin typeface="Constantia" pitchFamily="18" charset="0"/>
              </a:rPr>
              <a:t>2</a:t>
            </a:r>
            <a:r>
              <a:rPr lang="zh-CN" altLang="en-US" sz="2400" b="1">
                <a:solidFill>
                  <a:srgbClr val="0000FF"/>
                </a:solidFill>
                <a:latin typeface="Constantia" pitchFamily="18" charset="0"/>
              </a:rPr>
              <a:t>），这样便实现了树按层遍历。 </a:t>
            </a:r>
          </a:p>
        </p:txBody>
      </p:sp>
    </p:spTree>
    <p:extLst>
      <p:ext uri="{BB962C8B-B14F-4D97-AF65-F5344CB8AC3E}">
        <p14:creationId xmlns:p14="http://schemas.microsoft.com/office/powerpoint/2010/main" val="148004400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森林的组成部分</a:t>
            </a:r>
          </a:p>
        </p:txBody>
      </p:sp>
      <p:sp>
        <p:nvSpPr>
          <p:cNvPr id="4" name="日期占位符 3"/>
          <p:cNvSpPr>
            <a:spLocks noGrp="1"/>
          </p:cNvSpPr>
          <p:nvPr>
            <p:ph type="dt" sz="half" idx="10"/>
          </p:nvPr>
        </p:nvSpPr>
        <p:spPr/>
        <p:txBody>
          <a:bodyPr/>
          <a:lstStyle/>
          <a:p>
            <a:fld id="{70D295D7-3FE1-466A-BC15-4675F567358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151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62" name="Text Box 2"/>
          <p:cNvSpPr txBox="1">
            <a:spLocks noChangeArrowheads="1"/>
          </p:cNvSpPr>
          <p:nvPr/>
        </p:nvSpPr>
        <p:spPr bwMode="auto">
          <a:xfrm>
            <a:off x="406400" y="838200"/>
            <a:ext cx="4094163" cy="655320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4000" dirty="0">
                <a:solidFill>
                  <a:srgbClr val="000000"/>
                </a:solidFill>
                <a:latin typeface="Times New Roman" pitchFamily="18" charset="0"/>
              </a:rPr>
              <a:t>            </a:t>
            </a:r>
          </a:p>
          <a:p>
            <a:pPr fontAlgn="base">
              <a:spcBef>
                <a:spcPct val="0"/>
              </a:spcBef>
              <a:spcAft>
                <a:spcPct val="0"/>
              </a:spcAft>
            </a:pPr>
            <a:endParaRPr kumimoji="1" lang="zh-CN" altLang="en-US" sz="4000" dirty="0">
              <a:solidFill>
                <a:srgbClr val="000000"/>
              </a:solidFill>
              <a:latin typeface="Times New Roman" pitchFamily="18" charset="0"/>
            </a:endParaRPr>
          </a:p>
          <a:p>
            <a:pPr fontAlgn="base">
              <a:spcBef>
                <a:spcPct val="0"/>
              </a:spcBef>
              <a:spcAft>
                <a:spcPct val="0"/>
              </a:spcAft>
            </a:pPr>
            <a:r>
              <a:rPr kumimoji="1" lang="zh-CN" altLang="en-US" sz="4000" dirty="0">
                <a:solidFill>
                  <a:srgbClr val="000000"/>
                </a:solidFill>
                <a:latin typeface="Times New Roman" pitchFamily="18" charset="0"/>
              </a:rPr>
              <a:t>   </a:t>
            </a:r>
            <a:r>
              <a:rPr kumimoji="1" lang="en-US" altLang="zh-CN" sz="4000" dirty="0">
                <a:solidFill>
                  <a:srgbClr val="000000"/>
                </a:solidFill>
                <a:latin typeface="Times New Roman" pitchFamily="18" charset="0"/>
              </a:rPr>
              <a:t>B       C      D</a:t>
            </a:r>
          </a:p>
          <a:p>
            <a:pPr fontAlgn="base">
              <a:spcBef>
                <a:spcPct val="0"/>
              </a:spcBef>
              <a:spcAft>
                <a:spcPct val="0"/>
              </a:spcAft>
            </a:pPr>
            <a:endParaRPr kumimoji="1" lang="en-US" altLang="zh-CN" sz="4000" dirty="0">
              <a:solidFill>
                <a:srgbClr val="000000"/>
              </a:solidFill>
              <a:latin typeface="Times New Roman" pitchFamily="18" charset="0"/>
            </a:endParaRPr>
          </a:p>
          <a:p>
            <a:pPr fontAlgn="base">
              <a:spcBef>
                <a:spcPct val="0"/>
              </a:spcBef>
              <a:spcAft>
                <a:spcPct val="0"/>
              </a:spcAft>
            </a:pPr>
            <a:r>
              <a:rPr kumimoji="1" lang="en-US" altLang="zh-CN" sz="4000" dirty="0">
                <a:solidFill>
                  <a:srgbClr val="000000"/>
                </a:solidFill>
                <a:latin typeface="Times New Roman" pitchFamily="18" charset="0"/>
              </a:rPr>
              <a:t>E    F             G</a:t>
            </a:r>
          </a:p>
          <a:p>
            <a:pPr fontAlgn="base">
              <a:spcBef>
                <a:spcPct val="0"/>
              </a:spcBef>
              <a:spcAft>
                <a:spcPct val="0"/>
              </a:spcAft>
            </a:pPr>
            <a:endParaRPr kumimoji="1" lang="en-US" altLang="zh-CN" sz="4000" dirty="0">
              <a:solidFill>
                <a:srgbClr val="000000"/>
              </a:solidFill>
              <a:latin typeface="Times New Roman" pitchFamily="18" charset="0"/>
            </a:endParaRPr>
          </a:p>
          <a:p>
            <a:pPr fontAlgn="base">
              <a:spcBef>
                <a:spcPct val="0"/>
              </a:spcBef>
              <a:spcAft>
                <a:spcPct val="0"/>
              </a:spcAft>
            </a:pPr>
            <a:r>
              <a:rPr kumimoji="1" lang="en-US" altLang="zh-CN" sz="4000" dirty="0">
                <a:solidFill>
                  <a:srgbClr val="000000"/>
                </a:solidFill>
                <a:latin typeface="Times New Roman" pitchFamily="18" charset="0"/>
              </a:rPr>
              <a:t>                     H</a:t>
            </a:r>
          </a:p>
          <a:p>
            <a:pPr fontAlgn="base">
              <a:spcBef>
                <a:spcPct val="0"/>
              </a:spcBef>
              <a:spcAft>
                <a:spcPct val="0"/>
              </a:spcAft>
            </a:pPr>
            <a:endParaRPr kumimoji="1" lang="en-US" altLang="zh-CN" sz="4000" dirty="0">
              <a:solidFill>
                <a:srgbClr val="000000"/>
              </a:solidFill>
              <a:latin typeface="Times New Roman" pitchFamily="18" charset="0"/>
            </a:endParaRPr>
          </a:p>
          <a:p>
            <a:pPr fontAlgn="base">
              <a:spcBef>
                <a:spcPct val="0"/>
              </a:spcBef>
              <a:spcAft>
                <a:spcPct val="0"/>
              </a:spcAft>
            </a:pPr>
            <a:r>
              <a:rPr kumimoji="1" lang="en-US" altLang="zh-CN" sz="4000" dirty="0">
                <a:solidFill>
                  <a:srgbClr val="000000"/>
                </a:solidFill>
                <a:latin typeface="Times New Roman" pitchFamily="18" charset="0"/>
              </a:rPr>
              <a:t>               I      J    K</a:t>
            </a:r>
          </a:p>
          <a:p>
            <a:pPr fontAlgn="base">
              <a:spcBef>
                <a:spcPct val="0"/>
              </a:spcBef>
              <a:spcAft>
                <a:spcPct val="0"/>
              </a:spcAft>
            </a:pPr>
            <a:endParaRPr kumimoji="1" lang="en-US" altLang="zh-CN" sz="4000" dirty="0">
              <a:solidFill>
                <a:srgbClr val="000000"/>
              </a:solidFill>
              <a:latin typeface="Times New Roman" pitchFamily="18" charset="0"/>
            </a:endParaRPr>
          </a:p>
          <a:p>
            <a:pPr fontAlgn="base">
              <a:spcBef>
                <a:spcPct val="0"/>
              </a:spcBef>
              <a:spcAft>
                <a:spcPct val="0"/>
              </a:spcAft>
            </a:pPr>
            <a:endParaRPr kumimoji="1" lang="zh-CN" altLang="en-US" sz="2400" dirty="0">
              <a:solidFill>
                <a:srgbClr val="000000"/>
              </a:solidFill>
              <a:latin typeface="Times New Roman" pitchFamily="18" charset="0"/>
            </a:endParaRPr>
          </a:p>
        </p:txBody>
      </p:sp>
      <p:sp>
        <p:nvSpPr>
          <p:cNvPr id="63" name="Oval 3"/>
          <p:cNvSpPr>
            <a:spLocks noChangeArrowheads="1"/>
          </p:cNvSpPr>
          <p:nvPr/>
        </p:nvSpPr>
        <p:spPr bwMode="auto">
          <a:xfrm>
            <a:off x="819150" y="2133600"/>
            <a:ext cx="577850" cy="5334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4" name="Oval 4"/>
          <p:cNvSpPr>
            <a:spLocks noChangeArrowheads="1"/>
          </p:cNvSpPr>
          <p:nvPr/>
        </p:nvSpPr>
        <p:spPr bwMode="auto">
          <a:xfrm>
            <a:off x="2057400" y="2133600"/>
            <a:ext cx="577850" cy="5334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5" name="Oval 5"/>
          <p:cNvSpPr>
            <a:spLocks noChangeArrowheads="1"/>
          </p:cNvSpPr>
          <p:nvPr/>
        </p:nvSpPr>
        <p:spPr bwMode="auto">
          <a:xfrm>
            <a:off x="3130550" y="2133600"/>
            <a:ext cx="577850" cy="5334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6" name="Oval 6"/>
          <p:cNvSpPr>
            <a:spLocks noChangeArrowheads="1"/>
          </p:cNvSpPr>
          <p:nvPr/>
        </p:nvSpPr>
        <p:spPr bwMode="auto">
          <a:xfrm>
            <a:off x="323850" y="3352800"/>
            <a:ext cx="577850" cy="5334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7" name="Oval 7"/>
          <p:cNvSpPr>
            <a:spLocks noChangeArrowheads="1"/>
          </p:cNvSpPr>
          <p:nvPr/>
        </p:nvSpPr>
        <p:spPr bwMode="auto">
          <a:xfrm>
            <a:off x="1231900" y="3352800"/>
            <a:ext cx="577850" cy="5334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8" name="Oval 8"/>
          <p:cNvSpPr>
            <a:spLocks noChangeArrowheads="1"/>
          </p:cNvSpPr>
          <p:nvPr/>
        </p:nvSpPr>
        <p:spPr bwMode="auto">
          <a:xfrm>
            <a:off x="3130550" y="3352800"/>
            <a:ext cx="577850" cy="5334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9" name="Oval 9"/>
          <p:cNvSpPr>
            <a:spLocks noChangeArrowheads="1"/>
          </p:cNvSpPr>
          <p:nvPr/>
        </p:nvSpPr>
        <p:spPr bwMode="auto">
          <a:xfrm>
            <a:off x="3130550" y="4572000"/>
            <a:ext cx="577850" cy="5334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0" name="Oval 10"/>
          <p:cNvSpPr>
            <a:spLocks noChangeArrowheads="1"/>
          </p:cNvSpPr>
          <p:nvPr/>
        </p:nvSpPr>
        <p:spPr bwMode="auto">
          <a:xfrm>
            <a:off x="3130550" y="5791200"/>
            <a:ext cx="577850" cy="5334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1" name="Oval 11"/>
          <p:cNvSpPr>
            <a:spLocks noChangeArrowheads="1"/>
          </p:cNvSpPr>
          <p:nvPr/>
        </p:nvSpPr>
        <p:spPr bwMode="auto">
          <a:xfrm>
            <a:off x="2305050" y="5791200"/>
            <a:ext cx="577850" cy="5334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2" name="Oval 12"/>
          <p:cNvSpPr>
            <a:spLocks noChangeArrowheads="1"/>
          </p:cNvSpPr>
          <p:nvPr/>
        </p:nvSpPr>
        <p:spPr bwMode="auto">
          <a:xfrm>
            <a:off x="3956050" y="5791200"/>
            <a:ext cx="577850" cy="533400"/>
          </a:xfrm>
          <a:prstGeom prst="ellips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3" name="Line 13"/>
          <p:cNvSpPr>
            <a:spLocks noChangeShapeType="1"/>
          </p:cNvSpPr>
          <p:nvPr/>
        </p:nvSpPr>
        <p:spPr bwMode="auto">
          <a:xfrm flipH="1">
            <a:off x="571500" y="2514600"/>
            <a:ext cx="247650" cy="8382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4" name="Line 14"/>
          <p:cNvSpPr>
            <a:spLocks noChangeShapeType="1"/>
          </p:cNvSpPr>
          <p:nvPr/>
        </p:nvSpPr>
        <p:spPr bwMode="auto">
          <a:xfrm>
            <a:off x="1397000" y="2514600"/>
            <a:ext cx="82550" cy="8382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5" name="Line 15"/>
          <p:cNvSpPr>
            <a:spLocks noChangeShapeType="1"/>
          </p:cNvSpPr>
          <p:nvPr/>
        </p:nvSpPr>
        <p:spPr bwMode="auto">
          <a:xfrm>
            <a:off x="3378200" y="2667000"/>
            <a:ext cx="0" cy="6858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6" name="Line 16"/>
          <p:cNvSpPr>
            <a:spLocks noChangeShapeType="1"/>
          </p:cNvSpPr>
          <p:nvPr/>
        </p:nvSpPr>
        <p:spPr bwMode="auto">
          <a:xfrm>
            <a:off x="3378200" y="3886200"/>
            <a:ext cx="0" cy="6858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7" name="Line 17"/>
          <p:cNvSpPr>
            <a:spLocks noChangeShapeType="1"/>
          </p:cNvSpPr>
          <p:nvPr/>
        </p:nvSpPr>
        <p:spPr bwMode="auto">
          <a:xfrm>
            <a:off x="3460750" y="5105400"/>
            <a:ext cx="0" cy="6858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8" name="Line 18"/>
          <p:cNvSpPr>
            <a:spLocks noChangeShapeType="1"/>
          </p:cNvSpPr>
          <p:nvPr/>
        </p:nvSpPr>
        <p:spPr bwMode="auto">
          <a:xfrm flipH="1">
            <a:off x="2552700" y="4953000"/>
            <a:ext cx="577850" cy="8382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9" name="Line 19"/>
          <p:cNvSpPr>
            <a:spLocks noChangeShapeType="1"/>
          </p:cNvSpPr>
          <p:nvPr/>
        </p:nvSpPr>
        <p:spPr bwMode="auto">
          <a:xfrm>
            <a:off x="3708400" y="4953000"/>
            <a:ext cx="495300" cy="838200"/>
          </a:xfrm>
          <a:prstGeom prst="line">
            <a:avLst/>
          </a:prstGeom>
          <a:noFill/>
          <a:ln w="12700" cap="sq">
            <a:solidFill>
              <a:srgbClr val="000000"/>
            </a:solidFill>
            <a:round/>
            <a:headEnd type="none" w="sm" len="sm"/>
            <a:tailEnd type="none" w="sm" len="sm"/>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0" name="Rectangle 20"/>
          <p:cNvSpPr>
            <a:spLocks noChangeArrowheads="1"/>
          </p:cNvSpPr>
          <p:nvPr/>
        </p:nvSpPr>
        <p:spPr bwMode="auto">
          <a:xfrm>
            <a:off x="406400" y="1981200"/>
            <a:ext cx="1403350" cy="838200"/>
          </a:xfrm>
          <a:prstGeom prst="rect">
            <a:avLst/>
          </a:prstGeom>
          <a:noFill/>
          <a:ln w="12700" cap="sq">
            <a:solidFill>
              <a:srgbClr val="0000FF"/>
            </a:solidFill>
            <a:miter lim="800000"/>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1" name="Rectangle 21"/>
          <p:cNvSpPr>
            <a:spLocks noChangeArrowheads="1"/>
          </p:cNvSpPr>
          <p:nvPr/>
        </p:nvSpPr>
        <p:spPr bwMode="auto">
          <a:xfrm>
            <a:off x="76200" y="3124200"/>
            <a:ext cx="1816100" cy="1143000"/>
          </a:xfrm>
          <a:prstGeom prst="rect">
            <a:avLst/>
          </a:prstGeom>
          <a:noFill/>
          <a:ln w="12700" cap="sq">
            <a:solidFill>
              <a:srgbClr val="0000FF"/>
            </a:solidFill>
            <a:miter lim="800000"/>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2" name="Rectangle 22"/>
          <p:cNvSpPr>
            <a:spLocks noChangeArrowheads="1"/>
          </p:cNvSpPr>
          <p:nvPr/>
        </p:nvSpPr>
        <p:spPr bwMode="auto">
          <a:xfrm>
            <a:off x="1974850" y="1981200"/>
            <a:ext cx="2641600" cy="4572000"/>
          </a:xfrm>
          <a:prstGeom prst="rect">
            <a:avLst/>
          </a:prstGeom>
          <a:noFill/>
          <a:ln w="12700" cap="sq">
            <a:solidFill>
              <a:srgbClr val="0000FF"/>
            </a:solidFill>
            <a:miter lim="800000"/>
            <a:headEnd type="none" w="sm" len="sm"/>
            <a:tailEnd type="none" w="sm" len="sm"/>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83" name="Text Box 23"/>
          <p:cNvSpPr txBox="1">
            <a:spLocks noChangeArrowheads="1"/>
          </p:cNvSpPr>
          <p:nvPr/>
        </p:nvSpPr>
        <p:spPr bwMode="auto">
          <a:xfrm>
            <a:off x="5011738" y="2036762"/>
            <a:ext cx="3903662" cy="946150"/>
          </a:xfrm>
          <a:prstGeom prst="rect">
            <a:avLst/>
          </a:prstGeom>
          <a:noFill/>
          <a:ln w="12700" cap="sq">
            <a:noFill/>
            <a:miter lim="800000"/>
            <a:headEnd type="none" w="sm" len="sm"/>
            <a:tailEnd type="none" w="sm" len="sm"/>
          </a:ln>
        </p:spPr>
        <p:txBody>
          <a:bodyPr wrap="square">
            <a:spAutoFit/>
          </a:bodyPr>
          <a:lstStyle/>
          <a:p>
            <a:pPr fontAlgn="base">
              <a:spcBef>
                <a:spcPct val="0"/>
              </a:spcBef>
              <a:spcAft>
                <a:spcPct val="0"/>
              </a:spcAft>
            </a:pPr>
            <a:r>
              <a:rPr kumimoji="1" lang="en-US" altLang="zh-CN" sz="2800" b="1" dirty="0">
                <a:solidFill>
                  <a:srgbClr val="0000FF"/>
                </a:solidFill>
                <a:latin typeface="宋体" pitchFamily="2" charset="-122"/>
              </a:rPr>
              <a:t>1</a:t>
            </a:r>
            <a:r>
              <a:rPr kumimoji="1" lang="zh-CN" altLang="en-US" sz="2800" b="1" dirty="0">
                <a:solidFill>
                  <a:srgbClr val="0000FF"/>
                </a:solidFill>
                <a:latin typeface="宋体" pitchFamily="2" charset="-122"/>
              </a:rPr>
              <a:t>．森林中第一棵树的根结点；</a:t>
            </a:r>
          </a:p>
        </p:txBody>
      </p:sp>
      <p:sp>
        <p:nvSpPr>
          <p:cNvPr id="84" name="Text Box 24"/>
          <p:cNvSpPr txBox="1">
            <a:spLocks noChangeArrowheads="1"/>
          </p:cNvSpPr>
          <p:nvPr/>
        </p:nvSpPr>
        <p:spPr bwMode="auto">
          <a:xfrm>
            <a:off x="4953000" y="3505200"/>
            <a:ext cx="3886200" cy="946150"/>
          </a:xfrm>
          <a:prstGeom prst="rect">
            <a:avLst/>
          </a:prstGeom>
          <a:noFill/>
          <a:ln w="12700" cap="sq">
            <a:noFill/>
            <a:miter lim="800000"/>
            <a:headEnd type="none" w="sm" len="sm"/>
            <a:tailEnd type="none" w="sm" len="sm"/>
          </a:ln>
        </p:spPr>
        <p:txBody>
          <a:bodyPr wrap="square">
            <a:spAutoFit/>
          </a:bodyPr>
          <a:lstStyle/>
          <a:p>
            <a:pPr fontAlgn="base">
              <a:spcBef>
                <a:spcPct val="0"/>
              </a:spcBef>
              <a:spcAft>
                <a:spcPct val="0"/>
              </a:spcAft>
            </a:pPr>
            <a:r>
              <a:rPr kumimoji="1" lang="en-US" altLang="zh-CN" sz="2800" b="1" dirty="0">
                <a:solidFill>
                  <a:srgbClr val="0000FF"/>
                </a:solidFill>
                <a:latin typeface="宋体" pitchFamily="2" charset="-122"/>
              </a:rPr>
              <a:t>2</a:t>
            </a:r>
            <a:r>
              <a:rPr kumimoji="1" lang="zh-CN" altLang="en-US" sz="2800" b="1" dirty="0">
                <a:solidFill>
                  <a:srgbClr val="0000FF"/>
                </a:solidFill>
                <a:latin typeface="宋体" pitchFamily="2" charset="-122"/>
              </a:rPr>
              <a:t>．森林中第一棵树的子树森林；</a:t>
            </a:r>
          </a:p>
        </p:txBody>
      </p:sp>
      <p:sp>
        <p:nvSpPr>
          <p:cNvPr id="85" name="Text Box 25"/>
          <p:cNvSpPr txBox="1">
            <a:spLocks noChangeArrowheads="1"/>
          </p:cNvSpPr>
          <p:nvPr/>
        </p:nvSpPr>
        <p:spPr bwMode="auto">
          <a:xfrm>
            <a:off x="4946651" y="5105400"/>
            <a:ext cx="3711918" cy="954107"/>
          </a:xfrm>
          <a:prstGeom prst="rect">
            <a:avLst/>
          </a:prstGeom>
          <a:noFill/>
          <a:ln w="12700" cap="sq">
            <a:noFill/>
            <a:miter lim="800000"/>
            <a:headEnd type="none" w="sm" len="sm"/>
            <a:tailEnd type="none" w="sm" len="sm"/>
          </a:ln>
        </p:spPr>
        <p:txBody>
          <a:bodyPr wrap="square">
            <a:spAutoFit/>
          </a:bodyPr>
          <a:lstStyle/>
          <a:p>
            <a:pPr fontAlgn="base">
              <a:spcBef>
                <a:spcPct val="50000"/>
              </a:spcBef>
              <a:spcAft>
                <a:spcPct val="0"/>
              </a:spcAft>
            </a:pPr>
            <a:r>
              <a:rPr kumimoji="1" lang="en-US" altLang="zh-CN" sz="2800" b="1" dirty="0">
                <a:solidFill>
                  <a:srgbClr val="0000FF"/>
                </a:solidFill>
                <a:latin typeface="宋体" pitchFamily="2" charset="-122"/>
              </a:rPr>
              <a:t>3</a:t>
            </a:r>
            <a:r>
              <a:rPr kumimoji="1" lang="zh-CN" altLang="en-US" sz="2800" b="1" dirty="0">
                <a:solidFill>
                  <a:srgbClr val="0000FF"/>
                </a:solidFill>
                <a:latin typeface="宋体" pitchFamily="2" charset="-122"/>
              </a:rPr>
              <a:t>．森林中其它树构成的森林。</a:t>
            </a:r>
          </a:p>
        </p:txBody>
      </p:sp>
      <p:sp>
        <p:nvSpPr>
          <p:cNvPr id="86" name="Text Box 26"/>
          <p:cNvSpPr txBox="1">
            <a:spLocks noChangeArrowheads="1"/>
          </p:cNvSpPr>
          <p:nvPr/>
        </p:nvSpPr>
        <p:spPr bwMode="auto">
          <a:xfrm>
            <a:off x="4664075" y="1295400"/>
            <a:ext cx="3194187" cy="519112"/>
          </a:xfrm>
          <a:prstGeom prst="rect">
            <a:avLst/>
          </a:prstGeom>
          <a:noFill/>
          <a:ln w="12700" cap="sq">
            <a:noFill/>
            <a:miter lim="800000"/>
            <a:headEnd type="none" w="sm" len="sm"/>
            <a:tailEnd type="none" w="sm" len="sm"/>
          </a:ln>
        </p:spPr>
        <p:txBody>
          <a:bodyPr wrap="square">
            <a:spAutoFit/>
          </a:bodyPr>
          <a:lstStyle/>
          <a:p>
            <a:pPr fontAlgn="base">
              <a:spcBef>
                <a:spcPct val="0"/>
              </a:spcBef>
              <a:spcAft>
                <a:spcPct val="0"/>
              </a:spcAft>
            </a:pPr>
            <a:r>
              <a:rPr kumimoji="1" lang="zh-CN" altLang="en-US" sz="2800" b="1">
                <a:solidFill>
                  <a:srgbClr val="0000FF"/>
                </a:solidFill>
                <a:latin typeface="宋体" pitchFamily="2" charset="-122"/>
              </a:rPr>
              <a:t>森林由三部分构成：</a:t>
            </a:r>
          </a:p>
        </p:txBody>
      </p:sp>
    </p:spTree>
    <p:extLst>
      <p:ext uri="{BB962C8B-B14F-4D97-AF65-F5344CB8AC3E}">
        <p14:creationId xmlns:p14="http://schemas.microsoft.com/office/powerpoint/2010/main" val="4171159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p:cTn id="7" dur="500" fill="hold"/>
                                        <p:tgtEl>
                                          <p:spTgt spid="83"/>
                                        </p:tgtEl>
                                        <p:attrNameLst>
                                          <p:attrName>ppt_x</p:attrName>
                                        </p:attrNameLst>
                                      </p:cBhvr>
                                      <p:tavLst>
                                        <p:tav tm="0">
                                          <p:val>
                                            <p:strVal val="#ppt_x-#ppt_w/2"/>
                                          </p:val>
                                        </p:tav>
                                        <p:tav tm="100000">
                                          <p:val>
                                            <p:strVal val="#ppt_x"/>
                                          </p:val>
                                        </p:tav>
                                      </p:tavLst>
                                    </p:anim>
                                    <p:anim calcmode="lin" valueType="num">
                                      <p:cBhvr>
                                        <p:cTn id="8" dur="500" fill="hold"/>
                                        <p:tgtEl>
                                          <p:spTgt spid="83"/>
                                        </p:tgtEl>
                                        <p:attrNameLst>
                                          <p:attrName>ppt_y</p:attrName>
                                        </p:attrNameLst>
                                      </p:cBhvr>
                                      <p:tavLst>
                                        <p:tav tm="0">
                                          <p:val>
                                            <p:strVal val="#ppt_y"/>
                                          </p:val>
                                        </p:tav>
                                        <p:tav tm="100000">
                                          <p:val>
                                            <p:strVal val="#ppt_y"/>
                                          </p:val>
                                        </p:tav>
                                      </p:tavLst>
                                    </p:anim>
                                    <p:anim calcmode="lin" valueType="num">
                                      <p:cBhvr>
                                        <p:cTn id="9" dur="500" fill="hold"/>
                                        <p:tgtEl>
                                          <p:spTgt spid="83"/>
                                        </p:tgtEl>
                                        <p:attrNameLst>
                                          <p:attrName>ppt_w</p:attrName>
                                        </p:attrNameLst>
                                      </p:cBhvr>
                                      <p:tavLst>
                                        <p:tav tm="0">
                                          <p:val>
                                            <p:fltVal val="0"/>
                                          </p:val>
                                        </p:tav>
                                        <p:tav tm="100000">
                                          <p:val>
                                            <p:strVal val="#ppt_w"/>
                                          </p:val>
                                        </p:tav>
                                      </p:tavLst>
                                    </p:anim>
                                    <p:anim calcmode="lin" valueType="num">
                                      <p:cBhvr>
                                        <p:cTn id="10" dur="500" fill="hold"/>
                                        <p:tgtEl>
                                          <p:spTgt spid="83"/>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80"/>
                                        </p:tgtEl>
                                        <p:attrNameLst>
                                          <p:attrName>style.visibility</p:attrName>
                                        </p:attrNameLst>
                                      </p:cBhvr>
                                      <p:to>
                                        <p:strVal val="visible"/>
                                      </p:to>
                                    </p:set>
                                    <p:anim calcmode="lin" valueType="num">
                                      <p:cBhvr>
                                        <p:cTn id="15" dur="500" fill="hold"/>
                                        <p:tgtEl>
                                          <p:spTgt spid="80"/>
                                        </p:tgtEl>
                                        <p:attrNameLst>
                                          <p:attrName>ppt_x</p:attrName>
                                        </p:attrNameLst>
                                      </p:cBhvr>
                                      <p:tavLst>
                                        <p:tav tm="0">
                                          <p:val>
                                            <p:strVal val="#ppt_x-#ppt_w/2"/>
                                          </p:val>
                                        </p:tav>
                                        <p:tav tm="100000">
                                          <p:val>
                                            <p:strVal val="#ppt_x"/>
                                          </p:val>
                                        </p:tav>
                                      </p:tavLst>
                                    </p:anim>
                                    <p:anim calcmode="lin" valueType="num">
                                      <p:cBhvr>
                                        <p:cTn id="16" dur="500" fill="hold"/>
                                        <p:tgtEl>
                                          <p:spTgt spid="80"/>
                                        </p:tgtEl>
                                        <p:attrNameLst>
                                          <p:attrName>ppt_y</p:attrName>
                                        </p:attrNameLst>
                                      </p:cBhvr>
                                      <p:tavLst>
                                        <p:tav tm="0">
                                          <p:val>
                                            <p:strVal val="#ppt_y"/>
                                          </p:val>
                                        </p:tav>
                                        <p:tav tm="100000">
                                          <p:val>
                                            <p:strVal val="#ppt_y"/>
                                          </p:val>
                                        </p:tav>
                                      </p:tavLst>
                                    </p:anim>
                                    <p:anim calcmode="lin" valueType="num">
                                      <p:cBhvr>
                                        <p:cTn id="17" dur="500" fill="hold"/>
                                        <p:tgtEl>
                                          <p:spTgt spid="80"/>
                                        </p:tgtEl>
                                        <p:attrNameLst>
                                          <p:attrName>ppt_w</p:attrName>
                                        </p:attrNameLst>
                                      </p:cBhvr>
                                      <p:tavLst>
                                        <p:tav tm="0">
                                          <p:val>
                                            <p:fltVal val="0"/>
                                          </p:val>
                                        </p:tav>
                                        <p:tav tm="100000">
                                          <p:val>
                                            <p:strVal val="#ppt_w"/>
                                          </p:val>
                                        </p:tav>
                                      </p:tavLst>
                                    </p:anim>
                                    <p:anim calcmode="lin" valueType="num">
                                      <p:cBhvr>
                                        <p:cTn id="18" dur="500" fill="hold"/>
                                        <p:tgtEl>
                                          <p:spTgt spid="80"/>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84"/>
                                        </p:tgtEl>
                                        <p:attrNameLst>
                                          <p:attrName>style.visibility</p:attrName>
                                        </p:attrNameLst>
                                      </p:cBhvr>
                                      <p:to>
                                        <p:strVal val="visible"/>
                                      </p:to>
                                    </p:set>
                                    <p:anim calcmode="lin" valueType="num">
                                      <p:cBhvr>
                                        <p:cTn id="23" dur="500" fill="hold"/>
                                        <p:tgtEl>
                                          <p:spTgt spid="84"/>
                                        </p:tgtEl>
                                        <p:attrNameLst>
                                          <p:attrName>ppt_x</p:attrName>
                                        </p:attrNameLst>
                                      </p:cBhvr>
                                      <p:tavLst>
                                        <p:tav tm="0">
                                          <p:val>
                                            <p:strVal val="#ppt_x-#ppt_w/2"/>
                                          </p:val>
                                        </p:tav>
                                        <p:tav tm="100000">
                                          <p:val>
                                            <p:strVal val="#ppt_x"/>
                                          </p:val>
                                        </p:tav>
                                      </p:tavLst>
                                    </p:anim>
                                    <p:anim calcmode="lin" valueType="num">
                                      <p:cBhvr>
                                        <p:cTn id="24" dur="500" fill="hold"/>
                                        <p:tgtEl>
                                          <p:spTgt spid="84"/>
                                        </p:tgtEl>
                                        <p:attrNameLst>
                                          <p:attrName>ppt_y</p:attrName>
                                        </p:attrNameLst>
                                      </p:cBhvr>
                                      <p:tavLst>
                                        <p:tav tm="0">
                                          <p:val>
                                            <p:strVal val="#ppt_y"/>
                                          </p:val>
                                        </p:tav>
                                        <p:tav tm="100000">
                                          <p:val>
                                            <p:strVal val="#ppt_y"/>
                                          </p:val>
                                        </p:tav>
                                      </p:tavLst>
                                    </p:anim>
                                    <p:anim calcmode="lin" valueType="num">
                                      <p:cBhvr>
                                        <p:cTn id="25" dur="500" fill="hold"/>
                                        <p:tgtEl>
                                          <p:spTgt spid="84"/>
                                        </p:tgtEl>
                                        <p:attrNameLst>
                                          <p:attrName>ppt_w</p:attrName>
                                        </p:attrNameLst>
                                      </p:cBhvr>
                                      <p:tavLst>
                                        <p:tav tm="0">
                                          <p:val>
                                            <p:fltVal val="0"/>
                                          </p:val>
                                        </p:tav>
                                        <p:tav tm="100000">
                                          <p:val>
                                            <p:strVal val="#ppt_w"/>
                                          </p:val>
                                        </p:tav>
                                      </p:tavLst>
                                    </p:anim>
                                    <p:anim calcmode="lin" valueType="num">
                                      <p:cBhvr>
                                        <p:cTn id="26" dur="500" fill="hold"/>
                                        <p:tgtEl>
                                          <p:spTgt spid="84"/>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81"/>
                                        </p:tgtEl>
                                        <p:attrNameLst>
                                          <p:attrName>style.visibility</p:attrName>
                                        </p:attrNameLst>
                                      </p:cBhvr>
                                      <p:to>
                                        <p:strVal val="visible"/>
                                      </p:to>
                                    </p:set>
                                    <p:anim calcmode="lin" valueType="num">
                                      <p:cBhvr>
                                        <p:cTn id="31" dur="500" fill="hold"/>
                                        <p:tgtEl>
                                          <p:spTgt spid="81"/>
                                        </p:tgtEl>
                                        <p:attrNameLst>
                                          <p:attrName>ppt_x</p:attrName>
                                        </p:attrNameLst>
                                      </p:cBhvr>
                                      <p:tavLst>
                                        <p:tav tm="0">
                                          <p:val>
                                            <p:strVal val="#ppt_x-#ppt_w/2"/>
                                          </p:val>
                                        </p:tav>
                                        <p:tav tm="100000">
                                          <p:val>
                                            <p:strVal val="#ppt_x"/>
                                          </p:val>
                                        </p:tav>
                                      </p:tavLst>
                                    </p:anim>
                                    <p:anim calcmode="lin" valueType="num">
                                      <p:cBhvr>
                                        <p:cTn id="32" dur="500" fill="hold"/>
                                        <p:tgtEl>
                                          <p:spTgt spid="81"/>
                                        </p:tgtEl>
                                        <p:attrNameLst>
                                          <p:attrName>ppt_y</p:attrName>
                                        </p:attrNameLst>
                                      </p:cBhvr>
                                      <p:tavLst>
                                        <p:tav tm="0">
                                          <p:val>
                                            <p:strVal val="#ppt_y"/>
                                          </p:val>
                                        </p:tav>
                                        <p:tav tm="100000">
                                          <p:val>
                                            <p:strVal val="#ppt_y"/>
                                          </p:val>
                                        </p:tav>
                                      </p:tavLst>
                                    </p:anim>
                                    <p:anim calcmode="lin" valueType="num">
                                      <p:cBhvr>
                                        <p:cTn id="33" dur="500" fill="hold"/>
                                        <p:tgtEl>
                                          <p:spTgt spid="81"/>
                                        </p:tgtEl>
                                        <p:attrNameLst>
                                          <p:attrName>ppt_w</p:attrName>
                                        </p:attrNameLst>
                                      </p:cBhvr>
                                      <p:tavLst>
                                        <p:tav tm="0">
                                          <p:val>
                                            <p:fltVal val="0"/>
                                          </p:val>
                                        </p:tav>
                                        <p:tav tm="100000">
                                          <p:val>
                                            <p:strVal val="#ppt_w"/>
                                          </p:val>
                                        </p:tav>
                                      </p:tavLst>
                                    </p:anim>
                                    <p:anim calcmode="lin" valueType="num">
                                      <p:cBhvr>
                                        <p:cTn id="34" dur="500" fill="hold"/>
                                        <p:tgtEl>
                                          <p:spTgt spid="81"/>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85"/>
                                        </p:tgtEl>
                                        <p:attrNameLst>
                                          <p:attrName>style.visibility</p:attrName>
                                        </p:attrNameLst>
                                      </p:cBhvr>
                                      <p:to>
                                        <p:strVal val="visible"/>
                                      </p:to>
                                    </p:set>
                                    <p:anim calcmode="lin" valueType="num">
                                      <p:cBhvr>
                                        <p:cTn id="39" dur="500" fill="hold"/>
                                        <p:tgtEl>
                                          <p:spTgt spid="85"/>
                                        </p:tgtEl>
                                        <p:attrNameLst>
                                          <p:attrName>ppt_x</p:attrName>
                                        </p:attrNameLst>
                                      </p:cBhvr>
                                      <p:tavLst>
                                        <p:tav tm="0">
                                          <p:val>
                                            <p:strVal val="#ppt_x-#ppt_w/2"/>
                                          </p:val>
                                        </p:tav>
                                        <p:tav tm="100000">
                                          <p:val>
                                            <p:strVal val="#ppt_x"/>
                                          </p:val>
                                        </p:tav>
                                      </p:tavLst>
                                    </p:anim>
                                    <p:anim calcmode="lin" valueType="num">
                                      <p:cBhvr>
                                        <p:cTn id="40" dur="500" fill="hold"/>
                                        <p:tgtEl>
                                          <p:spTgt spid="85"/>
                                        </p:tgtEl>
                                        <p:attrNameLst>
                                          <p:attrName>ppt_y</p:attrName>
                                        </p:attrNameLst>
                                      </p:cBhvr>
                                      <p:tavLst>
                                        <p:tav tm="0">
                                          <p:val>
                                            <p:strVal val="#ppt_y"/>
                                          </p:val>
                                        </p:tav>
                                        <p:tav tm="100000">
                                          <p:val>
                                            <p:strVal val="#ppt_y"/>
                                          </p:val>
                                        </p:tav>
                                      </p:tavLst>
                                    </p:anim>
                                    <p:anim calcmode="lin" valueType="num">
                                      <p:cBhvr>
                                        <p:cTn id="41" dur="500" fill="hold"/>
                                        <p:tgtEl>
                                          <p:spTgt spid="85"/>
                                        </p:tgtEl>
                                        <p:attrNameLst>
                                          <p:attrName>ppt_w</p:attrName>
                                        </p:attrNameLst>
                                      </p:cBhvr>
                                      <p:tavLst>
                                        <p:tav tm="0">
                                          <p:val>
                                            <p:fltVal val="0"/>
                                          </p:val>
                                        </p:tav>
                                        <p:tav tm="100000">
                                          <p:val>
                                            <p:strVal val="#ppt_w"/>
                                          </p:val>
                                        </p:tav>
                                      </p:tavLst>
                                    </p:anim>
                                    <p:anim calcmode="lin" valueType="num">
                                      <p:cBhvr>
                                        <p:cTn id="42" dur="500" fill="hold"/>
                                        <p:tgtEl>
                                          <p:spTgt spid="85"/>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1" fill="hold" grpId="0" nodeType="clickEffect">
                                  <p:stCondLst>
                                    <p:cond delay="0"/>
                                  </p:stCondLst>
                                  <p:childTnLst>
                                    <p:set>
                                      <p:cBhvr>
                                        <p:cTn id="46" dur="1" fill="hold">
                                          <p:stCondLst>
                                            <p:cond delay="0"/>
                                          </p:stCondLst>
                                        </p:cTn>
                                        <p:tgtEl>
                                          <p:spTgt spid="82"/>
                                        </p:tgtEl>
                                        <p:attrNameLst>
                                          <p:attrName>style.visibility</p:attrName>
                                        </p:attrNameLst>
                                      </p:cBhvr>
                                      <p:to>
                                        <p:strVal val="visible"/>
                                      </p:to>
                                    </p:set>
                                    <p:anim calcmode="lin" valueType="num">
                                      <p:cBhvr>
                                        <p:cTn id="47" dur="500" fill="hold"/>
                                        <p:tgtEl>
                                          <p:spTgt spid="82"/>
                                        </p:tgtEl>
                                        <p:attrNameLst>
                                          <p:attrName>ppt_x</p:attrName>
                                        </p:attrNameLst>
                                      </p:cBhvr>
                                      <p:tavLst>
                                        <p:tav tm="0">
                                          <p:val>
                                            <p:strVal val="#ppt_x"/>
                                          </p:val>
                                        </p:tav>
                                        <p:tav tm="100000">
                                          <p:val>
                                            <p:strVal val="#ppt_x"/>
                                          </p:val>
                                        </p:tav>
                                      </p:tavLst>
                                    </p:anim>
                                    <p:anim calcmode="lin" valueType="num">
                                      <p:cBhvr>
                                        <p:cTn id="48" dur="500" fill="hold"/>
                                        <p:tgtEl>
                                          <p:spTgt spid="82"/>
                                        </p:tgtEl>
                                        <p:attrNameLst>
                                          <p:attrName>ppt_y</p:attrName>
                                        </p:attrNameLst>
                                      </p:cBhvr>
                                      <p:tavLst>
                                        <p:tav tm="0">
                                          <p:val>
                                            <p:strVal val="#ppt_y-#ppt_h/2"/>
                                          </p:val>
                                        </p:tav>
                                        <p:tav tm="100000">
                                          <p:val>
                                            <p:strVal val="#ppt_y"/>
                                          </p:val>
                                        </p:tav>
                                      </p:tavLst>
                                    </p:anim>
                                    <p:anim calcmode="lin" valueType="num">
                                      <p:cBhvr>
                                        <p:cTn id="49" dur="500" fill="hold"/>
                                        <p:tgtEl>
                                          <p:spTgt spid="82"/>
                                        </p:tgtEl>
                                        <p:attrNameLst>
                                          <p:attrName>ppt_w</p:attrName>
                                        </p:attrNameLst>
                                      </p:cBhvr>
                                      <p:tavLst>
                                        <p:tav tm="0">
                                          <p:val>
                                            <p:strVal val="#ppt_w"/>
                                          </p:val>
                                        </p:tav>
                                        <p:tav tm="100000">
                                          <p:val>
                                            <p:strVal val="#ppt_w"/>
                                          </p:val>
                                        </p:tav>
                                      </p:tavLst>
                                    </p:anim>
                                    <p:anim calcmode="lin" valueType="num">
                                      <p:cBhvr>
                                        <p:cTn id="50" dur="500" fill="hold"/>
                                        <p:tgtEl>
                                          <p:spTgt spid="8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82" grpId="0" animBg="1"/>
      <p:bldP spid="83" grpId="0" autoUpdateAnimBg="0"/>
      <p:bldP spid="84" grpId="0" autoUpdateAnimBg="0"/>
      <p:bldP spid="85" grpId="0" autoUpdateAnimBg="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森林的先序遍历</a:t>
            </a:r>
          </a:p>
        </p:txBody>
      </p:sp>
      <p:sp>
        <p:nvSpPr>
          <p:cNvPr id="4" name="日期占位符 3"/>
          <p:cNvSpPr>
            <a:spLocks noGrp="1"/>
          </p:cNvSpPr>
          <p:nvPr>
            <p:ph type="dt" sz="half" idx="10"/>
          </p:nvPr>
        </p:nvSpPr>
        <p:spPr/>
        <p:txBody>
          <a:bodyPr/>
          <a:lstStyle/>
          <a:p>
            <a:fld id="{11B789EC-10C1-4F3C-8C90-724D0CD7CC1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152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4"/>
          <p:cNvSpPr>
            <a:spLocks noChangeArrowheads="1"/>
          </p:cNvSpPr>
          <p:nvPr/>
        </p:nvSpPr>
        <p:spPr bwMode="auto">
          <a:xfrm>
            <a:off x="452438" y="1738312"/>
            <a:ext cx="6496050" cy="3324225"/>
          </a:xfrm>
          <a:prstGeom prst="rect">
            <a:avLst/>
          </a:prstGeom>
          <a:noFill/>
          <a:ln w="12700" cap="sq">
            <a:solidFill>
              <a:srgbClr val="003300"/>
            </a:solidFill>
            <a:miter lim="800000"/>
            <a:headEnd type="none" w="sm" len="sm"/>
            <a:tailEnd type="none" w="sm" len="sm"/>
          </a:ln>
        </p:spPr>
        <p:txBody>
          <a:bodyPr wrap="none">
            <a:spAutoFit/>
          </a:bodyPr>
          <a:lstStyle/>
          <a:p>
            <a:pPr fontAlgn="base">
              <a:lnSpc>
                <a:spcPct val="125000"/>
              </a:lnSpc>
              <a:spcBef>
                <a:spcPct val="0"/>
              </a:spcBef>
              <a:spcAft>
                <a:spcPct val="0"/>
              </a:spcAft>
              <a:buFont typeface="Wingdings" pitchFamily="2" charset="2"/>
              <a:buChar char="p"/>
            </a:pPr>
            <a:r>
              <a:rPr kumimoji="1" lang="zh-CN" altLang="en-US" sz="2800" b="1">
                <a:solidFill>
                  <a:srgbClr val="FF0000"/>
                </a:solidFill>
                <a:latin typeface="宋体" pitchFamily="2" charset="-122"/>
              </a:rPr>
              <a:t> </a:t>
            </a:r>
            <a:r>
              <a:rPr kumimoji="1" lang="zh-CN" altLang="en-US" sz="2800" b="1">
                <a:solidFill>
                  <a:srgbClr val="FF0000"/>
                </a:solidFill>
                <a:latin typeface="Times New Roman" pitchFamily="18" charset="0"/>
              </a:rPr>
              <a:t>先序遍历</a:t>
            </a:r>
          </a:p>
          <a:p>
            <a:pPr fontAlgn="base">
              <a:lnSpc>
                <a:spcPct val="125000"/>
              </a:lnSpc>
              <a:spcBef>
                <a:spcPct val="0"/>
              </a:spcBef>
              <a:spcAft>
                <a:spcPct val="0"/>
              </a:spcAft>
            </a:pPr>
            <a:r>
              <a:rPr kumimoji="1" lang="zh-CN" altLang="en-US" sz="2800" b="1">
                <a:solidFill>
                  <a:srgbClr val="0000CC"/>
                </a:solidFill>
                <a:latin typeface="宋体" pitchFamily="2" charset="-122"/>
              </a:rPr>
              <a:t>若森林不空，则</a:t>
            </a:r>
          </a:p>
          <a:p>
            <a:pPr fontAlgn="base">
              <a:lnSpc>
                <a:spcPct val="125000"/>
              </a:lnSpc>
              <a:spcBef>
                <a:spcPct val="0"/>
              </a:spcBef>
              <a:spcAft>
                <a:spcPct val="0"/>
              </a:spcAft>
              <a:buFontTx/>
              <a:buChar char="•"/>
            </a:pPr>
            <a:r>
              <a:rPr kumimoji="1" lang="zh-CN" altLang="en-US" sz="2800" b="1">
                <a:solidFill>
                  <a:srgbClr val="0000CC"/>
                </a:solidFill>
                <a:latin typeface="宋体" pitchFamily="2" charset="-122"/>
              </a:rPr>
              <a:t>访问森林中</a:t>
            </a:r>
            <a:r>
              <a:rPr kumimoji="1" lang="zh-CN" altLang="en-US" sz="2800" b="1">
                <a:solidFill>
                  <a:srgbClr val="FF0000"/>
                </a:solidFill>
                <a:latin typeface="宋体" pitchFamily="2" charset="-122"/>
              </a:rPr>
              <a:t>第一棵树的根结点</a:t>
            </a:r>
            <a:r>
              <a:rPr kumimoji="1" lang="zh-CN" altLang="en-US" sz="2800" b="1">
                <a:solidFill>
                  <a:srgbClr val="0000CC"/>
                </a:solidFill>
                <a:latin typeface="宋体" pitchFamily="2" charset="-122"/>
              </a:rPr>
              <a:t>；</a:t>
            </a:r>
          </a:p>
          <a:p>
            <a:pPr fontAlgn="base">
              <a:lnSpc>
                <a:spcPct val="125000"/>
              </a:lnSpc>
              <a:spcBef>
                <a:spcPct val="0"/>
              </a:spcBef>
              <a:spcAft>
                <a:spcPct val="0"/>
              </a:spcAft>
              <a:buFontTx/>
              <a:buChar char="•"/>
            </a:pPr>
            <a:r>
              <a:rPr kumimoji="1" lang="zh-CN" altLang="en-US" sz="2800" b="1">
                <a:solidFill>
                  <a:srgbClr val="0000CC"/>
                </a:solidFill>
                <a:latin typeface="宋体" pitchFamily="2" charset="-122"/>
              </a:rPr>
              <a:t>先序遍历森林中</a:t>
            </a:r>
            <a:r>
              <a:rPr kumimoji="1" lang="zh-CN" altLang="en-US" sz="2800" b="1">
                <a:solidFill>
                  <a:srgbClr val="FF0000"/>
                </a:solidFill>
                <a:latin typeface="宋体" pitchFamily="2" charset="-122"/>
              </a:rPr>
              <a:t>第一棵树的子树森林</a:t>
            </a:r>
            <a:r>
              <a:rPr kumimoji="1" lang="zh-CN" altLang="en-US" sz="2800" b="1">
                <a:solidFill>
                  <a:srgbClr val="0000CC"/>
                </a:solidFill>
                <a:latin typeface="宋体" pitchFamily="2" charset="-122"/>
              </a:rPr>
              <a:t>；</a:t>
            </a:r>
          </a:p>
          <a:p>
            <a:pPr fontAlgn="base">
              <a:lnSpc>
                <a:spcPct val="125000"/>
              </a:lnSpc>
              <a:spcBef>
                <a:spcPct val="0"/>
              </a:spcBef>
              <a:spcAft>
                <a:spcPct val="0"/>
              </a:spcAft>
              <a:buFontTx/>
              <a:buChar char="•"/>
            </a:pPr>
            <a:r>
              <a:rPr kumimoji="1" lang="zh-CN" altLang="en-US" sz="2800" b="1">
                <a:solidFill>
                  <a:srgbClr val="0000CC"/>
                </a:solidFill>
                <a:latin typeface="宋体" pitchFamily="2" charset="-122"/>
              </a:rPr>
              <a:t>先序遍历森林中</a:t>
            </a:r>
            <a:r>
              <a:rPr kumimoji="1" lang="en-US" altLang="zh-CN" sz="2800" b="1">
                <a:solidFill>
                  <a:srgbClr val="0000CC"/>
                </a:solidFill>
                <a:latin typeface="宋体" pitchFamily="2" charset="-122"/>
              </a:rPr>
              <a:t>(</a:t>
            </a:r>
            <a:r>
              <a:rPr kumimoji="1" lang="zh-CN" altLang="en-US" sz="2800" b="1">
                <a:solidFill>
                  <a:srgbClr val="0000CC"/>
                </a:solidFill>
                <a:latin typeface="宋体" pitchFamily="2" charset="-122"/>
              </a:rPr>
              <a:t>除第一棵树之外</a:t>
            </a:r>
            <a:r>
              <a:rPr kumimoji="1" lang="en-US" altLang="zh-CN" sz="2800" b="1">
                <a:solidFill>
                  <a:srgbClr val="0000CC"/>
                </a:solidFill>
                <a:latin typeface="宋体" pitchFamily="2" charset="-122"/>
              </a:rPr>
              <a:t>)</a:t>
            </a:r>
            <a:r>
              <a:rPr kumimoji="1" lang="zh-CN" altLang="en-US" sz="2800" b="1">
                <a:solidFill>
                  <a:srgbClr val="0000CC"/>
                </a:solidFill>
                <a:latin typeface="宋体" pitchFamily="2" charset="-122"/>
              </a:rPr>
              <a:t>其</a:t>
            </a:r>
          </a:p>
          <a:p>
            <a:pPr fontAlgn="base">
              <a:lnSpc>
                <a:spcPct val="125000"/>
              </a:lnSpc>
              <a:spcBef>
                <a:spcPct val="0"/>
              </a:spcBef>
              <a:spcAft>
                <a:spcPct val="0"/>
              </a:spcAft>
            </a:pPr>
            <a:r>
              <a:rPr kumimoji="1" lang="zh-CN" altLang="en-US" sz="2800" b="1">
                <a:solidFill>
                  <a:srgbClr val="0000CC"/>
                </a:solidFill>
                <a:latin typeface="宋体" pitchFamily="2" charset="-122"/>
              </a:rPr>
              <a:t> 余树构成的森林。</a:t>
            </a:r>
          </a:p>
        </p:txBody>
      </p:sp>
      <p:sp>
        <p:nvSpPr>
          <p:cNvPr id="14" name="Rectangle 5"/>
          <p:cNvSpPr>
            <a:spLocks noChangeArrowheads="1"/>
          </p:cNvSpPr>
          <p:nvPr/>
        </p:nvSpPr>
        <p:spPr bwMode="auto">
          <a:xfrm>
            <a:off x="457200" y="5181600"/>
            <a:ext cx="5691188" cy="1169987"/>
          </a:xfrm>
          <a:prstGeom prst="rect">
            <a:avLst/>
          </a:prstGeom>
          <a:noFill/>
          <a:ln w="12700" cap="sq">
            <a:solidFill>
              <a:srgbClr val="003300"/>
            </a:solidFill>
            <a:miter lim="800000"/>
            <a:headEnd type="none" w="sm" len="sm"/>
            <a:tailEnd type="none" w="sm" len="sm"/>
          </a:ln>
        </p:spPr>
        <p:txBody>
          <a:bodyPr>
            <a:spAutoFit/>
          </a:bodyPr>
          <a:lstStyle/>
          <a:p>
            <a:pPr fontAlgn="base">
              <a:lnSpc>
                <a:spcPct val="125000"/>
              </a:lnSpc>
              <a:spcBef>
                <a:spcPct val="0"/>
              </a:spcBef>
              <a:spcAft>
                <a:spcPct val="0"/>
              </a:spcAft>
            </a:pPr>
            <a:r>
              <a:rPr kumimoji="1" lang="zh-CN" altLang="en-US" sz="2800" b="1">
                <a:solidFill>
                  <a:srgbClr val="0000CC"/>
                </a:solidFill>
                <a:latin typeface="宋体" pitchFamily="2" charset="-122"/>
              </a:rPr>
              <a:t>即：依次</a:t>
            </a:r>
            <a:r>
              <a:rPr kumimoji="1" lang="zh-CN" altLang="en-US" sz="2800" b="1">
                <a:solidFill>
                  <a:srgbClr val="FF0000"/>
                </a:solidFill>
                <a:latin typeface="宋体" pitchFamily="2" charset="-122"/>
              </a:rPr>
              <a:t>从左至右</a:t>
            </a:r>
            <a:r>
              <a:rPr kumimoji="1" lang="zh-CN" altLang="en-US" sz="2800" b="1">
                <a:solidFill>
                  <a:srgbClr val="0000CC"/>
                </a:solidFill>
                <a:latin typeface="宋体" pitchFamily="2" charset="-122"/>
              </a:rPr>
              <a:t>对森林中的</a:t>
            </a:r>
          </a:p>
          <a:p>
            <a:pPr fontAlgn="base">
              <a:lnSpc>
                <a:spcPct val="125000"/>
              </a:lnSpc>
              <a:spcBef>
                <a:spcPct val="0"/>
              </a:spcBef>
              <a:spcAft>
                <a:spcPct val="0"/>
              </a:spcAft>
            </a:pPr>
            <a:r>
              <a:rPr kumimoji="1" lang="zh-CN" altLang="en-US" sz="2800" b="1">
                <a:solidFill>
                  <a:srgbClr val="0000CC"/>
                </a:solidFill>
                <a:latin typeface="宋体" pitchFamily="2" charset="-122"/>
              </a:rPr>
              <a:t>每一棵树进行</a:t>
            </a:r>
            <a:r>
              <a:rPr kumimoji="1" lang="zh-CN" altLang="en-US" sz="2800" b="1">
                <a:solidFill>
                  <a:srgbClr val="FF0000"/>
                </a:solidFill>
                <a:latin typeface="宋体" pitchFamily="2" charset="-122"/>
              </a:rPr>
              <a:t>先根</a:t>
            </a:r>
            <a:r>
              <a:rPr kumimoji="1" lang="zh-CN" altLang="en-US" sz="2800" b="1">
                <a:solidFill>
                  <a:srgbClr val="0000CC"/>
                </a:solidFill>
                <a:latin typeface="宋体" pitchFamily="2" charset="-122"/>
              </a:rPr>
              <a:t>遍历。</a:t>
            </a:r>
          </a:p>
        </p:txBody>
      </p:sp>
      <p:sp>
        <p:nvSpPr>
          <p:cNvPr id="15" name="AutoShape 22">
            <a:hlinkClick r:id="rId4" action="ppaction://hlinkfile"/>
          </p:cNvPr>
          <p:cNvSpPr>
            <a:spLocks noChangeArrowheads="1"/>
          </p:cNvSpPr>
          <p:nvPr/>
        </p:nvSpPr>
        <p:spPr bwMode="auto">
          <a:xfrm>
            <a:off x="6477000" y="5181600"/>
            <a:ext cx="2652712" cy="1139825"/>
          </a:xfrm>
          <a:custGeom>
            <a:avLst/>
            <a:gdLst>
              <a:gd name="T0" fmla="*/ 220388489 w 21600"/>
              <a:gd name="T1" fmla="*/ 0 h 21600"/>
              <a:gd name="T2" fmla="*/ 0 w 21600"/>
              <a:gd name="T3" fmla="*/ 47990900 h 21600"/>
              <a:gd name="T4" fmla="*/ 220388489 w 21600"/>
              <a:gd name="T5" fmla="*/ 95981733 h 21600"/>
              <a:gd name="T6" fmla="*/ 293851279 w 21600"/>
              <a:gd name="T7" fmla="*/ 479909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800" b="0" i="0" u="none" strike="noStrike" kern="0" cap="none" spc="0" normalizeH="0" baseline="0" noProof="0" dirty="0">
                <a:ln>
                  <a:noFill/>
                </a:ln>
                <a:solidFill>
                  <a:srgbClr val="003300"/>
                </a:solidFill>
                <a:effectLst/>
                <a:uLnTx/>
                <a:uFillTx/>
                <a:latin typeface="隶书" pitchFamily="49" charset="-122"/>
                <a:ea typeface="隶书" pitchFamily="49" charset="-122"/>
                <a:cs typeface="+mn-cs"/>
              </a:rPr>
              <a:t>先序遍历森林</a:t>
            </a:r>
          </a:p>
        </p:txBody>
      </p:sp>
    </p:spTree>
    <p:extLst>
      <p:ext uri="{BB962C8B-B14F-4D97-AF65-F5344CB8AC3E}">
        <p14:creationId xmlns:p14="http://schemas.microsoft.com/office/powerpoint/2010/main" val="3329677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森林的先序遍历</a:t>
            </a:r>
          </a:p>
        </p:txBody>
      </p:sp>
      <p:sp>
        <p:nvSpPr>
          <p:cNvPr id="4" name="日期占位符 3"/>
          <p:cNvSpPr>
            <a:spLocks noGrp="1"/>
          </p:cNvSpPr>
          <p:nvPr>
            <p:ph type="dt" sz="half" idx="10"/>
          </p:nvPr>
        </p:nvSpPr>
        <p:spPr/>
        <p:txBody>
          <a:bodyPr/>
          <a:lstStyle/>
          <a:p>
            <a:fld id="{14182A39-D22A-45B1-9AA6-D66F6663CCC2}"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153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13" name="Group 290"/>
          <p:cNvGrpSpPr>
            <a:grpSpLocks/>
          </p:cNvGrpSpPr>
          <p:nvPr/>
        </p:nvGrpSpPr>
        <p:grpSpPr bwMode="auto">
          <a:xfrm>
            <a:off x="2984500" y="2395538"/>
            <a:ext cx="1193800" cy="1692275"/>
            <a:chOff x="2400" y="1335"/>
            <a:chExt cx="752" cy="1066"/>
          </a:xfrm>
        </p:grpSpPr>
        <p:grpSp>
          <p:nvGrpSpPr>
            <p:cNvPr id="14" name="Group 291"/>
            <p:cNvGrpSpPr>
              <a:grpSpLocks/>
            </p:cNvGrpSpPr>
            <p:nvPr/>
          </p:nvGrpSpPr>
          <p:grpSpPr bwMode="auto">
            <a:xfrm>
              <a:off x="2621" y="1752"/>
              <a:ext cx="320" cy="250"/>
              <a:chOff x="2880" y="1104"/>
              <a:chExt cx="367" cy="343"/>
            </a:xfrm>
          </p:grpSpPr>
          <p:sp>
            <p:nvSpPr>
              <p:cNvPr id="28" name="Oval 29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29" name="Text Box 29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F</a:t>
                </a:r>
              </a:p>
            </p:txBody>
          </p:sp>
        </p:grpSp>
        <p:sp>
          <p:nvSpPr>
            <p:cNvPr id="15" name="Line 294"/>
            <p:cNvSpPr>
              <a:spLocks noChangeShapeType="1"/>
            </p:cNvSpPr>
            <p:nvPr/>
          </p:nvSpPr>
          <p:spPr bwMode="auto">
            <a:xfrm flipH="1">
              <a:off x="2557" y="1979"/>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6" name="Line 295"/>
            <p:cNvSpPr>
              <a:spLocks noChangeShapeType="1"/>
            </p:cNvSpPr>
            <p:nvPr/>
          </p:nvSpPr>
          <p:spPr bwMode="auto">
            <a:xfrm>
              <a:off x="2832" y="1972"/>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7" name="Line 296"/>
            <p:cNvSpPr>
              <a:spLocks noChangeShapeType="1"/>
            </p:cNvSpPr>
            <p:nvPr/>
          </p:nvSpPr>
          <p:spPr bwMode="auto">
            <a:xfrm>
              <a:off x="2784" y="1576"/>
              <a:ext cx="0" cy="190"/>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19" name="Group 297"/>
            <p:cNvGrpSpPr>
              <a:grpSpLocks/>
            </p:cNvGrpSpPr>
            <p:nvPr/>
          </p:nvGrpSpPr>
          <p:grpSpPr bwMode="auto">
            <a:xfrm>
              <a:off x="2832" y="2151"/>
              <a:ext cx="320" cy="250"/>
              <a:chOff x="2880" y="1104"/>
              <a:chExt cx="367" cy="343"/>
            </a:xfrm>
          </p:grpSpPr>
          <p:sp>
            <p:nvSpPr>
              <p:cNvPr id="26" name="Oval 29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27" name="Text Box 29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H</a:t>
                </a:r>
              </a:p>
            </p:txBody>
          </p:sp>
        </p:grpSp>
        <p:grpSp>
          <p:nvGrpSpPr>
            <p:cNvPr id="20" name="Group 300"/>
            <p:cNvGrpSpPr>
              <a:grpSpLocks/>
            </p:cNvGrpSpPr>
            <p:nvPr/>
          </p:nvGrpSpPr>
          <p:grpSpPr bwMode="auto">
            <a:xfrm>
              <a:off x="2400" y="2151"/>
              <a:ext cx="320" cy="250"/>
              <a:chOff x="2880" y="1104"/>
              <a:chExt cx="367" cy="343"/>
            </a:xfrm>
          </p:grpSpPr>
          <p:sp>
            <p:nvSpPr>
              <p:cNvPr id="24" name="Oval 30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25" name="Text Box 30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G</a:t>
                </a:r>
              </a:p>
            </p:txBody>
          </p:sp>
        </p:grpSp>
        <p:grpSp>
          <p:nvGrpSpPr>
            <p:cNvPr id="21" name="Group 303"/>
            <p:cNvGrpSpPr>
              <a:grpSpLocks/>
            </p:cNvGrpSpPr>
            <p:nvPr/>
          </p:nvGrpSpPr>
          <p:grpSpPr bwMode="auto">
            <a:xfrm>
              <a:off x="2640" y="1335"/>
              <a:ext cx="320" cy="250"/>
              <a:chOff x="2880" y="1104"/>
              <a:chExt cx="367" cy="343"/>
            </a:xfrm>
          </p:grpSpPr>
          <p:sp>
            <p:nvSpPr>
              <p:cNvPr id="22" name="Oval 30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23" name="Text Box 30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E</a:t>
                </a:r>
              </a:p>
            </p:txBody>
          </p:sp>
        </p:grpSp>
      </p:grpSp>
      <p:grpSp>
        <p:nvGrpSpPr>
          <p:cNvPr id="30" name="Group 306"/>
          <p:cNvGrpSpPr>
            <a:grpSpLocks/>
          </p:cNvGrpSpPr>
          <p:nvPr/>
        </p:nvGrpSpPr>
        <p:grpSpPr bwMode="auto">
          <a:xfrm>
            <a:off x="823913" y="2466975"/>
            <a:ext cx="1955800" cy="1006475"/>
            <a:chOff x="716" y="1431"/>
            <a:chExt cx="1232" cy="634"/>
          </a:xfrm>
        </p:grpSpPr>
        <p:sp>
          <p:nvSpPr>
            <p:cNvPr id="31" name="Line 307"/>
            <p:cNvSpPr>
              <a:spLocks noChangeShapeType="1"/>
            </p:cNvSpPr>
            <p:nvPr/>
          </p:nvSpPr>
          <p:spPr bwMode="auto">
            <a:xfrm>
              <a:off x="1340" y="1670"/>
              <a:ext cx="0" cy="163"/>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32" name="Line 308"/>
            <p:cNvSpPr>
              <a:spLocks noChangeShapeType="1"/>
            </p:cNvSpPr>
            <p:nvPr/>
          </p:nvSpPr>
          <p:spPr bwMode="auto">
            <a:xfrm flipH="1">
              <a:off x="860" y="1623"/>
              <a:ext cx="384" cy="240"/>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33" name="Line 309"/>
            <p:cNvSpPr>
              <a:spLocks noChangeShapeType="1"/>
            </p:cNvSpPr>
            <p:nvPr/>
          </p:nvSpPr>
          <p:spPr bwMode="auto">
            <a:xfrm>
              <a:off x="1436" y="1623"/>
              <a:ext cx="288"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34" name="Group 310"/>
            <p:cNvGrpSpPr>
              <a:grpSpLocks/>
            </p:cNvGrpSpPr>
            <p:nvPr/>
          </p:nvGrpSpPr>
          <p:grpSpPr bwMode="auto">
            <a:xfrm>
              <a:off x="1196" y="1431"/>
              <a:ext cx="320" cy="250"/>
              <a:chOff x="2880" y="1104"/>
              <a:chExt cx="367" cy="343"/>
            </a:xfrm>
          </p:grpSpPr>
          <p:sp>
            <p:nvSpPr>
              <p:cNvPr id="44" name="Oval 31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5" name="Text Box 31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A</a:t>
                </a:r>
              </a:p>
            </p:txBody>
          </p:sp>
        </p:grpSp>
        <p:grpSp>
          <p:nvGrpSpPr>
            <p:cNvPr id="35" name="Group 313"/>
            <p:cNvGrpSpPr>
              <a:grpSpLocks/>
            </p:cNvGrpSpPr>
            <p:nvPr/>
          </p:nvGrpSpPr>
          <p:grpSpPr bwMode="auto">
            <a:xfrm>
              <a:off x="1196" y="1815"/>
              <a:ext cx="320" cy="250"/>
              <a:chOff x="2880" y="1104"/>
              <a:chExt cx="367" cy="343"/>
            </a:xfrm>
          </p:grpSpPr>
          <p:sp>
            <p:nvSpPr>
              <p:cNvPr id="42" name="Oval 31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3" name="Text Box 31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C</a:t>
                </a:r>
              </a:p>
            </p:txBody>
          </p:sp>
        </p:grpSp>
        <p:grpSp>
          <p:nvGrpSpPr>
            <p:cNvPr id="36" name="Group 316"/>
            <p:cNvGrpSpPr>
              <a:grpSpLocks/>
            </p:cNvGrpSpPr>
            <p:nvPr/>
          </p:nvGrpSpPr>
          <p:grpSpPr bwMode="auto">
            <a:xfrm>
              <a:off x="716" y="1815"/>
              <a:ext cx="320" cy="250"/>
              <a:chOff x="2880" y="1104"/>
              <a:chExt cx="367" cy="343"/>
            </a:xfrm>
          </p:grpSpPr>
          <p:sp>
            <p:nvSpPr>
              <p:cNvPr id="40" name="Oval 31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1" name="Text Box 31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B</a:t>
                </a:r>
              </a:p>
            </p:txBody>
          </p:sp>
        </p:grpSp>
        <p:grpSp>
          <p:nvGrpSpPr>
            <p:cNvPr id="37" name="Group 319"/>
            <p:cNvGrpSpPr>
              <a:grpSpLocks/>
            </p:cNvGrpSpPr>
            <p:nvPr/>
          </p:nvGrpSpPr>
          <p:grpSpPr bwMode="auto">
            <a:xfrm>
              <a:off x="1628" y="1815"/>
              <a:ext cx="320" cy="250"/>
              <a:chOff x="2880" y="1104"/>
              <a:chExt cx="367" cy="343"/>
            </a:xfrm>
          </p:grpSpPr>
          <p:sp>
            <p:nvSpPr>
              <p:cNvPr id="38" name="Oval 32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39" name="Text Box 32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D</a:t>
                </a:r>
              </a:p>
            </p:txBody>
          </p:sp>
        </p:grpSp>
      </p:grpSp>
      <p:grpSp>
        <p:nvGrpSpPr>
          <p:cNvPr id="46" name="Group 322"/>
          <p:cNvGrpSpPr>
            <a:grpSpLocks/>
          </p:cNvGrpSpPr>
          <p:nvPr/>
        </p:nvGrpSpPr>
        <p:grpSpPr bwMode="auto">
          <a:xfrm>
            <a:off x="4495800" y="2395538"/>
            <a:ext cx="1371600" cy="1620837"/>
            <a:chOff x="3392" y="1389"/>
            <a:chExt cx="864" cy="1021"/>
          </a:xfrm>
        </p:grpSpPr>
        <p:sp>
          <p:nvSpPr>
            <p:cNvPr id="47" name="Line 323"/>
            <p:cNvSpPr>
              <a:spLocks noChangeShapeType="1"/>
            </p:cNvSpPr>
            <p:nvPr/>
          </p:nvSpPr>
          <p:spPr bwMode="auto">
            <a:xfrm flipH="1">
              <a:off x="3552" y="1575"/>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8" name="Line 324"/>
            <p:cNvSpPr>
              <a:spLocks noChangeShapeType="1"/>
            </p:cNvSpPr>
            <p:nvPr/>
          </p:nvSpPr>
          <p:spPr bwMode="auto">
            <a:xfrm>
              <a:off x="3840" y="1623"/>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49" name="Group 325"/>
            <p:cNvGrpSpPr>
              <a:grpSpLocks/>
            </p:cNvGrpSpPr>
            <p:nvPr/>
          </p:nvGrpSpPr>
          <p:grpSpPr bwMode="auto">
            <a:xfrm>
              <a:off x="3664" y="1389"/>
              <a:ext cx="320" cy="250"/>
              <a:chOff x="2880" y="1104"/>
              <a:chExt cx="367" cy="343"/>
            </a:xfrm>
          </p:grpSpPr>
          <p:sp>
            <p:nvSpPr>
              <p:cNvPr id="60" name="Oval 32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1" name="Text Box 32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I</a:t>
                </a:r>
              </a:p>
            </p:txBody>
          </p:sp>
        </p:grpSp>
        <p:sp>
          <p:nvSpPr>
            <p:cNvPr id="50" name="Line 328"/>
            <p:cNvSpPr>
              <a:spLocks noChangeShapeType="1"/>
            </p:cNvSpPr>
            <p:nvPr/>
          </p:nvSpPr>
          <p:spPr bwMode="auto">
            <a:xfrm>
              <a:off x="4080" y="1959"/>
              <a:ext cx="0" cy="288"/>
            </a:xfrm>
            <a:prstGeom prst="line">
              <a:avLst/>
            </a:prstGeom>
            <a:noFill/>
            <a:ln w="12700" cap="rnd">
              <a:solidFill>
                <a:srgbClr val="99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51" name="Group 329"/>
            <p:cNvGrpSpPr>
              <a:grpSpLocks/>
            </p:cNvGrpSpPr>
            <p:nvPr/>
          </p:nvGrpSpPr>
          <p:grpSpPr bwMode="auto">
            <a:xfrm>
              <a:off x="3936" y="1752"/>
              <a:ext cx="320" cy="250"/>
              <a:chOff x="2880" y="1104"/>
              <a:chExt cx="367" cy="343"/>
            </a:xfrm>
          </p:grpSpPr>
          <p:sp>
            <p:nvSpPr>
              <p:cNvPr id="58" name="Oval 33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9" name="Text Box 33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K</a:t>
                </a:r>
              </a:p>
            </p:txBody>
          </p:sp>
        </p:grpSp>
        <p:grpSp>
          <p:nvGrpSpPr>
            <p:cNvPr id="52" name="Group 332"/>
            <p:cNvGrpSpPr>
              <a:grpSpLocks/>
            </p:cNvGrpSpPr>
            <p:nvPr/>
          </p:nvGrpSpPr>
          <p:grpSpPr bwMode="auto">
            <a:xfrm>
              <a:off x="3392" y="1752"/>
              <a:ext cx="320" cy="250"/>
              <a:chOff x="2880" y="1104"/>
              <a:chExt cx="367" cy="343"/>
            </a:xfrm>
          </p:grpSpPr>
          <p:sp>
            <p:nvSpPr>
              <p:cNvPr id="56" name="Oval 33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7" name="Text Box 33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J</a:t>
                </a:r>
              </a:p>
            </p:txBody>
          </p:sp>
        </p:grpSp>
        <p:grpSp>
          <p:nvGrpSpPr>
            <p:cNvPr id="53" name="Group 335"/>
            <p:cNvGrpSpPr>
              <a:grpSpLocks/>
            </p:cNvGrpSpPr>
            <p:nvPr/>
          </p:nvGrpSpPr>
          <p:grpSpPr bwMode="auto">
            <a:xfrm>
              <a:off x="3936" y="2160"/>
              <a:ext cx="317" cy="250"/>
              <a:chOff x="2880" y="1104"/>
              <a:chExt cx="367" cy="343"/>
            </a:xfrm>
          </p:grpSpPr>
          <p:sp>
            <p:nvSpPr>
              <p:cNvPr id="54" name="Oval 33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5" name="Text Box 33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L</a:t>
                </a:r>
              </a:p>
            </p:txBody>
          </p:sp>
        </p:grpSp>
      </p:grpSp>
      <p:sp>
        <p:nvSpPr>
          <p:cNvPr id="62" name="Oval 447"/>
          <p:cNvSpPr>
            <a:spLocks noChangeArrowheads="1"/>
          </p:cNvSpPr>
          <p:nvPr/>
        </p:nvSpPr>
        <p:spPr bwMode="auto">
          <a:xfrm>
            <a:off x="752475" y="1870075"/>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a:solidFill>
                  <a:srgbClr val="000000"/>
                </a:solidFill>
                <a:latin typeface="Times New Roman" pitchFamily="18" charset="0"/>
              </a:rPr>
              <a:t>例</a:t>
            </a:r>
          </a:p>
        </p:txBody>
      </p:sp>
      <p:sp>
        <p:nvSpPr>
          <p:cNvPr id="63" name="TextBox 62"/>
          <p:cNvSpPr txBox="1">
            <a:spLocks noChangeArrowheads="1"/>
          </p:cNvSpPr>
          <p:nvPr/>
        </p:nvSpPr>
        <p:spPr bwMode="auto">
          <a:xfrm>
            <a:off x="881063" y="5588000"/>
            <a:ext cx="481012"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FF0000"/>
                </a:solidFill>
                <a:latin typeface="Times New Roman" pitchFamily="18" charset="0"/>
              </a:rPr>
              <a:t>A</a:t>
            </a:r>
            <a:endParaRPr kumimoji="1" lang="zh-CN" altLang="en-US" sz="3200" b="1">
              <a:solidFill>
                <a:srgbClr val="FF0000"/>
              </a:solidFill>
              <a:latin typeface="Times New Roman" pitchFamily="18" charset="0"/>
            </a:endParaRPr>
          </a:p>
        </p:txBody>
      </p:sp>
      <p:sp>
        <p:nvSpPr>
          <p:cNvPr id="64" name="TextBox 63"/>
          <p:cNvSpPr txBox="1">
            <a:spLocks noChangeArrowheads="1"/>
          </p:cNvSpPr>
          <p:nvPr/>
        </p:nvSpPr>
        <p:spPr bwMode="auto">
          <a:xfrm>
            <a:off x="1524000" y="5588000"/>
            <a:ext cx="458788"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B</a:t>
            </a:r>
            <a:endParaRPr kumimoji="1" lang="zh-CN" altLang="en-US" sz="3200" b="1">
              <a:solidFill>
                <a:srgbClr val="000000"/>
              </a:solidFill>
              <a:latin typeface="Times New Roman" pitchFamily="18" charset="0"/>
            </a:endParaRPr>
          </a:p>
        </p:txBody>
      </p:sp>
      <p:sp>
        <p:nvSpPr>
          <p:cNvPr id="65" name="TextBox 64"/>
          <p:cNvSpPr txBox="1">
            <a:spLocks noChangeArrowheads="1"/>
          </p:cNvSpPr>
          <p:nvPr/>
        </p:nvSpPr>
        <p:spPr bwMode="auto">
          <a:xfrm>
            <a:off x="2238375" y="5588000"/>
            <a:ext cx="481013"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C</a:t>
            </a:r>
            <a:endParaRPr kumimoji="1" lang="zh-CN" altLang="en-US" sz="3200" b="1">
              <a:solidFill>
                <a:srgbClr val="000000"/>
              </a:solidFill>
              <a:latin typeface="Times New Roman" pitchFamily="18" charset="0"/>
            </a:endParaRPr>
          </a:p>
        </p:txBody>
      </p:sp>
      <p:sp>
        <p:nvSpPr>
          <p:cNvPr id="66" name="TextBox 65"/>
          <p:cNvSpPr txBox="1">
            <a:spLocks noChangeArrowheads="1"/>
          </p:cNvSpPr>
          <p:nvPr/>
        </p:nvSpPr>
        <p:spPr bwMode="auto">
          <a:xfrm>
            <a:off x="3024188" y="5588000"/>
            <a:ext cx="481012"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D</a:t>
            </a:r>
            <a:endParaRPr kumimoji="1" lang="zh-CN" altLang="en-US" sz="3200" b="1">
              <a:solidFill>
                <a:srgbClr val="000000"/>
              </a:solidFill>
              <a:latin typeface="Times New Roman" pitchFamily="18" charset="0"/>
            </a:endParaRPr>
          </a:p>
        </p:txBody>
      </p:sp>
      <p:sp>
        <p:nvSpPr>
          <p:cNvPr id="67" name="TextBox 66"/>
          <p:cNvSpPr txBox="1">
            <a:spLocks noChangeArrowheads="1"/>
          </p:cNvSpPr>
          <p:nvPr/>
        </p:nvSpPr>
        <p:spPr bwMode="auto">
          <a:xfrm>
            <a:off x="3543300" y="5575300"/>
            <a:ext cx="458788"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E</a:t>
            </a:r>
            <a:endParaRPr kumimoji="1" lang="zh-CN" altLang="en-US" sz="3200" b="1">
              <a:solidFill>
                <a:srgbClr val="000000"/>
              </a:solidFill>
              <a:latin typeface="Times New Roman" pitchFamily="18" charset="0"/>
            </a:endParaRPr>
          </a:p>
        </p:txBody>
      </p:sp>
      <p:sp>
        <p:nvSpPr>
          <p:cNvPr id="68" name="TextBox 67"/>
          <p:cNvSpPr txBox="1">
            <a:spLocks noChangeArrowheads="1"/>
          </p:cNvSpPr>
          <p:nvPr/>
        </p:nvSpPr>
        <p:spPr bwMode="auto">
          <a:xfrm>
            <a:off x="4186238" y="5575300"/>
            <a:ext cx="434975"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F</a:t>
            </a:r>
            <a:endParaRPr kumimoji="1" lang="zh-CN" altLang="en-US" sz="3200" b="1">
              <a:solidFill>
                <a:srgbClr val="000000"/>
              </a:solidFill>
              <a:latin typeface="Times New Roman" pitchFamily="18" charset="0"/>
            </a:endParaRPr>
          </a:p>
        </p:txBody>
      </p:sp>
      <p:sp>
        <p:nvSpPr>
          <p:cNvPr id="69" name="TextBox 68"/>
          <p:cNvSpPr txBox="1">
            <a:spLocks noChangeArrowheads="1"/>
          </p:cNvSpPr>
          <p:nvPr/>
        </p:nvSpPr>
        <p:spPr bwMode="auto">
          <a:xfrm>
            <a:off x="4900613" y="5575300"/>
            <a:ext cx="503237"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G</a:t>
            </a:r>
            <a:endParaRPr kumimoji="1" lang="zh-CN" altLang="en-US" sz="3200" b="1">
              <a:solidFill>
                <a:srgbClr val="000000"/>
              </a:solidFill>
              <a:latin typeface="Times New Roman" pitchFamily="18" charset="0"/>
            </a:endParaRPr>
          </a:p>
        </p:txBody>
      </p:sp>
      <p:sp>
        <p:nvSpPr>
          <p:cNvPr id="70" name="TextBox 69"/>
          <p:cNvSpPr txBox="1">
            <a:spLocks noChangeArrowheads="1"/>
          </p:cNvSpPr>
          <p:nvPr/>
        </p:nvSpPr>
        <p:spPr bwMode="auto">
          <a:xfrm>
            <a:off x="5686425" y="5575300"/>
            <a:ext cx="503238"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H</a:t>
            </a:r>
            <a:endParaRPr kumimoji="1" lang="zh-CN" altLang="en-US" sz="3200" b="1">
              <a:solidFill>
                <a:srgbClr val="000000"/>
              </a:solidFill>
              <a:latin typeface="Times New Roman" pitchFamily="18" charset="0"/>
            </a:endParaRPr>
          </a:p>
        </p:txBody>
      </p:sp>
      <p:sp>
        <p:nvSpPr>
          <p:cNvPr id="71" name="TextBox 70"/>
          <p:cNvSpPr txBox="1">
            <a:spLocks noChangeArrowheads="1"/>
          </p:cNvSpPr>
          <p:nvPr/>
        </p:nvSpPr>
        <p:spPr bwMode="auto">
          <a:xfrm>
            <a:off x="6257925" y="5575300"/>
            <a:ext cx="344488"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I</a:t>
            </a:r>
            <a:endParaRPr kumimoji="1" lang="zh-CN" altLang="en-US" sz="3200" b="1">
              <a:solidFill>
                <a:srgbClr val="000000"/>
              </a:solidFill>
              <a:latin typeface="Times New Roman" pitchFamily="18" charset="0"/>
            </a:endParaRPr>
          </a:p>
        </p:txBody>
      </p:sp>
      <p:sp>
        <p:nvSpPr>
          <p:cNvPr id="72" name="TextBox 71"/>
          <p:cNvSpPr txBox="1">
            <a:spLocks noChangeArrowheads="1"/>
          </p:cNvSpPr>
          <p:nvPr/>
        </p:nvSpPr>
        <p:spPr bwMode="auto">
          <a:xfrm>
            <a:off x="6900863" y="5575300"/>
            <a:ext cx="388937"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J</a:t>
            </a:r>
            <a:endParaRPr kumimoji="1" lang="zh-CN" altLang="en-US" sz="3200" b="1">
              <a:solidFill>
                <a:srgbClr val="000000"/>
              </a:solidFill>
              <a:latin typeface="Times New Roman" pitchFamily="18" charset="0"/>
            </a:endParaRPr>
          </a:p>
        </p:txBody>
      </p:sp>
      <p:sp>
        <p:nvSpPr>
          <p:cNvPr id="73" name="TextBox 72"/>
          <p:cNvSpPr txBox="1">
            <a:spLocks noChangeArrowheads="1"/>
          </p:cNvSpPr>
          <p:nvPr/>
        </p:nvSpPr>
        <p:spPr bwMode="auto">
          <a:xfrm>
            <a:off x="7615238" y="5575300"/>
            <a:ext cx="503237"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K</a:t>
            </a:r>
            <a:endParaRPr kumimoji="1" lang="zh-CN" altLang="en-US" sz="3200" b="1">
              <a:solidFill>
                <a:srgbClr val="000000"/>
              </a:solidFill>
              <a:latin typeface="Times New Roman" pitchFamily="18" charset="0"/>
            </a:endParaRPr>
          </a:p>
        </p:txBody>
      </p:sp>
      <p:sp>
        <p:nvSpPr>
          <p:cNvPr id="74" name="TextBox 73"/>
          <p:cNvSpPr txBox="1">
            <a:spLocks noChangeArrowheads="1"/>
          </p:cNvSpPr>
          <p:nvPr/>
        </p:nvSpPr>
        <p:spPr bwMode="auto">
          <a:xfrm>
            <a:off x="8401050" y="5575300"/>
            <a:ext cx="458788"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L</a:t>
            </a:r>
            <a:endParaRPr kumimoji="1" lang="zh-CN" altLang="en-US" sz="3200" b="1">
              <a:solidFill>
                <a:srgbClr val="000000"/>
              </a:solidFill>
              <a:latin typeface="Times New Roman" pitchFamily="18" charset="0"/>
            </a:endParaRPr>
          </a:p>
        </p:txBody>
      </p:sp>
    </p:spTree>
    <p:extLst>
      <p:ext uri="{BB962C8B-B14F-4D97-AF65-F5344CB8AC3E}">
        <p14:creationId xmlns:p14="http://schemas.microsoft.com/office/powerpoint/2010/main" val="3432074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box(in)">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blinds(horizontal)">
                                      <p:cBhvr>
                                        <p:cTn id="12" dur="5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blinds(horizontal)">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6"/>
                                        </p:tgtEl>
                                        <p:attrNameLst>
                                          <p:attrName>style.visibility</p:attrName>
                                        </p:attrNameLst>
                                      </p:cBhvr>
                                      <p:to>
                                        <p:strVal val="visible"/>
                                      </p:to>
                                    </p:set>
                                    <p:animEffect transition="in" filter="blinds(horizontal)">
                                      <p:cBhvr>
                                        <p:cTn id="22" dur="500"/>
                                        <p:tgtEl>
                                          <p:spTgt spid="6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blinds(horizontal)">
                                      <p:cBhvr>
                                        <p:cTn id="27" dur="500"/>
                                        <p:tgtEl>
                                          <p:spTgt spid="6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8"/>
                                        </p:tgtEl>
                                        <p:attrNameLst>
                                          <p:attrName>style.visibility</p:attrName>
                                        </p:attrNameLst>
                                      </p:cBhvr>
                                      <p:to>
                                        <p:strVal val="visible"/>
                                      </p:to>
                                    </p:set>
                                    <p:animEffect transition="in" filter="blinds(horizontal)">
                                      <p:cBhvr>
                                        <p:cTn id="32" dur="500"/>
                                        <p:tgtEl>
                                          <p:spTgt spid="6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blinds(horizontal)">
                                      <p:cBhvr>
                                        <p:cTn id="37" dur="500"/>
                                        <p:tgtEl>
                                          <p:spTgt spid="6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0"/>
                                        </p:tgtEl>
                                        <p:attrNameLst>
                                          <p:attrName>style.visibility</p:attrName>
                                        </p:attrNameLst>
                                      </p:cBhvr>
                                      <p:to>
                                        <p:strVal val="visible"/>
                                      </p:to>
                                    </p:set>
                                    <p:animEffect transition="in" filter="blinds(horizontal)">
                                      <p:cBhvr>
                                        <p:cTn id="42" dur="500"/>
                                        <p:tgtEl>
                                          <p:spTgt spid="7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1"/>
                                        </p:tgtEl>
                                        <p:attrNameLst>
                                          <p:attrName>style.visibility</p:attrName>
                                        </p:attrNameLst>
                                      </p:cBhvr>
                                      <p:to>
                                        <p:strVal val="visible"/>
                                      </p:to>
                                    </p:set>
                                    <p:animEffect transition="in" filter="blinds(horizontal)">
                                      <p:cBhvr>
                                        <p:cTn id="47" dur="500"/>
                                        <p:tgtEl>
                                          <p:spTgt spid="7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blinds(horizontal)">
                                      <p:cBhvr>
                                        <p:cTn id="52" dur="500"/>
                                        <p:tgtEl>
                                          <p:spTgt spid="72"/>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3"/>
                                        </p:tgtEl>
                                        <p:attrNameLst>
                                          <p:attrName>style.visibility</p:attrName>
                                        </p:attrNameLst>
                                      </p:cBhvr>
                                      <p:to>
                                        <p:strVal val="visible"/>
                                      </p:to>
                                    </p:set>
                                    <p:animEffect transition="in" filter="blinds(horizontal)">
                                      <p:cBhvr>
                                        <p:cTn id="57" dur="500"/>
                                        <p:tgtEl>
                                          <p:spTgt spid="73"/>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74"/>
                                        </p:tgtEl>
                                        <p:attrNameLst>
                                          <p:attrName>style.visibility</p:attrName>
                                        </p:attrNameLst>
                                      </p:cBhvr>
                                      <p:to>
                                        <p:strVal val="visible"/>
                                      </p:to>
                                    </p:set>
                                    <p:animEffect transition="in" filter="blinds(horizontal)">
                                      <p:cBhvr>
                                        <p:cTn id="62"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p:bldP spid="65" grpId="0"/>
      <p:bldP spid="66" grpId="0"/>
      <p:bldP spid="67" grpId="0"/>
      <p:bldP spid="68" grpId="0"/>
      <p:bldP spid="69" grpId="0"/>
      <p:bldP spid="70" grpId="0"/>
      <p:bldP spid="71" grpId="0"/>
      <p:bldP spid="72" grpId="0"/>
      <p:bldP spid="73" grpId="0"/>
      <p:bldP spid="74"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森林的后序（中序）遍历</a:t>
            </a:r>
          </a:p>
        </p:txBody>
      </p:sp>
      <p:sp>
        <p:nvSpPr>
          <p:cNvPr id="4" name="日期占位符 3"/>
          <p:cNvSpPr>
            <a:spLocks noGrp="1"/>
          </p:cNvSpPr>
          <p:nvPr>
            <p:ph type="dt" sz="half" idx="10"/>
          </p:nvPr>
        </p:nvSpPr>
        <p:spPr/>
        <p:txBody>
          <a:bodyPr/>
          <a:lstStyle/>
          <a:p>
            <a:fld id="{912ABC1C-5AEA-40A1-B9FB-5B90E6CE736E}"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154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3"/>
          <p:cNvSpPr>
            <a:spLocks noChangeArrowheads="1"/>
          </p:cNvSpPr>
          <p:nvPr/>
        </p:nvSpPr>
        <p:spPr bwMode="auto">
          <a:xfrm>
            <a:off x="484188" y="2362200"/>
            <a:ext cx="5598007" cy="2798843"/>
          </a:xfrm>
          <a:prstGeom prst="rect">
            <a:avLst/>
          </a:prstGeom>
          <a:noFill/>
          <a:ln w="12700" cap="sq">
            <a:solidFill>
              <a:srgbClr val="003300"/>
            </a:solidFill>
            <a:miter lim="800000"/>
            <a:headEnd type="none" w="sm" len="sm"/>
            <a:tailEnd type="none" w="sm" len="sm"/>
          </a:ln>
        </p:spPr>
        <p:txBody>
          <a:bodyPr wrap="none">
            <a:spAutoFit/>
          </a:bodyPr>
          <a:lstStyle/>
          <a:p>
            <a:pPr fontAlgn="base">
              <a:lnSpc>
                <a:spcPct val="125000"/>
              </a:lnSpc>
              <a:spcBef>
                <a:spcPct val="0"/>
              </a:spcBef>
              <a:spcAft>
                <a:spcPct val="0"/>
              </a:spcAft>
              <a:buFont typeface="Wingdings" pitchFamily="2" charset="2"/>
              <a:buChar char="p"/>
            </a:pPr>
            <a:r>
              <a:rPr kumimoji="1" lang="zh-CN" altLang="en-US" sz="2400" b="1" dirty="0">
                <a:solidFill>
                  <a:srgbClr val="FF0000"/>
                </a:solidFill>
                <a:latin typeface="Times New Roman" pitchFamily="18" charset="0"/>
              </a:rPr>
              <a:t> （中）后序遍历</a:t>
            </a:r>
          </a:p>
          <a:p>
            <a:pPr fontAlgn="base">
              <a:lnSpc>
                <a:spcPct val="125000"/>
              </a:lnSpc>
              <a:spcBef>
                <a:spcPct val="0"/>
              </a:spcBef>
              <a:spcAft>
                <a:spcPct val="0"/>
              </a:spcAft>
            </a:pPr>
            <a:r>
              <a:rPr kumimoji="1" lang="zh-CN" altLang="en-US" sz="2400" b="1" dirty="0">
                <a:solidFill>
                  <a:srgbClr val="0000CC"/>
                </a:solidFill>
                <a:latin typeface="宋体" pitchFamily="2" charset="-122"/>
              </a:rPr>
              <a:t>若森林不空，则</a:t>
            </a:r>
          </a:p>
          <a:p>
            <a:pPr fontAlgn="base">
              <a:lnSpc>
                <a:spcPct val="125000"/>
              </a:lnSpc>
              <a:spcBef>
                <a:spcPct val="0"/>
              </a:spcBef>
              <a:spcAft>
                <a:spcPct val="0"/>
              </a:spcAft>
              <a:buFontTx/>
              <a:buChar char="•"/>
            </a:pPr>
            <a:r>
              <a:rPr kumimoji="1" lang="zh-CN" altLang="en-US" sz="2400" b="1" dirty="0">
                <a:solidFill>
                  <a:srgbClr val="0000CC"/>
                </a:solidFill>
                <a:latin typeface="宋体" pitchFamily="2" charset="-122"/>
              </a:rPr>
              <a:t>后序遍历森林中</a:t>
            </a:r>
            <a:r>
              <a:rPr kumimoji="1" lang="zh-CN" altLang="en-US" sz="2400" b="1" dirty="0">
                <a:solidFill>
                  <a:srgbClr val="FF0000"/>
                </a:solidFill>
                <a:latin typeface="宋体" pitchFamily="2" charset="-122"/>
              </a:rPr>
              <a:t>第一棵树的子树森林</a:t>
            </a:r>
            <a:r>
              <a:rPr kumimoji="1" lang="zh-CN" altLang="en-US" sz="2400" b="1" dirty="0">
                <a:solidFill>
                  <a:srgbClr val="0000CC"/>
                </a:solidFill>
                <a:latin typeface="宋体" pitchFamily="2" charset="-122"/>
              </a:rPr>
              <a:t>；</a:t>
            </a:r>
          </a:p>
          <a:p>
            <a:pPr fontAlgn="base">
              <a:lnSpc>
                <a:spcPct val="125000"/>
              </a:lnSpc>
              <a:spcBef>
                <a:spcPct val="0"/>
              </a:spcBef>
              <a:spcAft>
                <a:spcPct val="0"/>
              </a:spcAft>
              <a:buFontTx/>
              <a:buChar char="•"/>
            </a:pPr>
            <a:r>
              <a:rPr kumimoji="1" lang="zh-CN" altLang="en-US" sz="2400" b="1" dirty="0">
                <a:solidFill>
                  <a:srgbClr val="0000CC"/>
                </a:solidFill>
                <a:latin typeface="宋体" pitchFamily="2" charset="-122"/>
              </a:rPr>
              <a:t>访问森林中</a:t>
            </a:r>
            <a:r>
              <a:rPr kumimoji="1" lang="zh-CN" altLang="en-US" sz="2400" b="1" dirty="0">
                <a:solidFill>
                  <a:srgbClr val="FF0000"/>
                </a:solidFill>
                <a:latin typeface="宋体" pitchFamily="2" charset="-122"/>
              </a:rPr>
              <a:t>第一棵树的根结点</a:t>
            </a:r>
            <a:r>
              <a:rPr kumimoji="1" lang="zh-CN" altLang="en-US" sz="2400" b="1" dirty="0">
                <a:solidFill>
                  <a:srgbClr val="0000CC"/>
                </a:solidFill>
                <a:latin typeface="宋体" pitchFamily="2" charset="-122"/>
              </a:rPr>
              <a:t>；</a:t>
            </a:r>
          </a:p>
          <a:p>
            <a:pPr fontAlgn="base">
              <a:lnSpc>
                <a:spcPct val="125000"/>
              </a:lnSpc>
              <a:spcBef>
                <a:spcPct val="0"/>
              </a:spcBef>
              <a:spcAft>
                <a:spcPct val="0"/>
              </a:spcAft>
              <a:buFontTx/>
              <a:buChar char="•"/>
            </a:pPr>
            <a:r>
              <a:rPr kumimoji="1" lang="zh-CN" altLang="en-US" sz="2400" b="1" dirty="0">
                <a:solidFill>
                  <a:srgbClr val="0000CC"/>
                </a:solidFill>
                <a:latin typeface="宋体" pitchFamily="2" charset="-122"/>
              </a:rPr>
              <a:t>后序遍历森林中</a:t>
            </a:r>
            <a:r>
              <a:rPr kumimoji="1" lang="en-US" altLang="zh-CN" sz="2400" b="1" dirty="0">
                <a:solidFill>
                  <a:srgbClr val="0000CC"/>
                </a:solidFill>
                <a:latin typeface="宋体" pitchFamily="2" charset="-122"/>
              </a:rPr>
              <a:t>(</a:t>
            </a:r>
            <a:r>
              <a:rPr kumimoji="1" lang="zh-CN" altLang="en-US" sz="2400" b="1" dirty="0">
                <a:solidFill>
                  <a:srgbClr val="0000CC"/>
                </a:solidFill>
                <a:latin typeface="宋体" pitchFamily="2" charset="-122"/>
              </a:rPr>
              <a:t>除第一棵树之外</a:t>
            </a:r>
            <a:r>
              <a:rPr kumimoji="1" lang="en-US" altLang="zh-CN" sz="2400" b="1" dirty="0">
                <a:solidFill>
                  <a:srgbClr val="0000CC"/>
                </a:solidFill>
                <a:latin typeface="宋体" pitchFamily="2" charset="-122"/>
              </a:rPr>
              <a:t>)</a:t>
            </a:r>
            <a:r>
              <a:rPr kumimoji="1" lang="zh-CN" altLang="en-US" sz="2400" b="1" dirty="0">
                <a:solidFill>
                  <a:srgbClr val="0000CC"/>
                </a:solidFill>
                <a:latin typeface="宋体" pitchFamily="2" charset="-122"/>
              </a:rPr>
              <a:t>其</a:t>
            </a:r>
            <a:br>
              <a:rPr kumimoji="1" lang="zh-CN" altLang="en-US" sz="2400" b="1" dirty="0">
                <a:solidFill>
                  <a:srgbClr val="0000CC"/>
                </a:solidFill>
                <a:latin typeface="宋体" pitchFamily="2" charset="-122"/>
              </a:rPr>
            </a:br>
            <a:r>
              <a:rPr kumimoji="1" lang="zh-CN" altLang="en-US" sz="2400" b="1" dirty="0">
                <a:solidFill>
                  <a:srgbClr val="0000CC"/>
                </a:solidFill>
                <a:latin typeface="宋体" pitchFamily="2" charset="-122"/>
              </a:rPr>
              <a:t>余树构成的森林。</a:t>
            </a:r>
          </a:p>
        </p:txBody>
      </p:sp>
      <p:sp>
        <p:nvSpPr>
          <p:cNvPr id="14" name="Rectangle 4"/>
          <p:cNvSpPr>
            <a:spLocks noChangeArrowheads="1"/>
          </p:cNvSpPr>
          <p:nvPr/>
        </p:nvSpPr>
        <p:spPr bwMode="auto">
          <a:xfrm>
            <a:off x="523875" y="5334000"/>
            <a:ext cx="5038725" cy="978729"/>
          </a:xfrm>
          <a:prstGeom prst="rect">
            <a:avLst/>
          </a:prstGeom>
          <a:noFill/>
          <a:ln w="12700" cap="sq">
            <a:solidFill>
              <a:srgbClr val="003300"/>
            </a:solidFill>
            <a:miter lim="800000"/>
            <a:headEnd type="none" w="sm" len="sm"/>
            <a:tailEnd type="none" w="sm" len="sm"/>
          </a:ln>
        </p:spPr>
        <p:txBody>
          <a:bodyPr wrap="square">
            <a:spAutoFit/>
          </a:bodyPr>
          <a:lstStyle/>
          <a:p>
            <a:pPr fontAlgn="base">
              <a:lnSpc>
                <a:spcPct val="120000"/>
              </a:lnSpc>
              <a:spcBef>
                <a:spcPct val="0"/>
              </a:spcBef>
              <a:spcAft>
                <a:spcPct val="0"/>
              </a:spcAft>
            </a:pPr>
            <a:r>
              <a:rPr kumimoji="1" lang="zh-CN" altLang="en-US" sz="2400" b="1">
                <a:solidFill>
                  <a:srgbClr val="0000CC"/>
                </a:solidFill>
                <a:latin typeface="宋体" pitchFamily="2" charset="-122"/>
              </a:rPr>
              <a:t>即依次从</a:t>
            </a:r>
            <a:r>
              <a:rPr kumimoji="1" lang="zh-CN" altLang="en-US" sz="2400" b="1">
                <a:solidFill>
                  <a:srgbClr val="FF0000"/>
                </a:solidFill>
                <a:latin typeface="宋体" pitchFamily="2" charset="-122"/>
              </a:rPr>
              <a:t>左至右</a:t>
            </a:r>
            <a:r>
              <a:rPr kumimoji="1" lang="zh-CN" altLang="en-US" sz="2400" b="1">
                <a:solidFill>
                  <a:srgbClr val="0000CC"/>
                </a:solidFill>
                <a:latin typeface="宋体" pitchFamily="2" charset="-122"/>
              </a:rPr>
              <a:t>对森林中的</a:t>
            </a:r>
          </a:p>
          <a:p>
            <a:pPr fontAlgn="base">
              <a:lnSpc>
                <a:spcPct val="120000"/>
              </a:lnSpc>
              <a:spcBef>
                <a:spcPct val="0"/>
              </a:spcBef>
              <a:spcAft>
                <a:spcPct val="0"/>
              </a:spcAft>
            </a:pPr>
            <a:r>
              <a:rPr kumimoji="1" lang="zh-CN" altLang="en-US" sz="2400" b="1">
                <a:solidFill>
                  <a:srgbClr val="0000CC"/>
                </a:solidFill>
                <a:latin typeface="宋体" pitchFamily="2" charset="-122"/>
              </a:rPr>
              <a:t>每一棵树进行</a:t>
            </a:r>
            <a:r>
              <a:rPr kumimoji="1" lang="zh-CN" altLang="en-US" sz="2400" b="1">
                <a:solidFill>
                  <a:srgbClr val="FF0000"/>
                </a:solidFill>
                <a:latin typeface="宋体" pitchFamily="2" charset="-122"/>
              </a:rPr>
              <a:t>后根</a:t>
            </a:r>
            <a:r>
              <a:rPr kumimoji="1" lang="zh-CN" altLang="en-US" sz="2400" b="1">
                <a:solidFill>
                  <a:srgbClr val="0000CC"/>
                </a:solidFill>
                <a:latin typeface="宋体" pitchFamily="2" charset="-122"/>
              </a:rPr>
              <a:t>遍历。</a:t>
            </a:r>
          </a:p>
        </p:txBody>
      </p:sp>
      <p:sp>
        <p:nvSpPr>
          <p:cNvPr id="15" name="AutoShape 22">
            <a:hlinkClick r:id="rId4" action="ppaction://hlinkfile"/>
          </p:cNvPr>
          <p:cNvSpPr>
            <a:spLocks noChangeArrowheads="1"/>
          </p:cNvSpPr>
          <p:nvPr/>
        </p:nvSpPr>
        <p:spPr bwMode="auto">
          <a:xfrm>
            <a:off x="6248400" y="5257800"/>
            <a:ext cx="2805112" cy="1219200"/>
          </a:xfrm>
          <a:custGeom>
            <a:avLst/>
            <a:gdLst>
              <a:gd name="T0" fmla="*/ 220388489 w 21600"/>
              <a:gd name="T1" fmla="*/ 0 h 21600"/>
              <a:gd name="T2" fmla="*/ 0 w 21600"/>
              <a:gd name="T3" fmla="*/ 47990900 h 21600"/>
              <a:gd name="T4" fmla="*/ 220388489 w 21600"/>
              <a:gd name="T5" fmla="*/ 95981733 h 21600"/>
              <a:gd name="T6" fmla="*/ 293851279 w 21600"/>
              <a:gd name="T7" fmla="*/ 479909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800" b="0" i="0" u="none" strike="noStrike" kern="0" cap="none" spc="0" normalizeH="0" baseline="0" noProof="0" dirty="0">
                <a:ln>
                  <a:noFill/>
                </a:ln>
                <a:solidFill>
                  <a:srgbClr val="003300"/>
                </a:solidFill>
                <a:effectLst/>
                <a:uLnTx/>
                <a:uFillTx/>
                <a:latin typeface="隶书" pitchFamily="49" charset="-122"/>
                <a:ea typeface="隶书" pitchFamily="49" charset="-122"/>
                <a:cs typeface="+mn-cs"/>
              </a:rPr>
              <a:t>后序遍历森林</a:t>
            </a:r>
          </a:p>
        </p:txBody>
      </p:sp>
      <p:sp>
        <p:nvSpPr>
          <p:cNvPr id="16" name="Rectangle 4"/>
          <p:cNvSpPr>
            <a:spLocks noChangeArrowheads="1"/>
          </p:cNvSpPr>
          <p:nvPr/>
        </p:nvSpPr>
        <p:spPr bwMode="auto">
          <a:xfrm>
            <a:off x="457200" y="1752600"/>
            <a:ext cx="5572125" cy="476669"/>
          </a:xfrm>
          <a:prstGeom prst="rect">
            <a:avLst/>
          </a:prstGeom>
          <a:noFill/>
          <a:ln w="12700" cap="sq">
            <a:solidFill>
              <a:srgbClr val="003300"/>
            </a:solidFill>
            <a:miter lim="800000"/>
            <a:headEnd type="none" w="sm" len="sm"/>
            <a:tailEnd type="none" w="sm" len="sm"/>
          </a:ln>
        </p:spPr>
        <p:txBody>
          <a:bodyPr>
            <a:spAutoFit/>
          </a:bodyPr>
          <a:lstStyle/>
          <a:p>
            <a:pPr fontAlgn="base">
              <a:lnSpc>
                <a:spcPct val="120000"/>
              </a:lnSpc>
              <a:spcBef>
                <a:spcPct val="0"/>
              </a:spcBef>
              <a:spcAft>
                <a:spcPct val="0"/>
              </a:spcAft>
            </a:pPr>
            <a:r>
              <a:rPr kumimoji="1" lang="zh-CN" altLang="en-US" sz="2400" b="1" dirty="0">
                <a:solidFill>
                  <a:srgbClr val="0000CC"/>
                </a:solidFill>
                <a:latin typeface="宋体" pitchFamily="2" charset="-122"/>
              </a:rPr>
              <a:t>不同教材的说法不一：中序或后序</a:t>
            </a:r>
          </a:p>
        </p:txBody>
      </p:sp>
    </p:spTree>
    <p:extLst>
      <p:ext uri="{BB962C8B-B14F-4D97-AF65-F5344CB8AC3E}">
        <p14:creationId xmlns:p14="http://schemas.microsoft.com/office/powerpoint/2010/main" val="664863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4"/>
                                        </p:tgtEl>
                                        <p:attrNameLst>
                                          <p:attrName>style.visibility</p:attrName>
                                        </p:attrNameLst>
                                      </p:cBhvr>
                                      <p:to>
                                        <p:strVal val="visible"/>
                                      </p:to>
                                    </p:set>
                                    <p:animEffect transition="in" filter="wipe(left)">
                                      <p:cBhvr>
                                        <p:cTn id="7"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森林的后序遍历</a:t>
            </a:r>
          </a:p>
        </p:txBody>
      </p:sp>
      <p:sp>
        <p:nvSpPr>
          <p:cNvPr id="4" name="日期占位符 3"/>
          <p:cNvSpPr>
            <a:spLocks noGrp="1"/>
          </p:cNvSpPr>
          <p:nvPr>
            <p:ph type="dt" sz="half" idx="10"/>
          </p:nvPr>
        </p:nvSpPr>
        <p:spPr/>
        <p:txBody>
          <a:bodyPr/>
          <a:lstStyle/>
          <a:p>
            <a:fld id="{68155F33-D27C-4918-956A-4259BED6111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155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289"/>
          <p:cNvSpPr>
            <a:spLocks noChangeArrowheads="1"/>
          </p:cNvSpPr>
          <p:nvPr/>
        </p:nvSpPr>
        <p:spPr bwMode="auto">
          <a:xfrm>
            <a:off x="1495425" y="1822450"/>
            <a:ext cx="4033838" cy="519113"/>
          </a:xfrm>
          <a:prstGeom prst="rect">
            <a:avLst/>
          </a:prstGeom>
          <a:noFill/>
          <a:ln w="12700" cap="rnd">
            <a:noFill/>
            <a:miter lim="800000"/>
            <a:headEnd/>
            <a:tailEnd/>
          </a:ln>
        </p:spPr>
        <p:txBody>
          <a:bodyPr>
            <a:spAutoFit/>
          </a:bodyPr>
          <a:lstStyle/>
          <a:p>
            <a:pPr fontAlgn="base">
              <a:spcBef>
                <a:spcPct val="30000"/>
              </a:spcBef>
              <a:spcAft>
                <a:spcPct val="0"/>
              </a:spcAft>
            </a:pPr>
            <a:r>
              <a:rPr kumimoji="1" lang="zh-CN" altLang="en-US" sz="2800" b="1">
                <a:solidFill>
                  <a:srgbClr val="000000"/>
                </a:solidFill>
                <a:latin typeface="宋体" pitchFamily="2" charset="-122"/>
              </a:rPr>
              <a:t>森林的遍历</a:t>
            </a:r>
          </a:p>
        </p:txBody>
      </p:sp>
      <p:grpSp>
        <p:nvGrpSpPr>
          <p:cNvPr id="14" name="Group 290"/>
          <p:cNvGrpSpPr>
            <a:grpSpLocks/>
          </p:cNvGrpSpPr>
          <p:nvPr/>
        </p:nvGrpSpPr>
        <p:grpSpPr bwMode="auto">
          <a:xfrm>
            <a:off x="2505075" y="2471738"/>
            <a:ext cx="1193800" cy="1692275"/>
            <a:chOff x="2400" y="1335"/>
            <a:chExt cx="752" cy="1066"/>
          </a:xfrm>
        </p:grpSpPr>
        <p:grpSp>
          <p:nvGrpSpPr>
            <p:cNvPr id="15" name="Group 291"/>
            <p:cNvGrpSpPr>
              <a:grpSpLocks/>
            </p:cNvGrpSpPr>
            <p:nvPr/>
          </p:nvGrpSpPr>
          <p:grpSpPr bwMode="auto">
            <a:xfrm>
              <a:off x="2621" y="1752"/>
              <a:ext cx="320" cy="250"/>
              <a:chOff x="2880" y="1104"/>
              <a:chExt cx="367" cy="343"/>
            </a:xfrm>
          </p:grpSpPr>
          <p:sp>
            <p:nvSpPr>
              <p:cNvPr id="29" name="Oval 29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30" name="Text Box 293"/>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F</a:t>
                </a:r>
              </a:p>
            </p:txBody>
          </p:sp>
        </p:grpSp>
        <p:sp>
          <p:nvSpPr>
            <p:cNvPr id="16" name="Line 294"/>
            <p:cNvSpPr>
              <a:spLocks noChangeShapeType="1"/>
            </p:cNvSpPr>
            <p:nvPr/>
          </p:nvSpPr>
          <p:spPr bwMode="auto">
            <a:xfrm flipH="1">
              <a:off x="2557" y="1979"/>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7" name="Line 295"/>
            <p:cNvSpPr>
              <a:spLocks noChangeShapeType="1"/>
            </p:cNvSpPr>
            <p:nvPr/>
          </p:nvSpPr>
          <p:spPr bwMode="auto">
            <a:xfrm>
              <a:off x="2832" y="1972"/>
              <a:ext cx="144"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9" name="Line 296"/>
            <p:cNvSpPr>
              <a:spLocks noChangeShapeType="1"/>
            </p:cNvSpPr>
            <p:nvPr/>
          </p:nvSpPr>
          <p:spPr bwMode="auto">
            <a:xfrm>
              <a:off x="2784" y="1576"/>
              <a:ext cx="0" cy="190"/>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20" name="Group 297"/>
            <p:cNvGrpSpPr>
              <a:grpSpLocks/>
            </p:cNvGrpSpPr>
            <p:nvPr/>
          </p:nvGrpSpPr>
          <p:grpSpPr bwMode="auto">
            <a:xfrm>
              <a:off x="2832" y="2151"/>
              <a:ext cx="320" cy="250"/>
              <a:chOff x="2880" y="1104"/>
              <a:chExt cx="367" cy="343"/>
            </a:xfrm>
          </p:grpSpPr>
          <p:sp>
            <p:nvSpPr>
              <p:cNvPr id="27" name="Oval 29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28" name="Text Box 29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H</a:t>
                </a:r>
              </a:p>
            </p:txBody>
          </p:sp>
        </p:grpSp>
        <p:grpSp>
          <p:nvGrpSpPr>
            <p:cNvPr id="21" name="Group 300"/>
            <p:cNvGrpSpPr>
              <a:grpSpLocks/>
            </p:cNvGrpSpPr>
            <p:nvPr/>
          </p:nvGrpSpPr>
          <p:grpSpPr bwMode="auto">
            <a:xfrm>
              <a:off x="2400" y="2151"/>
              <a:ext cx="320" cy="250"/>
              <a:chOff x="2880" y="1104"/>
              <a:chExt cx="367" cy="343"/>
            </a:xfrm>
          </p:grpSpPr>
          <p:sp>
            <p:nvSpPr>
              <p:cNvPr id="25" name="Oval 30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26" name="Text Box 30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G</a:t>
                </a:r>
              </a:p>
            </p:txBody>
          </p:sp>
        </p:grpSp>
        <p:grpSp>
          <p:nvGrpSpPr>
            <p:cNvPr id="22" name="Group 303"/>
            <p:cNvGrpSpPr>
              <a:grpSpLocks/>
            </p:cNvGrpSpPr>
            <p:nvPr/>
          </p:nvGrpSpPr>
          <p:grpSpPr bwMode="auto">
            <a:xfrm>
              <a:off x="2640" y="1335"/>
              <a:ext cx="320" cy="250"/>
              <a:chOff x="2880" y="1104"/>
              <a:chExt cx="367" cy="343"/>
            </a:xfrm>
          </p:grpSpPr>
          <p:sp>
            <p:nvSpPr>
              <p:cNvPr id="23" name="Oval 30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24" name="Text Box 30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E</a:t>
                </a:r>
              </a:p>
            </p:txBody>
          </p:sp>
        </p:grpSp>
      </p:grpSp>
      <p:grpSp>
        <p:nvGrpSpPr>
          <p:cNvPr id="31" name="Group 306"/>
          <p:cNvGrpSpPr>
            <a:grpSpLocks/>
          </p:cNvGrpSpPr>
          <p:nvPr/>
        </p:nvGrpSpPr>
        <p:grpSpPr bwMode="auto">
          <a:xfrm>
            <a:off x="344488" y="2543175"/>
            <a:ext cx="1955800" cy="1006475"/>
            <a:chOff x="716" y="1431"/>
            <a:chExt cx="1232" cy="634"/>
          </a:xfrm>
        </p:grpSpPr>
        <p:sp>
          <p:nvSpPr>
            <p:cNvPr id="32" name="Line 307"/>
            <p:cNvSpPr>
              <a:spLocks noChangeShapeType="1"/>
            </p:cNvSpPr>
            <p:nvPr/>
          </p:nvSpPr>
          <p:spPr bwMode="auto">
            <a:xfrm>
              <a:off x="1340" y="1670"/>
              <a:ext cx="0" cy="163"/>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33" name="Line 308"/>
            <p:cNvSpPr>
              <a:spLocks noChangeShapeType="1"/>
            </p:cNvSpPr>
            <p:nvPr/>
          </p:nvSpPr>
          <p:spPr bwMode="auto">
            <a:xfrm flipH="1">
              <a:off x="860" y="1623"/>
              <a:ext cx="384" cy="240"/>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34" name="Line 309"/>
            <p:cNvSpPr>
              <a:spLocks noChangeShapeType="1"/>
            </p:cNvSpPr>
            <p:nvPr/>
          </p:nvSpPr>
          <p:spPr bwMode="auto">
            <a:xfrm>
              <a:off x="1436" y="1623"/>
              <a:ext cx="288"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35" name="Group 310"/>
            <p:cNvGrpSpPr>
              <a:grpSpLocks/>
            </p:cNvGrpSpPr>
            <p:nvPr/>
          </p:nvGrpSpPr>
          <p:grpSpPr bwMode="auto">
            <a:xfrm>
              <a:off x="1196" y="1431"/>
              <a:ext cx="320" cy="250"/>
              <a:chOff x="2880" y="1104"/>
              <a:chExt cx="367" cy="343"/>
            </a:xfrm>
          </p:grpSpPr>
          <p:sp>
            <p:nvSpPr>
              <p:cNvPr id="45" name="Oval 31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6" name="Text Box 312"/>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A</a:t>
                </a:r>
              </a:p>
            </p:txBody>
          </p:sp>
        </p:grpSp>
        <p:grpSp>
          <p:nvGrpSpPr>
            <p:cNvPr id="36" name="Group 313"/>
            <p:cNvGrpSpPr>
              <a:grpSpLocks/>
            </p:cNvGrpSpPr>
            <p:nvPr/>
          </p:nvGrpSpPr>
          <p:grpSpPr bwMode="auto">
            <a:xfrm>
              <a:off x="1196" y="1815"/>
              <a:ext cx="320" cy="250"/>
              <a:chOff x="2880" y="1104"/>
              <a:chExt cx="367" cy="343"/>
            </a:xfrm>
          </p:grpSpPr>
          <p:sp>
            <p:nvSpPr>
              <p:cNvPr id="43" name="Oval 31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4" name="Text Box 315"/>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C</a:t>
                </a:r>
              </a:p>
            </p:txBody>
          </p:sp>
        </p:grpSp>
        <p:grpSp>
          <p:nvGrpSpPr>
            <p:cNvPr id="37" name="Group 316"/>
            <p:cNvGrpSpPr>
              <a:grpSpLocks/>
            </p:cNvGrpSpPr>
            <p:nvPr/>
          </p:nvGrpSpPr>
          <p:grpSpPr bwMode="auto">
            <a:xfrm>
              <a:off x="716" y="1815"/>
              <a:ext cx="320" cy="250"/>
              <a:chOff x="2880" y="1104"/>
              <a:chExt cx="367" cy="343"/>
            </a:xfrm>
          </p:grpSpPr>
          <p:sp>
            <p:nvSpPr>
              <p:cNvPr id="41" name="Oval 31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2" name="Text Box 318"/>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B</a:t>
                </a:r>
              </a:p>
            </p:txBody>
          </p:sp>
        </p:grpSp>
        <p:grpSp>
          <p:nvGrpSpPr>
            <p:cNvPr id="38" name="Group 319"/>
            <p:cNvGrpSpPr>
              <a:grpSpLocks/>
            </p:cNvGrpSpPr>
            <p:nvPr/>
          </p:nvGrpSpPr>
          <p:grpSpPr bwMode="auto">
            <a:xfrm>
              <a:off x="1628" y="1815"/>
              <a:ext cx="320" cy="250"/>
              <a:chOff x="2880" y="1104"/>
              <a:chExt cx="367" cy="343"/>
            </a:xfrm>
          </p:grpSpPr>
          <p:sp>
            <p:nvSpPr>
              <p:cNvPr id="39" name="Oval 32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0" name="Text Box 32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D</a:t>
                </a:r>
              </a:p>
            </p:txBody>
          </p:sp>
        </p:grpSp>
      </p:grpSp>
      <p:grpSp>
        <p:nvGrpSpPr>
          <p:cNvPr id="47" name="Group 322"/>
          <p:cNvGrpSpPr>
            <a:grpSpLocks/>
          </p:cNvGrpSpPr>
          <p:nvPr/>
        </p:nvGrpSpPr>
        <p:grpSpPr bwMode="auto">
          <a:xfrm>
            <a:off x="4016375" y="2471738"/>
            <a:ext cx="1371600" cy="1620837"/>
            <a:chOff x="3392" y="1389"/>
            <a:chExt cx="864" cy="1021"/>
          </a:xfrm>
        </p:grpSpPr>
        <p:sp>
          <p:nvSpPr>
            <p:cNvPr id="48" name="Line 323"/>
            <p:cNvSpPr>
              <a:spLocks noChangeShapeType="1"/>
            </p:cNvSpPr>
            <p:nvPr/>
          </p:nvSpPr>
          <p:spPr bwMode="auto">
            <a:xfrm flipH="1">
              <a:off x="3552" y="1575"/>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49" name="Line 324"/>
            <p:cNvSpPr>
              <a:spLocks noChangeShapeType="1"/>
            </p:cNvSpPr>
            <p:nvPr/>
          </p:nvSpPr>
          <p:spPr bwMode="auto">
            <a:xfrm>
              <a:off x="3840" y="1623"/>
              <a:ext cx="192" cy="192"/>
            </a:xfrm>
            <a:prstGeom prst="line">
              <a:avLst/>
            </a:prstGeom>
            <a:noFill/>
            <a:ln w="12700" cap="rnd">
              <a:solidFill>
                <a:srgbClr val="993300"/>
              </a:solidFill>
              <a:round/>
              <a:headEnd/>
              <a:tailEnd/>
            </a:ln>
          </p:spPr>
          <p:txBody>
            <a:bodyPr wrap="none" anchor="ct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50" name="Group 325"/>
            <p:cNvGrpSpPr>
              <a:grpSpLocks/>
            </p:cNvGrpSpPr>
            <p:nvPr/>
          </p:nvGrpSpPr>
          <p:grpSpPr bwMode="auto">
            <a:xfrm>
              <a:off x="3664" y="1389"/>
              <a:ext cx="320" cy="250"/>
              <a:chOff x="2880" y="1104"/>
              <a:chExt cx="367" cy="343"/>
            </a:xfrm>
          </p:grpSpPr>
          <p:sp>
            <p:nvSpPr>
              <p:cNvPr id="61" name="Oval 32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2" name="Text Box 32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I</a:t>
                </a:r>
              </a:p>
            </p:txBody>
          </p:sp>
        </p:grpSp>
        <p:sp>
          <p:nvSpPr>
            <p:cNvPr id="51" name="Line 328"/>
            <p:cNvSpPr>
              <a:spLocks noChangeShapeType="1"/>
            </p:cNvSpPr>
            <p:nvPr/>
          </p:nvSpPr>
          <p:spPr bwMode="auto">
            <a:xfrm>
              <a:off x="4080" y="1959"/>
              <a:ext cx="0" cy="288"/>
            </a:xfrm>
            <a:prstGeom prst="line">
              <a:avLst/>
            </a:prstGeom>
            <a:noFill/>
            <a:ln w="12700" cap="rnd">
              <a:solidFill>
                <a:srgbClr val="99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52" name="Group 329"/>
            <p:cNvGrpSpPr>
              <a:grpSpLocks/>
            </p:cNvGrpSpPr>
            <p:nvPr/>
          </p:nvGrpSpPr>
          <p:grpSpPr bwMode="auto">
            <a:xfrm>
              <a:off x="3936" y="1752"/>
              <a:ext cx="320" cy="250"/>
              <a:chOff x="2880" y="1104"/>
              <a:chExt cx="367" cy="343"/>
            </a:xfrm>
          </p:grpSpPr>
          <p:sp>
            <p:nvSpPr>
              <p:cNvPr id="59" name="Oval 33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0" name="Text Box 331"/>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K</a:t>
                </a:r>
              </a:p>
            </p:txBody>
          </p:sp>
        </p:grpSp>
        <p:grpSp>
          <p:nvGrpSpPr>
            <p:cNvPr id="53" name="Group 332"/>
            <p:cNvGrpSpPr>
              <a:grpSpLocks/>
            </p:cNvGrpSpPr>
            <p:nvPr/>
          </p:nvGrpSpPr>
          <p:grpSpPr bwMode="auto">
            <a:xfrm>
              <a:off x="3392" y="1752"/>
              <a:ext cx="320" cy="250"/>
              <a:chOff x="2880" y="1104"/>
              <a:chExt cx="367" cy="343"/>
            </a:xfrm>
          </p:grpSpPr>
          <p:sp>
            <p:nvSpPr>
              <p:cNvPr id="57" name="Oval 33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8" name="Text Box 334"/>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J</a:t>
                </a:r>
              </a:p>
            </p:txBody>
          </p:sp>
        </p:grpSp>
        <p:grpSp>
          <p:nvGrpSpPr>
            <p:cNvPr id="54" name="Group 335"/>
            <p:cNvGrpSpPr>
              <a:grpSpLocks/>
            </p:cNvGrpSpPr>
            <p:nvPr/>
          </p:nvGrpSpPr>
          <p:grpSpPr bwMode="auto">
            <a:xfrm>
              <a:off x="3936" y="2160"/>
              <a:ext cx="317" cy="250"/>
              <a:chOff x="2880" y="1104"/>
              <a:chExt cx="367" cy="343"/>
            </a:xfrm>
          </p:grpSpPr>
          <p:sp>
            <p:nvSpPr>
              <p:cNvPr id="55" name="Oval 33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6" name="Text Box 337"/>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33CC"/>
                    </a:solidFill>
                    <a:latin typeface="隶书" pitchFamily="49" charset="-122"/>
                    <a:ea typeface="隶书" pitchFamily="49" charset="-122"/>
                  </a:rPr>
                  <a:t>L</a:t>
                </a:r>
              </a:p>
            </p:txBody>
          </p:sp>
        </p:grpSp>
      </p:grpSp>
      <p:sp>
        <p:nvSpPr>
          <p:cNvPr id="63" name="Oval 447"/>
          <p:cNvSpPr>
            <a:spLocks noChangeArrowheads="1"/>
          </p:cNvSpPr>
          <p:nvPr/>
        </p:nvSpPr>
        <p:spPr bwMode="auto">
          <a:xfrm>
            <a:off x="273050" y="1946275"/>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a:solidFill>
                  <a:srgbClr val="000000"/>
                </a:solidFill>
                <a:latin typeface="Times New Roman" pitchFamily="18" charset="0"/>
              </a:rPr>
              <a:t>例</a:t>
            </a:r>
          </a:p>
        </p:txBody>
      </p:sp>
      <p:sp>
        <p:nvSpPr>
          <p:cNvPr id="64" name="TextBox 63"/>
          <p:cNvSpPr txBox="1">
            <a:spLocks noChangeArrowheads="1"/>
          </p:cNvSpPr>
          <p:nvPr/>
        </p:nvSpPr>
        <p:spPr bwMode="auto">
          <a:xfrm>
            <a:off x="881063" y="5664200"/>
            <a:ext cx="458787"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B</a:t>
            </a:r>
            <a:endParaRPr kumimoji="1" lang="zh-CN" altLang="en-US" sz="3200" b="1">
              <a:solidFill>
                <a:srgbClr val="000000"/>
              </a:solidFill>
              <a:latin typeface="Times New Roman" pitchFamily="18" charset="0"/>
            </a:endParaRPr>
          </a:p>
        </p:txBody>
      </p:sp>
      <p:sp>
        <p:nvSpPr>
          <p:cNvPr id="65" name="TextBox 64"/>
          <p:cNvSpPr txBox="1">
            <a:spLocks noChangeArrowheads="1"/>
          </p:cNvSpPr>
          <p:nvPr/>
        </p:nvSpPr>
        <p:spPr bwMode="auto">
          <a:xfrm>
            <a:off x="1524000" y="5664200"/>
            <a:ext cx="481013"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C</a:t>
            </a:r>
            <a:endParaRPr kumimoji="1" lang="zh-CN" altLang="en-US" sz="3200" b="1">
              <a:solidFill>
                <a:srgbClr val="000000"/>
              </a:solidFill>
              <a:latin typeface="Times New Roman" pitchFamily="18" charset="0"/>
            </a:endParaRPr>
          </a:p>
        </p:txBody>
      </p:sp>
      <p:sp>
        <p:nvSpPr>
          <p:cNvPr id="66" name="TextBox 65"/>
          <p:cNvSpPr txBox="1">
            <a:spLocks noChangeArrowheads="1"/>
          </p:cNvSpPr>
          <p:nvPr/>
        </p:nvSpPr>
        <p:spPr bwMode="auto">
          <a:xfrm>
            <a:off x="2238375" y="5664200"/>
            <a:ext cx="481013"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D</a:t>
            </a:r>
            <a:endParaRPr kumimoji="1" lang="zh-CN" altLang="en-US" sz="3200" b="1">
              <a:solidFill>
                <a:srgbClr val="000000"/>
              </a:solidFill>
              <a:latin typeface="Times New Roman" pitchFamily="18" charset="0"/>
            </a:endParaRPr>
          </a:p>
        </p:txBody>
      </p:sp>
      <p:sp>
        <p:nvSpPr>
          <p:cNvPr id="67" name="TextBox 66"/>
          <p:cNvSpPr txBox="1">
            <a:spLocks noChangeArrowheads="1"/>
          </p:cNvSpPr>
          <p:nvPr/>
        </p:nvSpPr>
        <p:spPr bwMode="auto">
          <a:xfrm>
            <a:off x="3024188" y="5664200"/>
            <a:ext cx="481012"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FF0000"/>
                </a:solidFill>
                <a:latin typeface="Times New Roman" pitchFamily="18" charset="0"/>
              </a:rPr>
              <a:t>A</a:t>
            </a:r>
            <a:endParaRPr kumimoji="1" lang="zh-CN" altLang="en-US" sz="3200" b="1">
              <a:solidFill>
                <a:srgbClr val="FF0000"/>
              </a:solidFill>
              <a:latin typeface="Times New Roman" pitchFamily="18" charset="0"/>
            </a:endParaRPr>
          </a:p>
        </p:txBody>
      </p:sp>
      <p:sp>
        <p:nvSpPr>
          <p:cNvPr id="68" name="TextBox 67"/>
          <p:cNvSpPr txBox="1">
            <a:spLocks noChangeArrowheads="1"/>
          </p:cNvSpPr>
          <p:nvPr/>
        </p:nvSpPr>
        <p:spPr bwMode="auto">
          <a:xfrm>
            <a:off x="3543300" y="5651500"/>
            <a:ext cx="503238"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G</a:t>
            </a:r>
            <a:endParaRPr kumimoji="1" lang="zh-CN" altLang="en-US" sz="3200" b="1">
              <a:solidFill>
                <a:srgbClr val="000000"/>
              </a:solidFill>
              <a:latin typeface="Times New Roman" pitchFamily="18" charset="0"/>
            </a:endParaRPr>
          </a:p>
        </p:txBody>
      </p:sp>
      <p:sp>
        <p:nvSpPr>
          <p:cNvPr id="69" name="TextBox 68"/>
          <p:cNvSpPr txBox="1">
            <a:spLocks noChangeArrowheads="1"/>
          </p:cNvSpPr>
          <p:nvPr/>
        </p:nvSpPr>
        <p:spPr bwMode="auto">
          <a:xfrm>
            <a:off x="4186238" y="5651500"/>
            <a:ext cx="503237"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H</a:t>
            </a:r>
            <a:endParaRPr kumimoji="1" lang="zh-CN" altLang="en-US" sz="3200" b="1">
              <a:solidFill>
                <a:srgbClr val="000000"/>
              </a:solidFill>
              <a:latin typeface="Times New Roman" pitchFamily="18" charset="0"/>
            </a:endParaRPr>
          </a:p>
        </p:txBody>
      </p:sp>
      <p:sp>
        <p:nvSpPr>
          <p:cNvPr id="70" name="TextBox 69"/>
          <p:cNvSpPr txBox="1">
            <a:spLocks noChangeArrowheads="1"/>
          </p:cNvSpPr>
          <p:nvPr/>
        </p:nvSpPr>
        <p:spPr bwMode="auto">
          <a:xfrm>
            <a:off x="4900613" y="5651500"/>
            <a:ext cx="434975"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F</a:t>
            </a:r>
            <a:endParaRPr kumimoji="1" lang="zh-CN" altLang="en-US" sz="3200" b="1">
              <a:solidFill>
                <a:srgbClr val="000000"/>
              </a:solidFill>
              <a:latin typeface="Times New Roman" pitchFamily="18" charset="0"/>
            </a:endParaRPr>
          </a:p>
        </p:txBody>
      </p:sp>
      <p:sp>
        <p:nvSpPr>
          <p:cNvPr id="71" name="TextBox 70"/>
          <p:cNvSpPr txBox="1">
            <a:spLocks noChangeArrowheads="1"/>
          </p:cNvSpPr>
          <p:nvPr/>
        </p:nvSpPr>
        <p:spPr bwMode="auto">
          <a:xfrm>
            <a:off x="5686425" y="5651500"/>
            <a:ext cx="458788"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E</a:t>
            </a:r>
            <a:endParaRPr kumimoji="1" lang="zh-CN" altLang="en-US" sz="3200" b="1">
              <a:solidFill>
                <a:srgbClr val="000000"/>
              </a:solidFill>
              <a:latin typeface="Times New Roman" pitchFamily="18" charset="0"/>
            </a:endParaRPr>
          </a:p>
        </p:txBody>
      </p:sp>
      <p:sp>
        <p:nvSpPr>
          <p:cNvPr id="72" name="TextBox 71"/>
          <p:cNvSpPr txBox="1">
            <a:spLocks noChangeArrowheads="1"/>
          </p:cNvSpPr>
          <p:nvPr/>
        </p:nvSpPr>
        <p:spPr bwMode="auto">
          <a:xfrm>
            <a:off x="6257925" y="5651500"/>
            <a:ext cx="388938"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J</a:t>
            </a:r>
            <a:endParaRPr kumimoji="1" lang="zh-CN" altLang="en-US" sz="3200" b="1">
              <a:solidFill>
                <a:srgbClr val="000000"/>
              </a:solidFill>
              <a:latin typeface="Times New Roman" pitchFamily="18" charset="0"/>
            </a:endParaRPr>
          </a:p>
        </p:txBody>
      </p:sp>
      <p:sp>
        <p:nvSpPr>
          <p:cNvPr id="73" name="TextBox 72"/>
          <p:cNvSpPr txBox="1">
            <a:spLocks noChangeArrowheads="1"/>
          </p:cNvSpPr>
          <p:nvPr/>
        </p:nvSpPr>
        <p:spPr bwMode="auto">
          <a:xfrm>
            <a:off x="6900863" y="5651500"/>
            <a:ext cx="458787"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L</a:t>
            </a:r>
            <a:endParaRPr kumimoji="1" lang="zh-CN" altLang="en-US" sz="3200" b="1">
              <a:solidFill>
                <a:srgbClr val="000000"/>
              </a:solidFill>
              <a:latin typeface="Times New Roman" pitchFamily="18" charset="0"/>
            </a:endParaRPr>
          </a:p>
        </p:txBody>
      </p:sp>
      <p:sp>
        <p:nvSpPr>
          <p:cNvPr id="74" name="TextBox 73"/>
          <p:cNvSpPr txBox="1">
            <a:spLocks noChangeArrowheads="1"/>
          </p:cNvSpPr>
          <p:nvPr/>
        </p:nvSpPr>
        <p:spPr bwMode="auto">
          <a:xfrm>
            <a:off x="7615238" y="5651500"/>
            <a:ext cx="503237"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K</a:t>
            </a:r>
            <a:endParaRPr kumimoji="1" lang="zh-CN" altLang="en-US" sz="3200" b="1">
              <a:solidFill>
                <a:srgbClr val="000000"/>
              </a:solidFill>
              <a:latin typeface="Times New Roman" pitchFamily="18" charset="0"/>
            </a:endParaRPr>
          </a:p>
        </p:txBody>
      </p:sp>
      <p:sp>
        <p:nvSpPr>
          <p:cNvPr id="75" name="TextBox 74"/>
          <p:cNvSpPr txBox="1">
            <a:spLocks noChangeArrowheads="1"/>
          </p:cNvSpPr>
          <p:nvPr/>
        </p:nvSpPr>
        <p:spPr bwMode="auto">
          <a:xfrm>
            <a:off x="8401050" y="5651500"/>
            <a:ext cx="344488"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I</a:t>
            </a:r>
            <a:endParaRPr kumimoji="1" lang="zh-CN" altLang="en-US" sz="3200" b="1">
              <a:solidFill>
                <a:srgbClr val="000000"/>
              </a:solidFill>
              <a:latin typeface="Times New Roman" pitchFamily="18" charset="0"/>
            </a:endParaRPr>
          </a:p>
        </p:txBody>
      </p:sp>
    </p:spTree>
    <p:extLst>
      <p:ext uri="{BB962C8B-B14F-4D97-AF65-F5344CB8AC3E}">
        <p14:creationId xmlns:p14="http://schemas.microsoft.com/office/powerpoint/2010/main" val="1948189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box(in)">
                                      <p:cBhvr>
                                        <p:cTn id="7" dur="5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blinds(horizontal)">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blinds(horizontal)">
                                      <p:cBhvr>
                                        <p:cTn id="17" dur="5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7"/>
                                        </p:tgtEl>
                                        <p:attrNameLst>
                                          <p:attrName>style.visibility</p:attrName>
                                        </p:attrNameLst>
                                      </p:cBhvr>
                                      <p:to>
                                        <p:strVal val="visible"/>
                                      </p:to>
                                    </p:set>
                                    <p:animEffect transition="in" filter="blinds(horizontal)">
                                      <p:cBhvr>
                                        <p:cTn id="22" dur="500"/>
                                        <p:tgtEl>
                                          <p:spTgt spid="6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blinds(horizontal)">
                                      <p:cBhvr>
                                        <p:cTn id="27" dur="500"/>
                                        <p:tgtEl>
                                          <p:spTgt spid="6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blinds(horizontal)">
                                      <p:cBhvr>
                                        <p:cTn id="32" dur="500"/>
                                        <p:tgtEl>
                                          <p:spTgt spid="6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blinds(horizontal)">
                                      <p:cBhvr>
                                        <p:cTn id="37" dur="500"/>
                                        <p:tgtEl>
                                          <p:spTgt spid="7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1"/>
                                        </p:tgtEl>
                                        <p:attrNameLst>
                                          <p:attrName>style.visibility</p:attrName>
                                        </p:attrNameLst>
                                      </p:cBhvr>
                                      <p:to>
                                        <p:strVal val="visible"/>
                                      </p:to>
                                    </p:set>
                                    <p:animEffect transition="in" filter="blinds(horizontal)">
                                      <p:cBhvr>
                                        <p:cTn id="42" dur="500"/>
                                        <p:tgtEl>
                                          <p:spTgt spid="7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2"/>
                                        </p:tgtEl>
                                        <p:attrNameLst>
                                          <p:attrName>style.visibility</p:attrName>
                                        </p:attrNameLst>
                                      </p:cBhvr>
                                      <p:to>
                                        <p:strVal val="visible"/>
                                      </p:to>
                                    </p:set>
                                    <p:animEffect transition="in" filter="blinds(horizontal)">
                                      <p:cBhvr>
                                        <p:cTn id="47" dur="500"/>
                                        <p:tgtEl>
                                          <p:spTgt spid="7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3"/>
                                        </p:tgtEl>
                                        <p:attrNameLst>
                                          <p:attrName>style.visibility</p:attrName>
                                        </p:attrNameLst>
                                      </p:cBhvr>
                                      <p:to>
                                        <p:strVal val="visible"/>
                                      </p:to>
                                    </p:set>
                                    <p:animEffect transition="in" filter="blinds(horizontal)">
                                      <p:cBhvr>
                                        <p:cTn id="52" dur="500"/>
                                        <p:tgtEl>
                                          <p:spTgt spid="7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4"/>
                                        </p:tgtEl>
                                        <p:attrNameLst>
                                          <p:attrName>style.visibility</p:attrName>
                                        </p:attrNameLst>
                                      </p:cBhvr>
                                      <p:to>
                                        <p:strVal val="visible"/>
                                      </p:to>
                                    </p:set>
                                    <p:animEffect transition="in" filter="blinds(horizontal)">
                                      <p:cBhvr>
                                        <p:cTn id="57" dur="500"/>
                                        <p:tgtEl>
                                          <p:spTgt spid="74"/>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75"/>
                                        </p:tgtEl>
                                        <p:attrNameLst>
                                          <p:attrName>style.visibility</p:attrName>
                                        </p:attrNameLst>
                                      </p:cBhvr>
                                      <p:to>
                                        <p:strVal val="visible"/>
                                      </p:to>
                                    </p:set>
                                    <p:animEffect transition="in" filter="blinds(horizontal)">
                                      <p:cBhvr>
                                        <p:cTn id="62"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0"/>
      <p:bldP spid="66" grpId="0"/>
      <p:bldP spid="67" grpId="0"/>
      <p:bldP spid="68" grpId="0"/>
      <p:bldP spid="69" grpId="0"/>
      <p:bldP spid="70" grpId="0"/>
      <p:bldP spid="71" grpId="0"/>
      <p:bldP spid="72" grpId="0"/>
      <p:bldP spid="73" grpId="0"/>
      <p:bldP spid="74" grpId="0"/>
      <p:bldP spid="75"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森林和二叉树的对应关系</a:t>
            </a:r>
          </a:p>
        </p:txBody>
      </p:sp>
      <p:sp>
        <p:nvSpPr>
          <p:cNvPr id="4" name="日期占位符 3"/>
          <p:cNvSpPr>
            <a:spLocks noGrp="1"/>
          </p:cNvSpPr>
          <p:nvPr>
            <p:ph type="dt" sz="half" idx="10"/>
          </p:nvPr>
        </p:nvSpPr>
        <p:spPr/>
        <p:txBody>
          <a:bodyPr/>
          <a:lstStyle/>
          <a:p>
            <a:fld id="{9155B617-404F-4172-B4F9-3DBAC37530FE}"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156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10"/>
          <p:cNvSpPr>
            <a:spLocks noChangeArrowheads="1"/>
          </p:cNvSpPr>
          <p:nvPr/>
        </p:nvSpPr>
        <p:spPr bwMode="auto">
          <a:xfrm>
            <a:off x="381000" y="1828800"/>
            <a:ext cx="8458200" cy="4267200"/>
          </a:xfrm>
          <a:prstGeom prst="rect">
            <a:avLst/>
          </a:prstGeom>
          <a:noFill/>
          <a:ln w="12700">
            <a:solidFill>
              <a:srgbClr val="04617B"/>
            </a:solidFill>
            <a:miter lim="800000"/>
            <a:headEnd/>
            <a:tailEnd/>
          </a:ln>
        </p:spPr>
        <p:txBody>
          <a:bodyPr/>
          <a:lstStyle/>
          <a:p>
            <a:pPr marL="273050" marR="0" lvl="0" indent="-273050" defTabSz="914400" eaLnBrk="1" fontAlgn="base" latinLnBrk="0" hangingPunct="1">
              <a:lnSpc>
                <a:spcPct val="150000"/>
              </a:lnSpc>
              <a:spcBef>
                <a:spcPct val="20000"/>
              </a:spcBef>
              <a:spcAft>
                <a:spcPct val="0"/>
              </a:spcAft>
              <a:buClr>
                <a:srgbClr val="0000FF"/>
              </a:buClr>
              <a:buSzPct val="95000"/>
              <a:buFont typeface="Wingdings" pitchFamily="2" charset="2"/>
              <a:buNone/>
              <a:tabLst/>
              <a:defRPr/>
            </a:pPr>
            <a:r>
              <a:rPr kumimoji="0" lang="zh-CN" altLang="en-US" sz="3200" b="1" i="0" u="none" strike="noStrike" kern="0" cap="none" spc="0" normalizeH="0" baseline="0" noProof="0">
                <a:ln>
                  <a:noFill/>
                </a:ln>
                <a:solidFill>
                  <a:srgbClr val="0000CC"/>
                </a:solidFill>
                <a:effectLst/>
                <a:uLnTx/>
                <a:uFillTx/>
                <a:latin typeface="宋体" pitchFamily="2" charset="-122"/>
              </a:rPr>
              <a:t>在森林转换成二叉树过程中：</a:t>
            </a:r>
          </a:p>
          <a:p>
            <a:pPr marL="273050" marR="0" lvl="0" indent="-273050" defTabSz="914400" eaLnBrk="1" fontAlgn="base" latinLnBrk="0" hangingPunct="1">
              <a:lnSpc>
                <a:spcPct val="150000"/>
              </a:lnSpc>
              <a:spcBef>
                <a:spcPct val="20000"/>
              </a:spcBef>
              <a:spcAft>
                <a:spcPct val="0"/>
              </a:spcAft>
              <a:buClr>
                <a:srgbClr val="0000FF"/>
              </a:buClr>
              <a:buSzPct val="95000"/>
              <a:buFont typeface="Wingdings" pitchFamily="2" charset="2"/>
              <a:buNone/>
              <a:tabLst/>
              <a:defRPr/>
            </a:pPr>
            <a:r>
              <a:rPr kumimoji="0" lang="zh-CN" altLang="en-US" sz="3200" b="1" i="0" u="none" strike="noStrike" kern="0" cap="none" spc="0" normalizeH="0" baseline="0" noProof="0">
                <a:ln>
                  <a:noFill/>
                </a:ln>
                <a:solidFill>
                  <a:srgbClr val="0000CC"/>
                </a:solidFill>
                <a:effectLst/>
                <a:uLnTx/>
                <a:uFillTx/>
                <a:latin typeface="宋体" pitchFamily="2" charset="-122"/>
              </a:rPr>
              <a:t>    </a:t>
            </a:r>
            <a:r>
              <a:rPr kumimoji="0" lang="zh-CN" altLang="en-US" sz="3200" b="1" i="0" u="none" strike="noStrike" kern="0" cap="none" spc="0" normalizeH="0" baseline="0" noProof="0">
                <a:ln>
                  <a:noFill/>
                </a:ln>
                <a:solidFill>
                  <a:srgbClr val="003300"/>
                </a:solidFill>
                <a:effectLst/>
                <a:uLnTx/>
                <a:uFillTx/>
                <a:latin typeface="宋体" pitchFamily="2" charset="-122"/>
              </a:rPr>
              <a:t>森林                     </a:t>
            </a:r>
            <a:r>
              <a:rPr kumimoji="0" lang="zh-CN" altLang="en-US" sz="3200" b="1" i="0" u="none" strike="noStrike" kern="0" cap="none" spc="0" normalizeH="0" baseline="0" noProof="0">
                <a:ln>
                  <a:noFill/>
                </a:ln>
                <a:solidFill>
                  <a:srgbClr val="003300"/>
                </a:solidFill>
                <a:effectLst/>
                <a:uLnTx/>
                <a:uFillTx/>
                <a:latin typeface="Times New Roman" pitchFamily="18" charset="0"/>
              </a:rPr>
              <a:t>二叉树</a:t>
            </a:r>
            <a:endParaRPr kumimoji="0" lang="en-US" altLang="zh-CN" sz="3200" b="1" i="0" u="none" strike="noStrike" kern="0" cap="none" spc="0" normalizeH="0" baseline="0" noProof="0">
              <a:ln>
                <a:noFill/>
              </a:ln>
              <a:solidFill>
                <a:srgbClr val="003300"/>
              </a:solidFill>
              <a:effectLst/>
              <a:uLnTx/>
              <a:uFillTx/>
              <a:latin typeface="Times New Roman" pitchFamily="18" charset="0"/>
            </a:endParaRPr>
          </a:p>
          <a:p>
            <a:pPr marL="273050" marR="0" lvl="0" indent="-273050" defTabSz="914400" eaLnBrk="1" fontAlgn="base" latinLnBrk="0" hangingPunct="1">
              <a:lnSpc>
                <a:spcPct val="150000"/>
              </a:lnSpc>
              <a:spcBef>
                <a:spcPct val="20000"/>
              </a:spcBef>
              <a:spcAft>
                <a:spcPct val="0"/>
              </a:spcAft>
              <a:buClr>
                <a:srgbClr val="0000FF"/>
              </a:buClr>
              <a:buSzPct val="95000"/>
              <a:buFont typeface="Wingdings" pitchFamily="2" charset="2"/>
              <a:buNone/>
              <a:tabLst/>
              <a:defRPr/>
            </a:pPr>
            <a:r>
              <a:rPr kumimoji="0" lang="zh-CN" altLang="en-US" sz="3200" b="1" i="0" u="none" strike="noStrike" kern="0" cap="none" spc="0" normalizeH="0" baseline="0" noProof="0">
                <a:ln>
                  <a:noFill/>
                </a:ln>
                <a:solidFill>
                  <a:srgbClr val="0000CC"/>
                </a:solidFill>
                <a:effectLst/>
                <a:uLnTx/>
                <a:uFillTx/>
                <a:latin typeface="宋体" pitchFamily="2" charset="-122"/>
              </a:rPr>
              <a:t>第一棵树的根节点  </a:t>
            </a:r>
            <a:r>
              <a:rPr kumimoji="0" lang="en-US" altLang="zh-CN" sz="3200" b="1" i="0" u="none" strike="noStrike" kern="0" cap="none" spc="0" normalizeH="0" baseline="0" noProof="0">
                <a:ln>
                  <a:noFill/>
                </a:ln>
                <a:solidFill>
                  <a:srgbClr val="0000CC"/>
                </a:solidFill>
                <a:effectLst/>
                <a:uLnTx/>
                <a:uFillTx/>
                <a:latin typeface="宋体" pitchFamily="2" charset="-122"/>
              </a:rPr>
              <a:t>   </a:t>
            </a:r>
            <a:r>
              <a:rPr kumimoji="0" lang="en-US" altLang="zh-CN" sz="3200" b="1" i="0" u="none" strike="noStrike" kern="0" cap="none" spc="0" normalizeH="0" baseline="0" noProof="0">
                <a:ln>
                  <a:noFill/>
                </a:ln>
                <a:solidFill>
                  <a:srgbClr val="0000CC"/>
                </a:solidFill>
                <a:effectLst/>
                <a:uLnTx/>
                <a:uFillTx/>
                <a:latin typeface="宋体" pitchFamily="2" charset="-122"/>
                <a:sym typeface="Wingdings" pitchFamily="2" charset="2"/>
              </a:rPr>
              <a:t></a:t>
            </a:r>
            <a:r>
              <a:rPr kumimoji="0" lang="zh-CN" altLang="en-US" sz="3200" b="1" i="0" u="none" strike="noStrike" kern="0" cap="none" spc="0" normalizeH="0" baseline="0" noProof="0">
                <a:ln>
                  <a:noFill/>
                </a:ln>
                <a:solidFill>
                  <a:srgbClr val="0000CC"/>
                </a:solidFill>
                <a:effectLst/>
                <a:uLnTx/>
                <a:uFillTx/>
                <a:latin typeface="宋体" pitchFamily="2" charset="-122"/>
              </a:rPr>
              <a:t>     二叉树的根</a:t>
            </a:r>
            <a:endParaRPr kumimoji="0" lang="zh-CN" altLang="en-US" sz="3200" b="1" i="0" u="none" strike="noStrike" kern="0" cap="none" spc="0" normalizeH="0" baseline="0" noProof="0">
              <a:ln>
                <a:noFill/>
              </a:ln>
              <a:solidFill>
                <a:srgbClr val="003300"/>
              </a:solidFill>
              <a:effectLst/>
              <a:uLnTx/>
              <a:uFillTx/>
              <a:latin typeface="宋体" pitchFamily="2" charset="-122"/>
            </a:endParaRPr>
          </a:p>
          <a:p>
            <a:pPr marL="273050" marR="0" lvl="0" indent="-273050" defTabSz="914400" eaLnBrk="1" fontAlgn="base" latinLnBrk="0" hangingPunct="1">
              <a:lnSpc>
                <a:spcPct val="150000"/>
              </a:lnSpc>
              <a:spcBef>
                <a:spcPct val="20000"/>
              </a:spcBef>
              <a:spcAft>
                <a:spcPct val="0"/>
              </a:spcAft>
              <a:buClr>
                <a:srgbClr val="0000FF"/>
              </a:buClr>
              <a:buSzPct val="95000"/>
              <a:buFont typeface="Wingdings" pitchFamily="2" charset="2"/>
              <a:buNone/>
              <a:tabLst/>
              <a:defRPr/>
            </a:pPr>
            <a:r>
              <a:rPr kumimoji="0" lang="zh-CN" altLang="en-US" sz="3200" b="1" i="0" u="none" strike="noStrike" kern="0" cap="none" spc="0" normalizeH="0" baseline="0" noProof="0">
                <a:ln>
                  <a:noFill/>
                </a:ln>
                <a:solidFill>
                  <a:srgbClr val="0000CC"/>
                </a:solidFill>
                <a:effectLst/>
                <a:uLnTx/>
                <a:uFillTx/>
                <a:latin typeface="宋体" pitchFamily="2" charset="-122"/>
              </a:rPr>
              <a:t>第一棵树的子树森林   </a:t>
            </a:r>
            <a:r>
              <a:rPr kumimoji="0" lang="en-US" altLang="zh-CN" sz="3200" b="1" i="0" u="none" strike="noStrike" kern="0" cap="none" spc="0" normalizeH="0" baseline="0" noProof="0">
                <a:ln>
                  <a:noFill/>
                </a:ln>
                <a:solidFill>
                  <a:srgbClr val="0000CC"/>
                </a:solidFill>
                <a:effectLst/>
                <a:uLnTx/>
                <a:uFillTx/>
                <a:latin typeface="宋体" pitchFamily="2" charset="-122"/>
                <a:sym typeface="Wingdings" pitchFamily="2" charset="2"/>
              </a:rPr>
              <a:t></a:t>
            </a:r>
            <a:r>
              <a:rPr kumimoji="0" lang="zh-CN" altLang="en-US" sz="3200" b="1" i="0" u="none" strike="noStrike" kern="0" cap="none" spc="0" normalizeH="0" baseline="0" noProof="0">
                <a:ln>
                  <a:noFill/>
                </a:ln>
                <a:solidFill>
                  <a:srgbClr val="0000CC"/>
                </a:solidFill>
                <a:effectLst/>
                <a:uLnTx/>
                <a:uFillTx/>
                <a:latin typeface="宋体" pitchFamily="2" charset="-122"/>
              </a:rPr>
              <a:t>       左</a:t>
            </a:r>
            <a:r>
              <a:rPr kumimoji="0" lang="zh-CN" altLang="en-US" sz="3200" b="1" i="0" u="none" strike="noStrike" kern="0" cap="none" spc="0" normalizeH="0" baseline="0" noProof="0">
                <a:ln>
                  <a:noFill/>
                </a:ln>
                <a:solidFill>
                  <a:srgbClr val="0000CC"/>
                </a:solidFill>
                <a:effectLst/>
                <a:uLnTx/>
                <a:uFillTx/>
                <a:latin typeface="Times New Roman" pitchFamily="18" charset="0"/>
              </a:rPr>
              <a:t>子树</a:t>
            </a:r>
            <a:endParaRPr kumimoji="0" lang="en-US" altLang="zh-CN" sz="3200" b="1" i="0" u="none" strike="noStrike" kern="0" cap="none" spc="0" normalizeH="0" baseline="0" noProof="0">
              <a:ln>
                <a:noFill/>
              </a:ln>
              <a:solidFill>
                <a:srgbClr val="0000CC"/>
              </a:solidFill>
              <a:effectLst/>
              <a:uLnTx/>
              <a:uFillTx/>
              <a:latin typeface="Times New Roman" pitchFamily="18" charset="0"/>
            </a:endParaRPr>
          </a:p>
          <a:p>
            <a:pPr marL="273050" marR="0" lvl="0" indent="-273050" defTabSz="914400" eaLnBrk="1" fontAlgn="base" latinLnBrk="0" hangingPunct="1">
              <a:lnSpc>
                <a:spcPct val="150000"/>
              </a:lnSpc>
              <a:spcBef>
                <a:spcPct val="20000"/>
              </a:spcBef>
              <a:spcAft>
                <a:spcPct val="0"/>
              </a:spcAft>
              <a:buClr>
                <a:srgbClr val="0000FF"/>
              </a:buClr>
              <a:buSzPct val="95000"/>
              <a:buFont typeface="Wingdings" pitchFamily="2" charset="2"/>
              <a:buNone/>
              <a:tabLst/>
              <a:defRPr/>
            </a:pPr>
            <a:r>
              <a:rPr kumimoji="0" lang="zh-CN" altLang="en-US" sz="3200" b="1" i="0" u="none" strike="noStrike" kern="0" cap="none" spc="0" normalizeH="0" baseline="0" noProof="0">
                <a:ln>
                  <a:noFill/>
                </a:ln>
                <a:solidFill>
                  <a:srgbClr val="0000CC"/>
                </a:solidFill>
                <a:effectLst/>
                <a:uLnTx/>
                <a:uFillTx/>
                <a:latin typeface="Times New Roman" pitchFamily="18" charset="0"/>
              </a:rPr>
              <a:t>  剩余树森林                     </a:t>
            </a:r>
            <a:r>
              <a:rPr kumimoji="0" lang="en-US" altLang="zh-CN" sz="3200" b="1" i="0" u="none" strike="noStrike" kern="0" cap="none" spc="0" normalizeH="0" baseline="0" noProof="0">
                <a:ln>
                  <a:noFill/>
                </a:ln>
                <a:solidFill>
                  <a:srgbClr val="0000CC"/>
                </a:solidFill>
                <a:effectLst/>
                <a:uLnTx/>
                <a:uFillTx/>
                <a:latin typeface="宋体" pitchFamily="2" charset="-122"/>
                <a:sym typeface="Wingdings" pitchFamily="2" charset="2"/>
              </a:rPr>
              <a:t></a:t>
            </a:r>
            <a:r>
              <a:rPr kumimoji="0" lang="zh-CN" altLang="en-US" sz="3200" b="1" i="0" u="none" strike="noStrike" kern="0" cap="none" spc="0" normalizeH="0" baseline="0" noProof="0">
                <a:ln>
                  <a:noFill/>
                </a:ln>
                <a:solidFill>
                  <a:srgbClr val="0000CC"/>
                </a:solidFill>
                <a:effectLst/>
                <a:uLnTx/>
                <a:uFillTx/>
                <a:latin typeface="Times New Roman" pitchFamily="18" charset="0"/>
              </a:rPr>
              <a:t>              右子树</a:t>
            </a:r>
            <a:r>
              <a:rPr kumimoji="0" lang="zh-CN" altLang="en-US" sz="3200" b="1" i="0" u="none" strike="noStrike" kern="0" cap="none" spc="0" normalizeH="0" baseline="0" noProof="0">
                <a:ln>
                  <a:noFill/>
                </a:ln>
                <a:solidFill>
                  <a:srgbClr val="0000CC"/>
                </a:solidFill>
                <a:effectLst/>
                <a:uLnTx/>
                <a:uFillTx/>
                <a:latin typeface="宋体" pitchFamily="2" charset="-122"/>
              </a:rPr>
              <a:t>；</a:t>
            </a:r>
          </a:p>
          <a:p>
            <a:pPr marL="273050" marR="0" lvl="0" indent="-273050" defTabSz="914400" eaLnBrk="1" fontAlgn="base" latinLnBrk="0" hangingPunct="1">
              <a:lnSpc>
                <a:spcPct val="150000"/>
              </a:lnSpc>
              <a:spcBef>
                <a:spcPct val="20000"/>
              </a:spcBef>
              <a:spcAft>
                <a:spcPct val="0"/>
              </a:spcAft>
              <a:buClr>
                <a:srgbClr val="0000FF"/>
              </a:buClr>
              <a:buSzPct val="95000"/>
              <a:buFont typeface="Wingdings" pitchFamily="2" charset="2"/>
              <a:buChar char="Ø"/>
              <a:tabLst/>
              <a:defRPr/>
            </a:pPr>
            <a:endParaRPr kumimoji="0" lang="en-US" altLang="zh-CN" sz="3200" b="1" i="0" u="none" strike="noStrike" kern="0" cap="none" spc="0" normalizeH="0" baseline="0" noProof="0">
              <a:ln>
                <a:noFill/>
              </a:ln>
              <a:solidFill>
                <a:srgbClr val="0000CC"/>
              </a:solidFill>
              <a:effectLst/>
              <a:uLnTx/>
              <a:uFillTx/>
              <a:latin typeface="宋体" pitchFamily="2" charset="-122"/>
            </a:endParaRPr>
          </a:p>
        </p:txBody>
      </p:sp>
    </p:spTree>
    <p:extLst>
      <p:ext uri="{BB962C8B-B14F-4D97-AF65-F5344CB8AC3E}">
        <p14:creationId xmlns:p14="http://schemas.microsoft.com/office/powerpoint/2010/main" val="203785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endParaRPr lang="zh-CN" altLang="en-US" sz="2800" b="1" dirty="0">
              <a:solidFill>
                <a:srgbClr val="FF0000"/>
              </a:solidFill>
            </a:endParaRPr>
          </a:p>
        </p:txBody>
      </p:sp>
      <p:sp>
        <p:nvSpPr>
          <p:cNvPr id="4" name="日期占位符 3"/>
          <p:cNvSpPr>
            <a:spLocks noGrp="1"/>
          </p:cNvSpPr>
          <p:nvPr>
            <p:ph type="dt" sz="half" idx="10"/>
          </p:nvPr>
        </p:nvSpPr>
        <p:spPr/>
        <p:txBody>
          <a:bodyPr/>
          <a:lstStyle/>
          <a:p>
            <a:fld id="{FD67123C-238D-404A-96AB-C95B3DD1DDC0}"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157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
          <p:cNvSpPr txBox="1">
            <a:spLocks noChangeArrowheads="1"/>
          </p:cNvSpPr>
          <p:nvPr/>
        </p:nvSpPr>
        <p:spPr bwMode="auto">
          <a:xfrm>
            <a:off x="438150" y="1408113"/>
            <a:ext cx="8424863" cy="654050"/>
          </a:xfrm>
          <a:prstGeom prst="rect">
            <a:avLst/>
          </a:prstGeom>
          <a:noFill/>
          <a:ln w="12700" cap="sq">
            <a:solidFill>
              <a:srgbClr val="003300"/>
            </a:solidFill>
            <a:miter lim="800000"/>
            <a:headEnd type="none" w="sm" len="sm"/>
            <a:tailEnd type="none" w="sm" len="sm"/>
          </a:ln>
        </p:spPr>
        <p:txBody>
          <a:bodyPr>
            <a:spAutoFit/>
          </a:bodyPr>
          <a:lstStyle/>
          <a:p>
            <a:pPr algn="ctr" fontAlgn="base">
              <a:spcBef>
                <a:spcPct val="0"/>
              </a:spcBef>
              <a:spcAft>
                <a:spcPct val="0"/>
              </a:spcAft>
            </a:pPr>
            <a:r>
              <a:rPr kumimoji="1" lang="zh-CN" altLang="en-US" sz="3600" b="1">
                <a:solidFill>
                  <a:srgbClr val="6600FF"/>
                </a:solidFill>
                <a:latin typeface="宋体" pitchFamily="2" charset="-122"/>
              </a:rPr>
              <a:t> 树的遍历和二叉树遍历的对应关系 ？</a:t>
            </a:r>
            <a:endParaRPr kumimoji="1" lang="zh-CN" altLang="en-US" sz="3600">
              <a:solidFill>
                <a:srgbClr val="6600FF"/>
              </a:solidFill>
              <a:latin typeface="宋体" pitchFamily="2" charset="-122"/>
            </a:endParaRPr>
          </a:p>
        </p:txBody>
      </p:sp>
      <p:sp>
        <p:nvSpPr>
          <p:cNvPr id="14" name="Text Box 3"/>
          <p:cNvSpPr txBox="1">
            <a:spLocks noChangeArrowheads="1"/>
          </p:cNvSpPr>
          <p:nvPr/>
        </p:nvSpPr>
        <p:spPr bwMode="auto">
          <a:xfrm>
            <a:off x="201613" y="3705225"/>
            <a:ext cx="2222500" cy="70167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4000" b="1">
                <a:solidFill>
                  <a:srgbClr val="0000CC"/>
                </a:solidFill>
                <a:latin typeface="Times New Roman" pitchFamily="18" charset="0"/>
                <a:ea typeface="楷体_GB2312" pitchFamily="49" charset="-122"/>
              </a:rPr>
              <a:t>先根遍历</a:t>
            </a:r>
            <a:endParaRPr kumimoji="1" lang="zh-CN" altLang="en-US" sz="2400" b="1">
              <a:solidFill>
                <a:srgbClr val="0000CC"/>
              </a:solidFill>
              <a:latin typeface="Times New Roman" pitchFamily="18" charset="0"/>
              <a:ea typeface="楷体_GB2312" pitchFamily="49" charset="-122"/>
            </a:endParaRPr>
          </a:p>
        </p:txBody>
      </p:sp>
      <p:sp>
        <p:nvSpPr>
          <p:cNvPr id="15" name="Text Box 4"/>
          <p:cNvSpPr txBox="1">
            <a:spLocks noChangeArrowheads="1"/>
          </p:cNvSpPr>
          <p:nvPr/>
        </p:nvSpPr>
        <p:spPr bwMode="auto">
          <a:xfrm>
            <a:off x="201613" y="4864100"/>
            <a:ext cx="2222500" cy="70167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4000" b="1">
                <a:solidFill>
                  <a:srgbClr val="0000CC"/>
                </a:solidFill>
                <a:latin typeface="Times New Roman" pitchFamily="18" charset="0"/>
                <a:ea typeface="楷体_GB2312" pitchFamily="49" charset="-122"/>
              </a:rPr>
              <a:t>后根遍历</a:t>
            </a:r>
          </a:p>
        </p:txBody>
      </p:sp>
      <p:sp>
        <p:nvSpPr>
          <p:cNvPr id="16" name="Rectangle 5"/>
          <p:cNvSpPr>
            <a:spLocks noChangeArrowheads="1"/>
          </p:cNvSpPr>
          <p:nvPr/>
        </p:nvSpPr>
        <p:spPr bwMode="auto">
          <a:xfrm>
            <a:off x="1041400" y="2562225"/>
            <a:ext cx="693738" cy="70167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4000" b="1">
                <a:solidFill>
                  <a:srgbClr val="0000CC"/>
                </a:solidFill>
                <a:latin typeface="Times New Roman" pitchFamily="18" charset="0"/>
                <a:ea typeface="楷体_GB2312" pitchFamily="49" charset="-122"/>
              </a:rPr>
              <a:t>树</a:t>
            </a:r>
          </a:p>
        </p:txBody>
      </p:sp>
      <p:sp>
        <p:nvSpPr>
          <p:cNvPr id="17" name="Rectangle 6"/>
          <p:cNvSpPr>
            <a:spLocks noChangeArrowheads="1"/>
          </p:cNvSpPr>
          <p:nvPr/>
        </p:nvSpPr>
        <p:spPr bwMode="auto">
          <a:xfrm>
            <a:off x="6783388" y="2562225"/>
            <a:ext cx="1712912" cy="70167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4000" b="1">
                <a:solidFill>
                  <a:srgbClr val="0000CC"/>
                </a:solidFill>
                <a:latin typeface="Times New Roman" pitchFamily="18" charset="0"/>
                <a:ea typeface="楷体_GB2312" pitchFamily="49" charset="-122"/>
              </a:rPr>
              <a:t>二叉树</a:t>
            </a:r>
          </a:p>
        </p:txBody>
      </p:sp>
      <p:sp>
        <p:nvSpPr>
          <p:cNvPr id="19" name="Rectangle 7"/>
          <p:cNvSpPr>
            <a:spLocks noChangeArrowheads="1"/>
          </p:cNvSpPr>
          <p:nvPr/>
        </p:nvSpPr>
        <p:spPr bwMode="auto">
          <a:xfrm>
            <a:off x="4037013" y="2562225"/>
            <a:ext cx="1203325" cy="70167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4000" b="1">
                <a:solidFill>
                  <a:srgbClr val="0000CC"/>
                </a:solidFill>
                <a:latin typeface="Times New Roman" pitchFamily="18" charset="0"/>
                <a:ea typeface="楷体_GB2312" pitchFamily="49" charset="-122"/>
              </a:rPr>
              <a:t>森林</a:t>
            </a:r>
          </a:p>
        </p:txBody>
      </p:sp>
      <p:sp>
        <p:nvSpPr>
          <p:cNvPr id="20" name="Text Box 8"/>
          <p:cNvSpPr txBox="1">
            <a:spLocks noChangeArrowheads="1"/>
          </p:cNvSpPr>
          <p:nvPr/>
        </p:nvSpPr>
        <p:spPr bwMode="auto">
          <a:xfrm>
            <a:off x="3448050" y="3705225"/>
            <a:ext cx="2222500" cy="70167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4000" b="1">
                <a:solidFill>
                  <a:srgbClr val="0000CC"/>
                </a:solidFill>
                <a:latin typeface="Times New Roman" pitchFamily="18" charset="0"/>
                <a:ea typeface="楷体_GB2312" pitchFamily="49" charset="-122"/>
              </a:rPr>
              <a:t>先序遍历</a:t>
            </a:r>
            <a:endParaRPr kumimoji="1" lang="zh-CN" altLang="en-US" sz="2400" b="1">
              <a:solidFill>
                <a:srgbClr val="0000CC"/>
              </a:solidFill>
              <a:latin typeface="Times New Roman" pitchFamily="18" charset="0"/>
              <a:ea typeface="楷体_GB2312" pitchFamily="49" charset="-122"/>
            </a:endParaRPr>
          </a:p>
        </p:txBody>
      </p:sp>
      <p:sp>
        <p:nvSpPr>
          <p:cNvPr id="21" name="Text Box 9"/>
          <p:cNvSpPr txBox="1">
            <a:spLocks noChangeArrowheads="1"/>
          </p:cNvSpPr>
          <p:nvPr/>
        </p:nvSpPr>
        <p:spPr bwMode="auto">
          <a:xfrm>
            <a:off x="6502400" y="3705225"/>
            <a:ext cx="2222500" cy="70167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4000" b="1">
                <a:solidFill>
                  <a:srgbClr val="0000CC"/>
                </a:solidFill>
                <a:latin typeface="Times New Roman" pitchFamily="18" charset="0"/>
                <a:ea typeface="楷体_GB2312" pitchFamily="49" charset="-122"/>
              </a:rPr>
              <a:t>先序遍历</a:t>
            </a:r>
            <a:endParaRPr kumimoji="1" lang="zh-CN" altLang="en-US" sz="2400" b="1">
              <a:solidFill>
                <a:srgbClr val="0000CC"/>
              </a:solidFill>
              <a:latin typeface="Times New Roman" pitchFamily="18" charset="0"/>
              <a:ea typeface="楷体_GB2312" pitchFamily="49" charset="-122"/>
            </a:endParaRPr>
          </a:p>
        </p:txBody>
      </p:sp>
      <p:sp>
        <p:nvSpPr>
          <p:cNvPr id="22" name="Text Box 10"/>
          <p:cNvSpPr txBox="1">
            <a:spLocks noChangeArrowheads="1"/>
          </p:cNvSpPr>
          <p:nvPr/>
        </p:nvSpPr>
        <p:spPr bwMode="auto">
          <a:xfrm>
            <a:off x="3448050" y="4848225"/>
            <a:ext cx="2243138" cy="70802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4000" b="1">
                <a:solidFill>
                  <a:srgbClr val="0000CC"/>
                </a:solidFill>
                <a:latin typeface="Times New Roman" pitchFamily="18" charset="0"/>
                <a:ea typeface="楷体_GB2312" pitchFamily="49" charset="-122"/>
              </a:rPr>
              <a:t>后序遍历</a:t>
            </a:r>
            <a:endParaRPr kumimoji="1" lang="zh-CN" altLang="en-US" sz="2400" b="1">
              <a:solidFill>
                <a:srgbClr val="0000CC"/>
              </a:solidFill>
              <a:latin typeface="Times New Roman" pitchFamily="18" charset="0"/>
              <a:ea typeface="楷体_GB2312" pitchFamily="49" charset="-122"/>
            </a:endParaRPr>
          </a:p>
        </p:txBody>
      </p:sp>
      <p:sp>
        <p:nvSpPr>
          <p:cNvPr id="23" name="Text Box 11"/>
          <p:cNvSpPr txBox="1">
            <a:spLocks noChangeArrowheads="1"/>
          </p:cNvSpPr>
          <p:nvPr/>
        </p:nvSpPr>
        <p:spPr bwMode="auto">
          <a:xfrm>
            <a:off x="6475413" y="4848225"/>
            <a:ext cx="2222500" cy="701675"/>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zh-CN" altLang="en-US" sz="4000" b="1">
                <a:solidFill>
                  <a:srgbClr val="0000CC"/>
                </a:solidFill>
                <a:latin typeface="Times New Roman" pitchFamily="18" charset="0"/>
                <a:ea typeface="楷体_GB2312" pitchFamily="49" charset="-122"/>
              </a:rPr>
              <a:t>中序遍历</a:t>
            </a:r>
            <a:endParaRPr kumimoji="1" lang="zh-CN" altLang="en-US" sz="2400" b="1">
              <a:solidFill>
                <a:srgbClr val="0000CC"/>
              </a:solidFill>
              <a:latin typeface="Times New Roman" pitchFamily="18" charset="0"/>
              <a:ea typeface="楷体_GB2312" pitchFamily="49" charset="-122"/>
            </a:endParaRPr>
          </a:p>
        </p:txBody>
      </p:sp>
      <p:sp>
        <p:nvSpPr>
          <p:cNvPr id="24" name="Text Box 17"/>
          <p:cNvSpPr txBox="1">
            <a:spLocks noChangeArrowheads="1"/>
          </p:cNvSpPr>
          <p:nvPr/>
        </p:nvSpPr>
        <p:spPr bwMode="auto">
          <a:xfrm>
            <a:off x="0" y="5656263"/>
            <a:ext cx="9172575" cy="592137"/>
          </a:xfrm>
          <a:prstGeom prst="rect">
            <a:avLst/>
          </a:prstGeom>
          <a:noFill/>
          <a:ln w="12700" cap="rnd" algn="ctr">
            <a:solidFill>
              <a:srgbClr val="003300"/>
            </a:solidFill>
            <a:miter lim="800000"/>
            <a:headEnd/>
            <a:tailEnd/>
          </a:ln>
        </p:spPr>
        <p:txBody>
          <a:bodyPr wrap="none">
            <a:spAutoFit/>
          </a:bodyPr>
          <a:lstStyle/>
          <a:p>
            <a:pPr algn="ctr" eaLnBrk="0" fontAlgn="base" hangingPunct="0">
              <a:spcBef>
                <a:spcPct val="0"/>
              </a:spcBef>
              <a:spcAft>
                <a:spcPct val="0"/>
              </a:spcAft>
            </a:pPr>
            <a:r>
              <a:rPr kumimoji="1" lang="zh-CN" altLang="en-US" sz="3200" b="1">
                <a:solidFill>
                  <a:srgbClr val="FF0000"/>
                </a:solidFill>
                <a:latin typeface="Times New Roman" pitchFamily="18" charset="0"/>
              </a:rPr>
              <a:t>对树和森林的遍历可以调用二叉树对应的遍历算法</a:t>
            </a:r>
          </a:p>
        </p:txBody>
      </p:sp>
    </p:spTree>
    <p:extLst>
      <p:ext uri="{BB962C8B-B14F-4D97-AF65-F5344CB8AC3E}">
        <p14:creationId xmlns:p14="http://schemas.microsoft.com/office/powerpoint/2010/main" val="344621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20" grpId="0"/>
      <p:bldP spid="21" grpId="0"/>
      <p:bldP spid="22" grpId="0"/>
      <p:bldP spid="23" grpId="0"/>
      <p:bldP spid="24"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5.5.3  </a:t>
            </a:r>
            <a:r>
              <a:rPr kumimoji="1" lang="zh-CN" altLang="en-US" sz="3200" b="1" dirty="0">
                <a:latin typeface="Arial" charset="0"/>
                <a:ea typeface="宋体" charset="-122"/>
                <a:cs typeface="+mn-cs"/>
              </a:rPr>
              <a:t>树和森林的遍历</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求森林的深度的算法：</a:t>
            </a:r>
          </a:p>
        </p:txBody>
      </p:sp>
      <p:sp>
        <p:nvSpPr>
          <p:cNvPr id="4" name="日期占位符 3"/>
          <p:cNvSpPr>
            <a:spLocks noGrp="1"/>
          </p:cNvSpPr>
          <p:nvPr>
            <p:ph type="dt" sz="half" idx="10"/>
          </p:nvPr>
        </p:nvSpPr>
        <p:spPr/>
        <p:txBody>
          <a:bodyPr/>
          <a:lstStyle/>
          <a:p>
            <a:fld id="{3E55DF98-4558-4D30-A16E-8BE715A63A61}"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158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
          <p:cNvSpPr txBox="1">
            <a:spLocks noChangeArrowheads="1"/>
          </p:cNvSpPr>
          <p:nvPr/>
        </p:nvSpPr>
        <p:spPr bwMode="auto">
          <a:xfrm>
            <a:off x="727075" y="1828800"/>
            <a:ext cx="7959725" cy="4485652"/>
          </a:xfrm>
          <a:prstGeom prst="rect">
            <a:avLst/>
          </a:prstGeom>
          <a:noFill/>
          <a:ln w="12700" cap="sq">
            <a:solidFill>
              <a:srgbClr val="003300"/>
            </a:solidFill>
            <a:miter lim="800000"/>
            <a:headEnd type="none" w="sm" len="sm"/>
            <a:tailEnd type="none" w="sm" len="sm"/>
          </a:ln>
        </p:spPr>
        <p:txBody>
          <a:bodyPr wrap="square">
            <a:spAutoFit/>
          </a:bodyPr>
          <a:lstStyle/>
          <a:p>
            <a:pPr fontAlgn="base">
              <a:lnSpc>
                <a:spcPct val="120000"/>
              </a:lnSpc>
              <a:spcBef>
                <a:spcPct val="0"/>
              </a:spcBef>
              <a:spcAft>
                <a:spcPct val="0"/>
              </a:spcAft>
            </a:pPr>
            <a:r>
              <a:rPr kumimoji="1" lang="en-US" altLang="zh-CN" sz="2400" b="1" dirty="0" err="1">
                <a:solidFill>
                  <a:srgbClr val="0000FF"/>
                </a:solidFill>
                <a:latin typeface="Times New Roman" pitchFamily="18" charset="0"/>
                <a:ea typeface="楷体_GB2312" pitchFamily="49" charset="-122"/>
              </a:rPr>
              <a:t>int</a:t>
            </a:r>
            <a:r>
              <a:rPr kumimoji="1" lang="en-US" altLang="zh-CN" sz="2400" b="1" dirty="0">
                <a:solidFill>
                  <a:srgbClr val="0000FF"/>
                </a:solidFill>
                <a:latin typeface="Times New Roman" pitchFamily="18" charset="0"/>
                <a:ea typeface="楷体_GB2312" pitchFamily="49" charset="-122"/>
              </a:rPr>
              <a:t> </a:t>
            </a:r>
            <a:r>
              <a:rPr kumimoji="1" lang="en-US" altLang="zh-CN" sz="2400" b="1" dirty="0" err="1">
                <a:solidFill>
                  <a:srgbClr val="0000FF"/>
                </a:solidFill>
                <a:latin typeface="Times New Roman" pitchFamily="18" charset="0"/>
                <a:ea typeface="楷体_GB2312" pitchFamily="49" charset="-122"/>
              </a:rPr>
              <a:t>TreeDepth</a:t>
            </a:r>
            <a:r>
              <a:rPr kumimoji="1" lang="en-US" altLang="zh-CN" sz="2400" b="1" dirty="0">
                <a:solidFill>
                  <a:srgbClr val="0000FF"/>
                </a:solidFill>
                <a:latin typeface="Times New Roman" pitchFamily="18" charset="0"/>
                <a:ea typeface="楷体_GB2312" pitchFamily="49" charset="-122"/>
              </a:rPr>
              <a:t>(</a:t>
            </a:r>
            <a:r>
              <a:rPr kumimoji="1" lang="en-US" altLang="zh-CN" sz="2400" b="1" dirty="0" err="1">
                <a:solidFill>
                  <a:srgbClr val="0000FF"/>
                </a:solidFill>
                <a:latin typeface="Times New Roman" pitchFamily="18" charset="0"/>
                <a:ea typeface="楷体_GB2312" pitchFamily="49" charset="-122"/>
              </a:rPr>
              <a:t>CSTree</a:t>
            </a:r>
            <a:r>
              <a:rPr kumimoji="1" lang="en-US" altLang="zh-CN" sz="2400" b="1" dirty="0">
                <a:solidFill>
                  <a:srgbClr val="0000FF"/>
                </a:solidFill>
                <a:latin typeface="Times New Roman" pitchFamily="18" charset="0"/>
                <a:ea typeface="楷体_GB2312" pitchFamily="49" charset="-122"/>
              </a:rPr>
              <a:t> T) {//T</a:t>
            </a:r>
            <a:r>
              <a:rPr kumimoji="1" lang="zh-CN" altLang="en-US" sz="2400" b="1" dirty="0">
                <a:solidFill>
                  <a:srgbClr val="0000FF"/>
                </a:solidFill>
                <a:latin typeface="Times New Roman" pitchFamily="18" charset="0"/>
                <a:ea typeface="楷体_GB2312" pitchFamily="49" charset="-122"/>
              </a:rPr>
              <a:t>是森林</a:t>
            </a:r>
          </a:p>
          <a:p>
            <a:pPr fontAlgn="base">
              <a:lnSpc>
                <a:spcPct val="120000"/>
              </a:lnSpc>
              <a:spcBef>
                <a:spcPct val="0"/>
              </a:spcBef>
              <a:spcAft>
                <a:spcPct val="0"/>
              </a:spcAft>
            </a:pPr>
            <a:r>
              <a:rPr kumimoji="1" lang="en-US" altLang="zh-CN" sz="2400" b="1" dirty="0">
                <a:solidFill>
                  <a:srgbClr val="0000FF"/>
                </a:solidFill>
                <a:latin typeface="Times New Roman" pitchFamily="18" charset="0"/>
                <a:ea typeface="楷体_GB2312" pitchFamily="49" charset="-122"/>
              </a:rPr>
              <a:t>  if(!T)  return 0;</a:t>
            </a:r>
          </a:p>
          <a:p>
            <a:pPr fontAlgn="base">
              <a:lnSpc>
                <a:spcPct val="120000"/>
              </a:lnSpc>
              <a:spcBef>
                <a:spcPct val="0"/>
              </a:spcBef>
              <a:spcAft>
                <a:spcPct val="0"/>
              </a:spcAft>
            </a:pPr>
            <a:r>
              <a:rPr kumimoji="1" lang="en-US" altLang="zh-CN" sz="2400" b="1" dirty="0">
                <a:solidFill>
                  <a:srgbClr val="0000FF"/>
                </a:solidFill>
                <a:latin typeface="Times New Roman" pitchFamily="18" charset="0"/>
                <a:ea typeface="楷体_GB2312" pitchFamily="49" charset="-122"/>
              </a:rPr>
              <a:t>  else {</a:t>
            </a:r>
          </a:p>
          <a:p>
            <a:pPr fontAlgn="base">
              <a:lnSpc>
                <a:spcPct val="120000"/>
              </a:lnSpc>
              <a:spcBef>
                <a:spcPct val="0"/>
              </a:spcBef>
              <a:spcAft>
                <a:spcPct val="0"/>
              </a:spcAft>
            </a:pPr>
            <a:r>
              <a:rPr kumimoji="1" lang="en-US" altLang="zh-CN" sz="2400" b="1" dirty="0">
                <a:solidFill>
                  <a:srgbClr val="0000FF"/>
                </a:solidFill>
                <a:latin typeface="Times New Roman" pitchFamily="18" charset="0"/>
                <a:ea typeface="楷体_GB2312" pitchFamily="49" charset="-122"/>
              </a:rPr>
              <a:t>     </a:t>
            </a:r>
            <a:r>
              <a:rPr kumimoji="1" lang="en-US" altLang="zh-CN" sz="2400" b="1" dirty="0">
                <a:solidFill>
                  <a:srgbClr val="FF0000"/>
                </a:solidFill>
                <a:latin typeface="Times New Roman" pitchFamily="18" charset="0"/>
                <a:ea typeface="楷体_GB2312" pitchFamily="49" charset="-122"/>
              </a:rPr>
              <a:t>h1 = </a:t>
            </a:r>
            <a:r>
              <a:rPr kumimoji="1" lang="en-US" altLang="zh-CN" sz="2400" b="1" dirty="0" err="1">
                <a:solidFill>
                  <a:srgbClr val="FF0000"/>
                </a:solidFill>
                <a:latin typeface="Times New Roman" pitchFamily="18" charset="0"/>
                <a:ea typeface="楷体_GB2312" pitchFamily="49" charset="-122"/>
              </a:rPr>
              <a:t>TreeDepth</a:t>
            </a:r>
            <a:r>
              <a:rPr kumimoji="1" lang="en-US" altLang="zh-CN" sz="2400" b="1" dirty="0">
                <a:solidFill>
                  <a:srgbClr val="FF0000"/>
                </a:solidFill>
                <a:latin typeface="Times New Roman" pitchFamily="18" charset="0"/>
                <a:ea typeface="楷体_GB2312" pitchFamily="49" charset="-122"/>
              </a:rPr>
              <a:t>( T-&gt;</a:t>
            </a:r>
            <a:r>
              <a:rPr kumimoji="1" lang="en-US" altLang="zh-CN" sz="2400" b="1" dirty="0" err="1">
                <a:solidFill>
                  <a:srgbClr val="FF0000"/>
                </a:solidFill>
                <a:latin typeface="Times New Roman" pitchFamily="18" charset="0"/>
                <a:ea typeface="楷体_GB2312" pitchFamily="49" charset="-122"/>
              </a:rPr>
              <a:t>firstchild</a:t>
            </a:r>
            <a:r>
              <a:rPr kumimoji="1" lang="en-US" altLang="zh-CN" sz="2400" b="1" dirty="0">
                <a:solidFill>
                  <a:srgbClr val="FF0000"/>
                </a:solidFill>
                <a:latin typeface="Times New Roman" pitchFamily="18" charset="0"/>
                <a:ea typeface="楷体_GB2312" pitchFamily="49" charset="-122"/>
              </a:rPr>
              <a:t> );</a:t>
            </a:r>
          </a:p>
          <a:p>
            <a:pPr fontAlgn="base">
              <a:lnSpc>
                <a:spcPct val="120000"/>
              </a:lnSpc>
              <a:spcBef>
                <a:spcPct val="0"/>
              </a:spcBef>
              <a:spcAft>
                <a:spcPct val="0"/>
              </a:spcAft>
            </a:pPr>
            <a:r>
              <a:rPr kumimoji="1" lang="en-US" altLang="zh-CN" sz="2400" b="1" dirty="0">
                <a:solidFill>
                  <a:srgbClr val="0000FF"/>
                </a:solidFill>
                <a:latin typeface="Times New Roman" pitchFamily="18" charset="0"/>
                <a:ea typeface="楷体_GB2312" pitchFamily="49" charset="-122"/>
              </a:rPr>
              <a:t>      </a:t>
            </a:r>
            <a:r>
              <a:rPr kumimoji="1" lang="en-US" altLang="zh-CN" sz="2400" b="1" dirty="0">
                <a:solidFill>
                  <a:srgbClr val="000000"/>
                </a:solidFill>
                <a:latin typeface="Times New Roman" pitchFamily="18" charset="0"/>
                <a:ea typeface="楷体_GB2312" pitchFamily="49" charset="-122"/>
              </a:rPr>
              <a:t>//</a:t>
            </a:r>
            <a:r>
              <a:rPr kumimoji="1" lang="zh-CN" altLang="en-US" sz="2400" b="1" dirty="0">
                <a:solidFill>
                  <a:srgbClr val="000000"/>
                </a:solidFill>
                <a:latin typeface="Times New Roman" pitchFamily="18" charset="0"/>
                <a:ea typeface="楷体_GB2312" pitchFamily="49" charset="-122"/>
              </a:rPr>
              <a:t>森林中第一棵树的子树森林的深度</a:t>
            </a:r>
          </a:p>
          <a:p>
            <a:pPr fontAlgn="base">
              <a:lnSpc>
                <a:spcPct val="120000"/>
              </a:lnSpc>
              <a:spcBef>
                <a:spcPct val="0"/>
              </a:spcBef>
              <a:spcAft>
                <a:spcPct val="0"/>
              </a:spcAft>
            </a:pPr>
            <a:r>
              <a:rPr kumimoji="1" lang="en-US" altLang="zh-CN" sz="2400" b="1" dirty="0">
                <a:solidFill>
                  <a:srgbClr val="0000FF"/>
                </a:solidFill>
                <a:latin typeface="Times New Roman" pitchFamily="18" charset="0"/>
                <a:ea typeface="楷体_GB2312" pitchFamily="49" charset="-122"/>
              </a:rPr>
              <a:t>     </a:t>
            </a:r>
            <a:r>
              <a:rPr kumimoji="1" lang="en-US" altLang="zh-CN" sz="2400" b="1" dirty="0">
                <a:solidFill>
                  <a:srgbClr val="FF0000"/>
                </a:solidFill>
                <a:latin typeface="Times New Roman" pitchFamily="18" charset="0"/>
                <a:ea typeface="楷体_GB2312" pitchFamily="49" charset="-122"/>
              </a:rPr>
              <a:t>h2 = </a:t>
            </a:r>
            <a:r>
              <a:rPr kumimoji="1" lang="en-US" altLang="zh-CN" sz="2400" b="1" dirty="0" err="1">
                <a:solidFill>
                  <a:srgbClr val="FF0000"/>
                </a:solidFill>
                <a:latin typeface="Times New Roman" pitchFamily="18" charset="0"/>
                <a:ea typeface="楷体_GB2312" pitchFamily="49" charset="-122"/>
              </a:rPr>
              <a:t>TreeDepth</a:t>
            </a:r>
            <a:r>
              <a:rPr kumimoji="1" lang="en-US" altLang="zh-CN" sz="2400" b="1" dirty="0">
                <a:solidFill>
                  <a:srgbClr val="FF0000"/>
                </a:solidFill>
                <a:latin typeface="Times New Roman" pitchFamily="18" charset="0"/>
                <a:ea typeface="楷体_GB2312" pitchFamily="49" charset="-122"/>
              </a:rPr>
              <a:t>( T-&gt;</a:t>
            </a:r>
            <a:r>
              <a:rPr kumimoji="1" lang="en-US" altLang="zh-CN" sz="2400" b="1" dirty="0" err="1">
                <a:solidFill>
                  <a:srgbClr val="FF0000"/>
                </a:solidFill>
                <a:latin typeface="Times New Roman" pitchFamily="18" charset="0"/>
                <a:ea typeface="楷体_GB2312" pitchFamily="49" charset="-122"/>
              </a:rPr>
              <a:t>firstbrother</a:t>
            </a:r>
            <a:r>
              <a:rPr kumimoji="1" lang="en-US" altLang="zh-CN" sz="2400" b="1" dirty="0">
                <a:solidFill>
                  <a:srgbClr val="FF0000"/>
                </a:solidFill>
                <a:latin typeface="Times New Roman" pitchFamily="18" charset="0"/>
                <a:ea typeface="楷体_GB2312" pitchFamily="49" charset="-122"/>
              </a:rPr>
              <a:t>);</a:t>
            </a:r>
          </a:p>
          <a:p>
            <a:pPr fontAlgn="base">
              <a:lnSpc>
                <a:spcPct val="120000"/>
              </a:lnSpc>
              <a:spcBef>
                <a:spcPct val="0"/>
              </a:spcBef>
              <a:spcAft>
                <a:spcPct val="0"/>
              </a:spcAft>
            </a:pPr>
            <a:r>
              <a:rPr kumimoji="1" lang="en-US" altLang="zh-CN" sz="2400" b="1" dirty="0">
                <a:solidFill>
                  <a:srgbClr val="000000"/>
                </a:solidFill>
                <a:latin typeface="Times New Roman" pitchFamily="18" charset="0"/>
                <a:ea typeface="楷体_GB2312" pitchFamily="49" charset="-122"/>
              </a:rPr>
              <a:t>//</a:t>
            </a:r>
            <a:r>
              <a:rPr kumimoji="1" lang="zh-CN" altLang="en-US" sz="2400" b="1" dirty="0">
                <a:solidFill>
                  <a:srgbClr val="000000"/>
                </a:solidFill>
                <a:latin typeface="Times New Roman" pitchFamily="18" charset="0"/>
                <a:ea typeface="楷体_GB2312" pitchFamily="49" charset="-122"/>
              </a:rPr>
              <a:t>森林中其他子树构成的森林的深度，与</a:t>
            </a:r>
            <a:r>
              <a:rPr kumimoji="1" lang="en-US" altLang="zh-CN" sz="2400" b="1" dirty="0">
                <a:solidFill>
                  <a:srgbClr val="000000"/>
                </a:solidFill>
                <a:latin typeface="Times New Roman" pitchFamily="18" charset="0"/>
                <a:ea typeface="楷体_GB2312" pitchFamily="49" charset="-122"/>
              </a:rPr>
              <a:t>T</a:t>
            </a:r>
            <a:r>
              <a:rPr kumimoji="1" lang="zh-CN" altLang="en-US" sz="2400" b="1" dirty="0">
                <a:solidFill>
                  <a:srgbClr val="000000"/>
                </a:solidFill>
                <a:latin typeface="Times New Roman" pitchFamily="18" charset="0"/>
                <a:ea typeface="楷体_GB2312" pitchFamily="49" charset="-122"/>
              </a:rPr>
              <a:t>在同一层</a:t>
            </a:r>
          </a:p>
          <a:p>
            <a:pPr fontAlgn="base">
              <a:lnSpc>
                <a:spcPct val="120000"/>
              </a:lnSpc>
              <a:spcBef>
                <a:spcPct val="0"/>
              </a:spcBef>
              <a:spcAft>
                <a:spcPct val="0"/>
              </a:spcAft>
            </a:pPr>
            <a:endParaRPr kumimoji="1" lang="en-US" altLang="zh-CN" sz="2400" b="1" dirty="0">
              <a:solidFill>
                <a:srgbClr val="000000"/>
              </a:solidFill>
              <a:latin typeface="Times New Roman" pitchFamily="18" charset="0"/>
              <a:ea typeface="楷体_GB2312" pitchFamily="49" charset="-122"/>
            </a:endParaRPr>
          </a:p>
          <a:p>
            <a:pPr fontAlgn="base">
              <a:lnSpc>
                <a:spcPct val="120000"/>
              </a:lnSpc>
              <a:spcBef>
                <a:spcPct val="0"/>
              </a:spcBef>
              <a:spcAft>
                <a:spcPct val="0"/>
              </a:spcAft>
            </a:pPr>
            <a:r>
              <a:rPr kumimoji="1" lang="en-US" altLang="zh-CN" sz="2400" b="1" dirty="0">
                <a:solidFill>
                  <a:srgbClr val="0000FF"/>
                </a:solidFill>
                <a:latin typeface="Times New Roman" pitchFamily="18" charset="0"/>
                <a:ea typeface="楷体_GB2312" pitchFamily="49" charset="-122"/>
              </a:rPr>
              <a:t>  }</a:t>
            </a:r>
          </a:p>
          <a:p>
            <a:pPr fontAlgn="base">
              <a:lnSpc>
                <a:spcPct val="120000"/>
              </a:lnSpc>
              <a:spcBef>
                <a:spcPct val="0"/>
              </a:spcBef>
              <a:spcAft>
                <a:spcPct val="0"/>
              </a:spcAft>
            </a:pPr>
            <a:r>
              <a:rPr kumimoji="1" lang="en-US" altLang="zh-CN" sz="2400" b="1" dirty="0">
                <a:solidFill>
                  <a:srgbClr val="0000FF"/>
                </a:solidFill>
                <a:latin typeface="Times New Roman" pitchFamily="18" charset="0"/>
                <a:ea typeface="楷体_GB2312" pitchFamily="49" charset="-122"/>
              </a:rPr>
              <a:t>}  // </a:t>
            </a:r>
            <a:r>
              <a:rPr kumimoji="1" lang="en-US" altLang="zh-CN" sz="2400" b="1" dirty="0" err="1">
                <a:solidFill>
                  <a:srgbClr val="0000FF"/>
                </a:solidFill>
                <a:latin typeface="Times New Roman" pitchFamily="18" charset="0"/>
                <a:ea typeface="楷体_GB2312" pitchFamily="49" charset="-122"/>
              </a:rPr>
              <a:t>TreeDepth</a:t>
            </a:r>
            <a:endParaRPr kumimoji="1" lang="en-US" altLang="zh-CN" sz="2400" b="1" dirty="0">
              <a:solidFill>
                <a:srgbClr val="0000FF"/>
              </a:solidFill>
              <a:latin typeface="Times New Roman" pitchFamily="18" charset="0"/>
            </a:endParaRPr>
          </a:p>
        </p:txBody>
      </p:sp>
      <p:sp>
        <p:nvSpPr>
          <p:cNvPr id="14" name="Text Box 3"/>
          <p:cNvSpPr txBox="1">
            <a:spLocks noChangeArrowheads="1"/>
          </p:cNvSpPr>
          <p:nvPr/>
        </p:nvSpPr>
        <p:spPr bwMode="auto">
          <a:xfrm>
            <a:off x="1150123" y="4901625"/>
            <a:ext cx="3759299" cy="523220"/>
          </a:xfrm>
          <a:prstGeom prst="rect">
            <a:avLst/>
          </a:prstGeom>
          <a:noFill/>
          <a:ln w="12700" cap="sq">
            <a:noFill/>
            <a:miter lim="800000"/>
            <a:headEnd type="none" w="sm" len="sm"/>
            <a:tailEnd type="none" w="sm" len="sm"/>
          </a:ln>
        </p:spPr>
        <p:txBody>
          <a:bodyPr wrap="none">
            <a:spAutoFit/>
          </a:bodyPr>
          <a:lstStyle/>
          <a:p>
            <a:pPr fontAlgn="base">
              <a:spcBef>
                <a:spcPct val="0"/>
              </a:spcBef>
              <a:spcAft>
                <a:spcPct val="0"/>
              </a:spcAft>
            </a:pPr>
            <a:r>
              <a:rPr kumimoji="1" lang="en-US" altLang="zh-CN" sz="2800" b="1" dirty="0">
                <a:solidFill>
                  <a:srgbClr val="FF0000"/>
                </a:solidFill>
                <a:latin typeface="Times New Roman" pitchFamily="18" charset="0"/>
                <a:ea typeface="楷体_GB2312" pitchFamily="49" charset="-122"/>
              </a:rPr>
              <a:t>return(max(h1+1, h2));</a:t>
            </a:r>
            <a:endParaRPr kumimoji="1" lang="en-US" altLang="zh-CN" sz="1600" b="1" dirty="0">
              <a:solidFill>
                <a:srgbClr val="FF0000"/>
              </a:solidFill>
              <a:latin typeface="Times New Roman" pitchFamily="18" charset="0"/>
            </a:endParaRPr>
          </a:p>
        </p:txBody>
      </p:sp>
    </p:spTree>
    <p:extLst>
      <p:ext uri="{BB962C8B-B14F-4D97-AF65-F5344CB8AC3E}">
        <p14:creationId xmlns:p14="http://schemas.microsoft.com/office/powerpoint/2010/main" val="3890518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5.6  </a:t>
            </a:r>
            <a:r>
              <a:rPr kumimoji="1" lang="zh-CN" altLang="en-US" sz="3200" b="1" dirty="0">
                <a:latin typeface="Arial" charset="0"/>
                <a:ea typeface="宋体" charset="-122"/>
                <a:cs typeface="+mn-cs"/>
              </a:rPr>
              <a:t>树和森林</a:t>
            </a:r>
          </a:p>
        </p:txBody>
      </p:sp>
      <p:sp>
        <p:nvSpPr>
          <p:cNvPr id="3" name="内容占位符 2"/>
          <p:cNvSpPr>
            <a:spLocks noGrp="1"/>
          </p:cNvSpPr>
          <p:nvPr>
            <p:ph idx="1"/>
          </p:nvPr>
        </p:nvSpPr>
        <p:spPr>
          <a:xfrm>
            <a:off x="457200" y="1143000"/>
            <a:ext cx="8229600" cy="5105400"/>
          </a:xfrm>
        </p:spPr>
        <p:txBody>
          <a:bodyPr>
            <a:normAutofit/>
          </a:bodyPr>
          <a:lstStyle/>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rPr>
              <a:t> </a:t>
            </a:r>
            <a:r>
              <a:rPr kumimoji="1" lang="en-US" altLang="zh-CN" b="1" dirty="0">
                <a:solidFill>
                  <a:srgbClr val="0707F9"/>
                </a:solidFill>
                <a:latin typeface="Times New Roman" pitchFamily="18" charset="0"/>
              </a:rPr>
              <a:t>5.5.1  </a:t>
            </a:r>
            <a:r>
              <a:rPr kumimoji="1" lang="zh-CN" altLang="en-US" b="1" dirty="0">
                <a:solidFill>
                  <a:srgbClr val="0707F9"/>
                </a:solidFill>
                <a:latin typeface="Times New Roman" pitchFamily="18" charset="0"/>
              </a:rPr>
              <a:t>树的存储结构</a:t>
            </a:r>
          </a:p>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rPr>
              <a:t> </a:t>
            </a:r>
            <a:r>
              <a:rPr kumimoji="1" lang="en-US" altLang="zh-CN" b="1" dirty="0">
                <a:solidFill>
                  <a:srgbClr val="0707F9"/>
                </a:solidFill>
                <a:latin typeface="Times New Roman" pitchFamily="18" charset="0"/>
              </a:rPr>
              <a:t>5.5.2  </a:t>
            </a:r>
            <a:r>
              <a:rPr kumimoji="1" lang="zh-CN" altLang="en-US" b="1" dirty="0">
                <a:solidFill>
                  <a:srgbClr val="0707F9"/>
                </a:solidFill>
                <a:latin typeface="Times New Roman" pitchFamily="18" charset="0"/>
              </a:rPr>
              <a:t>树、森林与二叉树的转换</a:t>
            </a:r>
          </a:p>
          <a:p>
            <a:pPr marL="0" indent="0" fontAlgn="base">
              <a:lnSpc>
                <a:spcPct val="200000"/>
              </a:lnSpc>
              <a:spcBef>
                <a:spcPct val="0"/>
              </a:spcBef>
              <a:spcAft>
                <a:spcPct val="0"/>
              </a:spcAft>
              <a:buNone/>
            </a:pPr>
            <a:r>
              <a:rPr kumimoji="1" lang="zh-CN" altLang="en-US" b="1" dirty="0">
                <a:solidFill>
                  <a:srgbClr val="0707F9"/>
                </a:solidFill>
                <a:latin typeface="Times New Roman" pitchFamily="18" charset="0"/>
              </a:rPr>
              <a:t> </a:t>
            </a:r>
            <a:r>
              <a:rPr kumimoji="1" lang="en-US" altLang="zh-CN" b="1" dirty="0">
                <a:solidFill>
                  <a:srgbClr val="0707F9"/>
                </a:solidFill>
                <a:latin typeface="Times New Roman" pitchFamily="18" charset="0"/>
              </a:rPr>
              <a:t>5.5.3  </a:t>
            </a:r>
            <a:r>
              <a:rPr kumimoji="1" lang="zh-CN" altLang="en-US" b="1" dirty="0">
                <a:solidFill>
                  <a:srgbClr val="0707F9"/>
                </a:solidFill>
                <a:latin typeface="Times New Roman" pitchFamily="18" charset="0"/>
              </a:rPr>
              <a:t>树和森林的遍历</a:t>
            </a:r>
          </a:p>
          <a:p>
            <a:pPr marL="0" indent="0" fontAlgn="base">
              <a:lnSpc>
                <a:spcPct val="200000"/>
              </a:lnSpc>
              <a:spcBef>
                <a:spcPct val="0"/>
              </a:spcBef>
              <a:spcAft>
                <a:spcPct val="0"/>
              </a:spcAft>
              <a:buNone/>
            </a:pPr>
            <a:r>
              <a:rPr kumimoji="1" lang="en-US" altLang="zh-CN" b="1" dirty="0">
                <a:solidFill>
                  <a:srgbClr val="FF0000"/>
                </a:solidFill>
                <a:latin typeface="Times New Roman" pitchFamily="18" charset="0"/>
              </a:rPr>
              <a:t>5.5.4   </a:t>
            </a:r>
            <a:r>
              <a:rPr kumimoji="1" lang="en-US" altLang="zh-CN" b="1" dirty="0" err="1">
                <a:solidFill>
                  <a:srgbClr val="FF0000"/>
                </a:solidFill>
                <a:latin typeface="Times New Roman" pitchFamily="18" charset="0"/>
              </a:rPr>
              <a:t>huffman</a:t>
            </a:r>
            <a:r>
              <a:rPr kumimoji="1" lang="zh-CN" altLang="en-US" b="1" dirty="0">
                <a:solidFill>
                  <a:srgbClr val="FF0000"/>
                </a:solidFill>
                <a:latin typeface="Times New Roman" pitchFamily="18" charset="0"/>
              </a:rPr>
              <a:t>树及其应用</a:t>
            </a:r>
          </a:p>
          <a:p>
            <a:pPr>
              <a:lnSpc>
                <a:spcPts val="3600"/>
              </a:lnSpc>
            </a:pPr>
            <a:endParaRPr lang="en-US" altLang="zh-CN" sz="2800" b="1" dirty="0"/>
          </a:p>
        </p:txBody>
      </p:sp>
      <p:sp>
        <p:nvSpPr>
          <p:cNvPr id="4" name="日期占位符 3"/>
          <p:cNvSpPr>
            <a:spLocks noGrp="1"/>
          </p:cNvSpPr>
          <p:nvPr>
            <p:ph type="dt" sz="half" idx="10"/>
          </p:nvPr>
        </p:nvSpPr>
        <p:spPr/>
        <p:txBody>
          <a:bodyPr/>
          <a:lstStyle/>
          <a:p>
            <a:fld id="{39D450FD-C3EA-4D53-82C1-2D544C7C8F5D}"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159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274551324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r>
              <a:rPr kumimoji="1" lang="zh-CN" altLang="en-US" sz="2000" b="1" dirty="0">
                <a:latin typeface="Arial" charset="0"/>
                <a:ea typeface="宋体" charset="-122"/>
                <a:cs typeface="+mn-cs"/>
              </a:rPr>
              <a:t>（</a:t>
            </a:r>
            <a:r>
              <a:rPr kumimoji="1" lang="zh-CN" altLang="en-US" sz="2000" b="1" dirty="0">
                <a:highlight>
                  <a:srgbClr val="C0C0C0"/>
                </a:highlight>
                <a:latin typeface="Arial" charset="0"/>
                <a:ea typeface="宋体" charset="-122"/>
                <a:cs typeface="+mn-cs"/>
              </a:rPr>
              <a:t>连接第</a:t>
            </a:r>
            <a:r>
              <a:rPr kumimoji="1" lang="en-US" altLang="zh-CN" sz="2000" b="1" dirty="0">
                <a:highlight>
                  <a:srgbClr val="C0C0C0"/>
                </a:highlight>
                <a:latin typeface="Arial" charset="0"/>
                <a:ea typeface="宋体" charset="-122"/>
                <a:cs typeface="+mn-cs"/>
              </a:rPr>
              <a:t>8</a:t>
            </a:r>
            <a:r>
              <a:rPr kumimoji="1" lang="zh-CN" altLang="en-US" sz="2000" b="1" dirty="0">
                <a:highlight>
                  <a:srgbClr val="C0C0C0"/>
                </a:highlight>
                <a:latin typeface="Arial" charset="0"/>
                <a:ea typeface="宋体" charset="-122"/>
                <a:cs typeface="+mn-cs"/>
              </a:rPr>
              <a:t>章贪心算法</a:t>
            </a:r>
            <a:r>
              <a:rPr kumimoji="1" lang="zh-CN" altLang="en-US" sz="2000" b="1" dirty="0">
                <a:latin typeface="Arial" charset="0"/>
                <a:ea typeface="宋体" charset="-122"/>
                <a:cs typeface="+mn-cs"/>
              </a:rPr>
              <a:t>）</a:t>
            </a:r>
            <a:endParaRPr kumimoji="1" lang="zh-CN" altLang="en-US" sz="3200" b="1" dirty="0">
              <a:latin typeface="Arial" charset="0"/>
              <a:ea typeface="宋体" charset="-122"/>
              <a:cs typeface="+mn-cs"/>
            </a:endParaRP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800" b="1" dirty="0">
                <a:solidFill>
                  <a:srgbClr val="FF0000"/>
                </a:solidFill>
              </a:rPr>
              <a:t>应用：</a:t>
            </a:r>
            <a:r>
              <a:rPr lang="zh-CN" altLang="en-US" sz="2800" b="1" dirty="0"/>
              <a:t>在电报通信中，电文是以二进制按照一定的编码反射传送。</a:t>
            </a:r>
          </a:p>
          <a:p>
            <a:pPr>
              <a:lnSpc>
                <a:spcPts val="3600"/>
              </a:lnSpc>
            </a:pPr>
            <a:r>
              <a:rPr lang="zh-CN" altLang="en-US" sz="2800" b="1" dirty="0">
                <a:solidFill>
                  <a:srgbClr val="FF0000"/>
                </a:solidFill>
              </a:rPr>
              <a:t>发送方：</a:t>
            </a:r>
            <a:r>
              <a:rPr lang="zh-CN" altLang="en-US" sz="2800" b="1" dirty="0"/>
              <a:t>按照预先规定的方法将要传送的字符换成</a:t>
            </a:r>
            <a:r>
              <a:rPr lang="en-US" altLang="zh-CN" sz="2800" b="1" dirty="0"/>
              <a:t>0</a:t>
            </a:r>
            <a:r>
              <a:rPr lang="zh-CN" altLang="en-US" sz="2800" b="1" dirty="0"/>
              <a:t>和</a:t>
            </a:r>
            <a:r>
              <a:rPr lang="en-US" altLang="zh-CN" sz="2800" b="1" dirty="0"/>
              <a:t>1</a:t>
            </a:r>
            <a:r>
              <a:rPr lang="zh-CN" altLang="en-US" sz="2800" b="1" dirty="0"/>
              <a:t>组成的序列</a:t>
            </a:r>
            <a:r>
              <a:rPr lang="en-US" altLang="zh-CN" sz="2800" b="1" dirty="0"/>
              <a:t>----</a:t>
            </a:r>
            <a:r>
              <a:rPr lang="zh-CN" altLang="en-US" sz="2800" b="1" dirty="0"/>
              <a:t>编码；</a:t>
            </a:r>
          </a:p>
          <a:p>
            <a:pPr>
              <a:lnSpc>
                <a:spcPts val="3600"/>
              </a:lnSpc>
            </a:pPr>
            <a:r>
              <a:rPr lang="zh-CN" altLang="en-US" sz="2800" b="1" dirty="0">
                <a:solidFill>
                  <a:srgbClr val="FF0000"/>
                </a:solidFill>
              </a:rPr>
              <a:t>接收方：</a:t>
            </a:r>
            <a:r>
              <a:rPr lang="zh-CN" altLang="en-US" sz="2800" b="1" dirty="0"/>
              <a:t>由</a:t>
            </a:r>
            <a:r>
              <a:rPr lang="en-US" altLang="zh-CN" sz="2800" b="1" dirty="0"/>
              <a:t>0</a:t>
            </a:r>
            <a:r>
              <a:rPr lang="zh-CN" altLang="en-US" sz="2800" b="1" dirty="0"/>
              <a:t>和</a:t>
            </a:r>
            <a:r>
              <a:rPr lang="en-US" altLang="zh-CN" sz="2800" b="1" dirty="0"/>
              <a:t>1</a:t>
            </a:r>
            <a:r>
              <a:rPr lang="zh-CN" altLang="en-US" sz="2800" b="1" dirty="0"/>
              <a:t>组成的序列换成对应的字符</a:t>
            </a:r>
            <a:r>
              <a:rPr lang="en-US" altLang="zh-CN" sz="2800" b="1" dirty="0"/>
              <a:t>----</a:t>
            </a:r>
            <a:r>
              <a:rPr lang="zh-CN" altLang="en-US" sz="2800" b="1" dirty="0"/>
              <a:t>解码</a:t>
            </a:r>
          </a:p>
          <a:p>
            <a:pPr>
              <a:lnSpc>
                <a:spcPts val="3600"/>
              </a:lnSpc>
            </a:pPr>
            <a:endParaRPr lang="zh-CN" altLang="en-US" sz="2800" b="1" dirty="0">
              <a:solidFill>
                <a:srgbClr val="FF0000"/>
              </a:solidFill>
            </a:endParaRPr>
          </a:p>
        </p:txBody>
      </p:sp>
      <p:sp>
        <p:nvSpPr>
          <p:cNvPr id="4" name="日期占位符 3"/>
          <p:cNvSpPr>
            <a:spLocks noGrp="1"/>
          </p:cNvSpPr>
          <p:nvPr>
            <p:ph type="dt" sz="half" idx="10"/>
          </p:nvPr>
        </p:nvSpPr>
        <p:spPr/>
        <p:txBody>
          <a:bodyPr/>
          <a:lstStyle/>
          <a:p>
            <a:fld id="{93D21BC7-BD9F-455A-BE65-253213D3C6D3}"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160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流程图: 资料带 12"/>
          <p:cNvSpPr/>
          <p:nvPr/>
        </p:nvSpPr>
        <p:spPr bwMode="auto">
          <a:xfrm>
            <a:off x="2381250" y="3731241"/>
            <a:ext cx="5143500" cy="1785640"/>
          </a:xfrm>
          <a:prstGeom prst="flowChartPunchedTape">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200" b="0" i="0" u="none" strike="noStrike" kern="0" cap="none" spc="0" normalizeH="0" baseline="0" noProof="0" dirty="0">
                <a:ln>
                  <a:noFill/>
                </a:ln>
                <a:solidFill>
                  <a:srgbClr val="000000"/>
                </a:solidFill>
                <a:effectLst/>
                <a:uLnTx/>
                <a:uFillTx/>
                <a:latin typeface="Times New Roman" pitchFamily="18" charset="0"/>
                <a:ea typeface="宋体"/>
                <a:cs typeface="+mn-cs"/>
              </a:rPr>
              <a:t>如何编码能获得较高的传送效率？</a:t>
            </a:r>
          </a:p>
        </p:txBody>
      </p:sp>
      <p:sp>
        <p:nvSpPr>
          <p:cNvPr id="14" name="流程图: 资料带 13"/>
          <p:cNvSpPr/>
          <p:nvPr/>
        </p:nvSpPr>
        <p:spPr bwMode="auto">
          <a:xfrm>
            <a:off x="1881188" y="5431453"/>
            <a:ext cx="6286500" cy="969347"/>
          </a:xfrm>
          <a:prstGeom prst="flowChartPunchedTape">
            <a:avLst/>
          </a:prstGeom>
          <a:solidFill>
            <a:srgbClr val="FFFFFF"/>
          </a:solidFill>
          <a:ln w="25400" cap="flat" cmpd="sng" algn="ctr">
            <a:solidFill>
              <a:srgbClr val="009DD9"/>
            </a:solidFill>
            <a:prstDash val="solid"/>
            <a:headEnd type="none" w="med" len="med"/>
            <a:tailEnd type="none" w="med" len="med"/>
          </a:ln>
          <a:effec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3200" b="0" i="0" u="none" strike="noStrike" kern="0" cap="none" spc="0" normalizeH="0" baseline="0" noProof="0" dirty="0">
                <a:ln>
                  <a:noFill/>
                </a:ln>
                <a:solidFill>
                  <a:srgbClr val="000000"/>
                </a:solidFill>
                <a:effectLst/>
                <a:uLnTx/>
                <a:uFillTx/>
                <a:latin typeface="Times New Roman" pitchFamily="18" charset="0"/>
                <a:ea typeface="宋体"/>
                <a:cs typeface="+mn-cs"/>
              </a:rPr>
              <a:t>Huffman</a:t>
            </a:r>
            <a:r>
              <a:rPr kumimoji="1" lang="zh-CN" altLang="en-US" sz="3200" b="0" i="0" u="none" strike="noStrike" kern="0" cap="none" spc="0" normalizeH="0" baseline="0" noProof="0" dirty="0">
                <a:ln>
                  <a:noFill/>
                </a:ln>
                <a:solidFill>
                  <a:srgbClr val="000000"/>
                </a:solidFill>
                <a:effectLst/>
                <a:uLnTx/>
                <a:uFillTx/>
                <a:latin typeface="Times New Roman" pitchFamily="18" charset="0"/>
                <a:ea typeface="宋体"/>
                <a:cs typeface="+mn-cs"/>
              </a:rPr>
              <a:t>成功解决了该问题！</a:t>
            </a:r>
          </a:p>
        </p:txBody>
      </p:sp>
    </p:spTree>
    <p:extLst>
      <p:ext uri="{BB962C8B-B14F-4D97-AF65-F5344CB8AC3E}">
        <p14:creationId xmlns:p14="http://schemas.microsoft.com/office/powerpoint/2010/main" val="53231106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fontScale="77500" lnSpcReduction="20000"/>
          </a:bodyPr>
          <a:lstStyle/>
          <a:p>
            <a:pPr>
              <a:lnSpc>
                <a:spcPts val="3600"/>
              </a:lnSpc>
            </a:pPr>
            <a:r>
              <a:rPr lang="en-US" altLang="zh-CN" sz="2800" b="1" dirty="0">
                <a:solidFill>
                  <a:srgbClr val="FF0000"/>
                </a:solidFill>
              </a:rPr>
              <a:t>Huffman</a:t>
            </a:r>
            <a:r>
              <a:rPr lang="zh-CN" altLang="en-US" sz="2800" b="1" dirty="0">
                <a:solidFill>
                  <a:srgbClr val="FF0000"/>
                </a:solidFill>
              </a:rPr>
              <a:t>教授简介</a:t>
            </a:r>
            <a:endParaRPr lang="en-US" altLang="zh-CN" sz="2800" b="1" dirty="0">
              <a:solidFill>
                <a:srgbClr val="FF0000"/>
              </a:solidFill>
            </a:endParaRPr>
          </a:p>
          <a:p>
            <a:pPr lvl="1">
              <a:lnSpc>
                <a:spcPts val="3600"/>
              </a:lnSpc>
            </a:pPr>
            <a:r>
              <a:rPr lang="en-US" altLang="zh-CN" sz="2400" b="1" dirty="0"/>
              <a:t>David Huffman</a:t>
            </a:r>
            <a:r>
              <a:rPr lang="zh-CN" altLang="en-US" sz="2400" b="1" dirty="0"/>
              <a:t>教授，美国人，</a:t>
            </a:r>
            <a:r>
              <a:rPr lang="en-US" altLang="zh-CN" sz="2400" b="1" dirty="0"/>
              <a:t>1999</a:t>
            </a:r>
            <a:r>
              <a:rPr lang="zh-CN" altLang="en-US" sz="2400" b="1" dirty="0"/>
              <a:t>年逝世。</a:t>
            </a:r>
          </a:p>
          <a:p>
            <a:pPr lvl="1">
              <a:lnSpc>
                <a:spcPts val="3600"/>
              </a:lnSpc>
            </a:pPr>
            <a:r>
              <a:rPr lang="zh-CN" altLang="en-US" sz="2400" b="1" dirty="0"/>
              <a:t>在他的一生中，他对于有限状态自动机、开关电路、异步过程和信号设计有杰出的贡献。</a:t>
            </a:r>
          </a:p>
          <a:p>
            <a:pPr lvl="1">
              <a:lnSpc>
                <a:spcPts val="3600"/>
              </a:lnSpc>
            </a:pPr>
            <a:r>
              <a:rPr lang="zh-CN" altLang="en-US" sz="2400" b="1" dirty="0"/>
              <a:t>他发明的</a:t>
            </a:r>
            <a:r>
              <a:rPr lang="en-US" altLang="zh-CN" sz="2400" b="1" dirty="0"/>
              <a:t>Huffman</a:t>
            </a:r>
            <a:r>
              <a:rPr lang="zh-CN" altLang="en-US" sz="2400" b="1" dirty="0"/>
              <a:t>编码能够使我们通常的数据传输数量减少到最小。</a:t>
            </a:r>
          </a:p>
          <a:p>
            <a:pPr lvl="1">
              <a:lnSpc>
                <a:spcPts val="3600"/>
              </a:lnSpc>
            </a:pPr>
            <a:r>
              <a:rPr lang="en-US" altLang="zh-CN" sz="2400" b="1" dirty="0"/>
              <a:t>1950</a:t>
            </a:r>
            <a:r>
              <a:rPr lang="zh-CN" altLang="en-US" sz="2400" b="1" dirty="0"/>
              <a:t>年，</a:t>
            </a:r>
            <a:r>
              <a:rPr lang="en-US" altLang="zh-CN" sz="2400" b="1" dirty="0"/>
              <a:t>Huffman</a:t>
            </a:r>
            <a:r>
              <a:rPr lang="zh-CN" altLang="en-US" sz="2400" b="1" dirty="0"/>
              <a:t>在</a:t>
            </a:r>
            <a:r>
              <a:rPr lang="en-US" altLang="zh-CN" sz="2400" b="1" dirty="0"/>
              <a:t>MIT(</a:t>
            </a:r>
            <a:r>
              <a:rPr lang="zh-CN" altLang="en-US" sz="2400" b="1" dirty="0"/>
              <a:t>麻省理工</a:t>
            </a:r>
            <a:r>
              <a:rPr lang="en-US" altLang="zh-CN" sz="2400" b="1" dirty="0"/>
              <a:t>)</a:t>
            </a:r>
            <a:r>
              <a:rPr lang="zh-CN" altLang="en-US" sz="2400" b="1" dirty="0"/>
              <a:t>的信息理论与编码研究生班学习。</a:t>
            </a:r>
            <a:r>
              <a:rPr lang="en-US" altLang="zh-CN" sz="2400" b="1" dirty="0"/>
              <a:t>Robert </a:t>
            </a:r>
            <a:r>
              <a:rPr lang="en-US" altLang="zh-CN" sz="2400" b="1" dirty="0" err="1"/>
              <a:t>Fano</a:t>
            </a:r>
            <a:r>
              <a:rPr lang="zh-CN" altLang="en-US" sz="2400" b="1" dirty="0"/>
              <a:t>教授让学生们自己决定是参加期未考试还是做一个大作业。而</a:t>
            </a:r>
            <a:r>
              <a:rPr lang="en-US" altLang="zh-CN" sz="2400" b="1" dirty="0"/>
              <a:t>Huffman</a:t>
            </a:r>
            <a:r>
              <a:rPr lang="zh-CN" altLang="en-US" sz="2400" b="1" dirty="0"/>
              <a:t>选择了后者，原因很简单，因为解决一个大作业可能比期未考试更容易通过。这个大作业促使了</a:t>
            </a:r>
            <a:r>
              <a:rPr lang="en-US" altLang="zh-CN" sz="2400" b="1" dirty="0"/>
              <a:t>Huffman</a:t>
            </a:r>
            <a:r>
              <a:rPr lang="zh-CN" altLang="en-US" sz="2400" b="1" dirty="0"/>
              <a:t>以后算法的诞生。</a:t>
            </a:r>
          </a:p>
        </p:txBody>
      </p:sp>
      <p:sp>
        <p:nvSpPr>
          <p:cNvPr id="4" name="日期占位符 3"/>
          <p:cNvSpPr>
            <a:spLocks noGrp="1"/>
          </p:cNvSpPr>
          <p:nvPr>
            <p:ph type="dt" sz="half" idx="10"/>
          </p:nvPr>
        </p:nvSpPr>
        <p:spPr/>
        <p:txBody>
          <a:bodyPr/>
          <a:lstStyle/>
          <a:p>
            <a:fld id="{4DC74047-E1C3-412F-A139-E39D96DC3562}"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161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217767688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endParaRPr lang="zh-CN" altLang="en-US" sz="2400" b="1" dirty="0"/>
          </a:p>
        </p:txBody>
      </p:sp>
      <p:sp>
        <p:nvSpPr>
          <p:cNvPr id="4" name="日期占位符 3"/>
          <p:cNvSpPr>
            <a:spLocks noGrp="1"/>
          </p:cNvSpPr>
          <p:nvPr>
            <p:ph type="dt" sz="half" idx="10"/>
          </p:nvPr>
        </p:nvSpPr>
        <p:spPr/>
        <p:txBody>
          <a:bodyPr/>
          <a:lstStyle/>
          <a:p>
            <a:fld id="{4728E49C-50EA-41E2-9ED1-4C420001573E}"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162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3"/>
          <p:cNvSpPr txBox="1">
            <a:spLocks noChangeArrowheads="1"/>
          </p:cNvSpPr>
          <p:nvPr/>
        </p:nvSpPr>
        <p:spPr bwMode="auto">
          <a:xfrm>
            <a:off x="638175" y="1243012"/>
            <a:ext cx="7896225" cy="2203450"/>
          </a:xfrm>
          <a:prstGeom prst="rect">
            <a:avLst/>
          </a:prstGeom>
          <a:noFill/>
          <a:ln w="12700" cap="rnd">
            <a:solidFill>
              <a:srgbClr val="0000FF"/>
            </a:solidFill>
            <a:miter lim="800000"/>
            <a:headEnd/>
            <a:tailEnd/>
          </a:ln>
        </p:spPr>
        <p:txBody>
          <a:bodyPr>
            <a:spAutoFit/>
          </a:bodyPr>
          <a:lstStyle/>
          <a:p>
            <a:pPr fontAlgn="base">
              <a:spcBef>
                <a:spcPct val="30000"/>
              </a:spcBef>
              <a:spcAft>
                <a:spcPct val="0"/>
              </a:spcAft>
            </a:pPr>
            <a:r>
              <a:rPr kumimoji="1" lang="en-US" altLang="zh-CN" sz="2800" b="1" dirty="0">
                <a:solidFill>
                  <a:srgbClr val="FF3300"/>
                </a:solidFill>
                <a:latin typeface="Times New Roman" pitchFamily="18" charset="0"/>
              </a:rPr>
              <a:t>Huffman</a:t>
            </a:r>
            <a:r>
              <a:rPr kumimoji="1" lang="zh-CN" altLang="en-US" sz="2800" b="1" dirty="0">
                <a:solidFill>
                  <a:srgbClr val="FF3300"/>
                </a:solidFill>
                <a:latin typeface="Times New Roman" pitchFamily="18" charset="0"/>
              </a:rPr>
              <a:t>树</a:t>
            </a:r>
            <a:r>
              <a:rPr kumimoji="1" lang="zh-CN" altLang="en-US" sz="2800" b="1" dirty="0">
                <a:solidFill>
                  <a:srgbClr val="0000FF"/>
                </a:solidFill>
                <a:latin typeface="Times New Roman" pitchFamily="18" charset="0"/>
              </a:rPr>
              <a:t>是一类带权路径长度最短的树</a:t>
            </a:r>
            <a:endParaRPr kumimoji="1" lang="en-US" altLang="zh-CN" sz="2800" b="1" dirty="0">
              <a:solidFill>
                <a:srgbClr val="FF3300"/>
              </a:solidFill>
              <a:latin typeface="Times New Roman" pitchFamily="18" charset="0"/>
            </a:endParaRPr>
          </a:p>
          <a:p>
            <a:pPr fontAlgn="base">
              <a:spcBef>
                <a:spcPct val="30000"/>
              </a:spcBef>
              <a:spcAft>
                <a:spcPct val="0"/>
              </a:spcAft>
            </a:pPr>
            <a:r>
              <a:rPr kumimoji="1" lang="en-US" altLang="zh-CN" sz="2800" b="1" dirty="0">
                <a:solidFill>
                  <a:srgbClr val="FF3300"/>
                </a:solidFill>
                <a:latin typeface="Times New Roman" pitchFamily="18" charset="0"/>
              </a:rPr>
              <a:t>   ---</a:t>
            </a:r>
            <a:r>
              <a:rPr kumimoji="1" lang="zh-CN" altLang="en-US" sz="2800" b="1" dirty="0">
                <a:solidFill>
                  <a:srgbClr val="FF3300"/>
                </a:solidFill>
                <a:latin typeface="Times New Roman" pitchFamily="18" charset="0"/>
              </a:rPr>
              <a:t>哈夫曼树</a:t>
            </a:r>
            <a:endParaRPr kumimoji="1" lang="en-US" altLang="zh-CN" sz="2800" b="1" dirty="0">
              <a:solidFill>
                <a:srgbClr val="FF3300"/>
              </a:solidFill>
              <a:latin typeface="Times New Roman" pitchFamily="18" charset="0"/>
            </a:endParaRPr>
          </a:p>
          <a:p>
            <a:pPr fontAlgn="base">
              <a:spcBef>
                <a:spcPct val="30000"/>
              </a:spcBef>
              <a:spcAft>
                <a:spcPct val="0"/>
              </a:spcAft>
            </a:pPr>
            <a:r>
              <a:rPr kumimoji="1" lang="en-US" altLang="zh-CN" sz="2800" b="1" dirty="0">
                <a:solidFill>
                  <a:srgbClr val="FF3300"/>
                </a:solidFill>
                <a:latin typeface="Times New Roman" pitchFamily="18" charset="0"/>
              </a:rPr>
              <a:t>   ---</a:t>
            </a:r>
            <a:r>
              <a:rPr kumimoji="1" lang="zh-CN" altLang="en-US" sz="2800" b="1" dirty="0">
                <a:solidFill>
                  <a:srgbClr val="FF3300"/>
                </a:solidFill>
                <a:latin typeface="Times New Roman" pitchFamily="18" charset="0"/>
              </a:rPr>
              <a:t>赫夫曼树</a:t>
            </a:r>
            <a:endParaRPr kumimoji="1" lang="en-US" altLang="zh-CN" sz="2800" b="1" dirty="0">
              <a:solidFill>
                <a:srgbClr val="FF3300"/>
              </a:solidFill>
              <a:latin typeface="Times New Roman" pitchFamily="18" charset="0"/>
            </a:endParaRPr>
          </a:p>
          <a:p>
            <a:pPr fontAlgn="base">
              <a:spcBef>
                <a:spcPct val="30000"/>
              </a:spcBef>
              <a:spcAft>
                <a:spcPct val="0"/>
              </a:spcAft>
            </a:pPr>
            <a:r>
              <a:rPr kumimoji="1" lang="en-US" altLang="zh-CN" sz="2800" b="1" dirty="0">
                <a:solidFill>
                  <a:srgbClr val="FF3300"/>
                </a:solidFill>
                <a:latin typeface="Times New Roman" pitchFamily="18" charset="0"/>
              </a:rPr>
              <a:t>   ---</a:t>
            </a:r>
            <a:r>
              <a:rPr kumimoji="1" lang="zh-CN" altLang="en-US" sz="2800" b="1" dirty="0">
                <a:solidFill>
                  <a:srgbClr val="FF3300"/>
                </a:solidFill>
                <a:latin typeface="Times New Roman" pitchFamily="18" charset="0"/>
              </a:rPr>
              <a:t>最优二叉树</a:t>
            </a:r>
            <a:endParaRPr kumimoji="1" lang="en-US" altLang="zh-CN" sz="2800" b="1" dirty="0">
              <a:solidFill>
                <a:srgbClr val="FF3300"/>
              </a:solidFill>
              <a:latin typeface="Times New Roman" pitchFamily="18" charset="0"/>
            </a:endParaRPr>
          </a:p>
        </p:txBody>
      </p:sp>
      <p:sp>
        <p:nvSpPr>
          <p:cNvPr id="14" name="TextBox 13"/>
          <p:cNvSpPr txBox="1"/>
          <p:nvPr/>
        </p:nvSpPr>
        <p:spPr>
          <a:xfrm>
            <a:off x="1939925" y="3497262"/>
            <a:ext cx="5718175" cy="3046988"/>
          </a:xfrm>
          <a:prstGeom prst="rect">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ln>
          <a:effectLst>
            <a:outerShdw blurRad="40000" dist="20000" dir="5400000" rotWithShape="0">
              <a:srgbClr val="000000">
                <a:alpha val="38000"/>
              </a:srgbClr>
            </a:outerShdw>
          </a:effec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Constantia"/>
                <a:ea typeface="宋体"/>
                <a:cs typeface="+mn-cs"/>
              </a:rPr>
              <a:t>应用</a:t>
            </a:r>
            <a:endParaRPr kumimoji="1" lang="en-US" altLang="zh-CN" sz="2400" b="1" i="0" u="none" strike="noStrike" kern="0" cap="none" spc="0" normalizeH="0" baseline="0" noProof="0" dirty="0">
              <a:ln>
                <a:noFill/>
              </a:ln>
              <a:solidFill>
                <a:srgbClr val="0000FF"/>
              </a:solidFill>
              <a:effectLst/>
              <a:uLnTx/>
              <a:uFillTx/>
              <a:latin typeface="Constantia"/>
              <a:ea typeface="宋体"/>
              <a:cs typeface="+mn-cs"/>
            </a:endParaRPr>
          </a:p>
          <a:p>
            <a:pPr marL="0" marR="0" lvl="0" indent="0" defTabSz="914400" eaLnBrk="0" fontAlgn="base" latinLnBrk="0" hangingPunct="0">
              <a:lnSpc>
                <a:spcPct val="100000"/>
              </a:lnSpc>
              <a:spcBef>
                <a:spcPct val="0"/>
              </a:spcBef>
              <a:spcAft>
                <a:spcPct val="0"/>
              </a:spcAft>
              <a:buClrTx/>
              <a:buSzTx/>
              <a:buFont typeface="Arial" pitchFamily="34" charset="0"/>
              <a:buChar char="•"/>
              <a:tabLst/>
              <a:defRPr/>
            </a:pPr>
            <a:r>
              <a:rPr kumimoji="1" lang="zh-CN" altLang="en-US" sz="2400" b="1" i="0" u="none" strike="noStrike" kern="0" cap="none" spc="0" normalizeH="0" baseline="0" noProof="0" dirty="0">
                <a:ln>
                  <a:noFill/>
                </a:ln>
                <a:solidFill>
                  <a:srgbClr val="0000FF"/>
                </a:solidFill>
                <a:effectLst/>
                <a:uLnTx/>
                <a:uFillTx/>
                <a:latin typeface="Constantia"/>
                <a:ea typeface="宋体"/>
                <a:cs typeface="+mn-cs"/>
              </a:rPr>
              <a:t>哈夫曼编码；</a:t>
            </a:r>
            <a:endParaRPr kumimoji="1" lang="en-US" altLang="zh-CN" sz="2400" b="1" i="0" u="none" strike="noStrike" kern="0" cap="none" spc="0" normalizeH="0" baseline="0" noProof="0" dirty="0">
              <a:ln>
                <a:noFill/>
              </a:ln>
              <a:solidFill>
                <a:srgbClr val="0000FF"/>
              </a:solidFill>
              <a:effectLst/>
              <a:uLnTx/>
              <a:uFillTx/>
              <a:latin typeface="Constantia"/>
              <a:ea typeface="宋体"/>
              <a:cs typeface="+mn-cs"/>
            </a:endParaRPr>
          </a:p>
          <a:p>
            <a:pPr marL="0" marR="0" lvl="0" indent="0" defTabSz="914400" eaLnBrk="0" fontAlgn="base" latinLnBrk="0" hangingPunct="0">
              <a:lnSpc>
                <a:spcPct val="100000"/>
              </a:lnSpc>
              <a:spcBef>
                <a:spcPct val="0"/>
              </a:spcBef>
              <a:spcAft>
                <a:spcPct val="0"/>
              </a:spcAft>
              <a:buClrTx/>
              <a:buSzTx/>
              <a:buFont typeface="Arial" pitchFamily="34" charset="0"/>
              <a:buChar char="•"/>
              <a:tabLst/>
              <a:defRPr/>
            </a:pPr>
            <a:r>
              <a:rPr kumimoji="1" lang="zh-CN" altLang="en-US" sz="2400" b="1" i="0" u="none" strike="noStrike" kern="0" cap="none" spc="0" normalizeH="0" baseline="0" noProof="0" dirty="0">
                <a:ln>
                  <a:noFill/>
                </a:ln>
                <a:solidFill>
                  <a:srgbClr val="0000FF"/>
                </a:solidFill>
                <a:effectLst/>
                <a:uLnTx/>
                <a:uFillTx/>
                <a:latin typeface="Constantia"/>
                <a:ea typeface="宋体"/>
                <a:cs typeface="+mn-cs"/>
              </a:rPr>
              <a:t>通信与数据传送的二进制编码</a:t>
            </a:r>
            <a:endParaRPr kumimoji="1" lang="en-US" altLang="zh-CN" sz="2400" b="1" i="0" u="none" strike="noStrike" kern="0" cap="none" spc="0" normalizeH="0" baseline="0" noProof="0" dirty="0">
              <a:ln>
                <a:noFill/>
              </a:ln>
              <a:solidFill>
                <a:srgbClr val="0000FF"/>
              </a:solidFill>
              <a:effectLst/>
              <a:uLnTx/>
              <a:uFillTx/>
              <a:latin typeface="Constantia"/>
              <a:ea typeface="宋体"/>
              <a:cs typeface="+mn-cs"/>
            </a:endParaRPr>
          </a:p>
          <a:p>
            <a:pPr marL="0" marR="0" lvl="0" indent="0" defTabSz="914400" eaLnBrk="0" fontAlgn="base" latinLnBrk="0" hangingPunct="0">
              <a:lnSpc>
                <a:spcPct val="100000"/>
              </a:lnSpc>
              <a:spcBef>
                <a:spcPct val="0"/>
              </a:spcBef>
              <a:spcAft>
                <a:spcPct val="0"/>
              </a:spcAft>
              <a:buClrTx/>
              <a:buSzTx/>
              <a:buFont typeface="Arial" pitchFamily="34" charset="0"/>
              <a:buChar char="•"/>
              <a:tabLst/>
              <a:defRPr/>
            </a:pPr>
            <a:r>
              <a:rPr kumimoji="1" lang="zh-CN" altLang="en-US" sz="2400" b="1" i="0" u="none" strike="noStrike" kern="0" cap="none" spc="0" normalizeH="0" baseline="0" noProof="0" dirty="0">
                <a:ln>
                  <a:noFill/>
                </a:ln>
                <a:solidFill>
                  <a:srgbClr val="0000FF"/>
                </a:solidFill>
                <a:effectLst/>
                <a:uLnTx/>
                <a:uFillTx/>
                <a:latin typeface="Constantia"/>
                <a:ea typeface="宋体"/>
                <a:cs typeface="+mn-cs"/>
              </a:rPr>
              <a:t>堆结构</a:t>
            </a:r>
            <a:endParaRPr kumimoji="1" lang="en-US" altLang="zh-CN" sz="2400" b="1" i="0" u="none" strike="noStrike" kern="0" cap="none" spc="0" normalizeH="0" baseline="0" noProof="0" dirty="0">
              <a:ln>
                <a:noFill/>
              </a:ln>
              <a:solidFill>
                <a:srgbClr val="0000FF"/>
              </a:solidFill>
              <a:effectLst/>
              <a:uLnTx/>
              <a:uFillTx/>
              <a:latin typeface="Constantia"/>
              <a:ea typeface="宋体"/>
              <a:cs typeface="+mn-cs"/>
            </a:endParaRPr>
          </a:p>
          <a:p>
            <a:pPr marL="0" marR="0" lvl="0" indent="0" defTabSz="914400" eaLnBrk="0" fontAlgn="base" latinLnBrk="0" hangingPunct="0">
              <a:lnSpc>
                <a:spcPct val="100000"/>
              </a:lnSpc>
              <a:spcBef>
                <a:spcPct val="0"/>
              </a:spcBef>
              <a:spcAft>
                <a:spcPct val="0"/>
              </a:spcAft>
              <a:buClrTx/>
              <a:buSzTx/>
              <a:buFont typeface="Arial" pitchFamily="34" charset="0"/>
              <a:buChar char="•"/>
              <a:tabLst/>
              <a:defRPr/>
            </a:pPr>
            <a:r>
              <a:rPr kumimoji="1" lang="zh-CN" altLang="en-US" sz="2400" b="1" i="0" u="none" strike="noStrike" kern="0" cap="none" spc="0" normalizeH="0" baseline="0" noProof="0" dirty="0">
                <a:ln>
                  <a:noFill/>
                </a:ln>
                <a:solidFill>
                  <a:srgbClr val="0000FF"/>
                </a:solidFill>
                <a:effectLst/>
                <a:uLnTx/>
                <a:uFillTx/>
                <a:latin typeface="Constantia"/>
                <a:ea typeface="宋体"/>
                <a:cs typeface="+mn-cs"/>
              </a:rPr>
              <a:t>树形选择排序；</a:t>
            </a:r>
            <a:endParaRPr kumimoji="1" lang="en-US" altLang="zh-CN" sz="2400" b="1" i="0" u="none" strike="noStrike" kern="0" cap="none" spc="0" normalizeH="0" baseline="0" noProof="0" dirty="0">
              <a:ln>
                <a:noFill/>
              </a:ln>
              <a:solidFill>
                <a:srgbClr val="0000FF"/>
              </a:solidFill>
              <a:effectLst/>
              <a:uLnTx/>
              <a:uFillTx/>
              <a:latin typeface="Constantia"/>
              <a:ea typeface="宋体"/>
              <a:cs typeface="+mn-cs"/>
            </a:endParaRPr>
          </a:p>
          <a:p>
            <a:pPr marL="0" marR="0" lvl="0" indent="0" defTabSz="914400" eaLnBrk="0" fontAlgn="base" latinLnBrk="0" hangingPunct="0">
              <a:lnSpc>
                <a:spcPct val="100000"/>
              </a:lnSpc>
              <a:spcBef>
                <a:spcPct val="0"/>
              </a:spcBef>
              <a:spcAft>
                <a:spcPct val="0"/>
              </a:spcAft>
              <a:buClrTx/>
              <a:buSzTx/>
              <a:buFont typeface="Arial" pitchFamily="34" charset="0"/>
              <a:buChar char="•"/>
              <a:tabLst/>
              <a:defRPr/>
            </a:pPr>
            <a:r>
              <a:rPr kumimoji="1" lang="zh-CN" altLang="en-US" sz="2400" b="1" i="0" u="none" strike="noStrike" kern="0" cap="none" spc="0" normalizeH="0" baseline="0" noProof="0" dirty="0">
                <a:ln>
                  <a:noFill/>
                </a:ln>
                <a:solidFill>
                  <a:srgbClr val="0000FF"/>
                </a:solidFill>
                <a:effectLst/>
                <a:uLnTx/>
                <a:uFillTx/>
                <a:latin typeface="Constantia"/>
                <a:ea typeface="宋体"/>
                <a:cs typeface="+mn-cs"/>
              </a:rPr>
              <a:t>折半查找的判定树；</a:t>
            </a:r>
            <a:endParaRPr kumimoji="1" lang="en-US" altLang="zh-CN" sz="2400" b="1" i="0" u="none" strike="noStrike" kern="0" cap="none" spc="0" normalizeH="0" baseline="0" noProof="0" dirty="0">
              <a:ln>
                <a:noFill/>
              </a:ln>
              <a:solidFill>
                <a:srgbClr val="0000FF"/>
              </a:solidFill>
              <a:effectLst/>
              <a:uLnTx/>
              <a:uFillTx/>
              <a:latin typeface="Constantia"/>
              <a:ea typeface="宋体"/>
              <a:cs typeface="+mn-cs"/>
            </a:endParaRPr>
          </a:p>
          <a:p>
            <a:pPr marL="0" marR="0" lvl="0" indent="0" defTabSz="914400" eaLnBrk="0" fontAlgn="base" latinLnBrk="0" hangingPunct="0">
              <a:lnSpc>
                <a:spcPct val="100000"/>
              </a:lnSpc>
              <a:spcBef>
                <a:spcPct val="0"/>
              </a:spcBef>
              <a:spcAft>
                <a:spcPct val="0"/>
              </a:spcAft>
              <a:buClrTx/>
              <a:buSzTx/>
              <a:buFont typeface="Arial" pitchFamily="34" charset="0"/>
              <a:buChar char="•"/>
              <a:tabLst/>
              <a:defRPr/>
            </a:pPr>
            <a:r>
              <a:rPr kumimoji="1" lang="zh-CN" altLang="en-US" sz="2400" b="1" i="0" u="none" strike="noStrike" kern="0" cap="none" spc="0" normalizeH="0" baseline="0" noProof="0" dirty="0">
                <a:ln>
                  <a:noFill/>
                </a:ln>
                <a:solidFill>
                  <a:srgbClr val="0000FF"/>
                </a:solidFill>
                <a:effectLst/>
                <a:uLnTx/>
                <a:uFillTx/>
                <a:latin typeface="Constantia"/>
                <a:ea typeface="宋体"/>
                <a:cs typeface="+mn-cs"/>
              </a:rPr>
              <a:t>动态查找的二叉排序树；</a:t>
            </a:r>
            <a:endParaRPr kumimoji="1" lang="en-US" altLang="zh-CN" sz="2400" b="1" i="0" u="none" strike="noStrike" kern="0" cap="none" spc="0" normalizeH="0" baseline="0" noProof="0" dirty="0">
              <a:ln>
                <a:noFill/>
              </a:ln>
              <a:solidFill>
                <a:srgbClr val="0000FF"/>
              </a:solidFill>
              <a:effectLst/>
              <a:uLnTx/>
              <a:uFillTx/>
              <a:latin typeface="Constantia"/>
              <a:ea typeface="宋体"/>
              <a:cs typeface="+mn-cs"/>
            </a:endParaRPr>
          </a:p>
          <a:p>
            <a:pPr marL="0" marR="0" lvl="0" indent="0" defTabSz="914400" eaLnBrk="0" fontAlgn="base" latinLnBrk="0" hangingPunct="0">
              <a:lnSpc>
                <a:spcPct val="100000"/>
              </a:lnSpc>
              <a:spcBef>
                <a:spcPct val="0"/>
              </a:spcBef>
              <a:spcAft>
                <a:spcPct val="0"/>
              </a:spcAft>
              <a:buClrTx/>
              <a:buSzTx/>
              <a:buFont typeface="Arial" pitchFamily="34" charset="0"/>
              <a:buChar char="•"/>
              <a:tabLst/>
              <a:defRPr/>
            </a:pPr>
            <a:r>
              <a:rPr kumimoji="1" lang="en-US" altLang="zh-CN" sz="2400" b="1" i="0" u="none" strike="noStrike" kern="0" cap="none" spc="0" normalizeH="0" baseline="0" noProof="0" dirty="0">
                <a:ln>
                  <a:noFill/>
                </a:ln>
                <a:solidFill>
                  <a:srgbClr val="0000FF"/>
                </a:solidFill>
                <a:effectLst/>
                <a:uLnTx/>
                <a:uFillTx/>
                <a:latin typeface="Constantia"/>
                <a:ea typeface="宋体"/>
                <a:cs typeface="+mn-cs"/>
              </a:rPr>
              <a:t>……</a:t>
            </a:r>
            <a:endParaRPr kumimoji="1" lang="zh-CN" altLang="en-US" sz="2400" b="1" i="0" u="none" strike="noStrike" kern="0" cap="none" spc="0" normalizeH="0" baseline="0" noProof="0" dirty="0">
              <a:ln>
                <a:noFill/>
              </a:ln>
              <a:solidFill>
                <a:srgbClr val="0000FF"/>
              </a:solidFill>
              <a:effectLst/>
              <a:uLnTx/>
              <a:uFillTx/>
              <a:latin typeface="Constantia"/>
              <a:ea typeface="宋体"/>
              <a:cs typeface="+mn-cs"/>
            </a:endParaRPr>
          </a:p>
        </p:txBody>
      </p:sp>
    </p:spTree>
    <p:extLst>
      <p:ext uri="{BB962C8B-B14F-4D97-AF65-F5344CB8AC3E}">
        <p14:creationId xmlns:p14="http://schemas.microsoft.com/office/powerpoint/2010/main" val="3974546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树的相关概念</a:t>
            </a:r>
          </a:p>
        </p:txBody>
      </p:sp>
      <p:sp>
        <p:nvSpPr>
          <p:cNvPr id="4" name="日期占位符 3"/>
          <p:cNvSpPr>
            <a:spLocks noGrp="1"/>
          </p:cNvSpPr>
          <p:nvPr>
            <p:ph type="dt" sz="half" idx="10"/>
          </p:nvPr>
        </p:nvSpPr>
        <p:spPr/>
        <p:txBody>
          <a:bodyPr/>
          <a:lstStyle/>
          <a:p>
            <a:fld id="{F6300CB2-AADA-4299-B5CE-5571DAA45601}"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163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5" name="Text Box 2"/>
          <p:cNvSpPr txBox="1">
            <a:spLocks noChangeArrowheads="1"/>
          </p:cNvSpPr>
          <p:nvPr/>
        </p:nvSpPr>
        <p:spPr bwMode="auto">
          <a:xfrm>
            <a:off x="457200" y="1714461"/>
            <a:ext cx="8382000" cy="830997"/>
          </a:xfrm>
          <a:prstGeom prst="rect">
            <a:avLst/>
          </a:prstGeom>
          <a:noFill/>
          <a:ln w="12700" cap="sq">
            <a:solidFill>
              <a:srgbClr val="003300"/>
            </a:solidFill>
            <a:miter lim="800000"/>
            <a:headEnd type="none" w="sm" len="sm"/>
            <a:tailEnd type="none" w="sm" len="sm"/>
          </a:ln>
        </p:spPr>
        <p:txBody>
          <a:bodyPr wrap="square">
            <a:spAutoFit/>
          </a:bodyPr>
          <a:lstStyle/>
          <a:p>
            <a:pPr fontAlgn="base">
              <a:spcBef>
                <a:spcPct val="0"/>
              </a:spcBef>
              <a:spcAft>
                <a:spcPct val="0"/>
              </a:spcAft>
              <a:buFont typeface="Wingdings" pitchFamily="2" charset="2"/>
              <a:buChar char="p"/>
            </a:pPr>
            <a:r>
              <a:rPr kumimoji="1" lang="zh-CN" altLang="en-US" sz="2400" b="1" dirty="0">
                <a:solidFill>
                  <a:srgbClr val="0000CC"/>
                </a:solidFill>
                <a:latin typeface="宋体" pitchFamily="2" charset="-122"/>
              </a:rPr>
              <a:t> </a:t>
            </a:r>
            <a:r>
              <a:rPr kumimoji="1" lang="zh-CN" altLang="en-US" sz="2400" b="1" dirty="0">
                <a:solidFill>
                  <a:srgbClr val="003300"/>
                </a:solidFill>
                <a:latin typeface="宋体" pitchFamily="2" charset="-122"/>
              </a:rPr>
              <a:t>结点的路径长度：</a:t>
            </a:r>
            <a:endParaRPr kumimoji="1" lang="en-US" altLang="zh-CN" sz="2400" b="1" dirty="0">
              <a:solidFill>
                <a:srgbClr val="003300"/>
              </a:solidFill>
              <a:latin typeface="宋体" pitchFamily="2" charset="-122"/>
            </a:endParaRPr>
          </a:p>
          <a:p>
            <a:pPr fontAlgn="base">
              <a:spcBef>
                <a:spcPct val="0"/>
              </a:spcBef>
              <a:spcAft>
                <a:spcPct val="0"/>
              </a:spcAft>
            </a:pPr>
            <a:r>
              <a:rPr kumimoji="1" lang="zh-CN" altLang="en-US" sz="2400" b="1" dirty="0">
                <a:solidFill>
                  <a:srgbClr val="0000FF"/>
                </a:solidFill>
                <a:latin typeface="Times New Roman" pitchFamily="18" charset="0"/>
              </a:rPr>
              <a:t>从根结点到该结点的路径上分支的数目</a:t>
            </a:r>
            <a:endParaRPr kumimoji="1" lang="zh-CN" altLang="en-US" sz="2400" b="1" dirty="0">
              <a:solidFill>
                <a:srgbClr val="0000CC"/>
              </a:solidFill>
              <a:latin typeface="宋体" pitchFamily="2" charset="-122"/>
            </a:endParaRPr>
          </a:p>
        </p:txBody>
      </p:sp>
      <p:sp>
        <p:nvSpPr>
          <p:cNvPr id="16" name="Text Box 3"/>
          <p:cNvSpPr txBox="1">
            <a:spLocks noChangeArrowheads="1"/>
          </p:cNvSpPr>
          <p:nvPr/>
        </p:nvSpPr>
        <p:spPr bwMode="auto">
          <a:xfrm>
            <a:off x="457199" y="2627293"/>
            <a:ext cx="8382000" cy="830997"/>
          </a:xfrm>
          <a:prstGeom prst="rect">
            <a:avLst/>
          </a:prstGeom>
          <a:noFill/>
          <a:ln w="12700" cap="sq">
            <a:solidFill>
              <a:srgbClr val="003300"/>
            </a:solidFill>
            <a:miter lim="800000"/>
            <a:headEnd type="none" w="sm" len="sm"/>
            <a:tailEnd type="none" w="sm" len="sm"/>
          </a:ln>
        </p:spPr>
        <p:txBody>
          <a:bodyPr wrap="square">
            <a:spAutoFit/>
          </a:bodyPr>
          <a:lstStyle/>
          <a:p>
            <a:pPr fontAlgn="base">
              <a:spcBef>
                <a:spcPct val="0"/>
              </a:spcBef>
              <a:spcAft>
                <a:spcPct val="0"/>
              </a:spcAft>
              <a:buFont typeface="Wingdings" pitchFamily="2" charset="2"/>
              <a:buChar char="p"/>
            </a:pPr>
            <a:r>
              <a:rPr kumimoji="1" lang="zh-CN" altLang="en-US" sz="2400" b="1" dirty="0">
                <a:solidFill>
                  <a:srgbClr val="003300"/>
                </a:solidFill>
                <a:latin typeface="Times New Roman" pitchFamily="18" charset="0"/>
              </a:rPr>
              <a:t> 树的路径长度：</a:t>
            </a:r>
            <a:endParaRPr kumimoji="1" lang="en-US" altLang="zh-CN" sz="2400" b="1" dirty="0">
              <a:solidFill>
                <a:srgbClr val="003300"/>
              </a:solidFill>
              <a:latin typeface="Times New Roman" pitchFamily="18" charset="0"/>
            </a:endParaRPr>
          </a:p>
          <a:p>
            <a:pPr fontAlgn="base">
              <a:spcBef>
                <a:spcPct val="0"/>
              </a:spcBef>
              <a:spcAft>
                <a:spcPct val="0"/>
              </a:spcAft>
            </a:pPr>
            <a:r>
              <a:rPr kumimoji="1" lang="zh-CN" altLang="en-US" sz="2400" b="1" dirty="0">
                <a:solidFill>
                  <a:srgbClr val="0000FF"/>
                </a:solidFill>
                <a:latin typeface="Times New Roman" pitchFamily="18" charset="0"/>
              </a:rPr>
              <a:t>树中每个结点的路径长度之和。</a:t>
            </a:r>
          </a:p>
        </p:txBody>
      </p:sp>
      <p:sp>
        <p:nvSpPr>
          <p:cNvPr id="17" name="Text Box 70"/>
          <p:cNvSpPr txBox="1">
            <a:spLocks noChangeArrowheads="1"/>
          </p:cNvSpPr>
          <p:nvPr/>
        </p:nvSpPr>
        <p:spPr bwMode="auto">
          <a:xfrm>
            <a:off x="488950" y="5867400"/>
            <a:ext cx="2971800" cy="396875"/>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r>
              <a:rPr kumimoji="1" lang="zh-CN" altLang="en-US" sz="2000" b="1" dirty="0">
                <a:solidFill>
                  <a:srgbClr val="0000FF"/>
                </a:solidFill>
                <a:latin typeface="Times New Roman" pitchFamily="18" charset="0"/>
              </a:rPr>
              <a:t>非完全二叉树</a:t>
            </a:r>
            <a:endParaRPr kumimoji="1" lang="en-US" altLang="zh-CN" sz="2000" b="1" dirty="0">
              <a:solidFill>
                <a:srgbClr val="0000FF"/>
              </a:solidFill>
              <a:latin typeface="Times New Roman" pitchFamily="18" charset="0"/>
            </a:endParaRPr>
          </a:p>
        </p:txBody>
      </p:sp>
      <p:grpSp>
        <p:nvGrpSpPr>
          <p:cNvPr id="19" name="Group 165"/>
          <p:cNvGrpSpPr>
            <a:grpSpLocks/>
          </p:cNvGrpSpPr>
          <p:nvPr/>
        </p:nvGrpSpPr>
        <p:grpSpPr bwMode="auto">
          <a:xfrm>
            <a:off x="560388" y="3608388"/>
            <a:ext cx="3125787" cy="2182812"/>
            <a:chOff x="-377" y="1919"/>
            <a:chExt cx="1969" cy="1375"/>
          </a:xfrm>
        </p:grpSpPr>
        <p:sp>
          <p:nvSpPr>
            <p:cNvPr id="20" name="Line 32"/>
            <p:cNvSpPr>
              <a:spLocks noChangeShapeType="1"/>
            </p:cNvSpPr>
            <p:nvPr/>
          </p:nvSpPr>
          <p:spPr bwMode="auto">
            <a:xfrm flipH="1">
              <a:off x="-191" y="2691"/>
              <a:ext cx="240"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1" name="Line 37"/>
            <p:cNvSpPr>
              <a:spLocks noChangeShapeType="1"/>
            </p:cNvSpPr>
            <p:nvPr/>
          </p:nvSpPr>
          <p:spPr bwMode="auto">
            <a:xfrm>
              <a:off x="1124" y="2750"/>
              <a:ext cx="182" cy="27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2" name="Line 117"/>
            <p:cNvSpPr>
              <a:spLocks noChangeShapeType="1"/>
            </p:cNvSpPr>
            <p:nvPr/>
          </p:nvSpPr>
          <p:spPr bwMode="auto">
            <a:xfrm>
              <a:off x="726" y="2160"/>
              <a:ext cx="272" cy="317"/>
            </a:xfrm>
            <a:prstGeom prst="line">
              <a:avLst/>
            </a:pr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 name="Line 118"/>
            <p:cNvSpPr>
              <a:spLocks noChangeShapeType="1"/>
            </p:cNvSpPr>
            <p:nvPr/>
          </p:nvSpPr>
          <p:spPr bwMode="auto">
            <a:xfrm flipH="1">
              <a:off x="182" y="2160"/>
              <a:ext cx="317" cy="317"/>
            </a:xfrm>
            <a:prstGeom prst="line">
              <a:avLst/>
            </a:pr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24" name="Group 119"/>
            <p:cNvGrpSpPr>
              <a:grpSpLocks/>
            </p:cNvGrpSpPr>
            <p:nvPr/>
          </p:nvGrpSpPr>
          <p:grpSpPr bwMode="auto">
            <a:xfrm>
              <a:off x="447" y="1919"/>
              <a:ext cx="377" cy="318"/>
              <a:chOff x="2880" y="1104"/>
              <a:chExt cx="367" cy="336"/>
            </a:xfrm>
          </p:grpSpPr>
          <p:sp>
            <p:nvSpPr>
              <p:cNvPr id="37" name="Oval 12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38" name="Text Box 121"/>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1</a:t>
                </a:r>
              </a:p>
            </p:txBody>
          </p:sp>
        </p:grpSp>
        <p:grpSp>
          <p:nvGrpSpPr>
            <p:cNvPr id="25" name="Group 122"/>
            <p:cNvGrpSpPr>
              <a:grpSpLocks/>
            </p:cNvGrpSpPr>
            <p:nvPr/>
          </p:nvGrpSpPr>
          <p:grpSpPr bwMode="auto">
            <a:xfrm>
              <a:off x="0" y="2432"/>
              <a:ext cx="377" cy="318"/>
              <a:chOff x="2880" y="1104"/>
              <a:chExt cx="367" cy="336"/>
            </a:xfrm>
          </p:grpSpPr>
          <p:sp>
            <p:nvSpPr>
              <p:cNvPr id="35" name="Oval 12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36" name="Text Box 124"/>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2</a:t>
                </a:r>
              </a:p>
            </p:txBody>
          </p:sp>
        </p:grpSp>
        <p:grpSp>
          <p:nvGrpSpPr>
            <p:cNvPr id="26" name="Group 125"/>
            <p:cNvGrpSpPr>
              <a:grpSpLocks/>
            </p:cNvGrpSpPr>
            <p:nvPr/>
          </p:nvGrpSpPr>
          <p:grpSpPr bwMode="auto">
            <a:xfrm>
              <a:off x="848" y="2478"/>
              <a:ext cx="377" cy="318"/>
              <a:chOff x="2880" y="1104"/>
              <a:chExt cx="367" cy="336"/>
            </a:xfrm>
          </p:grpSpPr>
          <p:sp>
            <p:nvSpPr>
              <p:cNvPr id="33" name="Oval 12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34" name="Text Box 127"/>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dirty="0">
                    <a:ln>
                      <a:noFill/>
                    </a:ln>
                    <a:solidFill>
                      <a:srgbClr val="0033CC"/>
                    </a:solidFill>
                    <a:effectLst/>
                    <a:uLnTx/>
                    <a:uFillTx/>
                    <a:latin typeface="隶书" pitchFamily="49" charset="-122"/>
                    <a:ea typeface="隶书" pitchFamily="49" charset="-122"/>
                  </a:rPr>
                  <a:t>3</a:t>
                </a:r>
              </a:p>
            </p:txBody>
          </p:sp>
        </p:grpSp>
        <p:grpSp>
          <p:nvGrpSpPr>
            <p:cNvPr id="27" name="Group 128"/>
            <p:cNvGrpSpPr>
              <a:grpSpLocks/>
            </p:cNvGrpSpPr>
            <p:nvPr/>
          </p:nvGrpSpPr>
          <p:grpSpPr bwMode="auto">
            <a:xfrm>
              <a:off x="-377" y="2886"/>
              <a:ext cx="377" cy="318"/>
              <a:chOff x="2880" y="1104"/>
              <a:chExt cx="367" cy="336"/>
            </a:xfrm>
          </p:grpSpPr>
          <p:sp>
            <p:nvSpPr>
              <p:cNvPr id="31" name="Oval 12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32" name="Text Box 130"/>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4</a:t>
                </a:r>
              </a:p>
            </p:txBody>
          </p:sp>
        </p:grpSp>
        <p:grpSp>
          <p:nvGrpSpPr>
            <p:cNvPr id="28" name="Group 131"/>
            <p:cNvGrpSpPr>
              <a:grpSpLocks/>
            </p:cNvGrpSpPr>
            <p:nvPr/>
          </p:nvGrpSpPr>
          <p:grpSpPr bwMode="auto">
            <a:xfrm>
              <a:off x="1215" y="2976"/>
              <a:ext cx="377" cy="318"/>
              <a:chOff x="2880" y="1104"/>
              <a:chExt cx="367" cy="336"/>
            </a:xfrm>
          </p:grpSpPr>
          <p:sp>
            <p:nvSpPr>
              <p:cNvPr id="29" name="Oval 13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30" name="Text Box 133"/>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6</a:t>
                </a:r>
              </a:p>
            </p:txBody>
          </p:sp>
        </p:grpSp>
      </p:grpSp>
      <p:grpSp>
        <p:nvGrpSpPr>
          <p:cNvPr id="39" name="Group 167"/>
          <p:cNvGrpSpPr>
            <a:grpSpLocks/>
          </p:cNvGrpSpPr>
          <p:nvPr/>
        </p:nvGrpSpPr>
        <p:grpSpPr bwMode="auto">
          <a:xfrm>
            <a:off x="4953000" y="3581400"/>
            <a:ext cx="3551238" cy="2635250"/>
            <a:chOff x="3075" y="2024"/>
            <a:chExt cx="2237" cy="1660"/>
          </a:xfrm>
        </p:grpSpPr>
        <p:grpSp>
          <p:nvGrpSpPr>
            <p:cNvPr id="40" name="Group 166"/>
            <p:cNvGrpSpPr>
              <a:grpSpLocks/>
            </p:cNvGrpSpPr>
            <p:nvPr/>
          </p:nvGrpSpPr>
          <p:grpSpPr bwMode="auto">
            <a:xfrm>
              <a:off x="3075" y="2205"/>
              <a:ext cx="2237" cy="1479"/>
              <a:chOff x="897" y="2841"/>
              <a:chExt cx="2237" cy="1479"/>
            </a:xfrm>
          </p:grpSpPr>
          <p:sp>
            <p:nvSpPr>
              <p:cNvPr id="44" name="Line 161"/>
              <p:cNvSpPr>
                <a:spLocks noChangeShapeType="1"/>
              </p:cNvSpPr>
              <p:nvPr/>
            </p:nvSpPr>
            <p:spPr bwMode="auto">
              <a:xfrm flipH="1">
                <a:off x="1083" y="3807"/>
                <a:ext cx="240"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5" name="Line 134"/>
              <p:cNvSpPr>
                <a:spLocks noChangeShapeType="1"/>
              </p:cNvSpPr>
              <p:nvPr/>
            </p:nvSpPr>
            <p:spPr bwMode="auto">
              <a:xfrm flipH="1">
                <a:off x="1351" y="3372"/>
                <a:ext cx="240"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6" name="Line 135"/>
              <p:cNvSpPr>
                <a:spLocks noChangeShapeType="1"/>
              </p:cNvSpPr>
              <p:nvPr/>
            </p:nvSpPr>
            <p:spPr bwMode="auto">
              <a:xfrm>
                <a:off x="2666" y="3431"/>
                <a:ext cx="182" cy="27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7" name="Line 136"/>
              <p:cNvSpPr>
                <a:spLocks noChangeShapeType="1"/>
              </p:cNvSpPr>
              <p:nvPr/>
            </p:nvSpPr>
            <p:spPr bwMode="auto">
              <a:xfrm>
                <a:off x="2268" y="2841"/>
                <a:ext cx="272" cy="317"/>
              </a:xfrm>
              <a:prstGeom prst="line">
                <a:avLst/>
              </a:pr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8" name="Line 137"/>
              <p:cNvSpPr>
                <a:spLocks noChangeShapeType="1"/>
              </p:cNvSpPr>
              <p:nvPr/>
            </p:nvSpPr>
            <p:spPr bwMode="auto">
              <a:xfrm flipH="1">
                <a:off x="1724" y="2841"/>
                <a:ext cx="317" cy="317"/>
              </a:xfrm>
              <a:prstGeom prst="line">
                <a:avLst/>
              </a:prstGeom>
              <a:noFill/>
              <a:ln w="12700" cap="rnd">
                <a:solidFill>
                  <a:srgbClr val="000000"/>
                </a:solidFill>
                <a:round/>
                <a:headEnd/>
                <a:tailEn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49" name="Group 141"/>
              <p:cNvGrpSpPr>
                <a:grpSpLocks/>
              </p:cNvGrpSpPr>
              <p:nvPr/>
            </p:nvGrpSpPr>
            <p:grpSpPr bwMode="auto">
              <a:xfrm>
                <a:off x="1542" y="3113"/>
                <a:ext cx="377" cy="318"/>
                <a:chOff x="2880" y="1104"/>
                <a:chExt cx="367" cy="336"/>
              </a:xfrm>
            </p:grpSpPr>
            <p:sp>
              <p:nvSpPr>
                <p:cNvPr id="70" name="Oval 14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71" name="Text Box 143"/>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2</a:t>
                  </a:r>
                </a:p>
              </p:txBody>
            </p:sp>
          </p:grpSp>
          <p:grpSp>
            <p:nvGrpSpPr>
              <p:cNvPr id="50" name="Group 144"/>
              <p:cNvGrpSpPr>
                <a:grpSpLocks/>
              </p:cNvGrpSpPr>
              <p:nvPr/>
            </p:nvGrpSpPr>
            <p:grpSpPr bwMode="auto">
              <a:xfrm>
                <a:off x="2390" y="3159"/>
                <a:ext cx="377" cy="318"/>
                <a:chOff x="2880" y="1104"/>
                <a:chExt cx="367" cy="336"/>
              </a:xfrm>
            </p:grpSpPr>
            <p:sp>
              <p:nvSpPr>
                <p:cNvPr id="68" name="Oval 14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69" name="Text Box 146"/>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3</a:t>
                  </a:r>
                </a:p>
              </p:txBody>
            </p:sp>
          </p:grpSp>
          <p:grpSp>
            <p:nvGrpSpPr>
              <p:cNvPr id="51" name="Group 147"/>
              <p:cNvGrpSpPr>
                <a:grpSpLocks/>
              </p:cNvGrpSpPr>
              <p:nvPr/>
            </p:nvGrpSpPr>
            <p:grpSpPr bwMode="auto">
              <a:xfrm>
                <a:off x="1165" y="3567"/>
                <a:ext cx="377" cy="318"/>
                <a:chOff x="2880" y="1104"/>
                <a:chExt cx="367" cy="336"/>
              </a:xfrm>
            </p:grpSpPr>
            <p:sp>
              <p:nvSpPr>
                <p:cNvPr id="66" name="Oval 14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67" name="Text Box 149"/>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4</a:t>
                  </a:r>
                </a:p>
              </p:txBody>
            </p:sp>
          </p:grpSp>
          <p:grpSp>
            <p:nvGrpSpPr>
              <p:cNvPr id="52" name="Group 150"/>
              <p:cNvGrpSpPr>
                <a:grpSpLocks/>
              </p:cNvGrpSpPr>
              <p:nvPr/>
            </p:nvGrpSpPr>
            <p:grpSpPr bwMode="auto">
              <a:xfrm>
                <a:off x="2757" y="3657"/>
                <a:ext cx="377" cy="318"/>
                <a:chOff x="2880" y="1104"/>
                <a:chExt cx="367" cy="336"/>
              </a:xfrm>
            </p:grpSpPr>
            <p:sp>
              <p:nvSpPr>
                <p:cNvPr id="64" name="Oval 15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65" name="Text Box 152"/>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7</a:t>
                  </a:r>
                </a:p>
              </p:txBody>
            </p:sp>
          </p:grpSp>
          <p:sp>
            <p:nvSpPr>
              <p:cNvPr id="53" name="Line 153"/>
              <p:cNvSpPr>
                <a:spLocks noChangeShapeType="1"/>
              </p:cNvSpPr>
              <p:nvPr/>
            </p:nvSpPr>
            <p:spPr bwMode="auto">
              <a:xfrm flipH="1">
                <a:off x="2263" y="3462"/>
                <a:ext cx="240"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54" name="Group 154"/>
              <p:cNvGrpSpPr>
                <a:grpSpLocks/>
              </p:cNvGrpSpPr>
              <p:nvPr/>
            </p:nvGrpSpPr>
            <p:grpSpPr bwMode="auto">
              <a:xfrm>
                <a:off x="2167" y="3657"/>
                <a:ext cx="377" cy="318"/>
                <a:chOff x="2880" y="1104"/>
                <a:chExt cx="367" cy="336"/>
              </a:xfrm>
            </p:grpSpPr>
            <p:sp>
              <p:nvSpPr>
                <p:cNvPr id="62" name="Oval 15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63" name="Text Box 156"/>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6</a:t>
                  </a:r>
                </a:p>
              </p:txBody>
            </p:sp>
          </p:grpSp>
          <p:sp>
            <p:nvSpPr>
              <p:cNvPr id="55" name="Line 157"/>
              <p:cNvSpPr>
                <a:spLocks noChangeShapeType="1"/>
              </p:cNvSpPr>
              <p:nvPr/>
            </p:nvSpPr>
            <p:spPr bwMode="auto">
              <a:xfrm>
                <a:off x="1714" y="3431"/>
                <a:ext cx="182" cy="27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56" name="Group 158"/>
              <p:cNvGrpSpPr>
                <a:grpSpLocks/>
              </p:cNvGrpSpPr>
              <p:nvPr/>
            </p:nvGrpSpPr>
            <p:grpSpPr bwMode="auto">
              <a:xfrm>
                <a:off x="1759" y="3612"/>
                <a:ext cx="377" cy="318"/>
                <a:chOff x="2880" y="1104"/>
                <a:chExt cx="367" cy="336"/>
              </a:xfrm>
            </p:grpSpPr>
            <p:sp>
              <p:nvSpPr>
                <p:cNvPr id="60" name="Oval 15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61" name="Text Box 160"/>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5</a:t>
                  </a:r>
                </a:p>
              </p:txBody>
            </p:sp>
          </p:grpSp>
          <p:grpSp>
            <p:nvGrpSpPr>
              <p:cNvPr id="57" name="Group 162"/>
              <p:cNvGrpSpPr>
                <a:grpSpLocks/>
              </p:cNvGrpSpPr>
              <p:nvPr/>
            </p:nvGrpSpPr>
            <p:grpSpPr bwMode="auto">
              <a:xfrm>
                <a:off x="897" y="4002"/>
                <a:ext cx="377" cy="318"/>
                <a:chOff x="2880" y="1104"/>
                <a:chExt cx="367" cy="336"/>
              </a:xfrm>
            </p:grpSpPr>
            <p:sp>
              <p:nvSpPr>
                <p:cNvPr id="58" name="Oval 16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59" name="Text Box 164"/>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8</a:t>
                  </a:r>
                </a:p>
              </p:txBody>
            </p:sp>
          </p:grpSp>
        </p:grpSp>
        <p:grpSp>
          <p:nvGrpSpPr>
            <p:cNvPr id="41" name="Group 138"/>
            <p:cNvGrpSpPr>
              <a:grpSpLocks/>
            </p:cNvGrpSpPr>
            <p:nvPr/>
          </p:nvGrpSpPr>
          <p:grpSpPr bwMode="auto">
            <a:xfrm>
              <a:off x="4163" y="2024"/>
              <a:ext cx="377" cy="318"/>
              <a:chOff x="2880" y="1104"/>
              <a:chExt cx="367" cy="336"/>
            </a:xfrm>
          </p:grpSpPr>
          <p:sp>
            <p:nvSpPr>
              <p:cNvPr id="42" name="Oval 13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43" name="Text Box 140"/>
              <p:cNvSpPr txBox="1">
                <a:spLocks noChangeArrowheads="1"/>
              </p:cNvSpPr>
              <p:nvPr/>
            </p:nvSpPr>
            <p:spPr bwMode="auto">
              <a:xfrm>
                <a:off x="2928" y="1104"/>
                <a:ext cx="319" cy="26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33CC"/>
                    </a:solidFill>
                    <a:effectLst/>
                    <a:uLnTx/>
                    <a:uFillTx/>
                    <a:latin typeface="隶书" pitchFamily="49" charset="-122"/>
                    <a:ea typeface="隶书" pitchFamily="49" charset="-122"/>
                  </a:rPr>
                  <a:t>1</a:t>
                </a:r>
              </a:p>
            </p:txBody>
          </p:sp>
        </p:grpSp>
      </p:grpSp>
      <p:sp>
        <p:nvSpPr>
          <p:cNvPr id="72" name="Text Box 71"/>
          <p:cNvSpPr txBox="1">
            <a:spLocks noChangeArrowheads="1"/>
          </p:cNvSpPr>
          <p:nvPr/>
        </p:nvSpPr>
        <p:spPr bwMode="auto">
          <a:xfrm>
            <a:off x="5638800" y="5943600"/>
            <a:ext cx="2971800" cy="396875"/>
          </a:xfrm>
          <a:prstGeom prst="rect">
            <a:avLst/>
          </a:prstGeom>
          <a:noFill/>
          <a:ln w="12700" cap="rnd">
            <a:noFill/>
            <a:miter lim="800000"/>
            <a:headEnd/>
            <a:tailEnd/>
          </a:ln>
        </p:spPr>
        <p:txBody>
          <a:bodyPr>
            <a:spAutoFit/>
          </a:bodyPr>
          <a:lstStyle/>
          <a:p>
            <a:pPr algn="ctr" eaLnBrk="0" fontAlgn="base" hangingPunct="0">
              <a:spcBef>
                <a:spcPct val="50000"/>
              </a:spcBef>
              <a:spcAft>
                <a:spcPct val="0"/>
              </a:spcAft>
            </a:pPr>
            <a:r>
              <a:rPr kumimoji="1" lang="zh-CN" altLang="en-US" sz="2000" b="1" dirty="0">
                <a:solidFill>
                  <a:srgbClr val="0000FF"/>
                </a:solidFill>
                <a:latin typeface="Times New Roman" pitchFamily="18" charset="0"/>
              </a:rPr>
              <a:t>完全二叉树</a:t>
            </a:r>
            <a:endParaRPr kumimoji="1" lang="en-US" altLang="zh-CN" sz="2000" b="1" dirty="0">
              <a:solidFill>
                <a:srgbClr val="0000FF"/>
              </a:solidFill>
              <a:latin typeface="Times New Roman" pitchFamily="18" charset="0"/>
            </a:endParaRPr>
          </a:p>
        </p:txBody>
      </p:sp>
    </p:spTree>
    <p:extLst>
      <p:ext uri="{BB962C8B-B14F-4D97-AF65-F5344CB8AC3E}">
        <p14:creationId xmlns:p14="http://schemas.microsoft.com/office/powerpoint/2010/main" val="3062810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树的相关概念</a:t>
            </a:r>
          </a:p>
        </p:txBody>
      </p:sp>
      <p:sp>
        <p:nvSpPr>
          <p:cNvPr id="4" name="日期占位符 3"/>
          <p:cNvSpPr>
            <a:spLocks noGrp="1"/>
          </p:cNvSpPr>
          <p:nvPr>
            <p:ph type="dt" sz="half" idx="10"/>
          </p:nvPr>
        </p:nvSpPr>
        <p:spPr/>
        <p:txBody>
          <a:bodyPr/>
          <a:lstStyle/>
          <a:p>
            <a:fld id="{D3BA1560-0757-489D-956E-CDDDDB011002}"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164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5" name="Text Box 2"/>
          <p:cNvSpPr txBox="1">
            <a:spLocks noChangeArrowheads="1"/>
          </p:cNvSpPr>
          <p:nvPr/>
        </p:nvSpPr>
        <p:spPr bwMode="auto">
          <a:xfrm>
            <a:off x="457200" y="1714461"/>
            <a:ext cx="8382000" cy="830997"/>
          </a:xfrm>
          <a:prstGeom prst="rect">
            <a:avLst/>
          </a:prstGeom>
          <a:noFill/>
          <a:ln w="12700" cap="sq">
            <a:solidFill>
              <a:srgbClr val="003300"/>
            </a:solidFill>
            <a:miter lim="800000"/>
            <a:headEnd type="none" w="sm" len="sm"/>
            <a:tailEnd type="none" w="sm" len="sm"/>
          </a:ln>
        </p:spPr>
        <p:txBody>
          <a:bodyPr wrap="square">
            <a:spAutoFit/>
          </a:bodyPr>
          <a:lstStyle/>
          <a:p>
            <a:pPr fontAlgn="base">
              <a:spcBef>
                <a:spcPct val="0"/>
              </a:spcBef>
              <a:spcAft>
                <a:spcPct val="0"/>
              </a:spcAft>
              <a:buFont typeface="Wingdings" pitchFamily="2" charset="2"/>
              <a:buChar char="p"/>
            </a:pPr>
            <a:r>
              <a:rPr kumimoji="1" lang="zh-CN" altLang="en-US" sz="2400" b="1" dirty="0">
                <a:solidFill>
                  <a:srgbClr val="0000CC"/>
                </a:solidFill>
                <a:latin typeface="宋体" pitchFamily="2" charset="-122"/>
              </a:rPr>
              <a:t> </a:t>
            </a:r>
            <a:r>
              <a:rPr kumimoji="1" lang="zh-CN" altLang="en-US" sz="2400" b="1" dirty="0">
                <a:solidFill>
                  <a:srgbClr val="003300"/>
                </a:solidFill>
                <a:latin typeface="宋体" pitchFamily="2" charset="-122"/>
              </a:rPr>
              <a:t>结点的路径长度：</a:t>
            </a:r>
            <a:endParaRPr kumimoji="1" lang="en-US" altLang="zh-CN" sz="2400" b="1" dirty="0">
              <a:solidFill>
                <a:srgbClr val="003300"/>
              </a:solidFill>
              <a:latin typeface="宋体" pitchFamily="2" charset="-122"/>
            </a:endParaRPr>
          </a:p>
          <a:p>
            <a:pPr fontAlgn="base">
              <a:spcBef>
                <a:spcPct val="0"/>
              </a:spcBef>
              <a:spcAft>
                <a:spcPct val="0"/>
              </a:spcAft>
            </a:pPr>
            <a:r>
              <a:rPr kumimoji="1" lang="zh-CN" altLang="en-US" sz="2400" b="1" dirty="0">
                <a:solidFill>
                  <a:srgbClr val="0000FF"/>
                </a:solidFill>
                <a:latin typeface="Times New Roman" pitchFamily="18" charset="0"/>
              </a:rPr>
              <a:t>从根结点到该结点的路径上分支的数目</a:t>
            </a:r>
            <a:endParaRPr kumimoji="1" lang="zh-CN" altLang="en-US" sz="2400" b="1" dirty="0">
              <a:solidFill>
                <a:srgbClr val="0000CC"/>
              </a:solidFill>
              <a:latin typeface="宋体" pitchFamily="2" charset="-122"/>
            </a:endParaRPr>
          </a:p>
        </p:txBody>
      </p:sp>
      <p:sp>
        <p:nvSpPr>
          <p:cNvPr id="16" name="Text Box 3"/>
          <p:cNvSpPr txBox="1">
            <a:spLocks noChangeArrowheads="1"/>
          </p:cNvSpPr>
          <p:nvPr/>
        </p:nvSpPr>
        <p:spPr bwMode="auto">
          <a:xfrm>
            <a:off x="457199" y="2627293"/>
            <a:ext cx="8382000" cy="830997"/>
          </a:xfrm>
          <a:prstGeom prst="rect">
            <a:avLst/>
          </a:prstGeom>
          <a:noFill/>
          <a:ln w="12700" cap="sq">
            <a:solidFill>
              <a:srgbClr val="003300"/>
            </a:solidFill>
            <a:miter lim="800000"/>
            <a:headEnd type="none" w="sm" len="sm"/>
            <a:tailEnd type="none" w="sm" len="sm"/>
          </a:ln>
        </p:spPr>
        <p:txBody>
          <a:bodyPr wrap="square">
            <a:spAutoFit/>
          </a:bodyPr>
          <a:lstStyle/>
          <a:p>
            <a:pPr fontAlgn="base">
              <a:spcBef>
                <a:spcPct val="0"/>
              </a:spcBef>
              <a:spcAft>
                <a:spcPct val="0"/>
              </a:spcAft>
              <a:buFont typeface="Wingdings" pitchFamily="2" charset="2"/>
              <a:buChar char="p"/>
            </a:pPr>
            <a:r>
              <a:rPr kumimoji="1" lang="zh-CN" altLang="en-US" sz="2400" b="1" dirty="0">
                <a:solidFill>
                  <a:srgbClr val="003300"/>
                </a:solidFill>
                <a:latin typeface="Times New Roman" pitchFamily="18" charset="0"/>
              </a:rPr>
              <a:t> 树的路径长度：</a:t>
            </a:r>
            <a:endParaRPr kumimoji="1" lang="en-US" altLang="zh-CN" sz="2400" b="1" dirty="0">
              <a:solidFill>
                <a:srgbClr val="003300"/>
              </a:solidFill>
              <a:latin typeface="Times New Roman" pitchFamily="18" charset="0"/>
            </a:endParaRPr>
          </a:p>
          <a:p>
            <a:pPr fontAlgn="base">
              <a:spcBef>
                <a:spcPct val="0"/>
              </a:spcBef>
              <a:spcAft>
                <a:spcPct val="0"/>
              </a:spcAft>
            </a:pPr>
            <a:r>
              <a:rPr kumimoji="1" lang="zh-CN" altLang="en-US" sz="2400" b="1" dirty="0">
                <a:solidFill>
                  <a:srgbClr val="0000FF"/>
                </a:solidFill>
                <a:latin typeface="Times New Roman" pitchFamily="18" charset="0"/>
              </a:rPr>
              <a:t>树中每个结点的路径长度之和。</a:t>
            </a:r>
          </a:p>
        </p:txBody>
      </p:sp>
      <p:sp>
        <p:nvSpPr>
          <p:cNvPr id="73" name="流程图: 资料带 72"/>
          <p:cNvSpPr/>
          <p:nvPr/>
        </p:nvSpPr>
        <p:spPr bwMode="auto">
          <a:xfrm>
            <a:off x="914400" y="4114800"/>
            <a:ext cx="7358062" cy="1989138"/>
          </a:xfrm>
          <a:prstGeom prst="flowChartPunchedTape">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1" i="0" u="none" strike="noStrike" kern="0" cap="none" spc="0" normalizeH="0" baseline="0" noProof="0" dirty="0">
                <a:ln>
                  <a:noFill/>
                </a:ln>
                <a:solidFill>
                  <a:srgbClr val="0000FF"/>
                </a:solidFill>
                <a:effectLst/>
                <a:uLnTx/>
                <a:uFillTx/>
                <a:latin typeface="Constantia"/>
                <a:ea typeface="宋体"/>
                <a:cs typeface="+mn-cs"/>
              </a:rPr>
              <a:t>  在结点数相同的条件下，</a:t>
            </a:r>
            <a:endParaRPr kumimoji="1" lang="en-US" altLang="zh-CN" sz="3600" b="1" i="0" u="none" strike="noStrike" kern="0" cap="none" spc="0" normalizeH="0" baseline="0" noProof="0" dirty="0">
              <a:ln>
                <a:noFill/>
              </a:ln>
              <a:solidFill>
                <a:srgbClr val="0000FF"/>
              </a:solidFill>
              <a:effectLst/>
              <a:uLnTx/>
              <a:uFillTx/>
              <a:latin typeface="Constantia"/>
              <a:ea typeface="宋体"/>
              <a:cs typeface="+mn-cs"/>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600" b="1" i="0" u="none" strike="noStrike" kern="0" cap="none" spc="0" normalizeH="0" baseline="0" noProof="0" dirty="0">
                <a:ln>
                  <a:noFill/>
                </a:ln>
                <a:solidFill>
                  <a:srgbClr val="FF0000"/>
                </a:solidFill>
                <a:effectLst/>
                <a:uLnTx/>
                <a:uFillTx/>
                <a:latin typeface="Constantia"/>
                <a:ea typeface="宋体"/>
                <a:cs typeface="+mn-cs"/>
              </a:rPr>
              <a:t>完全二叉树</a:t>
            </a:r>
            <a:r>
              <a:rPr kumimoji="1" lang="zh-CN" altLang="en-US" sz="3600" b="1" i="0" u="none" strike="noStrike" kern="0" cap="none" spc="0" normalizeH="0" baseline="0" noProof="0" dirty="0">
                <a:ln>
                  <a:noFill/>
                </a:ln>
                <a:solidFill>
                  <a:srgbClr val="0000FF"/>
                </a:solidFill>
                <a:effectLst/>
                <a:uLnTx/>
                <a:uFillTx/>
                <a:latin typeface="Constantia"/>
                <a:ea typeface="宋体"/>
                <a:cs typeface="+mn-cs"/>
              </a:rPr>
              <a:t>是路径最短的二叉树</a:t>
            </a:r>
            <a:endParaRPr kumimoji="1" lang="zh-CN" altLang="en-US" sz="3600" b="0" i="0" u="none" strike="noStrike" kern="0" cap="none" spc="0" normalizeH="0" baseline="0" noProof="0" dirty="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2112012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73" grpId="0" animBg="1"/>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树的相关概念</a:t>
            </a:r>
          </a:p>
        </p:txBody>
      </p:sp>
      <p:sp>
        <p:nvSpPr>
          <p:cNvPr id="4" name="日期占位符 3"/>
          <p:cNvSpPr>
            <a:spLocks noGrp="1"/>
          </p:cNvSpPr>
          <p:nvPr>
            <p:ph type="dt" sz="half" idx="10"/>
          </p:nvPr>
        </p:nvSpPr>
        <p:spPr/>
        <p:txBody>
          <a:bodyPr/>
          <a:lstStyle/>
          <a:p>
            <a:fld id="{3EA956DE-2438-4265-82AC-B2EEAC4A2F1A}"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165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7" name="Text Box 2"/>
          <p:cNvSpPr txBox="1">
            <a:spLocks noChangeArrowheads="1"/>
          </p:cNvSpPr>
          <p:nvPr/>
        </p:nvSpPr>
        <p:spPr bwMode="auto">
          <a:xfrm>
            <a:off x="354013" y="1803017"/>
            <a:ext cx="8640762" cy="1200329"/>
          </a:xfrm>
          <a:prstGeom prst="rect">
            <a:avLst/>
          </a:prstGeom>
          <a:noFill/>
          <a:ln w="12700" cap="sq">
            <a:solidFill>
              <a:srgbClr val="003300"/>
            </a:solidFill>
            <a:miter lim="800000"/>
            <a:headEnd type="none" w="sm" len="sm"/>
            <a:tailEnd type="none" w="sm" len="sm"/>
          </a:ln>
        </p:spPr>
        <p:txBody>
          <a:bodyPr>
            <a:spAutoFit/>
          </a:bodyPr>
          <a:lstStyle/>
          <a:p>
            <a:pPr fontAlgn="base">
              <a:spcBef>
                <a:spcPct val="0"/>
              </a:spcBef>
              <a:spcAft>
                <a:spcPct val="0"/>
              </a:spcAft>
              <a:buFont typeface="Wingdings" pitchFamily="2" charset="2"/>
              <a:buChar char="p"/>
            </a:pPr>
            <a:r>
              <a:rPr kumimoji="1" lang="zh-CN" altLang="en-US" sz="2400" b="1" dirty="0">
                <a:solidFill>
                  <a:srgbClr val="0000CC"/>
                </a:solidFill>
                <a:latin typeface="宋体" pitchFamily="2" charset="-122"/>
              </a:rPr>
              <a:t>  </a:t>
            </a:r>
            <a:r>
              <a:rPr kumimoji="1" lang="zh-CN" altLang="en-US" sz="2400" b="1" dirty="0">
                <a:solidFill>
                  <a:srgbClr val="003300"/>
                </a:solidFill>
                <a:latin typeface="宋体" pitchFamily="2" charset="-122"/>
              </a:rPr>
              <a:t>树的带权路径长度：</a:t>
            </a:r>
          </a:p>
          <a:p>
            <a:pPr fontAlgn="base">
              <a:spcBef>
                <a:spcPct val="0"/>
              </a:spcBef>
              <a:spcAft>
                <a:spcPct val="0"/>
              </a:spcAft>
            </a:pPr>
            <a:r>
              <a:rPr kumimoji="1" lang="zh-CN" altLang="en-US" sz="2400" b="1" dirty="0">
                <a:solidFill>
                  <a:srgbClr val="0000CC"/>
                </a:solidFill>
                <a:latin typeface="宋体" pitchFamily="2" charset="-122"/>
              </a:rPr>
              <a:t>树中所有</a:t>
            </a:r>
            <a:r>
              <a:rPr kumimoji="1" lang="zh-CN" altLang="en-US" sz="2400" b="1" dirty="0">
                <a:solidFill>
                  <a:srgbClr val="FF0000"/>
                </a:solidFill>
                <a:latin typeface="宋体" pitchFamily="2" charset="-122"/>
              </a:rPr>
              <a:t>叶子</a:t>
            </a:r>
            <a:r>
              <a:rPr kumimoji="1" lang="zh-CN" altLang="en-US" sz="2400" b="1" dirty="0">
                <a:solidFill>
                  <a:srgbClr val="0000CC"/>
                </a:solidFill>
                <a:latin typeface="宋体" pitchFamily="2" charset="-122"/>
              </a:rPr>
              <a:t>结点的带权路径长度之和</a:t>
            </a:r>
          </a:p>
          <a:p>
            <a:pPr fontAlgn="base">
              <a:spcBef>
                <a:spcPct val="0"/>
              </a:spcBef>
              <a:spcAft>
                <a:spcPct val="0"/>
              </a:spcAft>
            </a:pPr>
            <a:r>
              <a:rPr kumimoji="1" lang="zh-CN" altLang="en-US" sz="2400" b="1" dirty="0">
                <a:solidFill>
                  <a:srgbClr val="0000CC"/>
                </a:solidFill>
                <a:latin typeface="宋体" pitchFamily="2" charset="-122"/>
              </a:rPr>
              <a:t>     </a:t>
            </a:r>
            <a:r>
              <a:rPr kumimoji="1" lang="en-US" altLang="zh-CN" sz="2400" b="1" dirty="0">
                <a:solidFill>
                  <a:srgbClr val="0000CC"/>
                </a:solidFill>
                <a:latin typeface="宋体" pitchFamily="2" charset="-122"/>
              </a:rPr>
              <a:t>WPL(T) = </a:t>
            </a:r>
            <a:r>
              <a:rPr kumimoji="1" lang="en-US" altLang="zh-CN" sz="2400" b="1" dirty="0">
                <a:solidFill>
                  <a:srgbClr val="0000CC"/>
                </a:solidFill>
                <a:latin typeface="宋体" pitchFamily="2" charset="-122"/>
                <a:sym typeface="Symbol" pitchFamily="18" charset="2"/>
              </a:rPr>
              <a:t></a:t>
            </a:r>
            <a:r>
              <a:rPr kumimoji="1" lang="en-US" altLang="zh-CN" sz="2400" b="1" dirty="0" err="1">
                <a:solidFill>
                  <a:srgbClr val="0000CC"/>
                </a:solidFill>
                <a:latin typeface="宋体" pitchFamily="2" charset="-122"/>
              </a:rPr>
              <a:t>w</a:t>
            </a:r>
            <a:r>
              <a:rPr kumimoji="1" lang="en-US" altLang="zh-CN" sz="2400" b="1" baseline="-25000" dirty="0" err="1">
                <a:solidFill>
                  <a:srgbClr val="0000CC"/>
                </a:solidFill>
                <a:latin typeface="宋体" pitchFamily="2" charset="-122"/>
              </a:rPr>
              <a:t>k</a:t>
            </a:r>
            <a:r>
              <a:rPr kumimoji="1" lang="en-US" altLang="zh-CN" sz="2400" b="1" dirty="0" err="1">
                <a:solidFill>
                  <a:srgbClr val="0000CC"/>
                </a:solidFill>
                <a:latin typeface="宋体" pitchFamily="2" charset="-122"/>
              </a:rPr>
              <a:t>l</a:t>
            </a:r>
            <a:r>
              <a:rPr kumimoji="1" lang="en-US" altLang="zh-CN" sz="2400" b="1" baseline="-25000" dirty="0" err="1">
                <a:solidFill>
                  <a:srgbClr val="0000CC"/>
                </a:solidFill>
                <a:latin typeface="宋体" pitchFamily="2" charset="-122"/>
              </a:rPr>
              <a:t>k</a:t>
            </a:r>
            <a:r>
              <a:rPr kumimoji="1" lang="en-US" altLang="zh-CN" sz="2400" b="1" baseline="-25000" dirty="0">
                <a:solidFill>
                  <a:srgbClr val="0000CC"/>
                </a:solidFill>
                <a:latin typeface="宋体" pitchFamily="2" charset="-122"/>
              </a:rPr>
              <a:t> </a:t>
            </a:r>
            <a:r>
              <a:rPr kumimoji="1" lang="en-US" altLang="zh-CN" sz="2400" b="1" dirty="0">
                <a:solidFill>
                  <a:srgbClr val="0000CC"/>
                </a:solidFill>
                <a:latin typeface="宋体" pitchFamily="2" charset="-122"/>
              </a:rPr>
              <a:t>(</a:t>
            </a:r>
            <a:r>
              <a:rPr kumimoji="1" lang="zh-CN" altLang="en-US" sz="2400" b="1" dirty="0">
                <a:solidFill>
                  <a:srgbClr val="0000CC"/>
                </a:solidFill>
                <a:latin typeface="宋体" pitchFamily="2" charset="-122"/>
              </a:rPr>
              <a:t>对所有叶子结点</a:t>
            </a:r>
            <a:r>
              <a:rPr kumimoji="1" lang="en-US" altLang="zh-CN" sz="2400" b="1" dirty="0">
                <a:solidFill>
                  <a:srgbClr val="0000CC"/>
                </a:solidFill>
                <a:latin typeface="宋体" pitchFamily="2" charset="-122"/>
              </a:rPr>
              <a:t>)</a:t>
            </a:r>
            <a:r>
              <a:rPr kumimoji="1" lang="zh-CN" altLang="en-US" sz="2400" b="1" dirty="0">
                <a:solidFill>
                  <a:srgbClr val="0000CC"/>
                </a:solidFill>
                <a:latin typeface="宋体" pitchFamily="2" charset="-122"/>
              </a:rPr>
              <a:t>。</a:t>
            </a:r>
          </a:p>
        </p:txBody>
      </p:sp>
      <p:sp>
        <p:nvSpPr>
          <p:cNvPr id="19" name="Text Box 3"/>
          <p:cNvSpPr txBox="1">
            <a:spLocks noChangeArrowheads="1"/>
          </p:cNvSpPr>
          <p:nvPr/>
        </p:nvSpPr>
        <p:spPr bwMode="auto">
          <a:xfrm>
            <a:off x="336550" y="3307140"/>
            <a:ext cx="8688388" cy="1569660"/>
          </a:xfrm>
          <a:prstGeom prst="rect">
            <a:avLst/>
          </a:prstGeom>
          <a:noFill/>
          <a:ln w="12700" cap="sq">
            <a:solidFill>
              <a:srgbClr val="003300"/>
            </a:solidFill>
            <a:miter lim="800000"/>
            <a:headEnd type="none" w="sm" len="sm"/>
            <a:tailEnd type="none" w="sm" len="sm"/>
          </a:ln>
        </p:spPr>
        <p:txBody>
          <a:bodyPr>
            <a:spAutoFit/>
          </a:bodyPr>
          <a:lstStyle/>
          <a:p>
            <a:pPr fontAlgn="base">
              <a:spcBef>
                <a:spcPct val="0"/>
              </a:spcBef>
              <a:spcAft>
                <a:spcPct val="0"/>
              </a:spcAft>
              <a:buFont typeface="Wingdings" pitchFamily="2" charset="2"/>
              <a:buChar char="p"/>
            </a:pPr>
            <a:r>
              <a:rPr kumimoji="1" lang="zh-CN" altLang="en-US" sz="2400" b="1">
                <a:solidFill>
                  <a:srgbClr val="003300"/>
                </a:solidFill>
                <a:latin typeface="Times New Roman" pitchFamily="18" charset="0"/>
              </a:rPr>
              <a:t>“最优树”或</a:t>
            </a:r>
            <a:r>
              <a:rPr kumimoji="1" lang="en-US" altLang="zh-CN" sz="2400" b="1">
                <a:solidFill>
                  <a:srgbClr val="003300"/>
                </a:solidFill>
                <a:latin typeface="Times New Roman" pitchFamily="18" charset="0"/>
              </a:rPr>
              <a:t>Huffman</a:t>
            </a:r>
            <a:r>
              <a:rPr kumimoji="1" lang="zh-CN" altLang="en-US" sz="2400" b="1">
                <a:solidFill>
                  <a:srgbClr val="003300"/>
                </a:solidFill>
                <a:latin typeface="Times New Roman" pitchFamily="18" charset="0"/>
              </a:rPr>
              <a:t>树。</a:t>
            </a:r>
          </a:p>
          <a:p>
            <a:pPr fontAlgn="base">
              <a:spcBef>
                <a:spcPct val="0"/>
              </a:spcBef>
              <a:spcAft>
                <a:spcPct val="0"/>
              </a:spcAft>
            </a:pPr>
            <a:r>
              <a:rPr kumimoji="1" lang="zh-CN" altLang="en-US" sz="2400" b="1">
                <a:solidFill>
                  <a:srgbClr val="0000CC"/>
                </a:solidFill>
                <a:latin typeface="宋体" pitchFamily="2" charset="-122"/>
              </a:rPr>
              <a:t>在所有含 </a:t>
            </a:r>
            <a:r>
              <a:rPr kumimoji="1" lang="en-US" altLang="zh-CN" sz="2400" b="1" i="1">
                <a:solidFill>
                  <a:srgbClr val="0000CC"/>
                </a:solidFill>
                <a:latin typeface="宋体" pitchFamily="2" charset="-122"/>
              </a:rPr>
              <a:t>n </a:t>
            </a:r>
            <a:r>
              <a:rPr kumimoji="1" lang="zh-CN" altLang="en-US" sz="2400" b="1">
                <a:solidFill>
                  <a:srgbClr val="0000CC"/>
                </a:solidFill>
                <a:latin typeface="宋体" pitchFamily="2" charset="-122"/>
              </a:rPr>
              <a:t>个叶子结点、并带相同权值的</a:t>
            </a:r>
            <a:r>
              <a:rPr kumimoji="1" lang="zh-CN" altLang="en-US" sz="2400" b="1">
                <a:solidFill>
                  <a:srgbClr val="FF0000"/>
                </a:solidFill>
                <a:latin typeface="宋体" pitchFamily="2" charset="-122"/>
              </a:rPr>
              <a:t> </a:t>
            </a:r>
            <a:r>
              <a:rPr kumimoji="1" lang="en-US" altLang="zh-CN" sz="2400" b="1">
                <a:solidFill>
                  <a:srgbClr val="FF0000"/>
                </a:solidFill>
                <a:latin typeface="宋体" pitchFamily="2" charset="-122"/>
              </a:rPr>
              <a:t>m </a:t>
            </a:r>
            <a:r>
              <a:rPr kumimoji="1" lang="zh-CN" altLang="en-US" sz="2400" b="1">
                <a:solidFill>
                  <a:srgbClr val="FF0000"/>
                </a:solidFill>
                <a:latin typeface="宋体" pitchFamily="2" charset="-122"/>
              </a:rPr>
              <a:t>叉树</a:t>
            </a:r>
            <a:r>
              <a:rPr kumimoji="1" lang="zh-CN" altLang="en-US" sz="2400" b="1">
                <a:solidFill>
                  <a:srgbClr val="0000CC"/>
                </a:solidFill>
                <a:latin typeface="宋体" pitchFamily="2" charset="-122"/>
              </a:rPr>
              <a:t>中，必存在一棵其带权路径长度取最小值的树，称为</a:t>
            </a:r>
            <a:r>
              <a:rPr kumimoji="1" lang="zh-CN" altLang="en-US" sz="2400" b="1">
                <a:solidFill>
                  <a:srgbClr val="FF0000"/>
                </a:solidFill>
                <a:latin typeface="宋体" pitchFamily="2" charset="-122"/>
              </a:rPr>
              <a:t>“最优树”或</a:t>
            </a:r>
            <a:r>
              <a:rPr kumimoji="1" lang="en-US" altLang="zh-CN" sz="2400" b="1">
                <a:solidFill>
                  <a:srgbClr val="FF0000"/>
                </a:solidFill>
                <a:latin typeface="宋体" pitchFamily="2" charset="-122"/>
              </a:rPr>
              <a:t>Huffman</a:t>
            </a:r>
            <a:r>
              <a:rPr kumimoji="1" lang="zh-CN" altLang="en-US" sz="2400" b="1">
                <a:solidFill>
                  <a:srgbClr val="FF0000"/>
                </a:solidFill>
                <a:latin typeface="宋体" pitchFamily="2" charset="-122"/>
              </a:rPr>
              <a:t>树</a:t>
            </a:r>
            <a:r>
              <a:rPr kumimoji="1" lang="zh-CN" altLang="en-US" sz="2400" b="1">
                <a:solidFill>
                  <a:srgbClr val="0000CC"/>
                </a:solidFill>
                <a:latin typeface="宋体" pitchFamily="2" charset="-122"/>
              </a:rPr>
              <a:t>。</a:t>
            </a:r>
          </a:p>
        </p:txBody>
      </p:sp>
      <p:sp>
        <p:nvSpPr>
          <p:cNvPr id="20" name="Text Box 5"/>
          <p:cNvSpPr txBox="1">
            <a:spLocks noChangeArrowheads="1"/>
          </p:cNvSpPr>
          <p:nvPr/>
        </p:nvSpPr>
        <p:spPr bwMode="auto">
          <a:xfrm>
            <a:off x="309563" y="5105400"/>
            <a:ext cx="8715375" cy="1116396"/>
          </a:xfrm>
          <a:prstGeom prst="rect">
            <a:avLst/>
          </a:prstGeom>
          <a:noFill/>
          <a:ln w="12700" cap="rnd">
            <a:solidFill>
              <a:srgbClr val="04617B"/>
            </a:solidFill>
            <a:miter lim="800000"/>
            <a:headEnd/>
            <a:tailEnd/>
          </a:ln>
        </p:spPr>
        <p:txBody>
          <a:bodyPr>
            <a:spAutoFit/>
          </a:bodyPr>
          <a:lstStyle/>
          <a:p>
            <a:pPr marL="0" marR="0" lvl="0" indent="0" defTabSz="914400" eaLnBrk="1" fontAlgn="base" latinLnBrk="0" hangingPunct="1">
              <a:lnSpc>
                <a:spcPct val="135000"/>
              </a:lnSpc>
              <a:spcBef>
                <a:spcPct val="0"/>
              </a:spcBef>
              <a:spcAft>
                <a:spcPct val="0"/>
              </a:spcAft>
              <a:buClrTx/>
              <a:buSzTx/>
              <a:buFont typeface="Wingdings" pitchFamily="2" charset="2"/>
              <a:buChar char="p"/>
              <a:tabLst/>
              <a:defRPr/>
            </a:pPr>
            <a:r>
              <a:rPr kumimoji="1" lang="zh-CN" altLang="en-US" sz="2400" b="1" i="0" u="none" strike="noStrike" kern="0" cap="none" spc="0" normalizeH="0" baseline="0" noProof="0">
                <a:ln>
                  <a:noFill/>
                </a:ln>
                <a:solidFill>
                  <a:srgbClr val="FF3300"/>
                </a:solidFill>
                <a:effectLst/>
                <a:uLnTx/>
                <a:uFillTx/>
                <a:latin typeface="Times New Roman" pitchFamily="18" charset="0"/>
              </a:rPr>
              <a:t>最优二叉树或哈夫曼树</a:t>
            </a:r>
            <a:r>
              <a:rPr kumimoji="1" lang="zh-CN" altLang="en-US" sz="2800" b="1" i="0" u="none" strike="noStrike" kern="0" cap="none" spc="0" normalizeH="0" baseline="0" noProof="0">
                <a:ln>
                  <a:noFill/>
                </a:ln>
                <a:solidFill>
                  <a:srgbClr val="FF3300"/>
                </a:solidFill>
                <a:effectLst/>
                <a:uLnTx/>
                <a:uFillTx/>
                <a:latin typeface="Times New Roman" pitchFamily="18" charset="0"/>
              </a:rPr>
              <a:t>（</a:t>
            </a:r>
            <a:r>
              <a:rPr kumimoji="1" lang="en-US" altLang="zh-CN" sz="2800" b="1" i="0" u="none" strike="noStrike" kern="0" cap="none" spc="0" normalizeH="0" baseline="0" noProof="0">
                <a:ln>
                  <a:noFill/>
                </a:ln>
                <a:solidFill>
                  <a:srgbClr val="FF3300"/>
                </a:solidFill>
                <a:effectLst/>
                <a:uLnTx/>
                <a:uFillTx/>
                <a:latin typeface="Times New Roman" pitchFamily="18" charset="0"/>
              </a:rPr>
              <a:t>Huffman</a:t>
            </a:r>
            <a:r>
              <a:rPr kumimoji="1" lang="zh-CN" altLang="en-US" sz="2800" b="1" i="0" u="none" strike="noStrike" kern="0" cap="none" spc="0" normalizeH="0" baseline="0" noProof="0">
                <a:ln>
                  <a:noFill/>
                </a:ln>
                <a:solidFill>
                  <a:srgbClr val="FF3300"/>
                </a:solidFill>
                <a:effectLst/>
                <a:uLnTx/>
                <a:uFillTx/>
                <a:latin typeface="Times New Roman" pitchFamily="18" charset="0"/>
              </a:rPr>
              <a:t>）</a:t>
            </a:r>
            <a:r>
              <a:rPr kumimoji="1" lang="zh-CN" altLang="en-US" sz="2800" b="1" i="0" u="none" strike="noStrike" kern="0" cap="none" spc="0" normalizeH="0" baseline="0" noProof="0">
                <a:ln>
                  <a:noFill/>
                </a:ln>
                <a:solidFill>
                  <a:srgbClr val="000000"/>
                </a:solidFill>
                <a:effectLst/>
                <a:uLnTx/>
                <a:uFillTx/>
                <a:latin typeface="Times New Roman" pitchFamily="18" charset="0"/>
              </a:rPr>
              <a:t> </a:t>
            </a:r>
            <a:r>
              <a:rPr kumimoji="1" lang="zh-CN" altLang="en-US" sz="2400" b="1" i="0" u="none" strike="noStrike" kern="0" cap="none" spc="0" normalizeH="0" baseline="0" noProof="0">
                <a:ln>
                  <a:noFill/>
                </a:ln>
                <a:solidFill>
                  <a:srgbClr val="FF3300"/>
                </a:solidFill>
                <a:effectLst/>
                <a:uLnTx/>
                <a:uFillTx/>
                <a:latin typeface="Times New Roman" pitchFamily="18" charset="0"/>
              </a:rPr>
              <a:t>：</a:t>
            </a:r>
            <a:r>
              <a:rPr kumimoji="1" lang="zh-CN" altLang="en-US" sz="2400" b="1" i="0" u="none" strike="noStrike" kern="0" cap="none" spc="0" normalizeH="0" baseline="0" noProof="0">
                <a:ln>
                  <a:noFill/>
                </a:ln>
                <a:solidFill>
                  <a:srgbClr val="0000FF"/>
                </a:solidFill>
                <a:effectLst/>
                <a:uLnTx/>
                <a:uFillTx/>
                <a:latin typeface="宋体" pitchFamily="2" charset="-122"/>
              </a:rPr>
              <a:t>带权路径长度 </a:t>
            </a:r>
            <a:r>
              <a:rPr kumimoji="1" lang="en-US" altLang="zh-CN" sz="2400" b="1" i="0" u="none" strike="noStrike" kern="0" cap="none" spc="0" normalizeH="0" baseline="0" noProof="0">
                <a:ln>
                  <a:noFill/>
                </a:ln>
                <a:solidFill>
                  <a:srgbClr val="0000FF"/>
                </a:solidFill>
                <a:effectLst/>
                <a:uLnTx/>
                <a:uFillTx/>
                <a:latin typeface="宋体" pitchFamily="2" charset="-122"/>
              </a:rPr>
              <a:t>WPL </a:t>
            </a:r>
            <a:r>
              <a:rPr kumimoji="1" lang="zh-CN" altLang="en-US" sz="2400" b="1" i="0" u="none" strike="noStrike" kern="0" cap="none" spc="0" normalizeH="0" baseline="0" noProof="0">
                <a:ln>
                  <a:noFill/>
                </a:ln>
                <a:solidFill>
                  <a:srgbClr val="0000FF"/>
                </a:solidFill>
                <a:effectLst/>
                <a:uLnTx/>
                <a:uFillTx/>
                <a:latin typeface="宋体" pitchFamily="2" charset="-122"/>
              </a:rPr>
              <a:t>最小的二叉树，称该</a:t>
            </a:r>
            <a:r>
              <a:rPr kumimoji="1" lang="zh-CN" altLang="en-US" sz="2400" b="1" i="0" u="none" strike="noStrike" kern="0" cap="none" spc="0" normalizeH="0" baseline="0" noProof="0">
                <a:ln>
                  <a:noFill/>
                </a:ln>
                <a:solidFill>
                  <a:srgbClr val="FF0000"/>
                </a:solidFill>
                <a:effectLst/>
                <a:uLnTx/>
                <a:uFillTx/>
                <a:latin typeface="宋体" pitchFamily="2" charset="-122"/>
              </a:rPr>
              <a:t>二叉树为最优二叉树或哈夫曼树。</a:t>
            </a:r>
            <a:endParaRPr kumimoji="1" lang="zh-CN" altLang="en-US" sz="2800" b="1" i="0" u="none" strike="noStrike" kern="0" cap="none" spc="0" normalizeH="0" baseline="0" noProof="0">
              <a:ln>
                <a:noFill/>
              </a:ln>
              <a:solidFill>
                <a:srgbClr val="FF0000"/>
              </a:solidFill>
              <a:effectLst/>
              <a:uLnTx/>
              <a:uFillTx/>
              <a:latin typeface="Times New Roman" pitchFamily="18" charset="0"/>
            </a:endParaRPr>
          </a:p>
        </p:txBody>
      </p:sp>
    </p:spTree>
    <p:extLst>
      <p:ext uri="{BB962C8B-B14F-4D97-AF65-F5344CB8AC3E}">
        <p14:creationId xmlns:p14="http://schemas.microsoft.com/office/powerpoint/2010/main" val="1327446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400" b="1" dirty="0">
                <a:solidFill>
                  <a:srgbClr val="FF0000"/>
                </a:solidFill>
              </a:rPr>
              <a:t>带权路径长度</a:t>
            </a:r>
          </a:p>
        </p:txBody>
      </p:sp>
      <p:sp>
        <p:nvSpPr>
          <p:cNvPr id="4" name="日期占位符 3"/>
          <p:cNvSpPr>
            <a:spLocks noGrp="1"/>
          </p:cNvSpPr>
          <p:nvPr>
            <p:ph type="dt" sz="half" idx="10"/>
          </p:nvPr>
        </p:nvSpPr>
        <p:spPr/>
        <p:txBody>
          <a:bodyPr/>
          <a:lstStyle/>
          <a:p>
            <a:fld id="{97EFB1DB-3806-4E44-856B-E56815ECE1F9}"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166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5" name="Text Box 129"/>
          <p:cNvSpPr txBox="1">
            <a:spLocks noChangeArrowheads="1"/>
          </p:cNvSpPr>
          <p:nvPr/>
        </p:nvSpPr>
        <p:spPr bwMode="auto">
          <a:xfrm>
            <a:off x="1163357" y="3638490"/>
            <a:ext cx="3124354" cy="400110"/>
          </a:xfrm>
          <a:prstGeom prst="rect">
            <a:avLst/>
          </a:prstGeom>
          <a:noFill/>
          <a:ln w="12700" cap="rnd">
            <a:noFill/>
            <a:miter lim="800000"/>
            <a:headEnd/>
            <a:tailEnd/>
          </a:ln>
        </p:spPr>
        <p:txBody>
          <a:bodyPr wrap="square">
            <a:spAutoFit/>
          </a:bodyPr>
          <a:lstStyle/>
          <a:p>
            <a:pPr eaLnBrk="0" fontAlgn="base" hangingPunct="0">
              <a:spcBef>
                <a:spcPct val="0"/>
              </a:spcBef>
              <a:spcAft>
                <a:spcPct val="0"/>
              </a:spcAft>
            </a:pPr>
            <a:r>
              <a:rPr kumimoji="1" lang="en-US" altLang="zh-CN" sz="2000" b="1" dirty="0">
                <a:solidFill>
                  <a:srgbClr val="000000"/>
                </a:solidFill>
                <a:latin typeface="隶书" pitchFamily="49" charset="-122"/>
                <a:ea typeface="隶书" pitchFamily="49" charset="-122"/>
              </a:rPr>
              <a:t>WPL=7*2+5*2+2*2+4*2=36</a:t>
            </a:r>
          </a:p>
        </p:txBody>
      </p:sp>
      <p:sp>
        <p:nvSpPr>
          <p:cNvPr id="16" name="Text Box 131"/>
          <p:cNvSpPr txBox="1">
            <a:spLocks noChangeArrowheads="1"/>
          </p:cNvSpPr>
          <p:nvPr/>
        </p:nvSpPr>
        <p:spPr bwMode="auto">
          <a:xfrm>
            <a:off x="1468157" y="6135990"/>
            <a:ext cx="3362864" cy="400110"/>
          </a:xfrm>
          <a:prstGeom prst="rect">
            <a:avLst/>
          </a:prstGeom>
          <a:noFill/>
          <a:ln w="12700" cap="rnd">
            <a:noFill/>
            <a:miter lim="800000"/>
            <a:headEnd/>
            <a:tailEnd/>
          </a:ln>
        </p:spPr>
        <p:txBody>
          <a:bodyPr wrap="square">
            <a:spAutoFit/>
          </a:bodyPr>
          <a:lstStyle/>
          <a:p>
            <a:pPr eaLnBrk="0" fontAlgn="base" hangingPunct="0">
              <a:spcBef>
                <a:spcPct val="0"/>
              </a:spcBef>
              <a:spcAft>
                <a:spcPct val="0"/>
              </a:spcAft>
            </a:pPr>
            <a:r>
              <a:rPr kumimoji="1" lang="en-US" altLang="zh-CN" sz="2000" b="1">
                <a:solidFill>
                  <a:srgbClr val="000000"/>
                </a:solidFill>
                <a:latin typeface="隶书" pitchFamily="49" charset="-122"/>
                <a:ea typeface="隶书" pitchFamily="49" charset="-122"/>
              </a:rPr>
              <a:t>WPL=7*3+5*3+2*1+4*2=46</a:t>
            </a:r>
          </a:p>
        </p:txBody>
      </p:sp>
      <p:sp>
        <p:nvSpPr>
          <p:cNvPr id="21" name="Text Box 132"/>
          <p:cNvSpPr txBox="1">
            <a:spLocks noChangeArrowheads="1"/>
          </p:cNvSpPr>
          <p:nvPr/>
        </p:nvSpPr>
        <p:spPr bwMode="auto">
          <a:xfrm>
            <a:off x="5635343" y="6140752"/>
            <a:ext cx="3203857" cy="400110"/>
          </a:xfrm>
          <a:prstGeom prst="rect">
            <a:avLst/>
          </a:prstGeom>
          <a:noFill/>
          <a:ln w="12700" cap="rnd">
            <a:noFill/>
            <a:miter lim="800000"/>
            <a:headEnd/>
            <a:tailEnd/>
          </a:ln>
        </p:spPr>
        <p:txBody>
          <a:bodyPr wrap="square">
            <a:spAutoFit/>
          </a:bodyPr>
          <a:lstStyle/>
          <a:p>
            <a:pPr eaLnBrk="0" fontAlgn="base" hangingPunct="0">
              <a:spcBef>
                <a:spcPct val="0"/>
              </a:spcBef>
              <a:spcAft>
                <a:spcPct val="0"/>
              </a:spcAft>
            </a:pPr>
            <a:r>
              <a:rPr kumimoji="1" lang="en-US" altLang="zh-CN" sz="2000" b="1">
                <a:solidFill>
                  <a:srgbClr val="000000"/>
                </a:solidFill>
                <a:latin typeface="隶书" pitchFamily="49" charset="-122"/>
                <a:ea typeface="隶书" pitchFamily="49" charset="-122"/>
              </a:rPr>
              <a:t>WPL=7*1+5*2+2*3+4*3=35</a:t>
            </a:r>
          </a:p>
        </p:txBody>
      </p:sp>
      <p:grpSp>
        <p:nvGrpSpPr>
          <p:cNvPr id="22" name="Group 154"/>
          <p:cNvGrpSpPr>
            <a:grpSpLocks/>
          </p:cNvGrpSpPr>
          <p:nvPr/>
        </p:nvGrpSpPr>
        <p:grpSpPr bwMode="auto">
          <a:xfrm>
            <a:off x="874641" y="1758531"/>
            <a:ext cx="2630704" cy="1708529"/>
            <a:chOff x="146" y="300"/>
            <a:chExt cx="2013" cy="1455"/>
          </a:xfrm>
        </p:grpSpPr>
        <p:grpSp>
          <p:nvGrpSpPr>
            <p:cNvPr id="23" name="Group 19"/>
            <p:cNvGrpSpPr>
              <a:grpSpLocks/>
            </p:cNvGrpSpPr>
            <p:nvPr/>
          </p:nvGrpSpPr>
          <p:grpSpPr bwMode="auto">
            <a:xfrm>
              <a:off x="192" y="1081"/>
              <a:ext cx="384" cy="305"/>
              <a:chOff x="2880" y="1104"/>
              <a:chExt cx="367" cy="336"/>
            </a:xfrm>
          </p:grpSpPr>
          <p:sp>
            <p:nvSpPr>
              <p:cNvPr id="49" name="Oval 2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50" name="Text Box 21"/>
              <p:cNvSpPr txBox="1">
                <a:spLocks noChangeArrowheads="1"/>
              </p:cNvSpPr>
              <p:nvPr/>
            </p:nvSpPr>
            <p:spPr bwMode="auto">
              <a:xfrm>
                <a:off x="2928" y="1104"/>
                <a:ext cx="319" cy="30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A</a:t>
                </a:r>
              </a:p>
            </p:txBody>
          </p:sp>
        </p:grpSp>
        <p:sp>
          <p:nvSpPr>
            <p:cNvPr id="24" name="Line 22"/>
            <p:cNvSpPr>
              <a:spLocks noChangeShapeType="1"/>
            </p:cNvSpPr>
            <p:nvPr/>
          </p:nvSpPr>
          <p:spPr bwMode="auto">
            <a:xfrm flipH="1">
              <a:off x="720" y="480"/>
              <a:ext cx="336" cy="287"/>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Line 23"/>
            <p:cNvSpPr>
              <a:spLocks noChangeShapeType="1"/>
            </p:cNvSpPr>
            <p:nvPr/>
          </p:nvSpPr>
          <p:spPr bwMode="auto">
            <a:xfrm flipH="1">
              <a:off x="398" y="890"/>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Line 24"/>
            <p:cNvSpPr>
              <a:spLocks noChangeShapeType="1"/>
            </p:cNvSpPr>
            <p:nvPr/>
          </p:nvSpPr>
          <p:spPr bwMode="auto">
            <a:xfrm>
              <a:off x="1669" y="935"/>
              <a:ext cx="136" cy="18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7" name="Line 25"/>
            <p:cNvSpPr>
              <a:spLocks noChangeShapeType="1"/>
            </p:cNvSpPr>
            <p:nvPr/>
          </p:nvSpPr>
          <p:spPr bwMode="auto">
            <a:xfrm>
              <a:off x="1152" y="480"/>
              <a:ext cx="336" cy="288"/>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Line 26"/>
            <p:cNvSpPr>
              <a:spLocks noChangeShapeType="1"/>
            </p:cNvSpPr>
            <p:nvPr/>
          </p:nvSpPr>
          <p:spPr bwMode="auto">
            <a:xfrm flipH="1">
              <a:off x="1488" y="1008"/>
              <a:ext cx="48"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Line 27"/>
            <p:cNvSpPr>
              <a:spLocks noChangeShapeType="1"/>
            </p:cNvSpPr>
            <p:nvPr/>
          </p:nvSpPr>
          <p:spPr bwMode="auto">
            <a:xfrm>
              <a:off x="720" y="960"/>
              <a:ext cx="144"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0" name="Text Box 58"/>
            <p:cNvSpPr txBox="1">
              <a:spLocks noChangeArrowheads="1"/>
            </p:cNvSpPr>
            <p:nvPr/>
          </p:nvSpPr>
          <p:spPr bwMode="auto">
            <a:xfrm>
              <a:off x="146" y="1440"/>
              <a:ext cx="2013" cy="31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1" lang="zh-CN" altLang="en-US" b="1" i="0" u="none" strike="noStrike" kern="0" cap="none" spc="0" normalizeH="0" baseline="0" noProof="0" dirty="0">
                  <a:ln>
                    <a:noFill/>
                  </a:ln>
                  <a:solidFill>
                    <a:srgbClr val="000000"/>
                  </a:solidFill>
                  <a:effectLst/>
                  <a:uLnTx/>
                  <a:uFillTx/>
                  <a:latin typeface="隶书" pitchFamily="49" charset="-122"/>
                  <a:ea typeface="隶书" pitchFamily="49" charset="-122"/>
                </a:rPr>
                <a:t>7      5     2     4</a:t>
              </a:r>
            </a:p>
          </p:txBody>
        </p:sp>
        <p:grpSp>
          <p:nvGrpSpPr>
            <p:cNvPr id="31" name="Group 136"/>
            <p:cNvGrpSpPr>
              <a:grpSpLocks/>
            </p:cNvGrpSpPr>
            <p:nvPr/>
          </p:nvGrpSpPr>
          <p:grpSpPr bwMode="auto">
            <a:xfrm>
              <a:off x="943" y="300"/>
              <a:ext cx="384" cy="305"/>
              <a:chOff x="2880" y="1104"/>
              <a:chExt cx="367" cy="336"/>
            </a:xfrm>
          </p:grpSpPr>
          <p:sp>
            <p:nvSpPr>
              <p:cNvPr id="47" name="Oval 13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48" name="Text Box 138"/>
              <p:cNvSpPr txBox="1">
                <a:spLocks noChangeArrowheads="1"/>
              </p:cNvSpPr>
              <p:nvPr/>
            </p:nvSpPr>
            <p:spPr bwMode="auto">
              <a:xfrm>
                <a:off x="2928" y="1104"/>
                <a:ext cx="319" cy="3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endPar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grpSp>
        <p:grpSp>
          <p:nvGrpSpPr>
            <p:cNvPr id="32" name="Group 139"/>
            <p:cNvGrpSpPr>
              <a:grpSpLocks/>
            </p:cNvGrpSpPr>
            <p:nvPr/>
          </p:nvGrpSpPr>
          <p:grpSpPr bwMode="auto">
            <a:xfrm>
              <a:off x="444" y="709"/>
              <a:ext cx="384" cy="305"/>
              <a:chOff x="2880" y="1104"/>
              <a:chExt cx="367" cy="336"/>
            </a:xfrm>
          </p:grpSpPr>
          <p:sp>
            <p:nvSpPr>
              <p:cNvPr id="45" name="Oval 14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46" name="Text Box 141"/>
              <p:cNvSpPr txBox="1">
                <a:spLocks noChangeArrowheads="1"/>
              </p:cNvSpPr>
              <p:nvPr/>
            </p:nvSpPr>
            <p:spPr bwMode="auto">
              <a:xfrm>
                <a:off x="2928" y="1104"/>
                <a:ext cx="319" cy="30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endPar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grpSp>
        <p:grpSp>
          <p:nvGrpSpPr>
            <p:cNvPr id="33" name="Group 142"/>
            <p:cNvGrpSpPr>
              <a:grpSpLocks/>
            </p:cNvGrpSpPr>
            <p:nvPr/>
          </p:nvGrpSpPr>
          <p:grpSpPr bwMode="auto">
            <a:xfrm>
              <a:off x="1442" y="709"/>
              <a:ext cx="384" cy="305"/>
              <a:chOff x="2880" y="1104"/>
              <a:chExt cx="367" cy="336"/>
            </a:xfrm>
          </p:grpSpPr>
          <p:sp>
            <p:nvSpPr>
              <p:cNvPr id="43" name="Oval 14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44" name="Text Box 144"/>
              <p:cNvSpPr txBox="1">
                <a:spLocks noChangeArrowheads="1"/>
              </p:cNvSpPr>
              <p:nvPr/>
            </p:nvSpPr>
            <p:spPr bwMode="auto">
              <a:xfrm>
                <a:off x="2928" y="1104"/>
                <a:ext cx="319" cy="30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endPar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grpSp>
        <p:grpSp>
          <p:nvGrpSpPr>
            <p:cNvPr id="34" name="Group 145"/>
            <p:cNvGrpSpPr>
              <a:grpSpLocks/>
            </p:cNvGrpSpPr>
            <p:nvPr/>
          </p:nvGrpSpPr>
          <p:grpSpPr bwMode="auto">
            <a:xfrm>
              <a:off x="671" y="1071"/>
              <a:ext cx="384" cy="305"/>
              <a:chOff x="2880" y="1104"/>
              <a:chExt cx="367" cy="336"/>
            </a:xfrm>
          </p:grpSpPr>
          <p:sp>
            <p:nvSpPr>
              <p:cNvPr id="41" name="Oval 14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42" name="Text Box 147"/>
              <p:cNvSpPr txBox="1">
                <a:spLocks noChangeArrowheads="1"/>
              </p:cNvSpPr>
              <p:nvPr/>
            </p:nvSpPr>
            <p:spPr bwMode="auto">
              <a:xfrm>
                <a:off x="2928" y="1104"/>
                <a:ext cx="319" cy="3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B</a:t>
                </a:r>
              </a:p>
            </p:txBody>
          </p:sp>
        </p:grpSp>
        <p:grpSp>
          <p:nvGrpSpPr>
            <p:cNvPr id="35" name="Group 148"/>
            <p:cNvGrpSpPr>
              <a:grpSpLocks/>
            </p:cNvGrpSpPr>
            <p:nvPr/>
          </p:nvGrpSpPr>
          <p:grpSpPr bwMode="auto">
            <a:xfrm>
              <a:off x="1260" y="1117"/>
              <a:ext cx="384" cy="305"/>
              <a:chOff x="2880" y="1104"/>
              <a:chExt cx="367" cy="336"/>
            </a:xfrm>
          </p:grpSpPr>
          <p:sp>
            <p:nvSpPr>
              <p:cNvPr id="39" name="Oval 14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40" name="Text Box 150"/>
              <p:cNvSpPr txBox="1">
                <a:spLocks noChangeArrowheads="1"/>
              </p:cNvSpPr>
              <p:nvPr/>
            </p:nvSpPr>
            <p:spPr bwMode="auto">
              <a:xfrm>
                <a:off x="2928" y="1104"/>
                <a:ext cx="319" cy="3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C</a:t>
                </a:r>
              </a:p>
            </p:txBody>
          </p:sp>
        </p:grpSp>
        <p:grpSp>
          <p:nvGrpSpPr>
            <p:cNvPr id="36" name="Group 151"/>
            <p:cNvGrpSpPr>
              <a:grpSpLocks/>
            </p:cNvGrpSpPr>
            <p:nvPr/>
          </p:nvGrpSpPr>
          <p:grpSpPr bwMode="auto">
            <a:xfrm>
              <a:off x="1669" y="1117"/>
              <a:ext cx="384" cy="305"/>
              <a:chOff x="2880" y="1104"/>
              <a:chExt cx="367" cy="336"/>
            </a:xfrm>
          </p:grpSpPr>
          <p:sp>
            <p:nvSpPr>
              <p:cNvPr id="37" name="Oval 15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38" name="Text Box 153"/>
              <p:cNvSpPr txBox="1">
                <a:spLocks noChangeArrowheads="1"/>
              </p:cNvSpPr>
              <p:nvPr/>
            </p:nvSpPr>
            <p:spPr bwMode="auto">
              <a:xfrm>
                <a:off x="2928" y="1104"/>
                <a:ext cx="319" cy="3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D</a:t>
                </a:r>
              </a:p>
            </p:txBody>
          </p:sp>
        </p:grpSp>
      </p:grpSp>
      <p:grpSp>
        <p:nvGrpSpPr>
          <p:cNvPr id="51" name="Group 173"/>
          <p:cNvGrpSpPr>
            <a:grpSpLocks/>
          </p:cNvGrpSpPr>
          <p:nvPr/>
        </p:nvGrpSpPr>
        <p:grpSpPr bwMode="auto">
          <a:xfrm>
            <a:off x="5622644" y="1655948"/>
            <a:ext cx="2616646" cy="1689943"/>
            <a:chOff x="3207" y="391"/>
            <a:chExt cx="2039" cy="1439"/>
          </a:xfrm>
        </p:grpSpPr>
        <p:grpSp>
          <p:nvGrpSpPr>
            <p:cNvPr id="52" name="Group 46"/>
            <p:cNvGrpSpPr>
              <a:grpSpLocks/>
            </p:cNvGrpSpPr>
            <p:nvPr/>
          </p:nvGrpSpPr>
          <p:grpSpPr bwMode="auto">
            <a:xfrm>
              <a:off x="3360" y="768"/>
              <a:ext cx="384" cy="305"/>
              <a:chOff x="2880" y="1104"/>
              <a:chExt cx="367" cy="336"/>
            </a:xfrm>
          </p:grpSpPr>
          <p:sp>
            <p:nvSpPr>
              <p:cNvPr id="81" name="Oval 4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82" name="Text Box 48"/>
              <p:cNvSpPr txBox="1">
                <a:spLocks noChangeArrowheads="1"/>
              </p:cNvSpPr>
              <p:nvPr/>
            </p:nvSpPr>
            <p:spPr bwMode="auto">
              <a:xfrm>
                <a:off x="2928" y="1104"/>
                <a:ext cx="319" cy="30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A</a:t>
                </a:r>
              </a:p>
            </p:txBody>
          </p:sp>
        </p:grpSp>
        <p:sp>
          <p:nvSpPr>
            <p:cNvPr id="53" name="Line 49"/>
            <p:cNvSpPr>
              <a:spLocks noChangeShapeType="1"/>
            </p:cNvSpPr>
            <p:nvPr/>
          </p:nvSpPr>
          <p:spPr bwMode="auto">
            <a:xfrm flipH="1">
              <a:off x="3648" y="528"/>
              <a:ext cx="336" cy="287"/>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4" name="Line 51"/>
            <p:cNvSpPr>
              <a:spLocks noChangeShapeType="1"/>
            </p:cNvSpPr>
            <p:nvPr/>
          </p:nvSpPr>
          <p:spPr bwMode="auto">
            <a:xfrm>
              <a:off x="4073" y="527"/>
              <a:ext cx="336" cy="288"/>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5" name="Line 52"/>
            <p:cNvSpPr>
              <a:spLocks noChangeShapeType="1"/>
            </p:cNvSpPr>
            <p:nvPr/>
          </p:nvSpPr>
          <p:spPr bwMode="auto">
            <a:xfrm flipH="1">
              <a:off x="4368" y="1056"/>
              <a:ext cx="96"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6" name="Line 53"/>
            <p:cNvSpPr>
              <a:spLocks noChangeShapeType="1"/>
            </p:cNvSpPr>
            <p:nvPr/>
          </p:nvSpPr>
          <p:spPr bwMode="auto">
            <a:xfrm>
              <a:off x="4662" y="1026"/>
              <a:ext cx="186" cy="17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7" name="Line 57"/>
            <p:cNvSpPr>
              <a:spLocks noChangeShapeType="1"/>
            </p:cNvSpPr>
            <p:nvPr/>
          </p:nvSpPr>
          <p:spPr bwMode="auto">
            <a:xfrm>
              <a:off x="4368" y="1392"/>
              <a:ext cx="240"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8" name="Text Box 59"/>
            <p:cNvSpPr txBox="1">
              <a:spLocks noChangeArrowheads="1"/>
            </p:cNvSpPr>
            <p:nvPr/>
          </p:nvSpPr>
          <p:spPr bwMode="auto">
            <a:xfrm>
              <a:off x="4311" y="1536"/>
              <a:ext cx="214" cy="273"/>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隶书" pitchFamily="49" charset="-122"/>
                  <a:ea typeface="隶书" pitchFamily="49" charset="-122"/>
                </a:rPr>
                <a:t>4</a:t>
              </a:r>
            </a:p>
          </p:txBody>
        </p:sp>
        <p:sp>
          <p:nvSpPr>
            <p:cNvPr id="59" name="Text Box 60"/>
            <p:cNvSpPr txBox="1">
              <a:spLocks noChangeArrowheads="1"/>
            </p:cNvSpPr>
            <p:nvPr/>
          </p:nvSpPr>
          <p:spPr bwMode="auto">
            <a:xfrm>
              <a:off x="3207" y="960"/>
              <a:ext cx="214" cy="274"/>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隶书" pitchFamily="49" charset="-122"/>
                  <a:ea typeface="隶书" pitchFamily="49" charset="-122"/>
                </a:rPr>
                <a:t>7</a:t>
              </a:r>
            </a:p>
          </p:txBody>
        </p:sp>
        <p:sp>
          <p:nvSpPr>
            <p:cNvPr id="60" name="Text Box 61"/>
            <p:cNvSpPr txBox="1">
              <a:spLocks noChangeArrowheads="1"/>
            </p:cNvSpPr>
            <p:nvPr/>
          </p:nvSpPr>
          <p:spPr bwMode="auto">
            <a:xfrm>
              <a:off x="5032" y="1344"/>
              <a:ext cx="214" cy="274"/>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隶书" pitchFamily="49" charset="-122"/>
                  <a:ea typeface="隶书" pitchFamily="49" charset="-122"/>
                </a:rPr>
                <a:t>5</a:t>
              </a:r>
            </a:p>
          </p:txBody>
        </p:sp>
        <p:sp>
          <p:nvSpPr>
            <p:cNvPr id="61" name="Text Box 62"/>
            <p:cNvSpPr txBox="1">
              <a:spLocks noChangeArrowheads="1"/>
            </p:cNvSpPr>
            <p:nvPr/>
          </p:nvSpPr>
          <p:spPr bwMode="auto">
            <a:xfrm>
              <a:off x="3640" y="1487"/>
              <a:ext cx="214" cy="274"/>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隶书" pitchFamily="49" charset="-122"/>
                  <a:ea typeface="隶书" pitchFamily="49" charset="-122"/>
                </a:rPr>
                <a:t>2</a:t>
              </a:r>
            </a:p>
          </p:txBody>
        </p:sp>
        <p:sp>
          <p:nvSpPr>
            <p:cNvPr id="62" name="Line 125"/>
            <p:cNvSpPr>
              <a:spLocks noChangeShapeType="1"/>
            </p:cNvSpPr>
            <p:nvPr/>
          </p:nvSpPr>
          <p:spPr bwMode="auto">
            <a:xfrm flipH="1">
              <a:off x="4080" y="1392"/>
              <a:ext cx="96"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63" name="Group 155"/>
            <p:cNvGrpSpPr>
              <a:grpSpLocks/>
            </p:cNvGrpSpPr>
            <p:nvPr/>
          </p:nvGrpSpPr>
          <p:grpSpPr bwMode="auto">
            <a:xfrm>
              <a:off x="3846" y="391"/>
              <a:ext cx="384" cy="305"/>
              <a:chOff x="2880" y="1104"/>
              <a:chExt cx="367" cy="336"/>
            </a:xfrm>
          </p:grpSpPr>
          <p:sp>
            <p:nvSpPr>
              <p:cNvPr id="79" name="Oval 15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80" name="Text Box 157"/>
              <p:cNvSpPr txBox="1">
                <a:spLocks noChangeArrowheads="1"/>
              </p:cNvSpPr>
              <p:nvPr/>
            </p:nvSpPr>
            <p:spPr bwMode="auto">
              <a:xfrm>
                <a:off x="2928" y="1104"/>
                <a:ext cx="319" cy="3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endPar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grpSp>
        <p:grpSp>
          <p:nvGrpSpPr>
            <p:cNvPr id="64" name="Group 158"/>
            <p:cNvGrpSpPr>
              <a:grpSpLocks/>
            </p:cNvGrpSpPr>
            <p:nvPr/>
          </p:nvGrpSpPr>
          <p:grpSpPr bwMode="auto">
            <a:xfrm>
              <a:off x="4345" y="799"/>
              <a:ext cx="384" cy="305"/>
              <a:chOff x="2880" y="1104"/>
              <a:chExt cx="367" cy="336"/>
            </a:xfrm>
          </p:grpSpPr>
          <p:sp>
            <p:nvSpPr>
              <p:cNvPr id="77" name="Oval 15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78" name="Text Box 160"/>
              <p:cNvSpPr txBox="1">
                <a:spLocks noChangeArrowheads="1"/>
              </p:cNvSpPr>
              <p:nvPr/>
            </p:nvSpPr>
            <p:spPr bwMode="auto">
              <a:xfrm>
                <a:off x="2928" y="1104"/>
                <a:ext cx="319" cy="3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endPar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grpSp>
        <p:grpSp>
          <p:nvGrpSpPr>
            <p:cNvPr id="65" name="Group 161"/>
            <p:cNvGrpSpPr>
              <a:grpSpLocks/>
            </p:cNvGrpSpPr>
            <p:nvPr/>
          </p:nvGrpSpPr>
          <p:grpSpPr bwMode="auto">
            <a:xfrm>
              <a:off x="4118" y="1162"/>
              <a:ext cx="384" cy="305"/>
              <a:chOff x="2880" y="1104"/>
              <a:chExt cx="367" cy="336"/>
            </a:xfrm>
          </p:grpSpPr>
          <p:sp>
            <p:nvSpPr>
              <p:cNvPr id="75" name="Oval 16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76" name="Text Box 163"/>
              <p:cNvSpPr txBox="1">
                <a:spLocks noChangeArrowheads="1"/>
              </p:cNvSpPr>
              <p:nvPr/>
            </p:nvSpPr>
            <p:spPr bwMode="auto">
              <a:xfrm>
                <a:off x="2928" y="1104"/>
                <a:ext cx="319" cy="30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endPar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grpSp>
        <p:grpSp>
          <p:nvGrpSpPr>
            <p:cNvPr id="66" name="Group 164"/>
            <p:cNvGrpSpPr>
              <a:grpSpLocks/>
            </p:cNvGrpSpPr>
            <p:nvPr/>
          </p:nvGrpSpPr>
          <p:grpSpPr bwMode="auto">
            <a:xfrm>
              <a:off x="3891" y="1525"/>
              <a:ext cx="384" cy="305"/>
              <a:chOff x="2880" y="1104"/>
              <a:chExt cx="367" cy="336"/>
            </a:xfrm>
          </p:grpSpPr>
          <p:sp>
            <p:nvSpPr>
              <p:cNvPr id="73" name="Oval 16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74" name="Text Box 166"/>
              <p:cNvSpPr txBox="1">
                <a:spLocks noChangeArrowheads="1"/>
              </p:cNvSpPr>
              <p:nvPr/>
            </p:nvSpPr>
            <p:spPr bwMode="auto">
              <a:xfrm>
                <a:off x="2928" y="1104"/>
                <a:ext cx="319" cy="3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C</a:t>
                </a:r>
              </a:p>
            </p:txBody>
          </p:sp>
        </p:grpSp>
        <p:grpSp>
          <p:nvGrpSpPr>
            <p:cNvPr id="67" name="Group 167"/>
            <p:cNvGrpSpPr>
              <a:grpSpLocks/>
            </p:cNvGrpSpPr>
            <p:nvPr/>
          </p:nvGrpSpPr>
          <p:grpSpPr bwMode="auto">
            <a:xfrm>
              <a:off x="4481" y="1525"/>
              <a:ext cx="384" cy="305"/>
              <a:chOff x="2880" y="1104"/>
              <a:chExt cx="367" cy="336"/>
            </a:xfrm>
          </p:grpSpPr>
          <p:sp>
            <p:nvSpPr>
              <p:cNvPr id="71" name="Oval 16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72" name="Text Box 169"/>
              <p:cNvSpPr txBox="1">
                <a:spLocks noChangeArrowheads="1"/>
              </p:cNvSpPr>
              <p:nvPr/>
            </p:nvSpPr>
            <p:spPr bwMode="auto">
              <a:xfrm>
                <a:off x="2928" y="1104"/>
                <a:ext cx="319" cy="30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D</a:t>
                </a:r>
              </a:p>
            </p:txBody>
          </p:sp>
        </p:grpSp>
        <p:grpSp>
          <p:nvGrpSpPr>
            <p:cNvPr id="68" name="Group 170"/>
            <p:cNvGrpSpPr>
              <a:grpSpLocks/>
            </p:cNvGrpSpPr>
            <p:nvPr/>
          </p:nvGrpSpPr>
          <p:grpSpPr bwMode="auto">
            <a:xfrm>
              <a:off x="4753" y="1162"/>
              <a:ext cx="384" cy="305"/>
              <a:chOff x="2880" y="1104"/>
              <a:chExt cx="367" cy="336"/>
            </a:xfrm>
          </p:grpSpPr>
          <p:sp>
            <p:nvSpPr>
              <p:cNvPr id="69" name="Oval 17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70" name="Text Box 172"/>
              <p:cNvSpPr txBox="1">
                <a:spLocks noChangeArrowheads="1"/>
              </p:cNvSpPr>
              <p:nvPr/>
            </p:nvSpPr>
            <p:spPr bwMode="auto">
              <a:xfrm>
                <a:off x="2928" y="1104"/>
                <a:ext cx="319" cy="302"/>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B</a:t>
                </a:r>
              </a:p>
            </p:txBody>
          </p:sp>
        </p:grpSp>
      </p:grpSp>
      <p:grpSp>
        <p:nvGrpSpPr>
          <p:cNvPr id="83" name="Group 205"/>
          <p:cNvGrpSpPr>
            <a:grpSpLocks/>
          </p:cNvGrpSpPr>
          <p:nvPr/>
        </p:nvGrpSpPr>
        <p:grpSpPr bwMode="auto">
          <a:xfrm>
            <a:off x="5332131" y="4065604"/>
            <a:ext cx="2929081" cy="1923837"/>
            <a:chOff x="3020" y="2115"/>
            <a:chExt cx="2172" cy="1575"/>
          </a:xfrm>
        </p:grpSpPr>
        <p:sp>
          <p:nvSpPr>
            <p:cNvPr id="84" name="Line 112"/>
            <p:cNvSpPr>
              <a:spLocks noChangeShapeType="1"/>
            </p:cNvSpPr>
            <p:nvPr/>
          </p:nvSpPr>
          <p:spPr bwMode="auto">
            <a:xfrm flipH="1">
              <a:off x="3347" y="2251"/>
              <a:ext cx="336" cy="287"/>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5" name="Line 113"/>
            <p:cNvSpPr>
              <a:spLocks noChangeShapeType="1"/>
            </p:cNvSpPr>
            <p:nvPr/>
          </p:nvSpPr>
          <p:spPr bwMode="auto">
            <a:xfrm flipH="1">
              <a:off x="3894" y="2773"/>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6" name="Line 114"/>
            <p:cNvSpPr>
              <a:spLocks noChangeShapeType="1"/>
            </p:cNvSpPr>
            <p:nvPr/>
          </p:nvSpPr>
          <p:spPr bwMode="auto">
            <a:xfrm>
              <a:off x="3792" y="2352"/>
              <a:ext cx="240"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7" name="Line 115"/>
            <p:cNvSpPr>
              <a:spLocks noChangeShapeType="1"/>
            </p:cNvSpPr>
            <p:nvPr/>
          </p:nvSpPr>
          <p:spPr bwMode="auto">
            <a:xfrm flipH="1">
              <a:off x="4176" y="3206"/>
              <a:ext cx="240"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8" name="Line 116"/>
            <p:cNvSpPr>
              <a:spLocks noChangeShapeType="1"/>
            </p:cNvSpPr>
            <p:nvPr/>
          </p:nvSpPr>
          <p:spPr bwMode="auto">
            <a:xfrm>
              <a:off x="4224" y="2822"/>
              <a:ext cx="144"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89" name="Line 120"/>
            <p:cNvSpPr>
              <a:spLocks noChangeShapeType="1"/>
            </p:cNvSpPr>
            <p:nvPr/>
          </p:nvSpPr>
          <p:spPr bwMode="auto">
            <a:xfrm>
              <a:off x="4505" y="3179"/>
              <a:ext cx="240"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0" name="Text Box 121"/>
            <p:cNvSpPr txBox="1">
              <a:spLocks noChangeArrowheads="1"/>
            </p:cNvSpPr>
            <p:nvPr/>
          </p:nvSpPr>
          <p:spPr bwMode="auto">
            <a:xfrm>
              <a:off x="4988" y="3312"/>
              <a:ext cx="204" cy="263"/>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隶书" pitchFamily="49" charset="-122"/>
                  <a:ea typeface="隶书" pitchFamily="49" charset="-122"/>
                </a:rPr>
                <a:t>4</a:t>
              </a:r>
            </a:p>
          </p:txBody>
        </p:sp>
        <p:sp>
          <p:nvSpPr>
            <p:cNvPr id="91" name="Text Box 122"/>
            <p:cNvSpPr txBox="1">
              <a:spLocks noChangeArrowheads="1"/>
            </p:cNvSpPr>
            <p:nvPr/>
          </p:nvSpPr>
          <p:spPr bwMode="auto">
            <a:xfrm>
              <a:off x="3020" y="2496"/>
              <a:ext cx="204" cy="263"/>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隶书" pitchFamily="49" charset="-122"/>
                  <a:ea typeface="隶书" pitchFamily="49" charset="-122"/>
                </a:rPr>
                <a:t>7</a:t>
              </a:r>
            </a:p>
          </p:txBody>
        </p:sp>
        <p:sp>
          <p:nvSpPr>
            <p:cNvPr id="92" name="Text Box 123"/>
            <p:cNvSpPr txBox="1">
              <a:spLocks noChangeArrowheads="1"/>
            </p:cNvSpPr>
            <p:nvPr/>
          </p:nvSpPr>
          <p:spPr bwMode="auto">
            <a:xfrm>
              <a:off x="3405" y="2928"/>
              <a:ext cx="203" cy="263"/>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隶书" pitchFamily="49" charset="-122"/>
                  <a:ea typeface="隶书" pitchFamily="49" charset="-122"/>
                </a:rPr>
                <a:t>5</a:t>
              </a:r>
            </a:p>
          </p:txBody>
        </p:sp>
        <p:sp>
          <p:nvSpPr>
            <p:cNvPr id="93" name="Text Box 124"/>
            <p:cNvSpPr txBox="1">
              <a:spLocks noChangeArrowheads="1"/>
            </p:cNvSpPr>
            <p:nvPr/>
          </p:nvSpPr>
          <p:spPr bwMode="auto">
            <a:xfrm>
              <a:off x="3885" y="3360"/>
              <a:ext cx="203" cy="263"/>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隶书" pitchFamily="49" charset="-122"/>
                  <a:ea typeface="隶书" pitchFamily="49" charset="-122"/>
                </a:rPr>
                <a:t>2</a:t>
              </a:r>
            </a:p>
          </p:txBody>
        </p:sp>
        <p:grpSp>
          <p:nvGrpSpPr>
            <p:cNvPr id="94" name="Group 100"/>
            <p:cNvGrpSpPr>
              <a:grpSpLocks/>
            </p:cNvGrpSpPr>
            <p:nvPr/>
          </p:nvGrpSpPr>
          <p:grpSpPr bwMode="auto">
            <a:xfrm>
              <a:off x="3165" y="2432"/>
              <a:ext cx="384" cy="329"/>
              <a:chOff x="2880" y="1104"/>
              <a:chExt cx="367" cy="336"/>
            </a:xfrm>
          </p:grpSpPr>
          <p:sp>
            <p:nvSpPr>
              <p:cNvPr id="113" name="Oval 10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14" name="Text Box 102"/>
              <p:cNvSpPr txBox="1">
                <a:spLocks noChangeArrowheads="1"/>
              </p:cNvSpPr>
              <p:nvPr/>
            </p:nvSpPr>
            <p:spPr bwMode="auto">
              <a:xfrm>
                <a:off x="2928" y="1104"/>
                <a:ext cx="319" cy="26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A</a:t>
                </a:r>
              </a:p>
            </p:txBody>
          </p:sp>
        </p:grpSp>
        <p:grpSp>
          <p:nvGrpSpPr>
            <p:cNvPr id="95" name="Group 109"/>
            <p:cNvGrpSpPr>
              <a:grpSpLocks/>
            </p:cNvGrpSpPr>
            <p:nvPr/>
          </p:nvGrpSpPr>
          <p:grpSpPr bwMode="auto">
            <a:xfrm>
              <a:off x="3648" y="2928"/>
              <a:ext cx="384" cy="305"/>
              <a:chOff x="2880" y="1104"/>
              <a:chExt cx="367" cy="336"/>
            </a:xfrm>
          </p:grpSpPr>
          <p:sp>
            <p:nvSpPr>
              <p:cNvPr id="111" name="Oval 11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12" name="Text Box 111"/>
              <p:cNvSpPr txBox="1">
                <a:spLocks noChangeArrowheads="1"/>
              </p:cNvSpPr>
              <p:nvPr/>
            </p:nvSpPr>
            <p:spPr bwMode="auto">
              <a:xfrm>
                <a:off x="2928" y="1104"/>
                <a:ext cx="319" cy="29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B</a:t>
                </a:r>
              </a:p>
            </p:txBody>
          </p:sp>
        </p:grpSp>
        <p:grpSp>
          <p:nvGrpSpPr>
            <p:cNvPr id="96" name="Group 177"/>
            <p:cNvGrpSpPr>
              <a:grpSpLocks/>
            </p:cNvGrpSpPr>
            <p:nvPr/>
          </p:nvGrpSpPr>
          <p:grpSpPr bwMode="auto">
            <a:xfrm>
              <a:off x="3528" y="2115"/>
              <a:ext cx="384" cy="305"/>
              <a:chOff x="2880" y="1104"/>
              <a:chExt cx="367" cy="336"/>
            </a:xfrm>
          </p:grpSpPr>
          <p:sp>
            <p:nvSpPr>
              <p:cNvPr id="109" name="Oval 17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10" name="Text Box 179"/>
              <p:cNvSpPr txBox="1">
                <a:spLocks noChangeArrowheads="1"/>
              </p:cNvSpPr>
              <p:nvPr/>
            </p:nvSpPr>
            <p:spPr bwMode="auto">
              <a:xfrm>
                <a:off x="2928" y="1104"/>
                <a:ext cx="319" cy="29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endPar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grpSp>
        <p:grpSp>
          <p:nvGrpSpPr>
            <p:cNvPr id="97" name="Group 180"/>
            <p:cNvGrpSpPr>
              <a:grpSpLocks/>
            </p:cNvGrpSpPr>
            <p:nvPr/>
          </p:nvGrpSpPr>
          <p:grpSpPr bwMode="auto">
            <a:xfrm>
              <a:off x="3936" y="2568"/>
              <a:ext cx="384" cy="305"/>
              <a:chOff x="2880" y="1104"/>
              <a:chExt cx="367" cy="336"/>
            </a:xfrm>
          </p:grpSpPr>
          <p:sp>
            <p:nvSpPr>
              <p:cNvPr id="107" name="Oval 18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08" name="Text Box 182"/>
              <p:cNvSpPr txBox="1">
                <a:spLocks noChangeArrowheads="1"/>
              </p:cNvSpPr>
              <p:nvPr/>
            </p:nvSpPr>
            <p:spPr bwMode="auto">
              <a:xfrm>
                <a:off x="2928" y="1104"/>
                <a:ext cx="319" cy="29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endPar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grpSp>
        <p:grpSp>
          <p:nvGrpSpPr>
            <p:cNvPr id="98" name="Group 183"/>
            <p:cNvGrpSpPr>
              <a:grpSpLocks/>
            </p:cNvGrpSpPr>
            <p:nvPr/>
          </p:nvGrpSpPr>
          <p:grpSpPr bwMode="auto">
            <a:xfrm>
              <a:off x="4254" y="2931"/>
              <a:ext cx="384" cy="305"/>
              <a:chOff x="2880" y="1104"/>
              <a:chExt cx="367" cy="336"/>
            </a:xfrm>
          </p:grpSpPr>
          <p:sp>
            <p:nvSpPr>
              <p:cNvPr id="105" name="Oval 18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06" name="Text Box 185"/>
              <p:cNvSpPr txBox="1">
                <a:spLocks noChangeArrowheads="1"/>
              </p:cNvSpPr>
              <p:nvPr/>
            </p:nvSpPr>
            <p:spPr bwMode="auto">
              <a:xfrm>
                <a:off x="2928" y="1104"/>
                <a:ext cx="319" cy="29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endPar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grpSp>
        <p:grpSp>
          <p:nvGrpSpPr>
            <p:cNvPr id="99" name="Group 186"/>
            <p:cNvGrpSpPr>
              <a:grpSpLocks/>
            </p:cNvGrpSpPr>
            <p:nvPr/>
          </p:nvGrpSpPr>
          <p:grpSpPr bwMode="auto">
            <a:xfrm>
              <a:off x="4027" y="3385"/>
              <a:ext cx="384" cy="305"/>
              <a:chOff x="2880" y="1104"/>
              <a:chExt cx="367" cy="336"/>
            </a:xfrm>
          </p:grpSpPr>
          <p:sp>
            <p:nvSpPr>
              <p:cNvPr id="103" name="Oval 18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04" name="Text Box 188"/>
              <p:cNvSpPr txBox="1">
                <a:spLocks noChangeArrowheads="1"/>
              </p:cNvSpPr>
              <p:nvPr/>
            </p:nvSpPr>
            <p:spPr bwMode="auto">
              <a:xfrm>
                <a:off x="2928" y="1104"/>
                <a:ext cx="319" cy="29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C</a:t>
                </a:r>
              </a:p>
            </p:txBody>
          </p:sp>
        </p:grpSp>
        <p:grpSp>
          <p:nvGrpSpPr>
            <p:cNvPr id="100" name="Group 189"/>
            <p:cNvGrpSpPr>
              <a:grpSpLocks/>
            </p:cNvGrpSpPr>
            <p:nvPr/>
          </p:nvGrpSpPr>
          <p:grpSpPr bwMode="auto">
            <a:xfrm>
              <a:off x="4653" y="3358"/>
              <a:ext cx="384" cy="305"/>
              <a:chOff x="2880" y="1104"/>
              <a:chExt cx="367" cy="336"/>
            </a:xfrm>
          </p:grpSpPr>
          <p:sp>
            <p:nvSpPr>
              <p:cNvPr id="101" name="Oval 19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02" name="Text Box 191"/>
              <p:cNvSpPr txBox="1">
                <a:spLocks noChangeArrowheads="1"/>
              </p:cNvSpPr>
              <p:nvPr/>
            </p:nvSpPr>
            <p:spPr bwMode="auto">
              <a:xfrm>
                <a:off x="2928" y="1104"/>
                <a:ext cx="319" cy="29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D</a:t>
                </a:r>
              </a:p>
            </p:txBody>
          </p:sp>
        </p:grpSp>
      </p:grpSp>
      <p:grpSp>
        <p:nvGrpSpPr>
          <p:cNvPr id="115" name="Group 204"/>
          <p:cNvGrpSpPr>
            <a:grpSpLocks/>
          </p:cNvGrpSpPr>
          <p:nvPr/>
        </p:nvGrpSpPr>
        <p:grpSpPr bwMode="auto">
          <a:xfrm>
            <a:off x="1249082" y="4231537"/>
            <a:ext cx="2489719" cy="1691229"/>
            <a:chOff x="389" y="2296"/>
            <a:chExt cx="1934" cy="1484"/>
          </a:xfrm>
        </p:grpSpPr>
        <p:grpSp>
          <p:nvGrpSpPr>
            <p:cNvPr id="116" name="Group 69"/>
            <p:cNvGrpSpPr>
              <a:grpSpLocks/>
            </p:cNvGrpSpPr>
            <p:nvPr/>
          </p:nvGrpSpPr>
          <p:grpSpPr bwMode="auto">
            <a:xfrm>
              <a:off x="1878" y="2640"/>
              <a:ext cx="384" cy="329"/>
              <a:chOff x="2880" y="1104"/>
              <a:chExt cx="367" cy="336"/>
            </a:xfrm>
          </p:grpSpPr>
          <p:sp>
            <p:nvSpPr>
              <p:cNvPr id="145" name="Oval 7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46" name="Text Box 71"/>
              <p:cNvSpPr txBox="1">
                <a:spLocks noChangeArrowheads="1"/>
              </p:cNvSpPr>
              <p:nvPr/>
            </p:nvSpPr>
            <p:spPr bwMode="auto">
              <a:xfrm>
                <a:off x="2928" y="1104"/>
                <a:ext cx="319" cy="288"/>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C</a:t>
                </a:r>
              </a:p>
            </p:txBody>
          </p:sp>
        </p:grpSp>
        <p:grpSp>
          <p:nvGrpSpPr>
            <p:cNvPr id="117" name="Group 78"/>
            <p:cNvGrpSpPr>
              <a:grpSpLocks/>
            </p:cNvGrpSpPr>
            <p:nvPr/>
          </p:nvGrpSpPr>
          <p:grpSpPr bwMode="auto">
            <a:xfrm>
              <a:off x="603" y="3015"/>
              <a:ext cx="384" cy="305"/>
              <a:chOff x="2880" y="1104"/>
              <a:chExt cx="367" cy="336"/>
            </a:xfrm>
          </p:grpSpPr>
          <p:sp>
            <p:nvSpPr>
              <p:cNvPr id="143" name="Oval 7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44" name="Text Box 80"/>
              <p:cNvSpPr txBox="1">
                <a:spLocks noChangeArrowheads="1"/>
              </p:cNvSpPr>
              <p:nvPr/>
            </p:nvSpPr>
            <p:spPr bwMode="auto">
              <a:xfrm>
                <a:off x="2928" y="1104"/>
                <a:ext cx="319" cy="31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D</a:t>
                </a:r>
              </a:p>
            </p:txBody>
          </p:sp>
        </p:grpSp>
        <p:sp>
          <p:nvSpPr>
            <p:cNvPr id="118" name="Line 81"/>
            <p:cNvSpPr>
              <a:spLocks noChangeShapeType="1"/>
            </p:cNvSpPr>
            <p:nvPr/>
          </p:nvSpPr>
          <p:spPr bwMode="auto">
            <a:xfrm flipH="1">
              <a:off x="1079" y="2432"/>
              <a:ext cx="324" cy="30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9" name="Line 82"/>
            <p:cNvSpPr>
              <a:spLocks noChangeShapeType="1"/>
            </p:cNvSpPr>
            <p:nvPr/>
          </p:nvSpPr>
          <p:spPr bwMode="auto">
            <a:xfrm flipH="1">
              <a:off x="822" y="2831"/>
              <a:ext cx="144" cy="192"/>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20" name="Line 83"/>
            <p:cNvSpPr>
              <a:spLocks noChangeShapeType="1"/>
            </p:cNvSpPr>
            <p:nvPr/>
          </p:nvSpPr>
          <p:spPr bwMode="auto">
            <a:xfrm>
              <a:off x="1584" y="2400"/>
              <a:ext cx="336" cy="288"/>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21" name="Line 84"/>
            <p:cNvSpPr>
              <a:spLocks noChangeShapeType="1"/>
            </p:cNvSpPr>
            <p:nvPr/>
          </p:nvSpPr>
          <p:spPr bwMode="auto">
            <a:xfrm flipH="1">
              <a:off x="1104" y="3264"/>
              <a:ext cx="240" cy="240"/>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22" name="Line 85"/>
            <p:cNvSpPr>
              <a:spLocks noChangeShapeType="1"/>
            </p:cNvSpPr>
            <p:nvPr/>
          </p:nvSpPr>
          <p:spPr bwMode="auto">
            <a:xfrm>
              <a:off x="1152" y="2880"/>
              <a:ext cx="144" cy="144"/>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23" name="Line 89"/>
            <p:cNvSpPr>
              <a:spLocks noChangeShapeType="1"/>
            </p:cNvSpPr>
            <p:nvPr/>
          </p:nvSpPr>
          <p:spPr bwMode="auto">
            <a:xfrm>
              <a:off x="1487" y="3249"/>
              <a:ext cx="226" cy="257"/>
            </a:xfrm>
            <a:prstGeom prst="line">
              <a:avLst/>
            </a:prstGeom>
            <a:no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24" name="Text Box 90"/>
            <p:cNvSpPr txBox="1">
              <a:spLocks noChangeArrowheads="1"/>
            </p:cNvSpPr>
            <p:nvPr/>
          </p:nvSpPr>
          <p:spPr bwMode="auto">
            <a:xfrm>
              <a:off x="389" y="3067"/>
              <a:ext cx="214" cy="282"/>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隶书" pitchFamily="49" charset="-122"/>
                  <a:ea typeface="隶书" pitchFamily="49" charset="-122"/>
                </a:rPr>
                <a:t>4</a:t>
              </a:r>
            </a:p>
          </p:txBody>
        </p:sp>
        <p:sp>
          <p:nvSpPr>
            <p:cNvPr id="125" name="Text Box 91"/>
            <p:cNvSpPr txBox="1">
              <a:spLocks noChangeArrowheads="1"/>
            </p:cNvSpPr>
            <p:nvPr/>
          </p:nvSpPr>
          <p:spPr bwMode="auto">
            <a:xfrm>
              <a:off x="855" y="3456"/>
              <a:ext cx="214" cy="282"/>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隶书" pitchFamily="49" charset="-122"/>
                  <a:ea typeface="隶书" pitchFamily="49" charset="-122"/>
                </a:rPr>
                <a:t>7</a:t>
              </a:r>
            </a:p>
          </p:txBody>
        </p:sp>
        <p:sp>
          <p:nvSpPr>
            <p:cNvPr id="126" name="Text Box 92"/>
            <p:cNvSpPr txBox="1">
              <a:spLocks noChangeArrowheads="1"/>
            </p:cNvSpPr>
            <p:nvPr/>
          </p:nvSpPr>
          <p:spPr bwMode="auto">
            <a:xfrm>
              <a:off x="1479" y="3408"/>
              <a:ext cx="214" cy="282"/>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隶书" pitchFamily="49" charset="-122"/>
                  <a:ea typeface="隶书" pitchFamily="49" charset="-122"/>
                </a:rPr>
                <a:t>5</a:t>
              </a:r>
            </a:p>
          </p:txBody>
        </p:sp>
        <p:sp>
          <p:nvSpPr>
            <p:cNvPr id="127" name="Text Box 93"/>
            <p:cNvSpPr txBox="1">
              <a:spLocks noChangeArrowheads="1"/>
            </p:cNvSpPr>
            <p:nvPr/>
          </p:nvSpPr>
          <p:spPr bwMode="auto">
            <a:xfrm>
              <a:off x="2109" y="2976"/>
              <a:ext cx="214" cy="282"/>
            </a:xfrm>
            <a:prstGeom prst="rect">
              <a:avLst/>
            </a:prstGeom>
            <a:noFill/>
            <a:ln w="12700" cap="rnd">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隶书" pitchFamily="49" charset="-122"/>
                  <a:ea typeface="隶书" pitchFamily="49" charset="-122"/>
                </a:rPr>
                <a:t>2</a:t>
              </a:r>
            </a:p>
          </p:txBody>
        </p:sp>
        <p:grpSp>
          <p:nvGrpSpPr>
            <p:cNvPr id="128" name="Group 174"/>
            <p:cNvGrpSpPr>
              <a:grpSpLocks/>
            </p:cNvGrpSpPr>
            <p:nvPr/>
          </p:nvGrpSpPr>
          <p:grpSpPr bwMode="auto">
            <a:xfrm>
              <a:off x="1351" y="2296"/>
              <a:ext cx="384" cy="305"/>
              <a:chOff x="2880" y="1104"/>
              <a:chExt cx="367" cy="336"/>
            </a:xfrm>
          </p:grpSpPr>
          <p:sp>
            <p:nvSpPr>
              <p:cNvPr id="141" name="Oval 17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42" name="Text Box 176"/>
              <p:cNvSpPr txBox="1">
                <a:spLocks noChangeArrowheads="1"/>
              </p:cNvSpPr>
              <p:nvPr/>
            </p:nvSpPr>
            <p:spPr bwMode="auto">
              <a:xfrm>
                <a:off x="2928" y="1104"/>
                <a:ext cx="319" cy="31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endPar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grpSp>
        <p:grpSp>
          <p:nvGrpSpPr>
            <p:cNvPr id="129" name="Group 192"/>
            <p:cNvGrpSpPr>
              <a:grpSpLocks/>
            </p:cNvGrpSpPr>
            <p:nvPr/>
          </p:nvGrpSpPr>
          <p:grpSpPr bwMode="auto">
            <a:xfrm>
              <a:off x="852" y="2659"/>
              <a:ext cx="384" cy="305"/>
              <a:chOff x="2880" y="1104"/>
              <a:chExt cx="367" cy="336"/>
            </a:xfrm>
          </p:grpSpPr>
          <p:sp>
            <p:nvSpPr>
              <p:cNvPr id="139" name="Oval 19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40" name="Text Box 194"/>
              <p:cNvSpPr txBox="1">
                <a:spLocks noChangeArrowheads="1"/>
              </p:cNvSpPr>
              <p:nvPr/>
            </p:nvSpPr>
            <p:spPr bwMode="auto">
              <a:xfrm>
                <a:off x="2928" y="1104"/>
                <a:ext cx="319" cy="31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endPar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grpSp>
        <p:grpSp>
          <p:nvGrpSpPr>
            <p:cNvPr id="130" name="Group 195"/>
            <p:cNvGrpSpPr>
              <a:grpSpLocks/>
            </p:cNvGrpSpPr>
            <p:nvPr/>
          </p:nvGrpSpPr>
          <p:grpSpPr bwMode="auto">
            <a:xfrm>
              <a:off x="1215" y="2976"/>
              <a:ext cx="384" cy="305"/>
              <a:chOff x="2880" y="1104"/>
              <a:chExt cx="367" cy="336"/>
            </a:xfrm>
          </p:grpSpPr>
          <p:sp>
            <p:nvSpPr>
              <p:cNvPr id="137" name="Oval 19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38" name="Text Box 197"/>
              <p:cNvSpPr txBox="1">
                <a:spLocks noChangeArrowheads="1"/>
              </p:cNvSpPr>
              <p:nvPr/>
            </p:nvSpPr>
            <p:spPr bwMode="auto">
              <a:xfrm>
                <a:off x="2928" y="1104"/>
                <a:ext cx="319" cy="31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endPar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grpSp>
        <p:grpSp>
          <p:nvGrpSpPr>
            <p:cNvPr id="131" name="Group 198"/>
            <p:cNvGrpSpPr>
              <a:grpSpLocks/>
            </p:cNvGrpSpPr>
            <p:nvPr/>
          </p:nvGrpSpPr>
          <p:grpSpPr bwMode="auto">
            <a:xfrm>
              <a:off x="988" y="3475"/>
              <a:ext cx="384" cy="305"/>
              <a:chOff x="2880" y="1104"/>
              <a:chExt cx="367" cy="336"/>
            </a:xfrm>
          </p:grpSpPr>
          <p:sp>
            <p:nvSpPr>
              <p:cNvPr id="135" name="Oval 19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36" name="Text Box 200"/>
              <p:cNvSpPr txBox="1">
                <a:spLocks noChangeArrowheads="1"/>
              </p:cNvSpPr>
              <p:nvPr/>
            </p:nvSpPr>
            <p:spPr bwMode="auto">
              <a:xfrm>
                <a:off x="2928" y="1104"/>
                <a:ext cx="319" cy="31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A</a:t>
                </a:r>
              </a:p>
            </p:txBody>
          </p:sp>
        </p:grpSp>
        <p:grpSp>
          <p:nvGrpSpPr>
            <p:cNvPr id="132" name="Group 201"/>
            <p:cNvGrpSpPr>
              <a:grpSpLocks/>
            </p:cNvGrpSpPr>
            <p:nvPr/>
          </p:nvGrpSpPr>
          <p:grpSpPr bwMode="auto">
            <a:xfrm>
              <a:off x="1623" y="3475"/>
              <a:ext cx="384" cy="305"/>
              <a:chOff x="2880" y="1104"/>
              <a:chExt cx="367" cy="336"/>
            </a:xfrm>
          </p:grpSpPr>
          <p:sp>
            <p:nvSpPr>
              <p:cNvPr id="133" name="Oval 20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34" name="Text Box 203"/>
              <p:cNvSpPr txBox="1">
                <a:spLocks noChangeArrowheads="1"/>
              </p:cNvSpPr>
              <p:nvPr/>
            </p:nvSpPr>
            <p:spPr bwMode="auto">
              <a:xfrm>
                <a:off x="2928" y="1104"/>
                <a:ext cx="319" cy="311"/>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B</a:t>
                </a:r>
              </a:p>
            </p:txBody>
          </p:sp>
        </p:grpSp>
      </p:grpSp>
      <p:sp>
        <p:nvSpPr>
          <p:cNvPr id="148" name="Text Box 130"/>
          <p:cNvSpPr txBox="1">
            <a:spLocks noChangeArrowheads="1"/>
          </p:cNvSpPr>
          <p:nvPr/>
        </p:nvSpPr>
        <p:spPr bwMode="auto">
          <a:xfrm>
            <a:off x="5562600" y="3577863"/>
            <a:ext cx="3276600" cy="400110"/>
          </a:xfrm>
          <a:prstGeom prst="rect">
            <a:avLst/>
          </a:prstGeom>
          <a:noFill/>
          <a:ln w="12700" cap="rnd">
            <a:noFill/>
            <a:miter lim="800000"/>
            <a:headEnd/>
            <a:tailEnd/>
          </a:ln>
        </p:spPr>
        <p:txBody>
          <a:bodyPr wrap="square">
            <a:spAutoFit/>
          </a:bodyPr>
          <a:lstStyle/>
          <a:p>
            <a:pPr eaLnBrk="0" fontAlgn="base" hangingPunct="0">
              <a:spcBef>
                <a:spcPct val="0"/>
              </a:spcBef>
              <a:spcAft>
                <a:spcPct val="0"/>
              </a:spcAft>
            </a:pPr>
            <a:r>
              <a:rPr kumimoji="1" lang="en-US" altLang="zh-CN" sz="2000" b="1" dirty="0">
                <a:solidFill>
                  <a:srgbClr val="000000"/>
                </a:solidFill>
                <a:latin typeface="隶书" pitchFamily="49" charset="-122"/>
                <a:ea typeface="隶书" pitchFamily="49" charset="-122"/>
              </a:rPr>
              <a:t>WPL=7*1+5*2+2*3+4*3=35</a:t>
            </a:r>
          </a:p>
        </p:txBody>
      </p:sp>
    </p:spTree>
    <p:extLst>
      <p:ext uri="{BB962C8B-B14F-4D97-AF65-F5344CB8AC3E}">
        <p14:creationId xmlns:p14="http://schemas.microsoft.com/office/powerpoint/2010/main" val="1542397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1" grpId="0"/>
      <p:bldP spid="148"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树的相关概念</a:t>
            </a:r>
          </a:p>
        </p:txBody>
      </p:sp>
      <p:sp>
        <p:nvSpPr>
          <p:cNvPr id="4" name="日期占位符 3"/>
          <p:cNvSpPr>
            <a:spLocks noGrp="1"/>
          </p:cNvSpPr>
          <p:nvPr>
            <p:ph type="dt" sz="half" idx="10"/>
          </p:nvPr>
        </p:nvSpPr>
        <p:spPr/>
        <p:txBody>
          <a:bodyPr/>
          <a:lstStyle/>
          <a:p>
            <a:fld id="{F0A3BDC6-C166-4AD8-A8B9-92044777FCFA}"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167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13" name="Group 41"/>
          <p:cNvGrpSpPr>
            <a:grpSpLocks/>
          </p:cNvGrpSpPr>
          <p:nvPr/>
        </p:nvGrpSpPr>
        <p:grpSpPr bwMode="auto">
          <a:xfrm>
            <a:off x="152400" y="3294062"/>
            <a:ext cx="2693987" cy="1971675"/>
            <a:chOff x="398" y="663"/>
            <a:chExt cx="1697" cy="1242"/>
          </a:xfrm>
        </p:grpSpPr>
        <p:sp>
          <p:nvSpPr>
            <p:cNvPr id="14" name="Oval 7"/>
            <p:cNvSpPr>
              <a:spLocks noChangeArrowheads="1"/>
            </p:cNvSpPr>
            <p:nvPr/>
          </p:nvSpPr>
          <p:spPr bwMode="auto">
            <a:xfrm>
              <a:off x="1078" y="663"/>
              <a:ext cx="244" cy="204"/>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15" name="Oval 8"/>
            <p:cNvSpPr>
              <a:spLocks noChangeArrowheads="1"/>
            </p:cNvSpPr>
            <p:nvPr/>
          </p:nvSpPr>
          <p:spPr bwMode="auto">
            <a:xfrm>
              <a:off x="715" y="993"/>
              <a:ext cx="243" cy="203"/>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16" name="Oval 9"/>
            <p:cNvSpPr>
              <a:spLocks noChangeArrowheads="1"/>
            </p:cNvSpPr>
            <p:nvPr/>
          </p:nvSpPr>
          <p:spPr bwMode="auto">
            <a:xfrm>
              <a:off x="1407" y="993"/>
              <a:ext cx="244" cy="203"/>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17" name="Oval 10"/>
            <p:cNvSpPr>
              <a:spLocks noChangeArrowheads="1"/>
            </p:cNvSpPr>
            <p:nvPr/>
          </p:nvSpPr>
          <p:spPr bwMode="auto">
            <a:xfrm>
              <a:off x="398" y="1475"/>
              <a:ext cx="243" cy="204"/>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19" name="Oval 11"/>
            <p:cNvSpPr>
              <a:spLocks noChangeArrowheads="1"/>
            </p:cNvSpPr>
            <p:nvPr/>
          </p:nvSpPr>
          <p:spPr bwMode="auto">
            <a:xfrm>
              <a:off x="1308" y="1475"/>
              <a:ext cx="243" cy="204"/>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20" name="Oval 12"/>
            <p:cNvSpPr>
              <a:spLocks noChangeArrowheads="1"/>
            </p:cNvSpPr>
            <p:nvPr/>
          </p:nvSpPr>
          <p:spPr bwMode="auto">
            <a:xfrm>
              <a:off x="1851" y="1484"/>
              <a:ext cx="244" cy="204"/>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21" name="Oval 13"/>
            <p:cNvSpPr>
              <a:spLocks noChangeArrowheads="1"/>
            </p:cNvSpPr>
            <p:nvPr/>
          </p:nvSpPr>
          <p:spPr bwMode="auto">
            <a:xfrm>
              <a:off x="943" y="1480"/>
              <a:ext cx="244" cy="203"/>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22" name="Line 14"/>
            <p:cNvSpPr>
              <a:spLocks noChangeShapeType="1"/>
            </p:cNvSpPr>
            <p:nvPr/>
          </p:nvSpPr>
          <p:spPr bwMode="auto">
            <a:xfrm flipH="1">
              <a:off x="892" y="858"/>
              <a:ext cx="258" cy="144"/>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3" name="Line 15"/>
            <p:cNvSpPr>
              <a:spLocks noChangeShapeType="1"/>
            </p:cNvSpPr>
            <p:nvPr/>
          </p:nvSpPr>
          <p:spPr bwMode="auto">
            <a:xfrm>
              <a:off x="1236" y="858"/>
              <a:ext cx="257" cy="144"/>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4" name="Line 16"/>
            <p:cNvSpPr>
              <a:spLocks noChangeShapeType="1"/>
            </p:cNvSpPr>
            <p:nvPr/>
          </p:nvSpPr>
          <p:spPr bwMode="auto">
            <a:xfrm flipH="1">
              <a:off x="548" y="1196"/>
              <a:ext cx="258" cy="288"/>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5" name="Line 17"/>
            <p:cNvSpPr>
              <a:spLocks noChangeShapeType="1"/>
            </p:cNvSpPr>
            <p:nvPr/>
          </p:nvSpPr>
          <p:spPr bwMode="auto">
            <a:xfrm flipH="1">
              <a:off x="1407" y="1196"/>
              <a:ext cx="86" cy="288"/>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6" name="Line 18"/>
            <p:cNvSpPr>
              <a:spLocks noChangeShapeType="1"/>
            </p:cNvSpPr>
            <p:nvPr/>
          </p:nvSpPr>
          <p:spPr bwMode="auto">
            <a:xfrm>
              <a:off x="1579" y="1196"/>
              <a:ext cx="344" cy="288"/>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7" name="Line 19"/>
            <p:cNvSpPr>
              <a:spLocks noChangeShapeType="1"/>
            </p:cNvSpPr>
            <p:nvPr/>
          </p:nvSpPr>
          <p:spPr bwMode="auto">
            <a:xfrm>
              <a:off x="864" y="1208"/>
              <a:ext cx="172" cy="288"/>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8" name="Rectangle 20"/>
            <p:cNvSpPr>
              <a:spLocks noChangeArrowheads="1"/>
            </p:cNvSpPr>
            <p:nvPr/>
          </p:nvSpPr>
          <p:spPr bwMode="auto">
            <a:xfrm>
              <a:off x="398" y="1653"/>
              <a:ext cx="205" cy="252"/>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2</a:t>
              </a:r>
            </a:p>
          </p:txBody>
        </p:sp>
        <p:sp>
          <p:nvSpPr>
            <p:cNvPr id="29" name="Rectangle 21"/>
            <p:cNvSpPr>
              <a:spLocks noChangeArrowheads="1"/>
            </p:cNvSpPr>
            <p:nvPr/>
          </p:nvSpPr>
          <p:spPr bwMode="auto">
            <a:xfrm>
              <a:off x="943" y="1653"/>
              <a:ext cx="205" cy="252"/>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4</a:t>
              </a:r>
            </a:p>
          </p:txBody>
        </p:sp>
        <p:sp>
          <p:nvSpPr>
            <p:cNvPr id="30" name="Rectangle 22"/>
            <p:cNvSpPr>
              <a:spLocks noChangeArrowheads="1"/>
            </p:cNvSpPr>
            <p:nvPr/>
          </p:nvSpPr>
          <p:spPr bwMode="auto">
            <a:xfrm>
              <a:off x="1306" y="1653"/>
              <a:ext cx="205" cy="252"/>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5</a:t>
              </a:r>
            </a:p>
          </p:txBody>
        </p:sp>
        <p:sp>
          <p:nvSpPr>
            <p:cNvPr id="31" name="Rectangle 23"/>
            <p:cNvSpPr>
              <a:spLocks noChangeArrowheads="1"/>
            </p:cNvSpPr>
            <p:nvPr/>
          </p:nvSpPr>
          <p:spPr bwMode="auto">
            <a:xfrm>
              <a:off x="1867" y="1653"/>
              <a:ext cx="205" cy="252"/>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7</a:t>
              </a:r>
            </a:p>
          </p:txBody>
        </p:sp>
      </p:grpSp>
      <p:grpSp>
        <p:nvGrpSpPr>
          <p:cNvPr id="32" name="Group 67"/>
          <p:cNvGrpSpPr>
            <a:grpSpLocks/>
          </p:cNvGrpSpPr>
          <p:nvPr/>
        </p:nvGrpSpPr>
        <p:grpSpPr bwMode="auto">
          <a:xfrm>
            <a:off x="3276600" y="3233737"/>
            <a:ext cx="2679700" cy="2690813"/>
            <a:chOff x="2485" y="663"/>
            <a:chExt cx="1688" cy="1695"/>
          </a:xfrm>
        </p:grpSpPr>
        <p:sp>
          <p:nvSpPr>
            <p:cNvPr id="33" name="Oval 24"/>
            <p:cNvSpPr>
              <a:spLocks noChangeArrowheads="1"/>
            </p:cNvSpPr>
            <p:nvPr/>
          </p:nvSpPr>
          <p:spPr bwMode="auto">
            <a:xfrm>
              <a:off x="2875" y="663"/>
              <a:ext cx="244" cy="204"/>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34" name="Oval 25"/>
            <p:cNvSpPr>
              <a:spLocks noChangeArrowheads="1"/>
            </p:cNvSpPr>
            <p:nvPr/>
          </p:nvSpPr>
          <p:spPr bwMode="auto">
            <a:xfrm>
              <a:off x="2512" y="993"/>
              <a:ext cx="243" cy="203"/>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35" name="Oval 26"/>
            <p:cNvSpPr>
              <a:spLocks noChangeArrowheads="1"/>
            </p:cNvSpPr>
            <p:nvPr/>
          </p:nvSpPr>
          <p:spPr bwMode="auto">
            <a:xfrm>
              <a:off x="3204" y="993"/>
              <a:ext cx="244" cy="203"/>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36" name="Oval 28"/>
            <p:cNvSpPr>
              <a:spLocks noChangeArrowheads="1"/>
            </p:cNvSpPr>
            <p:nvPr/>
          </p:nvSpPr>
          <p:spPr bwMode="auto">
            <a:xfrm>
              <a:off x="2939" y="1434"/>
              <a:ext cx="243" cy="204"/>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37" name="Oval 29"/>
            <p:cNvSpPr>
              <a:spLocks noChangeArrowheads="1"/>
            </p:cNvSpPr>
            <p:nvPr/>
          </p:nvSpPr>
          <p:spPr bwMode="auto">
            <a:xfrm>
              <a:off x="3648" y="1484"/>
              <a:ext cx="244" cy="204"/>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38" name="Oval 30"/>
            <p:cNvSpPr>
              <a:spLocks noChangeArrowheads="1"/>
            </p:cNvSpPr>
            <p:nvPr/>
          </p:nvSpPr>
          <p:spPr bwMode="auto">
            <a:xfrm>
              <a:off x="3929" y="1930"/>
              <a:ext cx="244" cy="203"/>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39" name="Line 31"/>
            <p:cNvSpPr>
              <a:spLocks noChangeShapeType="1"/>
            </p:cNvSpPr>
            <p:nvPr/>
          </p:nvSpPr>
          <p:spPr bwMode="auto">
            <a:xfrm flipH="1">
              <a:off x="2689" y="858"/>
              <a:ext cx="258" cy="144"/>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40" name="Line 32"/>
            <p:cNvSpPr>
              <a:spLocks noChangeShapeType="1"/>
            </p:cNvSpPr>
            <p:nvPr/>
          </p:nvSpPr>
          <p:spPr bwMode="auto">
            <a:xfrm>
              <a:off x="3033" y="858"/>
              <a:ext cx="257" cy="144"/>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41" name="Line 34"/>
            <p:cNvSpPr>
              <a:spLocks noChangeShapeType="1"/>
            </p:cNvSpPr>
            <p:nvPr/>
          </p:nvSpPr>
          <p:spPr bwMode="auto">
            <a:xfrm flipH="1">
              <a:off x="3075" y="1196"/>
              <a:ext cx="215" cy="238"/>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42" name="Line 35"/>
            <p:cNvSpPr>
              <a:spLocks noChangeShapeType="1"/>
            </p:cNvSpPr>
            <p:nvPr/>
          </p:nvSpPr>
          <p:spPr bwMode="auto">
            <a:xfrm>
              <a:off x="3376" y="1196"/>
              <a:ext cx="344" cy="288"/>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43" name="Line 36"/>
            <p:cNvSpPr>
              <a:spLocks noChangeShapeType="1"/>
            </p:cNvSpPr>
            <p:nvPr/>
          </p:nvSpPr>
          <p:spPr bwMode="auto">
            <a:xfrm>
              <a:off x="3850" y="1658"/>
              <a:ext cx="172" cy="288"/>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44" name="Rectangle 37"/>
            <p:cNvSpPr>
              <a:spLocks noChangeArrowheads="1"/>
            </p:cNvSpPr>
            <p:nvPr/>
          </p:nvSpPr>
          <p:spPr bwMode="auto">
            <a:xfrm>
              <a:off x="2485" y="1154"/>
              <a:ext cx="205" cy="252"/>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2</a:t>
              </a:r>
            </a:p>
          </p:txBody>
        </p:sp>
        <p:sp>
          <p:nvSpPr>
            <p:cNvPr id="45" name="Rectangle 38"/>
            <p:cNvSpPr>
              <a:spLocks noChangeArrowheads="1"/>
            </p:cNvSpPr>
            <p:nvPr/>
          </p:nvSpPr>
          <p:spPr bwMode="auto">
            <a:xfrm>
              <a:off x="2939" y="1607"/>
              <a:ext cx="205" cy="252"/>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4</a:t>
              </a:r>
            </a:p>
          </p:txBody>
        </p:sp>
        <p:sp>
          <p:nvSpPr>
            <p:cNvPr id="46" name="Rectangle 40"/>
            <p:cNvSpPr>
              <a:spLocks noChangeArrowheads="1"/>
            </p:cNvSpPr>
            <p:nvPr/>
          </p:nvSpPr>
          <p:spPr bwMode="auto">
            <a:xfrm>
              <a:off x="3936" y="2106"/>
              <a:ext cx="205" cy="252"/>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7</a:t>
              </a:r>
            </a:p>
          </p:txBody>
        </p:sp>
        <p:sp>
          <p:nvSpPr>
            <p:cNvPr id="47" name="Oval 42"/>
            <p:cNvSpPr>
              <a:spLocks noChangeArrowheads="1"/>
            </p:cNvSpPr>
            <p:nvPr/>
          </p:nvSpPr>
          <p:spPr bwMode="auto">
            <a:xfrm>
              <a:off x="3256" y="1933"/>
              <a:ext cx="243" cy="203"/>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48" name="Line 43"/>
            <p:cNvSpPr>
              <a:spLocks noChangeShapeType="1"/>
            </p:cNvSpPr>
            <p:nvPr/>
          </p:nvSpPr>
          <p:spPr bwMode="auto">
            <a:xfrm flipH="1">
              <a:off x="3438" y="1662"/>
              <a:ext cx="253" cy="271"/>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49" name="Rectangle 44"/>
            <p:cNvSpPr>
              <a:spLocks noChangeArrowheads="1"/>
            </p:cNvSpPr>
            <p:nvPr/>
          </p:nvSpPr>
          <p:spPr bwMode="auto">
            <a:xfrm>
              <a:off x="3256" y="2106"/>
              <a:ext cx="205" cy="252"/>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5</a:t>
              </a:r>
            </a:p>
          </p:txBody>
        </p:sp>
      </p:grpSp>
      <p:grpSp>
        <p:nvGrpSpPr>
          <p:cNvPr id="50" name="Group 62"/>
          <p:cNvGrpSpPr>
            <a:grpSpLocks/>
          </p:cNvGrpSpPr>
          <p:nvPr/>
        </p:nvGrpSpPr>
        <p:grpSpPr bwMode="auto">
          <a:xfrm>
            <a:off x="6156325" y="3233737"/>
            <a:ext cx="2679700" cy="2690813"/>
            <a:chOff x="4299" y="754"/>
            <a:chExt cx="1688" cy="1695"/>
          </a:xfrm>
        </p:grpSpPr>
        <p:sp>
          <p:nvSpPr>
            <p:cNvPr id="51" name="Oval 45"/>
            <p:cNvSpPr>
              <a:spLocks noChangeArrowheads="1"/>
            </p:cNvSpPr>
            <p:nvPr/>
          </p:nvSpPr>
          <p:spPr bwMode="auto">
            <a:xfrm>
              <a:off x="4689" y="754"/>
              <a:ext cx="244" cy="204"/>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52" name="Oval 46"/>
            <p:cNvSpPr>
              <a:spLocks noChangeArrowheads="1"/>
            </p:cNvSpPr>
            <p:nvPr/>
          </p:nvSpPr>
          <p:spPr bwMode="auto">
            <a:xfrm>
              <a:off x="4326" y="1084"/>
              <a:ext cx="243" cy="203"/>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53" name="Oval 47"/>
            <p:cNvSpPr>
              <a:spLocks noChangeArrowheads="1"/>
            </p:cNvSpPr>
            <p:nvPr/>
          </p:nvSpPr>
          <p:spPr bwMode="auto">
            <a:xfrm>
              <a:off x="5018" y="1084"/>
              <a:ext cx="244" cy="203"/>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54" name="Oval 48"/>
            <p:cNvSpPr>
              <a:spLocks noChangeArrowheads="1"/>
            </p:cNvSpPr>
            <p:nvPr/>
          </p:nvSpPr>
          <p:spPr bwMode="auto">
            <a:xfrm>
              <a:off x="4753" y="1525"/>
              <a:ext cx="243" cy="204"/>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55" name="Oval 49"/>
            <p:cNvSpPr>
              <a:spLocks noChangeArrowheads="1"/>
            </p:cNvSpPr>
            <p:nvPr/>
          </p:nvSpPr>
          <p:spPr bwMode="auto">
            <a:xfrm>
              <a:off x="5462" y="1575"/>
              <a:ext cx="244" cy="204"/>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56" name="Oval 50"/>
            <p:cNvSpPr>
              <a:spLocks noChangeArrowheads="1"/>
            </p:cNvSpPr>
            <p:nvPr/>
          </p:nvSpPr>
          <p:spPr bwMode="auto">
            <a:xfrm>
              <a:off x="5743" y="2021"/>
              <a:ext cx="244" cy="203"/>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57" name="Line 51"/>
            <p:cNvSpPr>
              <a:spLocks noChangeShapeType="1"/>
            </p:cNvSpPr>
            <p:nvPr/>
          </p:nvSpPr>
          <p:spPr bwMode="auto">
            <a:xfrm flipH="1">
              <a:off x="4503" y="949"/>
              <a:ext cx="258" cy="144"/>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58" name="Line 52"/>
            <p:cNvSpPr>
              <a:spLocks noChangeShapeType="1"/>
            </p:cNvSpPr>
            <p:nvPr/>
          </p:nvSpPr>
          <p:spPr bwMode="auto">
            <a:xfrm>
              <a:off x="4847" y="949"/>
              <a:ext cx="257" cy="144"/>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59" name="Line 53"/>
            <p:cNvSpPr>
              <a:spLocks noChangeShapeType="1"/>
            </p:cNvSpPr>
            <p:nvPr/>
          </p:nvSpPr>
          <p:spPr bwMode="auto">
            <a:xfrm flipH="1">
              <a:off x="4889" y="1287"/>
              <a:ext cx="215" cy="238"/>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60" name="Line 54"/>
            <p:cNvSpPr>
              <a:spLocks noChangeShapeType="1"/>
            </p:cNvSpPr>
            <p:nvPr/>
          </p:nvSpPr>
          <p:spPr bwMode="auto">
            <a:xfrm>
              <a:off x="5190" y="1287"/>
              <a:ext cx="344" cy="288"/>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61" name="Line 55"/>
            <p:cNvSpPr>
              <a:spLocks noChangeShapeType="1"/>
            </p:cNvSpPr>
            <p:nvPr/>
          </p:nvSpPr>
          <p:spPr bwMode="auto">
            <a:xfrm>
              <a:off x="5664" y="1749"/>
              <a:ext cx="172" cy="288"/>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62" name="Rectangle 56"/>
            <p:cNvSpPr>
              <a:spLocks noChangeArrowheads="1"/>
            </p:cNvSpPr>
            <p:nvPr/>
          </p:nvSpPr>
          <p:spPr bwMode="auto">
            <a:xfrm>
              <a:off x="4299" y="1245"/>
              <a:ext cx="205" cy="252"/>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7</a:t>
              </a:r>
            </a:p>
          </p:txBody>
        </p:sp>
        <p:sp>
          <p:nvSpPr>
            <p:cNvPr id="63" name="Rectangle 57"/>
            <p:cNvSpPr>
              <a:spLocks noChangeArrowheads="1"/>
            </p:cNvSpPr>
            <p:nvPr/>
          </p:nvSpPr>
          <p:spPr bwMode="auto">
            <a:xfrm>
              <a:off x="4753" y="1698"/>
              <a:ext cx="205" cy="252"/>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5</a:t>
              </a:r>
            </a:p>
          </p:txBody>
        </p:sp>
        <p:sp>
          <p:nvSpPr>
            <p:cNvPr id="64" name="Oval 58"/>
            <p:cNvSpPr>
              <a:spLocks noChangeArrowheads="1"/>
            </p:cNvSpPr>
            <p:nvPr/>
          </p:nvSpPr>
          <p:spPr bwMode="auto">
            <a:xfrm>
              <a:off x="5070" y="2024"/>
              <a:ext cx="243" cy="203"/>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FFFF00"/>
                </a:solidFill>
                <a:effectLst/>
                <a:uLnTx/>
                <a:uFillTx/>
                <a:latin typeface="Times New Roman" pitchFamily="18" charset="0"/>
              </a:endParaRPr>
            </a:p>
          </p:txBody>
        </p:sp>
        <p:sp>
          <p:nvSpPr>
            <p:cNvPr id="65" name="Line 59"/>
            <p:cNvSpPr>
              <a:spLocks noChangeShapeType="1"/>
            </p:cNvSpPr>
            <p:nvPr/>
          </p:nvSpPr>
          <p:spPr bwMode="auto">
            <a:xfrm flipH="1">
              <a:off x="5252" y="1753"/>
              <a:ext cx="253" cy="271"/>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66" name="Rectangle 60"/>
            <p:cNvSpPr>
              <a:spLocks noChangeArrowheads="1"/>
            </p:cNvSpPr>
            <p:nvPr/>
          </p:nvSpPr>
          <p:spPr bwMode="auto">
            <a:xfrm>
              <a:off x="5102" y="2197"/>
              <a:ext cx="205" cy="252"/>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2</a:t>
              </a:r>
            </a:p>
          </p:txBody>
        </p:sp>
        <p:sp>
          <p:nvSpPr>
            <p:cNvPr id="67" name="Rectangle 61"/>
            <p:cNvSpPr>
              <a:spLocks noChangeArrowheads="1"/>
            </p:cNvSpPr>
            <p:nvPr/>
          </p:nvSpPr>
          <p:spPr bwMode="auto">
            <a:xfrm>
              <a:off x="5727" y="2193"/>
              <a:ext cx="205" cy="252"/>
            </a:xfrm>
            <a:prstGeom prst="rect">
              <a:avLst/>
            </a:prstGeom>
            <a:noFill/>
            <a:ln w="12700" cap="rnd" algn="ctr">
              <a:noFill/>
              <a:miter lim="800000"/>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rPr>
                <a:t>4</a:t>
              </a:r>
            </a:p>
          </p:txBody>
        </p:sp>
      </p:grpSp>
      <p:sp>
        <p:nvSpPr>
          <p:cNvPr id="68" name="Rectangle 63"/>
          <p:cNvSpPr>
            <a:spLocks noChangeArrowheads="1"/>
          </p:cNvSpPr>
          <p:nvPr/>
        </p:nvSpPr>
        <p:spPr bwMode="auto">
          <a:xfrm>
            <a:off x="632110" y="5873720"/>
            <a:ext cx="1529778" cy="400110"/>
          </a:xfrm>
          <a:prstGeom prst="rect">
            <a:avLst/>
          </a:prstGeom>
          <a:noFill/>
          <a:ln w="12700" cap="rnd" algn="ctr">
            <a:noFill/>
            <a:miter lim="800000"/>
            <a:headEnd/>
            <a:tailEnd/>
          </a:ln>
        </p:spPr>
        <p:txBody>
          <a:bodyPr wrap="none" anchor="ctr">
            <a:spAutoFit/>
          </a:bodyPr>
          <a:lstStyle/>
          <a:p>
            <a:pPr algn="ctr" eaLnBrk="0" fontAlgn="base" hangingPunct="0">
              <a:spcBef>
                <a:spcPct val="0"/>
              </a:spcBef>
              <a:spcAft>
                <a:spcPct val="0"/>
              </a:spcAft>
            </a:pPr>
            <a:r>
              <a:rPr kumimoji="1" lang="en-US" altLang="zh-CN" sz="2000" b="1">
                <a:solidFill>
                  <a:srgbClr val="000000"/>
                </a:solidFill>
                <a:latin typeface="Times New Roman" pitchFamily="18" charset="0"/>
              </a:rPr>
              <a:t>(a) WPL=36</a:t>
            </a:r>
          </a:p>
        </p:txBody>
      </p:sp>
      <p:sp>
        <p:nvSpPr>
          <p:cNvPr id="69" name="Rectangle 64"/>
          <p:cNvSpPr>
            <a:spLocks noChangeArrowheads="1"/>
          </p:cNvSpPr>
          <p:nvPr/>
        </p:nvSpPr>
        <p:spPr bwMode="auto">
          <a:xfrm>
            <a:off x="3687979" y="5884832"/>
            <a:ext cx="1544204" cy="400110"/>
          </a:xfrm>
          <a:prstGeom prst="rect">
            <a:avLst/>
          </a:prstGeom>
          <a:noFill/>
          <a:ln w="12700" cap="rnd" algn="ctr">
            <a:noFill/>
            <a:miter lim="800000"/>
            <a:headEnd/>
            <a:tailEnd/>
          </a:ln>
        </p:spPr>
        <p:txBody>
          <a:bodyPr wrap="none" anchor="ctr">
            <a:spAutoFit/>
          </a:bodyPr>
          <a:lstStyle/>
          <a:p>
            <a:pPr algn="ctr" eaLnBrk="0" fontAlgn="base" hangingPunct="0">
              <a:spcBef>
                <a:spcPct val="0"/>
              </a:spcBef>
              <a:spcAft>
                <a:spcPct val="0"/>
              </a:spcAft>
            </a:pPr>
            <a:r>
              <a:rPr kumimoji="1" lang="en-US" altLang="zh-CN" sz="2000" b="1">
                <a:solidFill>
                  <a:srgbClr val="000000"/>
                </a:solidFill>
                <a:latin typeface="Times New Roman" pitchFamily="18" charset="0"/>
              </a:rPr>
              <a:t>(b) WPL=46</a:t>
            </a:r>
          </a:p>
        </p:txBody>
      </p:sp>
      <p:sp>
        <p:nvSpPr>
          <p:cNvPr id="70" name="Rectangle 66"/>
          <p:cNvSpPr>
            <a:spLocks noChangeArrowheads="1"/>
          </p:cNvSpPr>
          <p:nvPr/>
        </p:nvSpPr>
        <p:spPr bwMode="auto">
          <a:xfrm>
            <a:off x="6921856" y="5956270"/>
            <a:ext cx="1515350" cy="400110"/>
          </a:xfrm>
          <a:prstGeom prst="rect">
            <a:avLst/>
          </a:prstGeom>
          <a:noFill/>
          <a:ln w="12700" cap="rnd" algn="ctr">
            <a:noFill/>
            <a:miter lim="800000"/>
            <a:headEnd/>
            <a:tailEnd/>
          </a:ln>
        </p:spPr>
        <p:txBody>
          <a:bodyPr wrap="none" anchor="ctr">
            <a:spAutoFit/>
          </a:bodyPr>
          <a:lstStyle/>
          <a:p>
            <a:pPr algn="ctr" eaLnBrk="0" fontAlgn="base" hangingPunct="0">
              <a:spcBef>
                <a:spcPct val="0"/>
              </a:spcBef>
              <a:spcAft>
                <a:spcPct val="0"/>
              </a:spcAft>
            </a:pPr>
            <a:r>
              <a:rPr kumimoji="1" lang="en-US" altLang="zh-CN" sz="2000" b="1">
                <a:solidFill>
                  <a:srgbClr val="000000"/>
                </a:solidFill>
                <a:latin typeface="Times New Roman" pitchFamily="18" charset="0"/>
              </a:rPr>
              <a:t>(c) WPL=35</a:t>
            </a:r>
          </a:p>
        </p:txBody>
      </p:sp>
      <p:grpSp>
        <p:nvGrpSpPr>
          <p:cNvPr id="71" name="Group 68"/>
          <p:cNvGrpSpPr>
            <a:grpSpLocks/>
          </p:cNvGrpSpPr>
          <p:nvPr/>
        </p:nvGrpSpPr>
        <p:grpSpPr bwMode="auto">
          <a:xfrm>
            <a:off x="7286627" y="2895600"/>
            <a:ext cx="1627188" cy="825500"/>
            <a:chOff x="5011" y="2003"/>
            <a:chExt cx="1025" cy="520"/>
          </a:xfrm>
        </p:grpSpPr>
        <p:sp>
          <p:nvSpPr>
            <p:cNvPr id="72" name="Line 65"/>
            <p:cNvSpPr>
              <a:spLocks noChangeShapeType="1"/>
            </p:cNvSpPr>
            <p:nvPr/>
          </p:nvSpPr>
          <p:spPr bwMode="auto">
            <a:xfrm flipH="1">
              <a:off x="5161" y="2296"/>
              <a:ext cx="272" cy="227"/>
            </a:xfrm>
            <a:prstGeom prst="line">
              <a:avLst/>
            </a:prstGeom>
            <a:noFill/>
            <a:ln w="3810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73" name="Text Box 67"/>
            <p:cNvSpPr txBox="1">
              <a:spLocks noChangeArrowheads="1"/>
            </p:cNvSpPr>
            <p:nvPr/>
          </p:nvSpPr>
          <p:spPr bwMode="auto">
            <a:xfrm>
              <a:off x="5011" y="2003"/>
              <a:ext cx="1025" cy="330"/>
            </a:xfrm>
            <a:prstGeom prst="rect">
              <a:avLst/>
            </a:prstGeom>
            <a:noFill/>
            <a:ln w="12700" cap="rnd"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800" b="1" i="0" u="none" strike="noStrike" kern="0" cap="none" spc="0" normalizeH="0" baseline="0" noProof="0">
                  <a:ln>
                    <a:noFill/>
                  </a:ln>
                  <a:solidFill>
                    <a:srgbClr val="FF3300"/>
                  </a:solidFill>
                  <a:effectLst/>
                  <a:uLnTx/>
                  <a:uFillTx/>
                  <a:latin typeface="Times New Roman" pitchFamily="18" charset="0"/>
                </a:rPr>
                <a:t>哈夫曼树</a:t>
              </a:r>
            </a:p>
          </p:txBody>
        </p:sp>
      </p:grpSp>
      <p:sp>
        <p:nvSpPr>
          <p:cNvPr id="74" name="流程图: 资料带 73"/>
          <p:cNvSpPr/>
          <p:nvPr/>
        </p:nvSpPr>
        <p:spPr bwMode="auto">
          <a:xfrm>
            <a:off x="331787" y="1773853"/>
            <a:ext cx="8572500" cy="969347"/>
          </a:xfrm>
          <a:prstGeom prst="flowChartPunchedTape">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200" b="1" i="0" u="none" strike="noStrike" kern="0" cap="none" spc="0" normalizeH="0" baseline="0" noProof="0" dirty="0">
                <a:ln>
                  <a:noFill/>
                </a:ln>
                <a:solidFill>
                  <a:srgbClr val="0000FF"/>
                </a:solidFill>
                <a:effectLst/>
                <a:uLnTx/>
                <a:uFillTx/>
                <a:latin typeface="Constantia"/>
                <a:ea typeface="宋体"/>
                <a:cs typeface="+mn-cs"/>
              </a:rPr>
              <a:t>在哈夫曼树中，</a:t>
            </a:r>
            <a:r>
              <a:rPr kumimoji="1" lang="zh-CN" altLang="en-US" sz="3200" b="1" i="0" u="none" strike="noStrike" kern="0" cap="none" spc="0" normalizeH="0" baseline="0" noProof="0" dirty="0">
                <a:ln>
                  <a:noFill/>
                </a:ln>
                <a:solidFill>
                  <a:srgbClr val="FF0000"/>
                </a:solidFill>
                <a:effectLst/>
                <a:uLnTx/>
                <a:uFillTx/>
                <a:latin typeface="Constantia"/>
                <a:ea typeface="宋体"/>
                <a:cs typeface="+mn-cs"/>
              </a:rPr>
              <a:t>权值大的结点离根最近。</a:t>
            </a:r>
            <a:endParaRPr kumimoji="1" lang="zh-CN" altLang="en-US" sz="3200" b="0" i="0" u="none" strike="noStrike" kern="0" cap="none" spc="0" normalizeH="0" baseline="0" noProof="0" dirty="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150352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树的相关概念</a:t>
            </a:r>
          </a:p>
        </p:txBody>
      </p:sp>
      <p:sp>
        <p:nvSpPr>
          <p:cNvPr id="4" name="日期占位符 3"/>
          <p:cNvSpPr>
            <a:spLocks noGrp="1"/>
          </p:cNvSpPr>
          <p:nvPr>
            <p:ph type="dt" sz="half" idx="10"/>
          </p:nvPr>
        </p:nvSpPr>
        <p:spPr/>
        <p:txBody>
          <a:bodyPr/>
          <a:lstStyle/>
          <a:p>
            <a:fld id="{044265A8-E20D-4B77-BF1F-35C4C930D84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168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13" name="Group 3"/>
          <p:cNvGrpSpPr>
            <a:grpSpLocks/>
          </p:cNvGrpSpPr>
          <p:nvPr/>
        </p:nvGrpSpPr>
        <p:grpSpPr bwMode="auto">
          <a:xfrm>
            <a:off x="4741863" y="1692275"/>
            <a:ext cx="4402137" cy="2209800"/>
            <a:chOff x="2688" y="720"/>
            <a:chExt cx="2560" cy="1392"/>
          </a:xfrm>
        </p:grpSpPr>
        <p:sp>
          <p:nvSpPr>
            <p:cNvPr id="14" name="Oval 4"/>
            <p:cNvSpPr>
              <a:spLocks noChangeArrowheads="1"/>
            </p:cNvSpPr>
            <p:nvPr/>
          </p:nvSpPr>
          <p:spPr bwMode="auto">
            <a:xfrm>
              <a:off x="3072" y="72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15" name="Oval 5"/>
            <p:cNvSpPr>
              <a:spLocks noChangeArrowheads="1"/>
            </p:cNvSpPr>
            <p:nvPr/>
          </p:nvSpPr>
          <p:spPr bwMode="auto">
            <a:xfrm>
              <a:off x="2869" y="968"/>
              <a:ext cx="136" cy="136"/>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16" name="Oval 6"/>
            <p:cNvSpPr>
              <a:spLocks noChangeArrowheads="1"/>
            </p:cNvSpPr>
            <p:nvPr/>
          </p:nvSpPr>
          <p:spPr bwMode="auto">
            <a:xfrm>
              <a:off x="3256" y="968"/>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17" name="Oval 7"/>
            <p:cNvSpPr>
              <a:spLocks noChangeArrowheads="1"/>
            </p:cNvSpPr>
            <p:nvPr/>
          </p:nvSpPr>
          <p:spPr bwMode="auto">
            <a:xfrm>
              <a:off x="2688" y="1304"/>
              <a:ext cx="136" cy="136"/>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19" name="Oval 8"/>
            <p:cNvSpPr>
              <a:spLocks noChangeArrowheads="1"/>
            </p:cNvSpPr>
            <p:nvPr/>
          </p:nvSpPr>
          <p:spPr bwMode="auto">
            <a:xfrm>
              <a:off x="3208" y="1304"/>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20" name="Oval 9"/>
            <p:cNvSpPr>
              <a:spLocks noChangeArrowheads="1"/>
            </p:cNvSpPr>
            <p:nvPr/>
          </p:nvSpPr>
          <p:spPr bwMode="auto">
            <a:xfrm>
              <a:off x="3504" y="1296"/>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21" name="Oval 10"/>
            <p:cNvSpPr>
              <a:spLocks noChangeArrowheads="1"/>
            </p:cNvSpPr>
            <p:nvPr/>
          </p:nvSpPr>
          <p:spPr bwMode="auto">
            <a:xfrm>
              <a:off x="3352" y="164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22" name="Line 11"/>
            <p:cNvSpPr>
              <a:spLocks noChangeShapeType="1"/>
            </p:cNvSpPr>
            <p:nvPr/>
          </p:nvSpPr>
          <p:spPr bwMode="auto">
            <a:xfrm flipH="1">
              <a:off x="2968" y="864"/>
              <a:ext cx="144" cy="96"/>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 name="Line 12"/>
            <p:cNvSpPr>
              <a:spLocks noChangeShapeType="1"/>
            </p:cNvSpPr>
            <p:nvPr/>
          </p:nvSpPr>
          <p:spPr bwMode="auto">
            <a:xfrm>
              <a:off x="3160" y="864"/>
              <a:ext cx="144" cy="96"/>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4" name="Line 13"/>
            <p:cNvSpPr>
              <a:spLocks noChangeShapeType="1"/>
            </p:cNvSpPr>
            <p:nvPr/>
          </p:nvSpPr>
          <p:spPr bwMode="auto">
            <a:xfrm flipH="1">
              <a:off x="2776" y="1104"/>
              <a:ext cx="144"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5" name="Line 14"/>
            <p:cNvSpPr>
              <a:spLocks noChangeShapeType="1"/>
            </p:cNvSpPr>
            <p:nvPr/>
          </p:nvSpPr>
          <p:spPr bwMode="auto">
            <a:xfrm flipH="1">
              <a:off x="3256" y="1104"/>
              <a:ext cx="48"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Line 15"/>
            <p:cNvSpPr>
              <a:spLocks noChangeShapeType="1"/>
            </p:cNvSpPr>
            <p:nvPr/>
          </p:nvSpPr>
          <p:spPr bwMode="auto">
            <a:xfrm>
              <a:off x="3352" y="1104"/>
              <a:ext cx="192"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7" name="Line 16"/>
            <p:cNvSpPr>
              <a:spLocks noChangeShapeType="1"/>
            </p:cNvSpPr>
            <p:nvPr/>
          </p:nvSpPr>
          <p:spPr bwMode="auto">
            <a:xfrm>
              <a:off x="3304" y="1440"/>
              <a:ext cx="96"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Oval 17"/>
            <p:cNvSpPr>
              <a:spLocks noChangeArrowheads="1"/>
            </p:cNvSpPr>
            <p:nvPr/>
          </p:nvSpPr>
          <p:spPr bwMode="auto">
            <a:xfrm>
              <a:off x="4520" y="72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29" name="Oval 18"/>
            <p:cNvSpPr>
              <a:spLocks noChangeArrowheads="1"/>
            </p:cNvSpPr>
            <p:nvPr/>
          </p:nvSpPr>
          <p:spPr bwMode="auto">
            <a:xfrm>
              <a:off x="4317" y="968"/>
              <a:ext cx="136" cy="136"/>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30" name="Oval 19"/>
            <p:cNvSpPr>
              <a:spLocks noChangeArrowheads="1"/>
            </p:cNvSpPr>
            <p:nvPr/>
          </p:nvSpPr>
          <p:spPr bwMode="auto">
            <a:xfrm>
              <a:off x="4704" y="968"/>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31" name="Oval 20"/>
            <p:cNvSpPr>
              <a:spLocks noChangeArrowheads="1"/>
            </p:cNvSpPr>
            <p:nvPr/>
          </p:nvSpPr>
          <p:spPr bwMode="auto">
            <a:xfrm>
              <a:off x="4136" y="1304"/>
              <a:ext cx="136" cy="136"/>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32" name="Oval 21"/>
            <p:cNvSpPr>
              <a:spLocks noChangeArrowheads="1"/>
            </p:cNvSpPr>
            <p:nvPr/>
          </p:nvSpPr>
          <p:spPr bwMode="auto">
            <a:xfrm>
              <a:off x="4656" y="1304"/>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33" name="Oval 22"/>
            <p:cNvSpPr>
              <a:spLocks noChangeArrowheads="1"/>
            </p:cNvSpPr>
            <p:nvPr/>
          </p:nvSpPr>
          <p:spPr bwMode="auto">
            <a:xfrm>
              <a:off x="4952" y="1296"/>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34" name="Oval 23"/>
            <p:cNvSpPr>
              <a:spLocks noChangeArrowheads="1"/>
            </p:cNvSpPr>
            <p:nvPr/>
          </p:nvSpPr>
          <p:spPr bwMode="auto">
            <a:xfrm>
              <a:off x="4752" y="1640"/>
              <a:ext cx="136" cy="136"/>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35" name="Line 24"/>
            <p:cNvSpPr>
              <a:spLocks noChangeShapeType="1"/>
            </p:cNvSpPr>
            <p:nvPr/>
          </p:nvSpPr>
          <p:spPr bwMode="auto">
            <a:xfrm flipH="1">
              <a:off x="4416" y="864"/>
              <a:ext cx="144" cy="96"/>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6" name="Line 25"/>
            <p:cNvSpPr>
              <a:spLocks noChangeShapeType="1"/>
            </p:cNvSpPr>
            <p:nvPr/>
          </p:nvSpPr>
          <p:spPr bwMode="auto">
            <a:xfrm>
              <a:off x="4608" y="864"/>
              <a:ext cx="144" cy="96"/>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7" name="Line 26"/>
            <p:cNvSpPr>
              <a:spLocks noChangeShapeType="1"/>
            </p:cNvSpPr>
            <p:nvPr/>
          </p:nvSpPr>
          <p:spPr bwMode="auto">
            <a:xfrm flipH="1">
              <a:off x="4224" y="1104"/>
              <a:ext cx="144"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8" name="Line 27"/>
            <p:cNvSpPr>
              <a:spLocks noChangeShapeType="1"/>
            </p:cNvSpPr>
            <p:nvPr/>
          </p:nvSpPr>
          <p:spPr bwMode="auto">
            <a:xfrm>
              <a:off x="4416" y="1104"/>
              <a:ext cx="96" cy="240"/>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9" name="Line 28"/>
            <p:cNvSpPr>
              <a:spLocks noChangeShapeType="1"/>
            </p:cNvSpPr>
            <p:nvPr/>
          </p:nvSpPr>
          <p:spPr bwMode="auto">
            <a:xfrm flipH="1">
              <a:off x="4704" y="1104"/>
              <a:ext cx="48"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0" name="Line 29"/>
            <p:cNvSpPr>
              <a:spLocks noChangeShapeType="1"/>
            </p:cNvSpPr>
            <p:nvPr/>
          </p:nvSpPr>
          <p:spPr bwMode="auto">
            <a:xfrm>
              <a:off x="4800" y="1104"/>
              <a:ext cx="192"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1" name="Line 30"/>
            <p:cNvSpPr>
              <a:spLocks noChangeShapeType="1"/>
            </p:cNvSpPr>
            <p:nvPr/>
          </p:nvSpPr>
          <p:spPr bwMode="auto">
            <a:xfrm flipH="1">
              <a:off x="4080" y="1440"/>
              <a:ext cx="96"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2" name="Line 31"/>
            <p:cNvSpPr>
              <a:spLocks noChangeShapeType="1"/>
            </p:cNvSpPr>
            <p:nvPr/>
          </p:nvSpPr>
          <p:spPr bwMode="auto">
            <a:xfrm>
              <a:off x="4224" y="1440"/>
              <a:ext cx="144"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3" name="Line 32"/>
            <p:cNvSpPr>
              <a:spLocks noChangeShapeType="1"/>
            </p:cNvSpPr>
            <p:nvPr/>
          </p:nvSpPr>
          <p:spPr bwMode="auto">
            <a:xfrm>
              <a:off x="4752" y="1440"/>
              <a:ext cx="48" cy="192"/>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4" name="Rectangle 33"/>
            <p:cNvSpPr>
              <a:spLocks noChangeArrowheads="1"/>
            </p:cNvSpPr>
            <p:nvPr/>
          </p:nvSpPr>
          <p:spPr bwMode="auto">
            <a:xfrm>
              <a:off x="3936" y="1632"/>
              <a:ext cx="144" cy="144"/>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5" name="Rectangle 34"/>
            <p:cNvSpPr>
              <a:spLocks noChangeArrowheads="1"/>
            </p:cNvSpPr>
            <p:nvPr/>
          </p:nvSpPr>
          <p:spPr bwMode="auto">
            <a:xfrm>
              <a:off x="4272" y="1632"/>
              <a:ext cx="144" cy="144"/>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6" name="Rectangle 35"/>
            <p:cNvSpPr>
              <a:spLocks noChangeArrowheads="1"/>
            </p:cNvSpPr>
            <p:nvPr/>
          </p:nvSpPr>
          <p:spPr bwMode="auto">
            <a:xfrm>
              <a:off x="4512" y="1632"/>
              <a:ext cx="144" cy="144"/>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7" name="Rectangle 36"/>
            <p:cNvSpPr>
              <a:spLocks noChangeArrowheads="1"/>
            </p:cNvSpPr>
            <p:nvPr/>
          </p:nvSpPr>
          <p:spPr bwMode="auto">
            <a:xfrm>
              <a:off x="4912" y="1632"/>
              <a:ext cx="144" cy="144"/>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8" name="Rectangle 37"/>
            <p:cNvSpPr>
              <a:spLocks noChangeArrowheads="1"/>
            </p:cNvSpPr>
            <p:nvPr/>
          </p:nvSpPr>
          <p:spPr bwMode="auto">
            <a:xfrm>
              <a:off x="5104" y="1632"/>
              <a:ext cx="144" cy="144"/>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9" name="Rectangle 38"/>
            <p:cNvSpPr>
              <a:spLocks noChangeArrowheads="1"/>
            </p:cNvSpPr>
            <p:nvPr/>
          </p:nvSpPr>
          <p:spPr bwMode="auto">
            <a:xfrm>
              <a:off x="4672" y="1968"/>
              <a:ext cx="144" cy="144"/>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0" name="Rectangle 39"/>
            <p:cNvSpPr>
              <a:spLocks noChangeArrowheads="1"/>
            </p:cNvSpPr>
            <p:nvPr/>
          </p:nvSpPr>
          <p:spPr bwMode="auto">
            <a:xfrm>
              <a:off x="4888" y="1968"/>
              <a:ext cx="144" cy="144"/>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1" name="Rectangle 40"/>
            <p:cNvSpPr>
              <a:spLocks noChangeArrowheads="1"/>
            </p:cNvSpPr>
            <p:nvPr/>
          </p:nvSpPr>
          <p:spPr bwMode="auto">
            <a:xfrm>
              <a:off x="4448" y="1344"/>
              <a:ext cx="144" cy="144"/>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2" name="Line 41"/>
            <p:cNvSpPr>
              <a:spLocks noChangeShapeType="1"/>
            </p:cNvSpPr>
            <p:nvPr/>
          </p:nvSpPr>
          <p:spPr bwMode="auto">
            <a:xfrm flipH="1">
              <a:off x="4608" y="1440"/>
              <a:ext cx="96"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3" name="Line 42"/>
            <p:cNvSpPr>
              <a:spLocks noChangeShapeType="1"/>
            </p:cNvSpPr>
            <p:nvPr/>
          </p:nvSpPr>
          <p:spPr bwMode="auto">
            <a:xfrm flipH="1">
              <a:off x="4992" y="1440"/>
              <a:ext cx="48"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4" name="Line 43"/>
            <p:cNvSpPr>
              <a:spLocks noChangeShapeType="1"/>
            </p:cNvSpPr>
            <p:nvPr/>
          </p:nvSpPr>
          <p:spPr bwMode="auto">
            <a:xfrm>
              <a:off x="5024" y="1440"/>
              <a:ext cx="144"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5" name="Line 44"/>
            <p:cNvSpPr>
              <a:spLocks noChangeShapeType="1"/>
            </p:cNvSpPr>
            <p:nvPr/>
          </p:nvSpPr>
          <p:spPr bwMode="auto">
            <a:xfrm flipH="1">
              <a:off x="4752" y="1776"/>
              <a:ext cx="48" cy="192"/>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6" name="Line 45"/>
            <p:cNvSpPr>
              <a:spLocks noChangeShapeType="1"/>
            </p:cNvSpPr>
            <p:nvPr/>
          </p:nvSpPr>
          <p:spPr bwMode="auto">
            <a:xfrm>
              <a:off x="4848" y="1776"/>
              <a:ext cx="96" cy="192"/>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57" name="AutoShape 46"/>
          <p:cNvSpPr>
            <a:spLocks noChangeArrowheads="1"/>
          </p:cNvSpPr>
          <p:nvPr/>
        </p:nvSpPr>
        <p:spPr bwMode="auto">
          <a:xfrm>
            <a:off x="6515100" y="2759075"/>
            <a:ext cx="412750" cy="228600"/>
          </a:xfrm>
          <a:prstGeom prst="rightArrow">
            <a:avLst>
              <a:gd name="adj1" fmla="val 50000"/>
              <a:gd name="adj2" fmla="val 45139"/>
            </a:avLst>
          </a:prstGeom>
          <a:noFill/>
          <a:ln w="9525">
            <a:solidFill>
              <a:srgbClr val="000000"/>
            </a:solidFill>
            <a:miter lim="800000"/>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8" name="Text Box 49"/>
          <p:cNvSpPr txBox="1">
            <a:spLocks noChangeArrowheads="1"/>
          </p:cNvSpPr>
          <p:nvPr/>
        </p:nvSpPr>
        <p:spPr bwMode="auto">
          <a:xfrm>
            <a:off x="751188" y="3116262"/>
            <a:ext cx="1250950" cy="519113"/>
          </a:xfrm>
          <a:prstGeom prst="rect">
            <a:avLst/>
          </a:prstGeom>
          <a:noFill/>
          <a:ln w="9525">
            <a:noFill/>
            <a:miter lim="800000"/>
            <a:headEnd/>
            <a:tailEnd/>
          </a:ln>
        </p:spPr>
        <p:txBody>
          <a:bodyPr wrap="none" lIns="90000" tIns="46800" rIns="90000" bIns="46800">
            <a:spAutoFit/>
          </a:bodyPr>
          <a:lstStyle/>
          <a:p>
            <a:pPr fontAlgn="base">
              <a:spcBef>
                <a:spcPct val="0"/>
              </a:spcBef>
              <a:spcAft>
                <a:spcPct val="0"/>
              </a:spcAft>
            </a:pPr>
            <a:r>
              <a:rPr kumimoji="1" lang="zh-CN" altLang="en-US" sz="2800" b="1" dirty="0">
                <a:solidFill>
                  <a:srgbClr val="0000FF"/>
                </a:solidFill>
                <a:latin typeface="Times New Roman" pitchFamily="18" charset="0"/>
              </a:rPr>
              <a:t>增长树</a:t>
            </a:r>
          </a:p>
        </p:txBody>
      </p:sp>
      <p:sp>
        <p:nvSpPr>
          <p:cNvPr id="59" name="Text Box 50"/>
          <p:cNvSpPr txBox="1">
            <a:spLocks noChangeArrowheads="1"/>
          </p:cNvSpPr>
          <p:nvPr/>
        </p:nvSpPr>
        <p:spPr bwMode="auto">
          <a:xfrm>
            <a:off x="2386313" y="2819400"/>
            <a:ext cx="1252537" cy="1204912"/>
          </a:xfrm>
          <a:prstGeom prst="rect">
            <a:avLst/>
          </a:prstGeom>
          <a:noFill/>
          <a:ln w="9525">
            <a:noFill/>
            <a:miter lim="800000"/>
            <a:headEnd/>
            <a:tailEnd/>
          </a:ln>
        </p:spPr>
        <p:txBody>
          <a:bodyPr wrap="none" lIns="90000" tIns="46800" rIns="90000" bIns="46800">
            <a:spAutoFit/>
          </a:bodyPr>
          <a:lstStyle/>
          <a:p>
            <a:pPr fontAlgn="base">
              <a:lnSpc>
                <a:spcPct val="130000"/>
              </a:lnSpc>
              <a:spcBef>
                <a:spcPct val="0"/>
              </a:spcBef>
              <a:spcAft>
                <a:spcPct val="0"/>
              </a:spcAft>
            </a:pPr>
            <a:r>
              <a:rPr kumimoji="1" lang="zh-CN" altLang="en-US" sz="2800" b="1" dirty="0">
                <a:solidFill>
                  <a:srgbClr val="0000FF"/>
                </a:solidFill>
                <a:latin typeface="Times New Roman" pitchFamily="18" charset="0"/>
              </a:rPr>
              <a:t>内结点</a:t>
            </a:r>
          </a:p>
          <a:p>
            <a:pPr fontAlgn="base">
              <a:lnSpc>
                <a:spcPct val="130000"/>
              </a:lnSpc>
              <a:spcBef>
                <a:spcPct val="0"/>
              </a:spcBef>
              <a:spcAft>
                <a:spcPct val="0"/>
              </a:spcAft>
            </a:pPr>
            <a:r>
              <a:rPr kumimoji="1" lang="zh-CN" altLang="en-US" sz="2800" b="1" dirty="0">
                <a:solidFill>
                  <a:srgbClr val="0000FF"/>
                </a:solidFill>
                <a:latin typeface="Times New Roman" pitchFamily="18" charset="0"/>
              </a:rPr>
              <a:t>外结点</a:t>
            </a:r>
          </a:p>
        </p:txBody>
      </p:sp>
      <p:sp>
        <p:nvSpPr>
          <p:cNvPr id="60" name="AutoShape 51"/>
          <p:cNvSpPr>
            <a:spLocks/>
          </p:cNvSpPr>
          <p:nvPr/>
        </p:nvSpPr>
        <p:spPr bwMode="auto">
          <a:xfrm>
            <a:off x="2319638" y="2955925"/>
            <a:ext cx="190500" cy="1063625"/>
          </a:xfrm>
          <a:prstGeom prst="leftBrace">
            <a:avLst>
              <a:gd name="adj1" fmla="val 46528"/>
              <a:gd name="adj2" fmla="val 50000"/>
            </a:avLst>
          </a:prstGeom>
          <a:noFill/>
          <a:ln w="952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6000" b="0" i="0" u="none" strike="noStrike" kern="0" cap="none" spc="0" normalizeH="0" baseline="0" noProof="0">
              <a:ln>
                <a:noFill/>
              </a:ln>
              <a:solidFill>
                <a:srgbClr val="000000"/>
              </a:solidFill>
              <a:effectLst/>
              <a:uLnTx/>
              <a:uFillTx/>
              <a:latin typeface="Times New Roman" pitchFamily="18" charset="0"/>
            </a:endParaRPr>
          </a:p>
        </p:txBody>
      </p:sp>
      <p:sp>
        <p:nvSpPr>
          <p:cNvPr id="61" name="Text Box 54"/>
          <p:cNvSpPr txBox="1">
            <a:spLocks noChangeArrowheads="1"/>
          </p:cNvSpPr>
          <p:nvPr/>
        </p:nvSpPr>
        <p:spPr bwMode="auto">
          <a:xfrm>
            <a:off x="76200" y="4071937"/>
            <a:ext cx="5822950" cy="519113"/>
          </a:xfrm>
          <a:prstGeom prst="rect">
            <a:avLst/>
          </a:prstGeom>
          <a:noFill/>
          <a:ln w="9525">
            <a:noFill/>
            <a:miter lim="800000"/>
            <a:headEnd/>
            <a:tailEnd/>
          </a:ln>
          <a:effectLst/>
        </p:spPr>
        <p:txBody>
          <a:bodyPr wrap="none" lIns="90000" tIns="46800" rIns="90000" bIns="46800">
            <a:spAutoFit/>
          </a:bodyPr>
          <a:lstStyle/>
          <a:p>
            <a:pPr fontAlgn="base">
              <a:spcBef>
                <a:spcPct val="0"/>
              </a:spcBef>
              <a:spcAft>
                <a:spcPct val="0"/>
              </a:spcAft>
              <a:defRPr/>
            </a:pPr>
            <a:r>
              <a:rPr kumimoji="1" lang="zh-CN" altLang="en-US" sz="2800" b="1" dirty="0">
                <a:solidFill>
                  <a:srgbClr val="000000"/>
                </a:solidFill>
                <a:effectLst>
                  <a:outerShdw blurRad="38100" dist="38100" dir="2700000" algn="tl">
                    <a:srgbClr val="C0C0C0"/>
                  </a:outerShdw>
                </a:effectLst>
                <a:latin typeface="Times New Roman" pitchFamily="18" charset="0"/>
              </a:rPr>
              <a:t>如内结点数为 </a:t>
            </a:r>
            <a:r>
              <a:rPr kumimoji="1" lang="en-US" altLang="zh-CN" sz="2800" b="1" dirty="0">
                <a:solidFill>
                  <a:srgbClr val="000000"/>
                </a:solidFill>
                <a:effectLst>
                  <a:outerShdw blurRad="38100" dist="38100" dir="2700000" algn="tl">
                    <a:srgbClr val="C0C0C0"/>
                  </a:outerShdw>
                </a:effectLst>
                <a:latin typeface="Times New Roman" pitchFamily="18" charset="0"/>
              </a:rPr>
              <a:t>n</a:t>
            </a:r>
            <a:r>
              <a:rPr kumimoji="1" lang="zh-CN" altLang="en-US" sz="2800" b="1" dirty="0">
                <a:solidFill>
                  <a:srgbClr val="000000"/>
                </a:solidFill>
                <a:effectLst>
                  <a:outerShdw blurRad="38100" dist="38100" dir="2700000" algn="tl">
                    <a:srgbClr val="C0C0C0"/>
                  </a:outerShdw>
                </a:effectLst>
                <a:latin typeface="Times New Roman" pitchFamily="18" charset="0"/>
              </a:rPr>
              <a:t>，则外结点 </a:t>
            </a:r>
            <a:r>
              <a:rPr kumimoji="1" lang="en-US" altLang="zh-CN" sz="2800" b="1" dirty="0">
                <a:solidFill>
                  <a:srgbClr val="000000"/>
                </a:solidFill>
                <a:effectLst>
                  <a:outerShdw blurRad="38100" dist="38100" dir="2700000" algn="tl">
                    <a:srgbClr val="C0C0C0"/>
                  </a:outerShdw>
                </a:effectLst>
                <a:latin typeface="Times New Roman" pitchFamily="18" charset="0"/>
              </a:rPr>
              <a:t>S = n + 1</a:t>
            </a:r>
            <a:endParaRPr lang="en-US" altLang="zh-CN" sz="2800" b="1" dirty="0">
              <a:solidFill>
                <a:srgbClr val="000000"/>
              </a:solidFill>
              <a:effectLst>
                <a:outerShdw blurRad="38100" dist="38100" dir="2700000" algn="tl">
                  <a:srgbClr val="C0C0C0"/>
                </a:outerShdw>
              </a:effectLst>
              <a:latin typeface="Times New Roman" pitchFamily="18" charset="0"/>
            </a:endParaRPr>
          </a:p>
        </p:txBody>
      </p:sp>
      <p:sp>
        <p:nvSpPr>
          <p:cNvPr id="62" name="AutoShape 118"/>
          <p:cNvSpPr>
            <a:spLocks noChangeArrowheads="1"/>
          </p:cNvSpPr>
          <p:nvPr/>
        </p:nvSpPr>
        <p:spPr bwMode="auto">
          <a:xfrm>
            <a:off x="76200" y="4872037"/>
            <a:ext cx="6702627" cy="1071562"/>
          </a:xfrm>
          <a:prstGeom prst="cloudCallout">
            <a:avLst>
              <a:gd name="adj1" fmla="val -32338"/>
              <a:gd name="adj2" fmla="val 91116"/>
            </a:avLst>
          </a:prstGeom>
          <a:solidFill>
            <a:srgbClr val="CCFFFF"/>
          </a:solidFill>
          <a:ln w="12700" cap="rnd">
            <a:noFill/>
            <a:round/>
            <a:headEnd/>
            <a:tailEnd/>
          </a:ln>
        </p:spPr>
        <p:txBody>
          <a:bodyPr/>
          <a:lstStyle/>
          <a:p>
            <a:pPr algn="ctr" eaLnBrk="0" fontAlgn="base" hangingPunct="0">
              <a:spcBef>
                <a:spcPct val="0"/>
              </a:spcBef>
              <a:spcAft>
                <a:spcPct val="0"/>
              </a:spcAft>
            </a:pPr>
            <a:r>
              <a:rPr kumimoji="1" lang="zh-CN" altLang="en-US" sz="3600">
                <a:solidFill>
                  <a:srgbClr val="0000FF"/>
                </a:solidFill>
                <a:latin typeface="隶书" pitchFamily="49" charset="-122"/>
                <a:ea typeface="隶书" pitchFamily="49" charset="-122"/>
              </a:rPr>
              <a:t>为什么</a:t>
            </a:r>
            <a:r>
              <a:rPr kumimoji="1" lang="en-US" altLang="zh-CN" sz="3600" b="1">
                <a:solidFill>
                  <a:srgbClr val="0000FF"/>
                </a:solidFill>
                <a:latin typeface="隶书" pitchFamily="49" charset="-122"/>
                <a:ea typeface="隶书" pitchFamily="49" charset="-122"/>
              </a:rPr>
              <a:t>S = n + 1 </a:t>
            </a:r>
            <a:r>
              <a:rPr kumimoji="1" lang="zh-CN" altLang="en-US" sz="3600" b="1">
                <a:solidFill>
                  <a:srgbClr val="0000FF"/>
                </a:solidFill>
                <a:latin typeface="隶书" pitchFamily="49" charset="-122"/>
                <a:ea typeface="隶书" pitchFamily="49" charset="-122"/>
              </a:rPr>
              <a:t>？</a:t>
            </a:r>
            <a:endParaRPr lang="zh-CN" altLang="en-US" sz="3600" b="1">
              <a:solidFill>
                <a:srgbClr val="0000FF"/>
              </a:solidFill>
              <a:latin typeface="隶书" pitchFamily="49" charset="-122"/>
              <a:ea typeface="隶书" pitchFamily="49" charset="-122"/>
            </a:endParaRPr>
          </a:p>
          <a:p>
            <a:pPr algn="ctr" eaLnBrk="0" fontAlgn="base" hangingPunct="0">
              <a:spcBef>
                <a:spcPct val="0"/>
              </a:spcBef>
              <a:spcAft>
                <a:spcPct val="0"/>
              </a:spcAft>
            </a:pPr>
            <a:endParaRPr kumimoji="1" lang="zh-CN" altLang="en-US" sz="3600">
              <a:solidFill>
                <a:srgbClr val="0000FF"/>
              </a:solidFill>
              <a:latin typeface="隶书" pitchFamily="49" charset="-122"/>
              <a:ea typeface="隶书" pitchFamily="49" charset="-122"/>
            </a:endParaRPr>
          </a:p>
        </p:txBody>
      </p:sp>
      <p:sp>
        <p:nvSpPr>
          <p:cNvPr id="63" name="Rectangle 59"/>
          <p:cNvSpPr>
            <a:spLocks noChangeArrowheads="1"/>
          </p:cNvSpPr>
          <p:nvPr/>
        </p:nvSpPr>
        <p:spPr bwMode="auto">
          <a:xfrm>
            <a:off x="3622975" y="3589337"/>
            <a:ext cx="215900" cy="215900"/>
          </a:xfrm>
          <a:prstGeom prst="rect">
            <a:avLst/>
          </a:prstGeom>
          <a:noFill/>
          <a:ln w="12700" cap="rnd" algn="ctr">
            <a:solidFill>
              <a:srgbClr val="003300"/>
            </a:solidFill>
            <a:miter lim="800000"/>
            <a:headEnd/>
            <a:tailEnd/>
          </a:ln>
        </p:spPr>
        <p:txBody>
          <a:bodyPr wrap="none" anchor="ctr">
            <a:spAutoFit/>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64" name="Oval 60"/>
          <p:cNvSpPr>
            <a:spLocks noChangeArrowheads="1"/>
          </p:cNvSpPr>
          <p:nvPr/>
        </p:nvSpPr>
        <p:spPr bwMode="auto">
          <a:xfrm>
            <a:off x="3598862" y="3043237"/>
            <a:ext cx="287338" cy="287338"/>
          </a:xfrm>
          <a:prstGeom prst="ellipse">
            <a:avLst/>
          </a:prstGeom>
          <a:noFill/>
          <a:ln w="12700" cap="rnd" algn="ctr">
            <a:solidFill>
              <a:srgbClr val="003300"/>
            </a:solidFill>
            <a:round/>
            <a:headEnd/>
            <a:tailEnd/>
          </a:ln>
        </p:spPr>
        <p:txBody>
          <a:bodyPr wrap="none" anchor="ctr">
            <a:spAutoFit/>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65" name="AutoShape 119"/>
          <p:cNvSpPr>
            <a:spLocks noChangeArrowheads="1"/>
          </p:cNvSpPr>
          <p:nvPr/>
        </p:nvSpPr>
        <p:spPr bwMode="auto">
          <a:xfrm>
            <a:off x="4572001" y="5405438"/>
            <a:ext cx="4716544" cy="842962"/>
          </a:xfrm>
          <a:prstGeom prst="cloudCallout">
            <a:avLst>
              <a:gd name="adj1" fmla="val -43750"/>
              <a:gd name="adj2" fmla="val 70000"/>
            </a:avLst>
          </a:prstGeom>
          <a:solidFill>
            <a:srgbClr val="00FFFF"/>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pPr>
            <a:r>
              <a:rPr kumimoji="1" lang="en-US" altLang="zh-CN" sz="3600" dirty="0">
                <a:solidFill>
                  <a:srgbClr val="000000"/>
                </a:solidFill>
                <a:latin typeface="隶书" pitchFamily="49" charset="-122"/>
                <a:ea typeface="隶书" pitchFamily="49" charset="-122"/>
              </a:rPr>
              <a:t>n0=n2+1</a:t>
            </a:r>
          </a:p>
        </p:txBody>
      </p:sp>
      <p:sp>
        <p:nvSpPr>
          <p:cNvPr id="7" name="矩形 6"/>
          <p:cNvSpPr/>
          <p:nvPr/>
        </p:nvSpPr>
        <p:spPr>
          <a:xfrm>
            <a:off x="228600" y="1803995"/>
            <a:ext cx="4572000" cy="923330"/>
          </a:xfrm>
          <a:prstGeom prst="rect">
            <a:avLst/>
          </a:prstGeom>
        </p:spPr>
        <p:txBody>
          <a:bodyPr>
            <a:spAutoFit/>
          </a:bodyPr>
          <a:lstStyle/>
          <a:p>
            <a:r>
              <a:rPr lang="zh-CN" altLang="en-US" b="1" dirty="0"/>
              <a:t>将非满二叉树中，所有度不满</a:t>
            </a:r>
            <a:r>
              <a:rPr lang="en-US" altLang="zh-CN" b="1" dirty="0"/>
              <a:t>2</a:t>
            </a:r>
            <a:r>
              <a:rPr lang="zh-CN" altLang="en-US" b="1" dirty="0"/>
              <a:t>的节点扩充为</a:t>
            </a:r>
            <a:r>
              <a:rPr lang="en-US" altLang="zh-CN" b="1" dirty="0"/>
              <a:t>2</a:t>
            </a:r>
            <a:r>
              <a:rPr lang="zh-CN" altLang="en-US" b="1" dirty="0"/>
              <a:t>，便得到了扩充二叉树。扩充的节点称为外部结点，其余原来的节点称为内部结点。</a:t>
            </a:r>
          </a:p>
        </p:txBody>
      </p:sp>
    </p:spTree>
    <p:extLst>
      <p:ext uri="{BB962C8B-B14F-4D97-AF65-F5344CB8AC3E}">
        <p14:creationId xmlns:p14="http://schemas.microsoft.com/office/powerpoint/2010/main" val="2364613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box(in)">
                                      <p:cBhvr>
                                        <p:cTn id="17" dur="500"/>
                                        <p:tgtEl>
                                          <p:spTgt spid="6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checkerboard(across)">
                                      <p:cBhvr>
                                        <p:cTn id="22"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61" grpId="0"/>
      <p:bldP spid="62" grpId="0" animBg="1"/>
      <p:bldP spid="65"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树的相关概念</a:t>
            </a:r>
          </a:p>
        </p:txBody>
      </p:sp>
      <p:sp>
        <p:nvSpPr>
          <p:cNvPr id="4" name="日期占位符 3"/>
          <p:cNvSpPr>
            <a:spLocks noGrp="1"/>
          </p:cNvSpPr>
          <p:nvPr>
            <p:ph type="dt" sz="half" idx="10"/>
          </p:nvPr>
        </p:nvSpPr>
        <p:spPr/>
        <p:txBody>
          <a:bodyPr/>
          <a:lstStyle/>
          <a:p>
            <a:fld id="{029F62EC-9F8B-4BE0-BF5D-9AD57299E39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169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54"/>
          <p:cNvSpPr txBox="1">
            <a:spLocks noChangeArrowheads="1"/>
          </p:cNvSpPr>
          <p:nvPr/>
        </p:nvSpPr>
        <p:spPr bwMode="auto">
          <a:xfrm>
            <a:off x="760413" y="1688473"/>
            <a:ext cx="7926387" cy="1091710"/>
          </a:xfrm>
          <a:prstGeom prst="rect">
            <a:avLst/>
          </a:prstGeom>
          <a:noFill/>
          <a:ln w="9525">
            <a:solidFill>
              <a:srgbClr val="04617B"/>
            </a:solidFill>
            <a:miter lim="800000"/>
            <a:headEnd/>
            <a:tailEnd/>
          </a:ln>
        </p:spPr>
        <p:txBody>
          <a:bodyPr wrap="square" lIns="90000" tIns="46800" rIns="90000" bIns="46800">
            <a:spAutoFit/>
          </a:bodyPr>
          <a:lstStyle/>
          <a:p>
            <a:pPr marL="0" marR="0" lvl="0" indent="0" defTabSz="914400" eaLnBrk="1" fontAlgn="base" latinLnBrk="0" hangingPunct="1">
              <a:lnSpc>
                <a:spcPct val="135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FF3300"/>
                </a:solidFill>
                <a:effectLst/>
                <a:uLnTx/>
                <a:uFillTx/>
                <a:latin typeface="宋体" pitchFamily="2" charset="-122"/>
              </a:rPr>
              <a:t>内结点路径长度</a:t>
            </a:r>
            <a:r>
              <a:rPr kumimoji="1" lang="en-US" altLang="zh-CN" sz="2400" b="1" i="0" u="none" strike="noStrike" kern="0" cap="none" spc="0" normalizeH="0" baseline="0" noProof="0" dirty="0">
                <a:ln>
                  <a:noFill/>
                </a:ln>
                <a:solidFill>
                  <a:srgbClr val="FF3300"/>
                </a:solidFill>
                <a:effectLst/>
                <a:uLnTx/>
                <a:uFillTx/>
                <a:latin typeface="宋体" pitchFamily="2" charset="-122"/>
              </a:rPr>
              <a:t>I</a:t>
            </a:r>
            <a:r>
              <a:rPr kumimoji="1" lang="zh-CN" altLang="en-US" sz="2400" b="1" i="0" u="none" strike="noStrike" kern="0" cap="none" spc="0" normalizeH="0" baseline="0" noProof="0" dirty="0">
                <a:ln>
                  <a:noFill/>
                </a:ln>
                <a:solidFill>
                  <a:srgbClr val="FF3300"/>
                </a:solidFill>
                <a:effectLst/>
                <a:uLnTx/>
                <a:uFillTx/>
                <a:latin typeface="宋体" pitchFamily="2" charset="-122"/>
              </a:rPr>
              <a:t>：</a:t>
            </a:r>
            <a:r>
              <a:rPr kumimoji="1" lang="zh-CN" altLang="en-US" sz="2400" b="1" i="0" u="none" strike="noStrike" kern="0" cap="none" spc="0" normalizeH="0" baseline="0" noProof="0" dirty="0">
                <a:ln>
                  <a:noFill/>
                </a:ln>
                <a:solidFill>
                  <a:srgbClr val="0000FF"/>
                </a:solidFill>
                <a:effectLst/>
                <a:uLnTx/>
                <a:uFillTx/>
                <a:latin typeface="宋体" pitchFamily="2" charset="-122"/>
              </a:rPr>
              <a:t>从根结点到每个内结点的路长的总和。</a:t>
            </a:r>
          </a:p>
          <a:p>
            <a:pPr marL="0" marR="0" lvl="0" indent="0" defTabSz="914400" eaLnBrk="1" fontAlgn="base" latinLnBrk="0" hangingPunct="1">
              <a:lnSpc>
                <a:spcPct val="135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FF3300"/>
                </a:solidFill>
                <a:effectLst/>
                <a:uLnTx/>
                <a:uFillTx/>
                <a:latin typeface="Times New Roman" pitchFamily="18" charset="0"/>
              </a:rPr>
              <a:t>外结点路径长度</a:t>
            </a:r>
            <a:r>
              <a:rPr kumimoji="1" lang="en-US" altLang="zh-CN" sz="2400" b="1" i="0" u="none" strike="noStrike" kern="0" cap="none" spc="0" normalizeH="0" baseline="0" noProof="0" dirty="0">
                <a:ln>
                  <a:noFill/>
                </a:ln>
                <a:solidFill>
                  <a:srgbClr val="FF3300"/>
                </a:solidFill>
                <a:effectLst/>
                <a:uLnTx/>
                <a:uFillTx/>
                <a:latin typeface="Times New Roman" pitchFamily="18" charset="0"/>
              </a:rPr>
              <a:t>E</a:t>
            </a:r>
            <a:r>
              <a:rPr kumimoji="1" lang="zh-CN" altLang="en-US" sz="2400" b="1" i="0" u="none" strike="noStrike" kern="0" cap="none" spc="0" normalizeH="0" baseline="0" noProof="0" dirty="0">
                <a:ln>
                  <a:noFill/>
                </a:ln>
                <a:solidFill>
                  <a:srgbClr val="FF3300"/>
                </a:solidFill>
                <a:effectLst/>
                <a:uLnTx/>
                <a:uFillTx/>
                <a:latin typeface="Times New Roman" pitchFamily="18" charset="0"/>
              </a:rPr>
              <a:t>：</a:t>
            </a:r>
            <a:r>
              <a:rPr kumimoji="1" lang="zh-CN" altLang="en-US" sz="2400" b="1" i="0" u="none" strike="noStrike" kern="0" cap="none" spc="0" normalizeH="0" baseline="0" noProof="0" dirty="0">
                <a:ln>
                  <a:noFill/>
                </a:ln>
                <a:solidFill>
                  <a:srgbClr val="0000FF"/>
                </a:solidFill>
                <a:effectLst/>
                <a:uLnTx/>
                <a:uFillTx/>
                <a:latin typeface="Times New Roman" pitchFamily="18" charset="0"/>
              </a:rPr>
              <a:t>从根结点到每个外结点的路长的总和。</a:t>
            </a:r>
            <a:r>
              <a:rPr kumimoji="1" lang="zh-CN" altLang="en-US" sz="2400" b="1" i="0" u="none" strike="noStrike" kern="0" cap="none" spc="0" normalizeH="0" baseline="0" noProof="0" dirty="0">
                <a:ln>
                  <a:noFill/>
                </a:ln>
                <a:solidFill>
                  <a:srgbClr val="0000FF"/>
                </a:solidFill>
                <a:effectLst/>
                <a:uLnTx/>
                <a:uFillTx/>
                <a:latin typeface="宋体" pitchFamily="2" charset="-122"/>
              </a:rPr>
              <a:t> </a:t>
            </a:r>
            <a:endParaRPr kumimoji="1" lang="en-US" altLang="zh-CN" sz="2400" b="1" i="0" u="none" strike="noStrike" kern="0" cap="none" spc="0" normalizeH="0" baseline="0" noProof="0" dirty="0">
              <a:ln>
                <a:noFill/>
              </a:ln>
              <a:solidFill>
                <a:srgbClr val="0000FF"/>
              </a:solidFill>
              <a:effectLst/>
              <a:uLnTx/>
              <a:uFillTx/>
              <a:latin typeface="宋体" pitchFamily="2" charset="-122"/>
            </a:endParaRPr>
          </a:p>
        </p:txBody>
      </p:sp>
      <p:sp>
        <p:nvSpPr>
          <p:cNvPr id="14" name="Rectangle 206"/>
          <p:cNvSpPr>
            <a:spLocks noChangeArrowheads="1"/>
          </p:cNvSpPr>
          <p:nvPr/>
        </p:nvSpPr>
        <p:spPr bwMode="auto">
          <a:xfrm>
            <a:off x="657510" y="4964112"/>
            <a:ext cx="3453831" cy="493148"/>
          </a:xfrm>
          <a:prstGeom prst="rect">
            <a:avLst/>
          </a:prstGeom>
          <a:noFill/>
          <a:ln w="12700" cap="rnd" algn="ctr">
            <a:noFill/>
            <a:miter lim="800000"/>
            <a:headEnd/>
            <a:tailEnd/>
          </a:ln>
        </p:spPr>
        <p:txBody>
          <a:bodyPr wrap="none">
            <a:spAutoFit/>
          </a:bodyPr>
          <a:lstStyle/>
          <a:p>
            <a:pPr algn="ctr" fontAlgn="base">
              <a:lnSpc>
                <a:spcPct val="120000"/>
              </a:lnSpc>
              <a:spcBef>
                <a:spcPct val="0"/>
              </a:spcBef>
              <a:spcAft>
                <a:spcPct val="0"/>
              </a:spcAft>
            </a:pPr>
            <a:r>
              <a:rPr kumimoji="1" lang="en-US" altLang="zh-CN" sz="2400" b="1" dirty="0">
                <a:solidFill>
                  <a:srgbClr val="0000FF"/>
                </a:solidFill>
                <a:latin typeface="Times New Roman" pitchFamily="18" charset="0"/>
              </a:rPr>
              <a:t>I = 2×1+3×2+1×3 = 11</a:t>
            </a:r>
          </a:p>
        </p:txBody>
      </p:sp>
      <p:sp>
        <p:nvSpPr>
          <p:cNvPr id="15" name="Rectangle 207"/>
          <p:cNvSpPr>
            <a:spLocks noChangeArrowheads="1"/>
          </p:cNvSpPr>
          <p:nvPr/>
        </p:nvSpPr>
        <p:spPr bwMode="auto">
          <a:xfrm>
            <a:off x="5648434" y="4953000"/>
            <a:ext cx="3555782" cy="493148"/>
          </a:xfrm>
          <a:prstGeom prst="rect">
            <a:avLst/>
          </a:prstGeom>
          <a:noFill/>
          <a:ln w="12700" cap="rnd" algn="ctr">
            <a:noFill/>
            <a:miter lim="800000"/>
            <a:headEnd/>
            <a:tailEnd/>
          </a:ln>
        </p:spPr>
        <p:txBody>
          <a:bodyPr wrap="none">
            <a:spAutoFit/>
          </a:bodyPr>
          <a:lstStyle/>
          <a:p>
            <a:pPr algn="ctr" fontAlgn="base">
              <a:lnSpc>
                <a:spcPct val="120000"/>
              </a:lnSpc>
              <a:spcBef>
                <a:spcPct val="0"/>
              </a:spcBef>
              <a:spcAft>
                <a:spcPct val="0"/>
              </a:spcAft>
            </a:pPr>
            <a:r>
              <a:rPr kumimoji="1" lang="en-US" altLang="zh-CN" sz="2400" b="1" dirty="0">
                <a:solidFill>
                  <a:srgbClr val="0000FF"/>
                </a:solidFill>
                <a:latin typeface="Times New Roman" pitchFamily="18" charset="0"/>
              </a:rPr>
              <a:t>E = 1×2+5×3+2×4 = 25</a:t>
            </a:r>
          </a:p>
        </p:txBody>
      </p:sp>
      <p:grpSp>
        <p:nvGrpSpPr>
          <p:cNvPr id="16" name="Group 251"/>
          <p:cNvGrpSpPr>
            <a:grpSpLocks/>
          </p:cNvGrpSpPr>
          <p:nvPr/>
        </p:nvGrpSpPr>
        <p:grpSpPr bwMode="auto">
          <a:xfrm>
            <a:off x="992188" y="2862262"/>
            <a:ext cx="2160587" cy="2109788"/>
            <a:chOff x="1396" y="1661"/>
            <a:chExt cx="1031" cy="1056"/>
          </a:xfrm>
        </p:grpSpPr>
        <p:sp>
          <p:nvSpPr>
            <p:cNvPr id="17" name="Oval 252"/>
            <p:cNvSpPr>
              <a:spLocks noChangeArrowheads="1"/>
            </p:cNvSpPr>
            <p:nvPr/>
          </p:nvSpPr>
          <p:spPr bwMode="auto">
            <a:xfrm>
              <a:off x="1812" y="1661"/>
              <a:ext cx="147" cy="136"/>
            </a:xfrm>
            <a:prstGeom prst="ellipse">
              <a:avLst/>
            </a:prstGeom>
            <a:noFill/>
            <a:ln w="19050">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19" name="Oval 253"/>
            <p:cNvSpPr>
              <a:spLocks noChangeArrowheads="1"/>
            </p:cNvSpPr>
            <p:nvPr/>
          </p:nvSpPr>
          <p:spPr bwMode="auto">
            <a:xfrm>
              <a:off x="1592" y="1909"/>
              <a:ext cx="147" cy="136"/>
            </a:xfrm>
            <a:prstGeom prst="ellipse">
              <a:avLst/>
            </a:prstGeom>
            <a:noFill/>
            <a:ln w="19050">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20" name="Oval 254"/>
            <p:cNvSpPr>
              <a:spLocks noChangeArrowheads="1"/>
            </p:cNvSpPr>
            <p:nvPr/>
          </p:nvSpPr>
          <p:spPr bwMode="auto">
            <a:xfrm>
              <a:off x="2011" y="1909"/>
              <a:ext cx="148" cy="136"/>
            </a:xfrm>
            <a:prstGeom prst="ellipse">
              <a:avLst/>
            </a:prstGeom>
            <a:noFill/>
            <a:ln w="19050">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21" name="Oval 255"/>
            <p:cNvSpPr>
              <a:spLocks noChangeArrowheads="1"/>
            </p:cNvSpPr>
            <p:nvPr/>
          </p:nvSpPr>
          <p:spPr bwMode="auto">
            <a:xfrm>
              <a:off x="1396" y="2245"/>
              <a:ext cx="147" cy="136"/>
            </a:xfrm>
            <a:prstGeom prst="ellipse">
              <a:avLst/>
            </a:prstGeom>
            <a:noFill/>
            <a:ln w="19050">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22" name="Oval 256"/>
            <p:cNvSpPr>
              <a:spLocks noChangeArrowheads="1"/>
            </p:cNvSpPr>
            <p:nvPr/>
          </p:nvSpPr>
          <p:spPr bwMode="auto">
            <a:xfrm>
              <a:off x="1959" y="2245"/>
              <a:ext cx="148" cy="136"/>
            </a:xfrm>
            <a:prstGeom prst="ellipse">
              <a:avLst/>
            </a:prstGeom>
            <a:noFill/>
            <a:ln w="19050">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23" name="Oval 257"/>
            <p:cNvSpPr>
              <a:spLocks noChangeArrowheads="1"/>
            </p:cNvSpPr>
            <p:nvPr/>
          </p:nvSpPr>
          <p:spPr bwMode="auto">
            <a:xfrm>
              <a:off x="2280" y="2237"/>
              <a:ext cx="147" cy="136"/>
            </a:xfrm>
            <a:prstGeom prst="ellipse">
              <a:avLst/>
            </a:prstGeom>
            <a:noFill/>
            <a:ln w="19050">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24" name="Oval 258"/>
            <p:cNvSpPr>
              <a:spLocks noChangeArrowheads="1"/>
            </p:cNvSpPr>
            <p:nvPr/>
          </p:nvSpPr>
          <p:spPr bwMode="auto">
            <a:xfrm>
              <a:off x="2115" y="2581"/>
              <a:ext cx="148" cy="136"/>
            </a:xfrm>
            <a:prstGeom prst="ellipse">
              <a:avLst/>
            </a:prstGeom>
            <a:noFill/>
            <a:ln w="19050">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25" name="Line 259"/>
            <p:cNvSpPr>
              <a:spLocks noChangeShapeType="1"/>
            </p:cNvSpPr>
            <p:nvPr/>
          </p:nvSpPr>
          <p:spPr bwMode="auto">
            <a:xfrm flipH="1">
              <a:off x="1699" y="1805"/>
              <a:ext cx="156" cy="96"/>
            </a:xfrm>
            <a:prstGeom prst="line">
              <a:avLst/>
            </a:prstGeom>
            <a:noFill/>
            <a:ln w="19050">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Line 260"/>
            <p:cNvSpPr>
              <a:spLocks noChangeShapeType="1"/>
            </p:cNvSpPr>
            <p:nvPr/>
          </p:nvSpPr>
          <p:spPr bwMode="auto">
            <a:xfrm>
              <a:off x="1907" y="1805"/>
              <a:ext cx="156" cy="96"/>
            </a:xfrm>
            <a:prstGeom prst="line">
              <a:avLst/>
            </a:prstGeom>
            <a:noFill/>
            <a:ln w="19050">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7" name="Line 261"/>
            <p:cNvSpPr>
              <a:spLocks noChangeShapeType="1"/>
            </p:cNvSpPr>
            <p:nvPr/>
          </p:nvSpPr>
          <p:spPr bwMode="auto">
            <a:xfrm flipH="1">
              <a:off x="1491" y="2045"/>
              <a:ext cx="156" cy="192"/>
            </a:xfrm>
            <a:prstGeom prst="line">
              <a:avLst/>
            </a:prstGeom>
            <a:noFill/>
            <a:ln w="19050">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Line 262"/>
            <p:cNvSpPr>
              <a:spLocks noChangeShapeType="1"/>
            </p:cNvSpPr>
            <p:nvPr/>
          </p:nvSpPr>
          <p:spPr bwMode="auto">
            <a:xfrm flipH="1">
              <a:off x="2011" y="2045"/>
              <a:ext cx="52" cy="192"/>
            </a:xfrm>
            <a:prstGeom prst="line">
              <a:avLst/>
            </a:prstGeom>
            <a:noFill/>
            <a:ln w="19050">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9" name="Line 263"/>
            <p:cNvSpPr>
              <a:spLocks noChangeShapeType="1"/>
            </p:cNvSpPr>
            <p:nvPr/>
          </p:nvSpPr>
          <p:spPr bwMode="auto">
            <a:xfrm>
              <a:off x="2115" y="2045"/>
              <a:ext cx="208" cy="192"/>
            </a:xfrm>
            <a:prstGeom prst="line">
              <a:avLst/>
            </a:prstGeom>
            <a:noFill/>
            <a:ln w="19050">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0" name="Line 264"/>
            <p:cNvSpPr>
              <a:spLocks noChangeShapeType="1"/>
            </p:cNvSpPr>
            <p:nvPr/>
          </p:nvSpPr>
          <p:spPr bwMode="auto">
            <a:xfrm>
              <a:off x="2063" y="2381"/>
              <a:ext cx="104" cy="192"/>
            </a:xfrm>
            <a:prstGeom prst="line">
              <a:avLst/>
            </a:prstGeom>
            <a:noFill/>
            <a:ln w="19050">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
        <p:nvSpPr>
          <p:cNvPr id="31" name="Text Box 369"/>
          <p:cNvSpPr txBox="1">
            <a:spLocks noChangeArrowheads="1"/>
          </p:cNvSpPr>
          <p:nvPr/>
        </p:nvSpPr>
        <p:spPr bwMode="auto">
          <a:xfrm>
            <a:off x="609600" y="5448700"/>
            <a:ext cx="8137525" cy="833178"/>
          </a:xfrm>
          <a:prstGeom prst="rect">
            <a:avLst/>
          </a:prstGeom>
          <a:noFill/>
          <a:ln w="9525">
            <a:solidFill>
              <a:srgbClr val="04617B"/>
            </a:solidFill>
            <a:miter lim="800000"/>
            <a:headEnd/>
            <a:tailEnd/>
          </a:ln>
        </p:spPr>
        <p:txBody>
          <a:bodyPr lIns="90000" tIns="46800" rIns="90000" bIns="468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FF3300"/>
                </a:solidFill>
                <a:effectLst/>
                <a:uLnTx/>
                <a:uFillTx/>
                <a:latin typeface="宋体" pitchFamily="2" charset="-122"/>
              </a:rPr>
              <a:t>结论：</a:t>
            </a:r>
            <a:r>
              <a:rPr kumimoji="1" lang="zh-CN" altLang="en-US" sz="2400" b="1" i="0" u="none" strike="noStrike" kern="0" cap="none" spc="0" normalizeH="0" baseline="0" noProof="0" dirty="0">
                <a:ln>
                  <a:noFill/>
                </a:ln>
                <a:solidFill>
                  <a:srgbClr val="0000FF"/>
                </a:solidFill>
                <a:effectLst/>
                <a:uLnTx/>
                <a:uFillTx/>
                <a:latin typeface="宋体" pitchFamily="2" charset="-122"/>
              </a:rPr>
              <a:t>如内结点路径长度为</a:t>
            </a:r>
            <a:r>
              <a:rPr kumimoji="1" lang="en-US" altLang="zh-CN" sz="2400" b="1" i="0" u="none" strike="noStrike" kern="0" cap="none" spc="0" normalizeH="0" baseline="0" noProof="0" dirty="0">
                <a:ln>
                  <a:noFill/>
                </a:ln>
                <a:solidFill>
                  <a:srgbClr val="0000FF"/>
                </a:solidFill>
                <a:effectLst/>
                <a:uLnTx/>
                <a:uFillTx/>
                <a:latin typeface="宋体" pitchFamily="2" charset="-122"/>
              </a:rPr>
              <a:t>I</a:t>
            </a:r>
            <a:r>
              <a:rPr kumimoji="1" lang="zh-CN" altLang="en-US" sz="2400" b="1" i="0" u="none" strike="noStrike" kern="0" cap="none" spc="0" normalizeH="0" baseline="0" noProof="0" dirty="0">
                <a:ln>
                  <a:noFill/>
                </a:ln>
                <a:solidFill>
                  <a:srgbClr val="0000FF"/>
                </a:solidFill>
                <a:effectLst/>
                <a:uLnTx/>
                <a:uFillTx/>
                <a:latin typeface="宋体" pitchFamily="2" charset="-122"/>
              </a:rPr>
              <a:t>，则外结点路径长度</a:t>
            </a:r>
          </a:p>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宋体" pitchFamily="2" charset="-122"/>
              </a:rPr>
              <a:t>            </a:t>
            </a:r>
            <a:r>
              <a:rPr kumimoji="1" lang="en-US" altLang="zh-CN" sz="2400" b="1" i="0" u="none" strike="noStrike" kern="0" cap="none" spc="0" normalizeH="0" baseline="0" noProof="0" dirty="0">
                <a:ln>
                  <a:noFill/>
                </a:ln>
                <a:solidFill>
                  <a:srgbClr val="0000FF"/>
                </a:solidFill>
                <a:effectLst/>
                <a:uLnTx/>
                <a:uFillTx/>
                <a:latin typeface="宋体" pitchFamily="2" charset="-122"/>
              </a:rPr>
              <a:t>E = I</a:t>
            </a:r>
            <a:r>
              <a:rPr kumimoji="1" lang="zh-CN" altLang="en-US" sz="2400" b="1" i="0" u="none" strike="noStrike" kern="0" cap="none" spc="0" normalizeH="0" baseline="0" noProof="0" dirty="0">
                <a:ln>
                  <a:noFill/>
                </a:ln>
                <a:solidFill>
                  <a:srgbClr val="0000FF"/>
                </a:solidFill>
                <a:effectLst/>
                <a:uLnTx/>
                <a:uFillTx/>
                <a:latin typeface="宋体" pitchFamily="2" charset="-122"/>
              </a:rPr>
              <a:t>＋</a:t>
            </a:r>
            <a:r>
              <a:rPr kumimoji="1" lang="en-US" altLang="zh-CN" sz="2400" b="1" i="0" u="none" strike="noStrike" kern="0" cap="none" spc="0" normalizeH="0" baseline="0" noProof="0" dirty="0">
                <a:ln>
                  <a:noFill/>
                </a:ln>
                <a:solidFill>
                  <a:srgbClr val="0000FF"/>
                </a:solidFill>
                <a:effectLst/>
                <a:uLnTx/>
                <a:uFillTx/>
                <a:latin typeface="宋体" pitchFamily="2" charset="-122"/>
              </a:rPr>
              <a:t>2×n </a:t>
            </a:r>
          </a:p>
        </p:txBody>
      </p:sp>
      <p:grpSp>
        <p:nvGrpSpPr>
          <p:cNvPr id="32" name="Group 413"/>
          <p:cNvGrpSpPr>
            <a:grpSpLocks/>
          </p:cNvGrpSpPr>
          <p:nvPr/>
        </p:nvGrpSpPr>
        <p:grpSpPr bwMode="auto">
          <a:xfrm>
            <a:off x="6156325" y="2668587"/>
            <a:ext cx="2325688" cy="2303463"/>
            <a:chOff x="3878" y="1344"/>
            <a:chExt cx="1465" cy="1451"/>
          </a:xfrm>
        </p:grpSpPr>
        <p:sp>
          <p:nvSpPr>
            <p:cNvPr id="33" name="Oval 384"/>
            <p:cNvSpPr>
              <a:spLocks noChangeArrowheads="1"/>
            </p:cNvSpPr>
            <p:nvPr/>
          </p:nvSpPr>
          <p:spPr bwMode="auto">
            <a:xfrm>
              <a:off x="4530" y="1344"/>
              <a:ext cx="152" cy="142"/>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34" name="Oval 385"/>
            <p:cNvSpPr>
              <a:spLocks noChangeArrowheads="1"/>
            </p:cNvSpPr>
            <p:nvPr/>
          </p:nvSpPr>
          <p:spPr bwMode="auto">
            <a:xfrm>
              <a:off x="4304" y="1603"/>
              <a:ext cx="151" cy="141"/>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35" name="Oval 386"/>
            <p:cNvSpPr>
              <a:spLocks noChangeArrowheads="1"/>
            </p:cNvSpPr>
            <p:nvPr/>
          </p:nvSpPr>
          <p:spPr bwMode="auto">
            <a:xfrm>
              <a:off x="4736" y="1603"/>
              <a:ext cx="152" cy="141"/>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36" name="Oval 387"/>
            <p:cNvSpPr>
              <a:spLocks noChangeArrowheads="1"/>
            </p:cNvSpPr>
            <p:nvPr/>
          </p:nvSpPr>
          <p:spPr bwMode="auto">
            <a:xfrm>
              <a:off x="4102" y="1953"/>
              <a:ext cx="151" cy="142"/>
            </a:xfrm>
            <a:prstGeom prst="ellipse">
              <a:avLst/>
            </a:prstGeom>
            <a:noFill/>
            <a:ln w="9525">
              <a:solidFill>
                <a:srgbClr val="000000"/>
              </a:solidFill>
              <a:round/>
              <a:headEnd/>
              <a:tailEnd/>
            </a:ln>
          </p:spPr>
          <p:txBody>
            <a:bodyPr lIns="0" tIns="0" rIns="0" bIns="0" anchor="ctr"/>
            <a:lstStyle/>
            <a:p>
              <a:pPr marL="0" marR="0" lvl="0" indent="0" algn="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37" name="Oval 388"/>
            <p:cNvSpPr>
              <a:spLocks noChangeArrowheads="1"/>
            </p:cNvSpPr>
            <p:nvPr/>
          </p:nvSpPr>
          <p:spPr bwMode="auto">
            <a:xfrm>
              <a:off x="4682" y="1953"/>
              <a:ext cx="152" cy="142"/>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38" name="Oval 389"/>
            <p:cNvSpPr>
              <a:spLocks noChangeArrowheads="1"/>
            </p:cNvSpPr>
            <p:nvPr/>
          </p:nvSpPr>
          <p:spPr bwMode="auto">
            <a:xfrm>
              <a:off x="5013" y="1944"/>
              <a:ext cx="151" cy="142"/>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39" name="Oval 390"/>
            <p:cNvSpPr>
              <a:spLocks noChangeArrowheads="1"/>
            </p:cNvSpPr>
            <p:nvPr/>
          </p:nvSpPr>
          <p:spPr bwMode="auto">
            <a:xfrm>
              <a:off x="4789" y="2303"/>
              <a:ext cx="152" cy="142"/>
            </a:xfrm>
            <a:prstGeom prst="ellipse">
              <a:avLst/>
            </a:prstGeom>
            <a:noFill/>
            <a:ln w="9525">
              <a:solidFill>
                <a:srgbClr val="000000"/>
              </a:solidFill>
              <a:round/>
              <a:headEnd/>
              <a:tailEnd/>
            </a:ln>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srgbClr val="FFFF00"/>
                </a:solidFill>
                <a:effectLst/>
                <a:uLnTx/>
                <a:uFillTx/>
                <a:latin typeface="Times New Roman" pitchFamily="18" charset="0"/>
              </a:endParaRPr>
            </a:p>
          </p:txBody>
        </p:sp>
        <p:sp>
          <p:nvSpPr>
            <p:cNvPr id="40" name="Line 391"/>
            <p:cNvSpPr>
              <a:spLocks noChangeShapeType="1"/>
            </p:cNvSpPr>
            <p:nvPr/>
          </p:nvSpPr>
          <p:spPr bwMode="auto">
            <a:xfrm flipH="1">
              <a:off x="4414" y="1494"/>
              <a:ext cx="161" cy="100"/>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1" name="Line 392"/>
            <p:cNvSpPr>
              <a:spLocks noChangeShapeType="1"/>
            </p:cNvSpPr>
            <p:nvPr/>
          </p:nvSpPr>
          <p:spPr bwMode="auto">
            <a:xfrm>
              <a:off x="4629" y="1494"/>
              <a:ext cx="160" cy="100"/>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2" name="Line 393"/>
            <p:cNvSpPr>
              <a:spLocks noChangeShapeType="1"/>
            </p:cNvSpPr>
            <p:nvPr/>
          </p:nvSpPr>
          <p:spPr bwMode="auto">
            <a:xfrm flipH="1">
              <a:off x="4200" y="1744"/>
              <a:ext cx="161" cy="200"/>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3" name="Line 394"/>
            <p:cNvSpPr>
              <a:spLocks noChangeShapeType="1"/>
            </p:cNvSpPr>
            <p:nvPr/>
          </p:nvSpPr>
          <p:spPr bwMode="auto">
            <a:xfrm>
              <a:off x="4414" y="1744"/>
              <a:ext cx="107" cy="250"/>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4" name="Line 395"/>
            <p:cNvSpPr>
              <a:spLocks noChangeShapeType="1"/>
            </p:cNvSpPr>
            <p:nvPr/>
          </p:nvSpPr>
          <p:spPr bwMode="auto">
            <a:xfrm flipH="1">
              <a:off x="4736" y="1744"/>
              <a:ext cx="53" cy="200"/>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5" name="Line 396"/>
            <p:cNvSpPr>
              <a:spLocks noChangeShapeType="1"/>
            </p:cNvSpPr>
            <p:nvPr/>
          </p:nvSpPr>
          <p:spPr bwMode="auto">
            <a:xfrm>
              <a:off x="4843" y="1744"/>
              <a:ext cx="214" cy="200"/>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6" name="Line 397"/>
            <p:cNvSpPr>
              <a:spLocks noChangeShapeType="1"/>
            </p:cNvSpPr>
            <p:nvPr/>
          </p:nvSpPr>
          <p:spPr bwMode="auto">
            <a:xfrm flipH="1">
              <a:off x="4039" y="2095"/>
              <a:ext cx="107" cy="200"/>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7" name="Line 398"/>
            <p:cNvSpPr>
              <a:spLocks noChangeShapeType="1"/>
            </p:cNvSpPr>
            <p:nvPr/>
          </p:nvSpPr>
          <p:spPr bwMode="auto">
            <a:xfrm>
              <a:off x="4200" y="2095"/>
              <a:ext cx="161" cy="200"/>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8" name="Line 399"/>
            <p:cNvSpPr>
              <a:spLocks noChangeShapeType="1"/>
            </p:cNvSpPr>
            <p:nvPr/>
          </p:nvSpPr>
          <p:spPr bwMode="auto">
            <a:xfrm>
              <a:off x="4789" y="2095"/>
              <a:ext cx="54" cy="200"/>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49" name="Rectangle 400"/>
            <p:cNvSpPr>
              <a:spLocks noChangeArrowheads="1"/>
            </p:cNvSpPr>
            <p:nvPr/>
          </p:nvSpPr>
          <p:spPr bwMode="auto">
            <a:xfrm>
              <a:off x="3878" y="2295"/>
              <a:ext cx="161" cy="150"/>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0" name="Rectangle 401"/>
            <p:cNvSpPr>
              <a:spLocks noChangeArrowheads="1"/>
            </p:cNvSpPr>
            <p:nvPr/>
          </p:nvSpPr>
          <p:spPr bwMode="auto">
            <a:xfrm>
              <a:off x="4253" y="2295"/>
              <a:ext cx="161" cy="150"/>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1" name="Rectangle 402"/>
            <p:cNvSpPr>
              <a:spLocks noChangeArrowheads="1"/>
            </p:cNvSpPr>
            <p:nvPr/>
          </p:nvSpPr>
          <p:spPr bwMode="auto">
            <a:xfrm>
              <a:off x="4521" y="2295"/>
              <a:ext cx="161" cy="150"/>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2" name="Rectangle 403"/>
            <p:cNvSpPr>
              <a:spLocks noChangeArrowheads="1"/>
            </p:cNvSpPr>
            <p:nvPr/>
          </p:nvSpPr>
          <p:spPr bwMode="auto">
            <a:xfrm>
              <a:off x="4968" y="2295"/>
              <a:ext cx="161" cy="150"/>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3" name="Rectangle 404"/>
            <p:cNvSpPr>
              <a:spLocks noChangeArrowheads="1"/>
            </p:cNvSpPr>
            <p:nvPr/>
          </p:nvSpPr>
          <p:spPr bwMode="auto">
            <a:xfrm>
              <a:off x="5182" y="2295"/>
              <a:ext cx="161" cy="150"/>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4" name="Rectangle 405"/>
            <p:cNvSpPr>
              <a:spLocks noChangeArrowheads="1"/>
            </p:cNvSpPr>
            <p:nvPr/>
          </p:nvSpPr>
          <p:spPr bwMode="auto">
            <a:xfrm>
              <a:off x="4700" y="2645"/>
              <a:ext cx="161" cy="150"/>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5" name="Rectangle 406"/>
            <p:cNvSpPr>
              <a:spLocks noChangeArrowheads="1"/>
            </p:cNvSpPr>
            <p:nvPr/>
          </p:nvSpPr>
          <p:spPr bwMode="auto">
            <a:xfrm>
              <a:off x="4941" y="2645"/>
              <a:ext cx="161" cy="150"/>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6" name="Rectangle 407"/>
            <p:cNvSpPr>
              <a:spLocks noChangeArrowheads="1"/>
            </p:cNvSpPr>
            <p:nvPr/>
          </p:nvSpPr>
          <p:spPr bwMode="auto">
            <a:xfrm>
              <a:off x="4450" y="1994"/>
              <a:ext cx="161" cy="151"/>
            </a:xfrm>
            <a:prstGeom prst="rect">
              <a:avLst/>
            </a:prstGeom>
            <a:noFill/>
            <a:ln w="9525">
              <a:solidFill>
                <a:srgbClr val="000000"/>
              </a:solidFill>
              <a:miter lim="800000"/>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7" name="Line 408"/>
            <p:cNvSpPr>
              <a:spLocks noChangeShapeType="1"/>
            </p:cNvSpPr>
            <p:nvPr/>
          </p:nvSpPr>
          <p:spPr bwMode="auto">
            <a:xfrm flipH="1">
              <a:off x="4629" y="2095"/>
              <a:ext cx="107" cy="200"/>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8" name="Line 409"/>
            <p:cNvSpPr>
              <a:spLocks noChangeShapeType="1"/>
            </p:cNvSpPr>
            <p:nvPr/>
          </p:nvSpPr>
          <p:spPr bwMode="auto">
            <a:xfrm flipH="1">
              <a:off x="5057" y="2095"/>
              <a:ext cx="54" cy="200"/>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9" name="Line 410"/>
            <p:cNvSpPr>
              <a:spLocks noChangeShapeType="1"/>
            </p:cNvSpPr>
            <p:nvPr/>
          </p:nvSpPr>
          <p:spPr bwMode="auto">
            <a:xfrm>
              <a:off x="5093" y="2095"/>
              <a:ext cx="161" cy="200"/>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0" name="Line 411"/>
            <p:cNvSpPr>
              <a:spLocks noChangeShapeType="1"/>
            </p:cNvSpPr>
            <p:nvPr/>
          </p:nvSpPr>
          <p:spPr bwMode="auto">
            <a:xfrm flipH="1">
              <a:off x="4789" y="2445"/>
              <a:ext cx="54" cy="200"/>
            </a:xfrm>
            <a:prstGeom prst="line">
              <a:avLst/>
            </a:prstGeom>
            <a:noFill/>
            <a:ln w="9525">
              <a:solidFill>
                <a:srgbClr val="000000"/>
              </a:solidFill>
              <a:round/>
              <a:headEnd/>
              <a:tailEnd/>
            </a:ln>
          </p:spPr>
          <p:txBody>
            <a:bodyPr wrap="none"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61" name="Line 412"/>
            <p:cNvSpPr>
              <a:spLocks noChangeShapeType="1"/>
            </p:cNvSpPr>
            <p:nvPr/>
          </p:nvSpPr>
          <p:spPr bwMode="auto">
            <a:xfrm>
              <a:off x="4896" y="2445"/>
              <a:ext cx="108" cy="200"/>
            </a:xfrm>
            <a:prstGeom prst="line">
              <a:avLst/>
            </a:prstGeom>
            <a:noFill/>
            <a:ln w="9525">
              <a:solidFill>
                <a:srgbClr val="000000"/>
              </a:solidFill>
              <a:round/>
              <a:headEnd/>
              <a:tailEnd/>
            </a:ln>
          </p:spPr>
          <p:txBody>
            <a:bodyPr lIns="90000" tIns="46800" rIns="90000" bIns="4680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spTree>
    <p:extLst>
      <p:ext uri="{BB962C8B-B14F-4D97-AF65-F5344CB8AC3E}">
        <p14:creationId xmlns:p14="http://schemas.microsoft.com/office/powerpoint/2010/main" val="1005284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31"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树的构造</a:t>
            </a:r>
          </a:p>
          <a:p>
            <a:pPr>
              <a:lnSpc>
                <a:spcPts val="3600"/>
              </a:lnSpc>
            </a:pPr>
            <a:endParaRPr lang="zh-CN" altLang="en-US" sz="2400" b="1" dirty="0"/>
          </a:p>
        </p:txBody>
      </p:sp>
      <p:sp>
        <p:nvSpPr>
          <p:cNvPr id="4" name="日期占位符 3"/>
          <p:cNvSpPr>
            <a:spLocks noGrp="1"/>
          </p:cNvSpPr>
          <p:nvPr>
            <p:ph type="dt" sz="half" idx="10"/>
          </p:nvPr>
        </p:nvSpPr>
        <p:spPr/>
        <p:txBody>
          <a:bodyPr/>
          <a:lstStyle/>
          <a:p>
            <a:fld id="{DAA45692-45EC-466D-BA94-01E0BE3A6B31}"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170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3"/>
          <p:cNvSpPr txBox="1">
            <a:spLocks noChangeArrowheads="1"/>
          </p:cNvSpPr>
          <p:nvPr/>
        </p:nvSpPr>
        <p:spPr bwMode="auto">
          <a:xfrm>
            <a:off x="685800" y="1860149"/>
            <a:ext cx="7972768" cy="4376583"/>
          </a:xfrm>
          <a:prstGeom prst="rect">
            <a:avLst/>
          </a:prstGeom>
          <a:noFill/>
          <a:ln w="12700" cap="rnd">
            <a:solidFill>
              <a:srgbClr val="04617B"/>
            </a:solidFill>
            <a:miter lim="800000"/>
            <a:headEnd/>
            <a:tailEnd/>
          </a:ln>
        </p:spPr>
        <p:txBody>
          <a:bodyPr wrap="square">
            <a:spAutoFit/>
          </a:bodyPr>
          <a:lstStyle/>
          <a:p>
            <a:pPr marL="609600" marR="0" lvl="0" indent="-609600" defTabSz="914400" eaLnBrk="1" fontAlgn="base" latinLnBrk="0" hangingPunct="1">
              <a:lnSpc>
                <a:spcPct val="100000"/>
              </a:lnSpc>
              <a:spcBef>
                <a:spcPct val="40000"/>
              </a:spcBef>
              <a:spcAft>
                <a:spcPct val="0"/>
              </a:spcAft>
              <a:buClrTx/>
              <a:buSzTx/>
              <a:buFontTx/>
              <a:buNone/>
              <a:tabLst/>
              <a:defRPr/>
            </a:pPr>
            <a:r>
              <a:rPr kumimoji="1" lang="zh-CN" altLang="en-US" sz="2400" b="1" i="0" u="none" strike="noStrike" kern="0" cap="none" spc="0" normalizeH="0" baseline="0" noProof="0">
                <a:ln>
                  <a:noFill/>
                </a:ln>
                <a:solidFill>
                  <a:srgbClr val="FF3300"/>
                </a:solidFill>
                <a:effectLst/>
                <a:uLnTx/>
                <a:uFillTx/>
                <a:latin typeface="宋体" pitchFamily="2" charset="-122"/>
              </a:rPr>
              <a:t>构造</a:t>
            </a:r>
            <a:r>
              <a:rPr kumimoji="1" lang="en-US" altLang="zh-CN" sz="2400" b="1" i="0" u="none" strike="noStrike" kern="0" cap="none" spc="0" normalizeH="0" baseline="0" noProof="0">
                <a:ln>
                  <a:noFill/>
                </a:ln>
                <a:solidFill>
                  <a:srgbClr val="FF3300"/>
                </a:solidFill>
                <a:effectLst/>
                <a:uLnTx/>
                <a:uFillTx/>
                <a:latin typeface="宋体" pitchFamily="2" charset="-122"/>
              </a:rPr>
              <a:t>Huffman</a:t>
            </a:r>
            <a:r>
              <a:rPr kumimoji="1" lang="zh-CN" altLang="en-US" sz="2400" b="1" i="0" u="none" strike="noStrike" kern="0" cap="none" spc="0" normalizeH="0" baseline="0" noProof="0">
                <a:ln>
                  <a:noFill/>
                </a:ln>
                <a:solidFill>
                  <a:srgbClr val="FF3300"/>
                </a:solidFill>
                <a:effectLst/>
                <a:uLnTx/>
                <a:uFillTx/>
                <a:latin typeface="宋体" pitchFamily="2" charset="-122"/>
              </a:rPr>
              <a:t>树的步骤：</a:t>
            </a:r>
          </a:p>
          <a:p>
            <a:pPr marL="609600" marR="0" lvl="0" indent="-609600" defTabSz="914400" eaLnBrk="1" fontAlgn="base" latinLnBrk="0" hangingPunct="1">
              <a:lnSpc>
                <a:spcPct val="100000"/>
              </a:lnSpc>
              <a:spcBef>
                <a:spcPct val="4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1． 根据给定的</a:t>
            </a:r>
            <a:r>
              <a:rPr kumimoji="1" lang="en-US" altLang="zh-CN" sz="2400" b="1" i="0" u="none" strike="noStrike" kern="0" cap="none" spc="0" normalizeH="0" baseline="0" noProof="0">
                <a:ln>
                  <a:noFill/>
                </a:ln>
                <a:solidFill>
                  <a:srgbClr val="0000FF"/>
                </a:solidFill>
                <a:effectLst/>
                <a:uLnTx/>
                <a:uFillTx/>
                <a:latin typeface="宋体" pitchFamily="2" charset="-122"/>
              </a:rPr>
              <a:t>n</a:t>
            </a:r>
            <a:r>
              <a:rPr kumimoji="1" lang="zh-CN" altLang="en-US" sz="2400" b="1" i="0" u="none" strike="noStrike" kern="0" cap="none" spc="0" normalizeH="0" baseline="0" noProof="0">
                <a:ln>
                  <a:noFill/>
                </a:ln>
                <a:solidFill>
                  <a:srgbClr val="0000FF"/>
                </a:solidFill>
                <a:effectLst/>
                <a:uLnTx/>
                <a:uFillTx/>
                <a:latin typeface="宋体" pitchFamily="2" charset="-122"/>
              </a:rPr>
              <a:t>个权值 ，构造</a:t>
            </a:r>
            <a:r>
              <a:rPr kumimoji="1" lang="en-US" altLang="zh-CN" sz="2400" b="1" i="0" u="none" strike="noStrike" kern="0" cap="none" spc="0" normalizeH="0" baseline="0" noProof="0">
                <a:ln>
                  <a:noFill/>
                </a:ln>
                <a:solidFill>
                  <a:srgbClr val="0000FF"/>
                </a:solidFill>
                <a:effectLst/>
                <a:uLnTx/>
                <a:uFillTx/>
                <a:latin typeface="宋体" pitchFamily="2" charset="-122"/>
              </a:rPr>
              <a:t>n</a:t>
            </a:r>
            <a:r>
              <a:rPr kumimoji="1" lang="zh-CN" altLang="en-US" sz="2400" b="1" i="0" u="none" strike="noStrike" kern="0" cap="none" spc="0" normalizeH="0" baseline="0" noProof="0">
                <a:ln>
                  <a:noFill/>
                </a:ln>
                <a:solidFill>
                  <a:srgbClr val="0000FF"/>
                </a:solidFill>
                <a:effectLst/>
                <a:uLnTx/>
                <a:uFillTx/>
                <a:latin typeface="宋体" pitchFamily="2" charset="-122"/>
              </a:rPr>
              <a:t>棵只有一个根结点的二叉树，</a:t>
            </a:r>
            <a:r>
              <a:rPr kumimoji="1" lang="en-US" altLang="zh-CN" sz="2400" b="1" i="0" u="none" strike="noStrike" kern="0" cap="none" spc="0" normalizeH="0" baseline="0" noProof="0">
                <a:ln>
                  <a:noFill/>
                </a:ln>
                <a:solidFill>
                  <a:srgbClr val="0000FF"/>
                </a:solidFill>
                <a:effectLst/>
                <a:uLnTx/>
                <a:uFillTx/>
                <a:latin typeface="宋体" pitchFamily="2" charset="-122"/>
              </a:rPr>
              <a:t>n</a:t>
            </a:r>
            <a:r>
              <a:rPr kumimoji="1" lang="zh-CN" altLang="en-US" sz="2400" b="1" i="0" u="none" strike="noStrike" kern="0" cap="none" spc="0" normalizeH="0" baseline="0" noProof="0">
                <a:ln>
                  <a:noFill/>
                </a:ln>
                <a:solidFill>
                  <a:srgbClr val="0000FF"/>
                </a:solidFill>
                <a:effectLst/>
                <a:uLnTx/>
                <a:uFillTx/>
                <a:latin typeface="宋体" pitchFamily="2" charset="-122"/>
              </a:rPr>
              <a:t>个权值分别是这些二叉树根结点的权。</a:t>
            </a:r>
          </a:p>
          <a:p>
            <a:pPr marL="609600" marR="0" lvl="0" indent="-609600" defTabSz="914400" eaLnBrk="1" fontAlgn="base" latinLnBrk="0" hangingPunct="1">
              <a:lnSpc>
                <a:spcPct val="100000"/>
              </a:lnSpc>
              <a:spcBef>
                <a:spcPct val="4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2． 设</a:t>
            </a:r>
            <a:r>
              <a:rPr kumimoji="1" lang="en-US" altLang="zh-CN" sz="2400" b="1" i="0" u="none" strike="noStrike" kern="0" cap="none" spc="0" normalizeH="0" baseline="0" noProof="0">
                <a:ln>
                  <a:noFill/>
                </a:ln>
                <a:solidFill>
                  <a:srgbClr val="0000FF"/>
                </a:solidFill>
                <a:effectLst/>
                <a:uLnTx/>
                <a:uFillTx/>
                <a:latin typeface="宋体" pitchFamily="2" charset="-122"/>
              </a:rPr>
              <a:t>F</a:t>
            </a:r>
            <a:r>
              <a:rPr kumimoji="1" lang="zh-CN" altLang="en-US" sz="2400" b="1" i="0" u="none" strike="noStrike" kern="0" cap="none" spc="0" normalizeH="0" baseline="0" noProof="0">
                <a:ln>
                  <a:noFill/>
                </a:ln>
                <a:solidFill>
                  <a:srgbClr val="0000FF"/>
                </a:solidFill>
                <a:effectLst/>
                <a:uLnTx/>
                <a:uFillTx/>
                <a:latin typeface="宋体" pitchFamily="2" charset="-122"/>
              </a:rPr>
              <a:t>是由这</a:t>
            </a:r>
            <a:r>
              <a:rPr kumimoji="1" lang="en-US" altLang="zh-CN" sz="2400" b="1" i="0" u="none" strike="noStrike" kern="0" cap="none" spc="0" normalizeH="0" baseline="0" noProof="0">
                <a:ln>
                  <a:noFill/>
                </a:ln>
                <a:solidFill>
                  <a:srgbClr val="0000FF"/>
                </a:solidFill>
                <a:effectLst/>
                <a:uLnTx/>
                <a:uFillTx/>
                <a:latin typeface="宋体" pitchFamily="2" charset="-122"/>
              </a:rPr>
              <a:t>n</a:t>
            </a:r>
            <a:r>
              <a:rPr kumimoji="1" lang="zh-CN" altLang="en-US" sz="2400" b="1" i="0" u="none" strike="noStrike" kern="0" cap="none" spc="0" normalizeH="0" baseline="0" noProof="0">
                <a:ln>
                  <a:noFill/>
                </a:ln>
                <a:solidFill>
                  <a:srgbClr val="0000FF"/>
                </a:solidFill>
                <a:effectLst/>
                <a:uLnTx/>
                <a:uFillTx/>
                <a:latin typeface="宋体" pitchFamily="2" charset="-122"/>
              </a:rPr>
              <a:t>棵二叉树构成的集合，在</a:t>
            </a:r>
            <a:r>
              <a:rPr kumimoji="1" lang="en-US" altLang="zh-CN" sz="2400" b="1" i="0" u="none" strike="noStrike" kern="0" cap="none" spc="0" normalizeH="0" baseline="0" noProof="0">
                <a:ln>
                  <a:noFill/>
                </a:ln>
                <a:solidFill>
                  <a:srgbClr val="0000FF"/>
                </a:solidFill>
                <a:effectLst/>
                <a:uLnTx/>
                <a:uFillTx/>
                <a:latin typeface="宋体" pitchFamily="2" charset="-122"/>
              </a:rPr>
              <a:t>F</a:t>
            </a:r>
            <a:r>
              <a:rPr kumimoji="1" lang="zh-CN" altLang="en-US" sz="2400" b="1" i="0" u="none" strike="noStrike" kern="0" cap="none" spc="0" normalizeH="0" baseline="0" noProof="0">
                <a:ln>
                  <a:noFill/>
                </a:ln>
                <a:solidFill>
                  <a:srgbClr val="0000FF"/>
                </a:solidFill>
                <a:effectLst/>
                <a:uLnTx/>
                <a:uFillTx/>
                <a:latin typeface="宋体" pitchFamily="2" charset="-122"/>
              </a:rPr>
              <a:t>中选取两棵根结点树值最小的树作为左、右子树，构造一颗新的二叉树，置新二叉树根的权值=左、右子树根结点权值之和；</a:t>
            </a:r>
          </a:p>
          <a:p>
            <a:pPr marL="609600" marR="0" lvl="0" indent="-609600" defTabSz="914400" eaLnBrk="1" fontAlgn="base" latinLnBrk="0" hangingPunct="1">
              <a:lnSpc>
                <a:spcPct val="100000"/>
              </a:lnSpc>
              <a:spcBef>
                <a:spcPct val="4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3． 从</a:t>
            </a:r>
            <a:r>
              <a:rPr kumimoji="1" lang="en-US" altLang="zh-CN" sz="2400" b="1" i="0" u="none" strike="noStrike" kern="0" cap="none" spc="0" normalizeH="0" baseline="0" noProof="0">
                <a:ln>
                  <a:noFill/>
                </a:ln>
                <a:solidFill>
                  <a:srgbClr val="0000FF"/>
                </a:solidFill>
                <a:effectLst/>
                <a:uLnTx/>
                <a:uFillTx/>
                <a:latin typeface="宋体" pitchFamily="2" charset="-122"/>
              </a:rPr>
              <a:t>F</a:t>
            </a:r>
            <a:r>
              <a:rPr kumimoji="1" lang="zh-CN" altLang="en-US" sz="2400" b="1" i="0" u="none" strike="noStrike" kern="0" cap="none" spc="0" normalizeH="0" baseline="0" noProof="0">
                <a:ln>
                  <a:noFill/>
                </a:ln>
                <a:solidFill>
                  <a:srgbClr val="0000FF"/>
                </a:solidFill>
                <a:effectLst/>
                <a:uLnTx/>
                <a:uFillTx/>
                <a:latin typeface="宋体" pitchFamily="2" charset="-122"/>
              </a:rPr>
              <a:t>中删除这两颗树，并将新树加入</a:t>
            </a:r>
            <a:r>
              <a:rPr kumimoji="1" lang="en-US" altLang="zh-CN" sz="2400" b="1" i="0" u="none" strike="noStrike" kern="0" cap="none" spc="0" normalizeH="0" baseline="0" noProof="0">
                <a:ln>
                  <a:noFill/>
                </a:ln>
                <a:solidFill>
                  <a:srgbClr val="0000FF"/>
                </a:solidFill>
                <a:effectLst/>
                <a:uLnTx/>
                <a:uFillTx/>
                <a:latin typeface="宋体" pitchFamily="2" charset="-122"/>
              </a:rPr>
              <a:t>F；</a:t>
            </a:r>
          </a:p>
          <a:p>
            <a:pPr marL="609600" marR="0" lvl="0" indent="-609600" defTabSz="914400" eaLnBrk="1" fontAlgn="base" latinLnBrk="0" hangingPunct="1">
              <a:lnSpc>
                <a:spcPct val="100000"/>
              </a:lnSpc>
              <a:spcBef>
                <a:spcPct val="4000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宋体" pitchFamily="2" charset="-122"/>
              </a:rPr>
              <a:t>4． </a:t>
            </a:r>
            <a:r>
              <a:rPr kumimoji="1" lang="zh-CN" altLang="en-US" sz="2400" b="1" i="0" u="none" strike="noStrike" kern="0" cap="none" spc="0" normalizeH="0" baseline="0" noProof="0">
                <a:ln>
                  <a:noFill/>
                </a:ln>
                <a:solidFill>
                  <a:srgbClr val="0000FF"/>
                </a:solidFill>
                <a:effectLst/>
                <a:uLnTx/>
                <a:uFillTx/>
                <a:latin typeface="宋体" pitchFamily="2" charset="-122"/>
              </a:rPr>
              <a:t>重复 2、3，直到</a:t>
            </a:r>
            <a:r>
              <a:rPr kumimoji="1" lang="en-US" altLang="zh-CN" sz="2400" b="1" i="0" u="none" strike="noStrike" kern="0" cap="none" spc="0" normalizeH="0" baseline="0" noProof="0">
                <a:ln>
                  <a:noFill/>
                </a:ln>
                <a:solidFill>
                  <a:srgbClr val="0000FF"/>
                </a:solidFill>
                <a:effectLst/>
                <a:uLnTx/>
                <a:uFillTx/>
                <a:latin typeface="宋体" pitchFamily="2" charset="-122"/>
              </a:rPr>
              <a:t>F</a:t>
            </a:r>
            <a:r>
              <a:rPr kumimoji="1" lang="zh-CN" altLang="en-US" sz="2400" b="1" i="0" u="none" strike="noStrike" kern="0" cap="none" spc="0" normalizeH="0" baseline="0" noProof="0">
                <a:ln>
                  <a:noFill/>
                </a:ln>
                <a:solidFill>
                  <a:srgbClr val="0000FF"/>
                </a:solidFill>
                <a:effectLst/>
                <a:uLnTx/>
                <a:uFillTx/>
                <a:latin typeface="宋体" pitchFamily="2" charset="-122"/>
              </a:rPr>
              <a:t>中只含一颗树为止；</a:t>
            </a:r>
            <a:r>
              <a:rPr kumimoji="1" lang="en-US" altLang="zh-CN" sz="2400" b="1" i="0" u="none" strike="noStrike" kern="0" cap="none" spc="0" normalizeH="0" baseline="0" noProof="0">
                <a:ln>
                  <a:noFill/>
                </a:ln>
                <a:solidFill>
                  <a:srgbClr val="FFFF66"/>
                </a:solidFill>
                <a:effectLst/>
                <a:uLnTx/>
                <a:uFillTx/>
                <a:latin typeface="华文隶书" pitchFamily="2" charset="-122"/>
                <a:ea typeface="华文隶书" pitchFamily="2" charset="-122"/>
              </a:rPr>
              <a:t>   </a:t>
            </a:r>
            <a:r>
              <a:rPr kumimoji="1" lang="zh-CN" altLang="en-US" sz="2400" b="1" i="0" u="none" strike="noStrike" kern="0" cap="none" spc="0" normalizeH="0" baseline="0" noProof="0">
                <a:ln>
                  <a:noFill/>
                </a:ln>
                <a:solidFill>
                  <a:srgbClr val="0000FF"/>
                </a:solidFill>
                <a:effectLst/>
                <a:uLnTx/>
                <a:uFillTx/>
                <a:latin typeface="宋体" pitchFamily="2" charset="-122"/>
              </a:rPr>
              <a:t>这棵树便是</a:t>
            </a:r>
            <a:r>
              <a:rPr kumimoji="1" lang="en-US" altLang="zh-CN" sz="2400" b="1" i="0" u="none" strike="noStrike" kern="0" cap="none" spc="0" normalizeH="0" baseline="0" noProof="0">
                <a:ln>
                  <a:noFill/>
                </a:ln>
                <a:solidFill>
                  <a:srgbClr val="0000FF"/>
                </a:solidFill>
                <a:effectLst/>
                <a:uLnTx/>
                <a:uFillTx/>
                <a:latin typeface="宋体" pitchFamily="2" charset="-122"/>
              </a:rPr>
              <a:t>Huffman</a:t>
            </a:r>
            <a:r>
              <a:rPr kumimoji="1" lang="zh-CN" altLang="en-US" sz="2400" b="1" i="0" u="none" strike="noStrike" kern="0" cap="none" spc="0" normalizeH="0" baseline="0" noProof="0">
                <a:ln>
                  <a:noFill/>
                </a:ln>
                <a:solidFill>
                  <a:srgbClr val="0000FF"/>
                </a:solidFill>
                <a:effectLst/>
                <a:uLnTx/>
                <a:uFillTx/>
                <a:latin typeface="宋体" pitchFamily="2" charset="-122"/>
              </a:rPr>
              <a:t>树 </a:t>
            </a:r>
          </a:p>
        </p:txBody>
      </p:sp>
    </p:spTree>
    <p:extLst>
      <p:ext uri="{BB962C8B-B14F-4D97-AF65-F5344CB8AC3E}">
        <p14:creationId xmlns:p14="http://schemas.microsoft.com/office/powerpoint/2010/main" val="501546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endParaRPr lang="zh-CN" altLang="en-US" sz="2400" b="1" dirty="0"/>
          </a:p>
          <a:p>
            <a:pPr>
              <a:lnSpc>
                <a:spcPts val="3600"/>
              </a:lnSpc>
            </a:pPr>
            <a:endParaRPr lang="zh-CN" altLang="en-US" sz="2400" b="1" dirty="0"/>
          </a:p>
        </p:txBody>
      </p:sp>
      <p:sp>
        <p:nvSpPr>
          <p:cNvPr id="4" name="日期占位符 3"/>
          <p:cNvSpPr>
            <a:spLocks noGrp="1"/>
          </p:cNvSpPr>
          <p:nvPr>
            <p:ph type="dt" sz="half" idx="10"/>
          </p:nvPr>
        </p:nvSpPr>
        <p:spPr/>
        <p:txBody>
          <a:bodyPr/>
          <a:lstStyle/>
          <a:p>
            <a:fld id="{FBB944A5-1DD7-4678-9850-79B94179D6B2}"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171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14" name="Group 153"/>
          <p:cNvGrpSpPr>
            <a:grpSpLocks/>
          </p:cNvGrpSpPr>
          <p:nvPr/>
        </p:nvGrpSpPr>
        <p:grpSpPr bwMode="auto">
          <a:xfrm>
            <a:off x="576263" y="4608512"/>
            <a:ext cx="604837" cy="609600"/>
            <a:chOff x="545" y="2886"/>
            <a:chExt cx="381" cy="384"/>
          </a:xfrm>
        </p:grpSpPr>
        <p:sp>
          <p:nvSpPr>
            <p:cNvPr id="15" name="Line 93"/>
            <p:cNvSpPr>
              <a:spLocks noChangeShapeType="1"/>
            </p:cNvSpPr>
            <p:nvPr/>
          </p:nvSpPr>
          <p:spPr bwMode="auto">
            <a:xfrm flipH="1">
              <a:off x="545" y="3126"/>
              <a:ext cx="144" cy="144"/>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16" name="Group 76"/>
            <p:cNvGrpSpPr>
              <a:grpSpLocks/>
            </p:cNvGrpSpPr>
            <p:nvPr/>
          </p:nvGrpSpPr>
          <p:grpSpPr bwMode="auto">
            <a:xfrm>
              <a:off x="593" y="2886"/>
              <a:ext cx="333" cy="260"/>
              <a:chOff x="3456" y="3216"/>
              <a:chExt cx="333" cy="260"/>
            </a:xfrm>
          </p:grpSpPr>
          <p:sp>
            <p:nvSpPr>
              <p:cNvPr id="19" name="Oval 77"/>
              <p:cNvSpPr>
                <a:spLocks noChangeArrowheads="1"/>
              </p:cNvSpPr>
              <p:nvPr/>
            </p:nvSpPr>
            <p:spPr bwMode="auto">
              <a:xfrm>
                <a:off x="3486" y="3229"/>
                <a:ext cx="247" cy="247"/>
              </a:xfrm>
              <a:prstGeom prst="ellipse">
                <a:avLst/>
              </a:prstGeom>
              <a:solidFill>
                <a:srgbClr val="FFFFFF"/>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20" name="Text Box 78"/>
              <p:cNvSpPr txBox="1">
                <a:spLocks noChangeArrowheads="1"/>
              </p:cNvSpPr>
              <p:nvPr/>
            </p:nvSpPr>
            <p:spPr bwMode="auto">
              <a:xfrm>
                <a:off x="3456" y="3216"/>
                <a:ext cx="333" cy="25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29</a:t>
                </a:r>
              </a:p>
            </p:txBody>
          </p:sp>
        </p:grpSp>
        <p:sp>
          <p:nvSpPr>
            <p:cNvPr id="17" name="Line 94"/>
            <p:cNvSpPr>
              <a:spLocks noChangeShapeType="1"/>
            </p:cNvSpPr>
            <p:nvPr/>
          </p:nvSpPr>
          <p:spPr bwMode="auto">
            <a:xfrm>
              <a:off x="833" y="3126"/>
              <a:ext cx="64" cy="123"/>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grpSp>
        <p:nvGrpSpPr>
          <p:cNvPr id="21" name="Group 6"/>
          <p:cNvGrpSpPr>
            <a:grpSpLocks/>
          </p:cNvGrpSpPr>
          <p:nvPr/>
        </p:nvGrpSpPr>
        <p:grpSpPr bwMode="auto">
          <a:xfrm>
            <a:off x="3656013" y="4633912"/>
            <a:ext cx="528637" cy="412750"/>
            <a:chOff x="528" y="2640"/>
            <a:chExt cx="333" cy="260"/>
          </a:xfrm>
        </p:grpSpPr>
        <p:sp>
          <p:nvSpPr>
            <p:cNvPr id="22" name="Oval 7"/>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23" name="Text Box 8"/>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26</a:t>
              </a:r>
            </a:p>
          </p:txBody>
        </p:sp>
      </p:grpSp>
      <p:grpSp>
        <p:nvGrpSpPr>
          <p:cNvPr id="24" name="Group 154"/>
          <p:cNvGrpSpPr>
            <a:grpSpLocks/>
          </p:cNvGrpSpPr>
          <p:nvPr/>
        </p:nvGrpSpPr>
        <p:grpSpPr bwMode="auto">
          <a:xfrm>
            <a:off x="2647950" y="4710112"/>
            <a:ext cx="3060700" cy="1555750"/>
            <a:chOff x="1850" y="2950"/>
            <a:chExt cx="1928" cy="980"/>
          </a:xfrm>
        </p:grpSpPr>
        <p:sp>
          <p:nvSpPr>
            <p:cNvPr id="25" name="Line 25"/>
            <p:cNvSpPr>
              <a:spLocks noChangeShapeType="1"/>
            </p:cNvSpPr>
            <p:nvPr/>
          </p:nvSpPr>
          <p:spPr bwMode="auto">
            <a:xfrm flipH="1">
              <a:off x="3253" y="3574"/>
              <a:ext cx="96" cy="144"/>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6" name="Line 26"/>
            <p:cNvSpPr>
              <a:spLocks noChangeShapeType="1"/>
            </p:cNvSpPr>
            <p:nvPr/>
          </p:nvSpPr>
          <p:spPr bwMode="auto">
            <a:xfrm>
              <a:off x="3493" y="3574"/>
              <a:ext cx="96" cy="144"/>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7" name="Line 27"/>
            <p:cNvSpPr>
              <a:spLocks noChangeShapeType="1"/>
            </p:cNvSpPr>
            <p:nvPr/>
          </p:nvSpPr>
          <p:spPr bwMode="auto">
            <a:xfrm flipH="1">
              <a:off x="2965" y="3190"/>
              <a:ext cx="144" cy="192"/>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8" name="Line 28"/>
            <p:cNvSpPr>
              <a:spLocks noChangeShapeType="1"/>
            </p:cNvSpPr>
            <p:nvPr/>
          </p:nvSpPr>
          <p:spPr bwMode="auto">
            <a:xfrm>
              <a:off x="3229" y="3183"/>
              <a:ext cx="120" cy="199"/>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29" name="Group 13"/>
            <p:cNvGrpSpPr>
              <a:grpSpLocks/>
            </p:cNvGrpSpPr>
            <p:nvPr/>
          </p:nvGrpSpPr>
          <p:grpSpPr bwMode="auto">
            <a:xfrm>
              <a:off x="2773" y="3334"/>
              <a:ext cx="333" cy="260"/>
              <a:chOff x="528" y="2640"/>
              <a:chExt cx="333" cy="260"/>
            </a:xfrm>
          </p:grpSpPr>
          <p:sp>
            <p:nvSpPr>
              <p:cNvPr id="43" name="Oval 14"/>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44" name="Text Box 15"/>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15</a:t>
                </a:r>
              </a:p>
            </p:txBody>
          </p:sp>
        </p:grpSp>
        <p:grpSp>
          <p:nvGrpSpPr>
            <p:cNvPr id="30" name="Group 16"/>
            <p:cNvGrpSpPr>
              <a:grpSpLocks/>
            </p:cNvGrpSpPr>
            <p:nvPr/>
          </p:nvGrpSpPr>
          <p:grpSpPr bwMode="auto">
            <a:xfrm>
              <a:off x="3109" y="3670"/>
              <a:ext cx="234" cy="250"/>
              <a:chOff x="2928" y="3552"/>
              <a:chExt cx="227" cy="250"/>
            </a:xfrm>
          </p:grpSpPr>
          <p:sp>
            <p:nvSpPr>
              <p:cNvPr id="41" name="Oval 17"/>
              <p:cNvSpPr>
                <a:spLocks noChangeArrowheads="1"/>
              </p:cNvSpPr>
              <p:nvPr/>
            </p:nvSpPr>
            <p:spPr bwMode="auto">
              <a:xfrm>
                <a:off x="2928" y="3568"/>
                <a:ext cx="227" cy="227"/>
              </a:xfrm>
              <a:prstGeom prst="ellipse">
                <a:avLst/>
              </a:prstGeom>
              <a:solidFill>
                <a:srgbClr val="FFFFA5"/>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42" name="Text Box 18"/>
              <p:cNvSpPr txBox="1">
                <a:spLocks noChangeArrowheads="1"/>
              </p:cNvSpPr>
              <p:nvPr/>
            </p:nvSpPr>
            <p:spPr bwMode="auto">
              <a:xfrm>
                <a:off x="2947" y="3552"/>
                <a:ext cx="201" cy="25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5</a:t>
                </a:r>
                <a:r>
                  <a:rPr kumimoji="1" lang="zh-CN" altLang="en-US" sz="2000" b="1" i="0" u="none" strike="noStrike" kern="0" cap="none" spc="0" normalizeH="0" baseline="0" noProof="0">
                    <a:ln>
                      <a:noFill/>
                    </a:ln>
                    <a:solidFill>
                      <a:srgbClr val="DBF5F9"/>
                    </a:solidFill>
                    <a:effectLst/>
                    <a:uLnTx/>
                    <a:uFillTx/>
                    <a:latin typeface="隶书" pitchFamily="49" charset="-122"/>
                    <a:ea typeface="隶书" pitchFamily="49" charset="-122"/>
                  </a:rPr>
                  <a:t> </a:t>
                </a:r>
              </a:p>
            </p:txBody>
          </p:sp>
        </p:grpSp>
        <p:grpSp>
          <p:nvGrpSpPr>
            <p:cNvPr id="31" name="Group 19"/>
            <p:cNvGrpSpPr>
              <a:grpSpLocks/>
            </p:cNvGrpSpPr>
            <p:nvPr/>
          </p:nvGrpSpPr>
          <p:grpSpPr bwMode="auto">
            <a:xfrm>
              <a:off x="3445" y="3670"/>
              <a:ext cx="333" cy="260"/>
              <a:chOff x="528" y="2640"/>
              <a:chExt cx="333" cy="260"/>
            </a:xfrm>
          </p:grpSpPr>
          <p:sp>
            <p:nvSpPr>
              <p:cNvPr id="39" name="Oval 20"/>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40" name="Text Box 21"/>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10</a:t>
                </a:r>
              </a:p>
            </p:txBody>
          </p:sp>
        </p:grpSp>
        <p:grpSp>
          <p:nvGrpSpPr>
            <p:cNvPr id="32" name="Group 22"/>
            <p:cNvGrpSpPr>
              <a:grpSpLocks/>
            </p:cNvGrpSpPr>
            <p:nvPr/>
          </p:nvGrpSpPr>
          <p:grpSpPr bwMode="auto">
            <a:xfrm>
              <a:off x="3253" y="3334"/>
              <a:ext cx="333" cy="260"/>
              <a:chOff x="3456" y="3216"/>
              <a:chExt cx="333" cy="260"/>
            </a:xfrm>
          </p:grpSpPr>
          <p:sp>
            <p:nvSpPr>
              <p:cNvPr id="37" name="Oval 23"/>
              <p:cNvSpPr>
                <a:spLocks noChangeArrowheads="1"/>
              </p:cNvSpPr>
              <p:nvPr/>
            </p:nvSpPr>
            <p:spPr bwMode="auto">
              <a:xfrm>
                <a:off x="3486" y="3229"/>
                <a:ext cx="247" cy="247"/>
              </a:xfrm>
              <a:prstGeom prst="ellipse">
                <a:avLst/>
              </a:prstGeom>
              <a:solidFill>
                <a:srgbClr val="FFFFFF"/>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38" name="Text Box 24"/>
              <p:cNvSpPr txBox="1">
                <a:spLocks noChangeArrowheads="1"/>
              </p:cNvSpPr>
              <p:nvPr/>
            </p:nvSpPr>
            <p:spPr bwMode="auto">
              <a:xfrm>
                <a:off x="3456" y="3216"/>
                <a:ext cx="333" cy="25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15</a:t>
                </a:r>
              </a:p>
            </p:txBody>
          </p:sp>
        </p:grpSp>
        <p:grpSp>
          <p:nvGrpSpPr>
            <p:cNvPr id="33" name="Group 29"/>
            <p:cNvGrpSpPr>
              <a:grpSpLocks/>
            </p:cNvGrpSpPr>
            <p:nvPr/>
          </p:nvGrpSpPr>
          <p:grpSpPr bwMode="auto">
            <a:xfrm>
              <a:off x="3013" y="2950"/>
              <a:ext cx="333" cy="260"/>
              <a:chOff x="3456" y="3216"/>
              <a:chExt cx="333" cy="260"/>
            </a:xfrm>
          </p:grpSpPr>
          <p:sp>
            <p:nvSpPr>
              <p:cNvPr id="35" name="Oval 30"/>
              <p:cNvSpPr>
                <a:spLocks noChangeArrowheads="1"/>
              </p:cNvSpPr>
              <p:nvPr/>
            </p:nvSpPr>
            <p:spPr bwMode="auto">
              <a:xfrm>
                <a:off x="3486" y="3229"/>
                <a:ext cx="247" cy="247"/>
              </a:xfrm>
              <a:prstGeom prst="ellipse">
                <a:avLst/>
              </a:prstGeom>
              <a:solidFill>
                <a:srgbClr val="FFFFFF"/>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36" name="Text Box 31"/>
              <p:cNvSpPr txBox="1">
                <a:spLocks noChangeArrowheads="1"/>
              </p:cNvSpPr>
              <p:nvPr/>
            </p:nvSpPr>
            <p:spPr bwMode="auto">
              <a:xfrm>
                <a:off x="3456" y="3216"/>
                <a:ext cx="333" cy="25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29</a:t>
                </a:r>
              </a:p>
            </p:txBody>
          </p:sp>
        </p:grpSp>
        <p:sp>
          <p:nvSpPr>
            <p:cNvPr id="34" name="AutoShape 97"/>
            <p:cNvSpPr>
              <a:spLocks noChangeArrowheads="1"/>
            </p:cNvSpPr>
            <p:nvPr/>
          </p:nvSpPr>
          <p:spPr bwMode="auto">
            <a:xfrm rot="-5382675">
              <a:off x="2018" y="2808"/>
              <a:ext cx="144" cy="480"/>
            </a:xfrm>
            <a:prstGeom prst="downArrow">
              <a:avLst>
                <a:gd name="adj1" fmla="val 50000"/>
                <a:gd name="adj2" fmla="val 83333"/>
              </a:avLst>
            </a:prstGeom>
            <a:solidFill>
              <a:srgbClr val="0F6FC6"/>
            </a:solidFill>
            <a:ln w="12700" cap="rnd">
              <a:solidFill>
                <a:srgbClr val="0F6FC6"/>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grpSp>
      <p:grpSp>
        <p:nvGrpSpPr>
          <p:cNvPr id="45" name="Group 3"/>
          <p:cNvGrpSpPr>
            <a:grpSpLocks/>
          </p:cNvGrpSpPr>
          <p:nvPr/>
        </p:nvGrpSpPr>
        <p:grpSpPr bwMode="auto">
          <a:xfrm>
            <a:off x="5888038" y="5832475"/>
            <a:ext cx="528637" cy="412750"/>
            <a:chOff x="528" y="2640"/>
            <a:chExt cx="333" cy="260"/>
          </a:xfrm>
        </p:grpSpPr>
        <p:sp>
          <p:nvSpPr>
            <p:cNvPr id="46" name="Oval 4"/>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7" name="Text Box 5"/>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40</a:t>
              </a:r>
            </a:p>
          </p:txBody>
        </p:sp>
      </p:grpSp>
      <p:grpSp>
        <p:nvGrpSpPr>
          <p:cNvPr id="48" name="Group 155"/>
          <p:cNvGrpSpPr>
            <a:grpSpLocks/>
          </p:cNvGrpSpPr>
          <p:nvPr/>
        </p:nvGrpSpPr>
        <p:grpSpPr bwMode="auto">
          <a:xfrm>
            <a:off x="4037013" y="4176712"/>
            <a:ext cx="604837" cy="609600"/>
            <a:chOff x="2725" y="2614"/>
            <a:chExt cx="381" cy="384"/>
          </a:xfrm>
        </p:grpSpPr>
        <p:sp>
          <p:nvSpPr>
            <p:cNvPr id="49" name="Line 12"/>
            <p:cNvSpPr>
              <a:spLocks noChangeShapeType="1"/>
            </p:cNvSpPr>
            <p:nvPr/>
          </p:nvSpPr>
          <p:spPr bwMode="auto">
            <a:xfrm flipH="1">
              <a:off x="2725" y="2812"/>
              <a:ext cx="96" cy="144"/>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50" name="Line 32"/>
            <p:cNvSpPr>
              <a:spLocks noChangeShapeType="1"/>
            </p:cNvSpPr>
            <p:nvPr/>
          </p:nvSpPr>
          <p:spPr bwMode="auto">
            <a:xfrm>
              <a:off x="2965" y="2854"/>
              <a:ext cx="96" cy="144"/>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51" name="Group 9"/>
            <p:cNvGrpSpPr>
              <a:grpSpLocks/>
            </p:cNvGrpSpPr>
            <p:nvPr/>
          </p:nvGrpSpPr>
          <p:grpSpPr bwMode="auto">
            <a:xfrm>
              <a:off x="2773" y="2614"/>
              <a:ext cx="333" cy="260"/>
              <a:chOff x="3456" y="3216"/>
              <a:chExt cx="333" cy="260"/>
            </a:xfrm>
          </p:grpSpPr>
          <p:sp>
            <p:nvSpPr>
              <p:cNvPr id="52" name="Oval 10"/>
              <p:cNvSpPr>
                <a:spLocks noChangeArrowheads="1"/>
              </p:cNvSpPr>
              <p:nvPr/>
            </p:nvSpPr>
            <p:spPr bwMode="auto">
              <a:xfrm>
                <a:off x="3486" y="3229"/>
                <a:ext cx="247" cy="247"/>
              </a:xfrm>
              <a:prstGeom prst="ellipse">
                <a:avLst/>
              </a:prstGeom>
              <a:solidFill>
                <a:srgbClr val="FFFFFF"/>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53" name="Text Box 11"/>
              <p:cNvSpPr txBox="1">
                <a:spLocks noChangeArrowheads="1"/>
              </p:cNvSpPr>
              <p:nvPr/>
            </p:nvSpPr>
            <p:spPr bwMode="auto">
              <a:xfrm>
                <a:off x="3456" y="3216"/>
                <a:ext cx="333" cy="25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55</a:t>
                </a:r>
              </a:p>
            </p:txBody>
          </p:sp>
        </p:grpSp>
      </p:grpSp>
      <p:sp>
        <p:nvSpPr>
          <p:cNvPr id="54" name="Text Box 33"/>
          <p:cNvSpPr txBox="1">
            <a:spLocks noChangeArrowheads="1"/>
          </p:cNvSpPr>
          <p:nvPr/>
        </p:nvSpPr>
        <p:spPr bwMode="auto">
          <a:xfrm>
            <a:off x="1178848" y="1371600"/>
            <a:ext cx="7126952" cy="457200"/>
          </a:xfrm>
          <a:prstGeom prst="rect">
            <a:avLst/>
          </a:prstGeom>
          <a:noFill/>
          <a:ln w="12700" cap="rnd">
            <a:noFill/>
            <a:miter lim="800000"/>
            <a:headEnd/>
            <a:tailEnd/>
          </a:ln>
        </p:spPr>
        <p:txBody>
          <a:bodyPr wrap="square">
            <a:spAutoFit/>
          </a:bodyPr>
          <a:lstStyle/>
          <a:p>
            <a:pPr fontAlgn="base">
              <a:spcBef>
                <a:spcPct val="0"/>
              </a:spcBef>
              <a:spcAft>
                <a:spcPct val="0"/>
              </a:spcAft>
            </a:pPr>
            <a:r>
              <a:rPr kumimoji="1" lang="zh-CN" altLang="en-US" sz="2400" b="1" dirty="0">
                <a:solidFill>
                  <a:srgbClr val="000000"/>
                </a:solidFill>
                <a:latin typeface="Times New Roman" pitchFamily="18" charset="0"/>
              </a:rPr>
              <a:t>构造以</a:t>
            </a:r>
            <a:r>
              <a:rPr kumimoji="1" lang="en-US" altLang="zh-CN" sz="2400" b="1" dirty="0">
                <a:solidFill>
                  <a:srgbClr val="000000"/>
                </a:solidFill>
                <a:latin typeface="Times New Roman" pitchFamily="18" charset="0"/>
              </a:rPr>
              <a:t>W=（5，14，40，26，10）</a:t>
            </a:r>
            <a:r>
              <a:rPr kumimoji="1" lang="zh-CN" altLang="en-US" sz="2400" b="1" dirty="0">
                <a:solidFill>
                  <a:srgbClr val="000000"/>
                </a:solidFill>
                <a:latin typeface="Times New Roman" pitchFamily="18" charset="0"/>
              </a:rPr>
              <a:t>为权的哈夫曼树</a:t>
            </a:r>
            <a:r>
              <a:rPr kumimoji="1" lang="zh-CN" altLang="en-US" sz="2400" dirty="0">
                <a:solidFill>
                  <a:srgbClr val="000000"/>
                </a:solidFill>
                <a:latin typeface="Times New Roman" pitchFamily="18" charset="0"/>
              </a:rPr>
              <a:t>。</a:t>
            </a:r>
            <a:endParaRPr kumimoji="1" lang="zh-CN" altLang="en-US" sz="3600" dirty="0">
              <a:solidFill>
                <a:srgbClr val="000000"/>
              </a:solidFill>
              <a:latin typeface="隶书" pitchFamily="49" charset="-122"/>
              <a:ea typeface="隶书" pitchFamily="49" charset="-122"/>
            </a:endParaRPr>
          </a:p>
        </p:txBody>
      </p:sp>
      <p:grpSp>
        <p:nvGrpSpPr>
          <p:cNvPr id="55" name="Group 34"/>
          <p:cNvGrpSpPr>
            <a:grpSpLocks/>
          </p:cNvGrpSpPr>
          <p:nvPr/>
        </p:nvGrpSpPr>
        <p:grpSpPr bwMode="auto">
          <a:xfrm>
            <a:off x="244475" y="2209800"/>
            <a:ext cx="2967038" cy="412750"/>
            <a:chOff x="864" y="2736"/>
            <a:chExt cx="1869" cy="260"/>
          </a:xfrm>
        </p:grpSpPr>
        <p:grpSp>
          <p:nvGrpSpPr>
            <p:cNvPr id="56" name="Group 35"/>
            <p:cNvGrpSpPr>
              <a:grpSpLocks/>
            </p:cNvGrpSpPr>
            <p:nvPr/>
          </p:nvGrpSpPr>
          <p:grpSpPr bwMode="auto">
            <a:xfrm>
              <a:off x="1968" y="2736"/>
              <a:ext cx="333" cy="260"/>
              <a:chOff x="528" y="2640"/>
              <a:chExt cx="333" cy="260"/>
            </a:xfrm>
          </p:grpSpPr>
          <p:sp>
            <p:nvSpPr>
              <p:cNvPr id="69" name="Oval 36"/>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70" name="Text Box 37"/>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26</a:t>
                </a:r>
              </a:p>
            </p:txBody>
          </p:sp>
        </p:grpSp>
        <p:grpSp>
          <p:nvGrpSpPr>
            <p:cNvPr id="57" name="Group 38"/>
            <p:cNvGrpSpPr>
              <a:grpSpLocks/>
            </p:cNvGrpSpPr>
            <p:nvPr/>
          </p:nvGrpSpPr>
          <p:grpSpPr bwMode="auto">
            <a:xfrm>
              <a:off x="864" y="2736"/>
              <a:ext cx="234" cy="250"/>
              <a:chOff x="2928" y="3552"/>
              <a:chExt cx="227" cy="250"/>
            </a:xfrm>
          </p:grpSpPr>
          <p:sp>
            <p:nvSpPr>
              <p:cNvPr id="67" name="Oval 39"/>
              <p:cNvSpPr>
                <a:spLocks noChangeArrowheads="1"/>
              </p:cNvSpPr>
              <p:nvPr/>
            </p:nvSpPr>
            <p:spPr bwMode="auto">
              <a:xfrm>
                <a:off x="2928" y="3568"/>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8" name="Text Box 40"/>
              <p:cNvSpPr txBox="1">
                <a:spLocks noChangeArrowheads="1"/>
              </p:cNvSpPr>
              <p:nvPr/>
            </p:nvSpPr>
            <p:spPr bwMode="auto">
              <a:xfrm>
                <a:off x="2947" y="3552"/>
                <a:ext cx="201"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5</a:t>
                </a:r>
                <a:r>
                  <a:rPr kumimoji="1" lang="zh-CN" altLang="en-US" sz="2000" b="1">
                    <a:solidFill>
                      <a:srgbClr val="DBF5F9"/>
                    </a:solidFill>
                    <a:latin typeface="隶书" pitchFamily="49" charset="-122"/>
                    <a:ea typeface="隶书" pitchFamily="49" charset="-122"/>
                  </a:rPr>
                  <a:t> </a:t>
                </a:r>
              </a:p>
            </p:txBody>
          </p:sp>
        </p:grpSp>
        <p:grpSp>
          <p:nvGrpSpPr>
            <p:cNvPr id="58" name="Group 41"/>
            <p:cNvGrpSpPr>
              <a:grpSpLocks/>
            </p:cNvGrpSpPr>
            <p:nvPr/>
          </p:nvGrpSpPr>
          <p:grpSpPr bwMode="auto">
            <a:xfrm>
              <a:off x="2400" y="2736"/>
              <a:ext cx="333" cy="260"/>
              <a:chOff x="528" y="2640"/>
              <a:chExt cx="333" cy="260"/>
            </a:xfrm>
          </p:grpSpPr>
          <p:sp>
            <p:nvSpPr>
              <p:cNvPr id="65" name="Oval 42"/>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6" name="Text Box 43"/>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10</a:t>
                </a:r>
              </a:p>
            </p:txBody>
          </p:sp>
        </p:grpSp>
        <p:grpSp>
          <p:nvGrpSpPr>
            <p:cNvPr id="59" name="Group 44"/>
            <p:cNvGrpSpPr>
              <a:grpSpLocks/>
            </p:cNvGrpSpPr>
            <p:nvPr/>
          </p:nvGrpSpPr>
          <p:grpSpPr bwMode="auto">
            <a:xfrm>
              <a:off x="1200" y="2736"/>
              <a:ext cx="333" cy="260"/>
              <a:chOff x="528" y="2640"/>
              <a:chExt cx="333" cy="260"/>
            </a:xfrm>
          </p:grpSpPr>
          <p:sp>
            <p:nvSpPr>
              <p:cNvPr id="63" name="Oval 45"/>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4" name="Text Box 46"/>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1</a:t>
                </a:r>
                <a:r>
                  <a:rPr kumimoji="1" lang="en-US" altLang="zh-CN" sz="2000" b="1">
                    <a:solidFill>
                      <a:srgbClr val="0000FF"/>
                    </a:solidFill>
                    <a:latin typeface="隶书" pitchFamily="49" charset="-122"/>
                    <a:ea typeface="隶书" pitchFamily="49" charset="-122"/>
                  </a:rPr>
                  <a:t>4</a:t>
                </a:r>
              </a:p>
            </p:txBody>
          </p:sp>
        </p:grpSp>
        <p:grpSp>
          <p:nvGrpSpPr>
            <p:cNvPr id="60" name="Group 47"/>
            <p:cNvGrpSpPr>
              <a:grpSpLocks/>
            </p:cNvGrpSpPr>
            <p:nvPr/>
          </p:nvGrpSpPr>
          <p:grpSpPr bwMode="auto">
            <a:xfrm>
              <a:off x="1584" y="2736"/>
              <a:ext cx="333" cy="260"/>
              <a:chOff x="528" y="2640"/>
              <a:chExt cx="333" cy="260"/>
            </a:xfrm>
          </p:grpSpPr>
          <p:sp>
            <p:nvSpPr>
              <p:cNvPr id="61" name="Oval 48"/>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2" name="Text Box 49"/>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40</a:t>
                </a:r>
              </a:p>
            </p:txBody>
          </p:sp>
        </p:grpSp>
      </p:grpSp>
      <p:sp>
        <p:nvSpPr>
          <p:cNvPr id="71" name="AutoShape 95"/>
          <p:cNvSpPr>
            <a:spLocks noChangeArrowheads="1"/>
          </p:cNvSpPr>
          <p:nvPr/>
        </p:nvSpPr>
        <p:spPr bwMode="auto">
          <a:xfrm>
            <a:off x="1616075" y="2819400"/>
            <a:ext cx="228600" cy="533400"/>
          </a:xfrm>
          <a:prstGeom prst="downArrow">
            <a:avLst>
              <a:gd name="adj1" fmla="val 50000"/>
              <a:gd name="adj2" fmla="val 58333"/>
            </a:avLst>
          </a:prstGeom>
          <a:solidFill>
            <a:srgbClr val="0F6FC6"/>
          </a:solidFill>
          <a:ln w="12700" cap="rnd">
            <a:solidFill>
              <a:srgbClr val="0F6FC6"/>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72" name="AutoShape 96"/>
          <p:cNvSpPr>
            <a:spLocks noChangeArrowheads="1"/>
          </p:cNvSpPr>
          <p:nvPr/>
        </p:nvSpPr>
        <p:spPr bwMode="auto">
          <a:xfrm>
            <a:off x="1568450" y="4267200"/>
            <a:ext cx="228600" cy="533400"/>
          </a:xfrm>
          <a:prstGeom prst="downArrow">
            <a:avLst>
              <a:gd name="adj1" fmla="val 50000"/>
              <a:gd name="adj2" fmla="val 58333"/>
            </a:avLst>
          </a:prstGeom>
          <a:solidFill>
            <a:srgbClr val="0F6FC6"/>
          </a:solidFill>
          <a:ln w="12700" cap="rnd">
            <a:solidFill>
              <a:srgbClr val="0F6FC6"/>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grpSp>
        <p:nvGrpSpPr>
          <p:cNvPr id="73" name="Group 79"/>
          <p:cNvGrpSpPr>
            <a:grpSpLocks/>
          </p:cNvGrpSpPr>
          <p:nvPr/>
        </p:nvGrpSpPr>
        <p:grpSpPr bwMode="auto">
          <a:xfrm>
            <a:off x="271463" y="5141912"/>
            <a:ext cx="528637" cy="412750"/>
            <a:chOff x="528" y="2640"/>
            <a:chExt cx="333" cy="260"/>
          </a:xfrm>
        </p:grpSpPr>
        <p:sp>
          <p:nvSpPr>
            <p:cNvPr id="74" name="Oval 80"/>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75" name="Text Box 81"/>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1</a:t>
              </a:r>
              <a:r>
                <a:rPr kumimoji="1" lang="en-US" altLang="zh-CN" sz="2000" b="1">
                  <a:solidFill>
                    <a:srgbClr val="0000FF"/>
                  </a:solidFill>
                  <a:latin typeface="隶书" pitchFamily="49" charset="-122"/>
                  <a:ea typeface="隶书" pitchFamily="49" charset="-122"/>
                </a:rPr>
                <a:t>4</a:t>
              </a:r>
            </a:p>
          </p:txBody>
        </p:sp>
      </p:grpSp>
      <p:grpSp>
        <p:nvGrpSpPr>
          <p:cNvPr id="76" name="Group 152"/>
          <p:cNvGrpSpPr>
            <a:grpSpLocks/>
          </p:cNvGrpSpPr>
          <p:nvPr/>
        </p:nvGrpSpPr>
        <p:grpSpPr bwMode="auto">
          <a:xfrm>
            <a:off x="728663" y="5141912"/>
            <a:ext cx="1062037" cy="946150"/>
            <a:chOff x="641" y="3222"/>
            <a:chExt cx="669" cy="596"/>
          </a:xfrm>
        </p:grpSpPr>
        <p:sp>
          <p:nvSpPr>
            <p:cNvPr id="77" name="Line 91"/>
            <p:cNvSpPr>
              <a:spLocks noChangeShapeType="1"/>
            </p:cNvSpPr>
            <p:nvPr/>
          </p:nvSpPr>
          <p:spPr bwMode="auto">
            <a:xfrm flipH="1">
              <a:off x="785" y="3462"/>
              <a:ext cx="96" cy="144"/>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78" name="Line 92"/>
            <p:cNvSpPr>
              <a:spLocks noChangeShapeType="1"/>
            </p:cNvSpPr>
            <p:nvPr/>
          </p:nvSpPr>
          <p:spPr bwMode="auto">
            <a:xfrm>
              <a:off x="1025" y="3462"/>
              <a:ext cx="96" cy="144"/>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79" name="Group 82"/>
            <p:cNvGrpSpPr>
              <a:grpSpLocks/>
            </p:cNvGrpSpPr>
            <p:nvPr/>
          </p:nvGrpSpPr>
          <p:grpSpPr bwMode="auto">
            <a:xfrm>
              <a:off x="641" y="3558"/>
              <a:ext cx="234" cy="250"/>
              <a:chOff x="2928" y="3552"/>
              <a:chExt cx="227" cy="250"/>
            </a:xfrm>
          </p:grpSpPr>
          <p:sp>
            <p:nvSpPr>
              <p:cNvPr id="86" name="Oval 83"/>
              <p:cNvSpPr>
                <a:spLocks noChangeArrowheads="1"/>
              </p:cNvSpPr>
              <p:nvPr/>
            </p:nvSpPr>
            <p:spPr bwMode="auto">
              <a:xfrm>
                <a:off x="2928" y="3568"/>
                <a:ext cx="227" cy="227"/>
              </a:xfrm>
              <a:prstGeom prst="ellipse">
                <a:avLst/>
              </a:prstGeom>
              <a:solidFill>
                <a:srgbClr val="FFFFA5"/>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87" name="Text Box 84"/>
              <p:cNvSpPr txBox="1">
                <a:spLocks noChangeArrowheads="1"/>
              </p:cNvSpPr>
              <p:nvPr/>
            </p:nvSpPr>
            <p:spPr bwMode="auto">
              <a:xfrm>
                <a:off x="2947" y="3552"/>
                <a:ext cx="201" cy="25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5</a:t>
                </a:r>
                <a:r>
                  <a:rPr kumimoji="1" lang="zh-CN" altLang="en-US" sz="2000" b="1" i="0" u="none" strike="noStrike" kern="0" cap="none" spc="0" normalizeH="0" baseline="0" noProof="0">
                    <a:ln>
                      <a:noFill/>
                    </a:ln>
                    <a:solidFill>
                      <a:srgbClr val="DBF5F9"/>
                    </a:solidFill>
                    <a:effectLst/>
                    <a:uLnTx/>
                    <a:uFillTx/>
                    <a:latin typeface="隶书" pitchFamily="49" charset="-122"/>
                    <a:ea typeface="隶书" pitchFamily="49" charset="-122"/>
                  </a:rPr>
                  <a:t> </a:t>
                </a:r>
              </a:p>
            </p:txBody>
          </p:sp>
        </p:grpSp>
        <p:grpSp>
          <p:nvGrpSpPr>
            <p:cNvPr id="80" name="Group 85"/>
            <p:cNvGrpSpPr>
              <a:grpSpLocks/>
            </p:cNvGrpSpPr>
            <p:nvPr/>
          </p:nvGrpSpPr>
          <p:grpSpPr bwMode="auto">
            <a:xfrm>
              <a:off x="977" y="3558"/>
              <a:ext cx="333" cy="260"/>
              <a:chOff x="528" y="2640"/>
              <a:chExt cx="333" cy="260"/>
            </a:xfrm>
          </p:grpSpPr>
          <p:sp>
            <p:nvSpPr>
              <p:cNvPr id="84" name="Oval 86"/>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85" name="Text Box 87"/>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10</a:t>
                </a:r>
              </a:p>
            </p:txBody>
          </p:sp>
        </p:grpSp>
        <p:grpSp>
          <p:nvGrpSpPr>
            <p:cNvPr id="81" name="Group 88"/>
            <p:cNvGrpSpPr>
              <a:grpSpLocks/>
            </p:cNvGrpSpPr>
            <p:nvPr/>
          </p:nvGrpSpPr>
          <p:grpSpPr bwMode="auto">
            <a:xfrm>
              <a:off x="785" y="3222"/>
              <a:ext cx="333" cy="260"/>
              <a:chOff x="3456" y="3216"/>
              <a:chExt cx="333" cy="260"/>
            </a:xfrm>
          </p:grpSpPr>
          <p:sp>
            <p:nvSpPr>
              <p:cNvPr id="82" name="Oval 89"/>
              <p:cNvSpPr>
                <a:spLocks noChangeArrowheads="1"/>
              </p:cNvSpPr>
              <p:nvPr/>
            </p:nvSpPr>
            <p:spPr bwMode="auto">
              <a:xfrm>
                <a:off x="3486" y="3229"/>
                <a:ext cx="247" cy="247"/>
              </a:xfrm>
              <a:prstGeom prst="ellipse">
                <a:avLst/>
              </a:prstGeom>
              <a:solidFill>
                <a:srgbClr val="FFFFFF"/>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83" name="Text Box 90"/>
              <p:cNvSpPr txBox="1">
                <a:spLocks noChangeArrowheads="1"/>
              </p:cNvSpPr>
              <p:nvPr/>
            </p:nvSpPr>
            <p:spPr bwMode="auto">
              <a:xfrm>
                <a:off x="3456" y="3216"/>
                <a:ext cx="333" cy="25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15</a:t>
                </a:r>
              </a:p>
            </p:txBody>
          </p:sp>
        </p:grpSp>
      </p:grpSp>
      <p:grpSp>
        <p:nvGrpSpPr>
          <p:cNvPr id="88" name="Group 70"/>
          <p:cNvGrpSpPr>
            <a:grpSpLocks/>
          </p:cNvGrpSpPr>
          <p:nvPr/>
        </p:nvGrpSpPr>
        <p:grpSpPr bwMode="auto">
          <a:xfrm>
            <a:off x="1784350" y="5675312"/>
            <a:ext cx="528638" cy="412750"/>
            <a:chOff x="528" y="2640"/>
            <a:chExt cx="333" cy="260"/>
          </a:xfrm>
        </p:grpSpPr>
        <p:sp>
          <p:nvSpPr>
            <p:cNvPr id="89" name="Oval 71"/>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0" name="Text Box 72"/>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40</a:t>
              </a:r>
            </a:p>
          </p:txBody>
        </p:sp>
      </p:grpSp>
      <p:grpSp>
        <p:nvGrpSpPr>
          <p:cNvPr id="91" name="Group 73"/>
          <p:cNvGrpSpPr>
            <a:grpSpLocks/>
          </p:cNvGrpSpPr>
          <p:nvPr/>
        </p:nvGrpSpPr>
        <p:grpSpPr bwMode="auto">
          <a:xfrm>
            <a:off x="2470150" y="5675312"/>
            <a:ext cx="528638" cy="412750"/>
            <a:chOff x="528" y="2640"/>
            <a:chExt cx="333" cy="260"/>
          </a:xfrm>
        </p:grpSpPr>
        <p:sp>
          <p:nvSpPr>
            <p:cNvPr id="92" name="Oval 74"/>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93" name="Text Box 75"/>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26</a:t>
              </a:r>
            </a:p>
          </p:txBody>
        </p:sp>
      </p:grpSp>
      <p:sp>
        <p:nvSpPr>
          <p:cNvPr id="94" name="AutoShape 98"/>
          <p:cNvSpPr>
            <a:spLocks noChangeArrowheads="1"/>
          </p:cNvSpPr>
          <p:nvPr/>
        </p:nvSpPr>
        <p:spPr bwMode="auto">
          <a:xfrm rot="-5400000">
            <a:off x="5923757" y="4644231"/>
            <a:ext cx="215900" cy="719137"/>
          </a:xfrm>
          <a:prstGeom prst="downArrow">
            <a:avLst>
              <a:gd name="adj1" fmla="val 50000"/>
              <a:gd name="adj2" fmla="val 83272"/>
            </a:avLst>
          </a:prstGeom>
          <a:solidFill>
            <a:srgbClr val="0F6FC6"/>
          </a:solidFill>
          <a:ln w="12700" cap="rnd">
            <a:solidFill>
              <a:srgbClr val="0F6FC6"/>
            </a:solidFill>
            <a:miter lim="800000"/>
            <a:headEnd/>
            <a:tailEnd/>
          </a:ln>
        </p:spPr>
        <p:txBody>
          <a:bodyPr vert="eaVert"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FF"/>
              </a:solidFill>
              <a:effectLst/>
              <a:uLnTx/>
              <a:uFillTx/>
              <a:latin typeface="Times New Roman" pitchFamily="18" charset="0"/>
            </a:endParaRPr>
          </a:p>
        </p:txBody>
      </p:sp>
      <p:grpSp>
        <p:nvGrpSpPr>
          <p:cNvPr id="95" name="Group 157"/>
          <p:cNvGrpSpPr>
            <a:grpSpLocks/>
          </p:cNvGrpSpPr>
          <p:nvPr/>
        </p:nvGrpSpPr>
        <p:grpSpPr bwMode="auto">
          <a:xfrm>
            <a:off x="6881813" y="3762375"/>
            <a:ext cx="755650" cy="598487"/>
            <a:chOff x="4737" y="2353"/>
            <a:chExt cx="476" cy="377"/>
          </a:xfrm>
        </p:grpSpPr>
        <p:grpSp>
          <p:nvGrpSpPr>
            <p:cNvPr id="96" name="Group 106"/>
            <p:cNvGrpSpPr>
              <a:grpSpLocks/>
            </p:cNvGrpSpPr>
            <p:nvPr/>
          </p:nvGrpSpPr>
          <p:grpSpPr bwMode="auto">
            <a:xfrm>
              <a:off x="4737" y="2353"/>
              <a:ext cx="428" cy="265"/>
              <a:chOff x="4534" y="2221"/>
              <a:chExt cx="432" cy="270"/>
            </a:xfrm>
          </p:grpSpPr>
          <p:sp>
            <p:nvSpPr>
              <p:cNvPr id="99" name="Oval 107"/>
              <p:cNvSpPr>
                <a:spLocks noChangeArrowheads="1"/>
              </p:cNvSpPr>
              <p:nvPr/>
            </p:nvSpPr>
            <p:spPr bwMode="auto">
              <a:xfrm>
                <a:off x="4590" y="2221"/>
                <a:ext cx="292" cy="270"/>
              </a:xfrm>
              <a:prstGeom prst="ellipse">
                <a:avLst/>
              </a:prstGeom>
              <a:solidFill>
                <a:srgbClr val="FFFFFF"/>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00" name="Text Box 108"/>
              <p:cNvSpPr txBox="1">
                <a:spLocks noChangeArrowheads="1"/>
              </p:cNvSpPr>
              <p:nvPr/>
            </p:nvSpPr>
            <p:spPr bwMode="auto">
              <a:xfrm>
                <a:off x="4534" y="2230"/>
                <a:ext cx="432" cy="25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 95</a:t>
                </a:r>
              </a:p>
            </p:txBody>
          </p:sp>
        </p:grpSp>
        <p:sp>
          <p:nvSpPr>
            <p:cNvPr id="97" name="Line 104"/>
            <p:cNvSpPr>
              <a:spLocks noChangeShapeType="1"/>
            </p:cNvSpPr>
            <p:nvPr/>
          </p:nvSpPr>
          <p:spPr bwMode="auto">
            <a:xfrm>
              <a:off x="5070" y="2541"/>
              <a:ext cx="143" cy="189"/>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98" name="Line 105"/>
            <p:cNvSpPr>
              <a:spLocks noChangeShapeType="1"/>
            </p:cNvSpPr>
            <p:nvPr/>
          </p:nvSpPr>
          <p:spPr bwMode="auto">
            <a:xfrm flipH="1">
              <a:off x="4737" y="2588"/>
              <a:ext cx="95" cy="142"/>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grpSp>
        <p:nvGrpSpPr>
          <p:cNvPr id="101" name="Group 101"/>
          <p:cNvGrpSpPr>
            <a:grpSpLocks/>
          </p:cNvGrpSpPr>
          <p:nvPr/>
        </p:nvGrpSpPr>
        <p:grpSpPr bwMode="auto">
          <a:xfrm>
            <a:off x="6580188" y="4286250"/>
            <a:ext cx="523875" cy="404812"/>
            <a:chOff x="528" y="2640"/>
            <a:chExt cx="333" cy="260"/>
          </a:xfrm>
        </p:grpSpPr>
        <p:sp>
          <p:nvSpPr>
            <p:cNvPr id="102" name="Oval 102"/>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03" name="Text Box 103"/>
            <p:cNvSpPr txBox="1">
              <a:spLocks noChangeArrowheads="1"/>
            </p:cNvSpPr>
            <p:nvPr/>
          </p:nvSpPr>
          <p:spPr bwMode="auto">
            <a:xfrm>
              <a:off x="528" y="2640"/>
              <a:ext cx="333" cy="255"/>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40</a:t>
              </a:r>
            </a:p>
          </p:txBody>
        </p:sp>
      </p:grpSp>
      <p:grpSp>
        <p:nvGrpSpPr>
          <p:cNvPr id="104" name="Group 50"/>
          <p:cNvGrpSpPr>
            <a:grpSpLocks/>
          </p:cNvGrpSpPr>
          <p:nvPr/>
        </p:nvGrpSpPr>
        <p:grpSpPr bwMode="auto">
          <a:xfrm>
            <a:off x="1997075" y="3702050"/>
            <a:ext cx="528638" cy="412750"/>
            <a:chOff x="528" y="2640"/>
            <a:chExt cx="333" cy="260"/>
          </a:xfrm>
        </p:grpSpPr>
        <p:sp>
          <p:nvSpPr>
            <p:cNvPr id="105" name="Oval 51"/>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06" name="Text Box 52"/>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40</a:t>
              </a:r>
            </a:p>
          </p:txBody>
        </p:sp>
      </p:grpSp>
      <p:grpSp>
        <p:nvGrpSpPr>
          <p:cNvPr id="107" name="Group 53"/>
          <p:cNvGrpSpPr>
            <a:grpSpLocks/>
          </p:cNvGrpSpPr>
          <p:nvPr/>
        </p:nvGrpSpPr>
        <p:grpSpPr bwMode="auto">
          <a:xfrm>
            <a:off x="2682875" y="3702050"/>
            <a:ext cx="528638" cy="412750"/>
            <a:chOff x="528" y="2640"/>
            <a:chExt cx="333" cy="260"/>
          </a:xfrm>
        </p:grpSpPr>
        <p:sp>
          <p:nvSpPr>
            <p:cNvPr id="108" name="Oval 54"/>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09" name="Text Box 55"/>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26</a:t>
              </a:r>
            </a:p>
          </p:txBody>
        </p:sp>
      </p:grpSp>
      <p:grpSp>
        <p:nvGrpSpPr>
          <p:cNvPr id="110" name="Group 56"/>
          <p:cNvGrpSpPr>
            <a:grpSpLocks/>
          </p:cNvGrpSpPr>
          <p:nvPr/>
        </p:nvGrpSpPr>
        <p:grpSpPr bwMode="auto">
          <a:xfrm>
            <a:off x="1387475" y="3702050"/>
            <a:ext cx="528638" cy="412750"/>
            <a:chOff x="528" y="2640"/>
            <a:chExt cx="333" cy="260"/>
          </a:xfrm>
        </p:grpSpPr>
        <p:sp>
          <p:nvSpPr>
            <p:cNvPr id="111" name="Oval 57"/>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12" name="Text Box 58"/>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1</a:t>
              </a:r>
              <a:r>
                <a:rPr kumimoji="1" lang="en-US" altLang="zh-CN" sz="2000" b="1">
                  <a:solidFill>
                    <a:srgbClr val="0000FF"/>
                  </a:solidFill>
                  <a:latin typeface="隶书" pitchFamily="49" charset="-122"/>
                  <a:ea typeface="隶书" pitchFamily="49" charset="-122"/>
                </a:rPr>
                <a:t>4</a:t>
              </a:r>
            </a:p>
          </p:txBody>
        </p:sp>
      </p:grpSp>
      <p:grpSp>
        <p:nvGrpSpPr>
          <p:cNvPr id="113" name="Group 151"/>
          <p:cNvGrpSpPr>
            <a:grpSpLocks/>
          </p:cNvGrpSpPr>
          <p:nvPr/>
        </p:nvGrpSpPr>
        <p:grpSpPr bwMode="auto">
          <a:xfrm>
            <a:off x="473075" y="3168650"/>
            <a:ext cx="533400" cy="609600"/>
            <a:chOff x="480" y="1776"/>
            <a:chExt cx="336" cy="384"/>
          </a:xfrm>
        </p:grpSpPr>
        <p:grpSp>
          <p:nvGrpSpPr>
            <p:cNvPr id="114" name="Group 65"/>
            <p:cNvGrpSpPr>
              <a:grpSpLocks/>
            </p:cNvGrpSpPr>
            <p:nvPr/>
          </p:nvGrpSpPr>
          <p:grpSpPr bwMode="auto">
            <a:xfrm>
              <a:off x="480" y="1776"/>
              <a:ext cx="333" cy="260"/>
              <a:chOff x="3456" y="3216"/>
              <a:chExt cx="333" cy="260"/>
            </a:xfrm>
          </p:grpSpPr>
          <p:sp>
            <p:nvSpPr>
              <p:cNvPr id="117" name="Oval 66"/>
              <p:cNvSpPr>
                <a:spLocks noChangeArrowheads="1"/>
              </p:cNvSpPr>
              <p:nvPr/>
            </p:nvSpPr>
            <p:spPr bwMode="auto">
              <a:xfrm>
                <a:off x="3486" y="3229"/>
                <a:ext cx="247" cy="247"/>
              </a:xfrm>
              <a:prstGeom prst="ellipse">
                <a:avLst/>
              </a:prstGeom>
              <a:solidFill>
                <a:srgbClr val="FFFFFF"/>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18" name="Text Box 67"/>
              <p:cNvSpPr txBox="1">
                <a:spLocks noChangeArrowheads="1"/>
              </p:cNvSpPr>
              <p:nvPr/>
            </p:nvSpPr>
            <p:spPr bwMode="auto">
              <a:xfrm>
                <a:off x="3456" y="3216"/>
                <a:ext cx="333" cy="250"/>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15</a:t>
                </a:r>
              </a:p>
            </p:txBody>
          </p:sp>
        </p:grpSp>
        <p:sp>
          <p:nvSpPr>
            <p:cNvPr id="115" name="Line 68"/>
            <p:cNvSpPr>
              <a:spLocks noChangeShapeType="1"/>
            </p:cNvSpPr>
            <p:nvPr/>
          </p:nvSpPr>
          <p:spPr bwMode="auto">
            <a:xfrm flipH="1">
              <a:off x="480" y="2016"/>
              <a:ext cx="96" cy="144"/>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16" name="Line 69"/>
            <p:cNvSpPr>
              <a:spLocks noChangeShapeType="1"/>
            </p:cNvSpPr>
            <p:nvPr/>
          </p:nvSpPr>
          <p:spPr bwMode="auto">
            <a:xfrm>
              <a:off x="720" y="2016"/>
              <a:ext cx="96" cy="144"/>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grpSp>
        <p:nvGrpSpPr>
          <p:cNvPr id="119" name="Group 150"/>
          <p:cNvGrpSpPr>
            <a:grpSpLocks/>
          </p:cNvGrpSpPr>
          <p:nvPr/>
        </p:nvGrpSpPr>
        <p:grpSpPr bwMode="auto">
          <a:xfrm>
            <a:off x="244475" y="3702050"/>
            <a:ext cx="1062038" cy="412750"/>
            <a:chOff x="336" y="2112"/>
            <a:chExt cx="669" cy="260"/>
          </a:xfrm>
        </p:grpSpPr>
        <p:grpSp>
          <p:nvGrpSpPr>
            <p:cNvPr id="120" name="Group 59"/>
            <p:cNvGrpSpPr>
              <a:grpSpLocks/>
            </p:cNvGrpSpPr>
            <p:nvPr/>
          </p:nvGrpSpPr>
          <p:grpSpPr bwMode="auto">
            <a:xfrm>
              <a:off x="336" y="2112"/>
              <a:ext cx="234" cy="250"/>
              <a:chOff x="2928" y="3552"/>
              <a:chExt cx="227" cy="250"/>
            </a:xfrm>
          </p:grpSpPr>
          <p:sp>
            <p:nvSpPr>
              <p:cNvPr id="124" name="Oval 60"/>
              <p:cNvSpPr>
                <a:spLocks noChangeArrowheads="1"/>
              </p:cNvSpPr>
              <p:nvPr/>
            </p:nvSpPr>
            <p:spPr bwMode="auto">
              <a:xfrm>
                <a:off x="2928" y="3568"/>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25" name="Text Box 61"/>
              <p:cNvSpPr txBox="1">
                <a:spLocks noChangeArrowheads="1"/>
              </p:cNvSpPr>
              <p:nvPr/>
            </p:nvSpPr>
            <p:spPr bwMode="auto">
              <a:xfrm>
                <a:off x="2947" y="3552"/>
                <a:ext cx="201"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5 </a:t>
                </a:r>
              </a:p>
            </p:txBody>
          </p:sp>
        </p:grpSp>
        <p:grpSp>
          <p:nvGrpSpPr>
            <p:cNvPr id="121" name="Group 62"/>
            <p:cNvGrpSpPr>
              <a:grpSpLocks/>
            </p:cNvGrpSpPr>
            <p:nvPr/>
          </p:nvGrpSpPr>
          <p:grpSpPr bwMode="auto">
            <a:xfrm>
              <a:off x="672" y="2112"/>
              <a:ext cx="333" cy="260"/>
              <a:chOff x="528" y="2640"/>
              <a:chExt cx="333" cy="260"/>
            </a:xfrm>
          </p:grpSpPr>
          <p:sp>
            <p:nvSpPr>
              <p:cNvPr id="122" name="Oval 63"/>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123" name="Text Box 64"/>
              <p:cNvSpPr txBox="1">
                <a:spLocks noChangeArrowheads="1"/>
              </p:cNvSpPr>
              <p:nvPr/>
            </p:nvSpPr>
            <p:spPr bwMode="auto">
              <a:xfrm>
                <a:off x="528" y="2640"/>
                <a:ext cx="333"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10</a:t>
                </a:r>
              </a:p>
            </p:txBody>
          </p:sp>
        </p:grpSp>
      </p:grpSp>
      <p:sp>
        <p:nvSpPr>
          <p:cNvPr id="126" name="Oval 146"/>
          <p:cNvSpPr>
            <a:spLocks noChangeArrowheads="1"/>
          </p:cNvSpPr>
          <p:nvPr/>
        </p:nvSpPr>
        <p:spPr bwMode="auto">
          <a:xfrm>
            <a:off x="76200" y="1371600"/>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dirty="0">
                <a:solidFill>
                  <a:srgbClr val="000000"/>
                </a:solidFill>
                <a:latin typeface="Times New Roman" pitchFamily="18" charset="0"/>
              </a:rPr>
              <a:t>例</a:t>
            </a:r>
          </a:p>
        </p:txBody>
      </p:sp>
      <p:sp>
        <p:nvSpPr>
          <p:cNvPr id="127" name="Oval 149"/>
          <p:cNvSpPr>
            <a:spLocks noChangeArrowheads="1"/>
          </p:cNvSpPr>
          <p:nvPr/>
        </p:nvSpPr>
        <p:spPr bwMode="auto">
          <a:xfrm>
            <a:off x="3368675" y="2138362"/>
            <a:ext cx="5688013" cy="1443038"/>
          </a:xfrm>
          <a:prstGeom prst="ellipse">
            <a:avLst/>
          </a:prstGeom>
          <a:solidFill>
            <a:srgbClr val="DBF5F9"/>
          </a:solidFill>
          <a:ln w="12700" cap="rnd">
            <a:noFill/>
            <a:round/>
            <a:headEnd/>
            <a:tailEnd/>
          </a:ln>
        </p:spPr>
        <p:txBody>
          <a:bodyPr wrap="none" anchor="ctr"/>
          <a:lstStyle/>
          <a:p>
            <a:pPr marL="0" marR="0" lvl="0" indent="0" algn="ctr" defTabSz="914400" eaLnBrk="1" fontAlgn="base" latinLnBrk="0" hangingPunct="1">
              <a:lnSpc>
                <a:spcPct val="110000"/>
              </a:lnSpc>
              <a:spcBef>
                <a:spcPct val="1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Times New Roman" pitchFamily="18" charset="0"/>
              </a:rPr>
              <a:t>要使二叉树</a:t>
            </a:r>
            <a:r>
              <a:rPr kumimoji="1" lang="en-US" altLang="zh-CN" sz="2400" b="1" i="0" u="none" strike="noStrike" kern="0" cap="none" spc="0" normalizeH="0" baseline="0" noProof="0">
                <a:ln>
                  <a:noFill/>
                </a:ln>
                <a:solidFill>
                  <a:srgbClr val="0000FF"/>
                </a:solidFill>
                <a:effectLst/>
                <a:uLnTx/>
                <a:uFillTx/>
                <a:latin typeface="Times New Roman" pitchFamily="18" charset="0"/>
              </a:rPr>
              <a:t>WPL</a:t>
            </a:r>
            <a:r>
              <a:rPr kumimoji="1" lang="zh-CN" altLang="en-US" sz="2400" b="1" i="0" u="none" strike="noStrike" kern="0" cap="none" spc="0" normalizeH="0" baseline="0" noProof="0">
                <a:ln>
                  <a:noFill/>
                </a:ln>
                <a:solidFill>
                  <a:srgbClr val="0000FF"/>
                </a:solidFill>
                <a:effectLst/>
                <a:uLnTx/>
                <a:uFillTx/>
                <a:latin typeface="Times New Roman" pitchFamily="18" charset="0"/>
              </a:rPr>
              <a:t>小,就须在构造</a:t>
            </a:r>
          </a:p>
          <a:p>
            <a:pPr marL="0" marR="0" lvl="0" indent="0" algn="ctr" defTabSz="914400" eaLnBrk="1" fontAlgn="base" latinLnBrk="0" hangingPunct="1">
              <a:lnSpc>
                <a:spcPct val="110000"/>
              </a:lnSpc>
              <a:spcBef>
                <a:spcPct val="1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Times New Roman" pitchFamily="18" charset="0"/>
              </a:rPr>
              <a:t>树时, 将权值大的结点靠近根。</a:t>
            </a:r>
            <a:endParaRPr kumimoji="1" lang="en-US" altLang="zh-CN" sz="3600" b="1" i="0" u="none" strike="noStrike" kern="0" cap="none" spc="0" normalizeH="0" baseline="0" noProof="0">
              <a:ln>
                <a:noFill/>
              </a:ln>
              <a:solidFill>
                <a:srgbClr val="0000FF"/>
              </a:solidFill>
              <a:effectLst/>
              <a:uLnTx/>
              <a:uFillTx/>
              <a:latin typeface="隶书" pitchFamily="49" charset="-122"/>
              <a:ea typeface="隶书" pitchFamily="49" charset="-122"/>
            </a:endParaRPr>
          </a:p>
        </p:txBody>
      </p:sp>
      <p:grpSp>
        <p:nvGrpSpPr>
          <p:cNvPr id="128" name="Group 160"/>
          <p:cNvGrpSpPr>
            <a:grpSpLocks/>
          </p:cNvGrpSpPr>
          <p:nvPr/>
        </p:nvGrpSpPr>
        <p:grpSpPr bwMode="auto">
          <a:xfrm>
            <a:off x="7029450" y="4286250"/>
            <a:ext cx="2038350" cy="2049462"/>
            <a:chOff x="4830" y="2683"/>
            <a:chExt cx="1284" cy="1291"/>
          </a:xfrm>
        </p:grpSpPr>
        <p:sp>
          <p:nvSpPr>
            <p:cNvPr id="129" name="Line 128"/>
            <p:cNvSpPr>
              <a:spLocks noChangeShapeType="1"/>
            </p:cNvSpPr>
            <p:nvPr/>
          </p:nvSpPr>
          <p:spPr bwMode="auto">
            <a:xfrm flipH="1">
              <a:off x="5594" y="3625"/>
              <a:ext cx="95" cy="141"/>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30" name="Line 129"/>
            <p:cNvSpPr>
              <a:spLocks noChangeShapeType="1"/>
            </p:cNvSpPr>
            <p:nvPr/>
          </p:nvSpPr>
          <p:spPr bwMode="auto">
            <a:xfrm>
              <a:off x="5832" y="3625"/>
              <a:ext cx="95" cy="141"/>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31" name="Line 130"/>
            <p:cNvSpPr>
              <a:spLocks noChangeShapeType="1"/>
            </p:cNvSpPr>
            <p:nvPr/>
          </p:nvSpPr>
          <p:spPr bwMode="auto">
            <a:xfrm flipH="1">
              <a:off x="5308" y="3248"/>
              <a:ext cx="143" cy="188"/>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32" name="Line 131"/>
            <p:cNvSpPr>
              <a:spLocks noChangeShapeType="1"/>
            </p:cNvSpPr>
            <p:nvPr/>
          </p:nvSpPr>
          <p:spPr bwMode="auto">
            <a:xfrm>
              <a:off x="5594" y="3295"/>
              <a:ext cx="95" cy="141"/>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33" name="Line 135"/>
            <p:cNvSpPr>
              <a:spLocks noChangeShapeType="1"/>
            </p:cNvSpPr>
            <p:nvPr/>
          </p:nvSpPr>
          <p:spPr bwMode="auto">
            <a:xfrm>
              <a:off x="5308" y="2918"/>
              <a:ext cx="95" cy="141"/>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134" name="Group 159"/>
            <p:cNvGrpSpPr>
              <a:grpSpLocks/>
            </p:cNvGrpSpPr>
            <p:nvPr/>
          </p:nvGrpSpPr>
          <p:grpSpPr bwMode="auto">
            <a:xfrm>
              <a:off x="5070" y="2683"/>
              <a:ext cx="378" cy="339"/>
              <a:chOff x="5070" y="2683"/>
              <a:chExt cx="378" cy="339"/>
            </a:xfrm>
          </p:grpSpPr>
          <p:sp>
            <p:nvSpPr>
              <p:cNvPr id="153" name="Line 115"/>
              <p:cNvSpPr>
                <a:spLocks noChangeShapeType="1"/>
              </p:cNvSpPr>
              <p:nvPr/>
            </p:nvSpPr>
            <p:spPr bwMode="auto">
              <a:xfrm flipH="1">
                <a:off x="5070" y="2886"/>
                <a:ext cx="137" cy="136"/>
              </a:xfrm>
              <a:prstGeom prst="line">
                <a:avLst/>
              </a:prstGeom>
              <a:noFill/>
              <a:ln w="19050"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154" name="Group 112"/>
              <p:cNvGrpSpPr>
                <a:grpSpLocks/>
              </p:cNvGrpSpPr>
              <p:nvPr/>
            </p:nvGrpSpPr>
            <p:grpSpPr bwMode="auto">
              <a:xfrm>
                <a:off x="5118" y="2683"/>
                <a:ext cx="330" cy="255"/>
                <a:chOff x="3456" y="3216"/>
                <a:chExt cx="333" cy="260"/>
              </a:xfrm>
            </p:grpSpPr>
            <p:sp>
              <p:nvSpPr>
                <p:cNvPr id="155" name="Oval 113"/>
                <p:cNvSpPr>
                  <a:spLocks noChangeArrowheads="1"/>
                </p:cNvSpPr>
                <p:nvPr/>
              </p:nvSpPr>
              <p:spPr bwMode="auto">
                <a:xfrm>
                  <a:off x="3486" y="3229"/>
                  <a:ext cx="247" cy="247"/>
                </a:xfrm>
                <a:prstGeom prst="ellipse">
                  <a:avLst/>
                </a:prstGeom>
                <a:solidFill>
                  <a:srgbClr val="FFFFFF"/>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56" name="Text Box 114"/>
                <p:cNvSpPr txBox="1">
                  <a:spLocks noChangeArrowheads="1"/>
                </p:cNvSpPr>
                <p:nvPr/>
              </p:nvSpPr>
              <p:spPr bwMode="auto">
                <a:xfrm>
                  <a:off x="3456" y="3216"/>
                  <a:ext cx="333" cy="25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55</a:t>
                  </a:r>
                </a:p>
              </p:txBody>
            </p:sp>
          </p:grpSp>
        </p:grpSp>
        <p:grpSp>
          <p:nvGrpSpPr>
            <p:cNvPr id="135" name="Group 116"/>
            <p:cNvGrpSpPr>
              <a:grpSpLocks/>
            </p:cNvGrpSpPr>
            <p:nvPr/>
          </p:nvGrpSpPr>
          <p:grpSpPr bwMode="auto">
            <a:xfrm>
              <a:off x="5118" y="3389"/>
              <a:ext cx="330" cy="255"/>
              <a:chOff x="528" y="2640"/>
              <a:chExt cx="333" cy="260"/>
            </a:xfrm>
          </p:grpSpPr>
          <p:sp>
            <p:nvSpPr>
              <p:cNvPr id="151" name="Oval 117"/>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52" name="Text Box 118"/>
              <p:cNvSpPr txBox="1">
                <a:spLocks noChangeArrowheads="1"/>
              </p:cNvSpPr>
              <p:nvPr/>
            </p:nvSpPr>
            <p:spPr bwMode="auto">
              <a:xfrm>
                <a:off x="528" y="2640"/>
                <a:ext cx="333" cy="25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1</a:t>
                </a: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4</a:t>
                </a:r>
              </a:p>
            </p:txBody>
          </p:sp>
        </p:grpSp>
        <p:grpSp>
          <p:nvGrpSpPr>
            <p:cNvPr id="136" name="Group 119"/>
            <p:cNvGrpSpPr>
              <a:grpSpLocks/>
            </p:cNvGrpSpPr>
            <p:nvPr/>
          </p:nvGrpSpPr>
          <p:grpSpPr bwMode="auto">
            <a:xfrm>
              <a:off x="5451" y="3719"/>
              <a:ext cx="232" cy="250"/>
              <a:chOff x="2928" y="3552"/>
              <a:chExt cx="227" cy="255"/>
            </a:xfrm>
          </p:grpSpPr>
          <p:sp>
            <p:nvSpPr>
              <p:cNvPr id="149" name="Oval 120"/>
              <p:cNvSpPr>
                <a:spLocks noChangeArrowheads="1"/>
              </p:cNvSpPr>
              <p:nvPr/>
            </p:nvSpPr>
            <p:spPr bwMode="auto">
              <a:xfrm>
                <a:off x="2928" y="3568"/>
                <a:ext cx="227" cy="227"/>
              </a:xfrm>
              <a:prstGeom prst="ellipse">
                <a:avLst/>
              </a:prstGeom>
              <a:solidFill>
                <a:srgbClr val="FFFFA5"/>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50" name="Text Box 121"/>
              <p:cNvSpPr txBox="1">
                <a:spLocks noChangeArrowheads="1"/>
              </p:cNvSpPr>
              <p:nvPr/>
            </p:nvSpPr>
            <p:spPr bwMode="auto">
              <a:xfrm>
                <a:off x="2947" y="3552"/>
                <a:ext cx="201" cy="25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5</a:t>
                </a:r>
                <a:r>
                  <a:rPr kumimoji="1" lang="zh-CN" altLang="en-US" sz="2000" b="1" i="0" u="none" strike="noStrike" kern="0" cap="none" spc="0" normalizeH="0" baseline="0" noProof="0">
                    <a:ln>
                      <a:noFill/>
                    </a:ln>
                    <a:solidFill>
                      <a:srgbClr val="DBF5F9"/>
                    </a:solidFill>
                    <a:effectLst/>
                    <a:uLnTx/>
                    <a:uFillTx/>
                    <a:latin typeface="隶书" pitchFamily="49" charset="-122"/>
                    <a:ea typeface="隶书" pitchFamily="49" charset="-122"/>
                  </a:rPr>
                  <a:t> </a:t>
                </a:r>
              </a:p>
            </p:txBody>
          </p:sp>
        </p:grpSp>
        <p:grpSp>
          <p:nvGrpSpPr>
            <p:cNvPr id="137" name="Group 122"/>
            <p:cNvGrpSpPr>
              <a:grpSpLocks/>
            </p:cNvGrpSpPr>
            <p:nvPr/>
          </p:nvGrpSpPr>
          <p:grpSpPr bwMode="auto">
            <a:xfrm>
              <a:off x="5784" y="3719"/>
              <a:ext cx="330" cy="255"/>
              <a:chOff x="528" y="2640"/>
              <a:chExt cx="333" cy="260"/>
            </a:xfrm>
          </p:grpSpPr>
          <p:sp>
            <p:nvSpPr>
              <p:cNvPr id="147" name="Oval 123"/>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48" name="Text Box 124"/>
              <p:cNvSpPr txBox="1">
                <a:spLocks noChangeArrowheads="1"/>
              </p:cNvSpPr>
              <p:nvPr/>
            </p:nvSpPr>
            <p:spPr bwMode="auto">
              <a:xfrm>
                <a:off x="528" y="2640"/>
                <a:ext cx="333" cy="25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10</a:t>
                </a:r>
              </a:p>
            </p:txBody>
          </p:sp>
        </p:grpSp>
        <p:grpSp>
          <p:nvGrpSpPr>
            <p:cNvPr id="138" name="Group 125"/>
            <p:cNvGrpSpPr>
              <a:grpSpLocks/>
            </p:cNvGrpSpPr>
            <p:nvPr/>
          </p:nvGrpSpPr>
          <p:grpSpPr bwMode="auto">
            <a:xfrm>
              <a:off x="5594" y="3389"/>
              <a:ext cx="330" cy="255"/>
              <a:chOff x="3456" y="3216"/>
              <a:chExt cx="333" cy="260"/>
            </a:xfrm>
          </p:grpSpPr>
          <p:sp>
            <p:nvSpPr>
              <p:cNvPr id="145" name="Oval 126"/>
              <p:cNvSpPr>
                <a:spLocks noChangeArrowheads="1"/>
              </p:cNvSpPr>
              <p:nvPr/>
            </p:nvSpPr>
            <p:spPr bwMode="auto">
              <a:xfrm>
                <a:off x="3486" y="3229"/>
                <a:ext cx="247" cy="247"/>
              </a:xfrm>
              <a:prstGeom prst="ellipse">
                <a:avLst/>
              </a:prstGeom>
              <a:solidFill>
                <a:srgbClr val="FFFFFF"/>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46" name="Text Box 127"/>
              <p:cNvSpPr txBox="1">
                <a:spLocks noChangeArrowheads="1"/>
              </p:cNvSpPr>
              <p:nvPr/>
            </p:nvSpPr>
            <p:spPr bwMode="auto">
              <a:xfrm>
                <a:off x="3456" y="3216"/>
                <a:ext cx="333" cy="25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15</a:t>
                </a:r>
              </a:p>
            </p:txBody>
          </p:sp>
        </p:grpSp>
        <p:grpSp>
          <p:nvGrpSpPr>
            <p:cNvPr id="139" name="Group 132"/>
            <p:cNvGrpSpPr>
              <a:grpSpLocks/>
            </p:cNvGrpSpPr>
            <p:nvPr/>
          </p:nvGrpSpPr>
          <p:grpSpPr bwMode="auto">
            <a:xfrm>
              <a:off x="5356" y="3012"/>
              <a:ext cx="330" cy="256"/>
              <a:chOff x="3456" y="3216"/>
              <a:chExt cx="333" cy="260"/>
            </a:xfrm>
          </p:grpSpPr>
          <p:sp>
            <p:nvSpPr>
              <p:cNvPr id="143" name="Oval 133"/>
              <p:cNvSpPr>
                <a:spLocks noChangeArrowheads="1"/>
              </p:cNvSpPr>
              <p:nvPr/>
            </p:nvSpPr>
            <p:spPr bwMode="auto">
              <a:xfrm>
                <a:off x="3486" y="3229"/>
                <a:ext cx="247" cy="247"/>
              </a:xfrm>
              <a:prstGeom prst="ellipse">
                <a:avLst/>
              </a:prstGeom>
              <a:solidFill>
                <a:srgbClr val="FFFFFF"/>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44" name="Text Box 134"/>
              <p:cNvSpPr txBox="1">
                <a:spLocks noChangeArrowheads="1"/>
              </p:cNvSpPr>
              <p:nvPr/>
            </p:nvSpPr>
            <p:spPr bwMode="auto">
              <a:xfrm>
                <a:off x="3456" y="3216"/>
                <a:ext cx="333" cy="254"/>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29</a:t>
                </a:r>
              </a:p>
            </p:txBody>
          </p:sp>
        </p:grpSp>
        <p:grpSp>
          <p:nvGrpSpPr>
            <p:cNvPr id="140" name="Group 109"/>
            <p:cNvGrpSpPr>
              <a:grpSpLocks/>
            </p:cNvGrpSpPr>
            <p:nvPr/>
          </p:nvGrpSpPr>
          <p:grpSpPr bwMode="auto">
            <a:xfrm>
              <a:off x="4830" y="2903"/>
              <a:ext cx="331" cy="255"/>
              <a:chOff x="528" y="2640"/>
              <a:chExt cx="333" cy="260"/>
            </a:xfrm>
          </p:grpSpPr>
          <p:sp>
            <p:nvSpPr>
              <p:cNvPr id="141" name="Oval 110"/>
              <p:cNvSpPr>
                <a:spLocks noChangeArrowheads="1"/>
              </p:cNvSpPr>
              <p:nvPr/>
            </p:nvSpPr>
            <p:spPr bwMode="auto">
              <a:xfrm>
                <a:off x="558" y="2653"/>
                <a:ext cx="247" cy="247"/>
              </a:xfrm>
              <a:prstGeom prst="ellipse">
                <a:avLst/>
              </a:prstGeom>
              <a:solidFill>
                <a:srgbClr val="FFFFA5"/>
              </a:solidFill>
              <a:ln w="12700" cap="rnd">
                <a:solidFill>
                  <a:srgbClr val="00000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000" b="1" i="0" u="none" strike="noStrike" kern="0" cap="none" spc="0" normalizeH="0" baseline="0" noProof="0">
                  <a:ln>
                    <a:noFill/>
                  </a:ln>
                  <a:solidFill>
                    <a:srgbClr val="D5D2A0"/>
                  </a:solidFill>
                  <a:effectLst/>
                  <a:uLnTx/>
                  <a:uFillTx/>
                  <a:latin typeface="隶书" pitchFamily="49" charset="-122"/>
                  <a:ea typeface="隶书" pitchFamily="49" charset="-122"/>
                </a:endParaRPr>
              </a:p>
            </p:txBody>
          </p:sp>
          <p:sp>
            <p:nvSpPr>
              <p:cNvPr id="142" name="Text Box 111"/>
              <p:cNvSpPr txBox="1">
                <a:spLocks noChangeArrowheads="1"/>
              </p:cNvSpPr>
              <p:nvPr/>
            </p:nvSpPr>
            <p:spPr bwMode="auto">
              <a:xfrm>
                <a:off x="528" y="2640"/>
                <a:ext cx="333" cy="255"/>
              </a:xfrm>
              <a:prstGeom prst="rect">
                <a:avLst/>
              </a:prstGeom>
              <a:no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26</a:t>
                </a:r>
              </a:p>
            </p:txBody>
          </p:sp>
        </p:grpSp>
      </p:grpSp>
    </p:spTree>
    <p:extLst>
      <p:ext uri="{BB962C8B-B14F-4D97-AF65-F5344CB8AC3E}">
        <p14:creationId xmlns:p14="http://schemas.microsoft.com/office/powerpoint/2010/main" val="134939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9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2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树的构造</a:t>
            </a:r>
          </a:p>
        </p:txBody>
      </p:sp>
      <p:sp>
        <p:nvSpPr>
          <p:cNvPr id="4" name="日期占位符 3"/>
          <p:cNvSpPr>
            <a:spLocks noGrp="1"/>
          </p:cNvSpPr>
          <p:nvPr>
            <p:ph type="dt" sz="half" idx="10"/>
          </p:nvPr>
        </p:nvSpPr>
        <p:spPr/>
        <p:txBody>
          <a:bodyPr/>
          <a:lstStyle/>
          <a:p>
            <a:fld id="{9C51C171-6A9C-4BDA-872A-F79C02D041AD}"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172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16"/>
          <p:cNvSpPr>
            <a:spLocks noChangeArrowheads="1"/>
          </p:cNvSpPr>
          <p:nvPr/>
        </p:nvSpPr>
        <p:spPr bwMode="auto">
          <a:xfrm>
            <a:off x="474663" y="4262437"/>
            <a:ext cx="8135937" cy="2028825"/>
          </a:xfrm>
          <a:prstGeom prst="rect">
            <a:avLst/>
          </a:prstGeom>
          <a:noFill/>
          <a:ln w="12700" cap="rnd" algn="ctr">
            <a:solidFill>
              <a:srgbClr val="336600"/>
            </a:solidFill>
            <a:miter lim="800000"/>
            <a:headEnd/>
            <a:tailEnd/>
          </a:ln>
        </p:spPr>
        <p:txBody>
          <a:bodyPr>
            <a:spAutoFit/>
          </a:bodyPr>
          <a:lstStyle/>
          <a:p>
            <a:pPr fontAlgn="base">
              <a:lnSpc>
                <a:spcPct val="150000"/>
              </a:lnSpc>
              <a:spcBef>
                <a:spcPct val="0"/>
              </a:spcBef>
              <a:spcAft>
                <a:spcPct val="0"/>
              </a:spcAft>
            </a:pPr>
            <a:r>
              <a:rPr kumimoji="1" lang="en-US" altLang="zh-CN" sz="2800" b="1">
                <a:solidFill>
                  <a:srgbClr val="0000FF"/>
                </a:solidFill>
                <a:latin typeface="Times New Roman" pitchFamily="18" charset="0"/>
              </a:rPr>
              <a:t>Huffman</a:t>
            </a:r>
            <a:r>
              <a:rPr kumimoji="1" lang="zh-CN" altLang="en-US" sz="2800" b="1">
                <a:solidFill>
                  <a:srgbClr val="0000FF"/>
                </a:solidFill>
                <a:latin typeface="Times New Roman" pitchFamily="18" charset="0"/>
              </a:rPr>
              <a:t>树的构造过程</a:t>
            </a:r>
            <a:r>
              <a:rPr kumimoji="1" lang="zh-CN" altLang="en-US" sz="2800" b="1">
                <a:solidFill>
                  <a:srgbClr val="FF3300"/>
                </a:solidFill>
                <a:latin typeface="宋体" pitchFamily="2" charset="-122"/>
              </a:rPr>
              <a:t>说明：</a:t>
            </a:r>
          </a:p>
          <a:p>
            <a:pPr fontAlgn="base">
              <a:lnSpc>
                <a:spcPct val="150000"/>
              </a:lnSpc>
              <a:spcBef>
                <a:spcPct val="0"/>
              </a:spcBef>
              <a:spcAft>
                <a:spcPct val="0"/>
              </a:spcAft>
            </a:pPr>
            <a:r>
              <a:rPr kumimoji="1" lang="en-US" altLang="zh-CN" sz="2800" b="1">
                <a:solidFill>
                  <a:srgbClr val="FF3300"/>
                </a:solidFill>
                <a:latin typeface="宋体" pitchFamily="2" charset="-122"/>
              </a:rPr>
              <a:t>n</a:t>
            </a:r>
            <a:r>
              <a:rPr kumimoji="1" lang="zh-CN" altLang="en-US" sz="2800" b="1">
                <a:solidFill>
                  <a:srgbClr val="FF3300"/>
                </a:solidFill>
                <a:latin typeface="宋体" pitchFamily="2" charset="-122"/>
              </a:rPr>
              <a:t>个结点</a:t>
            </a:r>
            <a:r>
              <a:rPr kumimoji="1" lang="zh-CN" altLang="en-US" sz="2800" b="1">
                <a:solidFill>
                  <a:srgbClr val="0000FF"/>
                </a:solidFill>
                <a:latin typeface="宋体" pitchFamily="2" charset="-122"/>
              </a:rPr>
              <a:t>需要进行</a:t>
            </a:r>
            <a:r>
              <a:rPr kumimoji="1" lang="en-US" altLang="zh-CN" sz="2800" b="1">
                <a:solidFill>
                  <a:srgbClr val="0000FF"/>
                </a:solidFill>
                <a:latin typeface="宋体" pitchFamily="2" charset="-122"/>
              </a:rPr>
              <a:t>n-1</a:t>
            </a:r>
            <a:r>
              <a:rPr kumimoji="1" lang="zh-CN" altLang="en-US" sz="2800" b="1">
                <a:solidFill>
                  <a:srgbClr val="0000FF"/>
                </a:solidFill>
                <a:latin typeface="宋体" pitchFamily="2" charset="-122"/>
              </a:rPr>
              <a:t>次合并，每次合并都产生一个新的结点，所以最终的</a:t>
            </a:r>
            <a:r>
              <a:rPr kumimoji="1" lang="en-US" altLang="zh-CN" sz="2800" b="1">
                <a:solidFill>
                  <a:srgbClr val="0000FF"/>
                </a:solidFill>
                <a:latin typeface="宋体" pitchFamily="2" charset="-122"/>
              </a:rPr>
              <a:t>Huffman</a:t>
            </a:r>
            <a:r>
              <a:rPr kumimoji="1" lang="zh-CN" altLang="en-US" sz="2800" b="1">
                <a:solidFill>
                  <a:srgbClr val="0000FF"/>
                </a:solidFill>
                <a:latin typeface="宋体" pitchFamily="2" charset="-122"/>
              </a:rPr>
              <a:t>树</a:t>
            </a:r>
            <a:r>
              <a:rPr kumimoji="1" lang="zh-CN" altLang="en-US" sz="2800" b="1">
                <a:solidFill>
                  <a:srgbClr val="FF3300"/>
                </a:solidFill>
                <a:latin typeface="宋体" pitchFamily="2" charset="-122"/>
              </a:rPr>
              <a:t>共有</a:t>
            </a:r>
            <a:r>
              <a:rPr kumimoji="1" lang="en-US" altLang="zh-CN" sz="2800" b="1">
                <a:solidFill>
                  <a:srgbClr val="FF3300"/>
                </a:solidFill>
                <a:latin typeface="宋体" pitchFamily="2" charset="-122"/>
              </a:rPr>
              <a:t>2n-1</a:t>
            </a:r>
            <a:r>
              <a:rPr kumimoji="1" lang="zh-CN" altLang="en-US" sz="2800" b="1">
                <a:solidFill>
                  <a:srgbClr val="FF3300"/>
                </a:solidFill>
                <a:latin typeface="宋体" pitchFamily="2" charset="-122"/>
              </a:rPr>
              <a:t>个结点</a:t>
            </a:r>
            <a:r>
              <a:rPr kumimoji="1" lang="zh-CN" altLang="en-US" sz="2800" b="1">
                <a:solidFill>
                  <a:srgbClr val="0000FF"/>
                </a:solidFill>
                <a:latin typeface="宋体" pitchFamily="2" charset="-122"/>
              </a:rPr>
              <a:t>。</a:t>
            </a:r>
            <a:endParaRPr kumimoji="1" lang="en-US" altLang="zh-CN" sz="2800" b="1">
              <a:solidFill>
                <a:srgbClr val="0000FF"/>
              </a:solidFill>
              <a:latin typeface="宋体" pitchFamily="2" charset="-122"/>
            </a:endParaRPr>
          </a:p>
        </p:txBody>
      </p:sp>
      <p:sp>
        <p:nvSpPr>
          <p:cNvPr id="14" name="流程图: 资料带 13"/>
          <p:cNvSpPr/>
          <p:nvPr/>
        </p:nvSpPr>
        <p:spPr bwMode="auto">
          <a:xfrm>
            <a:off x="895350" y="1695450"/>
            <a:ext cx="6929438" cy="1581150"/>
          </a:xfrm>
          <a:prstGeom prst="flowChartPunchedTape">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800" b="1" i="0" u="none" strike="noStrike" kern="0" cap="none" spc="0" normalizeH="0" baseline="0" noProof="0" dirty="0">
                <a:ln>
                  <a:noFill/>
                </a:ln>
                <a:solidFill>
                  <a:srgbClr val="0000FF"/>
                </a:solidFill>
                <a:effectLst/>
                <a:uLnTx/>
                <a:uFillTx/>
                <a:latin typeface="Times New Roman" pitchFamily="18" charset="0"/>
                <a:ea typeface="宋体"/>
                <a:cs typeface="+mn-cs"/>
              </a:rPr>
              <a:t>Huffman</a:t>
            </a:r>
            <a:r>
              <a:rPr kumimoji="1" lang="zh-CN" altLang="en-US" sz="2800" b="1" i="0" u="none" strike="noStrike" kern="0" cap="none" spc="0" normalizeH="0" baseline="0" noProof="0" dirty="0">
                <a:ln>
                  <a:noFill/>
                </a:ln>
                <a:solidFill>
                  <a:srgbClr val="0000FF"/>
                </a:solidFill>
                <a:effectLst/>
                <a:uLnTx/>
                <a:uFillTx/>
                <a:latin typeface="Times New Roman" pitchFamily="18" charset="0"/>
                <a:ea typeface="宋体"/>
                <a:cs typeface="+mn-cs"/>
              </a:rPr>
              <a:t>树中没有度为</a:t>
            </a:r>
            <a:r>
              <a:rPr kumimoji="1" lang="en-US" altLang="zh-CN" sz="2800" b="1" i="0" u="none" strike="noStrike" kern="0" cap="none" spc="0" normalizeH="0" baseline="0" noProof="0" dirty="0">
                <a:ln>
                  <a:noFill/>
                </a:ln>
                <a:solidFill>
                  <a:srgbClr val="0000FF"/>
                </a:solidFill>
                <a:effectLst/>
                <a:uLnTx/>
                <a:uFillTx/>
                <a:latin typeface="Times New Roman" pitchFamily="18" charset="0"/>
                <a:ea typeface="宋体"/>
                <a:cs typeface="+mn-cs"/>
              </a:rPr>
              <a:t>1</a:t>
            </a:r>
            <a:r>
              <a:rPr kumimoji="1" lang="zh-CN" altLang="en-US" sz="2800" b="1" i="0" u="none" strike="noStrike" kern="0" cap="none" spc="0" normalizeH="0" baseline="0" noProof="0" dirty="0">
                <a:ln>
                  <a:noFill/>
                </a:ln>
                <a:solidFill>
                  <a:srgbClr val="0000FF"/>
                </a:solidFill>
                <a:effectLst/>
                <a:uLnTx/>
                <a:uFillTx/>
                <a:latin typeface="Times New Roman" pitchFamily="18" charset="0"/>
                <a:ea typeface="宋体"/>
                <a:cs typeface="+mn-cs"/>
              </a:rPr>
              <a:t>的结点，这类树又称</a:t>
            </a:r>
            <a:r>
              <a:rPr kumimoji="1" lang="zh-CN" altLang="en-US" sz="2800" b="1" i="0" u="none" strike="noStrike" kern="0" cap="none" spc="0" normalizeH="0" baseline="0" noProof="0" dirty="0">
                <a:ln>
                  <a:noFill/>
                </a:ln>
                <a:solidFill>
                  <a:srgbClr val="FF0000"/>
                </a:solidFill>
                <a:effectLst/>
                <a:uLnTx/>
                <a:uFillTx/>
                <a:latin typeface="Times New Roman" pitchFamily="18" charset="0"/>
                <a:ea typeface="宋体"/>
                <a:cs typeface="+mn-cs"/>
              </a:rPr>
              <a:t>严格的（</a:t>
            </a:r>
            <a:r>
              <a:rPr kumimoji="1" lang="en-US" altLang="zh-CN" sz="2800" b="1" i="0" u="none" strike="noStrike" kern="0" cap="none" spc="0" normalizeH="0" baseline="0" noProof="0" dirty="0">
                <a:ln>
                  <a:noFill/>
                </a:ln>
                <a:solidFill>
                  <a:srgbClr val="FF0000"/>
                </a:solidFill>
                <a:effectLst/>
                <a:uLnTx/>
                <a:uFillTx/>
                <a:latin typeface="Times New Roman" pitchFamily="18" charset="0"/>
                <a:ea typeface="宋体"/>
                <a:cs typeface="+mn-cs"/>
              </a:rPr>
              <a:t>strict</a:t>
            </a:r>
            <a:r>
              <a:rPr kumimoji="1" lang="zh-CN" altLang="en-US" sz="2800" b="1" i="0" u="none" strike="noStrike" kern="0" cap="none" spc="0" normalizeH="0" baseline="0" noProof="0" dirty="0">
                <a:ln>
                  <a:noFill/>
                </a:ln>
                <a:solidFill>
                  <a:srgbClr val="FF0000"/>
                </a:solidFill>
                <a:effectLst/>
                <a:uLnTx/>
                <a:uFillTx/>
                <a:latin typeface="Times New Roman" pitchFamily="18" charset="0"/>
                <a:ea typeface="宋体"/>
                <a:cs typeface="+mn-cs"/>
              </a:rPr>
              <a:t>）或正则的二叉树</a:t>
            </a:r>
          </a:p>
        </p:txBody>
      </p:sp>
      <p:sp>
        <p:nvSpPr>
          <p:cNvPr id="15" name="流程图: 资料带 14"/>
          <p:cNvSpPr/>
          <p:nvPr/>
        </p:nvSpPr>
        <p:spPr bwMode="auto">
          <a:xfrm>
            <a:off x="681038" y="3276600"/>
            <a:ext cx="7572375" cy="866775"/>
          </a:xfrm>
          <a:prstGeom prst="flowChartPunchedTape">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800" b="1" i="0" u="none" strike="noStrike" kern="0" cap="none" spc="0" normalizeH="0" baseline="0" noProof="0" dirty="0">
                <a:ln>
                  <a:noFill/>
                </a:ln>
                <a:solidFill>
                  <a:srgbClr val="000000"/>
                </a:solidFill>
                <a:effectLst/>
                <a:uLnTx/>
                <a:uFillTx/>
                <a:latin typeface="Times New Roman" pitchFamily="18" charset="0"/>
                <a:ea typeface="宋体"/>
                <a:cs typeface="+mn-cs"/>
              </a:rPr>
              <a:t>n</a:t>
            </a: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a:cs typeface="+mn-cs"/>
              </a:rPr>
              <a:t>个结点构造的</a:t>
            </a:r>
            <a:r>
              <a:rPr kumimoji="1" lang="en-US" altLang="zh-CN" sz="2800" b="1" i="0" u="none" strike="noStrike" kern="0" cap="none" spc="0" normalizeH="0" baseline="0" noProof="0" dirty="0">
                <a:ln>
                  <a:noFill/>
                </a:ln>
                <a:solidFill>
                  <a:srgbClr val="000000"/>
                </a:solidFill>
                <a:effectLst/>
                <a:uLnTx/>
                <a:uFillTx/>
                <a:latin typeface="Times New Roman" pitchFamily="18" charset="0"/>
                <a:ea typeface="宋体"/>
                <a:cs typeface="+mn-cs"/>
              </a:rPr>
              <a:t>Huffman</a:t>
            </a: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a:cs typeface="+mn-cs"/>
              </a:rPr>
              <a:t>树最终有多少个结点？</a:t>
            </a:r>
          </a:p>
        </p:txBody>
      </p:sp>
    </p:spTree>
    <p:extLst>
      <p:ext uri="{BB962C8B-B14F-4D97-AF65-F5344CB8AC3E}">
        <p14:creationId xmlns:p14="http://schemas.microsoft.com/office/powerpoint/2010/main" val="403205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算法</a:t>
            </a:r>
          </a:p>
        </p:txBody>
      </p:sp>
      <p:sp>
        <p:nvSpPr>
          <p:cNvPr id="4" name="日期占位符 3"/>
          <p:cNvSpPr>
            <a:spLocks noGrp="1"/>
          </p:cNvSpPr>
          <p:nvPr>
            <p:ph type="dt" sz="half" idx="10"/>
          </p:nvPr>
        </p:nvSpPr>
        <p:spPr/>
        <p:txBody>
          <a:bodyPr/>
          <a:lstStyle/>
          <a:p>
            <a:fld id="{91890613-ED48-4FEC-ADC4-26188606829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173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3"/>
          <p:cNvSpPr txBox="1">
            <a:spLocks noChangeArrowheads="1"/>
          </p:cNvSpPr>
          <p:nvPr/>
        </p:nvSpPr>
        <p:spPr bwMode="auto">
          <a:xfrm>
            <a:off x="3800475" y="1317625"/>
            <a:ext cx="5038725" cy="4930775"/>
          </a:xfrm>
          <a:prstGeom prst="rect">
            <a:avLst/>
          </a:prstGeom>
          <a:noFill/>
          <a:ln w="9525">
            <a:solidFill>
              <a:srgbClr val="336600"/>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eaLnBrk="1" hangingPunct="1">
              <a:spcBef>
                <a:spcPct val="0"/>
              </a:spcBef>
              <a:buFont typeface="Wingdings 2" pitchFamily="18" charset="2"/>
              <a:buNone/>
            </a:pPr>
            <a:r>
              <a:rPr lang="en-US" altLang="zh-CN" sz="2400" b="1" kern="0">
                <a:solidFill>
                  <a:srgbClr val="0000FF"/>
                </a:solidFill>
                <a:latin typeface="Times New Roman" pitchFamily="18" charset="0"/>
              </a:rPr>
              <a:t>CreatHuffmanTree </a:t>
            </a:r>
            <a:r>
              <a:rPr lang="zh-CN" altLang="en-US" sz="2400" b="1" kern="0">
                <a:solidFill>
                  <a:srgbClr val="0000FF"/>
                </a:solidFill>
                <a:latin typeface="Times New Roman" pitchFamily="18" charset="0"/>
              </a:rPr>
              <a:t>（</a:t>
            </a:r>
            <a:r>
              <a:rPr lang="en-US" altLang="zh-CN" sz="2400" b="1" kern="0">
                <a:solidFill>
                  <a:srgbClr val="0000FF"/>
                </a:solidFill>
                <a:latin typeface="Times New Roman" pitchFamily="18" charset="0"/>
              </a:rPr>
              <a:t>tree</a:t>
            </a:r>
            <a:r>
              <a:rPr lang="zh-CN" altLang="en-US" sz="2400" b="1" kern="0">
                <a:solidFill>
                  <a:srgbClr val="0000FF"/>
                </a:solidFill>
                <a:latin typeface="Times New Roman" pitchFamily="18" charset="0"/>
              </a:rPr>
              <a:t>）</a:t>
            </a:r>
            <a:br>
              <a:rPr lang="en-US" altLang="zh-CN" sz="2400" b="1" kern="0">
                <a:solidFill>
                  <a:srgbClr val="0000FF"/>
                </a:solidFill>
                <a:latin typeface="Times New Roman" pitchFamily="18" charset="0"/>
              </a:rPr>
            </a:br>
            <a:r>
              <a:rPr lang="en-US" altLang="zh-CN" sz="2400" b="1" kern="0">
                <a:solidFill>
                  <a:srgbClr val="0000FF"/>
                </a:solidFill>
                <a:latin typeface="Times New Roman" pitchFamily="18" charset="0"/>
              </a:rPr>
              <a:t>    hufmtree tree[ ]</a:t>
            </a:r>
          </a:p>
          <a:p>
            <a:pPr eaLnBrk="1" hangingPunct="1">
              <a:spcBef>
                <a:spcPct val="0"/>
              </a:spcBef>
              <a:buFont typeface="Wingdings 2" pitchFamily="18" charset="2"/>
              <a:buNone/>
            </a:pPr>
            <a:r>
              <a:rPr lang="en-US" altLang="zh-CN" sz="2400" b="1" kern="0">
                <a:solidFill>
                  <a:srgbClr val="0000FF"/>
                </a:solidFill>
                <a:latin typeface="Times New Roman" pitchFamily="18" charset="0"/>
              </a:rPr>
              <a:t>        {</a:t>
            </a:r>
            <a:r>
              <a:rPr lang="zh-CN" altLang="en-US" sz="2400" b="1" kern="0">
                <a:solidFill>
                  <a:srgbClr val="0000FF"/>
                </a:solidFill>
                <a:latin typeface="Times New Roman" pitchFamily="18" charset="0"/>
              </a:rPr>
              <a:t>　　</a:t>
            </a:r>
            <a:r>
              <a:rPr lang="en-US" altLang="zh-CN" sz="2400" b="1" kern="0">
                <a:solidFill>
                  <a:srgbClr val="0000FF"/>
                </a:solidFill>
                <a:latin typeface="Times New Roman" pitchFamily="18" charset="0"/>
              </a:rPr>
              <a:t>int i,j,p1,p2;</a:t>
            </a:r>
            <a:br>
              <a:rPr lang="en-US" altLang="zh-CN" sz="2400" b="1" kern="0">
                <a:solidFill>
                  <a:srgbClr val="0000FF"/>
                </a:solidFill>
                <a:latin typeface="Times New Roman" pitchFamily="18" charset="0"/>
              </a:rPr>
            </a:br>
            <a:r>
              <a:rPr lang="en-US" altLang="zh-CN" sz="2400" b="1" kern="0">
                <a:solidFill>
                  <a:srgbClr val="0000FF"/>
                </a:solidFill>
                <a:latin typeface="Times New Roman" pitchFamily="18" charset="0"/>
              </a:rPr>
              <a:t>             float small1,small2,f;</a:t>
            </a:r>
          </a:p>
          <a:p>
            <a:pPr eaLnBrk="1" hangingPunct="1">
              <a:spcBef>
                <a:spcPct val="0"/>
              </a:spcBef>
              <a:buFont typeface="Wingdings 2" pitchFamily="18" charset="2"/>
              <a:buNone/>
            </a:pPr>
            <a:r>
              <a:rPr lang="zh-CN" altLang="en-US" sz="2400" b="1" kern="0">
                <a:solidFill>
                  <a:srgbClr val="0000FF"/>
                </a:solidFill>
                <a:latin typeface="Times New Roman" pitchFamily="18" charset="0"/>
              </a:rPr>
              <a:t> 　　　</a:t>
            </a:r>
            <a:r>
              <a:rPr lang="en-US" altLang="zh-CN" sz="2400" b="1" kern="0">
                <a:solidFill>
                  <a:srgbClr val="0000FF"/>
                </a:solidFill>
                <a:latin typeface="Times New Roman" pitchFamily="18" charset="0"/>
              </a:rPr>
              <a:t>for (i=0; i&lt;m; i++) </a:t>
            </a:r>
          </a:p>
          <a:p>
            <a:pPr eaLnBrk="1" hangingPunct="1">
              <a:spcBef>
                <a:spcPct val="0"/>
              </a:spcBef>
              <a:buFont typeface="Wingdings 2" pitchFamily="18" charset="2"/>
              <a:buNone/>
            </a:pPr>
            <a:r>
              <a:rPr lang="en-US" altLang="zh-CN" sz="2400" b="1" kern="0">
                <a:solidFill>
                  <a:srgbClr val="0000FF"/>
                </a:solidFill>
                <a:latin typeface="Times New Roman" pitchFamily="18" charset="0"/>
              </a:rPr>
              <a:t>                                     </a:t>
            </a:r>
            <a:r>
              <a:rPr lang="en-US" altLang="zh-CN" sz="2400" b="1" kern="0">
                <a:latin typeface="Times New Roman" pitchFamily="18" charset="0"/>
              </a:rPr>
              <a:t>//</a:t>
            </a:r>
            <a:r>
              <a:rPr lang="zh-CN" altLang="en-US" sz="2400" b="1" kern="0">
                <a:latin typeface="Times New Roman" pitchFamily="18" charset="0"/>
              </a:rPr>
              <a:t>初始化</a:t>
            </a:r>
            <a:br>
              <a:rPr lang="zh-CN" altLang="en-US" sz="2400" b="1" kern="0">
                <a:latin typeface="Times New Roman" pitchFamily="18" charset="0"/>
              </a:rPr>
            </a:br>
            <a:r>
              <a:rPr lang="zh-CN" altLang="en-US" sz="2400" b="1" kern="0">
                <a:solidFill>
                  <a:srgbClr val="0000FF"/>
                </a:solidFill>
                <a:latin typeface="Times New Roman" pitchFamily="18" charset="0"/>
              </a:rPr>
              <a:t>　　　　　</a:t>
            </a:r>
            <a:r>
              <a:rPr lang="en-US" altLang="zh-CN" sz="2400" b="1" kern="0">
                <a:solidFill>
                  <a:srgbClr val="0000FF"/>
                </a:solidFill>
                <a:latin typeface="Times New Roman" pitchFamily="18" charset="0"/>
              </a:rPr>
              <a:t>{</a:t>
            </a:r>
          </a:p>
          <a:p>
            <a:pPr eaLnBrk="1" hangingPunct="1">
              <a:spcBef>
                <a:spcPct val="0"/>
              </a:spcBef>
              <a:buFont typeface="Wingdings 2" pitchFamily="18" charset="2"/>
              <a:buNone/>
            </a:pPr>
            <a:r>
              <a:rPr lang="en-US" altLang="zh-CN" sz="2400" b="1" kern="0">
                <a:solidFill>
                  <a:srgbClr val="0000FF"/>
                </a:solidFill>
                <a:latin typeface="Times New Roman" pitchFamily="18" charset="0"/>
              </a:rPr>
              <a:t>                        </a:t>
            </a:r>
            <a:r>
              <a:rPr lang="en-US" altLang="zh-CN" sz="2400" b="1" kern="0">
                <a:solidFill>
                  <a:srgbClr val="FF0000"/>
                </a:solidFill>
                <a:latin typeface="Times New Roman" pitchFamily="18" charset="0"/>
              </a:rPr>
              <a:t>tree[i].weight=0.0;</a:t>
            </a:r>
            <a:br>
              <a:rPr lang="en-US" altLang="zh-CN" sz="2400" b="1" kern="0">
                <a:solidFill>
                  <a:srgbClr val="FF0000"/>
                </a:solidFill>
                <a:latin typeface="Times New Roman" pitchFamily="18" charset="0"/>
              </a:rPr>
            </a:br>
            <a:r>
              <a:rPr lang="zh-CN" altLang="en-US" sz="2400" b="1" kern="0">
                <a:solidFill>
                  <a:srgbClr val="FF0000"/>
                </a:solidFill>
                <a:latin typeface="Times New Roman" pitchFamily="18" charset="0"/>
              </a:rPr>
              <a:t>　　　　　</a:t>
            </a:r>
            <a:r>
              <a:rPr lang="en-US" altLang="zh-CN" sz="2400" b="1" kern="0">
                <a:solidFill>
                  <a:srgbClr val="FF0000"/>
                </a:solidFill>
                <a:latin typeface="Times New Roman" pitchFamily="18" charset="0"/>
              </a:rPr>
              <a:t>tree[i].lch=-1;</a:t>
            </a:r>
            <a:br>
              <a:rPr lang="en-US" altLang="zh-CN" sz="2400" b="1" kern="0">
                <a:solidFill>
                  <a:srgbClr val="FF0000"/>
                </a:solidFill>
                <a:latin typeface="Times New Roman" pitchFamily="18" charset="0"/>
              </a:rPr>
            </a:br>
            <a:r>
              <a:rPr lang="zh-CN" altLang="en-US" sz="2400" b="1" kern="0">
                <a:solidFill>
                  <a:srgbClr val="FF0000"/>
                </a:solidFill>
                <a:latin typeface="Times New Roman" pitchFamily="18" charset="0"/>
              </a:rPr>
              <a:t>　　　　　</a:t>
            </a:r>
            <a:r>
              <a:rPr lang="en-US" altLang="zh-CN" sz="2400" b="1" kern="0">
                <a:solidFill>
                  <a:srgbClr val="FF0000"/>
                </a:solidFill>
                <a:latin typeface="Times New Roman" pitchFamily="18" charset="0"/>
              </a:rPr>
              <a:t>tree[i].rch=-1;</a:t>
            </a:r>
            <a:br>
              <a:rPr lang="en-US" altLang="zh-CN" sz="2400" b="1" kern="0">
                <a:solidFill>
                  <a:srgbClr val="FF0000"/>
                </a:solidFill>
                <a:latin typeface="Times New Roman" pitchFamily="18" charset="0"/>
              </a:rPr>
            </a:br>
            <a:r>
              <a:rPr lang="zh-CN" altLang="en-US" sz="2400" b="1" kern="0">
                <a:solidFill>
                  <a:srgbClr val="FF0000"/>
                </a:solidFill>
                <a:latin typeface="Times New Roman" pitchFamily="18" charset="0"/>
              </a:rPr>
              <a:t>　　　　　</a:t>
            </a:r>
            <a:r>
              <a:rPr lang="en-US" altLang="zh-CN" sz="2400" b="1" kern="0">
                <a:solidFill>
                  <a:srgbClr val="FF0000"/>
                </a:solidFill>
                <a:latin typeface="Times New Roman" pitchFamily="18" charset="0"/>
              </a:rPr>
              <a:t>tree[i].parent=-1;</a:t>
            </a:r>
            <a:br>
              <a:rPr lang="en-US" altLang="zh-CN" sz="2400" b="1" kern="0">
                <a:solidFill>
                  <a:srgbClr val="0000FF"/>
                </a:solidFill>
                <a:latin typeface="Times New Roman" pitchFamily="18" charset="0"/>
              </a:rPr>
            </a:br>
            <a:r>
              <a:rPr lang="zh-CN" altLang="en-US" sz="2400" b="1" kern="0">
                <a:solidFill>
                  <a:srgbClr val="0000FF"/>
                </a:solidFill>
                <a:latin typeface="Times New Roman" pitchFamily="18" charset="0"/>
              </a:rPr>
              <a:t>　　　　</a:t>
            </a:r>
            <a:r>
              <a:rPr lang="en-US" altLang="zh-CN" sz="2400" b="1" kern="0">
                <a:solidFill>
                  <a:srgbClr val="0000FF"/>
                </a:solidFill>
                <a:latin typeface="Times New Roman" pitchFamily="18" charset="0"/>
              </a:rPr>
              <a:t>}</a:t>
            </a:r>
            <a:br>
              <a:rPr lang="en-US" altLang="zh-CN" sz="2400" b="1" kern="0">
                <a:solidFill>
                  <a:srgbClr val="0000FF"/>
                </a:solidFill>
                <a:latin typeface="Times New Roman" pitchFamily="18" charset="0"/>
              </a:rPr>
            </a:br>
            <a:r>
              <a:rPr lang="en-US" altLang="zh-CN" sz="2400" b="1" kern="0">
                <a:solidFill>
                  <a:srgbClr val="0000FF"/>
                </a:solidFill>
                <a:latin typeface="Times New Roman" pitchFamily="18" charset="0"/>
              </a:rPr>
              <a:t>    }</a:t>
            </a:r>
            <a:endParaRPr lang="zh-CN" altLang="en-US" sz="2400" b="1" kern="0">
              <a:solidFill>
                <a:srgbClr val="0000FF"/>
              </a:solidFill>
              <a:latin typeface="Times New Roman" pitchFamily="18" charset="0"/>
            </a:endParaRPr>
          </a:p>
        </p:txBody>
      </p:sp>
      <p:sp>
        <p:nvSpPr>
          <p:cNvPr id="14" name="Rectangle 3"/>
          <p:cNvSpPr>
            <a:spLocks noChangeArrowheads="1"/>
          </p:cNvSpPr>
          <p:nvPr/>
        </p:nvSpPr>
        <p:spPr bwMode="auto">
          <a:xfrm>
            <a:off x="128588" y="2220912"/>
            <a:ext cx="3449637" cy="3417888"/>
          </a:xfrm>
          <a:prstGeom prst="rect">
            <a:avLst/>
          </a:prstGeom>
          <a:noFill/>
          <a:ln w="12700">
            <a:solidFill>
              <a:srgbClr val="04617B"/>
            </a:solidFill>
            <a:miter lim="800000"/>
            <a:headEnd/>
            <a:tailEnd/>
          </a:ln>
        </p:spPr>
        <p:txBody>
          <a:bodyPr/>
          <a:lstStyle/>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rPr>
              <a:t>Huffman </a:t>
            </a:r>
            <a:r>
              <a:rPr kumimoji="0" lang="zh-CN" altLang="en-US" sz="2400" b="1" i="0" u="none" strike="noStrike" kern="0" cap="none" spc="0" normalizeH="0" baseline="0" noProof="0" dirty="0">
                <a:ln>
                  <a:noFill/>
                </a:ln>
                <a:solidFill>
                  <a:srgbClr val="0000FF"/>
                </a:solidFill>
                <a:effectLst/>
                <a:uLnTx/>
                <a:uFillTx/>
                <a:latin typeface="Times New Roman" pitchFamily="18" charset="0"/>
              </a:rPr>
              <a:t>树结点结构</a:t>
            </a:r>
            <a:endParaRPr kumimoji="0" lang="en-US" altLang="zh-CN" sz="2400" b="1" i="0" u="none" strike="noStrike" kern="0" cap="none" spc="0" normalizeH="0" baseline="0" noProof="0" dirty="0">
              <a:ln>
                <a:noFill/>
              </a:ln>
              <a:solidFill>
                <a:srgbClr val="0000FF"/>
              </a:solidFill>
              <a:effectLst/>
              <a:uLnTx/>
              <a:uFillTx/>
              <a:latin typeface="Times New Roman" pitchFamily="18" charset="0"/>
            </a:endParaRPr>
          </a:p>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dirty="0" err="1">
                <a:ln>
                  <a:noFill/>
                </a:ln>
                <a:solidFill>
                  <a:srgbClr val="0000FF"/>
                </a:solidFill>
                <a:effectLst/>
                <a:uLnTx/>
                <a:uFillTx/>
                <a:latin typeface="Times New Roman" pitchFamily="18" charset="0"/>
              </a:rPr>
              <a:t>typedef</a:t>
            </a:r>
            <a:r>
              <a:rPr kumimoji="0" lang="en-US" altLang="zh-CN" sz="2400" b="1" i="0" u="none" strike="noStrike" kern="0" cap="none" spc="0" normalizeH="0" baseline="0" noProof="0" dirty="0">
                <a:ln>
                  <a:noFill/>
                </a:ln>
                <a:solidFill>
                  <a:srgbClr val="0000FF"/>
                </a:solidFill>
                <a:effectLst/>
                <a:uLnTx/>
                <a:uFillTx/>
                <a:latin typeface="Times New Roman" pitchFamily="18" charset="0"/>
              </a:rPr>
              <a:t> </a:t>
            </a:r>
            <a:r>
              <a:rPr kumimoji="0" lang="en-US" altLang="zh-CN" sz="2400" b="1" i="0" u="none" strike="noStrike" kern="0" cap="none" spc="0" normalizeH="0" baseline="0" noProof="0" dirty="0" err="1">
                <a:ln>
                  <a:noFill/>
                </a:ln>
                <a:solidFill>
                  <a:srgbClr val="0000FF"/>
                </a:solidFill>
                <a:effectLst/>
                <a:uLnTx/>
                <a:uFillTx/>
                <a:latin typeface="Times New Roman" pitchFamily="18" charset="0"/>
              </a:rPr>
              <a:t>struct</a:t>
            </a:r>
            <a:endParaRPr kumimoji="0" lang="en-US" altLang="zh-CN" sz="2400" b="1" i="0" u="none" strike="noStrike" kern="0" cap="none" spc="0" normalizeH="0" baseline="0" noProof="0" dirty="0">
              <a:ln>
                <a:noFill/>
              </a:ln>
              <a:solidFill>
                <a:srgbClr val="0000FF"/>
              </a:solidFill>
              <a:effectLst/>
              <a:uLnTx/>
              <a:uFillTx/>
              <a:latin typeface="Times New Roman" pitchFamily="18" charset="0"/>
            </a:endParaRPr>
          </a:p>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rPr>
              <a:t>{</a:t>
            </a:r>
          </a:p>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rPr>
              <a:t>  float weight;</a:t>
            </a:r>
          </a:p>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rPr>
              <a:t> </a:t>
            </a:r>
            <a:r>
              <a:rPr kumimoji="0" lang="en-US" altLang="zh-CN" sz="2400" b="1" i="0" u="none" strike="noStrike" kern="0" cap="none" spc="0" normalizeH="0" baseline="0" noProof="0" dirty="0" err="1">
                <a:ln>
                  <a:noFill/>
                </a:ln>
                <a:solidFill>
                  <a:srgbClr val="0000FF"/>
                </a:solidFill>
                <a:effectLst/>
                <a:uLnTx/>
                <a:uFillTx/>
                <a:latin typeface="Times New Roman" pitchFamily="18" charset="0"/>
              </a:rPr>
              <a:t>int</a:t>
            </a:r>
            <a:r>
              <a:rPr kumimoji="0" lang="en-US" altLang="zh-CN" sz="2400" b="1" i="0" u="none" strike="noStrike" kern="0" cap="none" spc="0" normalizeH="0" baseline="0" noProof="0" dirty="0">
                <a:ln>
                  <a:noFill/>
                </a:ln>
                <a:solidFill>
                  <a:srgbClr val="0000FF"/>
                </a:solidFill>
                <a:effectLst/>
                <a:uLnTx/>
                <a:uFillTx/>
                <a:latin typeface="Times New Roman" pitchFamily="18" charset="0"/>
              </a:rPr>
              <a:t> </a:t>
            </a:r>
            <a:r>
              <a:rPr kumimoji="0" lang="en-US" altLang="zh-CN" sz="2400" b="1" i="0" u="none" strike="noStrike" kern="0" cap="none" spc="0" normalizeH="0" baseline="0" noProof="0" dirty="0" err="1">
                <a:ln>
                  <a:noFill/>
                </a:ln>
                <a:solidFill>
                  <a:srgbClr val="0000FF"/>
                </a:solidFill>
                <a:effectLst/>
                <a:uLnTx/>
                <a:uFillTx/>
                <a:latin typeface="Times New Roman" pitchFamily="18" charset="0"/>
              </a:rPr>
              <a:t>lch,rch,parent</a:t>
            </a:r>
            <a:r>
              <a:rPr kumimoji="0" lang="en-US" altLang="zh-CN" sz="2400" b="1" i="0" u="none" strike="noStrike" kern="0" cap="none" spc="0" normalizeH="0" baseline="0" noProof="0" dirty="0">
                <a:ln>
                  <a:noFill/>
                </a:ln>
                <a:solidFill>
                  <a:srgbClr val="0000FF"/>
                </a:solidFill>
                <a:effectLst/>
                <a:uLnTx/>
                <a:uFillTx/>
                <a:latin typeface="Times New Roman" pitchFamily="18" charset="0"/>
              </a:rPr>
              <a:t>;</a:t>
            </a:r>
          </a:p>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rPr>
              <a:t>}</a:t>
            </a:r>
            <a:r>
              <a:rPr kumimoji="0" lang="en-US" altLang="zh-CN" sz="2400" b="1" i="0" u="none" strike="noStrike" kern="0" cap="none" spc="0" normalizeH="0" baseline="0" noProof="0" dirty="0" err="1">
                <a:ln>
                  <a:noFill/>
                </a:ln>
                <a:solidFill>
                  <a:srgbClr val="0000FF"/>
                </a:solidFill>
                <a:effectLst/>
                <a:uLnTx/>
                <a:uFillTx/>
                <a:latin typeface="Times New Roman" pitchFamily="18" charset="0"/>
              </a:rPr>
              <a:t>hufmtree</a:t>
            </a:r>
            <a:r>
              <a:rPr kumimoji="0" lang="en-US" altLang="zh-CN" sz="2400" b="1" i="0" u="none" strike="noStrike" kern="0" cap="none" spc="0" normalizeH="0" baseline="0" noProof="0" dirty="0">
                <a:ln>
                  <a:noFill/>
                </a:ln>
                <a:solidFill>
                  <a:srgbClr val="0000FF"/>
                </a:solidFill>
                <a:effectLst/>
                <a:uLnTx/>
                <a:uFillTx/>
                <a:latin typeface="Times New Roman" pitchFamily="18" charset="0"/>
              </a:rPr>
              <a:t>;</a:t>
            </a:r>
          </a:p>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400" b="1" i="0" u="none" strike="noStrike" kern="0" cap="none" spc="0" normalizeH="0" baseline="0" noProof="0" dirty="0" err="1">
                <a:ln>
                  <a:noFill/>
                </a:ln>
                <a:solidFill>
                  <a:srgbClr val="0000FF"/>
                </a:solidFill>
                <a:effectLst/>
                <a:uLnTx/>
                <a:uFillTx/>
                <a:latin typeface="Times New Roman" pitchFamily="18" charset="0"/>
              </a:rPr>
              <a:t>hufmtree</a:t>
            </a:r>
            <a:r>
              <a:rPr kumimoji="0" lang="en-US" altLang="zh-CN" sz="2400" b="1" i="0" u="none" strike="noStrike" kern="0" cap="none" spc="0" normalizeH="0" baseline="0" noProof="0" dirty="0">
                <a:ln>
                  <a:noFill/>
                </a:ln>
                <a:solidFill>
                  <a:srgbClr val="0000FF"/>
                </a:solidFill>
                <a:effectLst/>
                <a:uLnTx/>
                <a:uFillTx/>
                <a:latin typeface="Times New Roman" pitchFamily="18" charset="0"/>
              </a:rPr>
              <a:t> tree[m];</a:t>
            </a:r>
          </a:p>
        </p:txBody>
      </p:sp>
      <p:sp>
        <p:nvSpPr>
          <p:cNvPr id="15" name="AutoShape 4">
            <a:hlinkClick r:id="rId4" action="ppaction://hlinkfile"/>
          </p:cNvPr>
          <p:cNvSpPr>
            <a:spLocks noChangeArrowheads="1"/>
          </p:cNvSpPr>
          <p:nvPr/>
        </p:nvSpPr>
        <p:spPr bwMode="auto">
          <a:xfrm>
            <a:off x="7239000" y="5562600"/>
            <a:ext cx="1876425" cy="1090612"/>
          </a:xfrm>
          <a:custGeom>
            <a:avLst/>
            <a:gdLst>
              <a:gd name="T0" fmla="*/ 233349611 w 21600"/>
              <a:gd name="T1" fmla="*/ 0 h 21600"/>
              <a:gd name="T2" fmla="*/ 0 w 21600"/>
              <a:gd name="T3" fmla="*/ 38844009 h 21600"/>
              <a:gd name="T4" fmla="*/ 233349611 w 21600"/>
              <a:gd name="T5" fmla="*/ 77688019 h 21600"/>
              <a:gd name="T6" fmla="*/ 311132774 w 21600"/>
              <a:gd name="T7" fmla="*/ 38844009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3200" b="0" i="0" u="none" strike="noStrike" kern="0" cap="none" spc="0" normalizeH="0" baseline="0" noProof="0">
                <a:ln>
                  <a:noFill/>
                </a:ln>
                <a:solidFill>
                  <a:srgbClr val="003300"/>
                </a:solidFill>
                <a:effectLst/>
                <a:uLnTx/>
                <a:uFillTx/>
                <a:latin typeface="隶书" pitchFamily="49" charset="-122"/>
                <a:ea typeface="隶书" pitchFamily="49" charset="-122"/>
                <a:cs typeface="+mn-cs"/>
              </a:rPr>
              <a:t>图示</a:t>
            </a:r>
          </a:p>
        </p:txBody>
      </p:sp>
    </p:spTree>
    <p:extLst>
      <p:ext uri="{BB962C8B-B14F-4D97-AF65-F5344CB8AC3E}">
        <p14:creationId xmlns:p14="http://schemas.microsoft.com/office/powerpoint/2010/main" val="149883014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算法</a:t>
            </a:r>
          </a:p>
        </p:txBody>
      </p:sp>
      <p:sp>
        <p:nvSpPr>
          <p:cNvPr id="4" name="日期占位符 3"/>
          <p:cNvSpPr>
            <a:spLocks noGrp="1"/>
          </p:cNvSpPr>
          <p:nvPr>
            <p:ph type="dt" sz="half" idx="10"/>
          </p:nvPr>
        </p:nvSpPr>
        <p:spPr/>
        <p:txBody>
          <a:bodyPr/>
          <a:lstStyle/>
          <a:p>
            <a:fld id="{922D0F8C-8DA1-4386-BB5D-E8C7ADF838BA}"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174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3"/>
          <p:cNvSpPr txBox="1">
            <a:spLocks noChangeArrowheads="1"/>
          </p:cNvSpPr>
          <p:nvPr/>
        </p:nvSpPr>
        <p:spPr bwMode="auto">
          <a:xfrm>
            <a:off x="623546" y="1752600"/>
            <a:ext cx="8215654" cy="4495800"/>
          </a:xfrm>
          <a:prstGeom prst="rect">
            <a:avLst/>
          </a:prstGeom>
          <a:noFill/>
          <a:ln w="28575">
            <a:solidFill>
              <a:srgbClr val="0707F9"/>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eaLnBrk="1" hangingPunct="1">
              <a:lnSpc>
                <a:spcPct val="90000"/>
              </a:lnSpc>
              <a:buFont typeface="Wingdings 2" pitchFamily="18" charset="2"/>
              <a:buNone/>
            </a:pPr>
            <a:r>
              <a:rPr lang="en-US" altLang="zh-CN" sz="2400" b="1" kern="0">
                <a:solidFill>
                  <a:srgbClr val="0000FF"/>
                </a:solidFill>
                <a:latin typeface="Times New Roman" pitchFamily="18" charset="0"/>
              </a:rPr>
              <a:t>  int Huffmantree(HuffmanTree T)</a:t>
            </a:r>
            <a:br>
              <a:rPr lang="en-US" altLang="zh-CN" sz="2400" b="1" kern="0">
                <a:solidFill>
                  <a:srgbClr val="0000FF"/>
                </a:solidFill>
                <a:latin typeface="Times New Roman" pitchFamily="18" charset="0"/>
              </a:rPr>
            </a:br>
            <a:r>
              <a:rPr lang="zh-CN" altLang="en-US" sz="2400" b="1" kern="0">
                <a:solidFill>
                  <a:srgbClr val="0000FF"/>
                </a:solidFill>
                <a:latin typeface="Times New Roman" pitchFamily="18" charset="0"/>
              </a:rPr>
              <a:t>　　</a:t>
            </a:r>
            <a:r>
              <a:rPr lang="en-US" altLang="zh-CN" sz="2400" b="1" kern="0">
                <a:latin typeface="Times New Roman" pitchFamily="18" charset="0"/>
              </a:rPr>
              <a:t>{//</a:t>
            </a:r>
            <a:r>
              <a:rPr lang="zh-CN" altLang="en-US" sz="2400" b="1" kern="0">
                <a:latin typeface="Times New Roman" pitchFamily="18" charset="0"/>
              </a:rPr>
              <a:t>输入权值</a:t>
            </a:r>
            <a:br>
              <a:rPr lang="zh-CN" altLang="en-US" sz="2400" b="1" kern="0">
                <a:latin typeface="Times New Roman" pitchFamily="18" charset="0"/>
              </a:rPr>
            </a:br>
            <a:r>
              <a:rPr lang="zh-CN" altLang="en-US" sz="2400" b="1" kern="0">
                <a:solidFill>
                  <a:srgbClr val="0000FF"/>
                </a:solidFill>
                <a:latin typeface="Times New Roman" pitchFamily="18" charset="0"/>
              </a:rPr>
              <a:t>　　　</a:t>
            </a:r>
            <a:r>
              <a:rPr lang="en-US" altLang="zh-CN" sz="2400" b="1" kern="0">
                <a:solidFill>
                  <a:srgbClr val="0000FF"/>
                </a:solidFill>
                <a:latin typeface="Times New Roman" pitchFamily="18" charset="0"/>
              </a:rPr>
              <a:t>float w;int i;</a:t>
            </a:r>
            <a:br>
              <a:rPr lang="en-US" altLang="zh-CN" sz="2400" b="1" kern="0">
                <a:solidFill>
                  <a:srgbClr val="0000FF"/>
                </a:solidFill>
                <a:latin typeface="Times New Roman" pitchFamily="18" charset="0"/>
              </a:rPr>
            </a:br>
            <a:r>
              <a:rPr lang="zh-CN" altLang="en-US" sz="2400" b="1" kern="0">
                <a:solidFill>
                  <a:srgbClr val="0000FF"/>
                </a:solidFill>
                <a:latin typeface="Times New Roman" pitchFamily="18" charset="0"/>
              </a:rPr>
              <a:t>　　　</a:t>
            </a:r>
            <a:r>
              <a:rPr lang="en-US" altLang="zh-CN" sz="2400" b="1" kern="0">
                <a:solidFill>
                  <a:srgbClr val="0000FF"/>
                </a:solidFill>
                <a:latin typeface="Times New Roman" pitchFamily="18" charset="0"/>
              </a:rPr>
              <a:t>for (i=0; i&lt;n;i++)</a:t>
            </a:r>
            <a:br>
              <a:rPr lang="en-US" altLang="zh-CN" sz="2400" b="1" kern="0">
                <a:solidFill>
                  <a:srgbClr val="0000FF"/>
                </a:solidFill>
                <a:latin typeface="Times New Roman" pitchFamily="18" charset="0"/>
              </a:rPr>
            </a:br>
            <a:r>
              <a:rPr lang="zh-CN" altLang="en-US" sz="2400" b="1" kern="0">
                <a:solidFill>
                  <a:srgbClr val="0000FF"/>
                </a:solidFill>
                <a:latin typeface="Times New Roman" pitchFamily="18" charset="0"/>
              </a:rPr>
              <a:t>　　　　</a:t>
            </a:r>
            <a:r>
              <a:rPr lang="en-US" altLang="zh-CN" sz="2400" b="1" kern="0">
                <a:solidFill>
                  <a:srgbClr val="0000FF"/>
                </a:solidFill>
                <a:latin typeface="Times New Roman" pitchFamily="18" charset="0"/>
              </a:rPr>
              <a:t>{scanf(“%f”,&amp;w);</a:t>
            </a:r>
            <a:br>
              <a:rPr lang="en-US" altLang="zh-CN" sz="2400" b="1" kern="0">
                <a:solidFill>
                  <a:srgbClr val="0000FF"/>
                </a:solidFill>
                <a:latin typeface="Times New Roman" pitchFamily="18" charset="0"/>
              </a:rPr>
            </a:br>
            <a:r>
              <a:rPr lang="zh-CN" altLang="en-US" sz="2400" b="1" kern="0">
                <a:solidFill>
                  <a:srgbClr val="0000FF"/>
                </a:solidFill>
                <a:latin typeface="Times New Roman" pitchFamily="18" charset="0"/>
              </a:rPr>
              <a:t>　　　　　</a:t>
            </a:r>
            <a:r>
              <a:rPr lang="en-US" altLang="zh-CN" b="1" kern="0">
                <a:solidFill>
                  <a:srgbClr val="FF0000"/>
                </a:solidFill>
                <a:latin typeface="Times New Roman" pitchFamily="18" charset="0"/>
              </a:rPr>
              <a:t>tree[i].weight=w</a:t>
            </a:r>
            <a:r>
              <a:rPr lang="en-US" altLang="zh-CN" b="1" kern="0">
                <a:solidFill>
                  <a:srgbClr val="0000FF"/>
                </a:solidFill>
                <a:latin typeface="Times New Roman" pitchFamily="18" charset="0"/>
              </a:rPr>
              <a:t>;}</a:t>
            </a:r>
            <a:br>
              <a:rPr lang="en-US" altLang="zh-CN" sz="2400" b="1" kern="0">
                <a:solidFill>
                  <a:srgbClr val="0000FF"/>
                </a:solidFill>
                <a:latin typeface="Times New Roman" pitchFamily="18" charset="0"/>
              </a:rPr>
            </a:br>
            <a:r>
              <a:rPr lang="zh-CN" altLang="en-US" sz="2400" b="1" kern="0">
                <a:solidFill>
                  <a:srgbClr val="0000FF"/>
                </a:solidFill>
                <a:latin typeface="Times New Roman" pitchFamily="18" charset="0"/>
              </a:rPr>
              <a:t>　　</a:t>
            </a:r>
            <a:r>
              <a:rPr lang="en-US" altLang="zh-CN" sz="2400" b="1" kern="0">
                <a:solidFill>
                  <a:srgbClr val="0000FF"/>
                </a:solidFill>
                <a:latin typeface="Times New Roman" pitchFamily="18" charset="0"/>
              </a:rPr>
              <a:t>}</a:t>
            </a:r>
            <a:br>
              <a:rPr lang="en-US" altLang="zh-CN" sz="2400" b="1" kern="0">
                <a:solidFill>
                  <a:srgbClr val="0000FF"/>
                </a:solidFill>
                <a:latin typeface="Times New Roman" pitchFamily="18" charset="0"/>
              </a:rPr>
            </a:br>
            <a:r>
              <a:rPr lang="en-US" altLang="zh-CN" sz="2400" b="1" kern="0">
                <a:solidFill>
                  <a:srgbClr val="0000FF"/>
                </a:solidFill>
                <a:latin typeface="Times New Roman" pitchFamily="18" charset="0"/>
              </a:rPr>
              <a:t>  for(i=n; i&lt;m; i++)</a:t>
            </a:r>
          </a:p>
          <a:p>
            <a:pPr eaLnBrk="1" hangingPunct="1">
              <a:lnSpc>
                <a:spcPct val="90000"/>
              </a:lnSpc>
              <a:buFont typeface="Wingdings 2" pitchFamily="18" charset="2"/>
              <a:buNone/>
            </a:pPr>
            <a:r>
              <a:rPr lang="en-US" altLang="zh-CN" sz="2400" b="1" kern="0">
                <a:solidFill>
                  <a:srgbClr val="0000FF"/>
                </a:solidFill>
                <a:latin typeface="Times New Roman" pitchFamily="18" charset="0"/>
              </a:rPr>
              <a:t>                                </a:t>
            </a:r>
            <a:r>
              <a:rPr lang="en-US" altLang="zh-CN" sz="2400" b="1" kern="0">
                <a:latin typeface="Times New Roman" pitchFamily="18" charset="0"/>
              </a:rPr>
              <a:t>//</a:t>
            </a:r>
            <a:r>
              <a:rPr lang="zh-CN" altLang="en-US" sz="2400" b="1" kern="0">
                <a:latin typeface="Times New Roman" pitchFamily="18" charset="0"/>
              </a:rPr>
              <a:t>把合并后的结点放入向量</a:t>
            </a:r>
            <a:r>
              <a:rPr lang="en-US" altLang="zh-CN" sz="2400" b="1" kern="0">
                <a:latin typeface="Times New Roman" pitchFamily="18" charset="0"/>
              </a:rPr>
              <a:t>tree[n]~tree[m}</a:t>
            </a:r>
          </a:p>
          <a:p>
            <a:pPr eaLnBrk="1" hangingPunct="1">
              <a:lnSpc>
                <a:spcPct val="90000"/>
              </a:lnSpc>
              <a:buFont typeface="Wingdings 2" pitchFamily="18" charset="2"/>
              <a:buNone/>
            </a:pPr>
            <a:r>
              <a:rPr lang="en-US" altLang="zh-CN" sz="2400" b="1" kern="0">
                <a:solidFill>
                  <a:srgbClr val="0000FF"/>
                </a:solidFill>
                <a:latin typeface="Times New Roman" pitchFamily="18" charset="0"/>
              </a:rPr>
              <a:t>      {p1=0;p2=0;                   </a:t>
            </a:r>
            <a:r>
              <a:rPr lang="en-US" altLang="zh-CN" sz="2400" b="1" kern="0">
                <a:latin typeface="Times New Roman" pitchFamily="18" charset="0"/>
              </a:rPr>
              <a:t>// </a:t>
            </a:r>
            <a:r>
              <a:rPr lang="zh-CN" altLang="en-US" sz="2400" b="1" kern="0">
                <a:latin typeface="Times New Roman" pitchFamily="18" charset="0"/>
              </a:rPr>
              <a:t>两个根结点在向量</a:t>
            </a:r>
            <a:r>
              <a:rPr lang="en-US" altLang="zh-CN" sz="2400" b="1" kern="0">
                <a:latin typeface="Times New Roman" pitchFamily="18" charset="0"/>
              </a:rPr>
              <a:t>tree</a:t>
            </a:r>
            <a:r>
              <a:rPr lang="zh-CN" altLang="en-US" sz="2400" b="1" kern="0">
                <a:latin typeface="Times New Roman" pitchFamily="18" charset="0"/>
              </a:rPr>
              <a:t>中的下标</a:t>
            </a:r>
          </a:p>
          <a:p>
            <a:pPr eaLnBrk="1" hangingPunct="1">
              <a:lnSpc>
                <a:spcPct val="90000"/>
              </a:lnSpc>
              <a:buFont typeface="Wingdings 2" pitchFamily="18" charset="2"/>
              <a:buNone/>
            </a:pPr>
            <a:r>
              <a:rPr lang="en-US" altLang="zh-CN" sz="2400" b="1" kern="0">
                <a:solidFill>
                  <a:srgbClr val="0000FF"/>
                </a:solidFill>
                <a:latin typeface="Times New Roman" pitchFamily="18" charset="0"/>
              </a:rPr>
              <a:t>        </a:t>
            </a:r>
            <a:r>
              <a:rPr lang="en-US" altLang="zh-CN" b="1" kern="0">
                <a:solidFill>
                  <a:srgbClr val="FF0000"/>
                </a:solidFill>
                <a:latin typeface="Times New Roman" pitchFamily="18" charset="0"/>
              </a:rPr>
              <a:t>small1=maxval;small2=mavval;</a:t>
            </a:r>
          </a:p>
          <a:p>
            <a:pPr eaLnBrk="1" hangingPunct="1">
              <a:lnSpc>
                <a:spcPct val="90000"/>
              </a:lnSpc>
              <a:buFont typeface="Wingdings 2" pitchFamily="18" charset="2"/>
              <a:buNone/>
            </a:pPr>
            <a:r>
              <a:rPr lang="en-US" altLang="zh-CN" sz="2400" b="1" kern="0">
                <a:solidFill>
                  <a:srgbClr val="0000FF"/>
                </a:solidFill>
                <a:latin typeface="Times New Roman" pitchFamily="18" charset="0"/>
              </a:rPr>
              <a:t>                                                 </a:t>
            </a:r>
            <a:r>
              <a:rPr lang="en-US" altLang="zh-CN" sz="2400" b="1" kern="0">
                <a:latin typeface="Times New Roman" pitchFamily="18" charset="0"/>
              </a:rPr>
              <a:t>//maxval </a:t>
            </a:r>
            <a:r>
              <a:rPr lang="zh-CN" altLang="en-US" sz="2400" b="1" kern="0">
                <a:latin typeface="Times New Roman" pitchFamily="18" charset="0"/>
              </a:rPr>
              <a:t>是</a:t>
            </a:r>
            <a:r>
              <a:rPr lang="en-US" altLang="zh-CN" sz="2400" b="1" kern="0">
                <a:latin typeface="Times New Roman" pitchFamily="18" charset="0"/>
              </a:rPr>
              <a:t>float</a:t>
            </a:r>
            <a:r>
              <a:rPr lang="zh-CN" altLang="en-US" sz="2400" b="1" kern="0">
                <a:latin typeface="Times New Roman" pitchFamily="18" charset="0"/>
              </a:rPr>
              <a:t>类型的最大值</a:t>
            </a:r>
            <a:endParaRPr lang="en-US" altLang="zh-CN" sz="2400" b="1" kern="0" dirty="0">
              <a:latin typeface="Times New Roman" pitchFamily="18" charset="0"/>
            </a:endParaRPr>
          </a:p>
        </p:txBody>
      </p:sp>
    </p:spTree>
    <p:extLst>
      <p:ext uri="{BB962C8B-B14F-4D97-AF65-F5344CB8AC3E}">
        <p14:creationId xmlns:p14="http://schemas.microsoft.com/office/powerpoint/2010/main" val="4226739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算法</a:t>
            </a:r>
          </a:p>
        </p:txBody>
      </p:sp>
      <p:sp>
        <p:nvSpPr>
          <p:cNvPr id="4" name="日期占位符 3"/>
          <p:cNvSpPr>
            <a:spLocks noGrp="1"/>
          </p:cNvSpPr>
          <p:nvPr>
            <p:ph type="dt" sz="half" idx="10"/>
          </p:nvPr>
        </p:nvSpPr>
        <p:spPr/>
        <p:txBody>
          <a:bodyPr/>
          <a:lstStyle/>
          <a:p>
            <a:fld id="{6FC99106-8A4C-4381-8A52-0EFCA695F3F3}"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175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4" name="Rectangle 3"/>
          <p:cNvSpPr txBox="1">
            <a:spLocks noChangeArrowheads="1"/>
          </p:cNvSpPr>
          <p:nvPr/>
        </p:nvSpPr>
        <p:spPr bwMode="auto">
          <a:xfrm>
            <a:off x="390525" y="1770062"/>
            <a:ext cx="8448675" cy="4402138"/>
          </a:xfrm>
          <a:prstGeom prst="rect">
            <a:avLst/>
          </a:prstGeom>
          <a:noFill/>
          <a:ln w="19050">
            <a:solidFill>
              <a:srgbClr val="0000FF"/>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zh-CN" altLang="en-US" sz="2400" b="1" i="0" u="none" strike="noStrike" kern="0" cap="none" spc="0" normalizeH="0" baseline="0" noProof="0">
                <a:ln>
                  <a:noFill/>
                </a:ln>
                <a:solidFill>
                  <a:srgbClr val="000000"/>
                </a:solidFill>
                <a:effectLst/>
                <a:uLnTx/>
                <a:uFillTx/>
                <a:latin typeface="Constantia"/>
                <a:ea typeface="宋体"/>
                <a:cs typeface="+mn-cs"/>
              </a:rPr>
              <a:t>　</a:t>
            </a:r>
            <a: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t>for (j=0;j&lt;i-1;j++)            </a:t>
            </a:r>
            <a:r>
              <a:rPr kumimoji="0" lang="en-US" altLang="zh-CN" sz="2400" b="1" i="0" u="none" strike="noStrike" kern="0" cap="none" spc="0" normalizeH="0" baseline="0" noProof="0">
                <a:ln>
                  <a:noFill/>
                </a:ln>
                <a:solidFill>
                  <a:srgbClr val="000000"/>
                </a:solidFill>
                <a:effectLst/>
                <a:uLnTx/>
                <a:uFillTx/>
                <a:latin typeface="Times New Roman" pitchFamily="18" charset="0"/>
                <a:ea typeface="宋体"/>
                <a:cs typeface="+mn-cs"/>
              </a:rPr>
              <a:t> //</a:t>
            </a:r>
            <a:r>
              <a:rPr kumimoji="0" lang="zh-CN" altLang="en-US" sz="2400" b="1" i="0" u="none" strike="noStrike" kern="0" cap="none" spc="0" normalizeH="0" baseline="0" noProof="0">
                <a:ln>
                  <a:noFill/>
                </a:ln>
                <a:solidFill>
                  <a:srgbClr val="FF0000"/>
                </a:solidFill>
                <a:effectLst/>
                <a:uLnTx/>
                <a:uFillTx/>
                <a:latin typeface="Times New Roman" pitchFamily="18" charset="0"/>
                <a:ea typeface="宋体"/>
                <a:cs typeface="+mn-cs"/>
              </a:rPr>
              <a:t>选择权值最小和次小的结点</a:t>
            </a: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a:cs typeface="+mn-cs"/>
              </a:rPr>
              <a:t>　　</a:t>
            </a:r>
            <a: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t>if(tree[j].parent==-1) </a:t>
            </a:r>
            <a:b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br>
            <a:r>
              <a:rPr kumimoji="0" lang="zh-CN" altLang="en-US" sz="2400" b="1" i="0" u="none" strike="noStrike" kern="0" cap="none" spc="0" normalizeH="0" baseline="0" noProof="0">
                <a:ln>
                  <a:noFill/>
                </a:ln>
                <a:solidFill>
                  <a:srgbClr val="0000FF"/>
                </a:solidFill>
                <a:effectLst/>
                <a:uLnTx/>
                <a:uFillTx/>
                <a:latin typeface="Times New Roman" pitchFamily="18" charset="0"/>
                <a:ea typeface="宋体"/>
                <a:cs typeface="+mn-cs"/>
              </a:rPr>
              <a:t>　　　</a:t>
            </a:r>
            <a: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t>if(tree[j].weight&lt;small1)</a:t>
            </a:r>
            <a:b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br>
            <a:r>
              <a:rPr kumimoji="0" lang="zh-CN" altLang="en-US" sz="2400" b="1" i="0" u="none" strike="noStrike" kern="0" cap="none" spc="0" normalizeH="0" baseline="0" noProof="0">
                <a:ln>
                  <a:noFill/>
                </a:ln>
                <a:solidFill>
                  <a:srgbClr val="0000FF"/>
                </a:solidFill>
                <a:effectLst/>
                <a:uLnTx/>
                <a:uFillTx/>
                <a:latin typeface="Times New Roman" pitchFamily="18" charset="0"/>
                <a:ea typeface="宋体"/>
                <a:cs typeface="+mn-cs"/>
              </a:rPr>
              <a:t>　　　</a:t>
            </a:r>
            <a: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t>{</a:t>
            </a:r>
            <a:b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br>
            <a:r>
              <a:rPr kumimoji="0" lang="zh-CN" altLang="en-US" sz="2400" b="1" i="0" u="none" strike="noStrike" kern="0" cap="none" spc="0" normalizeH="0" baseline="0" noProof="0">
                <a:ln>
                  <a:noFill/>
                </a:ln>
                <a:solidFill>
                  <a:srgbClr val="0000FF"/>
                </a:solidFill>
                <a:effectLst/>
                <a:uLnTx/>
                <a:uFillTx/>
                <a:latin typeface="Times New Roman" pitchFamily="18" charset="0"/>
                <a:ea typeface="宋体"/>
                <a:cs typeface="+mn-cs"/>
              </a:rPr>
              <a:t>　　　　</a:t>
            </a:r>
            <a:r>
              <a:rPr kumimoji="0" lang="en-US" altLang="zh-CN" sz="2400" b="1" i="0" u="none" strike="noStrike" kern="0" cap="none" spc="0" normalizeH="0" baseline="0" noProof="0">
                <a:ln>
                  <a:noFill/>
                </a:ln>
                <a:solidFill>
                  <a:srgbClr val="FF3300"/>
                </a:solidFill>
                <a:effectLst/>
                <a:uLnTx/>
                <a:uFillTx/>
                <a:latin typeface="Times New Roman" pitchFamily="18" charset="0"/>
                <a:ea typeface="宋体"/>
                <a:cs typeface="+mn-cs"/>
              </a:rPr>
              <a:t>small2=small1</a:t>
            </a:r>
            <a:r>
              <a:rPr kumimoji="0" lang="en-US" altLang="zh-CN" sz="2400" b="1" i="0" u="none" strike="noStrike" kern="0" cap="none" spc="0" normalizeH="0" baseline="0" noProof="0">
                <a:ln>
                  <a:noFill/>
                </a:ln>
                <a:solidFill>
                  <a:srgbClr val="000000"/>
                </a:solidFill>
                <a:effectLst/>
                <a:uLnTx/>
                <a:uFillTx/>
                <a:latin typeface="Times New Roman" pitchFamily="18" charset="0"/>
                <a:ea typeface="宋体"/>
                <a:cs typeface="+mn-cs"/>
              </a:rPr>
              <a:t>;//</a:t>
            </a: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a:cs typeface="+mn-cs"/>
              </a:rPr>
              <a:t>改变最小权，次小权及其位置</a:t>
            </a:r>
            <a:br>
              <a:rPr kumimoji="0" lang="zh-CN" altLang="en-US" sz="2400" b="1" i="0" u="none" strike="noStrike" kern="0" cap="none" spc="0" normalizeH="0" baseline="0" noProof="0">
                <a:ln>
                  <a:noFill/>
                </a:ln>
                <a:solidFill>
                  <a:srgbClr val="000000"/>
                </a:solidFill>
                <a:effectLst/>
                <a:uLnTx/>
                <a:uFillTx/>
                <a:latin typeface="Times New Roman" pitchFamily="18" charset="0"/>
                <a:ea typeface="宋体"/>
                <a:cs typeface="+mn-cs"/>
              </a:rPr>
            </a:b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a:cs typeface="+mn-cs"/>
              </a:rPr>
              <a:t>　　　　</a:t>
            </a:r>
            <a:r>
              <a:rPr kumimoji="0" lang="en-US" altLang="zh-CN" sz="2400" b="1" i="0" u="none" strike="noStrike" kern="0" cap="none" spc="0" normalizeH="0" baseline="0" noProof="0">
                <a:ln>
                  <a:noFill/>
                </a:ln>
                <a:solidFill>
                  <a:srgbClr val="FF3300"/>
                </a:solidFill>
                <a:effectLst/>
                <a:uLnTx/>
                <a:uFillTx/>
                <a:latin typeface="Times New Roman" pitchFamily="18" charset="0"/>
                <a:ea typeface="宋体"/>
                <a:cs typeface="+mn-cs"/>
              </a:rPr>
              <a:t>small1=tree[j].weight</a:t>
            </a:r>
            <a:r>
              <a:rPr kumimoji="0" lang="en-US" altLang="zh-CN" sz="2400" b="1" i="0" u="none" strike="noStrike" kern="0" cap="none" spc="0" normalizeH="0" baseline="0" noProof="0">
                <a:ln>
                  <a:noFill/>
                </a:ln>
                <a:solidFill>
                  <a:srgbClr val="000000"/>
                </a:solidFill>
                <a:effectLst/>
                <a:uLnTx/>
                <a:uFillTx/>
                <a:latin typeface="Times New Roman" pitchFamily="18" charset="0"/>
                <a:ea typeface="宋体"/>
                <a:cs typeface="+mn-cs"/>
              </a:rPr>
              <a:t>;//</a:t>
            </a: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a:cs typeface="+mn-cs"/>
              </a:rPr>
              <a:t>找出最小的权值</a:t>
            </a:r>
            <a:br>
              <a:rPr kumimoji="0" lang="zh-CN" altLang="en-US" sz="2400" b="1" i="0" u="none" strike="noStrike" kern="0" cap="none" spc="0" normalizeH="0" baseline="0" noProof="0">
                <a:ln>
                  <a:noFill/>
                </a:ln>
                <a:solidFill>
                  <a:srgbClr val="000000"/>
                </a:solidFill>
                <a:effectLst/>
                <a:uLnTx/>
                <a:uFillTx/>
                <a:latin typeface="Times New Roman" pitchFamily="18" charset="0"/>
                <a:ea typeface="宋体"/>
                <a:cs typeface="+mn-cs"/>
              </a:rPr>
            </a:b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a:cs typeface="+mn-cs"/>
              </a:rPr>
              <a:t>　　　　</a:t>
            </a:r>
            <a: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t>p2=p1; p1=j; }</a:t>
            </a:r>
            <a:b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br>
            <a:r>
              <a:rPr kumimoji="0" lang="zh-CN" altLang="en-US" sz="2400" b="1" i="0" u="none" strike="noStrike" kern="0" cap="none" spc="0" normalizeH="0" baseline="0" noProof="0">
                <a:ln>
                  <a:noFill/>
                </a:ln>
                <a:solidFill>
                  <a:srgbClr val="0000FF"/>
                </a:solidFill>
                <a:effectLst/>
                <a:uLnTx/>
                <a:uFillTx/>
                <a:latin typeface="Times New Roman" pitchFamily="18" charset="0"/>
                <a:ea typeface="宋体"/>
                <a:cs typeface="+mn-cs"/>
              </a:rPr>
              <a:t>　</a:t>
            </a:r>
            <a: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t>else if(tree[j].weight&lt;small2)</a:t>
            </a:r>
            <a:b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br>
            <a:r>
              <a:rPr kumimoji="0" lang="zh-CN" altLang="en-US" sz="2400" b="1" i="0" u="none" strike="noStrike" kern="0" cap="none" spc="0" normalizeH="0" baseline="0" noProof="0">
                <a:ln>
                  <a:noFill/>
                </a:ln>
                <a:solidFill>
                  <a:srgbClr val="0000FF"/>
                </a:solidFill>
                <a:effectLst/>
                <a:uLnTx/>
                <a:uFillTx/>
                <a:latin typeface="Times New Roman" pitchFamily="18" charset="0"/>
                <a:ea typeface="宋体"/>
                <a:cs typeface="+mn-cs"/>
              </a:rPr>
              <a:t>　　　</a:t>
            </a:r>
            <a: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t>{</a:t>
            </a:r>
            <a:r>
              <a:rPr kumimoji="0" lang="en-US" altLang="zh-CN" sz="2400" b="1" i="0" u="none" strike="noStrike" kern="0" cap="none" spc="0" normalizeH="0" baseline="0" noProof="0">
                <a:ln>
                  <a:noFill/>
                </a:ln>
                <a:solidFill>
                  <a:srgbClr val="FF3300"/>
                </a:solidFill>
                <a:effectLst/>
                <a:uLnTx/>
                <a:uFillTx/>
                <a:latin typeface="Times New Roman" pitchFamily="18" charset="0"/>
                <a:ea typeface="宋体"/>
                <a:cs typeface="+mn-cs"/>
              </a:rPr>
              <a:t>small2=tree[j].weight</a:t>
            </a:r>
            <a:r>
              <a:rPr kumimoji="0" lang="en-US" altLang="zh-CN" sz="2400" b="1" i="0" u="none" strike="noStrike" kern="0" cap="none" spc="0" normalizeH="0" baseline="0" noProof="0">
                <a:ln>
                  <a:noFill/>
                </a:ln>
                <a:solidFill>
                  <a:srgbClr val="000000"/>
                </a:solidFill>
                <a:effectLst/>
                <a:uLnTx/>
                <a:uFillTx/>
                <a:latin typeface="Times New Roman" pitchFamily="18" charset="0"/>
                <a:ea typeface="宋体"/>
                <a:cs typeface="+mn-cs"/>
              </a:rPr>
              <a:t>;//</a:t>
            </a: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a:cs typeface="+mn-cs"/>
              </a:rPr>
              <a:t>改变次小权及位置</a:t>
            </a:r>
            <a:br>
              <a:rPr kumimoji="0" lang="zh-CN" altLang="en-US" sz="2400" b="1" i="0" u="none" strike="noStrike" kern="0" cap="none" spc="0" normalizeH="0" baseline="0" noProof="0">
                <a:ln>
                  <a:noFill/>
                </a:ln>
                <a:solidFill>
                  <a:srgbClr val="000000"/>
                </a:solidFill>
                <a:effectLst/>
                <a:uLnTx/>
                <a:uFillTx/>
                <a:latin typeface="Times New Roman" pitchFamily="18" charset="0"/>
                <a:ea typeface="宋体"/>
                <a:cs typeface="+mn-cs"/>
              </a:rPr>
            </a:b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a:cs typeface="+mn-cs"/>
              </a:rPr>
              <a:t>　　　　　</a:t>
            </a:r>
            <a:r>
              <a:rPr kumimoji="0" lang="zh-CN" altLang="en-US" sz="2400" b="1" i="0" u="none" strike="noStrike" kern="0" cap="none" spc="0" normalizeH="0" baseline="0" noProof="0">
                <a:ln>
                  <a:noFill/>
                </a:ln>
                <a:solidFill>
                  <a:srgbClr val="0000FF"/>
                </a:solidFill>
                <a:effectLst/>
                <a:uLnTx/>
                <a:uFillTx/>
                <a:latin typeface="Times New Roman" pitchFamily="18" charset="0"/>
                <a:ea typeface="宋体"/>
                <a:cs typeface="+mn-cs"/>
              </a:rPr>
              <a:t>　</a:t>
            </a:r>
            <a: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t>p2=j;}</a:t>
            </a:r>
            <a:b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b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a:cs typeface="+mn-cs"/>
              </a:rPr>
              <a:t>　　</a:t>
            </a:r>
            <a:r>
              <a:rPr kumimoji="0" lang="en-US" altLang="zh-CN" sz="2400" b="1" i="0" u="none" strike="noStrike" kern="0" cap="none" spc="0" normalizeH="0" baseline="0" noProof="0">
                <a:ln>
                  <a:noFill/>
                </a:ln>
                <a:solidFill>
                  <a:srgbClr val="0000FF"/>
                </a:solidFill>
                <a:effectLst/>
                <a:uLnTx/>
                <a:uFillTx/>
                <a:latin typeface="Times New Roman" pitchFamily="18" charset="0"/>
                <a:ea typeface="宋体"/>
                <a:cs typeface="+mn-cs"/>
              </a:rPr>
              <a:t>}</a:t>
            </a:r>
            <a:r>
              <a:rPr kumimoji="0" lang="en-US" altLang="zh-CN" sz="2400" b="1" i="0" u="none" strike="noStrike" kern="0" cap="none" spc="0" normalizeH="0" baseline="0" noProof="0">
                <a:ln>
                  <a:noFill/>
                </a:ln>
                <a:solidFill>
                  <a:srgbClr val="000000"/>
                </a:solidFill>
                <a:effectLst/>
                <a:uLnTx/>
                <a:uFillTx/>
                <a:latin typeface="Times New Roman" pitchFamily="18" charset="0"/>
                <a:ea typeface="宋体"/>
                <a:cs typeface="+mn-cs"/>
              </a:rPr>
              <a:t>//</a:t>
            </a: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a:cs typeface="+mn-cs"/>
              </a:rPr>
              <a:t>选择结束</a:t>
            </a:r>
          </a:p>
        </p:txBody>
      </p:sp>
    </p:spTree>
    <p:extLst>
      <p:ext uri="{BB962C8B-B14F-4D97-AF65-F5344CB8AC3E}">
        <p14:creationId xmlns:p14="http://schemas.microsoft.com/office/powerpoint/2010/main" val="472989596"/>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算法</a:t>
            </a:r>
          </a:p>
        </p:txBody>
      </p:sp>
      <p:sp>
        <p:nvSpPr>
          <p:cNvPr id="4" name="日期占位符 3"/>
          <p:cNvSpPr>
            <a:spLocks noGrp="1"/>
          </p:cNvSpPr>
          <p:nvPr>
            <p:ph type="dt" sz="half" idx="10"/>
          </p:nvPr>
        </p:nvSpPr>
        <p:spPr/>
        <p:txBody>
          <a:bodyPr/>
          <a:lstStyle/>
          <a:p>
            <a:fld id="{A6D24F0C-7698-4803-8B74-7D24403CAC96}"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176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3"/>
          <p:cNvSpPr txBox="1">
            <a:spLocks noChangeArrowheads="1"/>
          </p:cNvSpPr>
          <p:nvPr/>
        </p:nvSpPr>
        <p:spPr bwMode="auto">
          <a:xfrm>
            <a:off x="595313" y="1871663"/>
            <a:ext cx="8063255" cy="4148137"/>
          </a:xfrm>
          <a:prstGeom prst="rect">
            <a:avLst/>
          </a:prstGeom>
          <a:noFill/>
          <a:ln w="19050">
            <a:solidFill>
              <a:srgbClr val="0000FF"/>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eaLnBrk="1" hangingPunct="1">
              <a:buFont typeface="Wingdings 2" pitchFamily="18" charset="2"/>
              <a:buNone/>
            </a:pPr>
            <a:r>
              <a:rPr lang="en-US" altLang="zh-CN" sz="2400" b="1" kern="0">
                <a:solidFill>
                  <a:srgbClr val="0000FF"/>
                </a:solidFill>
                <a:latin typeface="Times New Roman" pitchFamily="18" charset="0"/>
              </a:rPr>
              <a:t>            tree[p1].parent=i+1;</a:t>
            </a:r>
          </a:p>
          <a:p>
            <a:pPr eaLnBrk="1" hangingPunct="1">
              <a:buFont typeface="Wingdings 2" pitchFamily="18" charset="2"/>
              <a:buNone/>
            </a:pPr>
            <a:r>
              <a:rPr lang="en-US" altLang="zh-CN" sz="2400" b="1" kern="0">
                <a:solidFill>
                  <a:srgbClr val="0000FF"/>
                </a:solidFill>
                <a:latin typeface="Times New Roman" pitchFamily="18" charset="0"/>
              </a:rPr>
              <a:t>           tree[p2].parent=i+1;</a:t>
            </a:r>
          </a:p>
          <a:p>
            <a:pPr eaLnBrk="1" hangingPunct="1">
              <a:buFont typeface="Wingdings 2" pitchFamily="18" charset="2"/>
              <a:buNone/>
            </a:pPr>
            <a:r>
              <a:rPr lang="en-US" altLang="zh-CN" sz="2400" b="1" kern="0">
                <a:solidFill>
                  <a:srgbClr val="FFFF00"/>
                </a:solidFill>
                <a:latin typeface="Times New Roman" pitchFamily="18" charset="0"/>
              </a:rPr>
              <a:t>                                </a:t>
            </a:r>
            <a:r>
              <a:rPr lang="en-US" altLang="zh-CN" sz="2400" b="1" kern="0">
                <a:latin typeface="Times New Roman" pitchFamily="18" charset="0"/>
              </a:rPr>
              <a:t>//</a:t>
            </a:r>
            <a:r>
              <a:rPr lang="zh-CN" altLang="en-US" sz="2400" b="1" kern="0">
                <a:latin typeface="Times New Roman" pitchFamily="18" charset="0"/>
              </a:rPr>
              <a:t>新生成的结点放在向量</a:t>
            </a:r>
            <a:r>
              <a:rPr lang="en-US" altLang="zh-CN" sz="2400" b="1" kern="0">
                <a:latin typeface="Times New Roman" pitchFamily="18" charset="0"/>
              </a:rPr>
              <a:t>tree[i+1]</a:t>
            </a:r>
          </a:p>
          <a:p>
            <a:pPr eaLnBrk="1" hangingPunct="1">
              <a:buFont typeface="Wingdings 2" pitchFamily="18" charset="2"/>
              <a:buNone/>
            </a:pPr>
            <a:endParaRPr lang="en-US" altLang="zh-CN" sz="2400" b="1" kern="0">
              <a:latin typeface="Times New Roman" pitchFamily="18" charset="0"/>
            </a:endParaRPr>
          </a:p>
          <a:p>
            <a:pPr eaLnBrk="1" hangingPunct="1">
              <a:buFont typeface="Wingdings 2" pitchFamily="18" charset="2"/>
              <a:buNone/>
            </a:pPr>
            <a:r>
              <a:rPr lang="en-US" altLang="zh-CN" sz="2400" b="1" kern="0">
                <a:latin typeface="Times New Roman" pitchFamily="18" charset="0"/>
              </a:rPr>
              <a:t>            </a:t>
            </a:r>
            <a:r>
              <a:rPr lang="en-US" altLang="zh-CN" sz="2400" b="1" kern="0">
                <a:solidFill>
                  <a:srgbClr val="0000FF"/>
                </a:solidFill>
                <a:latin typeface="Times New Roman" pitchFamily="18" charset="0"/>
              </a:rPr>
              <a:t>tree[i].lch=p1</a:t>
            </a:r>
            <a:r>
              <a:rPr lang="zh-CN" altLang="en-US" sz="2400" b="1" kern="0">
                <a:solidFill>
                  <a:srgbClr val="0000FF"/>
                </a:solidFill>
                <a:latin typeface="Times New Roman" pitchFamily="18" charset="0"/>
              </a:rPr>
              <a:t>；</a:t>
            </a:r>
            <a:endParaRPr lang="en-US" altLang="zh-CN" sz="2400" b="1" kern="0">
              <a:solidFill>
                <a:srgbClr val="0000FF"/>
              </a:solidFill>
              <a:latin typeface="Times New Roman" pitchFamily="18" charset="0"/>
            </a:endParaRPr>
          </a:p>
          <a:p>
            <a:pPr eaLnBrk="1" hangingPunct="1">
              <a:buFont typeface="Wingdings 2" pitchFamily="18" charset="2"/>
              <a:buNone/>
            </a:pPr>
            <a:r>
              <a:rPr lang="en-US" altLang="zh-CN" sz="2400" b="1" kern="0">
                <a:solidFill>
                  <a:srgbClr val="0000FF"/>
                </a:solidFill>
                <a:latin typeface="Times New Roman" pitchFamily="18" charset="0"/>
              </a:rPr>
              <a:t>           tree[i].rch=p2</a:t>
            </a:r>
            <a:r>
              <a:rPr lang="zh-CN" altLang="en-US" sz="2400" b="1" kern="0">
                <a:solidFill>
                  <a:srgbClr val="0000FF"/>
                </a:solidFill>
                <a:latin typeface="Times New Roman" pitchFamily="18" charset="0"/>
              </a:rPr>
              <a:t>；</a:t>
            </a:r>
            <a:endParaRPr lang="en-US" altLang="zh-CN" sz="2400" b="1" kern="0">
              <a:solidFill>
                <a:srgbClr val="0000FF"/>
              </a:solidFill>
              <a:latin typeface="Times New Roman" pitchFamily="18" charset="0"/>
            </a:endParaRPr>
          </a:p>
          <a:p>
            <a:pPr eaLnBrk="1" hangingPunct="1">
              <a:buFont typeface="Wingdings 2" pitchFamily="18" charset="2"/>
              <a:buNone/>
            </a:pPr>
            <a:r>
              <a:rPr lang="en-US" altLang="zh-CN" sz="2400" b="1" kern="0">
                <a:solidFill>
                  <a:srgbClr val="0000FF"/>
                </a:solidFill>
                <a:latin typeface="Times New Roman" pitchFamily="18" charset="0"/>
              </a:rPr>
              <a:t>           </a:t>
            </a:r>
            <a:r>
              <a:rPr lang="en-US" altLang="zh-CN" sz="2400" b="1" kern="0">
                <a:solidFill>
                  <a:srgbClr val="FF3300"/>
                </a:solidFill>
                <a:latin typeface="Times New Roman" pitchFamily="18" charset="0"/>
              </a:rPr>
              <a:t>tree[i].weight= tree[p1]. weight + tree[p1]. weight</a:t>
            </a:r>
            <a:r>
              <a:rPr lang="zh-CN" altLang="en-US" sz="2400" b="1" kern="0">
                <a:solidFill>
                  <a:srgbClr val="FF3300"/>
                </a:solidFill>
                <a:latin typeface="Times New Roman" pitchFamily="18" charset="0"/>
              </a:rPr>
              <a:t>；</a:t>
            </a:r>
          </a:p>
          <a:p>
            <a:pPr eaLnBrk="1" hangingPunct="1">
              <a:buFont typeface="Wingdings 2" pitchFamily="18" charset="2"/>
              <a:buNone/>
            </a:pPr>
            <a:r>
              <a:rPr lang="en-US" altLang="zh-CN" sz="2400" b="1" kern="0">
                <a:solidFill>
                  <a:srgbClr val="0000FF"/>
                </a:solidFill>
                <a:latin typeface="Times New Roman" pitchFamily="18" charset="0"/>
              </a:rPr>
              <a:t>           }</a:t>
            </a:r>
          </a:p>
          <a:p>
            <a:pPr eaLnBrk="1" hangingPunct="1">
              <a:buFont typeface="Wingdings 2" pitchFamily="18" charset="2"/>
              <a:buNone/>
            </a:pPr>
            <a:r>
              <a:rPr lang="en-US" altLang="zh-CN" sz="2400" b="1" kern="0">
                <a:solidFill>
                  <a:srgbClr val="0000FF"/>
                </a:solidFill>
                <a:latin typeface="Times New Roman" pitchFamily="18" charset="0"/>
              </a:rPr>
              <a:t>}//huffmantree</a:t>
            </a:r>
          </a:p>
        </p:txBody>
      </p:sp>
    </p:spTree>
    <p:extLst>
      <p:ext uri="{BB962C8B-B14F-4D97-AF65-F5344CB8AC3E}">
        <p14:creationId xmlns:p14="http://schemas.microsoft.com/office/powerpoint/2010/main" val="252946262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算法</a:t>
            </a:r>
          </a:p>
        </p:txBody>
      </p:sp>
      <p:sp>
        <p:nvSpPr>
          <p:cNvPr id="4" name="日期占位符 3"/>
          <p:cNvSpPr>
            <a:spLocks noGrp="1"/>
          </p:cNvSpPr>
          <p:nvPr>
            <p:ph type="dt" sz="half" idx="10"/>
          </p:nvPr>
        </p:nvSpPr>
        <p:spPr/>
        <p:txBody>
          <a:bodyPr/>
          <a:lstStyle/>
          <a:p>
            <a:fld id="{3FED1DC4-9341-41B7-9243-AF0876F89BB9}"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177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3"/>
          <p:cNvSpPr>
            <a:spLocks noChangeArrowheads="1"/>
          </p:cNvSpPr>
          <p:nvPr/>
        </p:nvSpPr>
        <p:spPr bwMode="auto">
          <a:xfrm>
            <a:off x="784225" y="1681162"/>
            <a:ext cx="3449638" cy="4103688"/>
          </a:xfrm>
          <a:prstGeom prst="rect">
            <a:avLst/>
          </a:prstGeom>
          <a:noFill/>
          <a:ln w="12700">
            <a:solidFill>
              <a:srgbClr val="04617B"/>
            </a:solidFill>
            <a:miter lim="800000"/>
            <a:headEnd/>
            <a:tailEnd/>
          </a:ln>
        </p:spPr>
        <p:txBody>
          <a:bodyPr/>
          <a:lstStyle/>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800" b="1" i="0" u="none" strike="noStrike" kern="0" cap="none" spc="0" normalizeH="0" baseline="0" noProof="0">
                <a:ln>
                  <a:noFill/>
                </a:ln>
                <a:solidFill>
                  <a:srgbClr val="0000FF"/>
                </a:solidFill>
                <a:effectLst/>
                <a:uLnTx/>
                <a:uFillTx/>
                <a:latin typeface="Times New Roman" pitchFamily="18" charset="0"/>
              </a:rPr>
              <a:t>Huffman </a:t>
            </a:r>
            <a:r>
              <a:rPr kumimoji="0" lang="zh-CN" altLang="en-US" sz="2800" b="1" i="0" u="none" strike="noStrike" kern="0" cap="none" spc="0" normalizeH="0" baseline="0" noProof="0">
                <a:ln>
                  <a:noFill/>
                </a:ln>
                <a:solidFill>
                  <a:srgbClr val="0000FF"/>
                </a:solidFill>
                <a:effectLst/>
                <a:uLnTx/>
                <a:uFillTx/>
                <a:latin typeface="Times New Roman" pitchFamily="18" charset="0"/>
              </a:rPr>
              <a:t>树结点结构</a:t>
            </a:r>
            <a:endParaRPr kumimoji="0" lang="en-US" altLang="zh-CN" sz="2800" b="1" i="0" u="none" strike="noStrike" kern="0" cap="none" spc="0" normalizeH="0" baseline="0" noProof="0">
              <a:ln>
                <a:noFill/>
              </a:ln>
              <a:solidFill>
                <a:srgbClr val="0000FF"/>
              </a:solidFill>
              <a:effectLst/>
              <a:uLnTx/>
              <a:uFillTx/>
              <a:latin typeface="Times New Roman" pitchFamily="18" charset="0"/>
            </a:endParaRPr>
          </a:p>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800" b="1" i="0" u="none" strike="noStrike" kern="0" cap="none" spc="0" normalizeH="0" baseline="0" noProof="0">
                <a:ln>
                  <a:noFill/>
                </a:ln>
                <a:solidFill>
                  <a:srgbClr val="0000FF"/>
                </a:solidFill>
                <a:effectLst/>
                <a:uLnTx/>
                <a:uFillTx/>
                <a:latin typeface="Times New Roman" pitchFamily="18" charset="0"/>
              </a:rPr>
              <a:t>typedef struct</a:t>
            </a:r>
          </a:p>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800" b="1" i="0" u="none" strike="noStrike" kern="0" cap="none" spc="0" normalizeH="0" baseline="0" noProof="0">
                <a:ln>
                  <a:noFill/>
                </a:ln>
                <a:solidFill>
                  <a:srgbClr val="0000FF"/>
                </a:solidFill>
                <a:effectLst/>
                <a:uLnTx/>
                <a:uFillTx/>
                <a:latin typeface="Times New Roman" pitchFamily="18" charset="0"/>
              </a:rPr>
              <a:t>{</a:t>
            </a:r>
          </a:p>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800" b="1" i="0" u="none" strike="noStrike" kern="0" cap="none" spc="0" normalizeH="0" baseline="0" noProof="0">
                <a:ln>
                  <a:noFill/>
                </a:ln>
                <a:solidFill>
                  <a:srgbClr val="0000FF"/>
                </a:solidFill>
                <a:effectLst/>
                <a:uLnTx/>
                <a:uFillTx/>
                <a:latin typeface="Times New Roman" pitchFamily="18" charset="0"/>
              </a:rPr>
              <a:t>     float weight;</a:t>
            </a:r>
          </a:p>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800" b="1" i="0" u="none" strike="noStrike" kern="0" cap="none" spc="0" normalizeH="0" baseline="0" noProof="0">
                <a:ln>
                  <a:noFill/>
                </a:ln>
                <a:solidFill>
                  <a:srgbClr val="0000FF"/>
                </a:solidFill>
                <a:effectLst/>
                <a:uLnTx/>
                <a:uFillTx/>
                <a:latin typeface="Times New Roman" pitchFamily="18" charset="0"/>
              </a:rPr>
              <a:t>     int lch,rch;</a:t>
            </a:r>
          </a:p>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800" b="1" i="0" u="none" strike="noStrike" kern="0" cap="none" spc="0" normalizeH="0" baseline="0" noProof="0">
                <a:ln>
                  <a:noFill/>
                </a:ln>
                <a:solidFill>
                  <a:srgbClr val="0000FF"/>
                </a:solidFill>
                <a:effectLst/>
                <a:uLnTx/>
                <a:uFillTx/>
                <a:latin typeface="Times New Roman" pitchFamily="18" charset="0"/>
              </a:rPr>
              <a:t>      int tag;</a:t>
            </a:r>
          </a:p>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800" b="1" i="0" u="none" strike="noStrike" kern="0" cap="none" spc="0" normalizeH="0" baseline="0" noProof="0">
                <a:ln>
                  <a:noFill/>
                </a:ln>
                <a:solidFill>
                  <a:srgbClr val="0000FF"/>
                </a:solidFill>
                <a:effectLst/>
                <a:uLnTx/>
                <a:uFillTx/>
                <a:latin typeface="Times New Roman" pitchFamily="18" charset="0"/>
              </a:rPr>
              <a:t>}huffree;</a:t>
            </a:r>
          </a:p>
          <a:p>
            <a:pPr marL="273050" marR="0" lvl="0" indent="-273050" defTabSz="914400" eaLnBrk="1" fontAlgn="base" latinLnBrk="0" hangingPunct="1">
              <a:lnSpc>
                <a:spcPct val="100000"/>
              </a:lnSpc>
              <a:spcBef>
                <a:spcPct val="20000"/>
              </a:spcBef>
              <a:spcAft>
                <a:spcPct val="0"/>
              </a:spcAft>
              <a:buClr>
                <a:srgbClr val="0BD0D9"/>
              </a:buClr>
              <a:buSzPct val="95000"/>
              <a:buFont typeface="Wingdings 2" pitchFamily="18" charset="2"/>
              <a:buNone/>
              <a:tabLst/>
              <a:defRPr/>
            </a:pPr>
            <a:r>
              <a:rPr kumimoji="0" lang="en-US" altLang="zh-CN" sz="2800" b="1" i="0" u="none" strike="noStrike" kern="0" cap="none" spc="0" normalizeH="0" baseline="0" noProof="0">
                <a:ln>
                  <a:noFill/>
                </a:ln>
                <a:solidFill>
                  <a:srgbClr val="0000FF"/>
                </a:solidFill>
                <a:effectLst/>
                <a:uLnTx/>
                <a:uFillTx/>
                <a:latin typeface="Times New Roman" pitchFamily="18" charset="0"/>
              </a:rPr>
              <a:t>hufftree tree[m];</a:t>
            </a:r>
          </a:p>
        </p:txBody>
      </p:sp>
      <p:graphicFrame>
        <p:nvGraphicFramePr>
          <p:cNvPr id="14" name="表格 13"/>
          <p:cNvGraphicFramePr>
            <a:graphicFrameLocks noGrp="1"/>
          </p:cNvGraphicFramePr>
          <p:nvPr>
            <p:extLst>
              <p:ext uri="{D42A27DB-BD31-4B8C-83A1-F6EECF244321}">
                <p14:modId xmlns:p14="http://schemas.microsoft.com/office/powerpoint/2010/main" val="610516208"/>
              </p:ext>
            </p:extLst>
          </p:nvPr>
        </p:nvGraphicFramePr>
        <p:xfrm>
          <a:off x="5408608" y="2174875"/>
          <a:ext cx="3659192" cy="3769360"/>
        </p:xfrm>
        <a:graphic>
          <a:graphicData uri="http://schemas.openxmlformats.org/drawingml/2006/table">
            <a:tbl>
              <a:tblPr firstRow="1" bandRow="1"/>
              <a:tblGrid>
                <a:gridCol w="914798">
                  <a:extLst>
                    <a:ext uri="{9D8B030D-6E8A-4147-A177-3AD203B41FA5}">
                      <a16:colId xmlns:a16="http://schemas.microsoft.com/office/drawing/2014/main" val="20000"/>
                    </a:ext>
                  </a:extLst>
                </a:gridCol>
                <a:gridCol w="914798">
                  <a:extLst>
                    <a:ext uri="{9D8B030D-6E8A-4147-A177-3AD203B41FA5}">
                      <a16:colId xmlns:a16="http://schemas.microsoft.com/office/drawing/2014/main" val="20001"/>
                    </a:ext>
                  </a:extLst>
                </a:gridCol>
                <a:gridCol w="914798">
                  <a:extLst>
                    <a:ext uri="{9D8B030D-6E8A-4147-A177-3AD203B41FA5}">
                      <a16:colId xmlns:a16="http://schemas.microsoft.com/office/drawing/2014/main" val="20002"/>
                    </a:ext>
                  </a:extLst>
                </a:gridCol>
                <a:gridCol w="914798">
                  <a:extLst>
                    <a:ext uri="{9D8B030D-6E8A-4147-A177-3AD203B41FA5}">
                      <a16:colId xmlns:a16="http://schemas.microsoft.com/office/drawing/2014/main" val="20003"/>
                    </a:ext>
                  </a:extLst>
                </a:gridCol>
              </a:tblGrid>
              <a:tr h="37084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5</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6</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2</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9</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7</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r>
                        <a:rPr lang="en-US" altLang="zh-CN" sz="2400" b="1" dirty="0">
                          <a:latin typeface="+mj-lt"/>
                        </a:rPr>
                        <a:t>0</a:t>
                      </a:r>
                      <a:endParaRPr lang="zh-CN" altLang="en-US" sz="2400" b="1"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7084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endParaRPr lang="zh-CN" altLang="en-US" dirty="0">
                        <a:latin typeface="+mj-lt"/>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15" name="TextBox 7"/>
          <p:cNvSpPr txBox="1">
            <a:spLocks noChangeArrowheads="1"/>
          </p:cNvSpPr>
          <p:nvPr/>
        </p:nvSpPr>
        <p:spPr bwMode="auto">
          <a:xfrm>
            <a:off x="5424483" y="1570037"/>
            <a:ext cx="731837" cy="584200"/>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tag</a:t>
            </a:r>
            <a:endParaRPr kumimoji="1" lang="zh-CN" altLang="en-US" sz="3200" b="1">
              <a:solidFill>
                <a:srgbClr val="000000"/>
              </a:solidFill>
              <a:latin typeface="Times New Roman" pitchFamily="18" charset="0"/>
            </a:endParaRPr>
          </a:p>
        </p:txBody>
      </p:sp>
      <p:sp>
        <p:nvSpPr>
          <p:cNvPr id="16" name="TextBox 9"/>
          <p:cNvSpPr txBox="1">
            <a:spLocks noChangeArrowheads="1"/>
          </p:cNvSpPr>
          <p:nvPr/>
        </p:nvSpPr>
        <p:spPr bwMode="auto">
          <a:xfrm>
            <a:off x="6353170" y="1582737"/>
            <a:ext cx="709613" cy="585788"/>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lch</a:t>
            </a:r>
            <a:endParaRPr kumimoji="1" lang="zh-CN" altLang="en-US" sz="3200" b="1">
              <a:solidFill>
                <a:srgbClr val="000000"/>
              </a:solidFill>
              <a:latin typeface="Times New Roman" pitchFamily="18" charset="0"/>
            </a:endParaRPr>
          </a:p>
        </p:txBody>
      </p:sp>
      <p:sp>
        <p:nvSpPr>
          <p:cNvPr id="17" name="TextBox 10"/>
          <p:cNvSpPr txBox="1">
            <a:spLocks noChangeArrowheads="1"/>
          </p:cNvSpPr>
          <p:nvPr/>
        </p:nvSpPr>
        <p:spPr bwMode="auto">
          <a:xfrm>
            <a:off x="8297858" y="1582737"/>
            <a:ext cx="769937" cy="585788"/>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rch</a:t>
            </a:r>
            <a:endParaRPr kumimoji="1" lang="zh-CN" altLang="en-US" sz="3200" b="1">
              <a:solidFill>
                <a:srgbClr val="000000"/>
              </a:solidFill>
              <a:latin typeface="Times New Roman" pitchFamily="18" charset="0"/>
            </a:endParaRPr>
          </a:p>
        </p:txBody>
      </p:sp>
      <p:sp>
        <p:nvSpPr>
          <p:cNvPr id="19" name="TextBox 11"/>
          <p:cNvSpPr txBox="1">
            <a:spLocks noChangeArrowheads="1"/>
          </p:cNvSpPr>
          <p:nvPr/>
        </p:nvSpPr>
        <p:spPr bwMode="auto">
          <a:xfrm>
            <a:off x="7078658" y="1582737"/>
            <a:ext cx="1346200" cy="585788"/>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3200" b="1">
                <a:solidFill>
                  <a:srgbClr val="000000"/>
                </a:solidFill>
                <a:latin typeface="Times New Roman" pitchFamily="18" charset="0"/>
              </a:rPr>
              <a:t>weight</a:t>
            </a:r>
            <a:endParaRPr kumimoji="1" lang="zh-CN" altLang="en-US" sz="3200" b="1">
              <a:solidFill>
                <a:srgbClr val="000000"/>
              </a:solidFill>
              <a:latin typeface="Times New Roman" pitchFamily="18" charset="0"/>
            </a:endParaRPr>
          </a:p>
        </p:txBody>
      </p:sp>
      <p:sp>
        <p:nvSpPr>
          <p:cNvPr id="20" name="TextBox 12"/>
          <p:cNvSpPr txBox="1">
            <a:spLocks noChangeArrowheads="1"/>
          </p:cNvSpPr>
          <p:nvPr/>
        </p:nvSpPr>
        <p:spPr bwMode="auto">
          <a:xfrm>
            <a:off x="5086345" y="2095500"/>
            <a:ext cx="363538" cy="3970337"/>
          </a:xfrm>
          <a:prstGeom prst="rect">
            <a:avLst/>
          </a:prstGeom>
          <a:noFill/>
          <a:ln w="9525">
            <a:noFill/>
            <a:miter lim="800000"/>
            <a:headEnd/>
            <a:tailEnd/>
          </a:ln>
        </p:spPr>
        <p:txBody>
          <a:bodyPr wrap="none">
            <a:spAutoFit/>
          </a:bodyPr>
          <a:lstStyle/>
          <a:p>
            <a:pPr algn="ctr" eaLnBrk="0" fontAlgn="base" hangingPunct="0">
              <a:spcBef>
                <a:spcPct val="0"/>
              </a:spcBef>
              <a:spcAft>
                <a:spcPct val="0"/>
              </a:spcAft>
            </a:pPr>
            <a:r>
              <a:rPr kumimoji="1" lang="en-US" altLang="zh-CN" sz="2800" b="1">
                <a:solidFill>
                  <a:srgbClr val="000000"/>
                </a:solidFill>
                <a:latin typeface="Times New Roman" pitchFamily="18" charset="0"/>
              </a:rPr>
              <a:t>1</a:t>
            </a:r>
          </a:p>
          <a:p>
            <a:pPr algn="ctr" eaLnBrk="0" fontAlgn="base" hangingPunct="0">
              <a:spcBef>
                <a:spcPct val="0"/>
              </a:spcBef>
              <a:spcAft>
                <a:spcPct val="0"/>
              </a:spcAft>
            </a:pPr>
            <a:r>
              <a:rPr kumimoji="1" lang="en-US" altLang="zh-CN" sz="2800" b="1">
                <a:solidFill>
                  <a:srgbClr val="000000"/>
                </a:solidFill>
                <a:latin typeface="Times New Roman" pitchFamily="18" charset="0"/>
              </a:rPr>
              <a:t>2</a:t>
            </a:r>
          </a:p>
          <a:p>
            <a:pPr algn="ctr" eaLnBrk="0" fontAlgn="base" hangingPunct="0">
              <a:spcBef>
                <a:spcPct val="0"/>
              </a:spcBef>
              <a:spcAft>
                <a:spcPct val="0"/>
              </a:spcAft>
            </a:pPr>
            <a:r>
              <a:rPr kumimoji="1" lang="en-US" altLang="zh-CN" sz="2800" b="1">
                <a:solidFill>
                  <a:srgbClr val="000000"/>
                </a:solidFill>
                <a:latin typeface="Times New Roman" pitchFamily="18" charset="0"/>
              </a:rPr>
              <a:t>3</a:t>
            </a:r>
          </a:p>
          <a:p>
            <a:pPr algn="ctr" eaLnBrk="0" fontAlgn="base" hangingPunct="0">
              <a:spcBef>
                <a:spcPct val="0"/>
              </a:spcBef>
              <a:spcAft>
                <a:spcPct val="0"/>
              </a:spcAft>
            </a:pPr>
            <a:r>
              <a:rPr kumimoji="1" lang="en-US" altLang="zh-CN" sz="2800" b="1">
                <a:solidFill>
                  <a:srgbClr val="000000"/>
                </a:solidFill>
                <a:latin typeface="Times New Roman" pitchFamily="18" charset="0"/>
              </a:rPr>
              <a:t>4</a:t>
            </a:r>
          </a:p>
          <a:p>
            <a:pPr algn="ctr" eaLnBrk="0" fontAlgn="base" hangingPunct="0">
              <a:spcBef>
                <a:spcPct val="0"/>
              </a:spcBef>
              <a:spcAft>
                <a:spcPct val="0"/>
              </a:spcAft>
            </a:pPr>
            <a:r>
              <a:rPr kumimoji="1" lang="en-US" altLang="zh-CN" sz="2800" b="1">
                <a:solidFill>
                  <a:srgbClr val="000000"/>
                </a:solidFill>
                <a:latin typeface="Times New Roman" pitchFamily="18" charset="0"/>
              </a:rPr>
              <a:t>5</a:t>
            </a:r>
          </a:p>
          <a:p>
            <a:pPr algn="ctr" eaLnBrk="0" fontAlgn="base" hangingPunct="0">
              <a:spcBef>
                <a:spcPct val="0"/>
              </a:spcBef>
              <a:spcAft>
                <a:spcPct val="0"/>
              </a:spcAft>
            </a:pPr>
            <a:r>
              <a:rPr kumimoji="1" lang="en-US" altLang="zh-CN" sz="2800" b="1">
                <a:solidFill>
                  <a:srgbClr val="000000"/>
                </a:solidFill>
                <a:latin typeface="Times New Roman" pitchFamily="18" charset="0"/>
              </a:rPr>
              <a:t>6</a:t>
            </a:r>
          </a:p>
          <a:p>
            <a:pPr algn="ctr" eaLnBrk="0" fontAlgn="base" hangingPunct="0">
              <a:spcBef>
                <a:spcPct val="0"/>
              </a:spcBef>
              <a:spcAft>
                <a:spcPct val="0"/>
              </a:spcAft>
            </a:pPr>
            <a:r>
              <a:rPr kumimoji="1" lang="en-US" altLang="zh-CN" sz="2800" b="1">
                <a:solidFill>
                  <a:srgbClr val="000000"/>
                </a:solidFill>
                <a:latin typeface="Times New Roman" pitchFamily="18" charset="0"/>
              </a:rPr>
              <a:t>7</a:t>
            </a:r>
          </a:p>
          <a:p>
            <a:pPr algn="ctr" eaLnBrk="0" fontAlgn="base" hangingPunct="0">
              <a:spcBef>
                <a:spcPct val="0"/>
              </a:spcBef>
              <a:spcAft>
                <a:spcPct val="0"/>
              </a:spcAft>
            </a:pPr>
            <a:r>
              <a:rPr kumimoji="1" lang="en-US" altLang="zh-CN" sz="2800" b="1">
                <a:solidFill>
                  <a:srgbClr val="000000"/>
                </a:solidFill>
                <a:latin typeface="Times New Roman" pitchFamily="18" charset="0"/>
              </a:rPr>
              <a:t>8</a:t>
            </a:r>
          </a:p>
          <a:p>
            <a:pPr algn="ctr" eaLnBrk="0" fontAlgn="base" hangingPunct="0">
              <a:spcBef>
                <a:spcPct val="0"/>
              </a:spcBef>
              <a:spcAft>
                <a:spcPct val="0"/>
              </a:spcAft>
            </a:pPr>
            <a:r>
              <a:rPr kumimoji="1" lang="en-US" altLang="zh-CN" sz="2800" b="1">
                <a:solidFill>
                  <a:srgbClr val="000000"/>
                </a:solidFill>
                <a:latin typeface="Times New Roman" pitchFamily="18" charset="0"/>
              </a:rPr>
              <a:t>9</a:t>
            </a:r>
            <a:endParaRPr kumimoji="1" lang="zh-CN" altLang="en-US" sz="2800" b="1">
              <a:solidFill>
                <a:srgbClr val="000000"/>
              </a:solidFill>
              <a:latin typeface="Times New Roman" pitchFamily="18" charset="0"/>
            </a:endParaRPr>
          </a:p>
        </p:txBody>
      </p:sp>
      <p:sp>
        <p:nvSpPr>
          <p:cNvPr id="21" name="TextBox 20"/>
          <p:cNvSpPr txBox="1"/>
          <p:nvPr/>
        </p:nvSpPr>
        <p:spPr>
          <a:xfrm>
            <a:off x="304800" y="5856287"/>
            <a:ext cx="3736920" cy="954107"/>
          </a:xfrm>
          <a:prstGeom prst="rect">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ln>
          <a:effectLst>
            <a:outerShdw blurRad="40000" dist="20000" dir="5400000" rotWithShape="0">
              <a:srgbClr val="000000">
                <a:alpha val="38000"/>
              </a:srgbClr>
            </a:outerShdw>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zh-CN" sz="2800" b="1" i="0" u="none" strike="noStrike" kern="0" cap="none" spc="0" normalizeH="0" baseline="0" noProof="0" dirty="0">
                <a:ln>
                  <a:noFill/>
                </a:ln>
                <a:solidFill>
                  <a:srgbClr val="000000"/>
                </a:solidFill>
                <a:effectLst/>
                <a:uLnTx/>
                <a:uFillTx/>
                <a:latin typeface="Constantia"/>
                <a:ea typeface="宋体"/>
                <a:cs typeface="+mn-cs"/>
              </a:rPr>
              <a:t>tag=0 </a:t>
            </a:r>
            <a:r>
              <a:rPr kumimoji="1" lang="zh-CN" altLang="en-US" sz="2800" b="1" i="0" u="none" strike="noStrike" kern="0" cap="none" spc="0" normalizeH="0" baseline="0" noProof="0" dirty="0">
                <a:ln>
                  <a:noFill/>
                </a:ln>
                <a:solidFill>
                  <a:srgbClr val="000000"/>
                </a:solidFill>
                <a:effectLst/>
                <a:uLnTx/>
                <a:uFillTx/>
                <a:latin typeface="Constantia"/>
                <a:ea typeface="宋体"/>
                <a:cs typeface="+mn-cs"/>
              </a:rPr>
              <a:t>结点独立</a:t>
            </a:r>
            <a:endParaRPr kumimoji="1" lang="en-US" altLang="zh-CN" sz="2800" b="1" i="0" u="none" strike="noStrike" kern="0" cap="none" spc="0" normalizeH="0" baseline="0" noProof="0" dirty="0">
              <a:ln>
                <a:noFill/>
              </a:ln>
              <a:solidFill>
                <a:srgbClr val="000000"/>
              </a:solidFill>
              <a:effectLst/>
              <a:uLnTx/>
              <a:uFillTx/>
              <a:latin typeface="Constantia"/>
              <a:ea typeface="宋体"/>
              <a:cs typeface="+mn-cs"/>
            </a:endParaRP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zh-CN" sz="2800" b="1" i="0" u="none" strike="noStrike" kern="0" cap="none" spc="0" normalizeH="0" baseline="0" noProof="0" dirty="0">
                <a:ln>
                  <a:noFill/>
                </a:ln>
                <a:solidFill>
                  <a:srgbClr val="000000"/>
                </a:solidFill>
                <a:effectLst/>
                <a:uLnTx/>
                <a:uFillTx/>
                <a:latin typeface="Constantia"/>
                <a:ea typeface="宋体"/>
                <a:cs typeface="+mn-cs"/>
              </a:rPr>
              <a:t>Tag=1 </a:t>
            </a:r>
            <a:r>
              <a:rPr kumimoji="1" lang="zh-CN" altLang="en-US" sz="2800" b="1" i="0" u="none" strike="noStrike" kern="0" cap="none" spc="0" normalizeH="0" baseline="0" noProof="0" dirty="0">
                <a:ln>
                  <a:noFill/>
                </a:ln>
                <a:solidFill>
                  <a:srgbClr val="000000"/>
                </a:solidFill>
                <a:effectLst/>
                <a:uLnTx/>
                <a:uFillTx/>
                <a:latin typeface="Constantia"/>
                <a:ea typeface="宋体"/>
                <a:cs typeface="+mn-cs"/>
              </a:rPr>
              <a:t>结点已并入树中</a:t>
            </a:r>
          </a:p>
        </p:txBody>
      </p:sp>
    </p:spTree>
    <p:extLst>
      <p:ext uri="{BB962C8B-B14F-4D97-AF65-F5344CB8AC3E}">
        <p14:creationId xmlns:p14="http://schemas.microsoft.com/office/powerpoint/2010/main" val="421296439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编码</a:t>
            </a:r>
          </a:p>
        </p:txBody>
      </p:sp>
      <p:sp>
        <p:nvSpPr>
          <p:cNvPr id="4" name="日期占位符 3"/>
          <p:cNvSpPr>
            <a:spLocks noGrp="1"/>
          </p:cNvSpPr>
          <p:nvPr>
            <p:ph type="dt" sz="half" idx="10"/>
          </p:nvPr>
        </p:nvSpPr>
        <p:spPr/>
        <p:txBody>
          <a:bodyPr/>
          <a:lstStyle/>
          <a:p>
            <a:fld id="{527E5244-CFC3-4382-8706-29BF0714D71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178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4"/>
          <p:cNvSpPr>
            <a:spLocks noChangeArrowheads="1"/>
          </p:cNvSpPr>
          <p:nvPr/>
        </p:nvSpPr>
        <p:spPr bwMode="auto">
          <a:xfrm>
            <a:off x="631825" y="1730923"/>
            <a:ext cx="8359775" cy="2308324"/>
          </a:xfrm>
          <a:prstGeom prst="rect">
            <a:avLst/>
          </a:prstGeom>
          <a:noFill/>
          <a:ln w="12700" cap="rnd">
            <a:solidFill>
              <a:srgbClr val="04617B"/>
            </a:solidFill>
            <a:miter lim="800000"/>
            <a:headEnd/>
            <a:tailEnd/>
          </a:ln>
        </p:spPr>
        <p:txBody>
          <a:bodyPr wrap="square" anchor="ctr">
            <a:spAutoFit/>
          </a:bodyPr>
          <a:lstStyle/>
          <a:p>
            <a:pPr marL="0" marR="0" lvl="0" indent="0" defTabSz="914400" eaLnBrk="0" fontAlgn="base" latinLnBrk="0" hangingPunct="0">
              <a:lnSpc>
                <a:spcPct val="15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FF0000"/>
                </a:solidFill>
                <a:effectLst/>
                <a:uLnTx/>
                <a:uFillTx/>
                <a:latin typeface="宋体" pitchFamily="2" charset="-122"/>
              </a:rPr>
              <a:t>Huffman</a:t>
            </a:r>
            <a:r>
              <a:rPr kumimoji="1" lang="zh-CN" altLang="en-US" sz="2400" b="1" i="0" u="none" strike="noStrike" kern="0" cap="none" spc="0" normalizeH="0" baseline="0" noProof="0">
                <a:ln>
                  <a:noFill/>
                </a:ln>
                <a:solidFill>
                  <a:srgbClr val="FF0000"/>
                </a:solidFill>
                <a:effectLst/>
                <a:uLnTx/>
                <a:uFillTx/>
                <a:latin typeface="宋体" pitchFamily="2" charset="-122"/>
              </a:rPr>
              <a:t>树在通讯编码中的一个应用</a:t>
            </a:r>
          </a:p>
          <a:p>
            <a:pPr marL="0" marR="0" lvl="0" indent="0" defTabSz="914400" eaLnBrk="0" fontAlgn="base" latinLnBrk="0" hangingPunct="0">
              <a:lnSpc>
                <a:spcPct val="15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利用哈夫曼树构造一组最优前缀编码。主要用途是实现数据压缩。在某些通讯场合，需将传送的文字转换成由二进制字符组成的字符串。</a:t>
            </a:r>
          </a:p>
        </p:txBody>
      </p:sp>
      <p:sp>
        <p:nvSpPr>
          <p:cNvPr id="14" name="Text Box 7"/>
          <p:cNvSpPr txBox="1">
            <a:spLocks noChangeArrowheads="1"/>
          </p:cNvSpPr>
          <p:nvPr/>
        </p:nvSpPr>
        <p:spPr bwMode="auto">
          <a:xfrm>
            <a:off x="568325" y="4343400"/>
            <a:ext cx="8423275" cy="1865126"/>
          </a:xfrm>
          <a:prstGeom prst="rect">
            <a:avLst/>
          </a:prstGeom>
          <a:noFill/>
          <a:ln w="12700" cap="sq">
            <a:solidFill>
              <a:srgbClr val="003300"/>
            </a:solidFill>
            <a:miter lim="800000"/>
            <a:headEnd type="none" w="sm" len="sm"/>
            <a:tailEnd type="none" w="sm" len="sm"/>
          </a:ln>
        </p:spPr>
        <p:txBody>
          <a:bodyPr wrap="square">
            <a:spAutoFit/>
          </a:bodyPr>
          <a:lstStyle/>
          <a:p>
            <a:pPr fontAlgn="base">
              <a:lnSpc>
                <a:spcPct val="120000"/>
              </a:lnSpc>
              <a:spcBef>
                <a:spcPct val="0"/>
              </a:spcBef>
              <a:spcAft>
                <a:spcPct val="0"/>
              </a:spcAft>
            </a:pPr>
            <a:r>
              <a:rPr kumimoji="1" lang="zh-CN" altLang="en-US" sz="2400" b="1">
                <a:solidFill>
                  <a:srgbClr val="FF0000"/>
                </a:solidFill>
                <a:latin typeface="宋体" pitchFamily="2" charset="-122"/>
              </a:rPr>
              <a:t>方法：</a:t>
            </a:r>
          </a:p>
          <a:p>
            <a:pPr fontAlgn="base">
              <a:lnSpc>
                <a:spcPct val="120000"/>
              </a:lnSpc>
              <a:spcBef>
                <a:spcPct val="0"/>
              </a:spcBef>
              <a:spcAft>
                <a:spcPct val="0"/>
              </a:spcAft>
            </a:pPr>
            <a:r>
              <a:rPr kumimoji="1" lang="zh-CN" altLang="en-US" sz="2400" b="1">
                <a:solidFill>
                  <a:srgbClr val="0000FF"/>
                </a:solidFill>
                <a:latin typeface="宋体" pitchFamily="2" charset="-122"/>
              </a:rPr>
              <a:t>利用哈夫曼树构造一种</a:t>
            </a:r>
            <a:r>
              <a:rPr kumimoji="1" lang="zh-CN" altLang="en-US" sz="2400" b="1">
                <a:solidFill>
                  <a:srgbClr val="FF0000"/>
                </a:solidFill>
                <a:latin typeface="宋体" pitchFamily="2" charset="-122"/>
              </a:rPr>
              <a:t>不等长的二进制编码</a:t>
            </a:r>
            <a:r>
              <a:rPr kumimoji="1" lang="zh-CN" altLang="en-US" sz="2400" b="1">
                <a:solidFill>
                  <a:srgbClr val="0000FF"/>
                </a:solidFill>
                <a:latin typeface="宋体" pitchFamily="2" charset="-122"/>
              </a:rPr>
              <a:t>，并且构造所得的哈夫曼编码是一种</a:t>
            </a:r>
            <a:r>
              <a:rPr kumimoji="1" lang="zh-CN" altLang="en-US" sz="2400" b="1">
                <a:solidFill>
                  <a:srgbClr val="FF0000"/>
                </a:solidFill>
                <a:latin typeface="宋体" pitchFamily="2" charset="-122"/>
              </a:rPr>
              <a:t>最优前缀编码</a:t>
            </a:r>
            <a:r>
              <a:rPr kumimoji="1" lang="zh-CN" altLang="en-US" sz="2400" b="1">
                <a:solidFill>
                  <a:srgbClr val="0000FF"/>
                </a:solidFill>
                <a:latin typeface="宋体" pitchFamily="2" charset="-122"/>
              </a:rPr>
              <a:t>，使所传电文的总长度最短。</a:t>
            </a:r>
          </a:p>
        </p:txBody>
      </p:sp>
    </p:spTree>
    <p:extLst>
      <p:ext uri="{BB962C8B-B14F-4D97-AF65-F5344CB8AC3E}">
        <p14:creationId xmlns:p14="http://schemas.microsoft.com/office/powerpoint/2010/main" val="3215745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编码</a:t>
            </a:r>
          </a:p>
        </p:txBody>
      </p:sp>
      <p:sp>
        <p:nvSpPr>
          <p:cNvPr id="4" name="日期占位符 3"/>
          <p:cNvSpPr>
            <a:spLocks noGrp="1"/>
          </p:cNvSpPr>
          <p:nvPr>
            <p:ph type="dt" sz="half" idx="10"/>
          </p:nvPr>
        </p:nvSpPr>
        <p:spPr/>
        <p:txBody>
          <a:bodyPr/>
          <a:lstStyle/>
          <a:p>
            <a:fld id="{2AE61E09-3298-4139-A687-041C87E9E0F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179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2"/>
          <p:cNvSpPr txBox="1">
            <a:spLocks noChangeArrowheads="1"/>
          </p:cNvSpPr>
          <p:nvPr/>
        </p:nvSpPr>
        <p:spPr bwMode="auto">
          <a:xfrm>
            <a:off x="488951" y="1748677"/>
            <a:ext cx="8401222" cy="1754326"/>
          </a:xfrm>
          <a:prstGeom prst="rect">
            <a:avLst/>
          </a:prstGeom>
          <a:noFill/>
          <a:ln w="12700" cap="sq">
            <a:solidFill>
              <a:srgbClr val="003300"/>
            </a:solidFill>
            <a:miter lim="800000"/>
            <a:headEnd type="none" w="sm" len="sm"/>
            <a:tailEnd type="none" w="sm" len="sm"/>
          </a:ln>
        </p:spPr>
        <p:txBody>
          <a:bodyPr wrap="square">
            <a:spAutoFit/>
          </a:bodyPr>
          <a:lstStyle/>
          <a:p>
            <a:pPr fontAlgn="base">
              <a:lnSpc>
                <a:spcPct val="150000"/>
              </a:lnSpc>
              <a:spcBef>
                <a:spcPct val="0"/>
              </a:spcBef>
              <a:spcAft>
                <a:spcPct val="0"/>
              </a:spcAft>
              <a:buFont typeface="Wingdings" pitchFamily="2" charset="2"/>
              <a:buChar char="p"/>
            </a:pPr>
            <a:r>
              <a:rPr kumimoji="1" lang="zh-CN" altLang="en-US" sz="2400" b="1">
                <a:solidFill>
                  <a:srgbClr val="003300"/>
                </a:solidFill>
                <a:latin typeface="Times New Roman" pitchFamily="18" charset="0"/>
              </a:rPr>
              <a:t>前缀编码</a:t>
            </a:r>
            <a:endParaRPr kumimoji="1" lang="en-US" altLang="zh-CN" sz="2400" b="1">
              <a:solidFill>
                <a:srgbClr val="003300"/>
              </a:solidFill>
              <a:latin typeface="Times New Roman" pitchFamily="18" charset="0"/>
            </a:endParaRPr>
          </a:p>
          <a:p>
            <a:pPr fontAlgn="base">
              <a:lnSpc>
                <a:spcPct val="150000"/>
              </a:lnSpc>
              <a:spcBef>
                <a:spcPct val="0"/>
              </a:spcBef>
              <a:spcAft>
                <a:spcPct val="0"/>
              </a:spcAft>
            </a:pPr>
            <a:r>
              <a:rPr kumimoji="1" lang="zh-CN" altLang="en-US" sz="2400" b="1">
                <a:solidFill>
                  <a:srgbClr val="0000FF"/>
                </a:solidFill>
                <a:latin typeface="宋体" pitchFamily="2" charset="-122"/>
              </a:rPr>
              <a:t>任何一个字符的编码都不是同一字符集中另一个字符的编码的前缀。</a:t>
            </a:r>
          </a:p>
        </p:txBody>
      </p:sp>
      <p:sp>
        <p:nvSpPr>
          <p:cNvPr id="14" name="Text Box 5"/>
          <p:cNvSpPr txBox="1">
            <a:spLocks noChangeArrowheads="1"/>
          </p:cNvSpPr>
          <p:nvPr/>
        </p:nvSpPr>
        <p:spPr bwMode="auto">
          <a:xfrm>
            <a:off x="447676" y="3880690"/>
            <a:ext cx="8442498" cy="1828193"/>
          </a:xfrm>
          <a:prstGeom prst="rect">
            <a:avLst/>
          </a:prstGeom>
          <a:noFill/>
          <a:ln w="12700" cap="rnd">
            <a:solidFill>
              <a:srgbClr val="04617B"/>
            </a:solidFill>
            <a:miter lim="800000"/>
            <a:headEnd/>
            <a:tailEnd/>
          </a:ln>
        </p:spPr>
        <p:txBody>
          <a:bodyPr wrap="square">
            <a:spAutoFit/>
          </a:bodyPr>
          <a:lstStyle/>
          <a:p>
            <a:pPr marL="0" marR="0" lvl="0" indent="0" defTabSz="914400" eaLnBrk="0" fontAlgn="base" latinLnBrk="0" hangingPunct="0">
              <a:lnSpc>
                <a:spcPct val="150000"/>
              </a:lnSpc>
              <a:spcBef>
                <a:spcPct val="1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Times New Roman" pitchFamily="18" charset="0"/>
              </a:rPr>
              <a:t>             前缀编码    </a:t>
            </a:r>
            <a:r>
              <a:rPr kumimoji="1" lang="en-US" altLang="zh-CN" sz="2400" b="1" i="0" u="none" strike="noStrike" kern="0" cap="none" spc="0" normalizeH="0" baseline="0" noProof="0">
                <a:ln>
                  <a:noFill/>
                </a:ln>
                <a:solidFill>
                  <a:srgbClr val="0000FF"/>
                </a:solidFill>
                <a:effectLst/>
                <a:uLnTx/>
                <a:uFillTx/>
                <a:latin typeface="Times New Roman" pitchFamily="18" charset="0"/>
              </a:rPr>
              <a:t>A：0     B：110         C：10      D：111</a:t>
            </a:r>
          </a:p>
          <a:p>
            <a:pPr marL="0" marR="0" lvl="0" indent="0" defTabSz="914400" eaLnBrk="0" fontAlgn="base" latinLnBrk="0" hangingPunct="0">
              <a:lnSpc>
                <a:spcPct val="150000"/>
              </a:lnSpc>
              <a:spcBef>
                <a:spcPct val="1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Times New Roman" pitchFamily="18" charset="0"/>
              </a:rPr>
              <a:t>发送方：将</a:t>
            </a:r>
            <a:r>
              <a:rPr kumimoji="1" lang="en-US" altLang="zh-CN" sz="2400" b="1" i="0" u="none" strike="noStrike" kern="0" cap="none" spc="0" normalizeH="0" baseline="0" noProof="0">
                <a:ln>
                  <a:noFill/>
                </a:ln>
                <a:solidFill>
                  <a:srgbClr val="0000FF"/>
                </a:solidFill>
                <a:effectLst/>
                <a:uLnTx/>
                <a:uFillTx/>
                <a:latin typeface="Times New Roman" pitchFamily="18" charset="0"/>
              </a:rPr>
              <a:t>ABACCDA    </a:t>
            </a:r>
            <a:r>
              <a:rPr kumimoji="1" lang="zh-CN" altLang="en-US" sz="2400" b="1" i="0" u="none" strike="noStrike" kern="0" cap="none" spc="0" normalizeH="0" baseline="0" noProof="0">
                <a:ln>
                  <a:noFill/>
                </a:ln>
                <a:solidFill>
                  <a:srgbClr val="0000FF"/>
                </a:solidFill>
                <a:effectLst/>
                <a:uLnTx/>
                <a:uFillTx/>
                <a:latin typeface="Times New Roman" pitchFamily="18" charset="0"/>
              </a:rPr>
              <a:t>转换成   0110010101110 发出</a:t>
            </a:r>
            <a:endParaRPr kumimoji="1" lang="en-US" altLang="zh-CN" sz="2400" b="1" i="0" u="none" strike="noStrike" kern="0" cap="none" spc="0" normalizeH="0" baseline="0" noProof="0">
              <a:ln>
                <a:noFill/>
              </a:ln>
              <a:solidFill>
                <a:srgbClr val="0000FF"/>
              </a:solidFill>
              <a:effectLst/>
              <a:uLnTx/>
              <a:uFillTx/>
              <a:latin typeface="Times New Roman" pitchFamily="18" charset="0"/>
            </a:endParaRPr>
          </a:p>
          <a:p>
            <a:pPr marL="0" marR="0" lvl="0" indent="0" defTabSz="914400" eaLnBrk="0" fontAlgn="base" latinLnBrk="0" hangingPunct="0">
              <a:lnSpc>
                <a:spcPct val="150000"/>
              </a:lnSpc>
              <a:spcBef>
                <a:spcPct val="1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Times New Roman" pitchFamily="18" charset="0"/>
              </a:rPr>
              <a:t>接收方： 0110010101110 。所得的译码是</a:t>
            </a:r>
            <a:r>
              <a:rPr kumimoji="1" lang="zh-CN" altLang="en-US" sz="2400" b="1" i="0" u="none" strike="noStrike" kern="0" cap="none" spc="0" normalizeH="0" baseline="0" noProof="0">
                <a:ln>
                  <a:noFill/>
                </a:ln>
                <a:solidFill>
                  <a:srgbClr val="FF0000"/>
                </a:solidFill>
                <a:effectLst/>
                <a:uLnTx/>
                <a:uFillTx/>
                <a:latin typeface="Times New Roman" pitchFamily="18" charset="0"/>
              </a:rPr>
              <a:t>唯一</a:t>
            </a:r>
            <a:r>
              <a:rPr kumimoji="1" lang="zh-CN" altLang="en-US" sz="2400" b="1" i="0" u="none" strike="noStrike" kern="0" cap="none" spc="0" normalizeH="0" baseline="0" noProof="0">
                <a:ln>
                  <a:noFill/>
                </a:ln>
                <a:solidFill>
                  <a:srgbClr val="0000FF"/>
                </a:solidFill>
                <a:effectLst/>
                <a:uLnTx/>
                <a:uFillTx/>
                <a:latin typeface="Times New Roman" pitchFamily="18" charset="0"/>
              </a:rPr>
              <a:t>的。</a:t>
            </a:r>
          </a:p>
        </p:txBody>
      </p:sp>
      <p:sp>
        <p:nvSpPr>
          <p:cNvPr id="15" name="Oval 30"/>
          <p:cNvSpPr>
            <a:spLocks noChangeArrowheads="1"/>
          </p:cNvSpPr>
          <p:nvPr/>
        </p:nvSpPr>
        <p:spPr bwMode="auto">
          <a:xfrm>
            <a:off x="430960" y="4038600"/>
            <a:ext cx="109304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400" b="1">
                <a:solidFill>
                  <a:srgbClr val="000000"/>
                </a:solidFill>
                <a:latin typeface="Times New Roman" pitchFamily="18" charset="0"/>
              </a:rPr>
              <a:t>例</a:t>
            </a:r>
          </a:p>
        </p:txBody>
      </p:sp>
    </p:spTree>
    <p:extLst>
      <p:ext uri="{BB962C8B-B14F-4D97-AF65-F5344CB8AC3E}">
        <p14:creationId xmlns:p14="http://schemas.microsoft.com/office/powerpoint/2010/main" val="1439338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编码</a:t>
            </a:r>
          </a:p>
        </p:txBody>
      </p:sp>
      <p:sp>
        <p:nvSpPr>
          <p:cNvPr id="4" name="日期占位符 3"/>
          <p:cNvSpPr>
            <a:spLocks noGrp="1"/>
          </p:cNvSpPr>
          <p:nvPr>
            <p:ph type="dt" sz="half" idx="10"/>
          </p:nvPr>
        </p:nvSpPr>
        <p:spPr/>
        <p:txBody>
          <a:bodyPr/>
          <a:lstStyle/>
          <a:p>
            <a:fld id="{73F99E83-8EAF-472B-B6E1-6D9B703D74DB}"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180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6" name="Rectangle 5"/>
          <p:cNvSpPr>
            <a:spLocks noChangeArrowheads="1"/>
          </p:cNvSpPr>
          <p:nvPr/>
        </p:nvSpPr>
        <p:spPr bwMode="auto">
          <a:xfrm>
            <a:off x="704850" y="1692047"/>
            <a:ext cx="8134350" cy="1200329"/>
          </a:xfrm>
          <a:prstGeom prst="rect">
            <a:avLst/>
          </a:prstGeom>
          <a:noFill/>
          <a:ln w="12700" cap="rnd">
            <a:solidFill>
              <a:srgbClr val="04617B"/>
            </a:solidFill>
            <a:miter lim="800000"/>
            <a:headEnd/>
            <a:tailEnd/>
          </a:ln>
        </p:spPr>
        <p:txBody>
          <a:bodyPr wrap="square" anchor="ctr">
            <a:spAutoFit/>
          </a:bodyPr>
          <a:lstStyle/>
          <a:p>
            <a:pPr marL="0" marR="0" lvl="0" indent="0" defTabSz="914400" eaLnBrk="0" fontAlgn="base" latinLnBrk="0" hangingPunct="0">
              <a:lnSpc>
                <a:spcPct val="150000"/>
              </a:lnSpc>
              <a:spcBef>
                <a:spcPct val="0"/>
              </a:spcBef>
              <a:spcAft>
                <a:spcPct val="0"/>
              </a:spcAft>
              <a:buClrTx/>
              <a:buSzTx/>
              <a:buFont typeface="Wingdings" pitchFamily="2" charset="2"/>
              <a:buChar char="p"/>
              <a:tabLst/>
              <a:defRPr/>
            </a:pPr>
            <a:r>
              <a:rPr kumimoji="1" lang="zh-CN" altLang="en-US" sz="2400" b="1" i="0" u="none" strike="noStrike" kern="0" cap="none" spc="0" normalizeH="0" baseline="0" noProof="0">
                <a:ln>
                  <a:noFill/>
                </a:ln>
                <a:solidFill>
                  <a:srgbClr val="003300"/>
                </a:solidFill>
                <a:effectLst/>
                <a:uLnTx/>
                <a:uFillTx/>
                <a:latin typeface="宋体" pitchFamily="2" charset="-122"/>
              </a:rPr>
              <a:t>不等长编码</a:t>
            </a:r>
            <a:endParaRPr kumimoji="1" lang="en-US" altLang="zh-CN" sz="2400" b="1" i="0" u="none" strike="noStrike" kern="0" cap="none" spc="0" normalizeH="0" baseline="0" noProof="0">
              <a:ln>
                <a:noFill/>
              </a:ln>
              <a:solidFill>
                <a:srgbClr val="003300"/>
              </a:solidFill>
              <a:effectLst/>
              <a:uLnTx/>
              <a:uFillTx/>
              <a:latin typeface="宋体" pitchFamily="2" charset="-122"/>
            </a:endParaRPr>
          </a:p>
          <a:p>
            <a:pPr marL="0" marR="0" lvl="0" indent="0" defTabSz="914400" eaLnBrk="0" fontAlgn="base" latinLnBrk="0" hangingPunct="0">
              <a:lnSpc>
                <a:spcPct val="15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即各个字符的编码长度不等。</a:t>
            </a:r>
            <a:r>
              <a:rPr kumimoji="1" lang="en-US" altLang="zh-CN" sz="2400" b="1" i="0" u="none" strike="noStrike" kern="0" cap="none" spc="0" normalizeH="0" baseline="0" noProof="0">
                <a:ln>
                  <a:noFill/>
                </a:ln>
                <a:solidFill>
                  <a:srgbClr val="0000FF"/>
                </a:solidFill>
                <a:effectLst/>
                <a:uLnTx/>
                <a:uFillTx/>
                <a:latin typeface="宋体" pitchFamily="2" charset="-122"/>
              </a:rPr>
              <a:t>(0,10,110,011,)</a:t>
            </a:r>
          </a:p>
        </p:txBody>
      </p:sp>
      <p:sp>
        <p:nvSpPr>
          <p:cNvPr id="17" name="Text Box 10"/>
          <p:cNvSpPr txBox="1">
            <a:spLocks noChangeArrowheads="1"/>
          </p:cNvSpPr>
          <p:nvPr/>
        </p:nvSpPr>
        <p:spPr bwMode="auto">
          <a:xfrm>
            <a:off x="750887" y="3364567"/>
            <a:ext cx="8012113" cy="1828193"/>
          </a:xfrm>
          <a:prstGeom prst="rect">
            <a:avLst/>
          </a:prstGeom>
          <a:noFill/>
          <a:ln w="12700" cap="rnd">
            <a:solidFill>
              <a:srgbClr val="04617B"/>
            </a:solidFill>
            <a:miter lim="800000"/>
            <a:headEnd/>
            <a:tailEnd/>
          </a:ln>
        </p:spPr>
        <p:txBody>
          <a:bodyPr wrap="square">
            <a:spAutoFit/>
          </a:bodyPr>
          <a:lstStyle/>
          <a:p>
            <a:pPr marL="0" marR="0" lvl="0" indent="0" defTabSz="914400" eaLnBrk="0" fontAlgn="base" latinLnBrk="0" hangingPunct="0">
              <a:lnSpc>
                <a:spcPct val="150000"/>
              </a:lnSpc>
              <a:spcBef>
                <a:spcPct val="10000"/>
              </a:spcBef>
              <a:spcAft>
                <a:spcPct val="0"/>
              </a:spcAft>
              <a:buClrTx/>
              <a:buSzTx/>
              <a:buFontTx/>
              <a:buNone/>
              <a:tabLst/>
              <a:defRPr/>
            </a:pPr>
            <a:r>
              <a:rPr kumimoji="1" lang="zh-CN" altLang="en-US" sz="2400" b="1" i="0" u="none" strike="noStrike" kern="0" cap="none" spc="0" normalizeH="0" baseline="0" noProof="0">
                <a:ln>
                  <a:noFill/>
                </a:ln>
                <a:solidFill>
                  <a:srgbClr val="003300"/>
                </a:solidFill>
                <a:effectLst/>
                <a:uLnTx/>
                <a:uFillTx/>
                <a:latin typeface="Times New Roman" pitchFamily="18" charset="0"/>
              </a:rPr>
              <a:t>          不等长编码    </a:t>
            </a:r>
            <a:r>
              <a:rPr kumimoji="1" lang="en-US" altLang="zh-CN" sz="2400" b="1" i="0" u="none" strike="noStrike" kern="0" cap="none" spc="0" normalizeH="0" baseline="0" noProof="0">
                <a:ln>
                  <a:noFill/>
                </a:ln>
                <a:solidFill>
                  <a:srgbClr val="0000FF"/>
                </a:solidFill>
                <a:effectLst/>
                <a:uLnTx/>
                <a:uFillTx/>
                <a:latin typeface="Times New Roman" pitchFamily="18" charset="0"/>
              </a:rPr>
              <a:t>A：0     B：00         C：1      D：01</a:t>
            </a:r>
          </a:p>
          <a:p>
            <a:pPr marL="0" marR="0" lvl="0" indent="0" defTabSz="914400" eaLnBrk="0" fontAlgn="base" latinLnBrk="0" hangingPunct="0">
              <a:lnSpc>
                <a:spcPct val="150000"/>
              </a:lnSpc>
              <a:spcBef>
                <a:spcPct val="1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Times New Roman" pitchFamily="18" charset="0"/>
              </a:rPr>
              <a:t>发送方：将</a:t>
            </a:r>
            <a:r>
              <a:rPr kumimoji="1" lang="en-US" altLang="zh-CN" sz="2400" b="1" i="0" u="none" strike="noStrike" kern="0" cap="none" spc="0" normalizeH="0" baseline="0" noProof="0">
                <a:ln>
                  <a:noFill/>
                </a:ln>
                <a:solidFill>
                  <a:srgbClr val="0000FF"/>
                </a:solidFill>
                <a:effectLst/>
                <a:uLnTx/>
                <a:uFillTx/>
                <a:latin typeface="Times New Roman" pitchFamily="18" charset="0"/>
              </a:rPr>
              <a:t>ABACCDA   </a:t>
            </a:r>
            <a:r>
              <a:rPr kumimoji="1" lang="zh-CN" altLang="en-US" sz="2400" b="1" i="0" u="none" strike="noStrike" kern="0" cap="none" spc="0" normalizeH="0" baseline="0" noProof="0">
                <a:ln>
                  <a:noFill/>
                </a:ln>
                <a:solidFill>
                  <a:srgbClr val="0000FF"/>
                </a:solidFill>
                <a:effectLst/>
                <a:uLnTx/>
                <a:uFillTx/>
                <a:latin typeface="Times New Roman" pitchFamily="18" charset="0"/>
              </a:rPr>
              <a:t>转换成   000011010</a:t>
            </a:r>
          </a:p>
          <a:p>
            <a:pPr marL="0" marR="0" lvl="0" indent="0" defTabSz="914400" eaLnBrk="0" fontAlgn="base" latinLnBrk="0" hangingPunct="0">
              <a:lnSpc>
                <a:spcPct val="150000"/>
              </a:lnSpc>
              <a:spcBef>
                <a:spcPct val="1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Times New Roman" pitchFamily="18" charset="0"/>
              </a:rPr>
              <a:t>接收方</a:t>
            </a:r>
            <a:r>
              <a:rPr kumimoji="1" lang="zh-CN" altLang="en-US" sz="2400" b="1" i="0" u="none" strike="noStrike" kern="0" cap="none" spc="0" normalizeH="0" baseline="0" noProof="0">
                <a:ln>
                  <a:noFill/>
                </a:ln>
                <a:solidFill>
                  <a:srgbClr val="FC1C04"/>
                </a:solidFill>
                <a:effectLst/>
                <a:uLnTx/>
                <a:uFillTx/>
                <a:latin typeface="Times New Roman" pitchFamily="18" charset="0"/>
              </a:rPr>
              <a:t>：</a:t>
            </a:r>
            <a:r>
              <a:rPr kumimoji="1" lang="zh-CN" altLang="en-US" sz="2400" b="1" i="0" u="none" strike="noStrike" kern="0" cap="none" spc="0" normalizeH="0" baseline="0" noProof="0">
                <a:ln>
                  <a:noFill/>
                </a:ln>
                <a:solidFill>
                  <a:srgbClr val="0000FF"/>
                </a:solidFill>
                <a:effectLst/>
                <a:uLnTx/>
                <a:uFillTx/>
                <a:latin typeface="Times New Roman" pitchFamily="18" charset="0"/>
              </a:rPr>
              <a:t>000011010       转换成 ？</a:t>
            </a:r>
          </a:p>
        </p:txBody>
      </p:sp>
      <p:sp>
        <p:nvSpPr>
          <p:cNvPr id="19" name="上箭头 18"/>
          <p:cNvSpPr>
            <a:spLocks noChangeArrowheads="1"/>
          </p:cNvSpPr>
          <p:nvPr/>
        </p:nvSpPr>
        <p:spPr bwMode="auto">
          <a:xfrm>
            <a:off x="1962150" y="5220355"/>
            <a:ext cx="5786437" cy="1104245"/>
          </a:xfrm>
          <a:prstGeom prst="upArrow">
            <a:avLst>
              <a:gd name="adj1" fmla="val 50000"/>
              <a:gd name="adj2" fmla="val 50000"/>
            </a:avLst>
          </a:prstGeom>
          <a:noFill/>
          <a:ln w="12700" cap="rnd" algn="ctr">
            <a:solidFill>
              <a:srgbClr val="0000FF"/>
            </a:solidFill>
            <a:round/>
            <a:headEnd/>
            <a:tailEnd/>
          </a:ln>
        </p:spPr>
        <p:txBody>
          <a:bodyPr>
            <a:spAutoFit/>
          </a:bodyPr>
          <a:lstStyle/>
          <a:p>
            <a:pPr algn="ctr" eaLnBrk="0" fontAlgn="base" hangingPunct="0">
              <a:spcBef>
                <a:spcPct val="0"/>
              </a:spcBef>
              <a:spcAft>
                <a:spcPct val="0"/>
              </a:spcAft>
            </a:pPr>
            <a:endParaRPr kumimoji="1" lang="en-US" altLang="zh-CN" sz="2400" b="1">
              <a:solidFill>
                <a:srgbClr val="000000"/>
              </a:solidFill>
              <a:latin typeface="Times New Roman" pitchFamily="18" charset="0"/>
            </a:endParaRPr>
          </a:p>
          <a:p>
            <a:pPr algn="ctr" eaLnBrk="0" fontAlgn="base" hangingPunct="0">
              <a:spcBef>
                <a:spcPct val="0"/>
              </a:spcBef>
              <a:spcAft>
                <a:spcPct val="0"/>
              </a:spcAft>
            </a:pPr>
            <a:r>
              <a:rPr kumimoji="1" lang="zh-CN" altLang="en-US" sz="2400" b="1">
                <a:solidFill>
                  <a:srgbClr val="000000"/>
                </a:solidFill>
                <a:latin typeface="Times New Roman" pitchFamily="18" charset="0"/>
              </a:rPr>
              <a:t>不是前缀编码</a:t>
            </a:r>
          </a:p>
        </p:txBody>
      </p:sp>
      <p:sp>
        <p:nvSpPr>
          <p:cNvPr id="20" name="Oval 30"/>
          <p:cNvSpPr>
            <a:spLocks noChangeArrowheads="1"/>
          </p:cNvSpPr>
          <p:nvPr/>
        </p:nvSpPr>
        <p:spPr bwMode="auto">
          <a:xfrm>
            <a:off x="457200" y="3505200"/>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400" b="1">
                <a:solidFill>
                  <a:srgbClr val="000000"/>
                </a:solidFill>
                <a:latin typeface="Times New Roman" pitchFamily="18" charset="0"/>
              </a:rPr>
              <a:t>例</a:t>
            </a:r>
          </a:p>
        </p:txBody>
      </p:sp>
    </p:spTree>
    <p:extLst>
      <p:ext uri="{BB962C8B-B14F-4D97-AF65-F5344CB8AC3E}">
        <p14:creationId xmlns:p14="http://schemas.microsoft.com/office/powerpoint/2010/main" val="122718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编码</a:t>
            </a:r>
          </a:p>
        </p:txBody>
      </p:sp>
      <p:sp>
        <p:nvSpPr>
          <p:cNvPr id="4" name="日期占位符 3"/>
          <p:cNvSpPr>
            <a:spLocks noGrp="1"/>
          </p:cNvSpPr>
          <p:nvPr>
            <p:ph type="dt" sz="half" idx="10"/>
          </p:nvPr>
        </p:nvSpPr>
        <p:spPr/>
        <p:txBody>
          <a:bodyPr/>
          <a:lstStyle/>
          <a:p>
            <a:fld id="{514D745C-286A-43E2-8ADD-B9FCAA5F146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181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5"/>
          <p:cNvSpPr>
            <a:spLocks noChangeArrowheads="1"/>
          </p:cNvSpPr>
          <p:nvPr/>
        </p:nvSpPr>
        <p:spPr bwMode="auto">
          <a:xfrm>
            <a:off x="481013" y="1882676"/>
            <a:ext cx="8442088" cy="2308324"/>
          </a:xfrm>
          <a:prstGeom prst="rect">
            <a:avLst/>
          </a:prstGeom>
          <a:noFill/>
          <a:ln w="12700" cap="rnd">
            <a:solidFill>
              <a:srgbClr val="04617B"/>
            </a:solidFill>
            <a:miter lim="800000"/>
            <a:headEnd/>
            <a:tailEnd/>
          </a:ln>
        </p:spPr>
        <p:txBody>
          <a:bodyPr wrap="square" anchor="ctr">
            <a:spAutoFit/>
          </a:bodyPr>
          <a:lstStyle/>
          <a:p>
            <a:pPr marL="0" marR="0" lvl="0" indent="0" defTabSz="914400" eaLnBrk="0" fontAlgn="base" latinLnBrk="0" hangingPunct="0">
              <a:lnSpc>
                <a:spcPct val="150000"/>
              </a:lnSpc>
              <a:spcBef>
                <a:spcPct val="0"/>
              </a:spcBef>
              <a:spcAft>
                <a:spcPct val="0"/>
              </a:spcAft>
              <a:buClrTx/>
              <a:buSzTx/>
              <a:buFont typeface="Wingdings" pitchFamily="2" charset="2"/>
              <a:buChar char="p"/>
              <a:tabLst/>
              <a:defRPr/>
            </a:pPr>
            <a:r>
              <a:rPr kumimoji="1" lang="zh-CN" altLang="en-US" sz="2400" b="1" i="0" u="none" strike="noStrike" kern="0" cap="none" spc="0" normalizeH="0" baseline="0" noProof="0">
                <a:ln>
                  <a:noFill/>
                </a:ln>
                <a:solidFill>
                  <a:srgbClr val="003300"/>
                </a:solidFill>
                <a:effectLst/>
                <a:uLnTx/>
                <a:uFillTx/>
                <a:latin typeface="宋体" pitchFamily="2" charset="-122"/>
              </a:rPr>
              <a:t>等长编码</a:t>
            </a:r>
            <a:endParaRPr kumimoji="1" lang="en-US" altLang="zh-CN" sz="2400" b="1" i="0" u="none" strike="noStrike" kern="0" cap="none" spc="0" normalizeH="0" baseline="0" noProof="0">
              <a:ln>
                <a:noFill/>
              </a:ln>
              <a:solidFill>
                <a:srgbClr val="003300"/>
              </a:solidFill>
              <a:effectLst/>
              <a:uLnTx/>
              <a:uFillTx/>
              <a:latin typeface="宋体" pitchFamily="2" charset="-122"/>
            </a:endParaRPr>
          </a:p>
          <a:p>
            <a:pPr marL="0" marR="0" lvl="0" indent="0" defTabSz="914400" eaLnBrk="0" fontAlgn="base" latinLnBrk="0" hangingPunct="0">
              <a:lnSpc>
                <a:spcPct val="15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这类编码的二进制串的长度取决于电文中不同的字符个数，假设需传送的电文中只有四种字符，只需两位字符的串便可分辨。</a:t>
            </a:r>
            <a:r>
              <a:rPr kumimoji="1" lang="en-US" altLang="zh-CN" sz="2400" b="1" i="0" u="none" strike="noStrike" kern="0" cap="none" spc="0" normalizeH="0" baseline="0" noProof="0">
                <a:ln>
                  <a:noFill/>
                </a:ln>
                <a:solidFill>
                  <a:srgbClr val="0000FF"/>
                </a:solidFill>
                <a:effectLst/>
                <a:uLnTx/>
                <a:uFillTx/>
                <a:latin typeface="宋体" pitchFamily="2" charset="-122"/>
              </a:rPr>
              <a:t>(01,10,11,00)</a:t>
            </a:r>
          </a:p>
        </p:txBody>
      </p:sp>
      <p:sp>
        <p:nvSpPr>
          <p:cNvPr id="14" name="Text Box 7"/>
          <p:cNvSpPr txBox="1">
            <a:spLocks noChangeArrowheads="1"/>
          </p:cNvSpPr>
          <p:nvPr/>
        </p:nvSpPr>
        <p:spPr bwMode="auto">
          <a:xfrm>
            <a:off x="527051" y="4604873"/>
            <a:ext cx="8396050" cy="1643527"/>
          </a:xfrm>
          <a:prstGeom prst="rect">
            <a:avLst/>
          </a:prstGeom>
          <a:noFill/>
          <a:ln w="12700" cap="rnd">
            <a:solidFill>
              <a:srgbClr val="04617B"/>
            </a:solidFill>
            <a:miter lim="800000"/>
            <a:headEnd/>
            <a:tailEnd/>
          </a:ln>
        </p:spPr>
        <p:txBody>
          <a:bodyPr wrap="square">
            <a:spAutoFit/>
          </a:bodyPr>
          <a:lstStyle/>
          <a:p>
            <a:pPr marL="0" marR="0" lvl="0" indent="0" defTabSz="914400" eaLnBrk="1" fontAlgn="base" latinLnBrk="0" hangingPunct="1">
              <a:lnSpc>
                <a:spcPct val="100000"/>
              </a:lnSpc>
              <a:spcBef>
                <a:spcPct val="1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rPr>
              <a:t>               要传输的原文为</a:t>
            </a:r>
            <a:r>
              <a:rPr kumimoji="1" lang="en-US" altLang="zh-CN" sz="2400" b="1" i="0" u="none" strike="noStrike" kern="0" cap="none" spc="0" normalizeH="0" baseline="0" noProof="0">
                <a:ln>
                  <a:noFill/>
                </a:ln>
                <a:solidFill>
                  <a:srgbClr val="0000FF"/>
                </a:solidFill>
                <a:effectLst/>
                <a:uLnTx/>
                <a:uFillTx/>
                <a:latin typeface="Times New Roman" pitchFamily="18" charset="0"/>
              </a:rPr>
              <a:t>ABACCDA</a:t>
            </a:r>
            <a:br>
              <a:rPr kumimoji="1" lang="en-US" altLang="zh-CN" sz="2400" b="1" i="0" u="none" strike="noStrike" kern="0" cap="none" spc="0" normalizeH="0" baseline="0" noProof="0">
                <a:ln>
                  <a:noFill/>
                </a:ln>
                <a:solidFill>
                  <a:srgbClr val="0000FF"/>
                </a:solidFill>
                <a:effectLst/>
                <a:uLnTx/>
                <a:uFillTx/>
                <a:latin typeface="Times New Roman" pitchFamily="18" charset="0"/>
              </a:rPr>
            </a:br>
            <a:r>
              <a:rPr kumimoji="1" lang="zh-CN" altLang="en-US" sz="2400" b="1" i="0" u="none" strike="noStrike" kern="0" cap="none" spc="0" normalizeH="0" baseline="0" noProof="0">
                <a:ln>
                  <a:noFill/>
                </a:ln>
                <a:solidFill>
                  <a:srgbClr val="FC1C04"/>
                </a:solidFill>
                <a:effectLst/>
                <a:uLnTx/>
                <a:uFillTx/>
                <a:latin typeface="Times New Roman" pitchFamily="18" charset="0"/>
              </a:rPr>
              <a:t>等长编码</a:t>
            </a:r>
            <a:r>
              <a:rPr kumimoji="1" lang="zh-CN" altLang="en-US" sz="2400" b="1" i="0" u="none" strike="noStrike" kern="0" cap="none" spc="0" normalizeH="0" baseline="0" noProof="0">
                <a:ln>
                  <a:noFill/>
                </a:ln>
                <a:solidFill>
                  <a:srgbClr val="FFFFA5"/>
                </a:solidFill>
                <a:effectLst/>
                <a:uLnTx/>
                <a:uFillTx/>
                <a:latin typeface="Times New Roman" pitchFamily="18" charset="0"/>
              </a:rPr>
              <a:t>     </a:t>
            </a:r>
            <a:r>
              <a:rPr kumimoji="1" lang="en-US" altLang="zh-CN" sz="2400" b="1" i="0" u="none" strike="noStrike" kern="0" cap="none" spc="0" normalizeH="0" baseline="0" noProof="0">
                <a:ln>
                  <a:noFill/>
                </a:ln>
                <a:solidFill>
                  <a:srgbClr val="0000FF"/>
                </a:solidFill>
                <a:effectLst/>
                <a:uLnTx/>
                <a:uFillTx/>
                <a:latin typeface="Times New Roman" pitchFamily="18" charset="0"/>
              </a:rPr>
              <a:t>A：00     B：01         C：10      D：11</a:t>
            </a:r>
          </a:p>
          <a:p>
            <a:pPr marL="0" marR="0" lvl="0" indent="0" defTabSz="914400" eaLnBrk="1" fontAlgn="base" latinLnBrk="0" hangingPunct="1">
              <a:lnSpc>
                <a:spcPct val="100000"/>
              </a:lnSpc>
              <a:spcBef>
                <a:spcPct val="10000"/>
              </a:spcBef>
              <a:spcAft>
                <a:spcPct val="0"/>
              </a:spcAft>
              <a:buClrTx/>
              <a:buSzTx/>
              <a:buFontTx/>
              <a:buNone/>
              <a:tabLst/>
              <a:defRPr/>
            </a:pPr>
            <a:r>
              <a:rPr kumimoji="1" lang="zh-CN" altLang="en-US" sz="2400" b="1" i="0" u="none" strike="noStrike" kern="0" cap="none" spc="0" normalizeH="0" baseline="0" noProof="0">
                <a:ln>
                  <a:noFill/>
                </a:ln>
                <a:solidFill>
                  <a:srgbClr val="FF3300"/>
                </a:solidFill>
                <a:effectLst/>
                <a:uLnTx/>
                <a:uFillTx/>
                <a:latin typeface="Times New Roman" pitchFamily="18" charset="0"/>
              </a:rPr>
              <a:t>发送方：</a:t>
            </a:r>
            <a:r>
              <a:rPr kumimoji="1" lang="zh-CN" altLang="en-US" sz="2400" b="1" i="0" u="none" strike="noStrike" kern="0" cap="none" spc="0" normalizeH="0" baseline="0" noProof="0">
                <a:ln>
                  <a:noFill/>
                </a:ln>
                <a:solidFill>
                  <a:srgbClr val="0000FF"/>
                </a:solidFill>
                <a:effectLst/>
                <a:uLnTx/>
                <a:uFillTx/>
                <a:latin typeface="Times New Roman" pitchFamily="18" charset="0"/>
              </a:rPr>
              <a:t>将</a:t>
            </a:r>
            <a:r>
              <a:rPr kumimoji="1" lang="en-US" altLang="zh-CN" sz="2400" b="1" i="0" u="none" strike="noStrike" kern="0" cap="none" spc="0" normalizeH="0" baseline="0" noProof="0">
                <a:ln>
                  <a:noFill/>
                </a:ln>
                <a:solidFill>
                  <a:srgbClr val="000000"/>
                </a:solidFill>
                <a:effectLst/>
                <a:uLnTx/>
                <a:uFillTx/>
                <a:latin typeface="Times New Roman" pitchFamily="18" charset="0"/>
              </a:rPr>
              <a:t>ABACCDA</a:t>
            </a:r>
            <a:r>
              <a:rPr kumimoji="1" lang="en-US" altLang="zh-CN" sz="2400" b="1" i="0" u="none" strike="noStrike" kern="0" cap="none" spc="0" normalizeH="0" baseline="0" noProof="0">
                <a:ln>
                  <a:noFill/>
                </a:ln>
                <a:solidFill>
                  <a:srgbClr val="66FF66"/>
                </a:solidFill>
                <a:effectLst/>
                <a:uLnTx/>
                <a:uFillTx/>
                <a:latin typeface="Times New Roman" pitchFamily="18" charset="0"/>
              </a:rPr>
              <a:t> </a:t>
            </a:r>
            <a:r>
              <a:rPr kumimoji="1" lang="en-US" altLang="zh-CN" sz="2400" b="1" i="0" u="none" strike="noStrike" kern="0" cap="none" spc="0" normalizeH="0" baseline="0" noProof="0">
                <a:ln>
                  <a:noFill/>
                </a:ln>
                <a:solidFill>
                  <a:srgbClr val="FFFFA5"/>
                </a:solidFill>
                <a:effectLst/>
                <a:uLnTx/>
                <a:uFillTx/>
                <a:latin typeface="Times New Roman" pitchFamily="18" charset="0"/>
              </a:rPr>
              <a:t>  </a:t>
            </a:r>
            <a:r>
              <a:rPr kumimoji="1" lang="zh-CN" altLang="en-US" sz="2400" b="1" i="0" u="none" strike="noStrike" kern="0" cap="none" spc="0" normalizeH="0" baseline="0" noProof="0">
                <a:ln>
                  <a:noFill/>
                </a:ln>
                <a:solidFill>
                  <a:srgbClr val="0000FF"/>
                </a:solidFill>
                <a:effectLst/>
                <a:uLnTx/>
                <a:uFillTx/>
                <a:latin typeface="Times New Roman" pitchFamily="18" charset="0"/>
              </a:rPr>
              <a:t>转换成   00010010101100</a:t>
            </a:r>
          </a:p>
          <a:p>
            <a:pPr marL="0" marR="0" lvl="0" indent="0" defTabSz="914400" eaLnBrk="1" fontAlgn="base" latinLnBrk="0" hangingPunct="1">
              <a:lnSpc>
                <a:spcPct val="100000"/>
              </a:lnSpc>
              <a:spcBef>
                <a:spcPct val="10000"/>
              </a:spcBef>
              <a:spcAft>
                <a:spcPct val="0"/>
              </a:spcAft>
              <a:buClrTx/>
              <a:buSzTx/>
              <a:buFontTx/>
              <a:buNone/>
              <a:tabLst/>
              <a:defRPr/>
            </a:pPr>
            <a:r>
              <a:rPr kumimoji="1" lang="zh-CN" altLang="en-US" sz="2400" b="1" i="0" u="none" strike="noStrike" kern="0" cap="none" spc="0" normalizeH="0" baseline="0" noProof="0">
                <a:ln>
                  <a:noFill/>
                </a:ln>
                <a:solidFill>
                  <a:srgbClr val="FF3300"/>
                </a:solidFill>
                <a:effectLst/>
                <a:uLnTx/>
                <a:uFillTx/>
                <a:latin typeface="Times New Roman" pitchFamily="18" charset="0"/>
              </a:rPr>
              <a:t>接收方：</a:t>
            </a:r>
            <a:r>
              <a:rPr kumimoji="1" lang="zh-CN" altLang="en-US" sz="2400" b="1" i="0" u="none" strike="noStrike" kern="0" cap="none" spc="0" normalizeH="0" baseline="0" noProof="0">
                <a:ln>
                  <a:noFill/>
                </a:ln>
                <a:solidFill>
                  <a:srgbClr val="0000FF"/>
                </a:solidFill>
                <a:effectLst/>
                <a:uLnTx/>
                <a:uFillTx/>
                <a:latin typeface="Times New Roman" pitchFamily="18" charset="0"/>
              </a:rPr>
              <a:t>将 00010010101100  还原为</a:t>
            </a:r>
            <a:r>
              <a:rPr kumimoji="1" lang="zh-CN" altLang="en-US" sz="2400" b="1" i="0" u="none" strike="noStrike" kern="0" cap="none" spc="0" normalizeH="0" baseline="0" noProof="0">
                <a:ln>
                  <a:noFill/>
                </a:ln>
                <a:solidFill>
                  <a:srgbClr val="FFFFA5"/>
                </a:solidFill>
                <a:effectLst/>
                <a:uLnTx/>
                <a:uFillTx/>
                <a:latin typeface="Times New Roman" pitchFamily="18" charset="0"/>
              </a:rPr>
              <a:t>  </a:t>
            </a:r>
            <a:r>
              <a:rPr kumimoji="1" lang="en-US" altLang="zh-CN" sz="2400" b="1" i="0" u="none" strike="noStrike" kern="0" cap="none" spc="0" normalizeH="0" baseline="0" noProof="0">
                <a:ln>
                  <a:noFill/>
                </a:ln>
                <a:solidFill>
                  <a:srgbClr val="000000"/>
                </a:solidFill>
                <a:effectLst/>
                <a:uLnTx/>
                <a:uFillTx/>
                <a:latin typeface="Times New Roman" pitchFamily="18" charset="0"/>
              </a:rPr>
              <a:t>ABACCDA</a:t>
            </a:r>
          </a:p>
        </p:txBody>
      </p:sp>
      <p:sp>
        <p:nvSpPr>
          <p:cNvPr id="15" name="Oval 30"/>
          <p:cNvSpPr>
            <a:spLocks noChangeArrowheads="1"/>
          </p:cNvSpPr>
          <p:nvPr/>
        </p:nvSpPr>
        <p:spPr bwMode="auto">
          <a:xfrm>
            <a:off x="635985" y="4610500"/>
            <a:ext cx="1097365"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400" b="1">
                <a:solidFill>
                  <a:srgbClr val="000000"/>
                </a:solidFill>
                <a:latin typeface="Times New Roman" pitchFamily="18" charset="0"/>
              </a:rPr>
              <a:t>例</a:t>
            </a:r>
          </a:p>
        </p:txBody>
      </p:sp>
    </p:spTree>
    <p:extLst>
      <p:ext uri="{BB962C8B-B14F-4D97-AF65-F5344CB8AC3E}">
        <p14:creationId xmlns:p14="http://schemas.microsoft.com/office/powerpoint/2010/main" val="4047454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en-US" altLang="zh-CN" sz="2400" b="1" dirty="0"/>
              <a:t>Huffman</a:t>
            </a:r>
            <a:r>
              <a:rPr lang="zh-CN" altLang="en-US" sz="2400" b="1" dirty="0"/>
              <a:t>编码</a:t>
            </a:r>
          </a:p>
        </p:txBody>
      </p:sp>
      <p:sp>
        <p:nvSpPr>
          <p:cNvPr id="4" name="日期占位符 3"/>
          <p:cNvSpPr>
            <a:spLocks noGrp="1"/>
          </p:cNvSpPr>
          <p:nvPr>
            <p:ph type="dt" sz="half" idx="10"/>
          </p:nvPr>
        </p:nvSpPr>
        <p:spPr/>
        <p:txBody>
          <a:bodyPr/>
          <a:lstStyle/>
          <a:p>
            <a:fld id="{DF379AB1-1DD0-40A6-A2E7-6B62EDA11FB3}"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182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Rectangle 4"/>
          <p:cNvSpPr>
            <a:spLocks noChangeArrowheads="1"/>
          </p:cNvSpPr>
          <p:nvPr/>
        </p:nvSpPr>
        <p:spPr bwMode="auto">
          <a:xfrm>
            <a:off x="685800" y="2078782"/>
            <a:ext cx="8108950" cy="2308324"/>
          </a:xfrm>
          <a:prstGeom prst="rect">
            <a:avLst/>
          </a:prstGeom>
          <a:noFill/>
          <a:ln w="12700" cap="rnd">
            <a:solidFill>
              <a:srgbClr val="04617B"/>
            </a:solidFill>
            <a:miter lim="800000"/>
            <a:headEnd/>
            <a:tailEnd/>
          </a:ln>
        </p:spPr>
        <p:txBody>
          <a:bodyPr wrap="square" anchor="ctr">
            <a:spAutoFit/>
          </a:bodyPr>
          <a:lstStyle/>
          <a:p>
            <a:pPr marL="0" marR="0" lvl="0" indent="0" defTabSz="914400" eaLnBrk="0" fontAlgn="base" latinLnBrk="0" hangingPunct="0">
              <a:lnSpc>
                <a:spcPct val="150000"/>
              </a:lnSpc>
              <a:spcBef>
                <a:spcPct val="0"/>
              </a:spcBef>
              <a:spcAft>
                <a:spcPct val="0"/>
              </a:spcAft>
              <a:buClrTx/>
              <a:buSzTx/>
              <a:buFont typeface="Wingdings" pitchFamily="2" charset="2"/>
              <a:buChar char="p"/>
              <a:tabLst/>
              <a:defRPr/>
            </a:pPr>
            <a:r>
              <a:rPr kumimoji="1" lang="zh-CN" altLang="en-US" sz="2400" b="1" i="0" u="none" strike="noStrike" kern="0" cap="none" spc="0" normalizeH="0" baseline="0" noProof="0">
                <a:ln>
                  <a:noFill/>
                </a:ln>
                <a:solidFill>
                  <a:srgbClr val="003300"/>
                </a:solidFill>
                <a:effectLst/>
                <a:uLnTx/>
                <a:uFillTx/>
                <a:latin typeface="宋体" pitchFamily="2" charset="-122"/>
              </a:rPr>
              <a:t>不等长编码的好处</a:t>
            </a:r>
            <a:endParaRPr kumimoji="1" lang="en-US" altLang="zh-CN" sz="2400" b="1" i="0" u="none" strike="noStrike" kern="0" cap="none" spc="0" normalizeH="0" baseline="0" noProof="0">
              <a:ln>
                <a:noFill/>
              </a:ln>
              <a:solidFill>
                <a:srgbClr val="003300"/>
              </a:solidFill>
              <a:effectLst/>
              <a:uLnTx/>
              <a:uFillTx/>
              <a:latin typeface="宋体" pitchFamily="2" charset="-122"/>
            </a:endParaRPr>
          </a:p>
          <a:p>
            <a:pPr marL="0" marR="0" lvl="0" indent="0" defTabSz="914400" eaLnBrk="0" fontAlgn="base" latinLnBrk="0" hangingPunct="0">
              <a:lnSpc>
                <a:spcPct val="15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宋体" pitchFamily="2" charset="-122"/>
              </a:rPr>
              <a:t>    可以使传送电文的字符串的总长度尽可能地短。对出现</a:t>
            </a:r>
            <a:r>
              <a:rPr kumimoji="1" lang="zh-CN" altLang="en-US" sz="2400" b="1" i="0" u="none" strike="noStrike" kern="0" cap="none" spc="0" normalizeH="0" baseline="0" noProof="0">
                <a:ln>
                  <a:noFill/>
                </a:ln>
                <a:solidFill>
                  <a:srgbClr val="FF0000"/>
                </a:solidFill>
                <a:effectLst/>
                <a:uLnTx/>
                <a:uFillTx/>
                <a:latin typeface="宋体" pitchFamily="2" charset="-122"/>
              </a:rPr>
              <a:t>频率高的字符采用尽可能短的编码</a:t>
            </a:r>
            <a:r>
              <a:rPr kumimoji="1" lang="zh-CN" altLang="en-US" sz="2400" b="1" i="0" u="none" strike="noStrike" kern="0" cap="none" spc="0" normalizeH="0" baseline="0" noProof="0">
                <a:ln>
                  <a:noFill/>
                </a:ln>
                <a:solidFill>
                  <a:srgbClr val="0000FF"/>
                </a:solidFill>
                <a:effectLst/>
                <a:uLnTx/>
                <a:uFillTx/>
                <a:latin typeface="宋体" pitchFamily="2" charset="-122"/>
              </a:rPr>
              <a:t>，则传送电文的总长便可减少。</a:t>
            </a:r>
            <a:endParaRPr kumimoji="1" lang="zh-CN" altLang="en-US" sz="2400" b="0" i="0" u="none" strike="noStrike" kern="0" cap="none" spc="0" normalizeH="0" baseline="0" noProof="0">
              <a:ln>
                <a:noFill/>
              </a:ln>
              <a:solidFill>
                <a:srgbClr val="FF3300"/>
              </a:solidFill>
              <a:effectLst/>
              <a:uLnTx/>
              <a:uFillTx/>
              <a:latin typeface="宋体" pitchFamily="2" charset="-122"/>
            </a:endParaRPr>
          </a:p>
        </p:txBody>
      </p:sp>
    </p:spTree>
    <p:extLst>
      <p:ext uri="{BB962C8B-B14F-4D97-AF65-F5344CB8AC3E}">
        <p14:creationId xmlns:p14="http://schemas.microsoft.com/office/powerpoint/2010/main" val="159768953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400" b="1" dirty="0"/>
              <a:t>利用二叉树设计前缀编码：</a:t>
            </a:r>
          </a:p>
        </p:txBody>
      </p:sp>
      <p:sp>
        <p:nvSpPr>
          <p:cNvPr id="4" name="日期占位符 3"/>
          <p:cNvSpPr>
            <a:spLocks noGrp="1"/>
          </p:cNvSpPr>
          <p:nvPr>
            <p:ph type="dt" sz="half" idx="10"/>
          </p:nvPr>
        </p:nvSpPr>
        <p:spPr/>
        <p:txBody>
          <a:bodyPr/>
          <a:lstStyle/>
          <a:p>
            <a:fld id="{907DF918-15F1-472C-B6B7-D78C031CB3FF}"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183</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4"/>
          <p:cNvSpPr txBox="1">
            <a:spLocks noChangeArrowheads="1"/>
          </p:cNvSpPr>
          <p:nvPr/>
        </p:nvSpPr>
        <p:spPr bwMode="auto">
          <a:xfrm>
            <a:off x="344489" y="3278394"/>
            <a:ext cx="8570912" cy="2936188"/>
          </a:xfrm>
          <a:prstGeom prst="rect">
            <a:avLst/>
          </a:prstGeom>
          <a:noFill/>
          <a:ln w="12700" cap="rnd">
            <a:noFill/>
            <a:miter lim="800000"/>
            <a:headEnd/>
            <a:tailEnd/>
          </a:ln>
        </p:spPr>
        <p:txBody>
          <a:bodyPr wrap="square">
            <a:spAutoFit/>
          </a:bodyPr>
          <a:lstStyle/>
          <a:p>
            <a:pPr fontAlgn="base">
              <a:lnSpc>
                <a:spcPct val="120000"/>
              </a:lnSpc>
              <a:spcBef>
                <a:spcPct val="10000"/>
              </a:spcBef>
              <a:spcAft>
                <a:spcPct val="0"/>
              </a:spcAft>
            </a:pPr>
            <a:endParaRPr kumimoji="1" lang="zh-CN" altLang="en-US" sz="2400" b="1" dirty="0">
              <a:solidFill>
                <a:srgbClr val="0000FF"/>
              </a:solidFill>
              <a:latin typeface="Times New Roman" pitchFamily="18" charset="0"/>
            </a:endParaRPr>
          </a:p>
          <a:p>
            <a:pPr fontAlgn="base">
              <a:lnSpc>
                <a:spcPct val="120000"/>
              </a:lnSpc>
              <a:spcBef>
                <a:spcPct val="10000"/>
              </a:spcBef>
              <a:spcAft>
                <a:spcPct val="0"/>
              </a:spcAft>
            </a:pPr>
            <a:r>
              <a:rPr kumimoji="1" lang="zh-CN" altLang="en-US" sz="2400" b="1" dirty="0">
                <a:solidFill>
                  <a:srgbClr val="0000FF"/>
                </a:solidFill>
                <a:latin typeface="Times New Roman" pitchFamily="18" charset="0"/>
              </a:rPr>
              <a:t>        1）构造以 </a:t>
            </a:r>
            <a:r>
              <a:rPr kumimoji="1" lang="en-US" altLang="zh-CN" sz="2400" b="1" dirty="0" err="1">
                <a:solidFill>
                  <a:srgbClr val="0000FF"/>
                </a:solidFill>
                <a:latin typeface="Times New Roman" pitchFamily="18" charset="0"/>
              </a:rPr>
              <a:t>a、b、c、d、e、f、g、h</a:t>
            </a:r>
            <a:r>
              <a:rPr kumimoji="1" lang="zh-CN" altLang="en-US" sz="2400" b="1" dirty="0">
                <a:solidFill>
                  <a:srgbClr val="0000FF"/>
                </a:solidFill>
                <a:latin typeface="Times New Roman" pitchFamily="18" charset="0"/>
              </a:rPr>
              <a:t>为叶子结点的二叉</a:t>
            </a:r>
          </a:p>
          <a:p>
            <a:pPr fontAlgn="base">
              <a:lnSpc>
                <a:spcPct val="120000"/>
              </a:lnSpc>
              <a:spcBef>
                <a:spcPct val="10000"/>
              </a:spcBef>
              <a:spcAft>
                <a:spcPct val="0"/>
              </a:spcAft>
            </a:pPr>
            <a:r>
              <a:rPr kumimoji="1" lang="zh-CN" altLang="en-US" sz="2400" b="1" dirty="0">
                <a:solidFill>
                  <a:srgbClr val="0000FF"/>
                </a:solidFill>
                <a:latin typeface="Times New Roman" pitchFamily="18" charset="0"/>
              </a:rPr>
              <a:t>              树；</a:t>
            </a:r>
          </a:p>
          <a:p>
            <a:pPr fontAlgn="base">
              <a:lnSpc>
                <a:spcPct val="120000"/>
              </a:lnSpc>
              <a:spcBef>
                <a:spcPct val="10000"/>
              </a:spcBef>
              <a:spcAft>
                <a:spcPct val="0"/>
              </a:spcAft>
            </a:pPr>
            <a:r>
              <a:rPr kumimoji="1" lang="zh-CN" altLang="en-US" sz="2400" b="1" dirty="0">
                <a:solidFill>
                  <a:srgbClr val="0000FF"/>
                </a:solidFill>
                <a:latin typeface="Times New Roman" pitchFamily="18" charset="0"/>
              </a:rPr>
              <a:t>        2）将该二叉树所有左分枝标记</a:t>
            </a:r>
            <a:r>
              <a:rPr kumimoji="1" lang="en-US" altLang="zh-CN" sz="2400" b="1" dirty="0">
                <a:solidFill>
                  <a:srgbClr val="0000FF"/>
                </a:solidFill>
                <a:latin typeface="Times New Roman" pitchFamily="18" charset="0"/>
              </a:rPr>
              <a:t>0</a:t>
            </a:r>
            <a:r>
              <a:rPr kumimoji="1" lang="zh-CN" altLang="en-US" sz="2400" b="1" dirty="0">
                <a:solidFill>
                  <a:srgbClr val="0000FF"/>
                </a:solidFill>
                <a:latin typeface="Times New Roman" pitchFamily="18" charset="0"/>
              </a:rPr>
              <a:t>，所有右分枝标记</a:t>
            </a:r>
            <a:r>
              <a:rPr kumimoji="1" lang="en-US" altLang="zh-CN" sz="2400" b="1" dirty="0">
                <a:solidFill>
                  <a:srgbClr val="0000FF"/>
                </a:solidFill>
                <a:latin typeface="Times New Roman" pitchFamily="18" charset="0"/>
              </a:rPr>
              <a:t>1</a:t>
            </a:r>
            <a:r>
              <a:rPr kumimoji="1" lang="zh-CN" altLang="en-US" sz="2400" b="1" dirty="0">
                <a:solidFill>
                  <a:srgbClr val="0000FF"/>
                </a:solidFill>
                <a:latin typeface="Times New Roman" pitchFamily="18" charset="0"/>
              </a:rPr>
              <a:t>；</a:t>
            </a:r>
          </a:p>
          <a:p>
            <a:pPr fontAlgn="base">
              <a:lnSpc>
                <a:spcPct val="120000"/>
              </a:lnSpc>
              <a:spcBef>
                <a:spcPct val="10000"/>
              </a:spcBef>
              <a:spcAft>
                <a:spcPct val="0"/>
              </a:spcAft>
            </a:pPr>
            <a:r>
              <a:rPr kumimoji="1" lang="zh-CN" altLang="en-US" sz="2400" b="1" dirty="0">
                <a:solidFill>
                  <a:srgbClr val="0000FF"/>
                </a:solidFill>
                <a:latin typeface="Times New Roman" pitchFamily="18" charset="0"/>
              </a:rPr>
              <a:t>        3）从根到叶子结点路径上标记作为叶子结点所对应</a:t>
            </a:r>
          </a:p>
          <a:p>
            <a:pPr fontAlgn="base">
              <a:lnSpc>
                <a:spcPct val="120000"/>
              </a:lnSpc>
              <a:spcBef>
                <a:spcPct val="10000"/>
              </a:spcBef>
              <a:spcAft>
                <a:spcPct val="0"/>
              </a:spcAft>
            </a:pPr>
            <a:r>
              <a:rPr kumimoji="1" lang="zh-CN" altLang="en-US" sz="2400" b="1" dirty="0">
                <a:solidFill>
                  <a:srgbClr val="0000FF"/>
                </a:solidFill>
                <a:latin typeface="Times New Roman" pitchFamily="18" charset="0"/>
              </a:rPr>
              <a:t>              字符的编码；</a:t>
            </a:r>
          </a:p>
        </p:txBody>
      </p:sp>
      <p:sp>
        <p:nvSpPr>
          <p:cNvPr id="14" name="Text Box 72"/>
          <p:cNvSpPr txBox="1">
            <a:spLocks noChangeArrowheads="1"/>
          </p:cNvSpPr>
          <p:nvPr/>
        </p:nvSpPr>
        <p:spPr bwMode="auto">
          <a:xfrm>
            <a:off x="344489" y="1836944"/>
            <a:ext cx="8570912" cy="1421928"/>
          </a:xfrm>
          <a:prstGeom prst="rect">
            <a:avLst/>
          </a:prstGeom>
          <a:noFill/>
          <a:ln w="12700" cap="rnd">
            <a:solidFill>
              <a:srgbClr val="04617B"/>
            </a:solidFill>
            <a:miter lim="800000"/>
            <a:headEnd/>
            <a:tailEnd/>
          </a:ln>
        </p:spPr>
        <p:txBody>
          <a:bodyPr wrap="square">
            <a:spAutoFit/>
          </a:bodyPr>
          <a:lstStyle/>
          <a:p>
            <a:pPr marL="0" marR="0" lvl="0" indent="0" defTabSz="914400" eaLnBrk="1" fontAlgn="base" latinLnBrk="0" hangingPunct="1">
              <a:lnSpc>
                <a:spcPct val="120000"/>
              </a:lnSpc>
              <a:spcBef>
                <a:spcPct val="1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rPr>
              <a:t>                 某通讯系统只使用8种字符</a:t>
            </a:r>
            <a:r>
              <a:rPr kumimoji="1" lang="en-US" altLang="zh-CN" sz="2400" b="1" i="0" u="none" strike="noStrike" kern="0" cap="none" spc="0" normalizeH="0" baseline="0" noProof="0">
                <a:ln>
                  <a:noFill/>
                </a:ln>
                <a:solidFill>
                  <a:srgbClr val="000000"/>
                </a:solidFill>
                <a:effectLst/>
                <a:uLnTx/>
                <a:uFillTx/>
                <a:latin typeface="Times New Roman" pitchFamily="18" charset="0"/>
              </a:rPr>
              <a:t>a、b、c、d、e、f、g、h，</a:t>
            </a:r>
            <a:r>
              <a:rPr kumimoji="1" lang="zh-CN" altLang="en-US" sz="2400" b="1" i="0" u="none" strike="noStrike" kern="0" cap="none" spc="0" normalizeH="0" baseline="0" noProof="0">
                <a:ln>
                  <a:noFill/>
                </a:ln>
                <a:solidFill>
                  <a:srgbClr val="000000"/>
                </a:solidFill>
                <a:effectLst/>
                <a:uLnTx/>
                <a:uFillTx/>
                <a:latin typeface="Times New Roman" pitchFamily="18" charset="0"/>
              </a:rPr>
              <a:t>其使用频率分别为0.05, 0.29, 0.07, 0.08,  0.14, 0.23,  0.03, 0.11，利用二叉树设计一种不等长编码：        </a:t>
            </a:r>
          </a:p>
        </p:txBody>
      </p:sp>
      <p:sp>
        <p:nvSpPr>
          <p:cNvPr id="15" name="Oval 77"/>
          <p:cNvSpPr>
            <a:spLocks noChangeArrowheads="1"/>
          </p:cNvSpPr>
          <p:nvPr/>
        </p:nvSpPr>
        <p:spPr bwMode="auto">
          <a:xfrm>
            <a:off x="560388" y="1908381"/>
            <a:ext cx="1223962" cy="4318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400" b="1">
                <a:solidFill>
                  <a:srgbClr val="000000"/>
                </a:solidFill>
                <a:latin typeface="Times New Roman" pitchFamily="18" charset="0"/>
              </a:rPr>
              <a:t>例</a:t>
            </a:r>
          </a:p>
        </p:txBody>
      </p:sp>
    </p:spTree>
    <p:extLst>
      <p:ext uri="{BB962C8B-B14F-4D97-AF65-F5344CB8AC3E}">
        <p14:creationId xmlns:p14="http://schemas.microsoft.com/office/powerpoint/2010/main" val="70989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animBg="1"/>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143000"/>
            <a:ext cx="8229600" cy="5105400"/>
          </a:xfrm>
        </p:spPr>
        <p:txBody>
          <a:bodyPr>
            <a:normAutofit/>
          </a:bodyPr>
          <a:lstStyle/>
          <a:p>
            <a:pPr>
              <a:lnSpc>
                <a:spcPts val="3600"/>
              </a:lnSpc>
            </a:pPr>
            <a:r>
              <a:rPr lang="zh-CN" altLang="en-US" sz="2400" b="1" dirty="0"/>
              <a:t>利用二叉树设计前缀编码：</a:t>
            </a:r>
          </a:p>
        </p:txBody>
      </p:sp>
      <p:sp>
        <p:nvSpPr>
          <p:cNvPr id="4" name="日期占位符 3"/>
          <p:cNvSpPr>
            <a:spLocks noGrp="1"/>
          </p:cNvSpPr>
          <p:nvPr>
            <p:ph type="dt" sz="half" idx="10"/>
          </p:nvPr>
        </p:nvSpPr>
        <p:spPr/>
        <p:txBody>
          <a:bodyPr/>
          <a:lstStyle/>
          <a:p>
            <a:fld id="{5F9F4158-B68D-459F-983E-1923A7AEEC86}"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184</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4"/>
          <p:cNvSpPr txBox="1">
            <a:spLocks noChangeArrowheads="1"/>
          </p:cNvSpPr>
          <p:nvPr/>
        </p:nvSpPr>
        <p:spPr bwMode="auto">
          <a:xfrm>
            <a:off x="7739063" y="3489662"/>
            <a:ext cx="1893887" cy="2769989"/>
          </a:xfrm>
          <a:prstGeom prst="rect">
            <a:avLst/>
          </a:prstGeom>
          <a:noFill/>
          <a:ln w="12700" cap="rnd">
            <a:noFill/>
            <a:miter lim="800000"/>
            <a:headEnd/>
            <a:tailEnd/>
          </a:ln>
        </p:spPr>
        <p:txBody>
          <a:bodyPr>
            <a:spAutoFit/>
          </a:bodyPr>
          <a:lstStyle/>
          <a:p>
            <a:pPr eaLnBrk="0" fontAlgn="base" hangingPunct="0">
              <a:spcBef>
                <a:spcPct val="10000"/>
              </a:spcBef>
              <a:spcAft>
                <a:spcPct val="0"/>
              </a:spcAft>
            </a:pPr>
            <a:r>
              <a:rPr kumimoji="1" lang="en-US" altLang="zh-CN" sz="2000" b="1">
                <a:solidFill>
                  <a:srgbClr val="0000FF"/>
                </a:solidFill>
                <a:latin typeface="隶书" pitchFamily="49" charset="-122"/>
                <a:ea typeface="隶书" pitchFamily="49" charset="-122"/>
              </a:rPr>
              <a:t>a: 0001</a:t>
            </a:r>
          </a:p>
          <a:p>
            <a:pPr eaLnBrk="0" fontAlgn="base" hangingPunct="0">
              <a:spcBef>
                <a:spcPct val="10000"/>
              </a:spcBef>
              <a:spcAft>
                <a:spcPct val="0"/>
              </a:spcAft>
            </a:pPr>
            <a:r>
              <a:rPr kumimoji="1" lang="en-US" altLang="zh-CN" sz="2000" b="1">
                <a:solidFill>
                  <a:srgbClr val="0000FF"/>
                </a:solidFill>
                <a:latin typeface="隶书" pitchFamily="49" charset="-122"/>
                <a:ea typeface="隶书" pitchFamily="49" charset="-122"/>
              </a:rPr>
              <a:t>b: 10</a:t>
            </a:r>
          </a:p>
          <a:p>
            <a:pPr eaLnBrk="0" fontAlgn="base" hangingPunct="0">
              <a:spcBef>
                <a:spcPct val="10000"/>
              </a:spcBef>
              <a:spcAft>
                <a:spcPct val="0"/>
              </a:spcAft>
            </a:pPr>
            <a:r>
              <a:rPr kumimoji="1" lang="en-US" altLang="zh-CN" sz="2000" b="1">
                <a:solidFill>
                  <a:srgbClr val="0000FF"/>
                </a:solidFill>
                <a:latin typeface="隶书" pitchFamily="49" charset="-122"/>
                <a:ea typeface="隶书" pitchFamily="49" charset="-122"/>
              </a:rPr>
              <a:t>c: 1110</a:t>
            </a:r>
          </a:p>
          <a:p>
            <a:pPr eaLnBrk="0" fontAlgn="base" hangingPunct="0">
              <a:spcBef>
                <a:spcPct val="10000"/>
              </a:spcBef>
              <a:spcAft>
                <a:spcPct val="0"/>
              </a:spcAft>
            </a:pPr>
            <a:r>
              <a:rPr kumimoji="1" lang="en-US" altLang="zh-CN" sz="2000" b="1">
                <a:solidFill>
                  <a:srgbClr val="0000FF"/>
                </a:solidFill>
                <a:latin typeface="隶书" pitchFamily="49" charset="-122"/>
                <a:ea typeface="隶书" pitchFamily="49" charset="-122"/>
              </a:rPr>
              <a:t>d: 1111</a:t>
            </a:r>
          </a:p>
          <a:p>
            <a:pPr eaLnBrk="0" fontAlgn="base" hangingPunct="0">
              <a:spcBef>
                <a:spcPct val="10000"/>
              </a:spcBef>
              <a:spcAft>
                <a:spcPct val="0"/>
              </a:spcAft>
            </a:pPr>
            <a:r>
              <a:rPr kumimoji="1" lang="en-US" altLang="zh-CN" sz="2000" b="1">
                <a:solidFill>
                  <a:srgbClr val="0000FF"/>
                </a:solidFill>
                <a:latin typeface="隶书" pitchFamily="49" charset="-122"/>
                <a:ea typeface="隶书" pitchFamily="49" charset="-122"/>
              </a:rPr>
              <a:t>e: 110</a:t>
            </a:r>
          </a:p>
          <a:p>
            <a:pPr eaLnBrk="0" fontAlgn="base" hangingPunct="0">
              <a:spcBef>
                <a:spcPct val="10000"/>
              </a:spcBef>
              <a:spcAft>
                <a:spcPct val="0"/>
              </a:spcAft>
            </a:pPr>
            <a:r>
              <a:rPr kumimoji="1" lang="en-US" altLang="zh-CN" sz="2000" b="1">
                <a:solidFill>
                  <a:srgbClr val="0000FF"/>
                </a:solidFill>
                <a:latin typeface="隶书" pitchFamily="49" charset="-122"/>
                <a:ea typeface="隶书" pitchFamily="49" charset="-122"/>
              </a:rPr>
              <a:t>f: 01</a:t>
            </a:r>
          </a:p>
          <a:p>
            <a:pPr eaLnBrk="0" fontAlgn="base" hangingPunct="0">
              <a:spcBef>
                <a:spcPct val="10000"/>
              </a:spcBef>
              <a:spcAft>
                <a:spcPct val="0"/>
              </a:spcAft>
            </a:pPr>
            <a:r>
              <a:rPr kumimoji="1" lang="en-US" altLang="zh-CN" sz="2000" b="1">
                <a:solidFill>
                  <a:srgbClr val="0000FF"/>
                </a:solidFill>
                <a:latin typeface="隶书" pitchFamily="49" charset="-122"/>
                <a:ea typeface="隶书" pitchFamily="49" charset="-122"/>
              </a:rPr>
              <a:t>g: 0000</a:t>
            </a:r>
          </a:p>
          <a:p>
            <a:pPr eaLnBrk="0" fontAlgn="base" hangingPunct="0">
              <a:spcBef>
                <a:spcPct val="10000"/>
              </a:spcBef>
              <a:spcAft>
                <a:spcPct val="0"/>
              </a:spcAft>
            </a:pPr>
            <a:r>
              <a:rPr kumimoji="1" lang="en-US" altLang="zh-CN" sz="2000" b="1">
                <a:solidFill>
                  <a:srgbClr val="0000FF"/>
                </a:solidFill>
                <a:latin typeface="隶书" pitchFamily="49" charset="-122"/>
                <a:ea typeface="隶书" pitchFamily="49" charset="-122"/>
              </a:rPr>
              <a:t>h: 001</a:t>
            </a:r>
          </a:p>
        </p:txBody>
      </p:sp>
      <p:sp>
        <p:nvSpPr>
          <p:cNvPr id="14" name="Oval 65"/>
          <p:cNvSpPr>
            <a:spLocks noChangeArrowheads="1"/>
          </p:cNvSpPr>
          <p:nvPr/>
        </p:nvSpPr>
        <p:spPr bwMode="auto">
          <a:xfrm>
            <a:off x="3810000" y="2286000"/>
            <a:ext cx="5105400" cy="1541463"/>
          </a:xfrm>
          <a:prstGeom prst="ellipse">
            <a:avLst/>
          </a:prstGeom>
          <a:solidFill>
            <a:srgbClr val="DBF5F9"/>
          </a:solidFill>
          <a:ln w="12700" cap="rnd">
            <a:no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Times New Roman" pitchFamily="18" charset="0"/>
                <a:ea typeface="隶书" pitchFamily="49" charset="-122"/>
              </a:rPr>
              <a:t>构造以字符使用频率</a:t>
            </a: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Times New Roman" pitchFamily="18" charset="0"/>
                <a:ea typeface="隶书" pitchFamily="49" charset="-122"/>
              </a:rPr>
              <a:t>作为权值的</a:t>
            </a:r>
            <a:r>
              <a:rPr kumimoji="1" lang="en-US" altLang="zh-CN" sz="2400" b="1" i="1" u="none" strike="noStrike" kern="0" cap="none" spc="0" normalizeH="0" baseline="0" noProof="0">
                <a:ln>
                  <a:noFill/>
                </a:ln>
                <a:solidFill>
                  <a:srgbClr val="0000FF"/>
                </a:solidFill>
                <a:effectLst/>
                <a:uLnTx/>
                <a:uFillTx/>
                <a:latin typeface="Times New Roman" pitchFamily="18" charset="0"/>
                <a:ea typeface="隶书" pitchFamily="49" charset="-122"/>
              </a:rPr>
              <a:t>Huffman</a:t>
            </a:r>
            <a:r>
              <a:rPr kumimoji="1" lang="zh-CN" altLang="en-US" sz="2400" b="1" i="0" u="none" strike="noStrike" kern="0" cap="none" spc="0" normalizeH="0" baseline="0" noProof="0">
                <a:ln>
                  <a:noFill/>
                </a:ln>
                <a:solidFill>
                  <a:srgbClr val="0000FF"/>
                </a:solidFill>
                <a:effectLst/>
                <a:uLnTx/>
                <a:uFillTx/>
                <a:latin typeface="Times New Roman" pitchFamily="18" charset="0"/>
                <a:ea typeface="隶书" pitchFamily="49" charset="-122"/>
              </a:rPr>
              <a:t>树</a:t>
            </a:r>
          </a:p>
        </p:txBody>
      </p:sp>
      <p:sp>
        <p:nvSpPr>
          <p:cNvPr id="15" name="Rectangle 69"/>
          <p:cNvSpPr>
            <a:spLocks noChangeArrowheads="1"/>
          </p:cNvSpPr>
          <p:nvPr/>
        </p:nvSpPr>
        <p:spPr bwMode="auto">
          <a:xfrm>
            <a:off x="2076451" y="1378803"/>
            <a:ext cx="7219949" cy="830997"/>
          </a:xfrm>
          <a:prstGeom prst="rect">
            <a:avLst/>
          </a:prstGeom>
          <a:noFill/>
          <a:ln w="12700" cap="rnd">
            <a:noFill/>
            <a:miter lim="800000"/>
            <a:headEnd/>
            <a:tailEnd/>
          </a:ln>
          <a:effectLst/>
        </p:spPr>
        <p:txBody>
          <a:bodyPr wrap="square">
            <a:spAutoFit/>
          </a:bodyPr>
          <a:lstStyle/>
          <a:p>
            <a:pPr algn="ctr" eaLnBrk="0" fontAlgn="base" hangingPunct="0">
              <a:spcBef>
                <a:spcPct val="0"/>
              </a:spcBef>
              <a:spcAft>
                <a:spcPct val="0"/>
              </a:spcAft>
              <a:defRPr/>
            </a:pPr>
            <a:r>
              <a:rPr kumimoji="1" lang="en-US" altLang="zh-CN" sz="2400" b="1" dirty="0">
                <a:solidFill>
                  <a:srgbClr val="FF0000"/>
                </a:solidFill>
                <a:effectLst>
                  <a:outerShdw blurRad="38100" dist="38100" dir="2700000" algn="tl">
                    <a:srgbClr val="000000"/>
                  </a:outerShdw>
                </a:effectLst>
                <a:latin typeface="隶书" pitchFamily="49" charset="-122"/>
                <a:ea typeface="隶书" pitchFamily="49" charset="-122"/>
              </a:rPr>
              <a:t>          </a:t>
            </a:r>
            <a:r>
              <a:rPr kumimoji="1" lang="en-US" altLang="zh-CN" sz="2400" b="1" dirty="0" err="1">
                <a:solidFill>
                  <a:srgbClr val="FF0000"/>
                </a:solidFill>
                <a:effectLst>
                  <a:outerShdw blurRad="38100" dist="38100" dir="2700000" algn="tl">
                    <a:srgbClr val="FFFFFF"/>
                  </a:outerShdw>
                </a:effectLst>
                <a:latin typeface="隶书" pitchFamily="49" charset="-122"/>
                <a:ea typeface="隶书" pitchFamily="49" charset="-122"/>
              </a:rPr>
              <a:t>a、b</a:t>
            </a:r>
            <a:r>
              <a:rPr kumimoji="1" lang="en-US" altLang="zh-CN" sz="2400" b="1" dirty="0">
                <a:solidFill>
                  <a:srgbClr val="FF0000"/>
                </a:solidFill>
                <a:effectLst>
                  <a:outerShdw blurRad="38100" dist="38100" dir="2700000" algn="tl">
                    <a:srgbClr val="FFFFFF"/>
                  </a:outerShdw>
                </a:effectLst>
                <a:latin typeface="隶书" pitchFamily="49" charset="-122"/>
                <a:ea typeface="隶书" pitchFamily="49" charset="-122"/>
              </a:rPr>
              <a:t>、  </a:t>
            </a:r>
            <a:r>
              <a:rPr kumimoji="1" lang="en-US" altLang="zh-CN" sz="2400" b="1" dirty="0" err="1">
                <a:solidFill>
                  <a:srgbClr val="FF0000"/>
                </a:solidFill>
                <a:effectLst>
                  <a:outerShdw blurRad="38100" dist="38100" dir="2700000" algn="tl">
                    <a:srgbClr val="FFFFFF"/>
                  </a:outerShdw>
                </a:effectLst>
                <a:latin typeface="隶书" pitchFamily="49" charset="-122"/>
                <a:ea typeface="隶书" pitchFamily="49" charset="-122"/>
              </a:rPr>
              <a:t>c、d</a:t>
            </a:r>
            <a:r>
              <a:rPr kumimoji="1" lang="en-US" altLang="zh-CN" sz="2400" b="1" dirty="0">
                <a:solidFill>
                  <a:srgbClr val="FF0000"/>
                </a:solidFill>
                <a:effectLst>
                  <a:outerShdw blurRad="38100" dist="38100" dir="2700000" algn="tl">
                    <a:srgbClr val="FFFFFF"/>
                  </a:outerShdw>
                </a:effectLst>
                <a:latin typeface="隶书" pitchFamily="49" charset="-122"/>
                <a:ea typeface="隶书" pitchFamily="49" charset="-122"/>
              </a:rPr>
              <a:t>、  e、  f、  g、 h，</a:t>
            </a:r>
          </a:p>
          <a:p>
            <a:pPr algn="ctr" eaLnBrk="0" fontAlgn="base" hangingPunct="0">
              <a:spcBef>
                <a:spcPct val="0"/>
              </a:spcBef>
              <a:spcAft>
                <a:spcPct val="0"/>
              </a:spcAft>
              <a:defRPr/>
            </a:pPr>
            <a:r>
              <a:rPr kumimoji="1" lang="zh-CN" altLang="en-US" sz="2400" b="1" dirty="0">
                <a:solidFill>
                  <a:srgbClr val="FF0000"/>
                </a:solidFill>
                <a:effectLst>
                  <a:outerShdw blurRad="38100" dist="38100" dir="2700000" algn="tl">
                    <a:srgbClr val="FFFFFF"/>
                  </a:outerShdw>
                </a:effectLst>
                <a:latin typeface="隶书" pitchFamily="49" charset="-122"/>
                <a:ea typeface="隶书" pitchFamily="49" charset="-122"/>
              </a:rPr>
              <a:t>         5、29、 7、 8、 14、  23、 3、11</a:t>
            </a:r>
          </a:p>
        </p:txBody>
      </p:sp>
      <p:sp>
        <p:nvSpPr>
          <p:cNvPr id="16" name="Line 51"/>
          <p:cNvSpPr>
            <a:spLocks noChangeShapeType="1"/>
          </p:cNvSpPr>
          <p:nvPr/>
        </p:nvSpPr>
        <p:spPr bwMode="auto">
          <a:xfrm flipH="1">
            <a:off x="1660525" y="2748300"/>
            <a:ext cx="339725" cy="381000"/>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17" name="Line 52"/>
          <p:cNvSpPr>
            <a:spLocks noChangeShapeType="1"/>
          </p:cNvSpPr>
          <p:nvPr/>
        </p:nvSpPr>
        <p:spPr bwMode="auto">
          <a:xfrm>
            <a:off x="2330450" y="2714962"/>
            <a:ext cx="606425" cy="269875"/>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19" name="Line 53"/>
          <p:cNvSpPr>
            <a:spLocks noChangeShapeType="1"/>
          </p:cNvSpPr>
          <p:nvPr/>
        </p:nvSpPr>
        <p:spPr bwMode="auto">
          <a:xfrm flipH="1">
            <a:off x="1208088" y="3345200"/>
            <a:ext cx="285750" cy="288925"/>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20" name="Line 54"/>
          <p:cNvSpPr>
            <a:spLocks noChangeShapeType="1"/>
          </p:cNvSpPr>
          <p:nvPr/>
        </p:nvSpPr>
        <p:spPr bwMode="auto">
          <a:xfrm>
            <a:off x="1665288" y="3329325"/>
            <a:ext cx="304800" cy="304800"/>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21" name="Line 55"/>
          <p:cNvSpPr>
            <a:spLocks noChangeShapeType="1"/>
          </p:cNvSpPr>
          <p:nvPr/>
        </p:nvSpPr>
        <p:spPr bwMode="auto">
          <a:xfrm>
            <a:off x="1174750" y="3859550"/>
            <a:ext cx="304800" cy="304800"/>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22" name="Line 56"/>
          <p:cNvSpPr>
            <a:spLocks noChangeShapeType="1"/>
          </p:cNvSpPr>
          <p:nvPr/>
        </p:nvSpPr>
        <p:spPr bwMode="auto">
          <a:xfrm>
            <a:off x="857250" y="4375487"/>
            <a:ext cx="304800" cy="304800"/>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23" name="Line 57"/>
          <p:cNvSpPr>
            <a:spLocks noChangeShapeType="1"/>
          </p:cNvSpPr>
          <p:nvPr/>
        </p:nvSpPr>
        <p:spPr bwMode="auto">
          <a:xfrm flipH="1">
            <a:off x="717550" y="3859550"/>
            <a:ext cx="301625" cy="304800"/>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24" name="Line 58"/>
          <p:cNvSpPr>
            <a:spLocks noChangeShapeType="1"/>
          </p:cNvSpPr>
          <p:nvPr/>
        </p:nvSpPr>
        <p:spPr bwMode="auto">
          <a:xfrm flipH="1">
            <a:off x="323850" y="4375487"/>
            <a:ext cx="301625" cy="304800"/>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25" name="Line 59"/>
          <p:cNvSpPr>
            <a:spLocks noChangeShapeType="1"/>
          </p:cNvSpPr>
          <p:nvPr/>
        </p:nvSpPr>
        <p:spPr bwMode="auto">
          <a:xfrm>
            <a:off x="3267075" y="3146762"/>
            <a:ext cx="301625" cy="304800"/>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26" name="Line 60"/>
          <p:cNvSpPr>
            <a:spLocks noChangeShapeType="1"/>
          </p:cNvSpPr>
          <p:nvPr/>
        </p:nvSpPr>
        <p:spPr bwMode="auto">
          <a:xfrm>
            <a:off x="4257675" y="4213562"/>
            <a:ext cx="301625" cy="304800"/>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27" name="Line 61"/>
          <p:cNvSpPr>
            <a:spLocks noChangeShapeType="1"/>
          </p:cNvSpPr>
          <p:nvPr/>
        </p:nvSpPr>
        <p:spPr bwMode="auto">
          <a:xfrm>
            <a:off x="3724275" y="3680162"/>
            <a:ext cx="301625" cy="304800"/>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28" name="Line 62"/>
          <p:cNvSpPr>
            <a:spLocks noChangeShapeType="1"/>
          </p:cNvSpPr>
          <p:nvPr/>
        </p:nvSpPr>
        <p:spPr bwMode="auto">
          <a:xfrm flipH="1">
            <a:off x="2733675" y="3146762"/>
            <a:ext cx="301625" cy="304800"/>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29" name="Line 63"/>
          <p:cNvSpPr>
            <a:spLocks noChangeShapeType="1"/>
          </p:cNvSpPr>
          <p:nvPr/>
        </p:nvSpPr>
        <p:spPr bwMode="auto">
          <a:xfrm flipH="1">
            <a:off x="3267075" y="3680162"/>
            <a:ext cx="301625" cy="304800"/>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sp>
        <p:nvSpPr>
          <p:cNvPr id="30" name="Line 64"/>
          <p:cNvSpPr>
            <a:spLocks noChangeShapeType="1"/>
          </p:cNvSpPr>
          <p:nvPr/>
        </p:nvSpPr>
        <p:spPr bwMode="auto">
          <a:xfrm flipH="1">
            <a:off x="3724275" y="4213562"/>
            <a:ext cx="301625" cy="304800"/>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2800" b="1">
              <a:solidFill>
                <a:srgbClr val="000000"/>
              </a:solidFill>
              <a:latin typeface="Times New Roman" pitchFamily="18" charset="0"/>
            </a:endParaRPr>
          </a:p>
        </p:txBody>
      </p:sp>
      <p:grpSp>
        <p:nvGrpSpPr>
          <p:cNvPr id="31" name="Group 6"/>
          <p:cNvGrpSpPr>
            <a:grpSpLocks/>
          </p:cNvGrpSpPr>
          <p:nvPr/>
        </p:nvGrpSpPr>
        <p:grpSpPr bwMode="auto">
          <a:xfrm>
            <a:off x="3419475" y="3375368"/>
            <a:ext cx="533400" cy="379413"/>
            <a:chOff x="1462" y="2724"/>
            <a:chExt cx="336" cy="239"/>
          </a:xfrm>
        </p:grpSpPr>
        <p:sp>
          <p:nvSpPr>
            <p:cNvPr id="32" name="Oval 7"/>
            <p:cNvSpPr>
              <a:spLocks noChangeArrowheads="1"/>
            </p:cNvSpPr>
            <p:nvPr/>
          </p:nvSpPr>
          <p:spPr bwMode="auto">
            <a:xfrm>
              <a:off x="1488" y="2736"/>
              <a:ext cx="227" cy="227"/>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33" name="Text Box 8"/>
            <p:cNvSpPr txBox="1">
              <a:spLocks noChangeArrowheads="1"/>
            </p:cNvSpPr>
            <p:nvPr/>
          </p:nvSpPr>
          <p:spPr bwMode="auto">
            <a:xfrm>
              <a:off x="1462" y="2724"/>
              <a:ext cx="336"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b="1">
                  <a:solidFill>
                    <a:srgbClr val="CC0000"/>
                  </a:solidFill>
                  <a:latin typeface="隶书" pitchFamily="49" charset="-122"/>
                  <a:ea typeface="隶书" pitchFamily="49" charset="-122"/>
                </a:rPr>
                <a:t>29</a:t>
              </a:r>
            </a:p>
          </p:txBody>
        </p:sp>
      </p:grpSp>
      <p:grpSp>
        <p:nvGrpSpPr>
          <p:cNvPr id="34" name="Group 9"/>
          <p:cNvGrpSpPr>
            <a:grpSpLocks/>
          </p:cNvGrpSpPr>
          <p:nvPr/>
        </p:nvGrpSpPr>
        <p:grpSpPr bwMode="auto">
          <a:xfrm>
            <a:off x="869950" y="3554756"/>
            <a:ext cx="533400" cy="379413"/>
            <a:chOff x="1462" y="2724"/>
            <a:chExt cx="336" cy="239"/>
          </a:xfrm>
        </p:grpSpPr>
        <p:sp>
          <p:nvSpPr>
            <p:cNvPr id="35" name="Oval 10"/>
            <p:cNvSpPr>
              <a:spLocks noChangeArrowheads="1"/>
            </p:cNvSpPr>
            <p:nvPr/>
          </p:nvSpPr>
          <p:spPr bwMode="auto">
            <a:xfrm>
              <a:off x="1488" y="2736"/>
              <a:ext cx="227" cy="227"/>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36" name="Text Box 11"/>
            <p:cNvSpPr txBox="1">
              <a:spLocks noChangeArrowheads="1"/>
            </p:cNvSpPr>
            <p:nvPr/>
          </p:nvSpPr>
          <p:spPr bwMode="auto">
            <a:xfrm>
              <a:off x="1462" y="2724"/>
              <a:ext cx="336"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b="1">
                  <a:solidFill>
                    <a:srgbClr val="CC0000"/>
                  </a:solidFill>
                  <a:latin typeface="隶书" pitchFamily="49" charset="-122"/>
                  <a:ea typeface="隶书" pitchFamily="49" charset="-122"/>
                </a:rPr>
                <a:t>19</a:t>
              </a:r>
            </a:p>
          </p:txBody>
        </p:sp>
      </p:grpSp>
      <p:grpSp>
        <p:nvGrpSpPr>
          <p:cNvPr id="37" name="Group 12"/>
          <p:cNvGrpSpPr>
            <a:grpSpLocks/>
          </p:cNvGrpSpPr>
          <p:nvPr/>
        </p:nvGrpSpPr>
        <p:grpSpPr bwMode="auto">
          <a:xfrm>
            <a:off x="2886075" y="2841968"/>
            <a:ext cx="533400" cy="379413"/>
            <a:chOff x="1462" y="2724"/>
            <a:chExt cx="336" cy="239"/>
          </a:xfrm>
        </p:grpSpPr>
        <p:sp>
          <p:nvSpPr>
            <p:cNvPr id="38" name="Oval 13"/>
            <p:cNvSpPr>
              <a:spLocks noChangeArrowheads="1"/>
            </p:cNvSpPr>
            <p:nvPr/>
          </p:nvSpPr>
          <p:spPr bwMode="auto">
            <a:xfrm>
              <a:off x="1488" y="2736"/>
              <a:ext cx="227" cy="227"/>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39" name="Text Box 14"/>
            <p:cNvSpPr txBox="1">
              <a:spLocks noChangeArrowheads="1"/>
            </p:cNvSpPr>
            <p:nvPr/>
          </p:nvSpPr>
          <p:spPr bwMode="auto">
            <a:xfrm>
              <a:off x="1462" y="2724"/>
              <a:ext cx="336"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b="1">
                  <a:solidFill>
                    <a:srgbClr val="CC0000"/>
                  </a:solidFill>
                  <a:latin typeface="隶书" pitchFamily="49" charset="-122"/>
                  <a:ea typeface="隶书" pitchFamily="49" charset="-122"/>
                </a:rPr>
                <a:t>58</a:t>
              </a:r>
            </a:p>
          </p:txBody>
        </p:sp>
      </p:grpSp>
      <p:grpSp>
        <p:nvGrpSpPr>
          <p:cNvPr id="40" name="Group 15"/>
          <p:cNvGrpSpPr>
            <a:grpSpLocks/>
          </p:cNvGrpSpPr>
          <p:nvPr/>
        </p:nvGrpSpPr>
        <p:grpSpPr bwMode="auto">
          <a:xfrm>
            <a:off x="1355725" y="3024531"/>
            <a:ext cx="533400" cy="379413"/>
            <a:chOff x="1462" y="2724"/>
            <a:chExt cx="336" cy="239"/>
          </a:xfrm>
        </p:grpSpPr>
        <p:sp>
          <p:nvSpPr>
            <p:cNvPr id="41" name="Oval 16"/>
            <p:cNvSpPr>
              <a:spLocks noChangeArrowheads="1"/>
            </p:cNvSpPr>
            <p:nvPr/>
          </p:nvSpPr>
          <p:spPr bwMode="auto">
            <a:xfrm>
              <a:off x="1488" y="2736"/>
              <a:ext cx="227" cy="227"/>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42" name="Text Box 17"/>
            <p:cNvSpPr txBox="1">
              <a:spLocks noChangeArrowheads="1"/>
            </p:cNvSpPr>
            <p:nvPr/>
          </p:nvSpPr>
          <p:spPr bwMode="auto">
            <a:xfrm>
              <a:off x="1462" y="2724"/>
              <a:ext cx="336"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b="1">
                  <a:solidFill>
                    <a:srgbClr val="CC0000"/>
                  </a:solidFill>
                  <a:latin typeface="隶书" pitchFamily="49" charset="-122"/>
                  <a:ea typeface="隶书" pitchFamily="49" charset="-122"/>
                </a:rPr>
                <a:t>42</a:t>
              </a:r>
            </a:p>
          </p:txBody>
        </p:sp>
      </p:grpSp>
      <p:grpSp>
        <p:nvGrpSpPr>
          <p:cNvPr id="43" name="Group 18"/>
          <p:cNvGrpSpPr>
            <a:grpSpLocks/>
          </p:cNvGrpSpPr>
          <p:nvPr/>
        </p:nvGrpSpPr>
        <p:grpSpPr bwMode="auto">
          <a:xfrm>
            <a:off x="1860550" y="2372062"/>
            <a:ext cx="838200" cy="414338"/>
            <a:chOff x="2999" y="1344"/>
            <a:chExt cx="528" cy="261"/>
          </a:xfrm>
        </p:grpSpPr>
        <p:sp>
          <p:nvSpPr>
            <p:cNvPr id="44" name="Oval 19"/>
            <p:cNvSpPr>
              <a:spLocks noChangeArrowheads="1"/>
            </p:cNvSpPr>
            <p:nvPr/>
          </p:nvSpPr>
          <p:spPr bwMode="auto">
            <a:xfrm>
              <a:off x="3050" y="1356"/>
              <a:ext cx="272" cy="249"/>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45" name="Text Box 20"/>
            <p:cNvSpPr txBox="1">
              <a:spLocks noChangeArrowheads="1"/>
            </p:cNvSpPr>
            <p:nvPr/>
          </p:nvSpPr>
          <p:spPr bwMode="auto">
            <a:xfrm>
              <a:off x="2999" y="1344"/>
              <a:ext cx="528"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b="1">
                  <a:solidFill>
                    <a:srgbClr val="CC0000"/>
                  </a:solidFill>
                  <a:latin typeface="隶书" pitchFamily="49" charset="-122"/>
                  <a:ea typeface="隶书" pitchFamily="49" charset="-122"/>
                </a:rPr>
                <a:t>100</a:t>
              </a:r>
            </a:p>
          </p:txBody>
        </p:sp>
      </p:grpSp>
      <p:grpSp>
        <p:nvGrpSpPr>
          <p:cNvPr id="46" name="Group 21"/>
          <p:cNvGrpSpPr>
            <a:grpSpLocks/>
          </p:cNvGrpSpPr>
          <p:nvPr/>
        </p:nvGrpSpPr>
        <p:grpSpPr bwMode="auto">
          <a:xfrm>
            <a:off x="3876675" y="3908768"/>
            <a:ext cx="533400" cy="379413"/>
            <a:chOff x="1462" y="2724"/>
            <a:chExt cx="336" cy="239"/>
          </a:xfrm>
        </p:grpSpPr>
        <p:sp>
          <p:nvSpPr>
            <p:cNvPr id="47" name="Oval 22"/>
            <p:cNvSpPr>
              <a:spLocks noChangeArrowheads="1"/>
            </p:cNvSpPr>
            <p:nvPr/>
          </p:nvSpPr>
          <p:spPr bwMode="auto">
            <a:xfrm>
              <a:off x="1488" y="2736"/>
              <a:ext cx="227" cy="227"/>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48" name="Text Box 23"/>
            <p:cNvSpPr txBox="1">
              <a:spLocks noChangeArrowheads="1"/>
            </p:cNvSpPr>
            <p:nvPr/>
          </p:nvSpPr>
          <p:spPr bwMode="auto">
            <a:xfrm>
              <a:off x="1462" y="2724"/>
              <a:ext cx="336"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b="1">
                  <a:solidFill>
                    <a:srgbClr val="CC0000"/>
                  </a:solidFill>
                  <a:latin typeface="隶书" pitchFamily="49" charset="-122"/>
                  <a:ea typeface="隶书" pitchFamily="49" charset="-122"/>
                </a:rPr>
                <a:t>15</a:t>
              </a:r>
            </a:p>
          </p:txBody>
        </p:sp>
      </p:grpSp>
      <p:grpSp>
        <p:nvGrpSpPr>
          <p:cNvPr id="49" name="Group 24"/>
          <p:cNvGrpSpPr>
            <a:grpSpLocks/>
          </p:cNvGrpSpPr>
          <p:nvPr/>
        </p:nvGrpSpPr>
        <p:grpSpPr bwMode="auto">
          <a:xfrm>
            <a:off x="552450" y="4070692"/>
            <a:ext cx="360363" cy="385763"/>
            <a:chOff x="672" y="2584"/>
            <a:chExt cx="227" cy="243"/>
          </a:xfrm>
        </p:grpSpPr>
        <p:sp>
          <p:nvSpPr>
            <p:cNvPr id="50" name="Oval 25"/>
            <p:cNvSpPr>
              <a:spLocks noChangeArrowheads="1"/>
            </p:cNvSpPr>
            <p:nvPr/>
          </p:nvSpPr>
          <p:spPr bwMode="auto">
            <a:xfrm>
              <a:off x="672" y="2600"/>
              <a:ext cx="227" cy="227"/>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51" name="Text Box 26"/>
            <p:cNvSpPr txBox="1">
              <a:spLocks noChangeArrowheads="1"/>
            </p:cNvSpPr>
            <p:nvPr/>
          </p:nvSpPr>
          <p:spPr bwMode="auto">
            <a:xfrm>
              <a:off x="691" y="2584"/>
              <a:ext cx="201"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b="1">
                  <a:solidFill>
                    <a:srgbClr val="CC0000"/>
                  </a:solidFill>
                  <a:latin typeface="隶书" pitchFamily="49" charset="-122"/>
                  <a:ea typeface="隶书" pitchFamily="49" charset="-122"/>
                </a:rPr>
                <a:t>8</a:t>
              </a:r>
              <a:r>
                <a:rPr kumimoji="1" lang="zh-CN" altLang="en-US" b="1">
                  <a:solidFill>
                    <a:srgbClr val="DBF5F9"/>
                  </a:solidFill>
                  <a:latin typeface="隶书" pitchFamily="49" charset="-122"/>
                  <a:ea typeface="隶书" pitchFamily="49" charset="-122"/>
                </a:rPr>
                <a:t> </a:t>
              </a:r>
            </a:p>
          </p:txBody>
        </p:sp>
      </p:grpSp>
      <p:grpSp>
        <p:nvGrpSpPr>
          <p:cNvPr id="52" name="Group 27"/>
          <p:cNvGrpSpPr>
            <a:grpSpLocks/>
          </p:cNvGrpSpPr>
          <p:nvPr/>
        </p:nvGrpSpPr>
        <p:grpSpPr bwMode="auto">
          <a:xfrm>
            <a:off x="3495675" y="4442169"/>
            <a:ext cx="360363" cy="385763"/>
            <a:chOff x="2928" y="3552"/>
            <a:chExt cx="227" cy="243"/>
          </a:xfrm>
        </p:grpSpPr>
        <p:sp>
          <p:nvSpPr>
            <p:cNvPr id="53" name="Oval 28"/>
            <p:cNvSpPr>
              <a:spLocks noChangeArrowheads="1"/>
            </p:cNvSpPr>
            <p:nvPr/>
          </p:nvSpPr>
          <p:spPr bwMode="auto">
            <a:xfrm>
              <a:off x="2928" y="3568"/>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54" name="Text Box 29"/>
            <p:cNvSpPr txBox="1">
              <a:spLocks noChangeArrowheads="1"/>
            </p:cNvSpPr>
            <p:nvPr/>
          </p:nvSpPr>
          <p:spPr bwMode="auto">
            <a:xfrm>
              <a:off x="2947" y="3552"/>
              <a:ext cx="201"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b="1">
                  <a:solidFill>
                    <a:srgbClr val="0000FF"/>
                  </a:solidFill>
                  <a:latin typeface="隶书" pitchFamily="49" charset="-122"/>
                  <a:ea typeface="隶书" pitchFamily="49" charset="-122"/>
                </a:rPr>
                <a:t>7 </a:t>
              </a:r>
            </a:p>
          </p:txBody>
        </p:sp>
      </p:grpSp>
      <p:grpSp>
        <p:nvGrpSpPr>
          <p:cNvPr id="55" name="Group 30"/>
          <p:cNvGrpSpPr>
            <a:grpSpLocks/>
          </p:cNvGrpSpPr>
          <p:nvPr/>
        </p:nvGrpSpPr>
        <p:grpSpPr bwMode="auto">
          <a:xfrm>
            <a:off x="933450" y="4604094"/>
            <a:ext cx="360363" cy="385763"/>
            <a:chOff x="2928" y="3552"/>
            <a:chExt cx="227" cy="243"/>
          </a:xfrm>
        </p:grpSpPr>
        <p:sp>
          <p:nvSpPr>
            <p:cNvPr id="56" name="Oval 31"/>
            <p:cNvSpPr>
              <a:spLocks noChangeArrowheads="1"/>
            </p:cNvSpPr>
            <p:nvPr/>
          </p:nvSpPr>
          <p:spPr bwMode="auto">
            <a:xfrm>
              <a:off x="2928" y="3568"/>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57" name="Text Box 32"/>
            <p:cNvSpPr txBox="1">
              <a:spLocks noChangeArrowheads="1"/>
            </p:cNvSpPr>
            <p:nvPr/>
          </p:nvSpPr>
          <p:spPr bwMode="auto">
            <a:xfrm>
              <a:off x="2947" y="3552"/>
              <a:ext cx="201"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b="1">
                  <a:solidFill>
                    <a:srgbClr val="0000FF"/>
                  </a:solidFill>
                  <a:latin typeface="隶书" pitchFamily="49" charset="-122"/>
                  <a:ea typeface="隶书" pitchFamily="49" charset="-122"/>
                </a:rPr>
                <a:t>5 </a:t>
              </a:r>
            </a:p>
          </p:txBody>
        </p:sp>
      </p:grpSp>
      <p:grpSp>
        <p:nvGrpSpPr>
          <p:cNvPr id="58" name="Group 33"/>
          <p:cNvGrpSpPr>
            <a:grpSpLocks/>
          </p:cNvGrpSpPr>
          <p:nvPr/>
        </p:nvGrpSpPr>
        <p:grpSpPr bwMode="auto">
          <a:xfrm>
            <a:off x="171450" y="4604094"/>
            <a:ext cx="360363" cy="385763"/>
            <a:chOff x="2928" y="3552"/>
            <a:chExt cx="227" cy="243"/>
          </a:xfrm>
        </p:grpSpPr>
        <p:sp>
          <p:nvSpPr>
            <p:cNvPr id="59" name="Oval 34"/>
            <p:cNvSpPr>
              <a:spLocks noChangeArrowheads="1"/>
            </p:cNvSpPr>
            <p:nvPr/>
          </p:nvSpPr>
          <p:spPr bwMode="auto">
            <a:xfrm>
              <a:off x="2928" y="3568"/>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60" name="Text Box 35"/>
            <p:cNvSpPr txBox="1">
              <a:spLocks noChangeArrowheads="1"/>
            </p:cNvSpPr>
            <p:nvPr/>
          </p:nvSpPr>
          <p:spPr bwMode="auto">
            <a:xfrm>
              <a:off x="2947" y="3552"/>
              <a:ext cx="201"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b="1">
                  <a:solidFill>
                    <a:srgbClr val="0000FF"/>
                  </a:solidFill>
                  <a:latin typeface="隶书" pitchFamily="49" charset="-122"/>
                  <a:ea typeface="隶书" pitchFamily="49" charset="-122"/>
                </a:rPr>
                <a:t>3</a:t>
              </a:r>
              <a:r>
                <a:rPr kumimoji="1" lang="en-US" altLang="zh-CN" b="1">
                  <a:solidFill>
                    <a:srgbClr val="DBF5F9"/>
                  </a:solidFill>
                  <a:latin typeface="隶书" pitchFamily="49" charset="-122"/>
                  <a:ea typeface="隶书" pitchFamily="49" charset="-122"/>
                </a:rPr>
                <a:t> </a:t>
              </a:r>
            </a:p>
          </p:txBody>
        </p:sp>
      </p:grpSp>
      <p:grpSp>
        <p:nvGrpSpPr>
          <p:cNvPr id="61" name="Group 36"/>
          <p:cNvGrpSpPr>
            <a:grpSpLocks/>
          </p:cNvGrpSpPr>
          <p:nvPr/>
        </p:nvGrpSpPr>
        <p:grpSpPr bwMode="auto">
          <a:xfrm>
            <a:off x="4333875" y="4442169"/>
            <a:ext cx="360363" cy="385763"/>
            <a:chOff x="2928" y="3552"/>
            <a:chExt cx="227" cy="243"/>
          </a:xfrm>
        </p:grpSpPr>
        <p:sp>
          <p:nvSpPr>
            <p:cNvPr id="62" name="Oval 37"/>
            <p:cNvSpPr>
              <a:spLocks noChangeArrowheads="1"/>
            </p:cNvSpPr>
            <p:nvPr/>
          </p:nvSpPr>
          <p:spPr bwMode="auto">
            <a:xfrm>
              <a:off x="2928" y="3568"/>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63" name="Text Box 38"/>
            <p:cNvSpPr txBox="1">
              <a:spLocks noChangeArrowheads="1"/>
            </p:cNvSpPr>
            <p:nvPr/>
          </p:nvSpPr>
          <p:spPr bwMode="auto">
            <a:xfrm>
              <a:off x="2947" y="3552"/>
              <a:ext cx="201"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b="1">
                  <a:solidFill>
                    <a:srgbClr val="0000FF"/>
                  </a:solidFill>
                  <a:latin typeface="隶书" pitchFamily="49" charset="-122"/>
                  <a:ea typeface="隶书" pitchFamily="49" charset="-122"/>
                </a:rPr>
                <a:t>8 </a:t>
              </a:r>
            </a:p>
          </p:txBody>
        </p:sp>
      </p:grpSp>
      <p:grpSp>
        <p:nvGrpSpPr>
          <p:cNvPr id="64" name="Group 39"/>
          <p:cNvGrpSpPr>
            <a:grpSpLocks/>
          </p:cNvGrpSpPr>
          <p:nvPr/>
        </p:nvGrpSpPr>
        <p:grpSpPr bwMode="auto">
          <a:xfrm>
            <a:off x="1293813" y="4088156"/>
            <a:ext cx="533400" cy="379413"/>
            <a:chOff x="571" y="2640"/>
            <a:chExt cx="336" cy="239"/>
          </a:xfrm>
        </p:grpSpPr>
        <p:sp>
          <p:nvSpPr>
            <p:cNvPr id="65" name="Oval 40"/>
            <p:cNvSpPr>
              <a:spLocks noChangeArrowheads="1"/>
            </p:cNvSpPr>
            <p:nvPr/>
          </p:nvSpPr>
          <p:spPr bwMode="auto">
            <a:xfrm>
              <a:off x="602" y="2652"/>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66" name="Text Box 41"/>
            <p:cNvSpPr txBox="1">
              <a:spLocks noChangeArrowheads="1"/>
            </p:cNvSpPr>
            <p:nvPr/>
          </p:nvSpPr>
          <p:spPr bwMode="auto">
            <a:xfrm>
              <a:off x="571" y="2640"/>
              <a:ext cx="336"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b="1">
                  <a:solidFill>
                    <a:srgbClr val="0000FF"/>
                  </a:solidFill>
                  <a:latin typeface="隶书" pitchFamily="49" charset="-122"/>
                  <a:ea typeface="隶书" pitchFamily="49" charset="-122"/>
                </a:rPr>
                <a:t>11</a:t>
              </a:r>
            </a:p>
          </p:txBody>
        </p:sp>
      </p:grpSp>
      <p:grpSp>
        <p:nvGrpSpPr>
          <p:cNvPr id="67" name="Group 42"/>
          <p:cNvGrpSpPr>
            <a:grpSpLocks/>
          </p:cNvGrpSpPr>
          <p:nvPr/>
        </p:nvGrpSpPr>
        <p:grpSpPr bwMode="auto">
          <a:xfrm>
            <a:off x="1712913" y="3561106"/>
            <a:ext cx="533400" cy="379413"/>
            <a:chOff x="571" y="2640"/>
            <a:chExt cx="336" cy="239"/>
          </a:xfrm>
        </p:grpSpPr>
        <p:sp>
          <p:nvSpPr>
            <p:cNvPr id="68" name="Oval 43"/>
            <p:cNvSpPr>
              <a:spLocks noChangeArrowheads="1"/>
            </p:cNvSpPr>
            <p:nvPr/>
          </p:nvSpPr>
          <p:spPr bwMode="auto">
            <a:xfrm>
              <a:off x="602" y="2652"/>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69" name="Text Box 44"/>
            <p:cNvSpPr txBox="1">
              <a:spLocks noChangeArrowheads="1"/>
            </p:cNvSpPr>
            <p:nvPr/>
          </p:nvSpPr>
          <p:spPr bwMode="auto">
            <a:xfrm>
              <a:off x="571" y="2640"/>
              <a:ext cx="336"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b="1">
                  <a:solidFill>
                    <a:srgbClr val="0000FF"/>
                  </a:solidFill>
                  <a:latin typeface="隶书" pitchFamily="49" charset="-122"/>
                  <a:ea typeface="隶书" pitchFamily="49" charset="-122"/>
                </a:rPr>
                <a:t>23</a:t>
              </a:r>
            </a:p>
          </p:txBody>
        </p:sp>
      </p:grpSp>
      <p:grpSp>
        <p:nvGrpSpPr>
          <p:cNvPr id="70" name="Group 45"/>
          <p:cNvGrpSpPr>
            <a:grpSpLocks/>
          </p:cNvGrpSpPr>
          <p:nvPr/>
        </p:nvGrpSpPr>
        <p:grpSpPr bwMode="auto">
          <a:xfrm>
            <a:off x="2962275" y="3908768"/>
            <a:ext cx="533400" cy="379413"/>
            <a:chOff x="571" y="2640"/>
            <a:chExt cx="336" cy="239"/>
          </a:xfrm>
        </p:grpSpPr>
        <p:sp>
          <p:nvSpPr>
            <p:cNvPr id="71" name="Oval 46"/>
            <p:cNvSpPr>
              <a:spLocks noChangeArrowheads="1"/>
            </p:cNvSpPr>
            <p:nvPr/>
          </p:nvSpPr>
          <p:spPr bwMode="auto">
            <a:xfrm>
              <a:off x="602" y="2652"/>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72" name="Text Box 47"/>
            <p:cNvSpPr txBox="1">
              <a:spLocks noChangeArrowheads="1"/>
            </p:cNvSpPr>
            <p:nvPr/>
          </p:nvSpPr>
          <p:spPr bwMode="auto">
            <a:xfrm>
              <a:off x="571" y="2640"/>
              <a:ext cx="336"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b="1">
                  <a:solidFill>
                    <a:srgbClr val="0000FF"/>
                  </a:solidFill>
                  <a:latin typeface="隶书" pitchFamily="49" charset="-122"/>
                  <a:ea typeface="隶书" pitchFamily="49" charset="-122"/>
                </a:rPr>
                <a:t>14</a:t>
              </a:r>
            </a:p>
          </p:txBody>
        </p:sp>
      </p:grpSp>
      <p:grpSp>
        <p:nvGrpSpPr>
          <p:cNvPr id="73" name="Group 48"/>
          <p:cNvGrpSpPr>
            <a:grpSpLocks/>
          </p:cNvGrpSpPr>
          <p:nvPr/>
        </p:nvGrpSpPr>
        <p:grpSpPr bwMode="auto">
          <a:xfrm>
            <a:off x="2505075" y="3375368"/>
            <a:ext cx="533400" cy="379413"/>
            <a:chOff x="571" y="2640"/>
            <a:chExt cx="336" cy="239"/>
          </a:xfrm>
        </p:grpSpPr>
        <p:sp>
          <p:nvSpPr>
            <p:cNvPr id="74" name="Oval 49"/>
            <p:cNvSpPr>
              <a:spLocks noChangeArrowheads="1"/>
            </p:cNvSpPr>
            <p:nvPr/>
          </p:nvSpPr>
          <p:spPr bwMode="auto">
            <a:xfrm>
              <a:off x="602" y="2652"/>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b="1">
                <a:solidFill>
                  <a:srgbClr val="D5D2A0"/>
                </a:solidFill>
                <a:latin typeface="隶书" pitchFamily="49" charset="-122"/>
                <a:ea typeface="隶书" pitchFamily="49" charset="-122"/>
              </a:endParaRPr>
            </a:p>
          </p:txBody>
        </p:sp>
        <p:sp>
          <p:nvSpPr>
            <p:cNvPr id="75" name="Text Box 50"/>
            <p:cNvSpPr txBox="1">
              <a:spLocks noChangeArrowheads="1"/>
            </p:cNvSpPr>
            <p:nvPr/>
          </p:nvSpPr>
          <p:spPr bwMode="auto">
            <a:xfrm>
              <a:off x="571" y="2640"/>
              <a:ext cx="336" cy="233"/>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b="1">
                  <a:solidFill>
                    <a:srgbClr val="0000FF"/>
                  </a:solidFill>
                  <a:latin typeface="隶书" pitchFamily="49" charset="-122"/>
                  <a:ea typeface="隶书" pitchFamily="49" charset="-122"/>
                </a:rPr>
                <a:t>29</a:t>
              </a:r>
            </a:p>
          </p:txBody>
        </p:sp>
      </p:grpSp>
      <p:sp>
        <p:nvSpPr>
          <p:cNvPr id="76" name="Rectangle 70"/>
          <p:cNvSpPr>
            <a:spLocks noChangeArrowheads="1"/>
          </p:cNvSpPr>
          <p:nvPr/>
        </p:nvSpPr>
        <p:spPr bwMode="auto">
          <a:xfrm>
            <a:off x="2589542" y="2273637"/>
            <a:ext cx="391454" cy="584775"/>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200" b="1">
                <a:solidFill>
                  <a:srgbClr val="0000FF"/>
                </a:solidFill>
                <a:latin typeface="隶书" pitchFamily="49" charset="-122"/>
                <a:ea typeface="隶书" pitchFamily="49" charset="-122"/>
              </a:rPr>
              <a:t>1</a:t>
            </a:r>
          </a:p>
        </p:txBody>
      </p:sp>
      <p:sp>
        <p:nvSpPr>
          <p:cNvPr id="77" name="Rectangle 73"/>
          <p:cNvSpPr>
            <a:spLocks noChangeArrowheads="1"/>
          </p:cNvSpPr>
          <p:nvPr/>
        </p:nvSpPr>
        <p:spPr bwMode="auto">
          <a:xfrm>
            <a:off x="1292554" y="2265700"/>
            <a:ext cx="391454" cy="584775"/>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200" b="1">
                <a:solidFill>
                  <a:srgbClr val="0000FF"/>
                </a:solidFill>
                <a:latin typeface="隶书" pitchFamily="49" charset="-122"/>
                <a:ea typeface="隶书" pitchFamily="49" charset="-122"/>
              </a:rPr>
              <a:t>0</a:t>
            </a:r>
          </a:p>
        </p:txBody>
      </p:sp>
      <p:sp>
        <p:nvSpPr>
          <p:cNvPr id="78" name="Rectangle 77"/>
          <p:cNvSpPr>
            <a:spLocks noChangeArrowheads="1"/>
          </p:cNvSpPr>
          <p:nvPr/>
        </p:nvSpPr>
        <p:spPr bwMode="auto">
          <a:xfrm>
            <a:off x="128588" y="5257800"/>
            <a:ext cx="7488237" cy="1015663"/>
          </a:xfrm>
          <a:prstGeom prst="rect">
            <a:avLst/>
          </a:prstGeom>
          <a:noFill/>
          <a:ln w="12700" cap="rnd">
            <a:solidFill>
              <a:srgbClr val="04617B"/>
            </a:solidFill>
            <a:miter lim="800000"/>
            <a:headEnd/>
            <a:tailEnd/>
          </a:ln>
        </p:spPr>
        <p:txBody>
          <a:bodyPr>
            <a:spAutoFit/>
          </a:bodyPr>
          <a:lstStyle/>
          <a:p>
            <a:pPr marL="0" marR="0" lvl="0" indent="0" defTabSz="914400" eaLnBrk="0" fontAlgn="base" latinLnBrk="0" hangingPunct="0">
              <a:lnSpc>
                <a:spcPct val="150000"/>
              </a:lnSpc>
              <a:spcBef>
                <a:spcPct val="0"/>
              </a:spcBef>
              <a:spcAft>
                <a:spcPct val="0"/>
              </a:spcAft>
              <a:buClr>
                <a:srgbClr val="0000FF"/>
              </a:buClr>
              <a:buSzTx/>
              <a:buFont typeface="Wingdings" pitchFamily="2" charset="2"/>
              <a:buChar char="Ø"/>
              <a:tabLst/>
              <a:defRPr/>
            </a:pPr>
            <a:r>
              <a:rPr kumimoji="1" lang="zh-CN" altLang="en-US" sz="2000" b="1" i="0" u="none" strike="noStrike" kern="0" cap="none" spc="0" normalizeH="0" baseline="0" noProof="0">
                <a:ln>
                  <a:noFill/>
                </a:ln>
                <a:solidFill>
                  <a:srgbClr val="0000FF"/>
                </a:solidFill>
                <a:effectLst/>
                <a:uLnTx/>
                <a:uFillTx/>
                <a:latin typeface="宋体" pitchFamily="2" charset="-122"/>
                <a:sym typeface="Symbol" pitchFamily="18" charset="2"/>
              </a:rPr>
              <a:t>总编码长度等于</a:t>
            </a:r>
            <a:r>
              <a:rPr kumimoji="1" lang="en-US" altLang="zh-CN" sz="2000" b="1" i="0" u="none" strike="noStrike" kern="0" cap="none" spc="0" normalizeH="0" baseline="0" noProof="0">
                <a:ln>
                  <a:noFill/>
                </a:ln>
                <a:solidFill>
                  <a:srgbClr val="0000FF"/>
                </a:solidFill>
                <a:effectLst/>
                <a:uLnTx/>
                <a:uFillTx/>
                <a:latin typeface="宋体" pitchFamily="2" charset="-122"/>
                <a:sym typeface="Symbol" pitchFamily="18" charset="2"/>
              </a:rPr>
              <a:t>Huffman</a:t>
            </a:r>
            <a:r>
              <a:rPr kumimoji="1" lang="zh-CN" altLang="en-US" sz="2000" b="1" i="0" u="none" strike="noStrike" kern="0" cap="none" spc="0" normalizeH="0" baseline="0" noProof="0">
                <a:ln>
                  <a:noFill/>
                </a:ln>
                <a:solidFill>
                  <a:srgbClr val="0000FF"/>
                </a:solidFill>
                <a:effectLst/>
                <a:uLnTx/>
                <a:uFillTx/>
                <a:latin typeface="宋体" pitchFamily="2" charset="-122"/>
                <a:sym typeface="Symbol" pitchFamily="18" charset="2"/>
              </a:rPr>
              <a:t>树的带权路径长度</a:t>
            </a:r>
            <a:r>
              <a:rPr kumimoji="1" lang="en-US" altLang="zh-CN" sz="2000" b="1" i="0" u="none" strike="noStrike" kern="0" cap="none" spc="0" normalizeH="0" baseline="0" noProof="0">
                <a:ln>
                  <a:noFill/>
                </a:ln>
                <a:solidFill>
                  <a:srgbClr val="0000FF"/>
                </a:solidFill>
                <a:effectLst/>
                <a:uLnTx/>
                <a:uFillTx/>
                <a:latin typeface="宋体" pitchFamily="2" charset="-122"/>
                <a:sym typeface="Symbol" pitchFamily="18" charset="2"/>
              </a:rPr>
              <a:t>WPL</a:t>
            </a:r>
            <a:r>
              <a:rPr kumimoji="1" lang="zh-CN" altLang="en-US" sz="2000" b="1" i="0" u="none" strike="noStrike" kern="0" cap="none" spc="0" normalizeH="0" baseline="0" noProof="0">
                <a:ln>
                  <a:noFill/>
                </a:ln>
                <a:solidFill>
                  <a:srgbClr val="0000FF"/>
                </a:solidFill>
                <a:effectLst/>
                <a:uLnTx/>
                <a:uFillTx/>
                <a:latin typeface="宋体" pitchFamily="2" charset="-122"/>
                <a:sym typeface="Symbol" pitchFamily="18" charset="2"/>
              </a:rPr>
              <a:t>。</a:t>
            </a:r>
          </a:p>
          <a:p>
            <a:pPr marL="0" marR="0" lvl="0" indent="0" defTabSz="914400" eaLnBrk="0" fontAlgn="base" latinLnBrk="0" hangingPunct="0">
              <a:lnSpc>
                <a:spcPct val="150000"/>
              </a:lnSpc>
              <a:spcBef>
                <a:spcPct val="0"/>
              </a:spcBef>
              <a:spcAft>
                <a:spcPct val="0"/>
              </a:spcAft>
              <a:buClr>
                <a:srgbClr val="0000FF"/>
              </a:buClr>
              <a:buSzTx/>
              <a:buFont typeface="Wingdings" pitchFamily="2" charset="2"/>
              <a:buChar char="Ø"/>
              <a:tabLst/>
              <a:defRPr/>
            </a:pPr>
            <a:r>
              <a:rPr kumimoji="1" lang="en-US" altLang="zh-CN" sz="2000" b="1" i="0" u="none" strike="noStrike" kern="0" cap="none" spc="0" normalizeH="0" baseline="0" noProof="0">
                <a:ln>
                  <a:noFill/>
                </a:ln>
                <a:solidFill>
                  <a:srgbClr val="0000FF"/>
                </a:solidFill>
                <a:effectLst/>
                <a:uLnTx/>
                <a:uFillTx/>
                <a:latin typeface="宋体" pitchFamily="2" charset="-122"/>
                <a:sym typeface="Symbol" pitchFamily="18" charset="2"/>
              </a:rPr>
              <a:t>Huffman</a:t>
            </a:r>
            <a:r>
              <a:rPr kumimoji="1" lang="zh-CN" altLang="en-US" sz="2000" b="1" i="0" u="none" strike="noStrike" kern="0" cap="none" spc="0" normalizeH="0" baseline="0" noProof="0">
                <a:ln>
                  <a:noFill/>
                </a:ln>
                <a:solidFill>
                  <a:srgbClr val="0000FF"/>
                </a:solidFill>
                <a:effectLst/>
                <a:uLnTx/>
                <a:uFillTx/>
                <a:latin typeface="宋体" pitchFamily="2" charset="-122"/>
                <a:sym typeface="Symbol" pitchFamily="18" charset="2"/>
              </a:rPr>
              <a:t>编码是一种</a:t>
            </a:r>
            <a:r>
              <a:rPr kumimoji="1" lang="zh-CN" altLang="en-GB" sz="2000" b="1" i="0" u="none" strike="noStrike" kern="0" cap="none" spc="0" normalizeH="0" baseline="0" noProof="0">
                <a:ln>
                  <a:noFill/>
                </a:ln>
                <a:solidFill>
                  <a:srgbClr val="0000FF"/>
                </a:solidFill>
                <a:effectLst/>
                <a:uLnTx/>
                <a:uFillTx/>
                <a:latin typeface="宋体" pitchFamily="2" charset="-122"/>
              </a:rPr>
              <a:t>前缀编码</a:t>
            </a:r>
            <a:r>
              <a:rPr kumimoji="1" lang="zh-CN" altLang="en-US" sz="2000" b="1" i="0" u="none" strike="noStrike" kern="0" cap="none" spc="0" normalizeH="0" baseline="0" noProof="0">
                <a:ln>
                  <a:noFill/>
                </a:ln>
                <a:solidFill>
                  <a:srgbClr val="0000FF"/>
                </a:solidFill>
                <a:effectLst/>
                <a:uLnTx/>
                <a:uFillTx/>
                <a:latin typeface="宋体" pitchFamily="2" charset="-122"/>
              </a:rPr>
              <a:t>。解码时不会混淆。</a:t>
            </a:r>
          </a:p>
        </p:txBody>
      </p:sp>
      <p:sp>
        <p:nvSpPr>
          <p:cNvPr id="79" name="Rectangle 73"/>
          <p:cNvSpPr>
            <a:spLocks noChangeArrowheads="1"/>
          </p:cNvSpPr>
          <p:nvPr/>
        </p:nvSpPr>
        <p:spPr bwMode="auto">
          <a:xfrm>
            <a:off x="892504" y="2849900"/>
            <a:ext cx="391454" cy="584775"/>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200" b="1">
                <a:solidFill>
                  <a:srgbClr val="0000FF"/>
                </a:solidFill>
                <a:latin typeface="隶书" pitchFamily="49" charset="-122"/>
                <a:ea typeface="隶书" pitchFamily="49" charset="-122"/>
              </a:rPr>
              <a:t>0</a:t>
            </a:r>
          </a:p>
        </p:txBody>
      </p:sp>
      <p:sp>
        <p:nvSpPr>
          <p:cNvPr id="80" name="Rectangle 73"/>
          <p:cNvSpPr>
            <a:spLocks noChangeArrowheads="1"/>
          </p:cNvSpPr>
          <p:nvPr/>
        </p:nvSpPr>
        <p:spPr bwMode="auto">
          <a:xfrm>
            <a:off x="463879" y="3492837"/>
            <a:ext cx="391454" cy="584775"/>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200" b="1">
                <a:solidFill>
                  <a:srgbClr val="0000FF"/>
                </a:solidFill>
                <a:latin typeface="隶书" pitchFamily="49" charset="-122"/>
                <a:ea typeface="隶书" pitchFamily="49" charset="-122"/>
              </a:rPr>
              <a:t>0</a:t>
            </a:r>
          </a:p>
        </p:txBody>
      </p:sp>
      <p:sp>
        <p:nvSpPr>
          <p:cNvPr id="81" name="Rectangle 73"/>
          <p:cNvSpPr>
            <a:spLocks noChangeArrowheads="1"/>
          </p:cNvSpPr>
          <p:nvPr/>
        </p:nvSpPr>
        <p:spPr bwMode="auto">
          <a:xfrm>
            <a:off x="35254" y="3921462"/>
            <a:ext cx="391454" cy="584775"/>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200" b="1">
                <a:solidFill>
                  <a:srgbClr val="0000FF"/>
                </a:solidFill>
                <a:latin typeface="隶书" pitchFamily="49" charset="-122"/>
                <a:ea typeface="隶书" pitchFamily="49" charset="-122"/>
              </a:rPr>
              <a:t>0</a:t>
            </a:r>
          </a:p>
        </p:txBody>
      </p:sp>
      <p:sp>
        <p:nvSpPr>
          <p:cNvPr id="82" name="Rectangle 73"/>
          <p:cNvSpPr>
            <a:spLocks noChangeArrowheads="1"/>
          </p:cNvSpPr>
          <p:nvPr/>
        </p:nvSpPr>
        <p:spPr bwMode="auto">
          <a:xfrm>
            <a:off x="2535567" y="2848312"/>
            <a:ext cx="391454" cy="584775"/>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200" b="1">
                <a:solidFill>
                  <a:srgbClr val="0000FF"/>
                </a:solidFill>
                <a:latin typeface="隶书" pitchFamily="49" charset="-122"/>
                <a:ea typeface="隶书" pitchFamily="49" charset="-122"/>
              </a:rPr>
              <a:t>0</a:t>
            </a:r>
          </a:p>
        </p:txBody>
      </p:sp>
      <p:sp>
        <p:nvSpPr>
          <p:cNvPr id="83" name="Rectangle 73"/>
          <p:cNvSpPr>
            <a:spLocks noChangeArrowheads="1"/>
          </p:cNvSpPr>
          <p:nvPr/>
        </p:nvSpPr>
        <p:spPr bwMode="auto">
          <a:xfrm>
            <a:off x="3049917" y="3348375"/>
            <a:ext cx="391454" cy="584775"/>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200" b="1">
                <a:solidFill>
                  <a:srgbClr val="0000FF"/>
                </a:solidFill>
                <a:latin typeface="隶书" pitchFamily="49" charset="-122"/>
                <a:ea typeface="隶书" pitchFamily="49" charset="-122"/>
              </a:rPr>
              <a:t>0</a:t>
            </a:r>
          </a:p>
        </p:txBody>
      </p:sp>
      <p:sp>
        <p:nvSpPr>
          <p:cNvPr id="84" name="Rectangle 73"/>
          <p:cNvSpPr>
            <a:spLocks noChangeArrowheads="1"/>
          </p:cNvSpPr>
          <p:nvPr/>
        </p:nvSpPr>
        <p:spPr bwMode="auto">
          <a:xfrm>
            <a:off x="3549979" y="3848437"/>
            <a:ext cx="391454" cy="584775"/>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200" b="1">
                <a:solidFill>
                  <a:srgbClr val="0000FF"/>
                </a:solidFill>
                <a:latin typeface="隶书" pitchFamily="49" charset="-122"/>
                <a:ea typeface="隶书" pitchFamily="49" charset="-122"/>
              </a:rPr>
              <a:t>0</a:t>
            </a:r>
          </a:p>
        </p:txBody>
      </p:sp>
      <p:sp>
        <p:nvSpPr>
          <p:cNvPr id="85" name="Rectangle 70"/>
          <p:cNvSpPr>
            <a:spLocks noChangeArrowheads="1"/>
          </p:cNvSpPr>
          <p:nvPr/>
        </p:nvSpPr>
        <p:spPr bwMode="auto">
          <a:xfrm>
            <a:off x="3335667" y="2778462"/>
            <a:ext cx="391454" cy="584775"/>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200" b="1">
                <a:solidFill>
                  <a:srgbClr val="0000FF"/>
                </a:solidFill>
                <a:latin typeface="隶书" pitchFamily="49" charset="-122"/>
                <a:ea typeface="隶书" pitchFamily="49" charset="-122"/>
              </a:rPr>
              <a:t>1</a:t>
            </a:r>
          </a:p>
        </p:txBody>
      </p:sp>
      <p:sp>
        <p:nvSpPr>
          <p:cNvPr id="86" name="Rectangle 70"/>
          <p:cNvSpPr>
            <a:spLocks noChangeArrowheads="1"/>
          </p:cNvSpPr>
          <p:nvPr/>
        </p:nvSpPr>
        <p:spPr bwMode="auto">
          <a:xfrm>
            <a:off x="3764292" y="3278525"/>
            <a:ext cx="391454" cy="584775"/>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200" b="1">
                <a:solidFill>
                  <a:srgbClr val="0000FF"/>
                </a:solidFill>
                <a:latin typeface="隶书" pitchFamily="49" charset="-122"/>
                <a:ea typeface="隶书" pitchFamily="49" charset="-122"/>
              </a:rPr>
              <a:t>1</a:t>
            </a:r>
          </a:p>
        </p:txBody>
      </p:sp>
      <p:sp>
        <p:nvSpPr>
          <p:cNvPr id="87" name="Rectangle 70"/>
          <p:cNvSpPr>
            <a:spLocks noChangeArrowheads="1"/>
          </p:cNvSpPr>
          <p:nvPr/>
        </p:nvSpPr>
        <p:spPr bwMode="auto">
          <a:xfrm>
            <a:off x="4335792" y="3848437"/>
            <a:ext cx="391454" cy="584775"/>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200" b="1">
                <a:solidFill>
                  <a:srgbClr val="0000FF"/>
                </a:solidFill>
                <a:latin typeface="隶书" pitchFamily="49" charset="-122"/>
                <a:ea typeface="隶书" pitchFamily="49" charset="-122"/>
              </a:rPr>
              <a:t>1</a:t>
            </a:r>
          </a:p>
        </p:txBody>
      </p:sp>
      <p:sp>
        <p:nvSpPr>
          <p:cNvPr id="88" name="Rectangle 70"/>
          <p:cNvSpPr>
            <a:spLocks noChangeArrowheads="1"/>
          </p:cNvSpPr>
          <p:nvPr/>
        </p:nvSpPr>
        <p:spPr bwMode="auto">
          <a:xfrm>
            <a:off x="1749754" y="2992775"/>
            <a:ext cx="391454" cy="584775"/>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200" b="1">
                <a:solidFill>
                  <a:srgbClr val="0000FF"/>
                </a:solidFill>
                <a:latin typeface="隶书" pitchFamily="49" charset="-122"/>
                <a:ea typeface="隶书" pitchFamily="49" charset="-122"/>
              </a:rPr>
              <a:t>1</a:t>
            </a:r>
          </a:p>
        </p:txBody>
      </p:sp>
      <p:sp>
        <p:nvSpPr>
          <p:cNvPr id="89" name="Rectangle 70"/>
          <p:cNvSpPr>
            <a:spLocks noChangeArrowheads="1"/>
          </p:cNvSpPr>
          <p:nvPr/>
        </p:nvSpPr>
        <p:spPr bwMode="auto">
          <a:xfrm>
            <a:off x="1249692" y="3491250"/>
            <a:ext cx="391454" cy="584775"/>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200" b="1">
                <a:solidFill>
                  <a:srgbClr val="0000FF"/>
                </a:solidFill>
                <a:latin typeface="隶书" pitchFamily="49" charset="-122"/>
                <a:ea typeface="隶书" pitchFamily="49" charset="-122"/>
              </a:rPr>
              <a:t>1</a:t>
            </a:r>
          </a:p>
        </p:txBody>
      </p:sp>
      <p:sp>
        <p:nvSpPr>
          <p:cNvPr id="90" name="Rectangle 70"/>
          <p:cNvSpPr>
            <a:spLocks noChangeArrowheads="1"/>
          </p:cNvSpPr>
          <p:nvPr/>
        </p:nvSpPr>
        <p:spPr bwMode="auto">
          <a:xfrm>
            <a:off x="821067" y="3921462"/>
            <a:ext cx="391454" cy="584775"/>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200" b="1">
                <a:solidFill>
                  <a:srgbClr val="0000FF"/>
                </a:solidFill>
                <a:latin typeface="隶书" pitchFamily="49" charset="-122"/>
                <a:ea typeface="隶书" pitchFamily="49" charset="-122"/>
              </a:rPr>
              <a:t>1</a:t>
            </a:r>
          </a:p>
        </p:txBody>
      </p:sp>
      <p:sp>
        <p:nvSpPr>
          <p:cNvPr id="91" name="流程图: 资料带 90"/>
          <p:cNvSpPr/>
          <p:nvPr/>
        </p:nvSpPr>
        <p:spPr bwMode="auto">
          <a:xfrm>
            <a:off x="3886201" y="2130326"/>
            <a:ext cx="4572000" cy="765274"/>
          </a:xfrm>
          <a:prstGeom prst="flowChartPunchedTape">
            <a:avLst/>
          </a:prstGeom>
          <a:gradFill rotWithShape="1">
            <a:gsLst>
              <a:gs pos="0">
                <a:srgbClr val="008EC4">
                  <a:tint val="50000"/>
                  <a:satMod val="300000"/>
                </a:srgbClr>
              </a:gs>
              <a:gs pos="35000">
                <a:srgbClr val="008EC4">
                  <a:tint val="37000"/>
                  <a:satMod val="300000"/>
                </a:srgbClr>
              </a:gs>
              <a:gs pos="100000">
                <a:srgbClr val="008EC4">
                  <a:tint val="15000"/>
                  <a:satMod val="350000"/>
                </a:srgbClr>
              </a:gs>
            </a:gsLst>
            <a:lin ang="16200000" scaled="1"/>
          </a:gradFill>
          <a:ln w="9525" cap="flat" cmpd="sng" algn="ctr">
            <a:solidFill>
              <a:srgbClr val="008EC4">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squar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a:cs typeface="+mn-cs"/>
              </a:rPr>
              <a:t>Huffman</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a:cs typeface="+mn-cs"/>
              </a:rPr>
              <a:t>编码从上到下编码</a:t>
            </a:r>
          </a:p>
        </p:txBody>
      </p:sp>
    </p:spTree>
    <p:extLst>
      <p:ext uri="{BB962C8B-B14F-4D97-AF65-F5344CB8AC3E}">
        <p14:creationId xmlns:p14="http://schemas.microsoft.com/office/powerpoint/2010/main" val="198798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autoUpdateAnimBg="0"/>
      <p:bldP spid="14" grpId="1" animBg="1"/>
      <p:bldP spid="78" grpId="0" animBg="1"/>
      <p:bldP spid="91" grpId="0" animBg="1"/>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400" b="1" dirty="0"/>
              <a:t>利用二叉树设计前缀编码：</a:t>
            </a:r>
          </a:p>
        </p:txBody>
      </p:sp>
      <p:sp>
        <p:nvSpPr>
          <p:cNvPr id="4" name="日期占位符 3"/>
          <p:cNvSpPr>
            <a:spLocks noGrp="1"/>
          </p:cNvSpPr>
          <p:nvPr>
            <p:ph type="dt" sz="half" idx="10"/>
          </p:nvPr>
        </p:nvSpPr>
        <p:spPr/>
        <p:txBody>
          <a:bodyPr/>
          <a:lstStyle/>
          <a:p>
            <a:fld id="{5B04CC86-4BB3-4656-9F04-FD1698BE7C9B}"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185</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4"/>
          <p:cNvSpPr txBox="1">
            <a:spLocks noChangeArrowheads="1"/>
          </p:cNvSpPr>
          <p:nvPr/>
        </p:nvSpPr>
        <p:spPr bwMode="auto">
          <a:xfrm>
            <a:off x="7162800" y="2971800"/>
            <a:ext cx="1893887" cy="3268663"/>
          </a:xfrm>
          <a:prstGeom prst="rect">
            <a:avLst/>
          </a:prstGeom>
          <a:noFill/>
          <a:ln w="12700" cap="rnd">
            <a:noFill/>
            <a:miter lim="800000"/>
            <a:headEnd/>
            <a:tailEnd/>
          </a:ln>
        </p:spPr>
        <p:txBody>
          <a:bodyPr>
            <a:spAutoFit/>
          </a:bodyPr>
          <a:lstStyle/>
          <a:p>
            <a:pPr eaLnBrk="0" fontAlgn="base" hangingPunct="0">
              <a:spcBef>
                <a:spcPct val="10000"/>
              </a:spcBef>
              <a:spcAft>
                <a:spcPct val="0"/>
              </a:spcAft>
            </a:pPr>
            <a:r>
              <a:rPr kumimoji="1" lang="en-US" altLang="zh-CN" sz="2400" b="1" dirty="0">
                <a:solidFill>
                  <a:srgbClr val="0000FF"/>
                </a:solidFill>
                <a:latin typeface="隶书" pitchFamily="49" charset="-122"/>
                <a:ea typeface="隶书" pitchFamily="49" charset="-122"/>
              </a:rPr>
              <a:t>a: 0110</a:t>
            </a:r>
          </a:p>
          <a:p>
            <a:pPr eaLnBrk="0" fontAlgn="base" hangingPunct="0">
              <a:spcBef>
                <a:spcPct val="10000"/>
              </a:spcBef>
              <a:spcAft>
                <a:spcPct val="0"/>
              </a:spcAft>
            </a:pPr>
            <a:r>
              <a:rPr kumimoji="1" lang="en-US" altLang="zh-CN" sz="2400" b="1" dirty="0">
                <a:solidFill>
                  <a:srgbClr val="0000FF"/>
                </a:solidFill>
                <a:latin typeface="隶书" pitchFamily="49" charset="-122"/>
                <a:ea typeface="隶书" pitchFamily="49" charset="-122"/>
              </a:rPr>
              <a:t>b: 10</a:t>
            </a:r>
          </a:p>
          <a:p>
            <a:pPr eaLnBrk="0" fontAlgn="base" hangingPunct="0">
              <a:spcBef>
                <a:spcPct val="10000"/>
              </a:spcBef>
              <a:spcAft>
                <a:spcPct val="0"/>
              </a:spcAft>
            </a:pPr>
            <a:r>
              <a:rPr kumimoji="1" lang="en-US" altLang="zh-CN" sz="2400" b="1" dirty="0">
                <a:solidFill>
                  <a:srgbClr val="0000FF"/>
                </a:solidFill>
                <a:latin typeface="隶书" pitchFamily="49" charset="-122"/>
                <a:ea typeface="隶书" pitchFamily="49" charset="-122"/>
              </a:rPr>
              <a:t>c: 1110</a:t>
            </a:r>
          </a:p>
          <a:p>
            <a:pPr eaLnBrk="0" fontAlgn="base" hangingPunct="0">
              <a:spcBef>
                <a:spcPct val="10000"/>
              </a:spcBef>
              <a:spcAft>
                <a:spcPct val="0"/>
              </a:spcAft>
            </a:pPr>
            <a:r>
              <a:rPr kumimoji="1" lang="en-US" altLang="zh-CN" sz="2400" b="1" dirty="0">
                <a:solidFill>
                  <a:srgbClr val="0000FF"/>
                </a:solidFill>
                <a:latin typeface="隶书" pitchFamily="49" charset="-122"/>
                <a:ea typeface="隶书" pitchFamily="49" charset="-122"/>
              </a:rPr>
              <a:t>d: 1111</a:t>
            </a:r>
          </a:p>
          <a:p>
            <a:pPr eaLnBrk="0" fontAlgn="base" hangingPunct="0">
              <a:spcBef>
                <a:spcPct val="10000"/>
              </a:spcBef>
              <a:spcAft>
                <a:spcPct val="0"/>
              </a:spcAft>
            </a:pPr>
            <a:r>
              <a:rPr kumimoji="1" lang="en-US" altLang="zh-CN" sz="2400" b="1" dirty="0">
                <a:solidFill>
                  <a:srgbClr val="0000FF"/>
                </a:solidFill>
                <a:latin typeface="隶书" pitchFamily="49" charset="-122"/>
                <a:ea typeface="隶书" pitchFamily="49" charset="-122"/>
              </a:rPr>
              <a:t>e: 110</a:t>
            </a:r>
          </a:p>
          <a:p>
            <a:pPr eaLnBrk="0" fontAlgn="base" hangingPunct="0">
              <a:spcBef>
                <a:spcPct val="10000"/>
              </a:spcBef>
              <a:spcAft>
                <a:spcPct val="0"/>
              </a:spcAft>
            </a:pPr>
            <a:r>
              <a:rPr kumimoji="1" lang="en-US" altLang="zh-CN" sz="2400" b="1" dirty="0">
                <a:solidFill>
                  <a:srgbClr val="0000FF"/>
                </a:solidFill>
                <a:latin typeface="隶书" pitchFamily="49" charset="-122"/>
                <a:ea typeface="隶书" pitchFamily="49" charset="-122"/>
              </a:rPr>
              <a:t>f: 00</a:t>
            </a:r>
          </a:p>
          <a:p>
            <a:pPr eaLnBrk="0" fontAlgn="base" hangingPunct="0">
              <a:spcBef>
                <a:spcPct val="10000"/>
              </a:spcBef>
              <a:spcAft>
                <a:spcPct val="0"/>
              </a:spcAft>
            </a:pPr>
            <a:r>
              <a:rPr kumimoji="1" lang="en-US" altLang="zh-CN" sz="2400" b="1" dirty="0">
                <a:solidFill>
                  <a:srgbClr val="0000FF"/>
                </a:solidFill>
                <a:latin typeface="隶书" pitchFamily="49" charset="-122"/>
                <a:ea typeface="隶书" pitchFamily="49" charset="-122"/>
              </a:rPr>
              <a:t>g: 0111</a:t>
            </a:r>
          </a:p>
          <a:p>
            <a:pPr eaLnBrk="0" fontAlgn="base" hangingPunct="0">
              <a:spcBef>
                <a:spcPct val="10000"/>
              </a:spcBef>
              <a:spcAft>
                <a:spcPct val="0"/>
              </a:spcAft>
            </a:pPr>
            <a:r>
              <a:rPr kumimoji="1" lang="en-US" altLang="zh-CN" sz="2400" b="1" dirty="0">
                <a:solidFill>
                  <a:srgbClr val="0000FF"/>
                </a:solidFill>
                <a:latin typeface="隶书" pitchFamily="49" charset="-122"/>
                <a:ea typeface="隶书" pitchFamily="49" charset="-122"/>
              </a:rPr>
              <a:t>h: 010</a:t>
            </a:r>
          </a:p>
        </p:txBody>
      </p:sp>
      <p:sp>
        <p:nvSpPr>
          <p:cNvPr id="14" name="Rectangle 69"/>
          <p:cNvSpPr>
            <a:spLocks noChangeArrowheads="1"/>
          </p:cNvSpPr>
          <p:nvPr/>
        </p:nvSpPr>
        <p:spPr bwMode="auto">
          <a:xfrm>
            <a:off x="838200" y="1568450"/>
            <a:ext cx="8305800" cy="946150"/>
          </a:xfrm>
          <a:prstGeom prst="rect">
            <a:avLst/>
          </a:prstGeom>
          <a:noFill/>
          <a:ln w="12700" cap="rnd">
            <a:noFill/>
            <a:miter lim="800000"/>
            <a:headEnd/>
            <a:tailEnd/>
          </a:ln>
          <a:effectLst/>
        </p:spPr>
        <p:txBody>
          <a:bodyPr>
            <a:spAutoFit/>
          </a:bodyPr>
          <a:lstStyle/>
          <a:p>
            <a:pPr algn="ctr" eaLnBrk="0" fontAlgn="base" hangingPunct="0">
              <a:spcBef>
                <a:spcPct val="0"/>
              </a:spcBef>
              <a:spcAft>
                <a:spcPct val="0"/>
              </a:spcAft>
              <a:defRPr/>
            </a:pPr>
            <a:r>
              <a:rPr kumimoji="1" lang="en-US" altLang="zh-CN" sz="2800" b="1" dirty="0">
                <a:solidFill>
                  <a:srgbClr val="FFFFA5"/>
                </a:solidFill>
                <a:effectLst>
                  <a:outerShdw blurRad="38100" dist="38100" dir="2700000" algn="tl">
                    <a:srgbClr val="000000"/>
                  </a:outerShdw>
                </a:effectLst>
                <a:latin typeface="隶书" pitchFamily="49" charset="-122"/>
                <a:ea typeface="隶书" pitchFamily="49" charset="-122"/>
              </a:rPr>
              <a:t>          </a:t>
            </a:r>
            <a:r>
              <a:rPr kumimoji="1" lang="en-US" altLang="zh-CN" sz="2800" b="1" dirty="0" err="1">
                <a:solidFill>
                  <a:srgbClr val="000000"/>
                </a:solidFill>
                <a:effectLst>
                  <a:outerShdw blurRad="38100" dist="38100" dir="2700000" algn="tl">
                    <a:srgbClr val="FFFFFF"/>
                  </a:outerShdw>
                </a:effectLst>
                <a:latin typeface="隶书" pitchFamily="49" charset="-122"/>
                <a:ea typeface="隶书" pitchFamily="49" charset="-122"/>
              </a:rPr>
              <a:t>a、b</a:t>
            </a:r>
            <a:r>
              <a:rPr kumimoji="1" lang="en-US" altLang="zh-CN" sz="2800" b="1" dirty="0">
                <a:solidFill>
                  <a:srgbClr val="000000"/>
                </a:solidFill>
                <a:effectLst>
                  <a:outerShdw blurRad="38100" dist="38100" dir="2700000" algn="tl">
                    <a:srgbClr val="FFFFFF"/>
                  </a:outerShdw>
                </a:effectLst>
                <a:latin typeface="隶书" pitchFamily="49" charset="-122"/>
                <a:ea typeface="隶书" pitchFamily="49" charset="-122"/>
              </a:rPr>
              <a:t>、  </a:t>
            </a:r>
            <a:r>
              <a:rPr kumimoji="1" lang="en-US" altLang="zh-CN" sz="2800" b="1" dirty="0" err="1">
                <a:solidFill>
                  <a:srgbClr val="000000"/>
                </a:solidFill>
                <a:effectLst>
                  <a:outerShdw blurRad="38100" dist="38100" dir="2700000" algn="tl">
                    <a:srgbClr val="FFFFFF"/>
                  </a:outerShdw>
                </a:effectLst>
                <a:latin typeface="隶书" pitchFamily="49" charset="-122"/>
                <a:ea typeface="隶书" pitchFamily="49" charset="-122"/>
              </a:rPr>
              <a:t>c、d</a:t>
            </a:r>
            <a:r>
              <a:rPr kumimoji="1" lang="en-US" altLang="zh-CN" sz="2800" b="1" dirty="0">
                <a:solidFill>
                  <a:srgbClr val="000000"/>
                </a:solidFill>
                <a:effectLst>
                  <a:outerShdw blurRad="38100" dist="38100" dir="2700000" algn="tl">
                    <a:srgbClr val="FFFFFF"/>
                  </a:outerShdw>
                </a:effectLst>
                <a:latin typeface="隶书" pitchFamily="49" charset="-122"/>
                <a:ea typeface="隶书" pitchFamily="49" charset="-122"/>
              </a:rPr>
              <a:t>、  e、  f、  g、 h，</a:t>
            </a:r>
          </a:p>
          <a:p>
            <a:pPr algn="ctr" eaLnBrk="0" fontAlgn="base" hangingPunct="0">
              <a:spcBef>
                <a:spcPct val="0"/>
              </a:spcBef>
              <a:spcAft>
                <a:spcPct val="0"/>
              </a:spcAft>
              <a:defRPr/>
            </a:pPr>
            <a:r>
              <a:rPr kumimoji="1" lang="zh-CN" altLang="en-US" sz="2800" b="1" dirty="0">
                <a:solidFill>
                  <a:srgbClr val="000000"/>
                </a:solidFill>
                <a:effectLst>
                  <a:outerShdw blurRad="38100" dist="38100" dir="2700000" algn="tl">
                    <a:srgbClr val="FFFFFF"/>
                  </a:outerShdw>
                </a:effectLst>
                <a:latin typeface="隶书" pitchFamily="49" charset="-122"/>
                <a:ea typeface="隶书" pitchFamily="49" charset="-122"/>
              </a:rPr>
              <a:t>         5、29、 7、 8、 14、  23、 3、11</a:t>
            </a:r>
          </a:p>
        </p:txBody>
      </p:sp>
      <p:grpSp>
        <p:nvGrpSpPr>
          <p:cNvPr id="15" name="Group 76"/>
          <p:cNvGrpSpPr>
            <a:grpSpLocks/>
          </p:cNvGrpSpPr>
          <p:nvPr/>
        </p:nvGrpSpPr>
        <p:grpSpPr bwMode="auto">
          <a:xfrm>
            <a:off x="152400" y="2211388"/>
            <a:ext cx="4627563" cy="2674937"/>
            <a:chOff x="398" y="1706"/>
            <a:chExt cx="2915" cy="1685"/>
          </a:xfrm>
        </p:grpSpPr>
        <p:sp>
          <p:nvSpPr>
            <p:cNvPr id="16" name="Line 51"/>
            <p:cNvSpPr>
              <a:spLocks noChangeShapeType="1"/>
            </p:cNvSpPr>
            <p:nvPr/>
          </p:nvSpPr>
          <p:spPr bwMode="auto">
            <a:xfrm flipH="1">
              <a:off x="878" y="1989"/>
              <a:ext cx="576" cy="240"/>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7" name="Line 52"/>
            <p:cNvSpPr>
              <a:spLocks noChangeShapeType="1"/>
            </p:cNvSpPr>
            <p:nvPr/>
          </p:nvSpPr>
          <p:spPr bwMode="auto">
            <a:xfrm>
              <a:off x="1694" y="1989"/>
              <a:ext cx="528" cy="240"/>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19" name="Line 53"/>
            <p:cNvSpPr>
              <a:spLocks noChangeShapeType="1"/>
            </p:cNvSpPr>
            <p:nvPr/>
          </p:nvSpPr>
          <p:spPr bwMode="auto">
            <a:xfrm flipH="1">
              <a:off x="590" y="2325"/>
              <a:ext cx="190" cy="192"/>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0" name="Line 54"/>
            <p:cNvSpPr>
              <a:spLocks noChangeShapeType="1"/>
            </p:cNvSpPr>
            <p:nvPr/>
          </p:nvSpPr>
          <p:spPr bwMode="auto">
            <a:xfrm>
              <a:off x="878" y="2325"/>
              <a:ext cx="192" cy="192"/>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1" name="Line 55"/>
            <p:cNvSpPr>
              <a:spLocks noChangeShapeType="1"/>
            </p:cNvSpPr>
            <p:nvPr/>
          </p:nvSpPr>
          <p:spPr bwMode="auto">
            <a:xfrm>
              <a:off x="1166" y="2661"/>
              <a:ext cx="192" cy="192"/>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2" name="Line 56"/>
            <p:cNvSpPr>
              <a:spLocks noChangeShapeType="1"/>
            </p:cNvSpPr>
            <p:nvPr/>
          </p:nvSpPr>
          <p:spPr bwMode="auto">
            <a:xfrm>
              <a:off x="1454" y="2997"/>
              <a:ext cx="192" cy="192"/>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3" name="Line 57"/>
            <p:cNvSpPr>
              <a:spLocks noChangeShapeType="1"/>
            </p:cNvSpPr>
            <p:nvPr/>
          </p:nvSpPr>
          <p:spPr bwMode="auto">
            <a:xfrm flipH="1">
              <a:off x="878" y="2661"/>
              <a:ext cx="190" cy="192"/>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4" name="Line 58"/>
            <p:cNvSpPr>
              <a:spLocks noChangeShapeType="1"/>
            </p:cNvSpPr>
            <p:nvPr/>
          </p:nvSpPr>
          <p:spPr bwMode="auto">
            <a:xfrm flipH="1">
              <a:off x="1118" y="2997"/>
              <a:ext cx="190" cy="192"/>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5" name="Line 59"/>
            <p:cNvSpPr>
              <a:spLocks noChangeShapeType="1"/>
            </p:cNvSpPr>
            <p:nvPr/>
          </p:nvSpPr>
          <p:spPr bwMode="auto">
            <a:xfrm>
              <a:off x="2414" y="2325"/>
              <a:ext cx="190" cy="192"/>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6" name="Line 60"/>
            <p:cNvSpPr>
              <a:spLocks noChangeShapeType="1"/>
            </p:cNvSpPr>
            <p:nvPr/>
          </p:nvSpPr>
          <p:spPr bwMode="auto">
            <a:xfrm>
              <a:off x="3038" y="2997"/>
              <a:ext cx="190" cy="192"/>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7" name="Line 61"/>
            <p:cNvSpPr>
              <a:spLocks noChangeShapeType="1"/>
            </p:cNvSpPr>
            <p:nvPr/>
          </p:nvSpPr>
          <p:spPr bwMode="auto">
            <a:xfrm>
              <a:off x="2702" y="2661"/>
              <a:ext cx="190" cy="192"/>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8" name="Line 62"/>
            <p:cNvSpPr>
              <a:spLocks noChangeShapeType="1"/>
            </p:cNvSpPr>
            <p:nvPr/>
          </p:nvSpPr>
          <p:spPr bwMode="auto">
            <a:xfrm flipH="1">
              <a:off x="2078" y="2325"/>
              <a:ext cx="190" cy="192"/>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29" name="Line 63"/>
            <p:cNvSpPr>
              <a:spLocks noChangeShapeType="1"/>
            </p:cNvSpPr>
            <p:nvPr/>
          </p:nvSpPr>
          <p:spPr bwMode="auto">
            <a:xfrm flipH="1">
              <a:off x="2414" y="2661"/>
              <a:ext cx="190" cy="192"/>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sp>
          <p:nvSpPr>
            <p:cNvPr id="30" name="Line 64"/>
            <p:cNvSpPr>
              <a:spLocks noChangeShapeType="1"/>
            </p:cNvSpPr>
            <p:nvPr/>
          </p:nvSpPr>
          <p:spPr bwMode="auto">
            <a:xfrm flipH="1">
              <a:off x="2702" y="2997"/>
              <a:ext cx="190" cy="192"/>
            </a:xfrm>
            <a:prstGeom prst="line">
              <a:avLst/>
            </a:prstGeom>
            <a:noFill/>
            <a:ln w="28575" cap="rnd">
              <a:solidFill>
                <a:srgbClr val="FF3300"/>
              </a:solidFill>
              <a:round/>
              <a:headEnd/>
              <a:tailEnd/>
            </a:ln>
          </p:spPr>
          <p:txBody>
            <a:bodyPr/>
            <a:lstStyle/>
            <a:p>
              <a:pPr algn="ctr" eaLnBrk="0" fontAlgn="base" hangingPunct="0">
                <a:spcBef>
                  <a:spcPct val="0"/>
                </a:spcBef>
                <a:spcAft>
                  <a:spcPct val="0"/>
                </a:spcAft>
              </a:pPr>
              <a:endParaRPr kumimoji="1" lang="zh-CN" altLang="en-US" sz="3200" b="1">
                <a:solidFill>
                  <a:srgbClr val="000000"/>
                </a:solidFill>
                <a:latin typeface="Times New Roman" pitchFamily="18" charset="0"/>
              </a:endParaRPr>
            </a:p>
          </p:txBody>
        </p:sp>
        <p:grpSp>
          <p:nvGrpSpPr>
            <p:cNvPr id="31" name="Group 6"/>
            <p:cNvGrpSpPr>
              <a:grpSpLocks/>
            </p:cNvGrpSpPr>
            <p:nvPr/>
          </p:nvGrpSpPr>
          <p:grpSpPr bwMode="auto">
            <a:xfrm>
              <a:off x="2510" y="2469"/>
              <a:ext cx="336" cy="250"/>
              <a:chOff x="1462" y="2724"/>
              <a:chExt cx="336" cy="250"/>
            </a:xfrm>
          </p:grpSpPr>
          <p:sp>
            <p:nvSpPr>
              <p:cNvPr id="76" name="Oval 7"/>
              <p:cNvSpPr>
                <a:spLocks noChangeArrowheads="1"/>
              </p:cNvSpPr>
              <p:nvPr/>
            </p:nvSpPr>
            <p:spPr bwMode="auto">
              <a:xfrm>
                <a:off x="1488" y="2736"/>
                <a:ext cx="227" cy="227"/>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77" name="Text Box 8"/>
              <p:cNvSpPr txBox="1">
                <a:spLocks noChangeArrowheads="1"/>
              </p:cNvSpPr>
              <p:nvPr/>
            </p:nvSpPr>
            <p:spPr bwMode="auto">
              <a:xfrm>
                <a:off x="1462" y="2724"/>
                <a:ext cx="336"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CC0000"/>
                    </a:solidFill>
                    <a:latin typeface="隶书" pitchFamily="49" charset="-122"/>
                    <a:ea typeface="隶书" pitchFamily="49" charset="-122"/>
                  </a:rPr>
                  <a:t>29</a:t>
                </a:r>
              </a:p>
            </p:txBody>
          </p:sp>
        </p:grpSp>
        <p:grpSp>
          <p:nvGrpSpPr>
            <p:cNvPr id="32" name="Group 9"/>
            <p:cNvGrpSpPr>
              <a:grpSpLocks/>
            </p:cNvGrpSpPr>
            <p:nvPr/>
          </p:nvGrpSpPr>
          <p:grpSpPr bwMode="auto">
            <a:xfrm>
              <a:off x="974" y="2469"/>
              <a:ext cx="336" cy="250"/>
              <a:chOff x="1462" y="2724"/>
              <a:chExt cx="336" cy="250"/>
            </a:xfrm>
          </p:grpSpPr>
          <p:sp>
            <p:nvSpPr>
              <p:cNvPr id="74" name="Oval 10"/>
              <p:cNvSpPr>
                <a:spLocks noChangeArrowheads="1"/>
              </p:cNvSpPr>
              <p:nvPr/>
            </p:nvSpPr>
            <p:spPr bwMode="auto">
              <a:xfrm>
                <a:off x="1488" y="2736"/>
                <a:ext cx="227" cy="227"/>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75" name="Text Box 11"/>
              <p:cNvSpPr txBox="1">
                <a:spLocks noChangeArrowheads="1"/>
              </p:cNvSpPr>
              <p:nvPr/>
            </p:nvSpPr>
            <p:spPr bwMode="auto">
              <a:xfrm>
                <a:off x="1462" y="2724"/>
                <a:ext cx="336"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CC0000"/>
                    </a:solidFill>
                    <a:latin typeface="隶书" pitchFamily="49" charset="-122"/>
                    <a:ea typeface="隶书" pitchFamily="49" charset="-122"/>
                  </a:rPr>
                  <a:t>19</a:t>
                </a:r>
              </a:p>
            </p:txBody>
          </p:sp>
        </p:grpSp>
        <p:grpSp>
          <p:nvGrpSpPr>
            <p:cNvPr id="33" name="Group 12"/>
            <p:cNvGrpSpPr>
              <a:grpSpLocks/>
            </p:cNvGrpSpPr>
            <p:nvPr/>
          </p:nvGrpSpPr>
          <p:grpSpPr bwMode="auto">
            <a:xfrm>
              <a:off x="2174" y="2133"/>
              <a:ext cx="336" cy="250"/>
              <a:chOff x="1462" y="2724"/>
              <a:chExt cx="336" cy="250"/>
            </a:xfrm>
          </p:grpSpPr>
          <p:sp>
            <p:nvSpPr>
              <p:cNvPr id="72" name="Oval 13"/>
              <p:cNvSpPr>
                <a:spLocks noChangeArrowheads="1"/>
              </p:cNvSpPr>
              <p:nvPr/>
            </p:nvSpPr>
            <p:spPr bwMode="auto">
              <a:xfrm>
                <a:off x="1488" y="2736"/>
                <a:ext cx="227" cy="227"/>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73" name="Text Box 14"/>
              <p:cNvSpPr txBox="1">
                <a:spLocks noChangeArrowheads="1"/>
              </p:cNvSpPr>
              <p:nvPr/>
            </p:nvSpPr>
            <p:spPr bwMode="auto">
              <a:xfrm>
                <a:off x="1462" y="2724"/>
                <a:ext cx="336"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CC0000"/>
                    </a:solidFill>
                    <a:latin typeface="隶书" pitchFamily="49" charset="-122"/>
                    <a:ea typeface="隶书" pitchFamily="49" charset="-122"/>
                  </a:rPr>
                  <a:t>58</a:t>
                </a:r>
              </a:p>
            </p:txBody>
          </p:sp>
        </p:grpSp>
        <p:grpSp>
          <p:nvGrpSpPr>
            <p:cNvPr id="34" name="Group 15"/>
            <p:cNvGrpSpPr>
              <a:grpSpLocks/>
            </p:cNvGrpSpPr>
            <p:nvPr/>
          </p:nvGrpSpPr>
          <p:grpSpPr bwMode="auto">
            <a:xfrm>
              <a:off x="683" y="2133"/>
              <a:ext cx="336" cy="250"/>
              <a:chOff x="1462" y="2724"/>
              <a:chExt cx="336" cy="250"/>
            </a:xfrm>
          </p:grpSpPr>
          <p:sp>
            <p:nvSpPr>
              <p:cNvPr id="70" name="Oval 16"/>
              <p:cNvSpPr>
                <a:spLocks noChangeArrowheads="1"/>
              </p:cNvSpPr>
              <p:nvPr/>
            </p:nvSpPr>
            <p:spPr bwMode="auto">
              <a:xfrm>
                <a:off x="1488" y="2736"/>
                <a:ext cx="227" cy="227"/>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71" name="Text Box 17"/>
              <p:cNvSpPr txBox="1">
                <a:spLocks noChangeArrowheads="1"/>
              </p:cNvSpPr>
              <p:nvPr/>
            </p:nvSpPr>
            <p:spPr bwMode="auto">
              <a:xfrm>
                <a:off x="1462" y="2724"/>
                <a:ext cx="336"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CC0000"/>
                    </a:solidFill>
                    <a:latin typeface="隶书" pitchFamily="49" charset="-122"/>
                    <a:ea typeface="隶书" pitchFamily="49" charset="-122"/>
                  </a:rPr>
                  <a:t>42</a:t>
                </a:r>
              </a:p>
            </p:txBody>
          </p:sp>
        </p:grpSp>
        <p:grpSp>
          <p:nvGrpSpPr>
            <p:cNvPr id="35" name="Group 18"/>
            <p:cNvGrpSpPr>
              <a:grpSpLocks/>
            </p:cNvGrpSpPr>
            <p:nvPr/>
          </p:nvGrpSpPr>
          <p:grpSpPr bwMode="auto">
            <a:xfrm>
              <a:off x="1379" y="1797"/>
              <a:ext cx="528" cy="261"/>
              <a:chOff x="2999" y="1344"/>
              <a:chExt cx="528" cy="261"/>
            </a:xfrm>
          </p:grpSpPr>
          <p:sp>
            <p:nvSpPr>
              <p:cNvPr id="68" name="Oval 19"/>
              <p:cNvSpPr>
                <a:spLocks noChangeArrowheads="1"/>
              </p:cNvSpPr>
              <p:nvPr/>
            </p:nvSpPr>
            <p:spPr bwMode="auto">
              <a:xfrm>
                <a:off x="3050" y="1356"/>
                <a:ext cx="272" cy="249"/>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9" name="Text Box 20"/>
              <p:cNvSpPr txBox="1">
                <a:spLocks noChangeArrowheads="1"/>
              </p:cNvSpPr>
              <p:nvPr/>
            </p:nvSpPr>
            <p:spPr bwMode="auto">
              <a:xfrm>
                <a:off x="2999" y="1344"/>
                <a:ext cx="528"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CC0000"/>
                    </a:solidFill>
                    <a:latin typeface="隶书" pitchFamily="49" charset="-122"/>
                    <a:ea typeface="隶书" pitchFamily="49" charset="-122"/>
                  </a:rPr>
                  <a:t>100</a:t>
                </a:r>
              </a:p>
            </p:txBody>
          </p:sp>
        </p:grpSp>
        <p:grpSp>
          <p:nvGrpSpPr>
            <p:cNvPr id="36" name="Group 21"/>
            <p:cNvGrpSpPr>
              <a:grpSpLocks/>
            </p:cNvGrpSpPr>
            <p:nvPr/>
          </p:nvGrpSpPr>
          <p:grpSpPr bwMode="auto">
            <a:xfrm>
              <a:off x="2798" y="2805"/>
              <a:ext cx="336" cy="250"/>
              <a:chOff x="1462" y="2724"/>
              <a:chExt cx="336" cy="250"/>
            </a:xfrm>
          </p:grpSpPr>
          <p:sp>
            <p:nvSpPr>
              <p:cNvPr id="66" name="Oval 22"/>
              <p:cNvSpPr>
                <a:spLocks noChangeArrowheads="1"/>
              </p:cNvSpPr>
              <p:nvPr/>
            </p:nvSpPr>
            <p:spPr bwMode="auto">
              <a:xfrm>
                <a:off x="1488" y="2736"/>
                <a:ext cx="227" cy="227"/>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7" name="Text Box 23"/>
              <p:cNvSpPr txBox="1">
                <a:spLocks noChangeArrowheads="1"/>
              </p:cNvSpPr>
              <p:nvPr/>
            </p:nvSpPr>
            <p:spPr bwMode="auto">
              <a:xfrm>
                <a:off x="1462" y="2724"/>
                <a:ext cx="336"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CC0000"/>
                    </a:solidFill>
                    <a:latin typeface="隶书" pitchFamily="49" charset="-122"/>
                    <a:ea typeface="隶书" pitchFamily="49" charset="-122"/>
                  </a:rPr>
                  <a:t>15</a:t>
                </a:r>
              </a:p>
            </p:txBody>
          </p:sp>
        </p:grpSp>
        <p:grpSp>
          <p:nvGrpSpPr>
            <p:cNvPr id="37" name="Group 24"/>
            <p:cNvGrpSpPr>
              <a:grpSpLocks/>
            </p:cNvGrpSpPr>
            <p:nvPr/>
          </p:nvGrpSpPr>
          <p:grpSpPr bwMode="auto">
            <a:xfrm>
              <a:off x="1262" y="2805"/>
              <a:ext cx="227" cy="250"/>
              <a:chOff x="672" y="2584"/>
              <a:chExt cx="227" cy="250"/>
            </a:xfrm>
          </p:grpSpPr>
          <p:sp>
            <p:nvSpPr>
              <p:cNvPr id="64" name="Oval 25"/>
              <p:cNvSpPr>
                <a:spLocks noChangeArrowheads="1"/>
              </p:cNvSpPr>
              <p:nvPr/>
            </p:nvSpPr>
            <p:spPr bwMode="auto">
              <a:xfrm>
                <a:off x="672" y="2600"/>
                <a:ext cx="227" cy="227"/>
              </a:xfrm>
              <a:prstGeom prst="ellipse">
                <a:avLst/>
              </a:prstGeom>
              <a:solidFill>
                <a:srgbClr val="DBE0B4"/>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5" name="Text Box 26"/>
              <p:cNvSpPr txBox="1">
                <a:spLocks noChangeArrowheads="1"/>
              </p:cNvSpPr>
              <p:nvPr/>
            </p:nvSpPr>
            <p:spPr bwMode="auto">
              <a:xfrm>
                <a:off x="691" y="2584"/>
                <a:ext cx="201"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CC0000"/>
                    </a:solidFill>
                    <a:latin typeface="隶书" pitchFamily="49" charset="-122"/>
                    <a:ea typeface="隶书" pitchFamily="49" charset="-122"/>
                  </a:rPr>
                  <a:t>8</a:t>
                </a:r>
                <a:r>
                  <a:rPr kumimoji="1" lang="zh-CN" altLang="en-US" sz="2000" b="1">
                    <a:solidFill>
                      <a:srgbClr val="DBF5F9"/>
                    </a:solidFill>
                    <a:latin typeface="隶书" pitchFamily="49" charset="-122"/>
                    <a:ea typeface="隶书" pitchFamily="49" charset="-122"/>
                  </a:rPr>
                  <a:t> </a:t>
                </a:r>
              </a:p>
            </p:txBody>
          </p:sp>
        </p:grpSp>
        <p:grpSp>
          <p:nvGrpSpPr>
            <p:cNvPr id="38" name="Group 27"/>
            <p:cNvGrpSpPr>
              <a:grpSpLocks/>
            </p:cNvGrpSpPr>
            <p:nvPr/>
          </p:nvGrpSpPr>
          <p:grpSpPr bwMode="auto">
            <a:xfrm>
              <a:off x="2558" y="3141"/>
              <a:ext cx="227" cy="250"/>
              <a:chOff x="2928" y="3552"/>
              <a:chExt cx="227" cy="250"/>
            </a:xfrm>
          </p:grpSpPr>
          <p:sp>
            <p:nvSpPr>
              <p:cNvPr id="62" name="Oval 28"/>
              <p:cNvSpPr>
                <a:spLocks noChangeArrowheads="1"/>
              </p:cNvSpPr>
              <p:nvPr/>
            </p:nvSpPr>
            <p:spPr bwMode="auto">
              <a:xfrm>
                <a:off x="2928" y="3568"/>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3" name="Text Box 29"/>
              <p:cNvSpPr txBox="1">
                <a:spLocks noChangeArrowheads="1"/>
              </p:cNvSpPr>
              <p:nvPr/>
            </p:nvSpPr>
            <p:spPr bwMode="auto">
              <a:xfrm>
                <a:off x="2947" y="3552"/>
                <a:ext cx="201"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7 </a:t>
                </a:r>
              </a:p>
            </p:txBody>
          </p:sp>
        </p:grpSp>
        <p:grpSp>
          <p:nvGrpSpPr>
            <p:cNvPr id="39" name="Group 30"/>
            <p:cNvGrpSpPr>
              <a:grpSpLocks/>
            </p:cNvGrpSpPr>
            <p:nvPr/>
          </p:nvGrpSpPr>
          <p:grpSpPr bwMode="auto">
            <a:xfrm>
              <a:off x="1502" y="3141"/>
              <a:ext cx="227" cy="250"/>
              <a:chOff x="2928" y="3552"/>
              <a:chExt cx="227" cy="250"/>
            </a:xfrm>
          </p:grpSpPr>
          <p:sp>
            <p:nvSpPr>
              <p:cNvPr id="60" name="Oval 31"/>
              <p:cNvSpPr>
                <a:spLocks noChangeArrowheads="1"/>
              </p:cNvSpPr>
              <p:nvPr/>
            </p:nvSpPr>
            <p:spPr bwMode="auto">
              <a:xfrm>
                <a:off x="2928" y="3568"/>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61" name="Text Box 32"/>
              <p:cNvSpPr txBox="1">
                <a:spLocks noChangeArrowheads="1"/>
              </p:cNvSpPr>
              <p:nvPr/>
            </p:nvSpPr>
            <p:spPr bwMode="auto">
              <a:xfrm>
                <a:off x="2947" y="3552"/>
                <a:ext cx="201"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3 </a:t>
                </a:r>
              </a:p>
            </p:txBody>
          </p:sp>
        </p:grpSp>
        <p:grpSp>
          <p:nvGrpSpPr>
            <p:cNvPr id="40" name="Group 33"/>
            <p:cNvGrpSpPr>
              <a:grpSpLocks/>
            </p:cNvGrpSpPr>
            <p:nvPr/>
          </p:nvGrpSpPr>
          <p:grpSpPr bwMode="auto">
            <a:xfrm>
              <a:off x="1022" y="3141"/>
              <a:ext cx="227" cy="250"/>
              <a:chOff x="2928" y="3552"/>
              <a:chExt cx="227" cy="250"/>
            </a:xfrm>
          </p:grpSpPr>
          <p:sp>
            <p:nvSpPr>
              <p:cNvPr id="58" name="Oval 34"/>
              <p:cNvSpPr>
                <a:spLocks noChangeArrowheads="1"/>
              </p:cNvSpPr>
              <p:nvPr/>
            </p:nvSpPr>
            <p:spPr bwMode="auto">
              <a:xfrm>
                <a:off x="2928" y="3568"/>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9" name="Text Box 35"/>
              <p:cNvSpPr txBox="1">
                <a:spLocks noChangeArrowheads="1"/>
              </p:cNvSpPr>
              <p:nvPr/>
            </p:nvSpPr>
            <p:spPr bwMode="auto">
              <a:xfrm>
                <a:off x="2947" y="3552"/>
                <a:ext cx="201"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en-US" altLang="zh-CN" sz="2000" b="1">
                    <a:solidFill>
                      <a:srgbClr val="0000FF"/>
                    </a:solidFill>
                    <a:latin typeface="隶书" pitchFamily="49" charset="-122"/>
                    <a:ea typeface="隶书" pitchFamily="49" charset="-122"/>
                  </a:rPr>
                  <a:t>5</a:t>
                </a:r>
                <a:r>
                  <a:rPr kumimoji="1" lang="en-US" altLang="zh-CN" sz="2000" b="1">
                    <a:solidFill>
                      <a:srgbClr val="DBF5F9"/>
                    </a:solidFill>
                    <a:latin typeface="隶书" pitchFamily="49" charset="-122"/>
                    <a:ea typeface="隶书" pitchFamily="49" charset="-122"/>
                  </a:rPr>
                  <a:t> </a:t>
                </a:r>
              </a:p>
            </p:txBody>
          </p:sp>
        </p:grpSp>
        <p:grpSp>
          <p:nvGrpSpPr>
            <p:cNvPr id="41" name="Group 36"/>
            <p:cNvGrpSpPr>
              <a:grpSpLocks/>
            </p:cNvGrpSpPr>
            <p:nvPr/>
          </p:nvGrpSpPr>
          <p:grpSpPr bwMode="auto">
            <a:xfrm>
              <a:off x="3086" y="3141"/>
              <a:ext cx="227" cy="250"/>
              <a:chOff x="2928" y="3552"/>
              <a:chExt cx="227" cy="250"/>
            </a:xfrm>
          </p:grpSpPr>
          <p:sp>
            <p:nvSpPr>
              <p:cNvPr id="56" name="Oval 37"/>
              <p:cNvSpPr>
                <a:spLocks noChangeArrowheads="1"/>
              </p:cNvSpPr>
              <p:nvPr/>
            </p:nvSpPr>
            <p:spPr bwMode="auto">
              <a:xfrm>
                <a:off x="2928" y="3568"/>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7" name="Text Box 38"/>
              <p:cNvSpPr txBox="1">
                <a:spLocks noChangeArrowheads="1"/>
              </p:cNvSpPr>
              <p:nvPr/>
            </p:nvSpPr>
            <p:spPr bwMode="auto">
              <a:xfrm>
                <a:off x="2947" y="3552"/>
                <a:ext cx="201"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8 </a:t>
                </a:r>
              </a:p>
            </p:txBody>
          </p:sp>
        </p:grpSp>
        <p:grpSp>
          <p:nvGrpSpPr>
            <p:cNvPr id="42" name="Group 39"/>
            <p:cNvGrpSpPr>
              <a:grpSpLocks/>
            </p:cNvGrpSpPr>
            <p:nvPr/>
          </p:nvGrpSpPr>
          <p:grpSpPr bwMode="auto">
            <a:xfrm>
              <a:off x="686" y="2805"/>
              <a:ext cx="336" cy="250"/>
              <a:chOff x="571" y="2640"/>
              <a:chExt cx="336" cy="250"/>
            </a:xfrm>
          </p:grpSpPr>
          <p:sp>
            <p:nvSpPr>
              <p:cNvPr id="54" name="Oval 40"/>
              <p:cNvSpPr>
                <a:spLocks noChangeArrowheads="1"/>
              </p:cNvSpPr>
              <p:nvPr/>
            </p:nvSpPr>
            <p:spPr bwMode="auto">
              <a:xfrm>
                <a:off x="602" y="2652"/>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5" name="Text Box 41"/>
              <p:cNvSpPr txBox="1">
                <a:spLocks noChangeArrowheads="1"/>
              </p:cNvSpPr>
              <p:nvPr/>
            </p:nvSpPr>
            <p:spPr bwMode="auto">
              <a:xfrm>
                <a:off x="571" y="2640"/>
                <a:ext cx="336"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11</a:t>
                </a:r>
              </a:p>
            </p:txBody>
          </p:sp>
        </p:grpSp>
        <p:grpSp>
          <p:nvGrpSpPr>
            <p:cNvPr id="43" name="Group 42"/>
            <p:cNvGrpSpPr>
              <a:grpSpLocks/>
            </p:cNvGrpSpPr>
            <p:nvPr/>
          </p:nvGrpSpPr>
          <p:grpSpPr bwMode="auto">
            <a:xfrm>
              <a:off x="398" y="2469"/>
              <a:ext cx="336" cy="250"/>
              <a:chOff x="571" y="2640"/>
              <a:chExt cx="336" cy="250"/>
            </a:xfrm>
          </p:grpSpPr>
          <p:sp>
            <p:nvSpPr>
              <p:cNvPr id="52" name="Oval 43"/>
              <p:cNvSpPr>
                <a:spLocks noChangeArrowheads="1"/>
              </p:cNvSpPr>
              <p:nvPr/>
            </p:nvSpPr>
            <p:spPr bwMode="auto">
              <a:xfrm>
                <a:off x="602" y="2652"/>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3" name="Text Box 44"/>
              <p:cNvSpPr txBox="1">
                <a:spLocks noChangeArrowheads="1"/>
              </p:cNvSpPr>
              <p:nvPr/>
            </p:nvSpPr>
            <p:spPr bwMode="auto">
              <a:xfrm>
                <a:off x="571" y="2640"/>
                <a:ext cx="336"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23</a:t>
                </a:r>
              </a:p>
            </p:txBody>
          </p:sp>
        </p:grpSp>
        <p:grpSp>
          <p:nvGrpSpPr>
            <p:cNvPr id="44" name="Group 45"/>
            <p:cNvGrpSpPr>
              <a:grpSpLocks/>
            </p:cNvGrpSpPr>
            <p:nvPr/>
          </p:nvGrpSpPr>
          <p:grpSpPr bwMode="auto">
            <a:xfrm>
              <a:off x="2222" y="2805"/>
              <a:ext cx="336" cy="250"/>
              <a:chOff x="571" y="2640"/>
              <a:chExt cx="336" cy="250"/>
            </a:xfrm>
          </p:grpSpPr>
          <p:sp>
            <p:nvSpPr>
              <p:cNvPr id="50" name="Oval 46"/>
              <p:cNvSpPr>
                <a:spLocks noChangeArrowheads="1"/>
              </p:cNvSpPr>
              <p:nvPr/>
            </p:nvSpPr>
            <p:spPr bwMode="auto">
              <a:xfrm>
                <a:off x="602" y="2652"/>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51" name="Text Box 47"/>
              <p:cNvSpPr txBox="1">
                <a:spLocks noChangeArrowheads="1"/>
              </p:cNvSpPr>
              <p:nvPr/>
            </p:nvSpPr>
            <p:spPr bwMode="auto">
              <a:xfrm>
                <a:off x="571" y="2640"/>
                <a:ext cx="336"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14</a:t>
                </a:r>
              </a:p>
            </p:txBody>
          </p:sp>
        </p:grpSp>
        <p:grpSp>
          <p:nvGrpSpPr>
            <p:cNvPr id="45" name="Group 48"/>
            <p:cNvGrpSpPr>
              <a:grpSpLocks/>
            </p:cNvGrpSpPr>
            <p:nvPr/>
          </p:nvGrpSpPr>
          <p:grpSpPr bwMode="auto">
            <a:xfrm>
              <a:off x="1934" y="2469"/>
              <a:ext cx="336" cy="250"/>
              <a:chOff x="571" y="2640"/>
              <a:chExt cx="336" cy="250"/>
            </a:xfrm>
          </p:grpSpPr>
          <p:sp>
            <p:nvSpPr>
              <p:cNvPr id="48" name="Oval 49"/>
              <p:cNvSpPr>
                <a:spLocks noChangeArrowheads="1"/>
              </p:cNvSpPr>
              <p:nvPr/>
            </p:nvSpPr>
            <p:spPr bwMode="auto">
              <a:xfrm>
                <a:off x="602" y="2652"/>
                <a:ext cx="227" cy="227"/>
              </a:xfrm>
              <a:prstGeom prst="ellipse">
                <a:avLst/>
              </a:prstGeom>
              <a:solidFill>
                <a:srgbClr val="FFFFA5"/>
              </a:solidFill>
              <a:ln w="12700" cap="rnd">
                <a:solidFill>
                  <a:srgbClr val="000000"/>
                </a:solidFill>
                <a:round/>
                <a:headEnd/>
                <a:tailEnd/>
              </a:ln>
            </p:spPr>
            <p:txBody>
              <a:bodyPr wrap="none" anchor="ctr"/>
              <a:lstStyle/>
              <a:p>
                <a:pPr algn="ctr" eaLnBrk="0" fontAlgn="base" hangingPunct="0">
                  <a:spcBef>
                    <a:spcPct val="0"/>
                  </a:spcBef>
                  <a:spcAft>
                    <a:spcPct val="0"/>
                  </a:spcAft>
                </a:pPr>
                <a:endParaRPr kumimoji="1" lang="zh-CN" altLang="en-US" sz="2000" b="1">
                  <a:solidFill>
                    <a:srgbClr val="D5D2A0"/>
                  </a:solidFill>
                  <a:latin typeface="隶书" pitchFamily="49" charset="-122"/>
                  <a:ea typeface="隶书" pitchFamily="49" charset="-122"/>
                </a:endParaRPr>
              </a:p>
            </p:txBody>
          </p:sp>
          <p:sp>
            <p:nvSpPr>
              <p:cNvPr id="49" name="Text Box 50"/>
              <p:cNvSpPr txBox="1">
                <a:spLocks noChangeArrowheads="1"/>
              </p:cNvSpPr>
              <p:nvPr/>
            </p:nvSpPr>
            <p:spPr bwMode="auto">
              <a:xfrm>
                <a:off x="571" y="2640"/>
                <a:ext cx="336" cy="250"/>
              </a:xfrm>
              <a:prstGeom prst="rect">
                <a:avLst/>
              </a:prstGeom>
              <a:noFill/>
              <a:ln w="12700" cap="rnd">
                <a:noFill/>
                <a:miter lim="800000"/>
                <a:headEnd/>
                <a:tailEnd/>
              </a:ln>
            </p:spPr>
            <p:txBody>
              <a:bodyPr>
                <a:spAutoFit/>
              </a:bodyPr>
              <a:lstStyle/>
              <a:p>
                <a:pPr eaLnBrk="0" fontAlgn="base" hangingPunct="0">
                  <a:spcBef>
                    <a:spcPct val="50000"/>
                  </a:spcBef>
                  <a:spcAft>
                    <a:spcPct val="0"/>
                  </a:spcAft>
                </a:pPr>
                <a:r>
                  <a:rPr kumimoji="1" lang="zh-CN" altLang="en-US" sz="2000" b="1">
                    <a:solidFill>
                      <a:srgbClr val="0000FF"/>
                    </a:solidFill>
                    <a:latin typeface="隶书" pitchFamily="49" charset="-122"/>
                    <a:ea typeface="隶书" pitchFamily="49" charset="-122"/>
                  </a:rPr>
                  <a:t>29</a:t>
                </a:r>
              </a:p>
            </p:txBody>
          </p:sp>
        </p:grpSp>
        <p:sp>
          <p:nvSpPr>
            <p:cNvPr id="46" name="Rectangle 70"/>
            <p:cNvSpPr>
              <a:spLocks noChangeArrowheads="1"/>
            </p:cNvSpPr>
            <p:nvPr/>
          </p:nvSpPr>
          <p:spPr bwMode="auto">
            <a:xfrm>
              <a:off x="1850" y="1711"/>
              <a:ext cx="261" cy="404"/>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600" b="1">
                  <a:solidFill>
                    <a:srgbClr val="0000FF"/>
                  </a:solidFill>
                  <a:latin typeface="隶书" pitchFamily="49" charset="-122"/>
                  <a:ea typeface="隶书" pitchFamily="49" charset="-122"/>
                </a:rPr>
                <a:t>1</a:t>
              </a:r>
            </a:p>
          </p:txBody>
        </p:sp>
        <p:sp>
          <p:nvSpPr>
            <p:cNvPr id="47" name="Rectangle 73"/>
            <p:cNvSpPr>
              <a:spLocks noChangeArrowheads="1"/>
            </p:cNvSpPr>
            <p:nvPr/>
          </p:nvSpPr>
          <p:spPr bwMode="auto">
            <a:xfrm>
              <a:off x="1033" y="1706"/>
              <a:ext cx="261" cy="404"/>
            </a:xfrm>
            <a:prstGeom prst="rect">
              <a:avLst/>
            </a:prstGeom>
            <a:noFill/>
            <a:ln w="12700" cap="rnd">
              <a:noFill/>
              <a:miter lim="800000"/>
              <a:headEnd/>
              <a:tailEnd/>
            </a:ln>
          </p:spPr>
          <p:txBody>
            <a:bodyPr wrap="none">
              <a:spAutoFit/>
            </a:bodyPr>
            <a:lstStyle/>
            <a:p>
              <a:pPr algn="ctr" eaLnBrk="0" fontAlgn="base" hangingPunct="0">
                <a:spcBef>
                  <a:spcPct val="10000"/>
                </a:spcBef>
                <a:spcAft>
                  <a:spcPct val="0"/>
                </a:spcAft>
              </a:pPr>
              <a:r>
                <a:rPr kumimoji="1" lang="en-US" altLang="zh-CN" sz="3600" b="1">
                  <a:solidFill>
                    <a:srgbClr val="0000FF"/>
                  </a:solidFill>
                  <a:latin typeface="隶书" pitchFamily="49" charset="-122"/>
                  <a:ea typeface="隶书" pitchFamily="49" charset="-122"/>
                </a:rPr>
                <a:t>0</a:t>
              </a:r>
            </a:p>
          </p:txBody>
        </p:sp>
      </p:grpSp>
      <p:sp>
        <p:nvSpPr>
          <p:cNvPr id="78" name="Rectangle 77"/>
          <p:cNvSpPr>
            <a:spLocks noChangeArrowheads="1"/>
          </p:cNvSpPr>
          <p:nvPr/>
        </p:nvSpPr>
        <p:spPr bwMode="auto">
          <a:xfrm>
            <a:off x="800100" y="5407025"/>
            <a:ext cx="6048375" cy="836613"/>
          </a:xfrm>
          <a:prstGeom prst="rect">
            <a:avLst/>
          </a:prstGeom>
          <a:noFill/>
          <a:ln w="12700" cap="rnd">
            <a:solidFill>
              <a:srgbClr val="04617B"/>
            </a:solidFill>
            <a:miter lim="800000"/>
            <a:headEnd/>
            <a:tailEnd/>
          </a:ln>
        </p:spPr>
        <p:txBody>
          <a:bodyPr>
            <a:spAutoFit/>
          </a:bodyPr>
          <a:lstStyle/>
          <a:p>
            <a:pPr marL="0" marR="0" lvl="0" indent="0" defTabSz="914400" eaLnBrk="0" fontAlgn="base" latinLnBrk="0" hangingPunct="0">
              <a:lnSpc>
                <a:spcPct val="150000"/>
              </a:lnSpc>
              <a:spcBef>
                <a:spcPct val="0"/>
              </a:spcBef>
              <a:spcAft>
                <a:spcPct val="0"/>
              </a:spcAft>
              <a:buClr>
                <a:srgbClr val="0000FF"/>
              </a:buClr>
              <a:buSzTx/>
              <a:buFont typeface="Wingdings" pitchFamily="2" charset="2"/>
              <a:buNone/>
              <a:tabLst/>
              <a:defRPr/>
            </a:pPr>
            <a:r>
              <a:rPr kumimoji="1" lang="zh-CN" altLang="en-US" sz="3200" b="1" i="0" u="none" strike="noStrike" kern="0" cap="none" spc="0" normalizeH="0" baseline="0" noProof="0">
                <a:ln>
                  <a:noFill/>
                </a:ln>
                <a:solidFill>
                  <a:srgbClr val="FF0000"/>
                </a:solidFill>
                <a:effectLst/>
                <a:uLnTx/>
                <a:uFillTx/>
                <a:latin typeface="宋体" pitchFamily="2" charset="-122"/>
                <a:sym typeface="Symbol" pitchFamily="18" charset="2"/>
              </a:rPr>
              <a:t>不同的规则获得的编码是不同的</a:t>
            </a:r>
            <a:endParaRPr kumimoji="1" lang="zh-CN" altLang="en-US" sz="3200" b="1" i="0" u="none" strike="noStrike" kern="0" cap="none" spc="0" normalizeH="0" baseline="0" noProof="0">
              <a:ln>
                <a:noFill/>
              </a:ln>
              <a:solidFill>
                <a:srgbClr val="FF0000"/>
              </a:solidFill>
              <a:effectLst/>
              <a:uLnTx/>
              <a:uFillTx/>
              <a:latin typeface="宋体" pitchFamily="2" charset="-122"/>
            </a:endParaRPr>
          </a:p>
        </p:txBody>
      </p:sp>
    </p:spTree>
    <p:extLst>
      <p:ext uri="{BB962C8B-B14F-4D97-AF65-F5344CB8AC3E}">
        <p14:creationId xmlns:p14="http://schemas.microsoft.com/office/powerpoint/2010/main" val="346230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78" grpId="0" animBg="1"/>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r>
              <a:rPr lang="zh-CN" altLang="en-US" sz="2400" b="1" dirty="0"/>
              <a:t>             编制一个将百分制转换成五分制的程序。可用二叉树描述判定过程。</a:t>
            </a:r>
          </a:p>
        </p:txBody>
      </p:sp>
      <p:sp>
        <p:nvSpPr>
          <p:cNvPr id="4" name="日期占位符 3"/>
          <p:cNvSpPr>
            <a:spLocks noGrp="1"/>
          </p:cNvSpPr>
          <p:nvPr>
            <p:ph type="dt" sz="half" idx="10"/>
          </p:nvPr>
        </p:nvSpPr>
        <p:spPr/>
        <p:txBody>
          <a:bodyPr/>
          <a:lstStyle/>
          <a:p>
            <a:fld id="{BEC7EF5F-16F9-4BA3-BD6C-8C2F66009FD9}"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186</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Oval 43"/>
          <p:cNvSpPr>
            <a:spLocks noChangeArrowheads="1"/>
          </p:cNvSpPr>
          <p:nvPr/>
        </p:nvSpPr>
        <p:spPr bwMode="auto">
          <a:xfrm>
            <a:off x="533400" y="1295400"/>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800" b="1" dirty="0">
                <a:solidFill>
                  <a:srgbClr val="000000"/>
                </a:solidFill>
                <a:latin typeface="Times New Roman" pitchFamily="18" charset="0"/>
              </a:rPr>
              <a:t>例</a:t>
            </a:r>
          </a:p>
        </p:txBody>
      </p:sp>
      <p:grpSp>
        <p:nvGrpSpPr>
          <p:cNvPr id="14" name="Group 4"/>
          <p:cNvGrpSpPr>
            <a:grpSpLocks/>
          </p:cNvGrpSpPr>
          <p:nvPr/>
        </p:nvGrpSpPr>
        <p:grpSpPr bwMode="auto">
          <a:xfrm>
            <a:off x="2576513" y="2144713"/>
            <a:ext cx="5410200" cy="2971800"/>
            <a:chOff x="1584" y="1872"/>
            <a:chExt cx="3408" cy="1872"/>
          </a:xfrm>
        </p:grpSpPr>
        <p:sp>
          <p:nvSpPr>
            <p:cNvPr id="15" name="Line 5"/>
            <p:cNvSpPr>
              <a:spLocks noChangeShapeType="1"/>
            </p:cNvSpPr>
            <p:nvPr/>
          </p:nvSpPr>
          <p:spPr bwMode="auto">
            <a:xfrm flipH="1">
              <a:off x="2160" y="2064"/>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6" name="Line 6"/>
            <p:cNvSpPr>
              <a:spLocks noChangeShapeType="1"/>
            </p:cNvSpPr>
            <p:nvPr/>
          </p:nvSpPr>
          <p:spPr bwMode="auto">
            <a:xfrm>
              <a:off x="3168" y="2064"/>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7" name="Line 7"/>
            <p:cNvSpPr>
              <a:spLocks noChangeShapeType="1"/>
            </p:cNvSpPr>
            <p:nvPr/>
          </p:nvSpPr>
          <p:spPr bwMode="auto">
            <a:xfrm flipH="1">
              <a:off x="2592" y="2448"/>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19" name="Line 8"/>
            <p:cNvSpPr>
              <a:spLocks noChangeShapeType="1"/>
            </p:cNvSpPr>
            <p:nvPr/>
          </p:nvSpPr>
          <p:spPr bwMode="auto">
            <a:xfrm flipH="1">
              <a:off x="2928" y="2832"/>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0" name="Line 9"/>
            <p:cNvSpPr>
              <a:spLocks noChangeShapeType="1"/>
            </p:cNvSpPr>
            <p:nvPr/>
          </p:nvSpPr>
          <p:spPr bwMode="auto">
            <a:xfrm flipH="1">
              <a:off x="3264" y="3216"/>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1" name="Line 10"/>
            <p:cNvSpPr>
              <a:spLocks noChangeShapeType="1"/>
            </p:cNvSpPr>
            <p:nvPr/>
          </p:nvSpPr>
          <p:spPr bwMode="auto">
            <a:xfrm>
              <a:off x="3648" y="2448"/>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2" name="Line 11"/>
            <p:cNvSpPr>
              <a:spLocks noChangeShapeType="1"/>
            </p:cNvSpPr>
            <p:nvPr/>
          </p:nvSpPr>
          <p:spPr bwMode="auto">
            <a:xfrm>
              <a:off x="3984" y="2832"/>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23" name="Line 12"/>
            <p:cNvSpPr>
              <a:spLocks noChangeShapeType="1"/>
            </p:cNvSpPr>
            <p:nvPr/>
          </p:nvSpPr>
          <p:spPr bwMode="auto">
            <a:xfrm>
              <a:off x="4320" y="3216"/>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grpSp>
          <p:nvGrpSpPr>
            <p:cNvPr id="24" name="Group 13"/>
            <p:cNvGrpSpPr>
              <a:grpSpLocks/>
            </p:cNvGrpSpPr>
            <p:nvPr/>
          </p:nvGrpSpPr>
          <p:grpSpPr bwMode="auto">
            <a:xfrm>
              <a:off x="1584" y="1872"/>
              <a:ext cx="3408" cy="1872"/>
              <a:chOff x="2160" y="624"/>
              <a:chExt cx="3408" cy="1872"/>
            </a:xfrm>
          </p:grpSpPr>
          <p:grpSp>
            <p:nvGrpSpPr>
              <p:cNvPr id="25" name="Group 14"/>
              <p:cNvGrpSpPr>
                <a:grpSpLocks/>
              </p:cNvGrpSpPr>
              <p:nvPr/>
            </p:nvGrpSpPr>
            <p:grpSpPr bwMode="auto">
              <a:xfrm>
                <a:off x="3600" y="1392"/>
                <a:ext cx="1008" cy="288"/>
                <a:chOff x="2688" y="2160"/>
                <a:chExt cx="1008" cy="288"/>
              </a:xfrm>
            </p:grpSpPr>
            <p:sp>
              <p:nvSpPr>
                <p:cNvPr id="50" name="Freeform 15"/>
                <p:cNvSpPr>
                  <a:spLocks/>
                </p:cNvSpPr>
                <p:nvPr/>
              </p:nvSpPr>
              <p:spPr bwMode="auto">
                <a:xfrm>
                  <a:off x="2715" y="2160"/>
                  <a:ext cx="981" cy="288"/>
                </a:xfrm>
                <a:custGeom>
                  <a:avLst/>
                  <a:gdLst>
                    <a:gd name="T0" fmla="*/ 1013 w 837"/>
                    <a:gd name="T1" fmla="*/ 21 h 295"/>
                    <a:gd name="T2" fmla="*/ 6620 w 837"/>
                    <a:gd name="T3" fmla="*/ 16 h 295"/>
                    <a:gd name="T4" fmla="*/ 7731 w 837"/>
                    <a:gd name="T5" fmla="*/ 111 h 295"/>
                    <a:gd name="T6" fmla="*/ 6786 w 837"/>
                    <a:gd name="T7" fmla="*/ 211 h 295"/>
                    <a:gd name="T8" fmla="*/ 1270 w 837"/>
                    <a:gd name="T9" fmla="*/ 211 h 295"/>
                    <a:gd name="T10" fmla="*/ 0 w 837"/>
                    <a:gd name="T11" fmla="*/ 111 h 295"/>
                    <a:gd name="T12" fmla="*/ 1413 w 837"/>
                    <a:gd name="T13" fmla="*/ 0 h 295"/>
                    <a:gd name="T14" fmla="*/ 0 60000 65536"/>
                    <a:gd name="T15" fmla="*/ 0 60000 65536"/>
                    <a:gd name="T16" fmla="*/ 0 60000 65536"/>
                    <a:gd name="T17" fmla="*/ 0 60000 65536"/>
                    <a:gd name="T18" fmla="*/ 0 60000 65536"/>
                    <a:gd name="T19" fmla="*/ 0 60000 65536"/>
                    <a:gd name="T20" fmla="*/ 0 60000 65536"/>
                    <a:gd name="T21" fmla="*/ 0 w 837"/>
                    <a:gd name="T22" fmla="*/ 0 h 295"/>
                    <a:gd name="T23" fmla="*/ 837 w 837"/>
                    <a:gd name="T24" fmla="*/ 295 h 2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7" h="295">
                      <a:moveTo>
                        <a:pt x="110" y="21"/>
                      </a:moveTo>
                      <a:lnTo>
                        <a:pt x="717" y="16"/>
                      </a:lnTo>
                      <a:lnTo>
                        <a:pt x="837" y="155"/>
                      </a:lnTo>
                      <a:lnTo>
                        <a:pt x="735" y="295"/>
                      </a:lnTo>
                      <a:lnTo>
                        <a:pt x="137" y="295"/>
                      </a:lnTo>
                      <a:lnTo>
                        <a:pt x="0" y="155"/>
                      </a:lnTo>
                      <a:lnTo>
                        <a:pt x="154" y="0"/>
                      </a:lnTo>
                    </a:path>
                  </a:pathLst>
                </a:custGeom>
                <a:solidFill>
                  <a:srgbClr val="99CCFF"/>
                </a:solidFill>
                <a:ln w="12700"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51" name="Text Box 16"/>
                <p:cNvSpPr txBox="1">
                  <a:spLocks noChangeArrowheads="1"/>
                </p:cNvSpPr>
                <p:nvPr/>
              </p:nvSpPr>
              <p:spPr bwMode="auto">
                <a:xfrm>
                  <a:off x="2688" y="2160"/>
                  <a:ext cx="1008"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隶书" pitchFamily="49" charset="-122"/>
                      <a:ea typeface="隶书" pitchFamily="49" charset="-122"/>
                    </a:rPr>
                    <a:t>a </a:t>
                  </a:r>
                  <a:r>
                    <a:rPr kumimoji="1" lang="en-US" altLang="zh-CN" sz="2400" b="1" i="0" u="none" strike="noStrike" kern="0" cap="none" spc="0" normalizeH="0" baseline="0" noProof="0">
                      <a:ln>
                        <a:noFill/>
                      </a:ln>
                      <a:solidFill>
                        <a:srgbClr val="0000FF"/>
                      </a:solidFill>
                      <a:effectLst/>
                      <a:uLnTx/>
                      <a:uFillTx/>
                      <a:latin typeface="隶书" pitchFamily="49" charset="-122"/>
                      <a:ea typeface="隶书" pitchFamily="49" charset="-122"/>
                      <a:sym typeface="Symbol" pitchFamily="18" charset="2"/>
                    </a:rPr>
                    <a:t></a:t>
                  </a:r>
                  <a:r>
                    <a:rPr kumimoji="1" lang="en-US" altLang="zh-CN" sz="2400" b="1" i="0" u="none" strike="noStrike" kern="0" cap="none" spc="0" normalizeH="0" baseline="0" noProof="0">
                      <a:ln>
                        <a:noFill/>
                      </a:ln>
                      <a:solidFill>
                        <a:srgbClr val="0000FF"/>
                      </a:solidFill>
                      <a:effectLst/>
                      <a:uLnTx/>
                      <a:uFillTx/>
                      <a:latin typeface="隶书" pitchFamily="49" charset="-122"/>
                      <a:ea typeface="隶书" pitchFamily="49" charset="-122"/>
                    </a:rPr>
                    <a:t> 80</a:t>
                  </a:r>
                </a:p>
              </p:txBody>
            </p:sp>
          </p:grpSp>
          <p:grpSp>
            <p:nvGrpSpPr>
              <p:cNvPr id="26" name="Group 17"/>
              <p:cNvGrpSpPr>
                <a:grpSpLocks/>
              </p:cNvGrpSpPr>
              <p:nvPr/>
            </p:nvGrpSpPr>
            <p:grpSpPr bwMode="auto">
              <a:xfrm>
                <a:off x="3936" y="1776"/>
                <a:ext cx="1008" cy="288"/>
                <a:chOff x="2688" y="2160"/>
                <a:chExt cx="1008" cy="288"/>
              </a:xfrm>
            </p:grpSpPr>
            <p:sp>
              <p:nvSpPr>
                <p:cNvPr id="48" name="Freeform 18"/>
                <p:cNvSpPr>
                  <a:spLocks/>
                </p:cNvSpPr>
                <p:nvPr/>
              </p:nvSpPr>
              <p:spPr bwMode="auto">
                <a:xfrm>
                  <a:off x="2715" y="2160"/>
                  <a:ext cx="981" cy="288"/>
                </a:xfrm>
                <a:custGeom>
                  <a:avLst/>
                  <a:gdLst>
                    <a:gd name="T0" fmla="*/ 1013 w 837"/>
                    <a:gd name="T1" fmla="*/ 21 h 295"/>
                    <a:gd name="T2" fmla="*/ 6620 w 837"/>
                    <a:gd name="T3" fmla="*/ 16 h 295"/>
                    <a:gd name="T4" fmla="*/ 7731 w 837"/>
                    <a:gd name="T5" fmla="*/ 111 h 295"/>
                    <a:gd name="T6" fmla="*/ 6786 w 837"/>
                    <a:gd name="T7" fmla="*/ 211 h 295"/>
                    <a:gd name="T8" fmla="*/ 1270 w 837"/>
                    <a:gd name="T9" fmla="*/ 211 h 295"/>
                    <a:gd name="T10" fmla="*/ 0 w 837"/>
                    <a:gd name="T11" fmla="*/ 111 h 295"/>
                    <a:gd name="T12" fmla="*/ 1413 w 837"/>
                    <a:gd name="T13" fmla="*/ 0 h 295"/>
                    <a:gd name="T14" fmla="*/ 0 60000 65536"/>
                    <a:gd name="T15" fmla="*/ 0 60000 65536"/>
                    <a:gd name="T16" fmla="*/ 0 60000 65536"/>
                    <a:gd name="T17" fmla="*/ 0 60000 65536"/>
                    <a:gd name="T18" fmla="*/ 0 60000 65536"/>
                    <a:gd name="T19" fmla="*/ 0 60000 65536"/>
                    <a:gd name="T20" fmla="*/ 0 60000 65536"/>
                    <a:gd name="T21" fmla="*/ 0 w 837"/>
                    <a:gd name="T22" fmla="*/ 0 h 295"/>
                    <a:gd name="T23" fmla="*/ 837 w 837"/>
                    <a:gd name="T24" fmla="*/ 295 h 2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7" h="295">
                      <a:moveTo>
                        <a:pt x="110" y="21"/>
                      </a:moveTo>
                      <a:lnTo>
                        <a:pt x="717" y="16"/>
                      </a:lnTo>
                      <a:lnTo>
                        <a:pt x="837" y="155"/>
                      </a:lnTo>
                      <a:lnTo>
                        <a:pt x="735" y="295"/>
                      </a:lnTo>
                      <a:lnTo>
                        <a:pt x="137" y="295"/>
                      </a:lnTo>
                      <a:lnTo>
                        <a:pt x="0" y="155"/>
                      </a:lnTo>
                      <a:lnTo>
                        <a:pt x="154" y="0"/>
                      </a:lnTo>
                    </a:path>
                  </a:pathLst>
                </a:custGeom>
                <a:solidFill>
                  <a:srgbClr val="99CCFF"/>
                </a:solidFill>
                <a:ln w="12700"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9" name="Text Box 19"/>
                <p:cNvSpPr txBox="1">
                  <a:spLocks noChangeArrowheads="1"/>
                </p:cNvSpPr>
                <p:nvPr/>
              </p:nvSpPr>
              <p:spPr bwMode="auto">
                <a:xfrm>
                  <a:off x="2688" y="2160"/>
                  <a:ext cx="1008"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隶书" pitchFamily="49" charset="-122"/>
                      <a:ea typeface="隶书" pitchFamily="49" charset="-122"/>
                    </a:rPr>
                    <a:t>a </a:t>
                  </a:r>
                  <a:r>
                    <a:rPr kumimoji="1" lang="en-US" altLang="zh-CN" sz="2400" b="1" i="0" u="none" strike="noStrike" kern="0" cap="none" spc="0" normalizeH="0" baseline="0" noProof="0">
                      <a:ln>
                        <a:noFill/>
                      </a:ln>
                      <a:solidFill>
                        <a:srgbClr val="0000FF"/>
                      </a:solidFill>
                      <a:effectLst/>
                      <a:uLnTx/>
                      <a:uFillTx/>
                      <a:latin typeface="隶书" pitchFamily="49" charset="-122"/>
                      <a:ea typeface="隶书" pitchFamily="49" charset="-122"/>
                      <a:sym typeface="Symbol" pitchFamily="18" charset="2"/>
                    </a:rPr>
                    <a:t></a:t>
                  </a:r>
                  <a:r>
                    <a:rPr kumimoji="1" lang="en-US" altLang="zh-CN" sz="2400" b="1" i="0" u="none" strike="noStrike" kern="0" cap="none" spc="0" normalizeH="0" baseline="0" noProof="0">
                      <a:ln>
                        <a:noFill/>
                      </a:ln>
                      <a:solidFill>
                        <a:srgbClr val="0000FF"/>
                      </a:solidFill>
                      <a:effectLst/>
                      <a:uLnTx/>
                      <a:uFillTx/>
                      <a:latin typeface="隶书" pitchFamily="49" charset="-122"/>
                      <a:ea typeface="隶书" pitchFamily="49" charset="-122"/>
                    </a:rPr>
                    <a:t> 90</a:t>
                  </a:r>
                </a:p>
              </p:txBody>
            </p:sp>
          </p:grpSp>
          <p:grpSp>
            <p:nvGrpSpPr>
              <p:cNvPr id="27" name="Group 20"/>
              <p:cNvGrpSpPr>
                <a:grpSpLocks/>
              </p:cNvGrpSpPr>
              <p:nvPr/>
            </p:nvGrpSpPr>
            <p:grpSpPr bwMode="auto">
              <a:xfrm>
                <a:off x="2160" y="1056"/>
                <a:ext cx="1200" cy="288"/>
                <a:chOff x="1104" y="1584"/>
                <a:chExt cx="1200" cy="288"/>
              </a:xfrm>
            </p:grpSpPr>
            <p:sp>
              <p:nvSpPr>
                <p:cNvPr id="46" name="Rectangle 21"/>
                <p:cNvSpPr>
                  <a:spLocks noChangeArrowheads="1"/>
                </p:cNvSpPr>
                <p:nvPr/>
              </p:nvSpPr>
              <p:spPr bwMode="auto">
                <a:xfrm>
                  <a:off x="1200" y="1584"/>
                  <a:ext cx="912" cy="288"/>
                </a:xfrm>
                <a:prstGeom prst="rect">
                  <a:avLst/>
                </a:prstGeom>
                <a:solidFill>
                  <a:srgbClr val="99CCFF"/>
                </a:solidFill>
                <a:ln w="28575"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7" name="Text Box 22"/>
                <p:cNvSpPr txBox="1">
                  <a:spLocks noChangeArrowheads="1"/>
                </p:cNvSpPr>
                <p:nvPr/>
              </p:nvSpPr>
              <p:spPr bwMode="auto">
                <a:xfrm>
                  <a:off x="1104" y="1584"/>
                  <a:ext cx="1200"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隶书" pitchFamily="49" charset="-122"/>
                      <a:ea typeface="隶书" pitchFamily="49" charset="-122"/>
                    </a:rPr>
                    <a:t>不及格</a:t>
                  </a:r>
                </a:p>
              </p:txBody>
            </p:sp>
          </p:grpSp>
          <p:grpSp>
            <p:nvGrpSpPr>
              <p:cNvPr id="28" name="Group 23"/>
              <p:cNvGrpSpPr>
                <a:grpSpLocks/>
              </p:cNvGrpSpPr>
              <p:nvPr/>
            </p:nvGrpSpPr>
            <p:grpSpPr bwMode="auto">
              <a:xfrm>
                <a:off x="3216" y="2208"/>
                <a:ext cx="1200" cy="288"/>
                <a:chOff x="1104" y="1584"/>
                <a:chExt cx="1200" cy="288"/>
              </a:xfrm>
            </p:grpSpPr>
            <p:sp>
              <p:nvSpPr>
                <p:cNvPr id="44" name="Rectangle 24"/>
                <p:cNvSpPr>
                  <a:spLocks noChangeArrowheads="1"/>
                </p:cNvSpPr>
                <p:nvPr/>
              </p:nvSpPr>
              <p:spPr bwMode="auto">
                <a:xfrm>
                  <a:off x="1200" y="1584"/>
                  <a:ext cx="912" cy="288"/>
                </a:xfrm>
                <a:prstGeom prst="rect">
                  <a:avLst/>
                </a:prstGeom>
                <a:solidFill>
                  <a:srgbClr val="99CCFF"/>
                </a:solidFill>
                <a:ln w="28575"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5" name="Text Box 25"/>
                <p:cNvSpPr txBox="1">
                  <a:spLocks noChangeArrowheads="1"/>
                </p:cNvSpPr>
                <p:nvPr/>
              </p:nvSpPr>
              <p:spPr bwMode="auto">
                <a:xfrm>
                  <a:off x="1104" y="1584"/>
                  <a:ext cx="1200"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隶书" pitchFamily="49" charset="-122"/>
                      <a:ea typeface="隶书" pitchFamily="49" charset="-122"/>
                    </a:rPr>
                    <a:t>良好</a:t>
                  </a:r>
                </a:p>
              </p:txBody>
            </p:sp>
          </p:grpSp>
          <p:grpSp>
            <p:nvGrpSpPr>
              <p:cNvPr id="29" name="Group 26"/>
              <p:cNvGrpSpPr>
                <a:grpSpLocks/>
              </p:cNvGrpSpPr>
              <p:nvPr/>
            </p:nvGrpSpPr>
            <p:grpSpPr bwMode="auto">
              <a:xfrm>
                <a:off x="2784" y="1824"/>
                <a:ext cx="1200" cy="288"/>
                <a:chOff x="1104" y="1584"/>
                <a:chExt cx="1200" cy="288"/>
              </a:xfrm>
            </p:grpSpPr>
            <p:sp>
              <p:nvSpPr>
                <p:cNvPr id="42" name="Rectangle 27"/>
                <p:cNvSpPr>
                  <a:spLocks noChangeArrowheads="1"/>
                </p:cNvSpPr>
                <p:nvPr/>
              </p:nvSpPr>
              <p:spPr bwMode="auto">
                <a:xfrm>
                  <a:off x="1200" y="1584"/>
                  <a:ext cx="912" cy="288"/>
                </a:xfrm>
                <a:prstGeom prst="rect">
                  <a:avLst/>
                </a:prstGeom>
                <a:solidFill>
                  <a:srgbClr val="99CCFF"/>
                </a:solidFill>
                <a:ln w="28575"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3" name="Text Box 28"/>
                <p:cNvSpPr txBox="1">
                  <a:spLocks noChangeArrowheads="1"/>
                </p:cNvSpPr>
                <p:nvPr/>
              </p:nvSpPr>
              <p:spPr bwMode="auto">
                <a:xfrm>
                  <a:off x="1104" y="1584"/>
                  <a:ext cx="1200"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隶书" pitchFamily="49" charset="-122"/>
                      <a:ea typeface="隶书" pitchFamily="49" charset="-122"/>
                    </a:rPr>
                    <a:t>中等</a:t>
                  </a:r>
                </a:p>
              </p:txBody>
            </p:sp>
          </p:grpSp>
          <p:grpSp>
            <p:nvGrpSpPr>
              <p:cNvPr id="30" name="Group 29"/>
              <p:cNvGrpSpPr>
                <a:grpSpLocks/>
              </p:cNvGrpSpPr>
              <p:nvPr/>
            </p:nvGrpSpPr>
            <p:grpSpPr bwMode="auto">
              <a:xfrm>
                <a:off x="2448" y="1440"/>
                <a:ext cx="1200" cy="288"/>
                <a:chOff x="1104" y="1584"/>
                <a:chExt cx="1200" cy="288"/>
              </a:xfrm>
            </p:grpSpPr>
            <p:sp>
              <p:nvSpPr>
                <p:cNvPr id="40" name="Rectangle 30"/>
                <p:cNvSpPr>
                  <a:spLocks noChangeArrowheads="1"/>
                </p:cNvSpPr>
                <p:nvPr/>
              </p:nvSpPr>
              <p:spPr bwMode="auto">
                <a:xfrm>
                  <a:off x="1200" y="1584"/>
                  <a:ext cx="912" cy="288"/>
                </a:xfrm>
                <a:prstGeom prst="rect">
                  <a:avLst/>
                </a:prstGeom>
                <a:solidFill>
                  <a:srgbClr val="99CCFF"/>
                </a:solidFill>
                <a:ln w="28575"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41" name="Text Box 31"/>
                <p:cNvSpPr txBox="1">
                  <a:spLocks noChangeArrowheads="1"/>
                </p:cNvSpPr>
                <p:nvPr/>
              </p:nvSpPr>
              <p:spPr bwMode="auto">
                <a:xfrm>
                  <a:off x="1104" y="1584"/>
                  <a:ext cx="1200"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隶书" pitchFamily="49" charset="-122"/>
                      <a:ea typeface="隶书" pitchFamily="49" charset="-122"/>
                    </a:rPr>
                    <a:t>及格</a:t>
                  </a:r>
                </a:p>
              </p:txBody>
            </p:sp>
          </p:grpSp>
          <p:grpSp>
            <p:nvGrpSpPr>
              <p:cNvPr id="31" name="Group 32"/>
              <p:cNvGrpSpPr>
                <a:grpSpLocks/>
              </p:cNvGrpSpPr>
              <p:nvPr/>
            </p:nvGrpSpPr>
            <p:grpSpPr bwMode="auto">
              <a:xfrm>
                <a:off x="4368" y="2208"/>
                <a:ext cx="1200" cy="288"/>
                <a:chOff x="1104" y="1584"/>
                <a:chExt cx="1200" cy="288"/>
              </a:xfrm>
            </p:grpSpPr>
            <p:sp>
              <p:nvSpPr>
                <p:cNvPr id="38" name="Rectangle 33"/>
                <p:cNvSpPr>
                  <a:spLocks noChangeArrowheads="1"/>
                </p:cNvSpPr>
                <p:nvPr/>
              </p:nvSpPr>
              <p:spPr bwMode="auto">
                <a:xfrm>
                  <a:off x="1200" y="1584"/>
                  <a:ext cx="912" cy="288"/>
                </a:xfrm>
                <a:prstGeom prst="rect">
                  <a:avLst/>
                </a:prstGeom>
                <a:solidFill>
                  <a:srgbClr val="99CCFF"/>
                </a:solidFill>
                <a:ln w="28575"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9" name="Text Box 34"/>
                <p:cNvSpPr txBox="1">
                  <a:spLocks noChangeArrowheads="1"/>
                </p:cNvSpPr>
                <p:nvPr/>
              </p:nvSpPr>
              <p:spPr bwMode="auto">
                <a:xfrm>
                  <a:off x="1104" y="1584"/>
                  <a:ext cx="1200"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隶书" pitchFamily="49" charset="-122"/>
                      <a:ea typeface="隶书" pitchFamily="49" charset="-122"/>
                    </a:rPr>
                    <a:t>优秀</a:t>
                  </a:r>
                </a:p>
              </p:txBody>
            </p:sp>
          </p:grpSp>
          <p:grpSp>
            <p:nvGrpSpPr>
              <p:cNvPr id="32" name="Group 35"/>
              <p:cNvGrpSpPr>
                <a:grpSpLocks/>
              </p:cNvGrpSpPr>
              <p:nvPr/>
            </p:nvGrpSpPr>
            <p:grpSpPr bwMode="auto">
              <a:xfrm>
                <a:off x="2784" y="624"/>
                <a:ext cx="1008" cy="288"/>
                <a:chOff x="2688" y="2160"/>
                <a:chExt cx="1008" cy="288"/>
              </a:xfrm>
            </p:grpSpPr>
            <p:sp>
              <p:nvSpPr>
                <p:cNvPr id="36" name="Freeform 36"/>
                <p:cNvSpPr>
                  <a:spLocks/>
                </p:cNvSpPr>
                <p:nvPr/>
              </p:nvSpPr>
              <p:spPr bwMode="auto">
                <a:xfrm>
                  <a:off x="2715" y="2160"/>
                  <a:ext cx="981" cy="288"/>
                </a:xfrm>
                <a:custGeom>
                  <a:avLst/>
                  <a:gdLst>
                    <a:gd name="T0" fmla="*/ 1013 w 837"/>
                    <a:gd name="T1" fmla="*/ 21 h 295"/>
                    <a:gd name="T2" fmla="*/ 6620 w 837"/>
                    <a:gd name="T3" fmla="*/ 16 h 295"/>
                    <a:gd name="T4" fmla="*/ 7731 w 837"/>
                    <a:gd name="T5" fmla="*/ 111 h 295"/>
                    <a:gd name="T6" fmla="*/ 6786 w 837"/>
                    <a:gd name="T7" fmla="*/ 211 h 295"/>
                    <a:gd name="T8" fmla="*/ 1270 w 837"/>
                    <a:gd name="T9" fmla="*/ 211 h 295"/>
                    <a:gd name="T10" fmla="*/ 0 w 837"/>
                    <a:gd name="T11" fmla="*/ 111 h 295"/>
                    <a:gd name="T12" fmla="*/ 1413 w 837"/>
                    <a:gd name="T13" fmla="*/ 0 h 295"/>
                    <a:gd name="T14" fmla="*/ 0 60000 65536"/>
                    <a:gd name="T15" fmla="*/ 0 60000 65536"/>
                    <a:gd name="T16" fmla="*/ 0 60000 65536"/>
                    <a:gd name="T17" fmla="*/ 0 60000 65536"/>
                    <a:gd name="T18" fmla="*/ 0 60000 65536"/>
                    <a:gd name="T19" fmla="*/ 0 60000 65536"/>
                    <a:gd name="T20" fmla="*/ 0 60000 65536"/>
                    <a:gd name="T21" fmla="*/ 0 w 837"/>
                    <a:gd name="T22" fmla="*/ 0 h 295"/>
                    <a:gd name="T23" fmla="*/ 837 w 837"/>
                    <a:gd name="T24" fmla="*/ 295 h 2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7" h="295">
                      <a:moveTo>
                        <a:pt x="110" y="21"/>
                      </a:moveTo>
                      <a:lnTo>
                        <a:pt x="717" y="16"/>
                      </a:lnTo>
                      <a:lnTo>
                        <a:pt x="837" y="155"/>
                      </a:lnTo>
                      <a:lnTo>
                        <a:pt x="735" y="295"/>
                      </a:lnTo>
                      <a:lnTo>
                        <a:pt x="137" y="295"/>
                      </a:lnTo>
                      <a:lnTo>
                        <a:pt x="0" y="155"/>
                      </a:lnTo>
                      <a:lnTo>
                        <a:pt x="154" y="0"/>
                      </a:lnTo>
                    </a:path>
                  </a:pathLst>
                </a:custGeom>
                <a:solidFill>
                  <a:srgbClr val="99CCFF"/>
                </a:solidFill>
                <a:ln w="12700"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7" name="Text Box 37"/>
                <p:cNvSpPr txBox="1">
                  <a:spLocks noChangeArrowheads="1"/>
                </p:cNvSpPr>
                <p:nvPr/>
              </p:nvSpPr>
              <p:spPr bwMode="auto">
                <a:xfrm>
                  <a:off x="2688" y="2160"/>
                  <a:ext cx="1008"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隶书" pitchFamily="49" charset="-122"/>
                      <a:ea typeface="隶书" pitchFamily="49" charset="-122"/>
                    </a:rPr>
                    <a:t>a </a:t>
                  </a:r>
                  <a:r>
                    <a:rPr kumimoji="1" lang="en-US" altLang="zh-CN" sz="2400" b="1" i="0" u="none" strike="noStrike" kern="0" cap="none" spc="0" normalizeH="0" baseline="0" noProof="0">
                      <a:ln>
                        <a:noFill/>
                      </a:ln>
                      <a:solidFill>
                        <a:srgbClr val="0000FF"/>
                      </a:solidFill>
                      <a:effectLst/>
                      <a:uLnTx/>
                      <a:uFillTx/>
                      <a:latin typeface="隶书" pitchFamily="49" charset="-122"/>
                      <a:ea typeface="隶书" pitchFamily="49" charset="-122"/>
                      <a:sym typeface="Symbol" pitchFamily="18" charset="2"/>
                    </a:rPr>
                    <a:t></a:t>
                  </a:r>
                  <a:r>
                    <a:rPr kumimoji="1" lang="en-US" altLang="zh-CN" sz="2400" b="1" i="0" u="none" strike="noStrike" kern="0" cap="none" spc="0" normalizeH="0" baseline="0" noProof="0">
                      <a:ln>
                        <a:noFill/>
                      </a:ln>
                      <a:solidFill>
                        <a:srgbClr val="0000FF"/>
                      </a:solidFill>
                      <a:effectLst/>
                      <a:uLnTx/>
                      <a:uFillTx/>
                      <a:latin typeface="隶书" pitchFamily="49" charset="-122"/>
                      <a:ea typeface="隶书" pitchFamily="49" charset="-122"/>
                    </a:rPr>
                    <a:t> 60</a:t>
                  </a:r>
                </a:p>
              </p:txBody>
            </p:sp>
          </p:grpSp>
          <p:grpSp>
            <p:nvGrpSpPr>
              <p:cNvPr id="33" name="Group 38"/>
              <p:cNvGrpSpPr>
                <a:grpSpLocks/>
              </p:cNvGrpSpPr>
              <p:nvPr/>
            </p:nvGrpSpPr>
            <p:grpSpPr bwMode="auto">
              <a:xfrm>
                <a:off x="3264" y="1008"/>
                <a:ext cx="1008" cy="288"/>
                <a:chOff x="2688" y="2160"/>
                <a:chExt cx="1008" cy="288"/>
              </a:xfrm>
            </p:grpSpPr>
            <p:sp>
              <p:nvSpPr>
                <p:cNvPr id="34" name="Freeform 39"/>
                <p:cNvSpPr>
                  <a:spLocks/>
                </p:cNvSpPr>
                <p:nvPr/>
              </p:nvSpPr>
              <p:spPr bwMode="auto">
                <a:xfrm>
                  <a:off x="2715" y="2160"/>
                  <a:ext cx="981" cy="288"/>
                </a:xfrm>
                <a:custGeom>
                  <a:avLst/>
                  <a:gdLst>
                    <a:gd name="T0" fmla="*/ 1013 w 837"/>
                    <a:gd name="T1" fmla="*/ 21 h 295"/>
                    <a:gd name="T2" fmla="*/ 6620 w 837"/>
                    <a:gd name="T3" fmla="*/ 16 h 295"/>
                    <a:gd name="T4" fmla="*/ 7731 w 837"/>
                    <a:gd name="T5" fmla="*/ 111 h 295"/>
                    <a:gd name="T6" fmla="*/ 6786 w 837"/>
                    <a:gd name="T7" fmla="*/ 211 h 295"/>
                    <a:gd name="T8" fmla="*/ 1270 w 837"/>
                    <a:gd name="T9" fmla="*/ 211 h 295"/>
                    <a:gd name="T10" fmla="*/ 0 w 837"/>
                    <a:gd name="T11" fmla="*/ 111 h 295"/>
                    <a:gd name="T12" fmla="*/ 1413 w 837"/>
                    <a:gd name="T13" fmla="*/ 0 h 295"/>
                    <a:gd name="T14" fmla="*/ 0 60000 65536"/>
                    <a:gd name="T15" fmla="*/ 0 60000 65536"/>
                    <a:gd name="T16" fmla="*/ 0 60000 65536"/>
                    <a:gd name="T17" fmla="*/ 0 60000 65536"/>
                    <a:gd name="T18" fmla="*/ 0 60000 65536"/>
                    <a:gd name="T19" fmla="*/ 0 60000 65536"/>
                    <a:gd name="T20" fmla="*/ 0 60000 65536"/>
                    <a:gd name="T21" fmla="*/ 0 w 837"/>
                    <a:gd name="T22" fmla="*/ 0 h 295"/>
                    <a:gd name="T23" fmla="*/ 837 w 837"/>
                    <a:gd name="T24" fmla="*/ 295 h 2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7" h="295">
                      <a:moveTo>
                        <a:pt x="110" y="21"/>
                      </a:moveTo>
                      <a:lnTo>
                        <a:pt x="717" y="16"/>
                      </a:lnTo>
                      <a:lnTo>
                        <a:pt x="837" y="155"/>
                      </a:lnTo>
                      <a:lnTo>
                        <a:pt x="735" y="295"/>
                      </a:lnTo>
                      <a:lnTo>
                        <a:pt x="137" y="295"/>
                      </a:lnTo>
                      <a:lnTo>
                        <a:pt x="0" y="155"/>
                      </a:lnTo>
                      <a:lnTo>
                        <a:pt x="154" y="0"/>
                      </a:lnTo>
                    </a:path>
                  </a:pathLst>
                </a:custGeom>
                <a:solidFill>
                  <a:srgbClr val="99CCFF"/>
                </a:solidFill>
                <a:ln w="12700"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5" name="Text Box 40"/>
                <p:cNvSpPr txBox="1">
                  <a:spLocks noChangeArrowheads="1"/>
                </p:cNvSpPr>
                <p:nvPr/>
              </p:nvSpPr>
              <p:spPr bwMode="auto">
                <a:xfrm>
                  <a:off x="2688" y="2160"/>
                  <a:ext cx="1008" cy="288"/>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FF"/>
                      </a:solidFill>
                      <a:effectLst/>
                      <a:uLnTx/>
                      <a:uFillTx/>
                      <a:latin typeface="隶书" pitchFamily="49" charset="-122"/>
                      <a:ea typeface="隶书" pitchFamily="49" charset="-122"/>
                    </a:rPr>
                    <a:t>a </a:t>
                  </a:r>
                  <a:r>
                    <a:rPr kumimoji="1" lang="en-US" altLang="zh-CN" sz="2400" b="1" i="0" u="none" strike="noStrike" kern="0" cap="none" spc="0" normalizeH="0" baseline="0" noProof="0">
                      <a:ln>
                        <a:noFill/>
                      </a:ln>
                      <a:solidFill>
                        <a:srgbClr val="0000FF"/>
                      </a:solidFill>
                      <a:effectLst/>
                      <a:uLnTx/>
                      <a:uFillTx/>
                      <a:latin typeface="隶书" pitchFamily="49" charset="-122"/>
                      <a:ea typeface="隶书" pitchFamily="49" charset="-122"/>
                      <a:sym typeface="Symbol" pitchFamily="18" charset="2"/>
                    </a:rPr>
                    <a:t></a:t>
                  </a:r>
                  <a:r>
                    <a:rPr kumimoji="1" lang="en-US" altLang="zh-CN" sz="2400" b="1" i="0" u="none" strike="noStrike" kern="0" cap="none" spc="0" normalizeH="0" baseline="0" noProof="0">
                      <a:ln>
                        <a:noFill/>
                      </a:ln>
                      <a:solidFill>
                        <a:srgbClr val="0000FF"/>
                      </a:solidFill>
                      <a:effectLst/>
                      <a:uLnTx/>
                      <a:uFillTx/>
                      <a:latin typeface="隶书" pitchFamily="49" charset="-122"/>
                      <a:ea typeface="隶书" pitchFamily="49" charset="-122"/>
                    </a:rPr>
                    <a:t> 70</a:t>
                  </a:r>
                </a:p>
              </p:txBody>
            </p:sp>
          </p:grpSp>
        </p:grpSp>
      </p:grpSp>
      <p:sp>
        <p:nvSpPr>
          <p:cNvPr id="52" name="Text Box 44"/>
          <p:cNvSpPr txBox="1">
            <a:spLocks noChangeArrowheads="1"/>
          </p:cNvSpPr>
          <p:nvPr/>
        </p:nvSpPr>
        <p:spPr bwMode="auto">
          <a:xfrm>
            <a:off x="504825" y="5673725"/>
            <a:ext cx="8410575" cy="498598"/>
          </a:xfrm>
          <a:prstGeom prst="rect">
            <a:avLst/>
          </a:prstGeom>
          <a:noFill/>
          <a:ln w="12700" cap="rnd">
            <a:solidFill>
              <a:srgbClr val="04617B"/>
            </a:solidFill>
            <a:miter lim="800000"/>
            <a:headEnd/>
            <a:tailEnd/>
          </a:ln>
        </p:spPr>
        <p:txBody>
          <a:bodyPr wrap="square">
            <a:spAutoFit/>
          </a:bodyPr>
          <a:lstStyle/>
          <a:p>
            <a:pPr marL="0" marR="0" lvl="0" indent="0" algn="ctr" defTabSz="914400" eaLnBrk="1" fontAlgn="base" latinLnBrk="0" hangingPunct="1">
              <a:lnSpc>
                <a:spcPct val="110000"/>
              </a:lnSpc>
              <a:spcBef>
                <a:spcPct val="30000"/>
              </a:spcBef>
              <a:spcAft>
                <a:spcPct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隶书" pitchFamily="49" charset="-122"/>
              </a:rPr>
              <a:t>在求得某些判定问题时，利用</a:t>
            </a:r>
            <a:r>
              <a:rPr kumimoji="1" lang="en-US" altLang="zh-CN" sz="2400" b="1" i="0" u="none" strike="noStrike" kern="0" cap="none" spc="0" normalizeH="0" baseline="0" noProof="0" dirty="0">
                <a:ln>
                  <a:noFill/>
                </a:ln>
                <a:solidFill>
                  <a:srgbClr val="0000FF"/>
                </a:solidFill>
                <a:effectLst/>
                <a:uLnTx/>
                <a:uFillTx/>
                <a:latin typeface="隶书" pitchFamily="49" charset="-122"/>
              </a:rPr>
              <a:t>Huffman</a:t>
            </a:r>
            <a:r>
              <a:rPr kumimoji="1" lang="zh-CN" altLang="en-US" sz="2400" b="1" i="0" u="none" strike="noStrike" kern="0" cap="none" spc="0" normalizeH="0" baseline="0" noProof="0" dirty="0">
                <a:ln>
                  <a:noFill/>
                </a:ln>
                <a:solidFill>
                  <a:srgbClr val="0000FF"/>
                </a:solidFill>
                <a:effectLst/>
                <a:uLnTx/>
                <a:uFillTx/>
                <a:latin typeface="隶书" pitchFamily="49" charset="-122"/>
              </a:rPr>
              <a:t>树获得最佳判定算法。</a:t>
            </a:r>
            <a:endParaRPr kumimoji="1" lang="zh-CN" altLang="en-US" sz="2400" b="1" i="0" u="none" strike="noStrike" kern="0" cap="none" spc="0" normalizeH="0" baseline="0" noProof="0" dirty="0">
              <a:ln>
                <a:noFill/>
              </a:ln>
              <a:solidFill>
                <a:srgbClr val="0000FF"/>
              </a:solidFill>
              <a:effectLst/>
              <a:uLnTx/>
              <a:uFillTx/>
              <a:latin typeface="宋体" pitchFamily="2" charset="-122"/>
            </a:endParaRPr>
          </a:p>
        </p:txBody>
      </p:sp>
    </p:spTree>
    <p:extLst>
      <p:ext uri="{BB962C8B-B14F-4D97-AF65-F5344CB8AC3E}">
        <p14:creationId xmlns:p14="http://schemas.microsoft.com/office/powerpoint/2010/main" val="2990796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52" grpId="0" animBg="1"/>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endParaRPr lang="zh-CN" altLang="en-US" sz="2400" b="1" dirty="0"/>
          </a:p>
        </p:txBody>
      </p:sp>
      <p:sp>
        <p:nvSpPr>
          <p:cNvPr id="4" name="日期占位符 3"/>
          <p:cNvSpPr>
            <a:spLocks noGrp="1"/>
          </p:cNvSpPr>
          <p:nvPr>
            <p:ph type="dt" sz="half" idx="10"/>
          </p:nvPr>
        </p:nvSpPr>
        <p:spPr/>
        <p:txBody>
          <a:bodyPr/>
          <a:lstStyle/>
          <a:p>
            <a:fld id="{09B2F5CF-466E-401C-8575-D5140453A475}"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187</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
        <p:nvSpPr>
          <p:cNvPr id="13" name="Text Box 3"/>
          <p:cNvSpPr txBox="1">
            <a:spLocks noChangeArrowheads="1"/>
          </p:cNvSpPr>
          <p:nvPr/>
        </p:nvSpPr>
        <p:spPr bwMode="auto">
          <a:xfrm>
            <a:off x="176213" y="2530495"/>
            <a:ext cx="8891587" cy="1508105"/>
          </a:xfrm>
          <a:prstGeom prst="rect">
            <a:avLst/>
          </a:prstGeom>
          <a:noFill/>
          <a:ln w="12700" cap="rnd">
            <a:noFill/>
            <a:miter lim="800000"/>
            <a:headEnd/>
            <a:tailEnd/>
          </a:ln>
        </p:spPr>
        <p:txBody>
          <a:bodyPr wrap="square">
            <a:spAutoFit/>
          </a:bodyPr>
          <a:lstStyle/>
          <a:p>
            <a:pPr fontAlgn="base">
              <a:lnSpc>
                <a:spcPct val="110000"/>
              </a:lnSpc>
              <a:spcBef>
                <a:spcPct val="10000"/>
              </a:spcBef>
              <a:spcAft>
                <a:spcPct val="0"/>
              </a:spcAft>
            </a:pPr>
            <a:r>
              <a:rPr kumimoji="1" lang="zh-CN" altLang="en-US" sz="2000" b="1" dirty="0">
                <a:solidFill>
                  <a:srgbClr val="000000"/>
                </a:solidFill>
                <a:latin typeface="Times New Roman" pitchFamily="18" charset="0"/>
              </a:rPr>
              <a:t>其判定过程:</a:t>
            </a:r>
          </a:p>
          <a:p>
            <a:pPr fontAlgn="base">
              <a:lnSpc>
                <a:spcPct val="110000"/>
              </a:lnSpc>
              <a:spcBef>
                <a:spcPct val="10000"/>
              </a:spcBef>
              <a:spcAft>
                <a:spcPct val="0"/>
              </a:spcAft>
            </a:pPr>
            <a:r>
              <a:rPr kumimoji="1" lang="zh-CN" altLang="en-US" sz="2000" b="1" dirty="0">
                <a:solidFill>
                  <a:srgbClr val="0000FF"/>
                </a:solidFill>
                <a:latin typeface="Times New Roman" pitchFamily="18" charset="0"/>
              </a:rPr>
              <a:t>转换一个分数所需的比较次数=  从根到对应结点的路径长度</a:t>
            </a:r>
          </a:p>
          <a:p>
            <a:pPr fontAlgn="base">
              <a:lnSpc>
                <a:spcPct val="110000"/>
              </a:lnSpc>
              <a:spcBef>
                <a:spcPct val="10000"/>
              </a:spcBef>
              <a:spcAft>
                <a:spcPct val="0"/>
              </a:spcAft>
            </a:pPr>
            <a:r>
              <a:rPr kumimoji="1" lang="zh-CN" altLang="en-US" sz="2000" b="1" dirty="0">
                <a:solidFill>
                  <a:srgbClr val="000000"/>
                </a:solidFill>
                <a:latin typeface="Times New Roman" pitchFamily="18" charset="0"/>
              </a:rPr>
              <a:t>转换10000个分数所需的总比较次数=   10000 </a:t>
            </a:r>
            <a:r>
              <a:rPr kumimoji="1" lang="zh-CN" altLang="en-US" sz="2000" b="1" dirty="0">
                <a:solidFill>
                  <a:srgbClr val="000000"/>
                </a:solidFill>
                <a:latin typeface="Times New Roman" pitchFamily="18" charset="0"/>
                <a:sym typeface="Symbol" pitchFamily="18" charset="2"/>
              </a:rPr>
              <a:t></a:t>
            </a:r>
            <a:r>
              <a:rPr kumimoji="1" lang="zh-CN" altLang="en-US" sz="2000" b="1" dirty="0">
                <a:solidFill>
                  <a:srgbClr val="000000"/>
                </a:solidFill>
                <a:latin typeface="Times New Roman" pitchFamily="18" charset="0"/>
              </a:rPr>
              <a:t>  (0.05 </a:t>
            </a:r>
            <a:r>
              <a:rPr kumimoji="1" lang="zh-CN" altLang="en-US" sz="2000" b="1" dirty="0">
                <a:solidFill>
                  <a:srgbClr val="000000"/>
                </a:solidFill>
                <a:latin typeface="Times New Roman" pitchFamily="18" charset="0"/>
                <a:sym typeface="Symbol" pitchFamily="18" charset="2"/>
              </a:rPr>
              <a:t></a:t>
            </a:r>
            <a:r>
              <a:rPr kumimoji="1" lang="zh-CN" altLang="en-US" sz="2000" b="1" dirty="0">
                <a:solidFill>
                  <a:srgbClr val="000000"/>
                </a:solidFill>
                <a:latin typeface="Times New Roman" pitchFamily="18" charset="0"/>
              </a:rPr>
              <a:t> 1+0.15 </a:t>
            </a:r>
            <a:r>
              <a:rPr kumimoji="1" lang="zh-CN" altLang="en-US" sz="2000" b="1" dirty="0">
                <a:solidFill>
                  <a:srgbClr val="000000"/>
                </a:solidFill>
                <a:latin typeface="Times New Roman" pitchFamily="18" charset="0"/>
                <a:sym typeface="Symbol" pitchFamily="18" charset="2"/>
              </a:rPr>
              <a:t></a:t>
            </a:r>
            <a:r>
              <a:rPr kumimoji="1" lang="zh-CN" altLang="en-US" sz="2000" b="1" dirty="0">
                <a:solidFill>
                  <a:srgbClr val="000000"/>
                </a:solidFill>
                <a:latin typeface="Times New Roman" pitchFamily="18" charset="0"/>
              </a:rPr>
              <a:t> 2+0.4 </a:t>
            </a:r>
            <a:r>
              <a:rPr kumimoji="1" lang="zh-CN" altLang="en-US" sz="2000" b="1" dirty="0">
                <a:solidFill>
                  <a:srgbClr val="000000"/>
                </a:solidFill>
                <a:latin typeface="Times New Roman" pitchFamily="18" charset="0"/>
                <a:sym typeface="Symbol" pitchFamily="18" charset="2"/>
              </a:rPr>
              <a:t></a:t>
            </a:r>
            <a:r>
              <a:rPr kumimoji="1" lang="zh-CN" altLang="en-US" sz="2000" b="1" dirty="0">
                <a:solidFill>
                  <a:srgbClr val="000000"/>
                </a:solidFill>
                <a:latin typeface="Times New Roman" pitchFamily="18" charset="0"/>
              </a:rPr>
              <a:t> 3+0.3 </a:t>
            </a:r>
            <a:r>
              <a:rPr kumimoji="1" lang="zh-CN" altLang="en-US" sz="2000" b="1" dirty="0">
                <a:solidFill>
                  <a:srgbClr val="000000"/>
                </a:solidFill>
                <a:latin typeface="Times New Roman" pitchFamily="18" charset="0"/>
                <a:sym typeface="Symbol" pitchFamily="18" charset="2"/>
              </a:rPr>
              <a:t></a:t>
            </a:r>
            <a:r>
              <a:rPr kumimoji="1" lang="zh-CN" altLang="en-US" sz="2000" b="1" dirty="0">
                <a:solidFill>
                  <a:srgbClr val="000000"/>
                </a:solidFill>
                <a:latin typeface="Times New Roman" pitchFamily="18" charset="0"/>
              </a:rPr>
              <a:t> 4+0.1 </a:t>
            </a:r>
            <a:r>
              <a:rPr kumimoji="1" lang="zh-CN" altLang="en-US" sz="2000" b="1" dirty="0">
                <a:solidFill>
                  <a:srgbClr val="000000"/>
                </a:solidFill>
                <a:latin typeface="Times New Roman" pitchFamily="18" charset="0"/>
                <a:sym typeface="Symbol" pitchFamily="18" charset="2"/>
              </a:rPr>
              <a:t></a:t>
            </a:r>
            <a:r>
              <a:rPr kumimoji="1" lang="zh-CN" altLang="en-US" sz="2000" b="1" dirty="0">
                <a:solidFill>
                  <a:srgbClr val="000000"/>
                </a:solidFill>
                <a:latin typeface="Times New Roman" pitchFamily="18" charset="0"/>
              </a:rPr>
              <a:t> 4）</a:t>
            </a:r>
            <a:r>
              <a:rPr kumimoji="1" lang="zh-CN" altLang="en-US" sz="2000" dirty="0">
                <a:solidFill>
                  <a:srgbClr val="000000"/>
                </a:solidFill>
                <a:latin typeface="Times New Roman" pitchFamily="18" charset="0"/>
              </a:rPr>
              <a:t>        </a:t>
            </a:r>
          </a:p>
        </p:txBody>
      </p:sp>
      <p:sp>
        <p:nvSpPr>
          <p:cNvPr id="14" name="AutoShape 4"/>
          <p:cNvSpPr>
            <a:spLocks noChangeArrowheads="1"/>
          </p:cNvSpPr>
          <p:nvPr/>
        </p:nvSpPr>
        <p:spPr bwMode="auto">
          <a:xfrm>
            <a:off x="1219200" y="4572000"/>
            <a:ext cx="2895600" cy="838200"/>
          </a:xfrm>
          <a:prstGeom prst="wedgeRoundRectCallout">
            <a:avLst>
              <a:gd name="adj1" fmla="val -273"/>
              <a:gd name="adj2" fmla="val -109657"/>
              <a:gd name="adj3" fmla="val 16667"/>
            </a:avLst>
          </a:prstGeom>
          <a:solidFill>
            <a:srgbClr val="CCFFFF"/>
          </a:solidFill>
          <a:ln w="12700" cap="rnd">
            <a:solidFill>
              <a:srgbClr val="DBF5F9"/>
            </a:solidFill>
            <a:miter lim="800000"/>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Times New Roman" pitchFamily="18" charset="0"/>
              </a:rPr>
              <a:t>二叉树的</a:t>
            </a:r>
          </a:p>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Times New Roman" pitchFamily="18" charset="0"/>
              </a:rPr>
              <a:t>带权路径长度</a:t>
            </a:r>
            <a:endParaRPr kumimoji="1" lang="zh-CN" altLang="en-US" b="1" i="0" u="none" strike="noStrike" kern="0" cap="none" spc="0" normalizeH="0" baseline="0" noProof="0">
              <a:ln>
                <a:noFill/>
              </a:ln>
              <a:solidFill>
                <a:srgbClr val="0000FF"/>
              </a:solidFill>
              <a:effectLst/>
              <a:uLnTx/>
              <a:uFillTx/>
              <a:latin typeface="Times New Roman" pitchFamily="18" charset="0"/>
            </a:endParaRPr>
          </a:p>
        </p:txBody>
      </p:sp>
      <p:grpSp>
        <p:nvGrpSpPr>
          <p:cNvPr id="15" name="Group 42"/>
          <p:cNvGrpSpPr>
            <a:grpSpLocks/>
          </p:cNvGrpSpPr>
          <p:nvPr/>
        </p:nvGrpSpPr>
        <p:grpSpPr bwMode="auto">
          <a:xfrm>
            <a:off x="1828800" y="1828800"/>
            <a:ext cx="5867400" cy="838200"/>
            <a:chOff x="1104" y="3168"/>
            <a:chExt cx="3696" cy="528"/>
          </a:xfrm>
        </p:grpSpPr>
        <p:grpSp>
          <p:nvGrpSpPr>
            <p:cNvPr id="16" name="Group 43"/>
            <p:cNvGrpSpPr>
              <a:grpSpLocks/>
            </p:cNvGrpSpPr>
            <p:nvPr/>
          </p:nvGrpSpPr>
          <p:grpSpPr bwMode="auto">
            <a:xfrm>
              <a:off x="1104" y="3168"/>
              <a:ext cx="3408" cy="528"/>
              <a:chOff x="0" y="3264"/>
              <a:chExt cx="3744" cy="528"/>
            </a:xfrm>
          </p:grpSpPr>
          <p:sp>
            <p:nvSpPr>
              <p:cNvPr id="19" name="Rectangle 44"/>
              <p:cNvSpPr>
                <a:spLocks noChangeArrowheads="1"/>
              </p:cNvSpPr>
              <p:nvPr/>
            </p:nvSpPr>
            <p:spPr bwMode="auto">
              <a:xfrm>
                <a:off x="0" y="3264"/>
                <a:ext cx="3744" cy="528"/>
              </a:xfrm>
              <a:prstGeom prst="rect">
                <a:avLst/>
              </a:prstGeom>
              <a:noFill/>
              <a:ln w="12700" cap="rnd">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20" name="Line 45"/>
              <p:cNvSpPr>
                <a:spLocks noChangeShapeType="1"/>
              </p:cNvSpPr>
              <p:nvPr/>
            </p:nvSpPr>
            <p:spPr bwMode="auto">
              <a:xfrm>
                <a:off x="576" y="3264"/>
                <a:ext cx="0" cy="528"/>
              </a:xfrm>
              <a:prstGeom prst="line">
                <a:avLst/>
              </a:prstGeom>
              <a:noFill/>
              <a:ln w="12700" cap="rnd">
                <a:no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1" name="Line 46"/>
              <p:cNvSpPr>
                <a:spLocks noChangeShapeType="1"/>
              </p:cNvSpPr>
              <p:nvPr/>
            </p:nvSpPr>
            <p:spPr bwMode="auto">
              <a:xfrm>
                <a:off x="1200" y="3264"/>
                <a:ext cx="0" cy="528"/>
              </a:xfrm>
              <a:prstGeom prst="line">
                <a:avLst/>
              </a:prstGeom>
              <a:noFill/>
              <a:ln w="12700" cap="rnd">
                <a:no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2" name="Line 47"/>
              <p:cNvSpPr>
                <a:spLocks noChangeShapeType="1"/>
              </p:cNvSpPr>
              <p:nvPr/>
            </p:nvSpPr>
            <p:spPr bwMode="auto">
              <a:xfrm>
                <a:off x="2448" y="3264"/>
                <a:ext cx="0" cy="528"/>
              </a:xfrm>
              <a:prstGeom prst="line">
                <a:avLst/>
              </a:prstGeom>
              <a:noFill/>
              <a:ln w="12700" cap="rnd">
                <a:no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3" name="Line 48"/>
              <p:cNvSpPr>
                <a:spLocks noChangeShapeType="1"/>
              </p:cNvSpPr>
              <p:nvPr/>
            </p:nvSpPr>
            <p:spPr bwMode="auto">
              <a:xfrm>
                <a:off x="1824" y="3264"/>
                <a:ext cx="0" cy="528"/>
              </a:xfrm>
              <a:prstGeom prst="line">
                <a:avLst/>
              </a:prstGeom>
              <a:noFill/>
              <a:ln w="12700" cap="rnd">
                <a:no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4" name="Line 49"/>
              <p:cNvSpPr>
                <a:spLocks noChangeShapeType="1"/>
              </p:cNvSpPr>
              <p:nvPr/>
            </p:nvSpPr>
            <p:spPr bwMode="auto">
              <a:xfrm>
                <a:off x="3072" y="3264"/>
                <a:ext cx="0" cy="528"/>
              </a:xfrm>
              <a:prstGeom prst="line">
                <a:avLst/>
              </a:prstGeom>
              <a:noFill/>
              <a:ln w="12700" cap="rnd">
                <a:no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5" name="Line 50"/>
              <p:cNvSpPr>
                <a:spLocks noChangeShapeType="1"/>
              </p:cNvSpPr>
              <p:nvPr/>
            </p:nvSpPr>
            <p:spPr bwMode="auto">
              <a:xfrm>
                <a:off x="0" y="3529"/>
                <a:ext cx="3744" cy="0"/>
              </a:xfrm>
              <a:prstGeom prst="line">
                <a:avLst/>
              </a:prstGeom>
              <a:noFill/>
              <a:ln w="19050" cap="rnd">
                <a:no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grpSp>
        <p:sp>
          <p:nvSpPr>
            <p:cNvPr id="17" name="Text Box 51"/>
            <p:cNvSpPr txBox="1">
              <a:spLocks noChangeArrowheads="1"/>
            </p:cNvSpPr>
            <p:nvPr/>
          </p:nvSpPr>
          <p:spPr bwMode="auto">
            <a:xfrm>
              <a:off x="1104" y="3168"/>
              <a:ext cx="3696" cy="494"/>
            </a:xfrm>
            <a:prstGeom prst="rect">
              <a:avLst/>
            </a:prstGeom>
            <a:solidFill>
              <a:srgbClr val="DBF5F9"/>
            </a:solidFill>
            <a:ln w="12700" cap="rnd">
              <a:noFill/>
              <a:miter lim="800000"/>
              <a:headEnd/>
              <a:tailEnd/>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b="1" i="0" u="none" strike="noStrike" kern="0" cap="none" spc="0" normalizeH="0" baseline="0" noProof="0">
                  <a:ln>
                    <a:noFill/>
                  </a:ln>
                  <a:solidFill>
                    <a:srgbClr val="000000"/>
                  </a:solidFill>
                  <a:effectLst/>
                  <a:uLnTx/>
                  <a:uFillTx/>
                  <a:latin typeface="宋体" pitchFamily="2" charset="-122"/>
                </a:rPr>
                <a:t>分数    0-59  60-69  70-79  80-89  90-100</a:t>
              </a:r>
            </a:p>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b="1" i="0" u="none" strike="noStrike" kern="0" cap="none" spc="0" normalizeH="0" baseline="0" noProof="0">
                  <a:ln>
                    <a:noFill/>
                  </a:ln>
                  <a:solidFill>
                    <a:srgbClr val="000000"/>
                  </a:solidFill>
                  <a:effectLst/>
                  <a:uLnTx/>
                  <a:uFillTx/>
                  <a:latin typeface="宋体" pitchFamily="2" charset="-122"/>
                </a:rPr>
                <a:t>比例数  0.05   0.15   0.40   0.30   0.10</a:t>
              </a:r>
            </a:p>
          </p:txBody>
        </p:sp>
      </p:grpSp>
      <p:sp>
        <p:nvSpPr>
          <p:cNvPr id="26" name="Text Box 52"/>
          <p:cNvSpPr txBox="1">
            <a:spLocks noChangeArrowheads="1"/>
          </p:cNvSpPr>
          <p:nvPr/>
        </p:nvSpPr>
        <p:spPr bwMode="auto">
          <a:xfrm>
            <a:off x="1219200" y="1200090"/>
            <a:ext cx="7543800" cy="707886"/>
          </a:xfrm>
          <a:prstGeom prst="rect">
            <a:avLst/>
          </a:prstGeom>
          <a:noFill/>
          <a:ln w="12700" cap="rnd">
            <a:noFill/>
            <a:miter lim="800000"/>
            <a:headEnd/>
            <a:tailEnd/>
          </a:ln>
        </p:spPr>
        <p:txBody>
          <a:bodyPr wrap="square">
            <a:spAutoFit/>
          </a:bodyPr>
          <a:lstStyle/>
          <a:p>
            <a:pPr eaLnBrk="0" fontAlgn="base" hangingPunct="0">
              <a:spcBef>
                <a:spcPct val="50000"/>
              </a:spcBef>
              <a:spcAft>
                <a:spcPct val="0"/>
              </a:spcAft>
            </a:pPr>
            <a:r>
              <a:rPr kumimoji="1" lang="zh-CN" altLang="en-US" sz="2000" b="1" dirty="0">
                <a:solidFill>
                  <a:srgbClr val="000000"/>
                </a:solidFill>
                <a:latin typeface="Times New Roman" pitchFamily="18" charset="0"/>
              </a:rPr>
              <a:t>设有10000个百分制分数要转换，设学生成绩在5个等级以上的分 布如下</a:t>
            </a:r>
            <a:r>
              <a:rPr kumimoji="1" lang="zh-CN" altLang="en-US" sz="2000" dirty="0">
                <a:solidFill>
                  <a:srgbClr val="000000"/>
                </a:solidFill>
                <a:latin typeface="Times New Roman" pitchFamily="18" charset="0"/>
              </a:rPr>
              <a:t>：</a:t>
            </a:r>
          </a:p>
        </p:txBody>
      </p:sp>
      <p:grpSp>
        <p:nvGrpSpPr>
          <p:cNvPr id="27" name="Group 56"/>
          <p:cNvGrpSpPr>
            <a:grpSpLocks/>
          </p:cNvGrpSpPr>
          <p:nvPr/>
        </p:nvGrpSpPr>
        <p:grpSpPr bwMode="auto">
          <a:xfrm>
            <a:off x="4019550" y="3765550"/>
            <a:ext cx="5410200" cy="2971800"/>
            <a:chOff x="1584" y="1872"/>
            <a:chExt cx="3408" cy="1872"/>
          </a:xfrm>
        </p:grpSpPr>
        <p:sp>
          <p:nvSpPr>
            <p:cNvPr id="28" name="Line 57"/>
            <p:cNvSpPr>
              <a:spLocks noChangeShapeType="1"/>
            </p:cNvSpPr>
            <p:nvPr/>
          </p:nvSpPr>
          <p:spPr bwMode="auto">
            <a:xfrm flipH="1">
              <a:off x="2160" y="2064"/>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29" name="Line 58"/>
            <p:cNvSpPr>
              <a:spLocks noChangeShapeType="1"/>
            </p:cNvSpPr>
            <p:nvPr/>
          </p:nvSpPr>
          <p:spPr bwMode="auto">
            <a:xfrm>
              <a:off x="3168" y="2064"/>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0" name="Line 59"/>
            <p:cNvSpPr>
              <a:spLocks noChangeShapeType="1"/>
            </p:cNvSpPr>
            <p:nvPr/>
          </p:nvSpPr>
          <p:spPr bwMode="auto">
            <a:xfrm flipH="1">
              <a:off x="2592" y="2448"/>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1" name="Line 60"/>
            <p:cNvSpPr>
              <a:spLocks noChangeShapeType="1"/>
            </p:cNvSpPr>
            <p:nvPr/>
          </p:nvSpPr>
          <p:spPr bwMode="auto">
            <a:xfrm flipH="1">
              <a:off x="2928" y="2832"/>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2" name="Line 61"/>
            <p:cNvSpPr>
              <a:spLocks noChangeShapeType="1"/>
            </p:cNvSpPr>
            <p:nvPr/>
          </p:nvSpPr>
          <p:spPr bwMode="auto">
            <a:xfrm flipH="1">
              <a:off x="3264" y="3216"/>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3" name="Line 62"/>
            <p:cNvSpPr>
              <a:spLocks noChangeShapeType="1"/>
            </p:cNvSpPr>
            <p:nvPr/>
          </p:nvSpPr>
          <p:spPr bwMode="auto">
            <a:xfrm>
              <a:off x="3648" y="2448"/>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4" name="Line 63"/>
            <p:cNvSpPr>
              <a:spLocks noChangeShapeType="1"/>
            </p:cNvSpPr>
            <p:nvPr/>
          </p:nvSpPr>
          <p:spPr bwMode="auto">
            <a:xfrm>
              <a:off x="3984" y="2832"/>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sp>
          <p:nvSpPr>
            <p:cNvPr id="35" name="Line 64"/>
            <p:cNvSpPr>
              <a:spLocks noChangeShapeType="1"/>
            </p:cNvSpPr>
            <p:nvPr/>
          </p:nvSpPr>
          <p:spPr bwMode="auto">
            <a:xfrm>
              <a:off x="4320" y="3216"/>
              <a:ext cx="144" cy="240"/>
            </a:xfrm>
            <a:prstGeom prst="line">
              <a:avLst/>
            </a:prstGeom>
            <a:noFill/>
            <a:ln w="34925" cap="rnd">
              <a:solidFill>
                <a:srgbClr val="000000"/>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srgbClr val="000000"/>
                </a:solidFill>
                <a:effectLst/>
                <a:uLnTx/>
                <a:uFillTx/>
                <a:latin typeface="Times New Roman" pitchFamily="18" charset="0"/>
              </a:endParaRPr>
            </a:p>
          </p:txBody>
        </p:sp>
        <p:grpSp>
          <p:nvGrpSpPr>
            <p:cNvPr id="36" name="Group 65"/>
            <p:cNvGrpSpPr>
              <a:grpSpLocks/>
            </p:cNvGrpSpPr>
            <p:nvPr/>
          </p:nvGrpSpPr>
          <p:grpSpPr bwMode="auto">
            <a:xfrm>
              <a:off x="1584" y="1872"/>
              <a:ext cx="3408" cy="1872"/>
              <a:chOff x="2160" y="624"/>
              <a:chExt cx="3408" cy="1872"/>
            </a:xfrm>
          </p:grpSpPr>
          <p:grpSp>
            <p:nvGrpSpPr>
              <p:cNvPr id="37" name="Group 66"/>
              <p:cNvGrpSpPr>
                <a:grpSpLocks/>
              </p:cNvGrpSpPr>
              <p:nvPr/>
            </p:nvGrpSpPr>
            <p:grpSpPr bwMode="auto">
              <a:xfrm>
                <a:off x="3600" y="1392"/>
                <a:ext cx="1008" cy="288"/>
                <a:chOff x="2688" y="2160"/>
                <a:chExt cx="1008" cy="288"/>
              </a:xfrm>
            </p:grpSpPr>
            <p:sp>
              <p:nvSpPr>
                <p:cNvPr id="62" name="Freeform 67"/>
                <p:cNvSpPr>
                  <a:spLocks/>
                </p:cNvSpPr>
                <p:nvPr/>
              </p:nvSpPr>
              <p:spPr bwMode="auto">
                <a:xfrm>
                  <a:off x="2715" y="2160"/>
                  <a:ext cx="981" cy="288"/>
                </a:xfrm>
                <a:custGeom>
                  <a:avLst/>
                  <a:gdLst>
                    <a:gd name="T0" fmla="*/ 1013 w 837"/>
                    <a:gd name="T1" fmla="*/ 21 h 295"/>
                    <a:gd name="T2" fmla="*/ 6620 w 837"/>
                    <a:gd name="T3" fmla="*/ 16 h 295"/>
                    <a:gd name="T4" fmla="*/ 7731 w 837"/>
                    <a:gd name="T5" fmla="*/ 111 h 295"/>
                    <a:gd name="T6" fmla="*/ 6786 w 837"/>
                    <a:gd name="T7" fmla="*/ 211 h 295"/>
                    <a:gd name="T8" fmla="*/ 1270 w 837"/>
                    <a:gd name="T9" fmla="*/ 211 h 295"/>
                    <a:gd name="T10" fmla="*/ 0 w 837"/>
                    <a:gd name="T11" fmla="*/ 111 h 295"/>
                    <a:gd name="T12" fmla="*/ 1413 w 837"/>
                    <a:gd name="T13" fmla="*/ 0 h 295"/>
                    <a:gd name="T14" fmla="*/ 0 60000 65536"/>
                    <a:gd name="T15" fmla="*/ 0 60000 65536"/>
                    <a:gd name="T16" fmla="*/ 0 60000 65536"/>
                    <a:gd name="T17" fmla="*/ 0 60000 65536"/>
                    <a:gd name="T18" fmla="*/ 0 60000 65536"/>
                    <a:gd name="T19" fmla="*/ 0 60000 65536"/>
                    <a:gd name="T20" fmla="*/ 0 60000 65536"/>
                    <a:gd name="T21" fmla="*/ 0 w 837"/>
                    <a:gd name="T22" fmla="*/ 0 h 295"/>
                    <a:gd name="T23" fmla="*/ 837 w 837"/>
                    <a:gd name="T24" fmla="*/ 295 h 2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7" h="295">
                      <a:moveTo>
                        <a:pt x="110" y="21"/>
                      </a:moveTo>
                      <a:lnTo>
                        <a:pt x="717" y="16"/>
                      </a:lnTo>
                      <a:lnTo>
                        <a:pt x="837" y="155"/>
                      </a:lnTo>
                      <a:lnTo>
                        <a:pt x="735" y="295"/>
                      </a:lnTo>
                      <a:lnTo>
                        <a:pt x="137" y="295"/>
                      </a:lnTo>
                      <a:lnTo>
                        <a:pt x="0" y="155"/>
                      </a:lnTo>
                      <a:lnTo>
                        <a:pt x="154" y="0"/>
                      </a:lnTo>
                    </a:path>
                  </a:pathLst>
                </a:custGeom>
                <a:solidFill>
                  <a:srgbClr val="99CCFF"/>
                </a:solidFill>
                <a:ln w="12700"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63" name="Text Box 68"/>
                <p:cNvSpPr txBox="1">
                  <a:spLocks noChangeArrowheads="1"/>
                </p:cNvSpPr>
                <p:nvPr/>
              </p:nvSpPr>
              <p:spPr bwMode="auto">
                <a:xfrm>
                  <a:off x="2688" y="2160"/>
                  <a:ext cx="1008" cy="252"/>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a </a:t>
                  </a: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sym typeface="Symbol" pitchFamily="18" charset="2"/>
                    </a:rPr>
                    <a:t></a:t>
                  </a: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 80</a:t>
                  </a:r>
                </a:p>
              </p:txBody>
            </p:sp>
          </p:grpSp>
          <p:grpSp>
            <p:nvGrpSpPr>
              <p:cNvPr id="38" name="Group 69"/>
              <p:cNvGrpSpPr>
                <a:grpSpLocks/>
              </p:cNvGrpSpPr>
              <p:nvPr/>
            </p:nvGrpSpPr>
            <p:grpSpPr bwMode="auto">
              <a:xfrm>
                <a:off x="3936" y="1776"/>
                <a:ext cx="1008" cy="288"/>
                <a:chOff x="2688" y="2160"/>
                <a:chExt cx="1008" cy="288"/>
              </a:xfrm>
            </p:grpSpPr>
            <p:sp>
              <p:nvSpPr>
                <p:cNvPr id="60" name="Freeform 70"/>
                <p:cNvSpPr>
                  <a:spLocks/>
                </p:cNvSpPr>
                <p:nvPr/>
              </p:nvSpPr>
              <p:spPr bwMode="auto">
                <a:xfrm>
                  <a:off x="2715" y="2160"/>
                  <a:ext cx="981" cy="288"/>
                </a:xfrm>
                <a:custGeom>
                  <a:avLst/>
                  <a:gdLst>
                    <a:gd name="T0" fmla="*/ 1013 w 837"/>
                    <a:gd name="T1" fmla="*/ 21 h 295"/>
                    <a:gd name="T2" fmla="*/ 6620 w 837"/>
                    <a:gd name="T3" fmla="*/ 16 h 295"/>
                    <a:gd name="T4" fmla="*/ 7731 w 837"/>
                    <a:gd name="T5" fmla="*/ 111 h 295"/>
                    <a:gd name="T6" fmla="*/ 6786 w 837"/>
                    <a:gd name="T7" fmla="*/ 211 h 295"/>
                    <a:gd name="T8" fmla="*/ 1270 w 837"/>
                    <a:gd name="T9" fmla="*/ 211 h 295"/>
                    <a:gd name="T10" fmla="*/ 0 w 837"/>
                    <a:gd name="T11" fmla="*/ 111 h 295"/>
                    <a:gd name="T12" fmla="*/ 1413 w 837"/>
                    <a:gd name="T13" fmla="*/ 0 h 295"/>
                    <a:gd name="T14" fmla="*/ 0 60000 65536"/>
                    <a:gd name="T15" fmla="*/ 0 60000 65536"/>
                    <a:gd name="T16" fmla="*/ 0 60000 65536"/>
                    <a:gd name="T17" fmla="*/ 0 60000 65536"/>
                    <a:gd name="T18" fmla="*/ 0 60000 65536"/>
                    <a:gd name="T19" fmla="*/ 0 60000 65536"/>
                    <a:gd name="T20" fmla="*/ 0 60000 65536"/>
                    <a:gd name="T21" fmla="*/ 0 w 837"/>
                    <a:gd name="T22" fmla="*/ 0 h 295"/>
                    <a:gd name="T23" fmla="*/ 837 w 837"/>
                    <a:gd name="T24" fmla="*/ 295 h 2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7" h="295">
                      <a:moveTo>
                        <a:pt x="110" y="21"/>
                      </a:moveTo>
                      <a:lnTo>
                        <a:pt x="717" y="16"/>
                      </a:lnTo>
                      <a:lnTo>
                        <a:pt x="837" y="155"/>
                      </a:lnTo>
                      <a:lnTo>
                        <a:pt x="735" y="295"/>
                      </a:lnTo>
                      <a:lnTo>
                        <a:pt x="137" y="295"/>
                      </a:lnTo>
                      <a:lnTo>
                        <a:pt x="0" y="155"/>
                      </a:lnTo>
                      <a:lnTo>
                        <a:pt x="154" y="0"/>
                      </a:lnTo>
                    </a:path>
                  </a:pathLst>
                </a:custGeom>
                <a:solidFill>
                  <a:srgbClr val="99CCFF"/>
                </a:solidFill>
                <a:ln w="12700"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61" name="Text Box 71"/>
                <p:cNvSpPr txBox="1">
                  <a:spLocks noChangeArrowheads="1"/>
                </p:cNvSpPr>
                <p:nvPr/>
              </p:nvSpPr>
              <p:spPr bwMode="auto">
                <a:xfrm>
                  <a:off x="2688" y="2160"/>
                  <a:ext cx="1008" cy="252"/>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a </a:t>
                  </a: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sym typeface="Symbol" pitchFamily="18" charset="2"/>
                    </a:rPr>
                    <a:t></a:t>
                  </a: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 90</a:t>
                  </a:r>
                </a:p>
              </p:txBody>
            </p:sp>
          </p:grpSp>
          <p:grpSp>
            <p:nvGrpSpPr>
              <p:cNvPr id="39" name="Group 72"/>
              <p:cNvGrpSpPr>
                <a:grpSpLocks/>
              </p:cNvGrpSpPr>
              <p:nvPr/>
            </p:nvGrpSpPr>
            <p:grpSpPr bwMode="auto">
              <a:xfrm>
                <a:off x="2160" y="1056"/>
                <a:ext cx="1200" cy="288"/>
                <a:chOff x="1104" y="1584"/>
                <a:chExt cx="1200" cy="288"/>
              </a:xfrm>
            </p:grpSpPr>
            <p:sp>
              <p:nvSpPr>
                <p:cNvPr id="58" name="Rectangle 73"/>
                <p:cNvSpPr>
                  <a:spLocks noChangeArrowheads="1"/>
                </p:cNvSpPr>
                <p:nvPr/>
              </p:nvSpPr>
              <p:spPr bwMode="auto">
                <a:xfrm>
                  <a:off x="1200" y="1584"/>
                  <a:ext cx="912" cy="288"/>
                </a:xfrm>
                <a:prstGeom prst="rect">
                  <a:avLst/>
                </a:prstGeom>
                <a:solidFill>
                  <a:srgbClr val="99CCFF"/>
                </a:solidFill>
                <a:ln w="28575"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59" name="Text Box 74"/>
                <p:cNvSpPr txBox="1">
                  <a:spLocks noChangeArrowheads="1"/>
                </p:cNvSpPr>
                <p:nvPr/>
              </p:nvSpPr>
              <p:spPr bwMode="auto">
                <a:xfrm>
                  <a:off x="1104" y="1584"/>
                  <a:ext cx="1200" cy="252"/>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不及格</a:t>
                  </a:r>
                </a:p>
              </p:txBody>
            </p:sp>
          </p:grpSp>
          <p:grpSp>
            <p:nvGrpSpPr>
              <p:cNvPr id="40" name="Group 75"/>
              <p:cNvGrpSpPr>
                <a:grpSpLocks/>
              </p:cNvGrpSpPr>
              <p:nvPr/>
            </p:nvGrpSpPr>
            <p:grpSpPr bwMode="auto">
              <a:xfrm>
                <a:off x="3216" y="2208"/>
                <a:ext cx="1200" cy="288"/>
                <a:chOff x="1104" y="1584"/>
                <a:chExt cx="1200" cy="288"/>
              </a:xfrm>
            </p:grpSpPr>
            <p:sp>
              <p:nvSpPr>
                <p:cNvPr id="56" name="Rectangle 76"/>
                <p:cNvSpPr>
                  <a:spLocks noChangeArrowheads="1"/>
                </p:cNvSpPr>
                <p:nvPr/>
              </p:nvSpPr>
              <p:spPr bwMode="auto">
                <a:xfrm>
                  <a:off x="1200" y="1584"/>
                  <a:ext cx="912" cy="288"/>
                </a:xfrm>
                <a:prstGeom prst="rect">
                  <a:avLst/>
                </a:prstGeom>
                <a:solidFill>
                  <a:srgbClr val="99CCFF"/>
                </a:solidFill>
                <a:ln w="28575"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57" name="Text Box 77"/>
                <p:cNvSpPr txBox="1">
                  <a:spLocks noChangeArrowheads="1"/>
                </p:cNvSpPr>
                <p:nvPr/>
              </p:nvSpPr>
              <p:spPr bwMode="auto">
                <a:xfrm>
                  <a:off x="1104" y="1584"/>
                  <a:ext cx="1200" cy="252"/>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良好</a:t>
                  </a:r>
                </a:p>
              </p:txBody>
            </p:sp>
          </p:grpSp>
          <p:grpSp>
            <p:nvGrpSpPr>
              <p:cNvPr id="41" name="Group 78"/>
              <p:cNvGrpSpPr>
                <a:grpSpLocks/>
              </p:cNvGrpSpPr>
              <p:nvPr/>
            </p:nvGrpSpPr>
            <p:grpSpPr bwMode="auto">
              <a:xfrm>
                <a:off x="2784" y="1824"/>
                <a:ext cx="1200" cy="288"/>
                <a:chOff x="1104" y="1584"/>
                <a:chExt cx="1200" cy="288"/>
              </a:xfrm>
            </p:grpSpPr>
            <p:sp>
              <p:nvSpPr>
                <p:cNvPr id="54" name="Rectangle 79"/>
                <p:cNvSpPr>
                  <a:spLocks noChangeArrowheads="1"/>
                </p:cNvSpPr>
                <p:nvPr/>
              </p:nvSpPr>
              <p:spPr bwMode="auto">
                <a:xfrm>
                  <a:off x="1200" y="1584"/>
                  <a:ext cx="912" cy="288"/>
                </a:xfrm>
                <a:prstGeom prst="rect">
                  <a:avLst/>
                </a:prstGeom>
                <a:solidFill>
                  <a:srgbClr val="99CCFF"/>
                </a:solidFill>
                <a:ln w="28575"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55" name="Text Box 80"/>
                <p:cNvSpPr txBox="1">
                  <a:spLocks noChangeArrowheads="1"/>
                </p:cNvSpPr>
                <p:nvPr/>
              </p:nvSpPr>
              <p:spPr bwMode="auto">
                <a:xfrm>
                  <a:off x="1104" y="1584"/>
                  <a:ext cx="1200" cy="252"/>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中等</a:t>
                  </a:r>
                </a:p>
              </p:txBody>
            </p:sp>
          </p:grpSp>
          <p:grpSp>
            <p:nvGrpSpPr>
              <p:cNvPr id="42" name="Group 81"/>
              <p:cNvGrpSpPr>
                <a:grpSpLocks/>
              </p:cNvGrpSpPr>
              <p:nvPr/>
            </p:nvGrpSpPr>
            <p:grpSpPr bwMode="auto">
              <a:xfrm>
                <a:off x="2448" y="1440"/>
                <a:ext cx="1200" cy="288"/>
                <a:chOff x="1104" y="1584"/>
                <a:chExt cx="1200" cy="288"/>
              </a:xfrm>
            </p:grpSpPr>
            <p:sp>
              <p:nvSpPr>
                <p:cNvPr id="52" name="Rectangle 82"/>
                <p:cNvSpPr>
                  <a:spLocks noChangeArrowheads="1"/>
                </p:cNvSpPr>
                <p:nvPr/>
              </p:nvSpPr>
              <p:spPr bwMode="auto">
                <a:xfrm>
                  <a:off x="1200" y="1584"/>
                  <a:ext cx="912" cy="288"/>
                </a:xfrm>
                <a:prstGeom prst="rect">
                  <a:avLst/>
                </a:prstGeom>
                <a:solidFill>
                  <a:srgbClr val="99CCFF"/>
                </a:solidFill>
                <a:ln w="28575"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53" name="Text Box 83"/>
                <p:cNvSpPr txBox="1">
                  <a:spLocks noChangeArrowheads="1"/>
                </p:cNvSpPr>
                <p:nvPr/>
              </p:nvSpPr>
              <p:spPr bwMode="auto">
                <a:xfrm>
                  <a:off x="1104" y="1584"/>
                  <a:ext cx="1200" cy="252"/>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及格</a:t>
                  </a:r>
                </a:p>
              </p:txBody>
            </p:sp>
          </p:grpSp>
          <p:grpSp>
            <p:nvGrpSpPr>
              <p:cNvPr id="43" name="Group 84"/>
              <p:cNvGrpSpPr>
                <a:grpSpLocks/>
              </p:cNvGrpSpPr>
              <p:nvPr/>
            </p:nvGrpSpPr>
            <p:grpSpPr bwMode="auto">
              <a:xfrm>
                <a:off x="4368" y="2208"/>
                <a:ext cx="1200" cy="288"/>
                <a:chOff x="1104" y="1584"/>
                <a:chExt cx="1200" cy="288"/>
              </a:xfrm>
            </p:grpSpPr>
            <p:sp>
              <p:nvSpPr>
                <p:cNvPr id="50" name="Rectangle 85"/>
                <p:cNvSpPr>
                  <a:spLocks noChangeArrowheads="1"/>
                </p:cNvSpPr>
                <p:nvPr/>
              </p:nvSpPr>
              <p:spPr bwMode="auto">
                <a:xfrm>
                  <a:off x="1200" y="1584"/>
                  <a:ext cx="912" cy="288"/>
                </a:xfrm>
                <a:prstGeom prst="rect">
                  <a:avLst/>
                </a:prstGeom>
                <a:solidFill>
                  <a:srgbClr val="99CCFF"/>
                </a:solidFill>
                <a:ln w="28575" cap="rnd">
                  <a:solidFill>
                    <a:srgbClr val="DBF5F9"/>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51" name="Text Box 86"/>
                <p:cNvSpPr txBox="1">
                  <a:spLocks noChangeArrowheads="1"/>
                </p:cNvSpPr>
                <p:nvPr/>
              </p:nvSpPr>
              <p:spPr bwMode="auto">
                <a:xfrm>
                  <a:off x="1104" y="1584"/>
                  <a:ext cx="1200" cy="252"/>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000" b="1" i="0" u="none" strike="noStrike" kern="0" cap="none" spc="0" normalizeH="0" baseline="0" noProof="0">
                      <a:ln>
                        <a:noFill/>
                      </a:ln>
                      <a:solidFill>
                        <a:srgbClr val="0000FF"/>
                      </a:solidFill>
                      <a:effectLst/>
                      <a:uLnTx/>
                      <a:uFillTx/>
                      <a:latin typeface="隶书" pitchFamily="49" charset="-122"/>
                      <a:ea typeface="隶书" pitchFamily="49" charset="-122"/>
                    </a:rPr>
                    <a:t>优秀</a:t>
                  </a:r>
                </a:p>
              </p:txBody>
            </p:sp>
          </p:grpSp>
          <p:grpSp>
            <p:nvGrpSpPr>
              <p:cNvPr id="44" name="Group 87"/>
              <p:cNvGrpSpPr>
                <a:grpSpLocks/>
              </p:cNvGrpSpPr>
              <p:nvPr/>
            </p:nvGrpSpPr>
            <p:grpSpPr bwMode="auto">
              <a:xfrm>
                <a:off x="2784" y="624"/>
                <a:ext cx="1008" cy="288"/>
                <a:chOff x="2688" y="2160"/>
                <a:chExt cx="1008" cy="288"/>
              </a:xfrm>
            </p:grpSpPr>
            <p:sp>
              <p:nvSpPr>
                <p:cNvPr id="48" name="Freeform 88"/>
                <p:cNvSpPr>
                  <a:spLocks/>
                </p:cNvSpPr>
                <p:nvPr/>
              </p:nvSpPr>
              <p:spPr bwMode="auto">
                <a:xfrm>
                  <a:off x="2715" y="2160"/>
                  <a:ext cx="981" cy="288"/>
                </a:xfrm>
                <a:custGeom>
                  <a:avLst/>
                  <a:gdLst>
                    <a:gd name="T0" fmla="*/ 1013 w 837"/>
                    <a:gd name="T1" fmla="*/ 21 h 295"/>
                    <a:gd name="T2" fmla="*/ 6620 w 837"/>
                    <a:gd name="T3" fmla="*/ 16 h 295"/>
                    <a:gd name="T4" fmla="*/ 7731 w 837"/>
                    <a:gd name="T5" fmla="*/ 111 h 295"/>
                    <a:gd name="T6" fmla="*/ 6786 w 837"/>
                    <a:gd name="T7" fmla="*/ 211 h 295"/>
                    <a:gd name="T8" fmla="*/ 1270 w 837"/>
                    <a:gd name="T9" fmla="*/ 211 h 295"/>
                    <a:gd name="T10" fmla="*/ 0 w 837"/>
                    <a:gd name="T11" fmla="*/ 111 h 295"/>
                    <a:gd name="T12" fmla="*/ 1413 w 837"/>
                    <a:gd name="T13" fmla="*/ 0 h 295"/>
                    <a:gd name="T14" fmla="*/ 0 60000 65536"/>
                    <a:gd name="T15" fmla="*/ 0 60000 65536"/>
                    <a:gd name="T16" fmla="*/ 0 60000 65536"/>
                    <a:gd name="T17" fmla="*/ 0 60000 65536"/>
                    <a:gd name="T18" fmla="*/ 0 60000 65536"/>
                    <a:gd name="T19" fmla="*/ 0 60000 65536"/>
                    <a:gd name="T20" fmla="*/ 0 60000 65536"/>
                    <a:gd name="T21" fmla="*/ 0 w 837"/>
                    <a:gd name="T22" fmla="*/ 0 h 295"/>
                    <a:gd name="T23" fmla="*/ 837 w 837"/>
                    <a:gd name="T24" fmla="*/ 295 h 2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7" h="295">
                      <a:moveTo>
                        <a:pt x="110" y="21"/>
                      </a:moveTo>
                      <a:lnTo>
                        <a:pt x="717" y="16"/>
                      </a:lnTo>
                      <a:lnTo>
                        <a:pt x="837" y="155"/>
                      </a:lnTo>
                      <a:lnTo>
                        <a:pt x="735" y="295"/>
                      </a:lnTo>
                      <a:lnTo>
                        <a:pt x="137" y="295"/>
                      </a:lnTo>
                      <a:lnTo>
                        <a:pt x="0" y="155"/>
                      </a:lnTo>
                      <a:lnTo>
                        <a:pt x="154" y="0"/>
                      </a:lnTo>
                    </a:path>
                  </a:pathLst>
                </a:custGeom>
                <a:solidFill>
                  <a:srgbClr val="99CCFF"/>
                </a:solidFill>
                <a:ln w="12700"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49" name="Text Box 89"/>
                <p:cNvSpPr txBox="1">
                  <a:spLocks noChangeArrowheads="1"/>
                </p:cNvSpPr>
                <p:nvPr/>
              </p:nvSpPr>
              <p:spPr bwMode="auto">
                <a:xfrm>
                  <a:off x="2688" y="2160"/>
                  <a:ext cx="1008" cy="252"/>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a </a:t>
                  </a: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sym typeface="Symbol" pitchFamily="18" charset="2"/>
                    </a:rPr>
                    <a:t></a:t>
                  </a: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 60</a:t>
                  </a:r>
                </a:p>
              </p:txBody>
            </p:sp>
          </p:grpSp>
          <p:grpSp>
            <p:nvGrpSpPr>
              <p:cNvPr id="45" name="Group 90"/>
              <p:cNvGrpSpPr>
                <a:grpSpLocks/>
              </p:cNvGrpSpPr>
              <p:nvPr/>
            </p:nvGrpSpPr>
            <p:grpSpPr bwMode="auto">
              <a:xfrm>
                <a:off x="3264" y="1008"/>
                <a:ext cx="1008" cy="288"/>
                <a:chOff x="2688" y="2160"/>
                <a:chExt cx="1008" cy="288"/>
              </a:xfrm>
            </p:grpSpPr>
            <p:sp>
              <p:nvSpPr>
                <p:cNvPr id="46" name="Freeform 91"/>
                <p:cNvSpPr>
                  <a:spLocks/>
                </p:cNvSpPr>
                <p:nvPr/>
              </p:nvSpPr>
              <p:spPr bwMode="auto">
                <a:xfrm>
                  <a:off x="2715" y="2160"/>
                  <a:ext cx="981" cy="288"/>
                </a:xfrm>
                <a:custGeom>
                  <a:avLst/>
                  <a:gdLst>
                    <a:gd name="T0" fmla="*/ 1013 w 837"/>
                    <a:gd name="T1" fmla="*/ 21 h 295"/>
                    <a:gd name="T2" fmla="*/ 6620 w 837"/>
                    <a:gd name="T3" fmla="*/ 16 h 295"/>
                    <a:gd name="T4" fmla="*/ 7731 w 837"/>
                    <a:gd name="T5" fmla="*/ 111 h 295"/>
                    <a:gd name="T6" fmla="*/ 6786 w 837"/>
                    <a:gd name="T7" fmla="*/ 211 h 295"/>
                    <a:gd name="T8" fmla="*/ 1270 w 837"/>
                    <a:gd name="T9" fmla="*/ 211 h 295"/>
                    <a:gd name="T10" fmla="*/ 0 w 837"/>
                    <a:gd name="T11" fmla="*/ 111 h 295"/>
                    <a:gd name="T12" fmla="*/ 1413 w 837"/>
                    <a:gd name="T13" fmla="*/ 0 h 295"/>
                    <a:gd name="T14" fmla="*/ 0 60000 65536"/>
                    <a:gd name="T15" fmla="*/ 0 60000 65536"/>
                    <a:gd name="T16" fmla="*/ 0 60000 65536"/>
                    <a:gd name="T17" fmla="*/ 0 60000 65536"/>
                    <a:gd name="T18" fmla="*/ 0 60000 65536"/>
                    <a:gd name="T19" fmla="*/ 0 60000 65536"/>
                    <a:gd name="T20" fmla="*/ 0 60000 65536"/>
                    <a:gd name="T21" fmla="*/ 0 w 837"/>
                    <a:gd name="T22" fmla="*/ 0 h 295"/>
                    <a:gd name="T23" fmla="*/ 837 w 837"/>
                    <a:gd name="T24" fmla="*/ 295 h 2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7" h="295">
                      <a:moveTo>
                        <a:pt x="110" y="21"/>
                      </a:moveTo>
                      <a:lnTo>
                        <a:pt x="717" y="16"/>
                      </a:lnTo>
                      <a:lnTo>
                        <a:pt x="837" y="155"/>
                      </a:lnTo>
                      <a:lnTo>
                        <a:pt x="735" y="295"/>
                      </a:lnTo>
                      <a:lnTo>
                        <a:pt x="137" y="295"/>
                      </a:lnTo>
                      <a:lnTo>
                        <a:pt x="0" y="155"/>
                      </a:lnTo>
                      <a:lnTo>
                        <a:pt x="154" y="0"/>
                      </a:lnTo>
                    </a:path>
                  </a:pathLst>
                </a:custGeom>
                <a:solidFill>
                  <a:srgbClr val="99CCFF"/>
                </a:solidFill>
                <a:ln w="12700" cap="rnd">
                  <a:solidFill>
                    <a:srgbClr val="DBF5F9"/>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srgbClr val="000000"/>
                    </a:solidFill>
                    <a:effectLst/>
                    <a:uLnTx/>
                    <a:uFillTx/>
                    <a:latin typeface="Times New Roman" pitchFamily="18" charset="0"/>
                  </a:endParaRPr>
                </a:p>
              </p:txBody>
            </p:sp>
            <p:sp>
              <p:nvSpPr>
                <p:cNvPr id="47" name="Text Box 92"/>
                <p:cNvSpPr txBox="1">
                  <a:spLocks noChangeArrowheads="1"/>
                </p:cNvSpPr>
                <p:nvPr/>
              </p:nvSpPr>
              <p:spPr bwMode="auto">
                <a:xfrm>
                  <a:off x="2688" y="2160"/>
                  <a:ext cx="1008" cy="252"/>
                </a:xfrm>
                <a:prstGeom prst="rect">
                  <a:avLst/>
                </a:prstGeom>
                <a:noFill/>
                <a:ln w="12700" cap="rnd">
                  <a:noFill/>
                  <a:miter lim="800000"/>
                  <a:headEnd/>
                  <a:tailEnd/>
                </a:ln>
              </p:spPr>
              <p:txBody>
                <a:bodyP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a </a:t>
                  </a: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sym typeface="Symbol" pitchFamily="18" charset="2"/>
                    </a:rPr>
                    <a:t></a:t>
                  </a:r>
                  <a:r>
                    <a:rPr kumimoji="1" lang="en-US" altLang="zh-CN" sz="2000" b="1" i="0" u="none" strike="noStrike" kern="0" cap="none" spc="0" normalizeH="0" baseline="0" noProof="0">
                      <a:ln>
                        <a:noFill/>
                      </a:ln>
                      <a:solidFill>
                        <a:srgbClr val="0000FF"/>
                      </a:solidFill>
                      <a:effectLst/>
                      <a:uLnTx/>
                      <a:uFillTx/>
                      <a:latin typeface="隶书" pitchFamily="49" charset="-122"/>
                      <a:ea typeface="隶书" pitchFamily="49" charset="-122"/>
                    </a:rPr>
                    <a:t> 70</a:t>
                  </a:r>
                </a:p>
              </p:txBody>
            </p:sp>
          </p:grpSp>
        </p:grpSp>
      </p:grpSp>
      <p:sp>
        <p:nvSpPr>
          <p:cNvPr id="64" name="Oval 93"/>
          <p:cNvSpPr>
            <a:spLocks noChangeArrowheads="1"/>
          </p:cNvSpPr>
          <p:nvPr/>
        </p:nvSpPr>
        <p:spPr bwMode="auto">
          <a:xfrm>
            <a:off x="136525" y="1211203"/>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400" b="1" dirty="0">
                <a:solidFill>
                  <a:srgbClr val="000000"/>
                </a:solidFill>
                <a:latin typeface="Times New Roman" pitchFamily="18" charset="0"/>
              </a:rPr>
              <a:t>例</a:t>
            </a:r>
          </a:p>
        </p:txBody>
      </p:sp>
    </p:spTree>
    <p:extLst>
      <p:ext uri="{BB962C8B-B14F-4D97-AF65-F5344CB8AC3E}">
        <p14:creationId xmlns:p14="http://schemas.microsoft.com/office/powerpoint/2010/main" val="379913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charset="0"/>
                <a:ea typeface="宋体" charset="-122"/>
                <a:cs typeface="+mn-cs"/>
              </a:rPr>
              <a:t>5.5.4  </a:t>
            </a:r>
            <a:r>
              <a:rPr kumimoji="1" lang="en-US" altLang="zh-CN" sz="3200" b="1" dirty="0" err="1">
                <a:latin typeface="Arial" charset="0"/>
                <a:ea typeface="宋体" charset="-122"/>
                <a:cs typeface="+mn-cs"/>
              </a:rPr>
              <a:t>huffman</a:t>
            </a:r>
            <a:r>
              <a:rPr kumimoji="1" lang="zh-CN" altLang="en-US" sz="3200" b="1" dirty="0">
                <a:latin typeface="Arial" charset="0"/>
                <a:ea typeface="宋体" charset="-122"/>
                <a:cs typeface="+mn-cs"/>
              </a:rPr>
              <a:t>树及其应用</a:t>
            </a:r>
          </a:p>
        </p:txBody>
      </p:sp>
      <p:sp>
        <p:nvSpPr>
          <p:cNvPr id="3" name="内容占位符 2"/>
          <p:cNvSpPr>
            <a:spLocks noGrp="1"/>
          </p:cNvSpPr>
          <p:nvPr>
            <p:ph idx="1"/>
          </p:nvPr>
        </p:nvSpPr>
        <p:spPr>
          <a:xfrm>
            <a:off x="457200" y="1219200"/>
            <a:ext cx="8229600" cy="5105400"/>
          </a:xfrm>
        </p:spPr>
        <p:txBody>
          <a:bodyPr>
            <a:normAutofit/>
          </a:bodyPr>
          <a:lstStyle/>
          <a:p>
            <a:pPr>
              <a:lnSpc>
                <a:spcPts val="3600"/>
              </a:lnSpc>
            </a:pPr>
            <a:endParaRPr lang="zh-CN" altLang="en-US" sz="2400" b="1" dirty="0"/>
          </a:p>
        </p:txBody>
      </p:sp>
      <p:sp>
        <p:nvSpPr>
          <p:cNvPr id="4" name="日期占位符 3"/>
          <p:cNvSpPr>
            <a:spLocks noGrp="1"/>
          </p:cNvSpPr>
          <p:nvPr>
            <p:ph type="dt" sz="half" idx="10"/>
          </p:nvPr>
        </p:nvSpPr>
        <p:spPr/>
        <p:txBody>
          <a:bodyPr/>
          <a:lstStyle/>
          <a:p>
            <a:fld id="{93A52401-41BB-4A4D-B6BF-368E42138EED}"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188</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grpSp>
        <p:nvGrpSpPr>
          <p:cNvPr id="15" name="Group 42"/>
          <p:cNvGrpSpPr>
            <a:grpSpLocks/>
          </p:cNvGrpSpPr>
          <p:nvPr/>
        </p:nvGrpSpPr>
        <p:grpSpPr bwMode="auto">
          <a:xfrm>
            <a:off x="1828800" y="1828800"/>
            <a:ext cx="5867400" cy="838200"/>
            <a:chOff x="1104" y="3168"/>
            <a:chExt cx="3696" cy="528"/>
          </a:xfrm>
        </p:grpSpPr>
        <p:grpSp>
          <p:nvGrpSpPr>
            <p:cNvPr id="16" name="Group 43"/>
            <p:cNvGrpSpPr>
              <a:grpSpLocks/>
            </p:cNvGrpSpPr>
            <p:nvPr/>
          </p:nvGrpSpPr>
          <p:grpSpPr bwMode="auto">
            <a:xfrm>
              <a:off x="1104" y="3168"/>
              <a:ext cx="3408" cy="528"/>
              <a:chOff x="0" y="3264"/>
              <a:chExt cx="3744" cy="528"/>
            </a:xfrm>
          </p:grpSpPr>
          <p:sp>
            <p:nvSpPr>
              <p:cNvPr id="19" name="Rectangle 44"/>
              <p:cNvSpPr>
                <a:spLocks noChangeArrowheads="1"/>
              </p:cNvSpPr>
              <p:nvPr/>
            </p:nvSpPr>
            <p:spPr bwMode="auto">
              <a:xfrm>
                <a:off x="0" y="3264"/>
                <a:ext cx="3744" cy="528"/>
              </a:xfrm>
              <a:prstGeom prst="rect">
                <a:avLst/>
              </a:prstGeom>
              <a:noFill/>
              <a:ln w="12700" cap="rnd">
                <a:noFill/>
                <a:miter lim="800000"/>
                <a:headEnd/>
                <a:tailEnd/>
              </a:ln>
            </p:spPr>
            <p:txBody>
              <a:bodyPr wrap="none" anchor="ctr"/>
              <a:lstStyle/>
              <a:p>
                <a:pPr algn="ctr" eaLnBrk="0" fontAlgn="base" hangingPunct="0">
                  <a:spcBef>
                    <a:spcPct val="0"/>
                  </a:spcBef>
                  <a:spcAft>
                    <a:spcPct val="0"/>
                  </a:spcAft>
                  <a:defRPr/>
                </a:pPr>
                <a:endParaRPr kumimoji="1" lang="zh-CN" altLang="en-US" sz="3200" kern="0">
                  <a:solidFill>
                    <a:srgbClr val="000000"/>
                  </a:solidFill>
                  <a:latin typeface="Times New Roman" pitchFamily="18" charset="0"/>
                </a:endParaRPr>
              </a:p>
            </p:txBody>
          </p:sp>
          <p:sp>
            <p:nvSpPr>
              <p:cNvPr id="20" name="Line 45"/>
              <p:cNvSpPr>
                <a:spLocks noChangeShapeType="1"/>
              </p:cNvSpPr>
              <p:nvPr/>
            </p:nvSpPr>
            <p:spPr bwMode="auto">
              <a:xfrm>
                <a:off x="576" y="3264"/>
                <a:ext cx="0" cy="528"/>
              </a:xfrm>
              <a:prstGeom prst="line">
                <a:avLst/>
              </a:prstGeom>
              <a:noFill/>
              <a:ln w="12700" cap="rnd">
                <a:noFill/>
                <a:round/>
                <a:headEnd/>
                <a:tailEnd/>
              </a:ln>
            </p:spPr>
            <p:txBody>
              <a:bodyPr/>
              <a:lstStyle/>
              <a:p>
                <a:pPr algn="ctr" eaLnBrk="0" fontAlgn="base" hangingPunct="0">
                  <a:spcBef>
                    <a:spcPct val="0"/>
                  </a:spcBef>
                  <a:spcAft>
                    <a:spcPct val="0"/>
                  </a:spcAft>
                  <a:defRPr/>
                </a:pPr>
                <a:endParaRPr kumimoji="1" lang="zh-CN" altLang="en-US" sz="2800" b="1" kern="0">
                  <a:solidFill>
                    <a:srgbClr val="000000"/>
                  </a:solidFill>
                  <a:latin typeface="Times New Roman" pitchFamily="18" charset="0"/>
                </a:endParaRPr>
              </a:p>
            </p:txBody>
          </p:sp>
          <p:sp>
            <p:nvSpPr>
              <p:cNvPr id="21" name="Line 46"/>
              <p:cNvSpPr>
                <a:spLocks noChangeShapeType="1"/>
              </p:cNvSpPr>
              <p:nvPr/>
            </p:nvSpPr>
            <p:spPr bwMode="auto">
              <a:xfrm>
                <a:off x="1200" y="3264"/>
                <a:ext cx="0" cy="528"/>
              </a:xfrm>
              <a:prstGeom prst="line">
                <a:avLst/>
              </a:prstGeom>
              <a:noFill/>
              <a:ln w="12700" cap="rnd">
                <a:noFill/>
                <a:round/>
                <a:headEnd/>
                <a:tailEnd/>
              </a:ln>
            </p:spPr>
            <p:txBody>
              <a:bodyPr/>
              <a:lstStyle/>
              <a:p>
                <a:pPr algn="ctr" eaLnBrk="0" fontAlgn="base" hangingPunct="0">
                  <a:spcBef>
                    <a:spcPct val="0"/>
                  </a:spcBef>
                  <a:spcAft>
                    <a:spcPct val="0"/>
                  </a:spcAft>
                  <a:defRPr/>
                </a:pPr>
                <a:endParaRPr kumimoji="1" lang="zh-CN" altLang="en-US" sz="2800" b="1" kern="0">
                  <a:solidFill>
                    <a:srgbClr val="000000"/>
                  </a:solidFill>
                  <a:latin typeface="Times New Roman" pitchFamily="18" charset="0"/>
                </a:endParaRPr>
              </a:p>
            </p:txBody>
          </p:sp>
          <p:sp>
            <p:nvSpPr>
              <p:cNvPr id="22" name="Line 47"/>
              <p:cNvSpPr>
                <a:spLocks noChangeShapeType="1"/>
              </p:cNvSpPr>
              <p:nvPr/>
            </p:nvSpPr>
            <p:spPr bwMode="auto">
              <a:xfrm>
                <a:off x="2448" y="3264"/>
                <a:ext cx="0" cy="528"/>
              </a:xfrm>
              <a:prstGeom prst="line">
                <a:avLst/>
              </a:prstGeom>
              <a:noFill/>
              <a:ln w="12700" cap="rnd">
                <a:noFill/>
                <a:round/>
                <a:headEnd/>
                <a:tailEnd/>
              </a:ln>
            </p:spPr>
            <p:txBody>
              <a:bodyPr/>
              <a:lstStyle/>
              <a:p>
                <a:pPr algn="ctr" eaLnBrk="0" fontAlgn="base" hangingPunct="0">
                  <a:spcBef>
                    <a:spcPct val="0"/>
                  </a:spcBef>
                  <a:spcAft>
                    <a:spcPct val="0"/>
                  </a:spcAft>
                  <a:defRPr/>
                </a:pPr>
                <a:endParaRPr kumimoji="1" lang="zh-CN" altLang="en-US" sz="2800" b="1" kern="0">
                  <a:solidFill>
                    <a:srgbClr val="000000"/>
                  </a:solidFill>
                  <a:latin typeface="Times New Roman" pitchFamily="18" charset="0"/>
                </a:endParaRPr>
              </a:p>
            </p:txBody>
          </p:sp>
          <p:sp>
            <p:nvSpPr>
              <p:cNvPr id="23" name="Line 48"/>
              <p:cNvSpPr>
                <a:spLocks noChangeShapeType="1"/>
              </p:cNvSpPr>
              <p:nvPr/>
            </p:nvSpPr>
            <p:spPr bwMode="auto">
              <a:xfrm>
                <a:off x="1824" y="3264"/>
                <a:ext cx="0" cy="528"/>
              </a:xfrm>
              <a:prstGeom prst="line">
                <a:avLst/>
              </a:prstGeom>
              <a:noFill/>
              <a:ln w="12700" cap="rnd">
                <a:noFill/>
                <a:round/>
                <a:headEnd/>
                <a:tailEnd/>
              </a:ln>
            </p:spPr>
            <p:txBody>
              <a:bodyPr/>
              <a:lstStyle/>
              <a:p>
                <a:pPr algn="ctr" eaLnBrk="0" fontAlgn="base" hangingPunct="0">
                  <a:spcBef>
                    <a:spcPct val="0"/>
                  </a:spcBef>
                  <a:spcAft>
                    <a:spcPct val="0"/>
                  </a:spcAft>
                  <a:defRPr/>
                </a:pPr>
                <a:endParaRPr kumimoji="1" lang="zh-CN" altLang="en-US" sz="2800" b="1" kern="0">
                  <a:solidFill>
                    <a:srgbClr val="000000"/>
                  </a:solidFill>
                  <a:latin typeface="Times New Roman" pitchFamily="18" charset="0"/>
                </a:endParaRPr>
              </a:p>
            </p:txBody>
          </p:sp>
          <p:sp>
            <p:nvSpPr>
              <p:cNvPr id="24" name="Line 49"/>
              <p:cNvSpPr>
                <a:spLocks noChangeShapeType="1"/>
              </p:cNvSpPr>
              <p:nvPr/>
            </p:nvSpPr>
            <p:spPr bwMode="auto">
              <a:xfrm>
                <a:off x="3072" y="3264"/>
                <a:ext cx="0" cy="528"/>
              </a:xfrm>
              <a:prstGeom prst="line">
                <a:avLst/>
              </a:prstGeom>
              <a:noFill/>
              <a:ln w="12700" cap="rnd">
                <a:noFill/>
                <a:round/>
                <a:headEnd/>
                <a:tailEnd/>
              </a:ln>
            </p:spPr>
            <p:txBody>
              <a:bodyPr/>
              <a:lstStyle/>
              <a:p>
                <a:pPr algn="ctr" eaLnBrk="0" fontAlgn="base" hangingPunct="0">
                  <a:spcBef>
                    <a:spcPct val="0"/>
                  </a:spcBef>
                  <a:spcAft>
                    <a:spcPct val="0"/>
                  </a:spcAft>
                  <a:defRPr/>
                </a:pPr>
                <a:endParaRPr kumimoji="1" lang="zh-CN" altLang="en-US" sz="2800" b="1" kern="0">
                  <a:solidFill>
                    <a:srgbClr val="000000"/>
                  </a:solidFill>
                  <a:latin typeface="Times New Roman" pitchFamily="18" charset="0"/>
                </a:endParaRPr>
              </a:p>
            </p:txBody>
          </p:sp>
          <p:sp>
            <p:nvSpPr>
              <p:cNvPr id="25" name="Line 50"/>
              <p:cNvSpPr>
                <a:spLocks noChangeShapeType="1"/>
              </p:cNvSpPr>
              <p:nvPr/>
            </p:nvSpPr>
            <p:spPr bwMode="auto">
              <a:xfrm>
                <a:off x="0" y="3529"/>
                <a:ext cx="3744" cy="0"/>
              </a:xfrm>
              <a:prstGeom prst="line">
                <a:avLst/>
              </a:prstGeom>
              <a:noFill/>
              <a:ln w="19050" cap="rnd">
                <a:noFill/>
                <a:round/>
                <a:headEnd/>
                <a:tailEnd/>
              </a:ln>
            </p:spPr>
            <p:txBody>
              <a:bodyPr/>
              <a:lstStyle/>
              <a:p>
                <a:pPr algn="ctr" eaLnBrk="0" fontAlgn="base" hangingPunct="0">
                  <a:spcBef>
                    <a:spcPct val="0"/>
                  </a:spcBef>
                  <a:spcAft>
                    <a:spcPct val="0"/>
                  </a:spcAft>
                  <a:defRPr/>
                </a:pPr>
                <a:endParaRPr kumimoji="1" lang="zh-CN" altLang="en-US" sz="2800" b="1" kern="0">
                  <a:solidFill>
                    <a:srgbClr val="000000"/>
                  </a:solidFill>
                  <a:latin typeface="Times New Roman" pitchFamily="18" charset="0"/>
                </a:endParaRPr>
              </a:p>
            </p:txBody>
          </p:sp>
        </p:grpSp>
        <p:sp>
          <p:nvSpPr>
            <p:cNvPr id="17" name="Text Box 51"/>
            <p:cNvSpPr txBox="1">
              <a:spLocks noChangeArrowheads="1"/>
            </p:cNvSpPr>
            <p:nvPr/>
          </p:nvSpPr>
          <p:spPr bwMode="auto">
            <a:xfrm>
              <a:off x="1104" y="3168"/>
              <a:ext cx="3696" cy="494"/>
            </a:xfrm>
            <a:prstGeom prst="rect">
              <a:avLst/>
            </a:prstGeom>
            <a:solidFill>
              <a:srgbClr val="DBF5F9"/>
            </a:solidFill>
            <a:ln w="12700" cap="rnd">
              <a:noFill/>
              <a:miter lim="800000"/>
              <a:headEnd/>
              <a:tailEnd/>
            </a:ln>
          </p:spPr>
          <p:txBody>
            <a:bodyPr>
              <a:spAutoFit/>
            </a:bodyPr>
            <a:lstStyle/>
            <a:p>
              <a:pPr eaLnBrk="0" fontAlgn="base" hangingPunct="0">
                <a:spcBef>
                  <a:spcPct val="50000"/>
                </a:spcBef>
                <a:spcAft>
                  <a:spcPct val="0"/>
                </a:spcAft>
                <a:defRPr/>
              </a:pPr>
              <a:r>
                <a:rPr kumimoji="1" lang="zh-CN" altLang="en-US" b="1" kern="0">
                  <a:solidFill>
                    <a:srgbClr val="000000"/>
                  </a:solidFill>
                  <a:latin typeface="宋体" pitchFamily="2" charset="-122"/>
                </a:rPr>
                <a:t>分数    0-59  60-69  70-79  80-89  90-100</a:t>
              </a:r>
            </a:p>
            <a:p>
              <a:pPr eaLnBrk="0" fontAlgn="base" hangingPunct="0">
                <a:spcBef>
                  <a:spcPct val="50000"/>
                </a:spcBef>
                <a:spcAft>
                  <a:spcPct val="0"/>
                </a:spcAft>
                <a:defRPr/>
              </a:pPr>
              <a:r>
                <a:rPr kumimoji="1" lang="zh-CN" altLang="en-US" b="1" kern="0">
                  <a:solidFill>
                    <a:srgbClr val="000000"/>
                  </a:solidFill>
                  <a:latin typeface="宋体" pitchFamily="2" charset="-122"/>
                </a:rPr>
                <a:t>比例数  0.05   0.15   0.40   0.30   0.10</a:t>
              </a:r>
            </a:p>
          </p:txBody>
        </p:sp>
      </p:grpSp>
      <p:sp>
        <p:nvSpPr>
          <p:cNvPr id="26" name="Text Box 52"/>
          <p:cNvSpPr txBox="1">
            <a:spLocks noChangeArrowheads="1"/>
          </p:cNvSpPr>
          <p:nvPr/>
        </p:nvSpPr>
        <p:spPr bwMode="auto">
          <a:xfrm>
            <a:off x="1219200" y="1200090"/>
            <a:ext cx="7543800" cy="707886"/>
          </a:xfrm>
          <a:prstGeom prst="rect">
            <a:avLst/>
          </a:prstGeom>
          <a:noFill/>
          <a:ln w="12700" cap="rnd">
            <a:noFill/>
            <a:miter lim="800000"/>
            <a:headEnd/>
            <a:tailEnd/>
          </a:ln>
        </p:spPr>
        <p:txBody>
          <a:bodyPr wrap="square">
            <a:spAutoFit/>
          </a:bodyPr>
          <a:lstStyle/>
          <a:p>
            <a:pPr eaLnBrk="0" fontAlgn="base" hangingPunct="0">
              <a:spcBef>
                <a:spcPct val="50000"/>
              </a:spcBef>
              <a:spcAft>
                <a:spcPct val="0"/>
              </a:spcAft>
            </a:pPr>
            <a:r>
              <a:rPr kumimoji="1" lang="zh-CN" altLang="en-US" sz="2000" b="1" dirty="0">
                <a:solidFill>
                  <a:srgbClr val="000000"/>
                </a:solidFill>
                <a:latin typeface="Times New Roman" pitchFamily="18" charset="0"/>
              </a:rPr>
              <a:t>设有10000个百分制分数要转换，设学生成绩在5个等级以上的分 布如下</a:t>
            </a:r>
            <a:r>
              <a:rPr kumimoji="1" lang="zh-CN" altLang="en-US" sz="2000" dirty="0">
                <a:solidFill>
                  <a:srgbClr val="000000"/>
                </a:solidFill>
                <a:latin typeface="Times New Roman" pitchFamily="18" charset="0"/>
              </a:rPr>
              <a:t>：</a:t>
            </a:r>
          </a:p>
        </p:txBody>
      </p:sp>
      <p:sp>
        <p:nvSpPr>
          <p:cNvPr id="64" name="Oval 93"/>
          <p:cNvSpPr>
            <a:spLocks noChangeArrowheads="1"/>
          </p:cNvSpPr>
          <p:nvPr/>
        </p:nvSpPr>
        <p:spPr bwMode="auto">
          <a:xfrm>
            <a:off x="136525" y="1211203"/>
            <a:ext cx="1143000" cy="381000"/>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headEnd/>
            <a:tailEnd/>
          </a:ln>
        </p:spPr>
        <p:txBody>
          <a:bodyPr wrap="none" anchor="ctr"/>
          <a:lstStyle/>
          <a:p>
            <a:pPr algn="ctr" fontAlgn="base">
              <a:spcBef>
                <a:spcPct val="0"/>
              </a:spcBef>
              <a:spcAft>
                <a:spcPct val="0"/>
              </a:spcAft>
            </a:pPr>
            <a:r>
              <a:rPr kumimoji="1" lang="zh-CN" altLang="en-US" sz="2400" b="1" dirty="0">
                <a:solidFill>
                  <a:srgbClr val="000000"/>
                </a:solidFill>
                <a:latin typeface="Times New Roman" pitchFamily="18" charset="0"/>
              </a:rPr>
              <a:t>例</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819400"/>
            <a:ext cx="4314825" cy="2790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descr="C:\Users\Haijun\AppData\Roaming\Tencent\Users\2968516474\QQ\WinTemp\RichOle\XYGSCW})IH6XZ2SX`0H78KN.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0" y="2857500"/>
            <a:ext cx="4838700" cy="2752725"/>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4464538" y="5562600"/>
            <a:ext cx="4572000" cy="923330"/>
          </a:xfrm>
          <a:prstGeom prst="rect">
            <a:avLst/>
          </a:prstGeom>
          <a:noFill/>
          <a:ln>
            <a:solidFill>
              <a:schemeClr val="accent1"/>
            </a:solidFill>
          </a:ln>
        </p:spPr>
        <p:txBody>
          <a:bodyPr>
            <a:spAutoFit/>
          </a:bodyPr>
          <a:lstStyle/>
          <a:p>
            <a:r>
              <a:rPr lang="zh-CN" altLang="en-US" b="1" dirty="0"/>
              <a:t>此种形状的二叉树，需要的比较次数是：</a:t>
            </a:r>
            <a:r>
              <a:rPr lang="en-US" altLang="zh-CN" b="1" dirty="0"/>
              <a:t>10000 (3×20</a:t>
            </a:r>
            <a:r>
              <a:rPr lang="zh-CN" altLang="en-US" b="1" dirty="0"/>
              <a:t>％＋</a:t>
            </a:r>
            <a:r>
              <a:rPr lang="en-US" altLang="zh-CN" b="1" dirty="0"/>
              <a:t>2×80</a:t>
            </a:r>
            <a:r>
              <a:rPr lang="zh-CN" altLang="en-US" b="1" dirty="0"/>
              <a:t>％</a:t>
            </a:r>
            <a:r>
              <a:rPr lang="en-US" altLang="zh-CN" b="1" dirty="0"/>
              <a:t>)</a:t>
            </a:r>
            <a:r>
              <a:rPr lang="zh-CN" altLang="en-US" b="1" dirty="0"/>
              <a:t>＝</a:t>
            </a:r>
            <a:r>
              <a:rPr lang="en-US" altLang="zh-CN" b="1" dirty="0"/>
              <a:t>22000</a:t>
            </a:r>
            <a:r>
              <a:rPr lang="zh-CN" altLang="en-US" b="1" dirty="0"/>
              <a:t>次，显然：两种判别树的效率是不一样的。</a:t>
            </a:r>
          </a:p>
        </p:txBody>
      </p:sp>
      <p:sp>
        <p:nvSpPr>
          <p:cNvPr id="8" name="矩形 7"/>
          <p:cNvSpPr/>
          <p:nvPr/>
        </p:nvSpPr>
        <p:spPr>
          <a:xfrm>
            <a:off x="212725" y="5562600"/>
            <a:ext cx="3902075" cy="646331"/>
          </a:xfrm>
          <a:prstGeom prst="rect">
            <a:avLst/>
          </a:prstGeom>
          <a:ln>
            <a:solidFill>
              <a:schemeClr val="accent1"/>
            </a:solidFill>
          </a:ln>
        </p:spPr>
        <p:txBody>
          <a:bodyPr wrap="square">
            <a:spAutoFit/>
          </a:bodyPr>
          <a:lstStyle/>
          <a:p>
            <a:r>
              <a:rPr lang="zh-CN" altLang="en-US" b="1" dirty="0"/>
              <a:t>次数为：  </a:t>
            </a:r>
            <a:r>
              <a:rPr lang="en-US" altLang="zh-CN" b="1" dirty="0"/>
              <a:t>10000 (5</a:t>
            </a:r>
            <a:r>
              <a:rPr lang="zh-CN" altLang="en-US" b="1" dirty="0"/>
              <a:t>％＋</a:t>
            </a:r>
            <a:r>
              <a:rPr lang="en-US" altLang="zh-CN" b="1" dirty="0"/>
              <a:t>2×15</a:t>
            </a:r>
            <a:r>
              <a:rPr lang="zh-CN" altLang="en-US" b="1" dirty="0"/>
              <a:t>％＋</a:t>
            </a:r>
            <a:r>
              <a:rPr lang="en-US" altLang="zh-CN" b="1" dirty="0"/>
              <a:t>3×40</a:t>
            </a:r>
            <a:r>
              <a:rPr lang="zh-CN" altLang="en-US" b="1" dirty="0"/>
              <a:t>％＋</a:t>
            </a:r>
            <a:r>
              <a:rPr lang="en-US" altLang="zh-CN" b="1" dirty="0"/>
              <a:t>4×40</a:t>
            </a:r>
            <a:r>
              <a:rPr lang="zh-CN" altLang="en-US" b="1" dirty="0"/>
              <a:t>％</a:t>
            </a:r>
            <a:r>
              <a:rPr lang="en-US" altLang="zh-CN" b="1" dirty="0"/>
              <a:t>)</a:t>
            </a:r>
            <a:r>
              <a:rPr lang="zh-CN" altLang="en-US" b="1" dirty="0"/>
              <a:t>＝</a:t>
            </a:r>
            <a:r>
              <a:rPr lang="en-US" altLang="zh-CN" b="1" dirty="0"/>
              <a:t>31500</a:t>
            </a:r>
            <a:r>
              <a:rPr lang="zh-CN" altLang="en-US" b="1" dirty="0"/>
              <a:t>次</a:t>
            </a:r>
          </a:p>
        </p:txBody>
      </p:sp>
    </p:spTree>
    <p:extLst>
      <p:ext uri="{BB962C8B-B14F-4D97-AF65-F5344CB8AC3E}">
        <p14:creationId xmlns:p14="http://schemas.microsoft.com/office/powerpoint/2010/main" val="427003813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zh-CN" altLang="en-US" sz="4000" b="1" dirty="0">
                <a:solidFill>
                  <a:srgbClr val="0000FF"/>
                </a:solidFill>
                <a:latin typeface="Times New Roman" panose="02020603050405020304" pitchFamily="18" charset="0"/>
                <a:ea typeface="+mn-ea"/>
                <a:cs typeface="Courier New" panose="02070309020205020404" pitchFamily="49" charset="0"/>
              </a:rPr>
              <a:t>本章小结</a:t>
            </a:r>
          </a:p>
        </p:txBody>
      </p:sp>
      <p:sp>
        <p:nvSpPr>
          <p:cNvPr id="3" name="内容占位符 2"/>
          <p:cNvSpPr>
            <a:spLocks noGrp="1"/>
          </p:cNvSpPr>
          <p:nvPr>
            <p:ph idx="1"/>
          </p:nvPr>
        </p:nvSpPr>
        <p:spPr>
          <a:xfrm>
            <a:off x="457200" y="1295400"/>
            <a:ext cx="8229600" cy="5105400"/>
          </a:xfrm>
        </p:spPr>
        <p:txBody>
          <a:bodyPr>
            <a:normAutofit/>
          </a:bodyPr>
          <a:lstStyle/>
          <a:p>
            <a:pPr marL="457200" lvl="1" indent="0">
              <a:lnSpc>
                <a:spcPts val="3000"/>
              </a:lnSpc>
              <a:buNone/>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p:txBody>
      </p:sp>
      <p:sp>
        <p:nvSpPr>
          <p:cNvPr id="4" name="日期占位符 3"/>
          <p:cNvSpPr>
            <a:spLocks noGrp="1"/>
          </p:cNvSpPr>
          <p:nvPr>
            <p:ph type="dt" sz="half" idx="10"/>
          </p:nvPr>
        </p:nvSpPr>
        <p:spPr/>
        <p:txBody>
          <a:bodyPr/>
          <a:lstStyle/>
          <a:p>
            <a:fld id="{B41BE5EA-5632-4769-B4A0-34B15698EF07}"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189</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Box 4"/>
          <p:cNvSpPr txBox="1">
            <a:spLocks noChangeArrowheads="1"/>
          </p:cNvSpPr>
          <p:nvPr/>
        </p:nvSpPr>
        <p:spPr bwMode="auto">
          <a:xfrm>
            <a:off x="685800" y="2695575"/>
            <a:ext cx="639762" cy="2838450"/>
          </a:xfrm>
          <a:prstGeom prst="rect">
            <a:avLst/>
          </a:prstGeom>
          <a:noFill/>
          <a:ln w="9525">
            <a:noFill/>
            <a:miter lim="800000"/>
            <a:headEnd/>
            <a:tailEnd/>
          </a:ln>
        </p:spPr>
        <p:txBody>
          <a:bodyPr wrap="none" lIns="90000" tIns="46800" rIns="90000" bIns="46800">
            <a:spAutoFit/>
          </a:bodyPr>
          <a:lstStyle/>
          <a:p>
            <a:pPr algn="ctr" fontAlgn="base">
              <a:spcBef>
                <a:spcPct val="0"/>
              </a:spcBef>
              <a:spcAft>
                <a:spcPct val="0"/>
              </a:spcAft>
            </a:pPr>
            <a:r>
              <a:rPr kumimoji="1" lang="zh-CN" altLang="en-US" sz="3600" b="1">
                <a:solidFill>
                  <a:srgbClr val="006600"/>
                </a:solidFill>
                <a:latin typeface="楷体_GB2312" pitchFamily="49" charset="-122"/>
                <a:ea typeface="楷体_GB2312" pitchFamily="49" charset="-122"/>
              </a:rPr>
              <a:t>树</a:t>
            </a:r>
          </a:p>
          <a:p>
            <a:pPr algn="ctr" fontAlgn="base">
              <a:spcBef>
                <a:spcPct val="0"/>
              </a:spcBef>
              <a:spcAft>
                <a:spcPct val="0"/>
              </a:spcAft>
            </a:pPr>
            <a:r>
              <a:rPr kumimoji="1" lang="zh-CN" altLang="en-US" sz="3600" b="1">
                <a:solidFill>
                  <a:srgbClr val="006600"/>
                </a:solidFill>
                <a:latin typeface="楷体_GB2312" pitchFamily="49" charset="-122"/>
                <a:ea typeface="楷体_GB2312" pitchFamily="49" charset="-122"/>
              </a:rPr>
              <a:t>和</a:t>
            </a:r>
          </a:p>
          <a:p>
            <a:pPr algn="ctr" fontAlgn="base">
              <a:spcBef>
                <a:spcPct val="0"/>
              </a:spcBef>
              <a:spcAft>
                <a:spcPct val="0"/>
              </a:spcAft>
            </a:pPr>
            <a:r>
              <a:rPr kumimoji="1" lang="zh-CN" altLang="en-US" sz="3600" b="1">
                <a:solidFill>
                  <a:srgbClr val="006600"/>
                </a:solidFill>
                <a:latin typeface="楷体_GB2312" pitchFamily="49" charset="-122"/>
                <a:ea typeface="楷体_GB2312" pitchFamily="49" charset="-122"/>
              </a:rPr>
              <a:t>二</a:t>
            </a:r>
          </a:p>
          <a:p>
            <a:pPr algn="ctr" fontAlgn="base">
              <a:spcBef>
                <a:spcPct val="0"/>
              </a:spcBef>
              <a:spcAft>
                <a:spcPct val="0"/>
              </a:spcAft>
            </a:pPr>
            <a:r>
              <a:rPr kumimoji="1" lang="zh-CN" altLang="en-US" sz="3600" b="1">
                <a:solidFill>
                  <a:srgbClr val="006600"/>
                </a:solidFill>
                <a:latin typeface="楷体_GB2312" pitchFamily="49" charset="-122"/>
                <a:ea typeface="楷体_GB2312" pitchFamily="49" charset="-122"/>
              </a:rPr>
              <a:t>叉</a:t>
            </a:r>
          </a:p>
          <a:p>
            <a:pPr algn="ctr" fontAlgn="base">
              <a:spcBef>
                <a:spcPct val="0"/>
              </a:spcBef>
              <a:spcAft>
                <a:spcPct val="0"/>
              </a:spcAft>
            </a:pPr>
            <a:r>
              <a:rPr kumimoji="1" lang="zh-CN" altLang="en-US" sz="3600" b="1">
                <a:solidFill>
                  <a:srgbClr val="006600"/>
                </a:solidFill>
                <a:latin typeface="楷体_GB2312" pitchFamily="49" charset="-122"/>
                <a:ea typeface="楷体_GB2312" pitchFamily="49" charset="-122"/>
              </a:rPr>
              <a:t>树</a:t>
            </a:r>
          </a:p>
        </p:txBody>
      </p:sp>
      <p:sp>
        <p:nvSpPr>
          <p:cNvPr id="15" name="Text Box 7"/>
          <p:cNvSpPr txBox="1">
            <a:spLocks noChangeArrowheads="1"/>
          </p:cNvSpPr>
          <p:nvPr/>
        </p:nvSpPr>
        <p:spPr bwMode="auto">
          <a:xfrm>
            <a:off x="6153150" y="2919412"/>
            <a:ext cx="1406525" cy="1552575"/>
          </a:xfrm>
          <a:prstGeom prst="rect">
            <a:avLst/>
          </a:prstGeom>
          <a:noFill/>
          <a:ln w="9525">
            <a:noFill/>
            <a:miter lim="800000"/>
            <a:headEnd/>
            <a:tailEnd/>
          </a:ln>
        </p:spPr>
        <p:txBody>
          <a:bodyPr wrap="none" lIns="90000" tIns="46800" rIns="90000" bIns="46800">
            <a:spAutoFit/>
          </a:bodyPr>
          <a:lstStyle/>
          <a:p>
            <a:pPr fontAlgn="base">
              <a:spcBef>
                <a:spcPct val="0"/>
              </a:spcBef>
              <a:spcAft>
                <a:spcPct val="0"/>
              </a:spcAft>
            </a:pPr>
            <a:r>
              <a:rPr kumimoji="1" lang="zh-CN" altLang="en-US" sz="2400" b="1">
                <a:solidFill>
                  <a:srgbClr val="0000FF"/>
                </a:solidFill>
                <a:latin typeface="楷体_GB2312" pitchFamily="49" charset="-122"/>
                <a:ea typeface="楷体_GB2312" pitchFamily="49" charset="-122"/>
              </a:rPr>
              <a:t>先根遍历</a:t>
            </a:r>
          </a:p>
          <a:p>
            <a:pPr fontAlgn="base">
              <a:spcBef>
                <a:spcPct val="0"/>
              </a:spcBef>
              <a:spcAft>
                <a:spcPct val="0"/>
              </a:spcAft>
            </a:pPr>
            <a:r>
              <a:rPr kumimoji="1" lang="zh-CN" altLang="en-US" sz="2400" b="1">
                <a:solidFill>
                  <a:srgbClr val="0000FF"/>
                </a:solidFill>
                <a:latin typeface="楷体_GB2312" pitchFamily="49" charset="-122"/>
                <a:ea typeface="楷体_GB2312" pitchFamily="49" charset="-122"/>
              </a:rPr>
              <a:t>中根遍历</a:t>
            </a:r>
          </a:p>
          <a:p>
            <a:pPr fontAlgn="base">
              <a:spcBef>
                <a:spcPct val="0"/>
              </a:spcBef>
              <a:spcAft>
                <a:spcPct val="0"/>
              </a:spcAft>
            </a:pPr>
            <a:r>
              <a:rPr kumimoji="1" lang="zh-CN" altLang="en-US" sz="2400" b="1">
                <a:solidFill>
                  <a:srgbClr val="0000FF"/>
                </a:solidFill>
                <a:latin typeface="楷体_GB2312" pitchFamily="49" charset="-122"/>
                <a:ea typeface="楷体_GB2312" pitchFamily="49" charset="-122"/>
              </a:rPr>
              <a:t>后根遍历</a:t>
            </a:r>
          </a:p>
          <a:p>
            <a:pPr fontAlgn="base">
              <a:spcBef>
                <a:spcPct val="0"/>
              </a:spcBef>
              <a:spcAft>
                <a:spcPct val="0"/>
              </a:spcAft>
            </a:pPr>
            <a:r>
              <a:rPr kumimoji="1" lang="zh-CN" altLang="en-US" sz="2400" b="1">
                <a:solidFill>
                  <a:srgbClr val="0000FF"/>
                </a:solidFill>
                <a:latin typeface="楷体_GB2312" pitchFamily="49" charset="-122"/>
                <a:ea typeface="楷体_GB2312" pitchFamily="49" charset="-122"/>
              </a:rPr>
              <a:t>层次遍历</a:t>
            </a:r>
          </a:p>
        </p:txBody>
      </p:sp>
      <p:sp>
        <p:nvSpPr>
          <p:cNvPr id="16" name="AutoShape 8"/>
          <p:cNvSpPr>
            <a:spLocks/>
          </p:cNvSpPr>
          <p:nvPr/>
        </p:nvSpPr>
        <p:spPr bwMode="auto">
          <a:xfrm>
            <a:off x="6007100" y="3101975"/>
            <a:ext cx="209550" cy="1401762"/>
          </a:xfrm>
          <a:prstGeom prst="leftBrace">
            <a:avLst>
              <a:gd name="adj1" fmla="val 55745"/>
              <a:gd name="adj2" fmla="val 50000"/>
            </a:avLst>
          </a:prstGeom>
          <a:noFill/>
          <a:ln w="2857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8000" b="1" i="0" u="none" strike="noStrike" kern="0" cap="none" spc="0" normalizeH="0" baseline="0" noProof="0">
              <a:ln>
                <a:noFill/>
              </a:ln>
              <a:solidFill>
                <a:srgbClr val="000000"/>
              </a:solidFill>
              <a:effectLst/>
              <a:uLnTx/>
              <a:uFillTx/>
              <a:latin typeface="楷体_GB2312" pitchFamily="49" charset="-122"/>
              <a:ea typeface="楷体_GB2312" pitchFamily="49" charset="-122"/>
            </a:endParaRPr>
          </a:p>
        </p:txBody>
      </p:sp>
      <p:sp>
        <p:nvSpPr>
          <p:cNvPr id="17" name="Text Box 11"/>
          <p:cNvSpPr txBox="1">
            <a:spLocks noChangeArrowheads="1"/>
          </p:cNvSpPr>
          <p:nvPr/>
        </p:nvSpPr>
        <p:spPr bwMode="auto">
          <a:xfrm>
            <a:off x="4084637" y="4648200"/>
            <a:ext cx="4470400" cy="2063750"/>
          </a:xfrm>
          <a:prstGeom prst="rect">
            <a:avLst/>
          </a:prstGeom>
          <a:noFill/>
          <a:ln w="9525">
            <a:noFill/>
            <a:miter lim="800000"/>
            <a:headEnd/>
            <a:tailEnd/>
          </a:ln>
        </p:spPr>
        <p:txBody>
          <a:bodyPr wrap="none" lIns="90000" tIns="46800" rIns="90000" bIns="46800">
            <a:spAutoFit/>
          </a:bodyPr>
          <a:lstStyle/>
          <a:p>
            <a:pPr fontAlgn="base">
              <a:spcBef>
                <a:spcPct val="0"/>
              </a:spcBef>
              <a:spcAft>
                <a:spcPct val="0"/>
              </a:spcAft>
            </a:pPr>
            <a:r>
              <a:rPr kumimoji="1" lang="zh-CN" altLang="en-US" sz="2400" b="1">
                <a:solidFill>
                  <a:srgbClr val="0000FF"/>
                </a:solidFill>
                <a:latin typeface="楷体_GB2312" pitchFamily="49" charset="-122"/>
                <a:ea typeface="楷体_GB2312" pitchFamily="49" charset="-122"/>
              </a:rPr>
              <a:t>树的存储结构</a:t>
            </a:r>
          </a:p>
          <a:p>
            <a:pPr fontAlgn="base">
              <a:lnSpc>
                <a:spcPct val="120000"/>
              </a:lnSpc>
              <a:spcBef>
                <a:spcPct val="0"/>
              </a:spcBef>
              <a:spcAft>
                <a:spcPct val="0"/>
              </a:spcAft>
            </a:pPr>
            <a:r>
              <a:rPr kumimoji="1" lang="zh-CN" altLang="en-US" sz="2400" b="1">
                <a:solidFill>
                  <a:srgbClr val="0000FF"/>
                </a:solidFill>
                <a:latin typeface="楷体_GB2312" pitchFamily="49" charset="-122"/>
                <a:ea typeface="楷体_GB2312" pitchFamily="49" charset="-122"/>
              </a:rPr>
              <a:t>树和森林的转换与二叉树的转换</a:t>
            </a:r>
          </a:p>
          <a:p>
            <a:pPr fontAlgn="base">
              <a:lnSpc>
                <a:spcPct val="120000"/>
              </a:lnSpc>
              <a:spcBef>
                <a:spcPct val="0"/>
              </a:spcBef>
              <a:spcAft>
                <a:spcPct val="0"/>
              </a:spcAft>
            </a:pPr>
            <a:r>
              <a:rPr kumimoji="1" lang="zh-CN" altLang="en-US" sz="2400" b="1">
                <a:solidFill>
                  <a:srgbClr val="0000FF"/>
                </a:solidFill>
                <a:latin typeface="楷体_GB2312" pitchFamily="49" charset="-122"/>
                <a:ea typeface="楷体_GB2312" pitchFamily="49" charset="-122"/>
              </a:rPr>
              <a:t>树和森林的遍历</a:t>
            </a:r>
          </a:p>
          <a:p>
            <a:pPr fontAlgn="base">
              <a:spcBef>
                <a:spcPct val="0"/>
              </a:spcBef>
              <a:spcAft>
                <a:spcPct val="0"/>
              </a:spcAft>
            </a:pPr>
            <a:endParaRPr kumimoji="1" lang="zh-CN" altLang="en-US" sz="2400" b="1">
              <a:solidFill>
                <a:srgbClr val="0000FF"/>
              </a:solidFill>
              <a:latin typeface="楷体_GB2312" pitchFamily="49" charset="-122"/>
              <a:ea typeface="楷体_GB2312" pitchFamily="49" charset="-122"/>
            </a:endParaRPr>
          </a:p>
          <a:p>
            <a:pPr fontAlgn="base">
              <a:spcBef>
                <a:spcPct val="0"/>
              </a:spcBef>
              <a:spcAft>
                <a:spcPct val="0"/>
              </a:spcAft>
            </a:pPr>
            <a:endParaRPr kumimoji="1" lang="en-US" altLang="zh-CN" sz="2400" b="1">
              <a:solidFill>
                <a:srgbClr val="0000FF"/>
              </a:solidFill>
              <a:latin typeface="楷体_GB2312" pitchFamily="49" charset="-122"/>
              <a:ea typeface="楷体_GB2312" pitchFamily="49" charset="-122"/>
            </a:endParaRPr>
          </a:p>
        </p:txBody>
      </p:sp>
      <p:sp>
        <p:nvSpPr>
          <p:cNvPr id="18" name="AutoShape 12"/>
          <p:cNvSpPr>
            <a:spLocks/>
          </p:cNvSpPr>
          <p:nvPr/>
        </p:nvSpPr>
        <p:spPr bwMode="auto">
          <a:xfrm>
            <a:off x="3948112" y="4764088"/>
            <a:ext cx="209550" cy="1179512"/>
          </a:xfrm>
          <a:prstGeom prst="leftBrace">
            <a:avLst>
              <a:gd name="adj1" fmla="val 46907"/>
              <a:gd name="adj2" fmla="val 50000"/>
            </a:avLst>
          </a:prstGeom>
          <a:noFill/>
          <a:ln w="28575">
            <a:solidFill>
              <a:srgbClr val="000000"/>
            </a:solidFill>
            <a:round/>
            <a:headEnd/>
            <a:tailEnd/>
          </a:ln>
        </p:spPr>
        <p:txBody>
          <a:bodyPr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6600" b="0" i="0" u="none" strike="noStrike" kern="0" cap="none" spc="0" normalizeH="0" baseline="0" noProof="0">
              <a:ln>
                <a:noFill/>
              </a:ln>
              <a:solidFill>
                <a:srgbClr val="000000"/>
              </a:solidFill>
              <a:effectLst/>
              <a:uLnTx/>
              <a:uFillTx/>
              <a:latin typeface="Times New Roman" pitchFamily="18" charset="0"/>
            </a:endParaRPr>
          </a:p>
        </p:txBody>
      </p:sp>
      <p:grpSp>
        <p:nvGrpSpPr>
          <p:cNvPr id="19" name="Group 15"/>
          <p:cNvGrpSpPr>
            <a:grpSpLocks/>
          </p:cNvGrpSpPr>
          <p:nvPr/>
        </p:nvGrpSpPr>
        <p:grpSpPr bwMode="auto">
          <a:xfrm>
            <a:off x="1922462" y="1095376"/>
            <a:ext cx="3070225" cy="822326"/>
            <a:chOff x="1177" y="480"/>
            <a:chExt cx="1785" cy="518"/>
          </a:xfrm>
        </p:grpSpPr>
        <p:sp>
          <p:nvSpPr>
            <p:cNvPr id="20" name="Text Box 16"/>
            <p:cNvSpPr txBox="1">
              <a:spLocks noChangeArrowheads="1"/>
            </p:cNvSpPr>
            <p:nvPr/>
          </p:nvSpPr>
          <p:spPr bwMode="auto">
            <a:xfrm>
              <a:off x="1177" y="578"/>
              <a:ext cx="834" cy="327"/>
            </a:xfrm>
            <a:prstGeom prst="rect">
              <a:avLst/>
            </a:prstGeom>
            <a:noFill/>
            <a:ln w="9525">
              <a:noFill/>
              <a:miter lim="800000"/>
              <a:headEnd/>
              <a:tailEnd/>
            </a:ln>
          </p:spPr>
          <p:txBody>
            <a:bodyPr wrap="none" lIns="90000" tIns="46800" rIns="90000" bIns="4680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800" b="1" i="0" u="none" strike="noStrike" kern="0" cap="none" spc="0" normalizeH="0" baseline="0" noProof="0">
                  <a:ln>
                    <a:noFill/>
                  </a:ln>
                  <a:solidFill>
                    <a:srgbClr val="0000FF"/>
                  </a:solidFill>
                  <a:effectLst/>
                  <a:uLnTx/>
                  <a:uFillTx/>
                  <a:latin typeface="楷体_GB2312" pitchFamily="49" charset="-122"/>
                  <a:ea typeface="楷体_GB2312" pitchFamily="49" charset="-122"/>
                </a:rPr>
                <a:t>树的</a:t>
              </a:r>
              <a:r>
                <a:rPr kumimoji="1" lang="en-US" altLang="zh-CN" sz="2800" b="1" i="0" u="none" strike="noStrike" kern="0" cap="none" spc="0" normalizeH="0" baseline="0" noProof="0">
                  <a:ln>
                    <a:noFill/>
                  </a:ln>
                  <a:solidFill>
                    <a:srgbClr val="0000FF"/>
                  </a:solidFill>
                  <a:effectLst/>
                  <a:uLnTx/>
                  <a:uFillTx/>
                  <a:latin typeface="楷体_GB2312" pitchFamily="49" charset="-122"/>
                  <a:ea typeface="楷体_GB2312" pitchFamily="49" charset="-122"/>
                </a:rPr>
                <a:t>ADT</a:t>
              </a:r>
            </a:p>
          </p:txBody>
        </p:sp>
        <p:sp>
          <p:nvSpPr>
            <p:cNvPr id="21" name="Text Box 17"/>
            <p:cNvSpPr txBox="1">
              <a:spLocks noChangeArrowheads="1"/>
            </p:cNvSpPr>
            <p:nvPr/>
          </p:nvSpPr>
          <p:spPr bwMode="auto">
            <a:xfrm>
              <a:off x="2144" y="480"/>
              <a:ext cx="818" cy="518"/>
            </a:xfrm>
            <a:prstGeom prst="rect">
              <a:avLst/>
            </a:prstGeom>
            <a:noFill/>
            <a:ln w="9525">
              <a:noFill/>
              <a:miter lim="800000"/>
              <a:headEnd/>
              <a:tailEnd/>
            </a:ln>
          </p:spPr>
          <p:txBody>
            <a:bodyPr wrap="none" lIns="90000" tIns="46800" rIns="90000" bIns="4680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楷体_GB2312" pitchFamily="49" charset="-122"/>
                  <a:ea typeface="楷体_GB2312" pitchFamily="49" charset="-122"/>
                </a:rPr>
                <a:t>逻辑结构</a:t>
              </a: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FF"/>
                  </a:solidFill>
                  <a:effectLst/>
                  <a:uLnTx/>
                  <a:uFillTx/>
                  <a:latin typeface="楷体_GB2312" pitchFamily="49" charset="-122"/>
                  <a:ea typeface="楷体_GB2312" pitchFamily="49" charset="-122"/>
                </a:rPr>
                <a:t>存储结构</a:t>
              </a:r>
            </a:p>
          </p:txBody>
        </p:sp>
        <p:sp>
          <p:nvSpPr>
            <p:cNvPr id="22" name="AutoShape 18"/>
            <p:cNvSpPr>
              <a:spLocks/>
            </p:cNvSpPr>
            <p:nvPr/>
          </p:nvSpPr>
          <p:spPr bwMode="auto">
            <a:xfrm>
              <a:off x="2104" y="632"/>
              <a:ext cx="48" cy="240"/>
            </a:xfrm>
            <a:prstGeom prst="leftBrace">
              <a:avLst>
                <a:gd name="adj1" fmla="val 41667"/>
                <a:gd name="adj2" fmla="val 50000"/>
              </a:avLst>
            </a:prstGeom>
            <a:noFill/>
            <a:ln w="2857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grpSp>
      <p:sp>
        <p:nvSpPr>
          <p:cNvPr id="23" name="Text Box 21"/>
          <p:cNvSpPr txBox="1">
            <a:spLocks noChangeArrowheads="1"/>
          </p:cNvSpPr>
          <p:nvPr/>
        </p:nvSpPr>
        <p:spPr bwMode="auto">
          <a:xfrm>
            <a:off x="1781175" y="5040313"/>
            <a:ext cx="1609725" cy="519112"/>
          </a:xfrm>
          <a:prstGeom prst="rect">
            <a:avLst/>
          </a:prstGeom>
          <a:noFill/>
          <a:ln w="9525">
            <a:noFill/>
            <a:miter lim="800000"/>
            <a:headEnd/>
            <a:tailEnd/>
          </a:ln>
        </p:spPr>
        <p:txBody>
          <a:bodyPr wrap="none" lIns="90000" tIns="46800" rIns="90000" bIns="46800">
            <a:spAutoFit/>
          </a:bodyPr>
          <a:lstStyle/>
          <a:p>
            <a:pPr algn="ctr" fontAlgn="base">
              <a:spcBef>
                <a:spcPct val="0"/>
              </a:spcBef>
              <a:spcAft>
                <a:spcPct val="0"/>
              </a:spcAft>
            </a:pPr>
            <a:r>
              <a:rPr kumimoji="1" lang="zh-CN" altLang="en-US" sz="2800" b="1">
                <a:solidFill>
                  <a:srgbClr val="0000FF"/>
                </a:solidFill>
                <a:latin typeface="楷体_GB2312" pitchFamily="49" charset="-122"/>
                <a:ea typeface="楷体_GB2312" pitchFamily="49" charset="-122"/>
              </a:rPr>
              <a:t>树和森林</a:t>
            </a:r>
          </a:p>
        </p:txBody>
      </p:sp>
      <p:sp>
        <p:nvSpPr>
          <p:cNvPr id="24" name="Text Box 25"/>
          <p:cNvSpPr txBox="1">
            <a:spLocks noChangeArrowheads="1"/>
          </p:cNvSpPr>
          <p:nvPr/>
        </p:nvSpPr>
        <p:spPr bwMode="auto">
          <a:xfrm>
            <a:off x="1811337" y="6167438"/>
            <a:ext cx="1609725" cy="519112"/>
          </a:xfrm>
          <a:prstGeom prst="rect">
            <a:avLst/>
          </a:prstGeom>
          <a:noFill/>
          <a:ln w="9525">
            <a:noFill/>
            <a:miter lim="800000"/>
            <a:headEnd/>
            <a:tailEnd/>
          </a:ln>
        </p:spPr>
        <p:txBody>
          <a:bodyPr wrap="none" lIns="90000" tIns="46800" rIns="90000" bIns="46800">
            <a:spAutoFit/>
          </a:bodyPr>
          <a:lstStyle/>
          <a:p>
            <a:pPr algn="ctr" fontAlgn="base">
              <a:spcBef>
                <a:spcPct val="0"/>
              </a:spcBef>
              <a:spcAft>
                <a:spcPct val="0"/>
              </a:spcAft>
            </a:pPr>
            <a:r>
              <a:rPr kumimoji="1" lang="zh-CN" altLang="en-US" sz="2800" b="1">
                <a:solidFill>
                  <a:srgbClr val="0000FF"/>
                </a:solidFill>
                <a:latin typeface="楷体_GB2312" pitchFamily="49" charset="-122"/>
                <a:ea typeface="楷体_GB2312" pitchFamily="49" charset="-122"/>
              </a:rPr>
              <a:t>树的应用</a:t>
            </a:r>
          </a:p>
        </p:txBody>
      </p:sp>
      <p:sp>
        <p:nvSpPr>
          <p:cNvPr id="25" name="Text Box 28"/>
          <p:cNvSpPr txBox="1">
            <a:spLocks noChangeArrowheads="1"/>
          </p:cNvSpPr>
          <p:nvPr/>
        </p:nvSpPr>
        <p:spPr bwMode="auto">
          <a:xfrm>
            <a:off x="3524250" y="6019800"/>
            <a:ext cx="1565275" cy="822325"/>
          </a:xfrm>
          <a:prstGeom prst="rect">
            <a:avLst/>
          </a:prstGeom>
          <a:noFill/>
          <a:ln w="9525">
            <a:noFill/>
            <a:miter lim="800000"/>
            <a:headEnd/>
            <a:tailEnd/>
          </a:ln>
        </p:spPr>
        <p:txBody>
          <a:bodyPr wrap="none" lIns="90000" tIns="46800" rIns="90000" bIns="46800">
            <a:spAutoFit/>
          </a:bodyPr>
          <a:lstStyle/>
          <a:p>
            <a:pPr fontAlgn="base">
              <a:spcBef>
                <a:spcPct val="0"/>
              </a:spcBef>
              <a:spcAft>
                <a:spcPct val="0"/>
              </a:spcAft>
            </a:pPr>
            <a:r>
              <a:rPr kumimoji="1" lang="en-US" altLang="zh-CN" sz="2400" b="1">
                <a:solidFill>
                  <a:srgbClr val="0000FF"/>
                </a:solidFill>
                <a:latin typeface="楷体_GB2312" pitchFamily="49" charset="-122"/>
                <a:ea typeface="楷体_GB2312" pitchFamily="49" charset="-122"/>
              </a:rPr>
              <a:t>Huffman</a:t>
            </a:r>
            <a:r>
              <a:rPr kumimoji="1" lang="zh-CN" altLang="en-US" sz="2400" b="1">
                <a:solidFill>
                  <a:srgbClr val="0000FF"/>
                </a:solidFill>
                <a:latin typeface="楷体_GB2312" pitchFamily="49" charset="-122"/>
                <a:ea typeface="楷体_GB2312" pitchFamily="49" charset="-122"/>
              </a:rPr>
              <a:t>树</a:t>
            </a:r>
          </a:p>
          <a:p>
            <a:pPr fontAlgn="base">
              <a:spcBef>
                <a:spcPct val="0"/>
              </a:spcBef>
              <a:spcAft>
                <a:spcPct val="0"/>
              </a:spcAft>
            </a:pPr>
            <a:r>
              <a:rPr kumimoji="1" lang="zh-CN" altLang="en-US" sz="2400" b="1">
                <a:solidFill>
                  <a:srgbClr val="0000FF"/>
                </a:solidFill>
                <a:latin typeface="楷体_GB2312" pitchFamily="49" charset="-122"/>
                <a:ea typeface="楷体_GB2312" pitchFamily="49" charset="-122"/>
              </a:rPr>
              <a:t>判定过程</a:t>
            </a:r>
          </a:p>
        </p:txBody>
      </p:sp>
      <p:sp>
        <p:nvSpPr>
          <p:cNvPr id="26" name="AutoShape 29"/>
          <p:cNvSpPr>
            <a:spLocks/>
          </p:cNvSpPr>
          <p:nvPr/>
        </p:nvSpPr>
        <p:spPr bwMode="auto">
          <a:xfrm>
            <a:off x="3421062" y="6075363"/>
            <a:ext cx="209550" cy="762000"/>
          </a:xfrm>
          <a:prstGeom prst="leftBrace">
            <a:avLst>
              <a:gd name="adj1" fmla="val 30303"/>
              <a:gd name="adj2" fmla="val 50000"/>
            </a:avLst>
          </a:prstGeom>
          <a:noFill/>
          <a:ln w="2857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4000" b="0" i="0" u="none" strike="noStrike" kern="0" cap="none" spc="0" normalizeH="0" baseline="0" noProof="0">
              <a:ln>
                <a:noFill/>
              </a:ln>
              <a:solidFill>
                <a:srgbClr val="000000"/>
              </a:solidFill>
              <a:effectLst/>
              <a:uLnTx/>
              <a:uFillTx/>
              <a:latin typeface="Times New Roman" pitchFamily="18" charset="0"/>
            </a:endParaRPr>
          </a:p>
        </p:txBody>
      </p:sp>
      <p:sp>
        <p:nvSpPr>
          <p:cNvPr id="27" name="Text Box 34"/>
          <p:cNvSpPr txBox="1">
            <a:spLocks noChangeArrowheads="1"/>
          </p:cNvSpPr>
          <p:nvPr/>
        </p:nvSpPr>
        <p:spPr bwMode="auto">
          <a:xfrm>
            <a:off x="1770062" y="2990850"/>
            <a:ext cx="1252538" cy="519112"/>
          </a:xfrm>
          <a:prstGeom prst="rect">
            <a:avLst/>
          </a:prstGeom>
          <a:noFill/>
          <a:ln w="9525">
            <a:noFill/>
            <a:miter lim="800000"/>
            <a:headEnd/>
            <a:tailEnd/>
          </a:ln>
        </p:spPr>
        <p:txBody>
          <a:bodyPr wrap="none" lIns="90000" tIns="46800" rIns="90000" bIns="46800">
            <a:spAutoFit/>
          </a:bodyPr>
          <a:lstStyle/>
          <a:p>
            <a:pPr algn="ctr" fontAlgn="base">
              <a:spcBef>
                <a:spcPct val="0"/>
              </a:spcBef>
              <a:spcAft>
                <a:spcPct val="0"/>
              </a:spcAft>
            </a:pPr>
            <a:r>
              <a:rPr kumimoji="1" lang="zh-CN" altLang="en-US" sz="2800" b="1">
                <a:solidFill>
                  <a:srgbClr val="0000FF"/>
                </a:solidFill>
                <a:latin typeface="楷体_GB2312" pitchFamily="49" charset="-122"/>
                <a:ea typeface="楷体_GB2312" pitchFamily="49" charset="-122"/>
              </a:rPr>
              <a:t>二叉树</a:t>
            </a:r>
          </a:p>
        </p:txBody>
      </p:sp>
      <p:sp>
        <p:nvSpPr>
          <p:cNvPr id="28" name="Text Box 35"/>
          <p:cNvSpPr txBox="1">
            <a:spLocks noChangeArrowheads="1"/>
          </p:cNvSpPr>
          <p:nvPr/>
        </p:nvSpPr>
        <p:spPr bwMode="auto">
          <a:xfrm>
            <a:off x="3262312" y="1927225"/>
            <a:ext cx="2325688" cy="2720975"/>
          </a:xfrm>
          <a:prstGeom prst="rect">
            <a:avLst/>
          </a:prstGeom>
          <a:noFill/>
          <a:ln w="9525">
            <a:noFill/>
            <a:miter lim="800000"/>
            <a:headEnd/>
            <a:tailEnd/>
          </a:ln>
        </p:spPr>
        <p:txBody>
          <a:bodyPr wrap="none" lIns="90000" tIns="46800" rIns="90000" bIns="46800">
            <a:spAutoFit/>
          </a:bodyPr>
          <a:lstStyle/>
          <a:p>
            <a:pPr fontAlgn="base">
              <a:lnSpc>
                <a:spcPct val="120000"/>
              </a:lnSpc>
              <a:spcBef>
                <a:spcPct val="0"/>
              </a:spcBef>
              <a:spcAft>
                <a:spcPct val="0"/>
              </a:spcAft>
            </a:pPr>
            <a:r>
              <a:rPr kumimoji="1" lang="zh-CN" altLang="en-US" sz="2400" b="1">
                <a:solidFill>
                  <a:srgbClr val="0000FF"/>
                </a:solidFill>
                <a:latin typeface="楷体_GB2312" pitchFamily="49" charset="-122"/>
                <a:ea typeface="楷体_GB2312" pitchFamily="49" charset="-122"/>
              </a:rPr>
              <a:t>二叉树逻辑结构</a:t>
            </a:r>
          </a:p>
          <a:p>
            <a:pPr fontAlgn="base">
              <a:lnSpc>
                <a:spcPct val="120000"/>
              </a:lnSpc>
              <a:spcBef>
                <a:spcPct val="0"/>
              </a:spcBef>
              <a:spcAft>
                <a:spcPct val="0"/>
              </a:spcAft>
            </a:pPr>
            <a:r>
              <a:rPr kumimoji="1" lang="zh-CN" altLang="en-US" sz="2400" b="1">
                <a:solidFill>
                  <a:srgbClr val="0000FF"/>
                </a:solidFill>
                <a:latin typeface="楷体_GB2312" pitchFamily="49" charset="-122"/>
                <a:ea typeface="楷体_GB2312" pitchFamily="49" charset="-122"/>
              </a:rPr>
              <a:t>二叉树存储结构</a:t>
            </a:r>
          </a:p>
          <a:p>
            <a:pPr fontAlgn="base">
              <a:lnSpc>
                <a:spcPct val="120000"/>
              </a:lnSpc>
              <a:spcBef>
                <a:spcPct val="0"/>
              </a:spcBef>
              <a:spcAft>
                <a:spcPct val="0"/>
              </a:spcAft>
            </a:pPr>
            <a:r>
              <a:rPr kumimoji="1" lang="zh-CN" altLang="en-US" sz="2400" b="1">
                <a:solidFill>
                  <a:srgbClr val="0000FF"/>
                </a:solidFill>
                <a:latin typeface="楷体_GB2312" pitchFamily="49" charset="-122"/>
                <a:ea typeface="楷体_GB2312" pitchFamily="49" charset="-122"/>
              </a:rPr>
              <a:t>二叉树基本性质</a:t>
            </a:r>
          </a:p>
          <a:p>
            <a:pPr fontAlgn="base">
              <a:lnSpc>
                <a:spcPct val="120000"/>
              </a:lnSpc>
              <a:spcBef>
                <a:spcPct val="0"/>
              </a:spcBef>
              <a:spcAft>
                <a:spcPct val="0"/>
              </a:spcAft>
            </a:pPr>
            <a:r>
              <a:rPr kumimoji="1" lang="zh-CN" altLang="en-US" sz="2400" b="1">
                <a:solidFill>
                  <a:srgbClr val="0000FF"/>
                </a:solidFill>
                <a:latin typeface="楷体_GB2312" pitchFamily="49" charset="-122"/>
                <a:ea typeface="楷体_GB2312" pitchFamily="49" charset="-122"/>
              </a:rPr>
              <a:t>二叉树的遍历</a:t>
            </a:r>
          </a:p>
          <a:p>
            <a:pPr fontAlgn="base">
              <a:lnSpc>
                <a:spcPct val="120000"/>
              </a:lnSpc>
              <a:spcBef>
                <a:spcPct val="0"/>
              </a:spcBef>
              <a:spcAft>
                <a:spcPct val="0"/>
              </a:spcAft>
            </a:pPr>
            <a:r>
              <a:rPr kumimoji="1" lang="zh-CN" altLang="en-US" sz="2400" b="1">
                <a:solidFill>
                  <a:srgbClr val="0000FF"/>
                </a:solidFill>
                <a:latin typeface="楷体_GB2312" pitchFamily="49" charset="-122"/>
                <a:ea typeface="楷体_GB2312" pitchFamily="49" charset="-122"/>
              </a:rPr>
              <a:t>二叉树的应用</a:t>
            </a:r>
          </a:p>
          <a:p>
            <a:pPr fontAlgn="base">
              <a:lnSpc>
                <a:spcPct val="120000"/>
              </a:lnSpc>
              <a:spcBef>
                <a:spcPct val="0"/>
              </a:spcBef>
              <a:spcAft>
                <a:spcPct val="0"/>
              </a:spcAft>
            </a:pPr>
            <a:r>
              <a:rPr kumimoji="1" lang="zh-CN" altLang="en-US" sz="2400" b="1">
                <a:solidFill>
                  <a:srgbClr val="0000FF"/>
                </a:solidFill>
                <a:latin typeface="楷体_GB2312" pitchFamily="49" charset="-122"/>
                <a:ea typeface="楷体_GB2312" pitchFamily="49" charset="-122"/>
              </a:rPr>
              <a:t>线索二叉树</a:t>
            </a:r>
          </a:p>
        </p:txBody>
      </p:sp>
      <p:sp>
        <p:nvSpPr>
          <p:cNvPr id="29" name="AutoShape 36"/>
          <p:cNvSpPr>
            <a:spLocks/>
          </p:cNvSpPr>
          <p:nvPr/>
        </p:nvSpPr>
        <p:spPr bwMode="auto">
          <a:xfrm>
            <a:off x="3071812" y="1985962"/>
            <a:ext cx="165100" cy="2590800"/>
          </a:xfrm>
          <a:prstGeom prst="leftBrace">
            <a:avLst>
              <a:gd name="adj1" fmla="val 130769"/>
              <a:gd name="adj2" fmla="val 50000"/>
            </a:avLst>
          </a:prstGeom>
          <a:noFill/>
          <a:ln w="2857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0" name="Text Box 43"/>
          <p:cNvSpPr txBox="1">
            <a:spLocks noChangeArrowheads="1"/>
          </p:cNvSpPr>
          <p:nvPr/>
        </p:nvSpPr>
        <p:spPr bwMode="auto">
          <a:xfrm>
            <a:off x="6399212" y="2170112"/>
            <a:ext cx="1406525" cy="822325"/>
          </a:xfrm>
          <a:prstGeom prst="rect">
            <a:avLst/>
          </a:prstGeom>
          <a:noFill/>
          <a:ln w="9525">
            <a:noFill/>
            <a:miter lim="800000"/>
            <a:headEnd/>
            <a:tailEnd/>
          </a:ln>
        </p:spPr>
        <p:txBody>
          <a:bodyPr wrap="none" lIns="90000" tIns="46800" rIns="90000" bIns="46800">
            <a:spAutoFit/>
          </a:bodyPr>
          <a:lstStyle/>
          <a:p>
            <a:pPr algn="ctr" fontAlgn="base">
              <a:spcBef>
                <a:spcPct val="0"/>
              </a:spcBef>
              <a:spcAft>
                <a:spcPct val="0"/>
              </a:spcAft>
            </a:pPr>
            <a:r>
              <a:rPr kumimoji="1" lang="zh-CN" altLang="en-US" sz="2400" b="1">
                <a:solidFill>
                  <a:srgbClr val="0000FF"/>
                </a:solidFill>
                <a:latin typeface="楷体_GB2312" pitchFamily="49" charset="-122"/>
                <a:ea typeface="楷体_GB2312" pitchFamily="49" charset="-122"/>
              </a:rPr>
              <a:t>顺序存储</a:t>
            </a:r>
          </a:p>
          <a:p>
            <a:pPr algn="ctr" fontAlgn="base">
              <a:spcBef>
                <a:spcPct val="0"/>
              </a:spcBef>
              <a:spcAft>
                <a:spcPct val="0"/>
              </a:spcAft>
            </a:pPr>
            <a:r>
              <a:rPr kumimoji="1" lang="zh-CN" altLang="en-US" sz="2400" b="1">
                <a:solidFill>
                  <a:srgbClr val="0000FF"/>
                </a:solidFill>
                <a:latin typeface="楷体_GB2312" pitchFamily="49" charset="-122"/>
                <a:ea typeface="楷体_GB2312" pitchFamily="49" charset="-122"/>
              </a:rPr>
              <a:t>二叉链表</a:t>
            </a:r>
          </a:p>
        </p:txBody>
      </p:sp>
      <p:sp>
        <p:nvSpPr>
          <p:cNvPr id="31" name="AutoShape 44"/>
          <p:cNvSpPr>
            <a:spLocks/>
          </p:cNvSpPr>
          <p:nvPr/>
        </p:nvSpPr>
        <p:spPr bwMode="auto">
          <a:xfrm>
            <a:off x="6253162" y="2239962"/>
            <a:ext cx="209550" cy="698500"/>
          </a:xfrm>
          <a:prstGeom prst="leftBrace">
            <a:avLst>
              <a:gd name="adj1" fmla="val 27778"/>
              <a:gd name="adj2" fmla="val 50000"/>
            </a:avLst>
          </a:prstGeom>
          <a:noFill/>
          <a:ln w="28575">
            <a:solidFill>
              <a:srgbClr val="000000"/>
            </a:solidFill>
            <a:round/>
            <a:headEnd/>
            <a:tailEnd/>
          </a:ln>
        </p:spPr>
        <p:txBody>
          <a:bodyPr wrap="none" lIns="90000" tIns="46800" rIns="90000" bIns="46800"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600" b="0" i="0" u="none" strike="noStrike" kern="0" cap="none" spc="0" normalizeH="0" baseline="0" noProof="0">
              <a:ln>
                <a:noFill/>
              </a:ln>
              <a:solidFill>
                <a:srgbClr val="000000"/>
              </a:solidFill>
              <a:effectLst/>
              <a:uLnTx/>
              <a:uFillTx/>
              <a:latin typeface="Times New Roman" pitchFamily="18" charset="0"/>
            </a:endParaRPr>
          </a:p>
        </p:txBody>
      </p:sp>
      <p:sp>
        <p:nvSpPr>
          <p:cNvPr id="32" name="Line 49"/>
          <p:cNvSpPr>
            <a:spLocks noChangeShapeType="1"/>
          </p:cNvSpPr>
          <p:nvPr/>
        </p:nvSpPr>
        <p:spPr bwMode="auto">
          <a:xfrm>
            <a:off x="5310187" y="3568700"/>
            <a:ext cx="649288" cy="0"/>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3" name="Line 50"/>
          <p:cNvSpPr>
            <a:spLocks noChangeShapeType="1"/>
          </p:cNvSpPr>
          <p:nvPr/>
        </p:nvSpPr>
        <p:spPr bwMode="auto">
          <a:xfrm>
            <a:off x="5580062" y="2632075"/>
            <a:ext cx="649288" cy="0"/>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4" name="Line 51"/>
          <p:cNvSpPr>
            <a:spLocks noChangeShapeType="1"/>
          </p:cNvSpPr>
          <p:nvPr/>
        </p:nvSpPr>
        <p:spPr bwMode="auto">
          <a:xfrm>
            <a:off x="3292475" y="5343525"/>
            <a:ext cx="649287" cy="0"/>
          </a:xfrm>
          <a:prstGeom prst="line">
            <a:avLst/>
          </a:prstGeom>
          <a:noFill/>
          <a:ln w="19050" cap="rnd">
            <a:solidFill>
              <a:srgbClr val="000000"/>
            </a:solidFill>
            <a:round/>
            <a:headEnd/>
            <a:tailEnd type="triangle" w="med" len="med"/>
          </a:ln>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200" b="1" i="0" u="none" strike="noStrike" kern="0" cap="none" spc="0" normalizeH="0" baseline="0" noProof="0">
              <a:ln>
                <a:noFill/>
              </a:ln>
              <a:solidFill>
                <a:srgbClr val="000000"/>
              </a:solidFill>
              <a:effectLst/>
              <a:uLnTx/>
              <a:uFillTx/>
              <a:latin typeface="Times New Roman" pitchFamily="18" charset="0"/>
            </a:endParaRPr>
          </a:p>
        </p:txBody>
      </p:sp>
      <p:sp>
        <p:nvSpPr>
          <p:cNvPr id="35" name="AutoShape 52"/>
          <p:cNvSpPr>
            <a:spLocks/>
          </p:cNvSpPr>
          <p:nvPr/>
        </p:nvSpPr>
        <p:spPr bwMode="auto">
          <a:xfrm>
            <a:off x="1420812" y="1295400"/>
            <a:ext cx="501650" cy="5399087"/>
          </a:xfrm>
          <a:prstGeom prst="leftBrace">
            <a:avLst>
              <a:gd name="adj1" fmla="val 89689"/>
              <a:gd name="adj2" fmla="val 50000"/>
            </a:avLst>
          </a:prstGeom>
          <a:noFill/>
          <a:ln w="19050" cap="rnd">
            <a:solidFill>
              <a:srgbClr val="000000"/>
            </a:solidFill>
            <a:round/>
            <a:headEnd/>
            <a:tailEnd/>
          </a:ln>
        </p:spPr>
        <p:txBody>
          <a:bodyPr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1" lang="zh-CN" altLang="en-US" sz="33000" b="0" i="0" u="none" strike="noStrike" kern="0" cap="none" spc="0" normalizeH="0" baseline="0" noProof="0">
              <a:ln>
                <a:noFill/>
              </a:ln>
              <a:solidFill>
                <a:srgbClr val="000000"/>
              </a:solidFill>
              <a:effectLst/>
              <a:uLnTx/>
              <a:uFillTx/>
              <a:latin typeface="Times New Roman" pitchFamily="18" charset="0"/>
            </a:endParaRPr>
          </a:p>
        </p:txBody>
      </p:sp>
      <p:sp>
        <p:nvSpPr>
          <p:cNvPr id="36" name="页脚占位符 4">
            <a:extLst>
              <a:ext uri="{FF2B5EF4-FFF2-40B4-BE49-F238E27FC236}">
                <a16:creationId xmlns:a16="http://schemas.microsoft.com/office/drawing/2014/main" id="{F038F35B-2363-4FFE-9BA9-5931F37D5819}"/>
              </a:ext>
            </a:extLst>
          </p:cNvPr>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3082675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8" grpId="0" animBg="1"/>
      <p:bldP spid="23" grpId="0"/>
      <p:bldP spid="24" grpId="0"/>
      <p:bldP spid="25" grpId="0"/>
      <p:bldP spid="26" grpId="0" animBg="1"/>
      <p:bldP spid="27" grpId="0"/>
      <p:bldP spid="29" grpId="0" animBg="1"/>
      <p:bldP spid="30" grpId="0"/>
      <p:bldP spid="31" grpId="0" animBg="1"/>
      <p:bldP spid="32" grpId="0" animBg="1"/>
      <p:bldP spid="33" grpId="0" animBg="1"/>
      <p:bldP spid="34" grpId="0" animBg="1"/>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zh-CN" altLang="en-US" sz="4000" b="1" dirty="0">
                <a:solidFill>
                  <a:srgbClr val="0000FF"/>
                </a:solidFill>
                <a:latin typeface="Times New Roman" panose="02020603050405020304" pitchFamily="18" charset="0"/>
                <a:ea typeface="+mn-ea"/>
                <a:cs typeface="Courier New" panose="02070309020205020404" pitchFamily="49" charset="0"/>
              </a:rPr>
              <a:t>本章小结</a:t>
            </a:r>
          </a:p>
        </p:txBody>
      </p:sp>
      <p:sp>
        <p:nvSpPr>
          <p:cNvPr id="3" name="内容占位符 2"/>
          <p:cNvSpPr>
            <a:spLocks noGrp="1"/>
          </p:cNvSpPr>
          <p:nvPr>
            <p:ph idx="1"/>
          </p:nvPr>
        </p:nvSpPr>
        <p:spPr>
          <a:xfrm>
            <a:off x="457200" y="1295400"/>
            <a:ext cx="8229600" cy="5105400"/>
          </a:xfrm>
        </p:spPr>
        <p:txBody>
          <a:bodyPr>
            <a:normAutofit/>
          </a:bodyPr>
          <a:lstStyle/>
          <a:p>
            <a:pPr marL="457200" lvl="1" indent="0">
              <a:lnSpc>
                <a:spcPts val="3000"/>
              </a:lnSpc>
              <a:buNone/>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p:txBody>
      </p:sp>
      <p:sp>
        <p:nvSpPr>
          <p:cNvPr id="4" name="日期占位符 3"/>
          <p:cNvSpPr>
            <a:spLocks noGrp="1"/>
          </p:cNvSpPr>
          <p:nvPr>
            <p:ph type="dt" sz="half" idx="10"/>
          </p:nvPr>
        </p:nvSpPr>
        <p:spPr/>
        <p:txBody>
          <a:bodyPr/>
          <a:lstStyle/>
          <a:p>
            <a:fld id="{F6107061-54D3-462D-A2CD-532682588613}"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190</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3"/>
          <p:cNvSpPr txBox="1">
            <a:spLocks noChangeArrowheads="1"/>
          </p:cNvSpPr>
          <p:nvPr/>
        </p:nvSpPr>
        <p:spPr bwMode="auto">
          <a:xfrm>
            <a:off x="539750" y="1300163"/>
            <a:ext cx="8175625" cy="4795837"/>
          </a:xfrm>
          <a:prstGeom prst="rect">
            <a:avLst/>
          </a:prstGeom>
          <a:noFill/>
          <a:ln w="38100" cmpd="dbl">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None/>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None/>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None/>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L="457200" indent="-457200" eaLnBrk="1" hangingPunct="1">
              <a:buClr>
                <a:srgbClr val="0000FF"/>
              </a:buClr>
              <a:buFont typeface="Wingdings" panose="05000000000000000000" pitchFamily="2" charset="2"/>
              <a:buChar char="ü"/>
            </a:pPr>
            <a:r>
              <a:rPr lang="zh-CN" altLang="en-US" kern="0" dirty="0">
                <a:solidFill>
                  <a:prstClr val="black"/>
                </a:solidFill>
                <a:ea typeface="隶书" pitchFamily="49" charset="-122"/>
              </a:rPr>
              <a:t>树和二叉树两种数据类型的定义</a:t>
            </a:r>
          </a:p>
          <a:p>
            <a:pPr marL="457200" indent="-457200" eaLnBrk="1" hangingPunct="1">
              <a:buClr>
                <a:srgbClr val="0000FF"/>
              </a:buClr>
              <a:buFont typeface="Wingdings" panose="05000000000000000000" pitchFamily="2" charset="2"/>
              <a:buChar char="ü"/>
            </a:pPr>
            <a:r>
              <a:rPr lang="zh-CN" altLang="en-US" kern="0" dirty="0">
                <a:solidFill>
                  <a:prstClr val="black"/>
                </a:solidFill>
                <a:ea typeface="隶书" pitchFamily="49" charset="-122"/>
              </a:rPr>
              <a:t>二叉树的性质</a:t>
            </a:r>
          </a:p>
          <a:p>
            <a:pPr marL="457200" indent="-457200" eaLnBrk="1" hangingPunct="1">
              <a:buClr>
                <a:srgbClr val="0000FF"/>
              </a:buClr>
              <a:buFont typeface="Wingdings" panose="05000000000000000000" pitchFamily="2" charset="2"/>
              <a:buChar char="ü"/>
            </a:pPr>
            <a:r>
              <a:rPr lang="zh-CN" altLang="en-US" kern="0" dirty="0">
                <a:solidFill>
                  <a:prstClr val="black"/>
                </a:solidFill>
                <a:ea typeface="隶书" pitchFamily="49" charset="-122"/>
              </a:rPr>
              <a:t>二叉树的遍历</a:t>
            </a:r>
          </a:p>
          <a:p>
            <a:pPr marL="457200" indent="-457200" eaLnBrk="1" hangingPunct="1">
              <a:buClr>
                <a:srgbClr val="0000FF"/>
              </a:buClr>
              <a:buFont typeface="Wingdings" panose="05000000000000000000" pitchFamily="2" charset="2"/>
              <a:buChar char="ü"/>
            </a:pPr>
            <a:r>
              <a:rPr lang="zh-CN" altLang="en-US" kern="0" dirty="0">
                <a:solidFill>
                  <a:prstClr val="black"/>
                </a:solidFill>
                <a:ea typeface="隶书" pitchFamily="49" charset="-122"/>
              </a:rPr>
              <a:t>线索二叉树</a:t>
            </a:r>
          </a:p>
          <a:p>
            <a:pPr marL="457200" indent="-457200" eaLnBrk="1" hangingPunct="1">
              <a:buClr>
                <a:srgbClr val="0000FF"/>
              </a:buClr>
              <a:buFont typeface="Wingdings" panose="05000000000000000000" pitchFamily="2" charset="2"/>
              <a:buChar char="ü"/>
            </a:pPr>
            <a:r>
              <a:rPr lang="zh-CN" altLang="en-US" kern="0" dirty="0">
                <a:solidFill>
                  <a:prstClr val="black"/>
                </a:solidFill>
                <a:ea typeface="隶书" pitchFamily="49" charset="-122"/>
              </a:rPr>
              <a:t>二叉树的应用</a:t>
            </a:r>
          </a:p>
          <a:p>
            <a:pPr marL="457200" indent="-457200" eaLnBrk="1" hangingPunct="1">
              <a:buClr>
                <a:srgbClr val="0000FF"/>
              </a:buClr>
              <a:buFont typeface="Wingdings" panose="05000000000000000000" pitchFamily="2" charset="2"/>
              <a:buChar char="ü"/>
            </a:pPr>
            <a:r>
              <a:rPr lang="zh-CN" altLang="en-US" kern="0" dirty="0">
                <a:solidFill>
                  <a:prstClr val="black"/>
                </a:solidFill>
                <a:ea typeface="隶书" pitchFamily="49" charset="-122"/>
              </a:rPr>
              <a:t>树存储和遍历</a:t>
            </a:r>
          </a:p>
          <a:p>
            <a:pPr marL="457200" indent="-457200" eaLnBrk="1" hangingPunct="1">
              <a:buClr>
                <a:srgbClr val="0000FF"/>
              </a:buClr>
              <a:buFont typeface="Wingdings" panose="05000000000000000000" pitchFamily="2" charset="2"/>
              <a:buChar char="ü"/>
            </a:pPr>
            <a:r>
              <a:rPr lang="zh-CN" altLang="en-US" kern="0" dirty="0">
                <a:solidFill>
                  <a:prstClr val="black"/>
                </a:solidFill>
                <a:ea typeface="隶书" pitchFamily="49" charset="-122"/>
              </a:rPr>
              <a:t>树、森林与二叉树之间的转换</a:t>
            </a:r>
          </a:p>
          <a:p>
            <a:pPr marL="457200" indent="-457200" eaLnBrk="1" hangingPunct="1">
              <a:buClr>
                <a:srgbClr val="0000FF"/>
              </a:buClr>
              <a:buFont typeface="Wingdings" panose="05000000000000000000" pitchFamily="2" charset="2"/>
              <a:buChar char="ü"/>
            </a:pPr>
            <a:r>
              <a:rPr lang="zh-CN" altLang="en-US" kern="0" dirty="0">
                <a:solidFill>
                  <a:prstClr val="black"/>
                </a:solidFill>
                <a:ea typeface="隶书" pitchFamily="49" charset="-122"/>
              </a:rPr>
              <a:t>树的应用（重点是</a:t>
            </a:r>
            <a:r>
              <a:rPr lang="en-US" altLang="zh-CN" kern="0" dirty="0">
                <a:solidFill>
                  <a:prstClr val="black"/>
                </a:solidFill>
                <a:ea typeface="隶书" pitchFamily="49" charset="-122"/>
              </a:rPr>
              <a:t>Huffman </a:t>
            </a:r>
            <a:r>
              <a:rPr lang="zh-CN" altLang="en-US" kern="0" dirty="0">
                <a:solidFill>
                  <a:prstClr val="black"/>
                </a:solidFill>
                <a:ea typeface="隶书" pitchFamily="49" charset="-122"/>
              </a:rPr>
              <a:t>树）</a:t>
            </a:r>
          </a:p>
        </p:txBody>
      </p:sp>
      <p:sp>
        <p:nvSpPr>
          <p:cNvPr id="14" name="页脚占位符 4">
            <a:extLst>
              <a:ext uri="{FF2B5EF4-FFF2-40B4-BE49-F238E27FC236}">
                <a16:creationId xmlns:a16="http://schemas.microsoft.com/office/drawing/2014/main" id="{1BBDBA9A-F85F-4FCE-9492-474F5D6FFE0F}"/>
              </a:ext>
            </a:extLst>
          </p:cNvPr>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147780362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zh-CN" altLang="en-US" sz="4000" b="1" dirty="0">
                <a:solidFill>
                  <a:srgbClr val="0000FF"/>
                </a:solidFill>
                <a:latin typeface="Times New Roman" panose="02020603050405020304" pitchFamily="18" charset="0"/>
                <a:ea typeface="+mn-ea"/>
                <a:cs typeface="Courier New" panose="02070309020205020404" pitchFamily="49" charset="0"/>
              </a:rPr>
              <a:t>本章小结</a:t>
            </a:r>
          </a:p>
        </p:txBody>
      </p:sp>
      <p:sp>
        <p:nvSpPr>
          <p:cNvPr id="3" name="内容占位符 2"/>
          <p:cNvSpPr>
            <a:spLocks noGrp="1"/>
          </p:cNvSpPr>
          <p:nvPr>
            <p:ph idx="1"/>
          </p:nvPr>
        </p:nvSpPr>
        <p:spPr>
          <a:xfrm>
            <a:off x="457200" y="1295400"/>
            <a:ext cx="8229600" cy="5105400"/>
          </a:xfrm>
        </p:spPr>
        <p:txBody>
          <a:bodyPr>
            <a:normAutofit/>
          </a:bodyPr>
          <a:lstStyle/>
          <a:p>
            <a:pPr marL="457200" lvl="1" indent="0">
              <a:lnSpc>
                <a:spcPts val="3000"/>
              </a:lnSpc>
              <a:buNone/>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p:txBody>
      </p:sp>
      <p:sp>
        <p:nvSpPr>
          <p:cNvPr id="4" name="日期占位符 3"/>
          <p:cNvSpPr>
            <a:spLocks noGrp="1"/>
          </p:cNvSpPr>
          <p:nvPr>
            <p:ph type="dt" sz="half" idx="10"/>
          </p:nvPr>
        </p:nvSpPr>
        <p:spPr/>
        <p:txBody>
          <a:bodyPr/>
          <a:lstStyle/>
          <a:p>
            <a:fld id="{723BB3D3-4FA5-4615-B2B5-56BBF3A19AD8}"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191</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3"/>
          <p:cNvSpPr txBox="1">
            <a:spLocks noChangeArrowheads="1"/>
          </p:cNvSpPr>
          <p:nvPr/>
        </p:nvSpPr>
        <p:spPr bwMode="auto">
          <a:xfrm>
            <a:off x="539750" y="1219200"/>
            <a:ext cx="8175625" cy="5100637"/>
          </a:xfrm>
          <a:prstGeom prst="rect">
            <a:avLst/>
          </a:prstGeom>
          <a:noFill/>
          <a:ln w="38100" cmpd="dbl">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None/>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None/>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None/>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L="457200" indent="-457200" eaLnBrk="1" hangingPunct="1">
              <a:buClr>
                <a:srgbClr val="0000FF"/>
              </a:buClr>
              <a:buFont typeface="Wingdings" panose="05000000000000000000" pitchFamily="2" charset="2"/>
              <a:buChar char="ü"/>
            </a:pPr>
            <a:r>
              <a:rPr lang="zh-CN" altLang="en-US" sz="2400" kern="0" dirty="0">
                <a:solidFill>
                  <a:prstClr val="black"/>
                </a:solidFill>
                <a:ea typeface="隶书" pitchFamily="49" charset="-122"/>
              </a:rPr>
              <a:t> 熟练掌握二叉树的结构特性，了解相应的证明方法。（完全二叉树、满二叉树、哈夫曼树）</a:t>
            </a:r>
          </a:p>
          <a:p>
            <a:pPr marL="457200" indent="-457200" eaLnBrk="1" hangingPunct="1">
              <a:buClr>
                <a:srgbClr val="0000FF"/>
              </a:buClr>
              <a:buFont typeface="Wingdings" panose="05000000000000000000" pitchFamily="2" charset="2"/>
              <a:buChar char="ü"/>
            </a:pPr>
            <a:r>
              <a:rPr lang="zh-CN" altLang="en-US" sz="2400" kern="0" dirty="0">
                <a:solidFill>
                  <a:prstClr val="black"/>
                </a:solidFill>
                <a:ea typeface="隶书" pitchFamily="49" charset="-122"/>
              </a:rPr>
              <a:t> 熟悉二叉树的各种存储结构的特点及适用范围。</a:t>
            </a:r>
          </a:p>
          <a:p>
            <a:pPr marL="457200" indent="-457200" eaLnBrk="1" hangingPunct="1">
              <a:buClr>
                <a:srgbClr val="0000FF"/>
              </a:buClr>
              <a:buFont typeface="Wingdings" panose="05000000000000000000" pitchFamily="2" charset="2"/>
              <a:buChar char="ü"/>
            </a:pPr>
            <a:r>
              <a:rPr lang="zh-CN" altLang="en-US" sz="2400" kern="0" dirty="0">
                <a:solidFill>
                  <a:prstClr val="black"/>
                </a:solidFill>
                <a:ea typeface="隶书" pitchFamily="49" charset="-122"/>
              </a:rPr>
              <a:t>遍历二叉树是二叉树各种操作的基础。实现二叉树遍历的具体算法与所采用的存储结构有关。掌握各种遍历策略的递归算法，灵活运用遍历算法实现二叉树的其它操作。层次遍历是按另一种搜索策略进行的遍历。</a:t>
            </a:r>
            <a:endParaRPr lang="en-US" altLang="zh-CN" sz="2400" kern="0" dirty="0">
              <a:solidFill>
                <a:prstClr val="black"/>
              </a:solidFill>
              <a:ea typeface="隶书" pitchFamily="49" charset="-122"/>
            </a:endParaRPr>
          </a:p>
          <a:p>
            <a:pPr marL="457200" indent="-457200" eaLnBrk="1" hangingPunct="1">
              <a:buClr>
                <a:srgbClr val="0000FF"/>
              </a:buClr>
              <a:buFont typeface="Wingdings" panose="05000000000000000000" pitchFamily="2" charset="2"/>
              <a:buChar char="ü"/>
            </a:pPr>
            <a:r>
              <a:rPr lang="zh-CN" altLang="en-US" sz="2400" kern="0" dirty="0">
                <a:solidFill>
                  <a:prstClr val="black"/>
                </a:solidFill>
                <a:ea typeface="隶书" pitchFamily="49" charset="-122"/>
              </a:rPr>
              <a:t>　理解二叉树线索化的实质是建立结点与其在相应序列中的前驱或后继之间的直接联系；</a:t>
            </a:r>
          </a:p>
          <a:p>
            <a:pPr marL="457200" indent="-457200" eaLnBrk="1" hangingPunct="1">
              <a:buClr>
                <a:srgbClr val="0000FF"/>
              </a:buClr>
              <a:buFont typeface="Wingdings" panose="05000000000000000000" pitchFamily="2" charset="2"/>
              <a:buChar char="ü"/>
            </a:pPr>
            <a:r>
              <a:rPr lang="zh-CN" altLang="en-US" sz="2400" kern="0" dirty="0">
                <a:solidFill>
                  <a:prstClr val="black"/>
                </a:solidFill>
                <a:ea typeface="隶书" pitchFamily="49" charset="-122"/>
              </a:rPr>
              <a:t>  熟练掌握二叉树的线索化过程以及在中序线索化树上找给定结点的前驱和后继的方法；</a:t>
            </a:r>
          </a:p>
          <a:p>
            <a:pPr marL="457200" indent="-457200" eaLnBrk="1" hangingPunct="1">
              <a:buClr>
                <a:srgbClr val="0000FF"/>
              </a:buClr>
              <a:buFont typeface="Wingdings" panose="05000000000000000000" pitchFamily="2" charset="2"/>
              <a:buChar char="ü"/>
            </a:pPr>
            <a:r>
              <a:rPr lang="zh-CN" altLang="en-US" sz="2400" kern="0" dirty="0">
                <a:solidFill>
                  <a:prstClr val="black"/>
                </a:solidFill>
                <a:ea typeface="隶书" pitchFamily="49" charset="-122"/>
              </a:rPr>
              <a:t>  二叉树的线索化过程是基于对二叉树进行遍历，而线索二叉树上的线索又为相应的遍历提供了方便。</a:t>
            </a:r>
          </a:p>
        </p:txBody>
      </p:sp>
      <p:sp>
        <p:nvSpPr>
          <p:cNvPr id="14" name="页脚占位符 4">
            <a:extLst>
              <a:ext uri="{FF2B5EF4-FFF2-40B4-BE49-F238E27FC236}">
                <a16:creationId xmlns:a16="http://schemas.microsoft.com/office/drawing/2014/main" id="{326CE1A0-6B6D-420A-AFBF-17A64B2EC91D}"/>
              </a:ext>
            </a:extLst>
          </p:cNvPr>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167718278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zh-CN" altLang="en-US" sz="4000" b="1" dirty="0">
                <a:solidFill>
                  <a:srgbClr val="0000FF"/>
                </a:solidFill>
                <a:latin typeface="Times New Roman" panose="02020603050405020304" pitchFamily="18" charset="0"/>
                <a:ea typeface="+mn-ea"/>
                <a:cs typeface="Courier New" panose="02070309020205020404" pitchFamily="49" charset="0"/>
              </a:rPr>
              <a:t>本章小结</a:t>
            </a:r>
          </a:p>
        </p:txBody>
      </p:sp>
      <p:sp>
        <p:nvSpPr>
          <p:cNvPr id="3" name="内容占位符 2"/>
          <p:cNvSpPr>
            <a:spLocks noGrp="1"/>
          </p:cNvSpPr>
          <p:nvPr>
            <p:ph idx="1"/>
          </p:nvPr>
        </p:nvSpPr>
        <p:spPr>
          <a:xfrm>
            <a:off x="457200" y="1295400"/>
            <a:ext cx="8229600" cy="5105400"/>
          </a:xfrm>
        </p:spPr>
        <p:txBody>
          <a:bodyPr>
            <a:normAutofit/>
          </a:bodyPr>
          <a:lstStyle/>
          <a:p>
            <a:pPr marL="457200" lvl="1" indent="0">
              <a:lnSpc>
                <a:spcPts val="3000"/>
              </a:lnSpc>
              <a:buNone/>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p:txBody>
      </p:sp>
      <p:sp>
        <p:nvSpPr>
          <p:cNvPr id="4" name="日期占位符 3"/>
          <p:cNvSpPr>
            <a:spLocks noGrp="1"/>
          </p:cNvSpPr>
          <p:nvPr>
            <p:ph type="dt" sz="half" idx="10"/>
          </p:nvPr>
        </p:nvSpPr>
        <p:spPr/>
        <p:txBody>
          <a:bodyPr/>
          <a:lstStyle/>
          <a:p>
            <a:fld id="{A116F761-117F-4AC9-B17A-BCD5DCF25CC6}" type="datetime1">
              <a:rPr lang="zh-CN" altLang="en-US" b="1" smtClean="0">
                <a:solidFill>
                  <a:srgbClr val="F79646">
                    <a:lumMod val="75000"/>
                  </a:srgbClr>
                </a:solidFill>
              </a:rPr>
              <a:t>2025/2/8</a:t>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pPr/>
              <a:t>192</a:t>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3"/>
          <p:cNvSpPr txBox="1">
            <a:spLocks noChangeArrowheads="1"/>
          </p:cNvSpPr>
          <p:nvPr/>
        </p:nvSpPr>
        <p:spPr bwMode="auto">
          <a:xfrm>
            <a:off x="539750" y="1219200"/>
            <a:ext cx="8175625" cy="5100637"/>
          </a:xfrm>
          <a:prstGeom prst="rect">
            <a:avLst/>
          </a:prstGeom>
          <a:noFill/>
          <a:ln w="38100" cmpd="dbl">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None/>
              <a:defRPr sz="28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None/>
              <a:defRPr sz="2800">
                <a:solidFill>
                  <a:schemeClr val="tx1"/>
                </a:solidFill>
                <a:latin typeface="+mn-lt"/>
                <a:ea typeface="+mn-ea"/>
              </a:defRPr>
            </a:lvl2pPr>
            <a:lvl3pPr marL="914400" indent="-246063" algn="l" rtl="0" eaLnBrk="0" fontAlgn="base" hangingPunct="0">
              <a:spcBef>
                <a:spcPct val="20000"/>
              </a:spcBef>
              <a:spcAft>
                <a:spcPct val="0"/>
              </a:spcAft>
              <a:buClr>
                <a:schemeClr val="accent2"/>
              </a:buClr>
              <a:buSzPct val="70000"/>
              <a:buFont typeface="Wingdings 2" pitchFamily="18" charset="2"/>
              <a:buNone/>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800">
                <a:solidFill>
                  <a:schemeClr val="tx1"/>
                </a:solidFill>
                <a:latin typeface="+mn-lt"/>
                <a:ea typeface="+mn-ea"/>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5pPr>
            <a:lvl6pPr marL="19192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6pPr>
            <a:lvl7pPr marL="23764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7pPr>
            <a:lvl8pPr marL="28336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8pPr>
            <a:lvl9pPr marL="3290888" indent="-209550" algn="l" rtl="0" fontAlgn="base">
              <a:spcBef>
                <a:spcPct val="20000"/>
              </a:spcBef>
              <a:spcAft>
                <a:spcPct val="0"/>
              </a:spcAft>
              <a:buClr>
                <a:srgbClr val="10CF9B"/>
              </a:buClr>
              <a:buSzPct val="65000"/>
              <a:buFont typeface="Wingdings 2" pitchFamily="18" charset="2"/>
              <a:buChar char=""/>
              <a:defRPr sz="2800">
                <a:solidFill>
                  <a:schemeClr val="tx1"/>
                </a:solidFill>
                <a:latin typeface="+mn-lt"/>
                <a:ea typeface="+mn-ea"/>
              </a:defRPr>
            </a:lvl9pPr>
          </a:lstStyle>
          <a:p>
            <a:pPr marL="457200" indent="-457200" eaLnBrk="1" hangingPunct="1">
              <a:buClr>
                <a:srgbClr val="0000FF"/>
              </a:buClr>
              <a:buFont typeface="Wingdings" panose="05000000000000000000" pitchFamily="2" charset="2"/>
              <a:buChar char="ü"/>
            </a:pPr>
            <a:r>
              <a:rPr lang="zh-CN" altLang="en-US" sz="2400" kern="0" dirty="0">
                <a:solidFill>
                  <a:prstClr val="black"/>
                </a:solidFill>
                <a:ea typeface="隶书" pitchFamily="49" charset="-122"/>
              </a:rPr>
              <a:t>熟悉树的各种存储结构及其特点，掌握树和森林与二叉树的转换方法。</a:t>
            </a:r>
          </a:p>
          <a:p>
            <a:pPr marL="457200" indent="-457200" eaLnBrk="1" hangingPunct="1">
              <a:buClr>
                <a:srgbClr val="0000FF"/>
              </a:buClr>
              <a:buFont typeface="Wingdings" panose="05000000000000000000" pitchFamily="2" charset="2"/>
              <a:buChar char="ü"/>
            </a:pPr>
            <a:r>
              <a:rPr lang="zh-CN" altLang="en-US" sz="2400" kern="0" dirty="0">
                <a:solidFill>
                  <a:prstClr val="black"/>
                </a:solidFill>
                <a:ea typeface="隶书" pitchFamily="49" charset="-122"/>
              </a:rPr>
              <a:t>建立存储结构是进行其它操作的前提，因此应掌握 </a:t>
            </a:r>
            <a:r>
              <a:rPr lang="en-US" altLang="zh-CN" sz="2400" kern="0" dirty="0">
                <a:solidFill>
                  <a:prstClr val="black"/>
                </a:solidFill>
                <a:ea typeface="隶书" pitchFamily="49" charset="-122"/>
              </a:rPr>
              <a:t>1 </a:t>
            </a:r>
            <a:r>
              <a:rPr lang="zh-CN" altLang="en-US" sz="2400" kern="0" dirty="0">
                <a:solidFill>
                  <a:prstClr val="black"/>
                </a:solidFill>
                <a:ea typeface="隶书" pitchFamily="49" charset="-122"/>
              </a:rPr>
              <a:t>至 </a:t>
            </a:r>
            <a:r>
              <a:rPr lang="en-US" altLang="zh-CN" sz="2400" kern="0" dirty="0">
                <a:solidFill>
                  <a:prstClr val="black"/>
                </a:solidFill>
                <a:ea typeface="隶书" pitchFamily="49" charset="-122"/>
              </a:rPr>
              <a:t>2 </a:t>
            </a:r>
            <a:r>
              <a:rPr lang="zh-CN" altLang="en-US" sz="2400" kern="0" dirty="0">
                <a:solidFill>
                  <a:prstClr val="black"/>
                </a:solidFill>
                <a:ea typeface="隶书" pitchFamily="49" charset="-122"/>
              </a:rPr>
              <a:t>种建立二叉树和树的存储结构的方法。</a:t>
            </a:r>
          </a:p>
          <a:p>
            <a:pPr marL="457200" indent="-457200" eaLnBrk="1" hangingPunct="1">
              <a:buClr>
                <a:srgbClr val="0000FF"/>
              </a:buClr>
              <a:buFont typeface="Wingdings" panose="05000000000000000000" pitchFamily="2" charset="2"/>
              <a:buChar char="ü"/>
            </a:pPr>
            <a:r>
              <a:rPr lang="zh-CN" altLang="en-US" sz="2400" kern="0" dirty="0">
                <a:solidFill>
                  <a:prstClr val="black"/>
                </a:solidFill>
                <a:ea typeface="隶书" pitchFamily="49" charset="-122"/>
              </a:rPr>
              <a:t> 学会编写实现树的各种操作的算法。</a:t>
            </a:r>
          </a:p>
          <a:p>
            <a:pPr marL="457200" indent="-457200" eaLnBrk="1" hangingPunct="1">
              <a:buClr>
                <a:srgbClr val="0000FF"/>
              </a:buClr>
              <a:buFont typeface="Wingdings" panose="05000000000000000000" pitchFamily="2" charset="2"/>
              <a:buChar char="ü"/>
            </a:pPr>
            <a:r>
              <a:rPr lang="zh-CN" altLang="en-US" sz="2400" kern="0" dirty="0">
                <a:solidFill>
                  <a:prstClr val="black"/>
                </a:solidFill>
                <a:ea typeface="隶书" pitchFamily="49" charset="-122"/>
              </a:rPr>
              <a:t> 了解最优树的特性，掌握建立最优树和哈夫曼编码的方法。</a:t>
            </a:r>
          </a:p>
        </p:txBody>
      </p:sp>
      <p:sp>
        <p:nvSpPr>
          <p:cNvPr id="14" name="页脚占位符 4">
            <a:extLst>
              <a:ext uri="{FF2B5EF4-FFF2-40B4-BE49-F238E27FC236}">
                <a16:creationId xmlns:a16="http://schemas.microsoft.com/office/drawing/2014/main" id="{B07BB162-7A75-4A36-9623-67A546011460}"/>
              </a:ext>
            </a:extLst>
          </p:cNvPr>
          <p:cNvSpPr txBox="1">
            <a:spLocks/>
          </p:cNvSpPr>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5</a:t>
            </a:r>
            <a:r>
              <a:rPr lang="zh-CN" altLang="en-US" b="1" dirty="0">
                <a:solidFill>
                  <a:srgbClr val="00B0F0"/>
                </a:solidFill>
              </a:rPr>
              <a:t>章 树</a:t>
            </a:r>
          </a:p>
        </p:txBody>
      </p:sp>
    </p:spTree>
    <p:extLst>
      <p:ext uri="{BB962C8B-B14F-4D97-AF65-F5344CB8AC3E}">
        <p14:creationId xmlns:p14="http://schemas.microsoft.com/office/powerpoint/2010/main" val="43728475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13154</TotalTime>
  <Words>20467</Words>
  <Application>Microsoft Office PowerPoint</Application>
  <PresentationFormat>全屏显示(4:3)</PresentationFormat>
  <Paragraphs>4059</Paragraphs>
  <Slides>192</Slides>
  <Notes>192</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192</vt:i4>
      </vt:variant>
    </vt:vector>
  </HeadingPairs>
  <TitlesOfParts>
    <vt:vector size="210" baseType="lpstr">
      <vt:lpstr>黑体</vt:lpstr>
      <vt:lpstr>华文琥珀</vt:lpstr>
      <vt:lpstr>华文楷体</vt:lpstr>
      <vt:lpstr>华文隶书</vt:lpstr>
      <vt:lpstr>楷体_GB2312</vt:lpstr>
      <vt:lpstr>隶书</vt:lpstr>
      <vt:lpstr>宋体</vt:lpstr>
      <vt:lpstr>Arial</vt:lpstr>
      <vt:lpstr>Calibri</vt:lpstr>
      <vt:lpstr>Century</vt:lpstr>
      <vt:lpstr>Constantia</vt:lpstr>
      <vt:lpstr>Courier New</vt:lpstr>
      <vt:lpstr>Symbol</vt:lpstr>
      <vt:lpstr>Tahoma</vt:lpstr>
      <vt:lpstr>Times New Roman</vt:lpstr>
      <vt:lpstr>Wingdings</vt:lpstr>
      <vt:lpstr>Wingdings 2</vt:lpstr>
      <vt:lpstr>Office 主题​​</vt:lpstr>
      <vt:lpstr>第5章 树</vt:lpstr>
      <vt:lpstr>数据结构类型</vt:lpstr>
      <vt:lpstr>本章学习要点</vt:lpstr>
      <vt:lpstr>本章重点与难点</vt:lpstr>
      <vt:lpstr>第五章 树</vt:lpstr>
      <vt:lpstr>第五章 树</vt:lpstr>
      <vt:lpstr>5.1  树的有关概念</vt:lpstr>
      <vt:lpstr>5.1  树的有关概念</vt:lpstr>
      <vt:lpstr>5.1  树的有关概念</vt:lpstr>
      <vt:lpstr>5.1  树的有关概念</vt:lpstr>
      <vt:lpstr>5.1  树的有关概念</vt:lpstr>
      <vt:lpstr>5.1  树的有关概念</vt:lpstr>
      <vt:lpstr>5.1  树的有关概念</vt:lpstr>
      <vt:lpstr>5.1  树的有关概念</vt:lpstr>
      <vt:lpstr>5.1  树的有关概念</vt:lpstr>
      <vt:lpstr>5.1  树的有关概念</vt:lpstr>
      <vt:lpstr>5.1  树的有关概念</vt:lpstr>
      <vt:lpstr>5.1  树的有关概念</vt:lpstr>
      <vt:lpstr>5.1  树的有关概念</vt:lpstr>
      <vt:lpstr>5.1  树的有关概念</vt:lpstr>
      <vt:lpstr>5.1  树的有关概念</vt:lpstr>
      <vt:lpstr>5.1  树的有关概念</vt:lpstr>
      <vt:lpstr>5.1  树的有关概念</vt:lpstr>
      <vt:lpstr>5.2  二叉树</vt:lpstr>
      <vt:lpstr>5.2  二叉树</vt:lpstr>
      <vt:lpstr>5.2.1  二叉树的概念</vt:lpstr>
      <vt:lpstr>5.2.1  二叉树的概念</vt:lpstr>
      <vt:lpstr>5.2.1  二叉树的概念</vt:lpstr>
      <vt:lpstr>5.2.2  二叉树的性质</vt:lpstr>
      <vt:lpstr>5.2.2  二叉树的性质</vt:lpstr>
      <vt:lpstr>5.2.2  二叉树的性质</vt:lpstr>
      <vt:lpstr>5.2.2  二叉树的性质</vt:lpstr>
      <vt:lpstr>5.2.2  二叉树的性质</vt:lpstr>
      <vt:lpstr>5.2.2  二叉树的性质</vt:lpstr>
      <vt:lpstr>5.2.3 二叉树的存储结构</vt:lpstr>
      <vt:lpstr>5.2.3 二叉树的存储结构</vt:lpstr>
      <vt:lpstr>5.2.3 二叉树的存储结构</vt:lpstr>
      <vt:lpstr>5.2.3 二叉树的存储结构</vt:lpstr>
      <vt:lpstr>5.2.3  二叉树的存储结构</vt:lpstr>
      <vt:lpstr>5.2.3 二叉树的存储结构</vt:lpstr>
      <vt:lpstr>5.2.3 二叉树的存储结构</vt:lpstr>
      <vt:lpstr>5.2.3 二叉树的存储结构</vt:lpstr>
      <vt:lpstr>5.2.3 二叉树的存储结构</vt:lpstr>
      <vt:lpstr>5.3 二叉树的遍历</vt:lpstr>
      <vt:lpstr>5.3.1  二叉树的遍历方法</vt:lpstr>
      <vt:lpstr>5.3.1  二叉树的遍历方法</vt:lpstr>
      <vt:lpstr>5.3.1  二叉树的遍历方法</vt:lpstr>
      <vt:lpstr>5.3.1  二叉树的遍历方法</vt:lpstr>
      <vt:lpstr>5.3.1  二叉树的遍历方法</vt:lpstr>
      <vt:lpstr>5.3.1  二叉树的遍历方法</vt:lpstr>
      <vt:lpstr>5.3.1  二叉树的遍历方法</vt:lpstr>
      <vt:lpstr>5.3.1  二叉树的遍历方法</vt:lpstr>
      <vt:lpstr>5.3.1  二叉树的遍历方法</vt:lpstr>
      <vt:lpstr>5.3.1  二叉树的遍历方法</vt:lpstr>
      <vt:lpstr>5.3.1  二叉树的遍历方法</vt:lpstr>
      <vt:lpstr>5.3.1  二叉树的遍历方法</vt:lpstr>
      <vt:lpstr>5.3 二叉树的遍历</vt:lpstr>
      <vt:lpstr>5.3.2  遍历的递归算法</vt:lpstr>
      <vt:lpstr>5.3.2  遍历的递归算法</vt:lpstr>
      <vt:lpstr>5.3.2  遍历的递归算法</vt:lpstr>
      <vt:lpstr>5.3.2  遍历的递归算法</vt:lpstr>
      <vt:lpstr>5.3 二叉树的遍历</vt:lpstr>
      <vt:lpstr>5.3.3  遍历的非递归算法</vt:lpstr>
      <vt:lpstr>5.3.3  遍历的非递归算法</vt:lpstr>
      <vt:lpstr>5.4  遍历的应用</vt:lpstr>
      <vt:lpstr>5.4  遍历的应用</vt:lpstr>
      <vt:lpstr>5.4  遍历的应用</vt:lpstr>
      <vt:lpstr>5.4.1 遍历的基本应用</vt:lpstr>
      <vt:lpstr>5.4.1  遍历的基本应用</vt:lpstr>
      <vt:lpstr>5.4.1  遍历的基本应用</vt:lpstr>
      <vt:lpstr>5.4.1  遍历的基本应用</vt:lpstr>
      <vt:lpstr>5.4  遍历的应用</vt:lpstr>
      <vt:lpstr>5.4.2  二叉树的遍历与存储结构的应用</vt:lpstr>
      <vt:lpstr>5.4.2  二叉树的遍历与存储结构的应用</vt:lpstr>
      <vt:lpstr>5.4.2  二叉树的遍历与存储结构的应用</vt:lpstr>
      <vt:lpstr>5.4.2  二叉树的遍历与存储结构的应用</vt:lpstr>
      <vt:lpstr>5.4  遍历的应用</vt:lpstr>
      <vt:lpstr>5.4.2  二叉树的相似与等价</vt:lpstr>
      <vt:lpstr>5.4.2  二叉树的相似与等价</vt:lpstr>
      <vt:lpstr>5.4.2  二叉树的相似与等价</vt:lpstr>
      <vt:lpstr>PowerPoint 演示文稿</vt:lpstr>
      <vt:lpstr>PowerPoint 演示文稿</vt:lpstr>
      <vt:lpstr>5.5  线索二叉树</vt:lpstr>
      <vt:lpstr>5.5  线索二叉树</vt:lpstr>
      <vt:lpstr>5.5.1  线索二叉树的表示</vt:lpstr>
      <vt:lpstr>5.5.1  线索二叉树的表示</vt:lpstr>
      <vt:lpstr>5.5.1 线索二叉树的表示</vt:lpstr>
      <vt:lpstr>5.5.1 线索二叉树的表示</vt:lpstr>
      <vt:lpstr>5.5  线索二叉树</vt:lpstr>
      <vt:lpstr>5.5.2  二叉树的线索化</vt:lpstr>
      <vt:lpstr>5.5.2  二叉树的线索化</vt:lpstr>
      <vt:lpstr>PowerPoint 演示文稿</vt:lpstr>
      <vt:lpstr>5.5.2  二叉树的线索化</vt:lpstr>
      <vt:lpstr>5.5.2  二叉树的线索化</vt:lpstr>
      <vt:lpstr>5.5.2  二叉树的线索化</vt:lpstr>
      <vt:lpstr>5.5.2  二叉树的线索化</vt:lpstr>
      <vt:lpstr>5.5.2  二叉树的线索化</vt:lpstr>
      <vt:lpstr>5.5.2  二叉树的线索化</vt:lpstr>
      <vt:lpstr>5.5  线索二叉树</vt:lpstr>
      <vt:lpstr>5.5.3 线索二叉树的遍历</vt:lpstr>
      <vt:lpstr>5.5.3 线索二叉树的遍历</vt:lpstr>
      <vt:lpstr>5.5.3线索二叉树的遍历</vt:lpstr>
      <vt:lpstr>5.5.3线索二叉树的遍历</vt:lpstr>
      <vt:lpstr>PowerPoint 演示文稿</vt:lpstr>
      <vt:lpstr>5.5.3  线索二叉树的遍历</vt:lpstr>
      <vt:lpstr>5.5.3 线索二叉树的遍历</vt:lpstr>
      <vt:lpstr>5.5.3 线索二叉树的遍历</vt:lpstr>
      <vt:lpstr>5.5.3 线索二叉树的遍历</vt:lpstr>
      <vt:lpstr>5.5.3 线索二叉树的遍历</vt:lpstr>
      <vt:lpstr>5.5.3 线索二叉树的遍历</vt:lpstr>
      <vt:lpstr>5.5.3 线索二叉树的遍历</vt:lpstr>
      <vt:lpstr>5.5.3 线索二叉树的遍历</vt:lpstr>
      <vt:lpstr>PowerPoint 演示文稿</vt:lpstr>
      <vt:lpstr>5.5.3 线索二叉树的遍历</vt:lpstr>
      <vt:lpstr>5.5.3 线索二叉树的遍历</vt:lpstr>
      <vt:lpstr>5.5.3 线索二叉树的遍历</vt:lpstr>
      <vt:lpstr>5.5.3线索二叉树的遍历</vt:lpstr>
      <vt:lpstr>5.5.3 线索二叉树的遍历</vt:lpstr>
      <vt:lpstr>5.5.3 线索二叉树的遍历</vt:lpstr>
      <vt:lpstr>PowerPoint 演示文稿</vt:lpstr>
      <vt:lpstr>5.6  树和森林</vt:lpstr>
      <vt:lpstr>5.6  树和森林</vt:lpstr>
      <vt:lpstr>5.5.1  树的存储结构</vt:lpstr>
      <vt:lpstr>5.5.1  树的存储结构</vt:lpstr>
      <vt:lpstr>5.5.1  树的存储结构</vt:lpstr>
      <vt:lpstr>5.5.1  树的存储结构</vt:lpstr>
      <vt:lpstr>5.5.1  树的存储结构</vt:lpstr>
      <vt:lpstr>5.5.1  树的存储结构</vt:lpstr>
      <vt:lpstr>5.5.1  树的存储结构</vt:lpstr>
      <vt:lpstr>5.5.1  树的存储结构</vt:lpstr>
      <vt:lpstr>5.5.1  树的存储结构</vt:lpstr>
      <vt:lpstr>PowerPoint 演示文稿</vt:lpstr>
      <vt:lpstr>5.5.1  树的存储结构</vt:lpstr>
      <vt:lpstr>5.6  树和森林</vt:lpstr>
      <vt:lpstr>5.5.2  树、森林与二叉树的转换</vt:lpstr>
      <vt:lpstr>5.5.2  树、森林与二叉树的转换</vt:lpstr>
      <vt:lpstr>5.5.2  树、森林与二叉树的转换</vt:lpstr>
      <vt:lpstr>PowerPoint 演示文稿</vt:lpstr>
      <vt:lpstr>5.5.2  树、森林与二叉树的转换</vt:lpstr>
      <vt:lpstr>5.5.2  树、森林与二叉树的转换</vt:lpstr>
      <vt:lpstr>5.5.2  树、森林与二叉树的转换</vt:lpstr>
      <vt:lpstr>5.5.2  树、森林与二叉树的转换</vt:lpstr>
      <vt:lpstr>5.6  树和森林</vt:lpstr>
      <vt:lpstr>5.5.3  树和森林的遍历</vt:lpstr>
      <vt:lpstr>5.5.3  树和森林的遍历</vt:lpstr>
      <vt:lpstr>5.5.3  树和森林的遍历</vt:lpstr>
      <vt:lpstr>5.5.3  树和森林的遍历</vt:lpstr>
      <vt:lpstr>5.5.3  树和森林的遍历</vt:lpstr>
      <vt:lpstr>5.5.3  树和森林的遍历</vt:lpstr>
      <vt:lpstr>5.5.3  树和森林的遍历</vt:lpstr>
      <vt:lpstr>5.5.3  树和森林的遍历</vt:lpstr>
      <vt:lpstr>5.5.3  树和森林的遍历</vt:lpstr>
      <vt:lpstr>5.5.3  树和森林的遍历</vt:lpstr>
      <vt:lpstr>5.5.3  树和森林的遍历</vt:lpstr>
      <vt:lpstr>5.5.3  树和森林的遍历</vt:lpstr>
      <vt:lpstr>5.5.3  树和森林的遍历</vt:lpstr>
      <vt:lpstr>5.5.3  树和森林的遍历</vt:lpstr>
      <vt:lpstr>5.5.3  树和森林的遍历</vt:lpstr>
      <vt:lpstr>5.6  树和森林</vt:lpstr>
      <vt:lpstr>5.5.4  huffman树及其应用（连接第8章贪心算法）</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5.5.4  huffman树及其应用</vt:lpstr>
      <vt:lpstr>本章小结</vt:lpstr>
      <vt:lpstr>本章小结</vt:lpstr>
      <vt:lpstr>本章小结</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 Data Structures</dc:title>
  <dc:creator>Haijun ZHANG</dc:creator>
  <cp:lastModifiedBy>Haijun Zhang</cp:lastModifiedBy>
  <cp:revision>731</cp:revision>
  <dcterms:created xsi:type="dcterms:W3CDTF">2017-08-09T05:01:49Z</dcterms:created>
  <dcterms:modified xsi:type="dcterms:W3CDTF">2025-02-08T08:49:09Z</dcterms:modified>
</cp:coreProperties>
</file>