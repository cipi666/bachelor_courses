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4"/>
  </p:handoutMasterIdLst>
  <p:sldIdLst>
    <p:sldId id="829" r:id="rId4"/>
    <p:sldId id="879" r:id="rId6"/>
    <p:sldId id="894" r:id="rId7"/>
    <p:sldId id="880" r:id="rId8"/>
    <p:sldId id="903" r:id="rId9"/>
    <p:sldId id="905" r:id="rId10"/>
    <p:sldId id="909" r:id="rId11"/>
    <p:sldId id="904" r:id="rId12"/>
    <p:sldId id="906" r:id="rId13"/>
    <p:sldId id="907" r:id="rId14"/>
    <p:sldId id="882" r:id="rId15"/>
    <p:sldId id="901" r:id="rId16"/>
    <p:sldId id="899" r:id="rId17"/>
    <p:sldId id="895" r:id="rId18"/>
    <p:sldId id="912" r:id="rId19"/>
    <p:sldId id="911" r:id="rId20"/>
    <p:sldId id="910" r:id="rId21"/>
    <p:sldId id="869" r:id="rId22"/>
    <p:sldId id="874" r:id="rId23"/>
  </p:sldIdLst>
  <p:sldSz cx="9144000" cy="6858000" type="screen4x3"/>
  <p:notesSz cx="7010400" cy="9296400"/>
  <p:custDataLst>
    <p:tags r:id="rId2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99"/>
    <a:srgbClr val="C55E54"/>
    <a:srgbClr val="990000"/>
    <a:srgbClr val="3E6A54"/>
    <a:srgbClr val="000066"/>
    <a:srgbClr val="003300"/>
    <a:srgbClr val="28462B"/>
    <a:srgbClr val="5FA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778DDF4-9E4B-46A8-8838-2959DD75E3B5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3"/>
              </a:solidFill>
            </a:ln>
          </a:left>
          <a:right>
            <a:ln w="9525" cmpd="sng">
              <a:solidFill>
                <a:schemeClr val="accent3"/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3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3"/>
              </a:solidFill>
            </a:ln>
          </a:left>
          <a:right>
            <a:ln w="9525" cmpd="sng">
              <a:solidFill>
                <a:schemeClr val="accent3"/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3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3"/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3"/>
              </a:solidFill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</a:ln>
          </a:left>
          <a:right>
            <a:ln w="9525" cmpd="sng">
              <a:solidFill>
                <a:schemeClr val="accent3"/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3"/>
              </a:solidFill>
            </a:ln>
          </a:left>
          <a:right>
            <a:ln w="9525" cmpd="sng">
              <a:solidFill>
                <a:schemeClr val="accent3"/>
              </a:solidFill>
            </a:ln>
          </a:right>
          <a:top>
            <a:ln w="9525" cmpd="sng">
              <a:solidFill>
                <a:schemeClr val="accent3"/>
              </a:solidFill>
            </a:ln>
          </a:top>
          <a:bottom>
            <a:ln w="9525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97" autoAdjust="0"/>
    <p:restoredTop sz="92958" autoAdjust="0"/>
  </p:normalViewPr>
  <p:slideViewPr>
    <p:cSldViewPr showGuides="1">
      <p:cViewPr varScale="1">
        <p:scale>
          <a:sx n="108" d="100"/>
          <a:sy n="108" d="100"/>
        </p:scale>
        <p:origin x="1290" y="78"/>
      </p:cViewPr>
      <p:guideLst>
        <p:guide orient="horz" pos="2208"/>
        <p:guide pos="29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8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6672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vert="horz" wrap="none" lIns="93488" tIns="46744" rIns="93488" bIns="46744" numCol="1" anchor="t" anchorCtr="0" compatLnSpc="1"/>
          <a:lstStyle>
            <a:lvl1pPr defTabSz="934720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347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049588" cy="46672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vert="horz" wrap="none" lIns="93488" tIns="46744" rIns="93488" bIns="46744" numCol="1" anchor="t" anchorCtr="0" compatLnSpc="1"/>
          <a:lstStyle>
            <a:lvl1pPr algn="r" defTabSz="934720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347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4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vert="horz" wrap="none" lIns="93488" tIns="46744" rIns="93488" bIns="46744" numCol="1" anchor="b" anchorCtr="0" compatLnSpc="1"/>
          <a:lstStyle>
            <a:lvl1pPr defTabSz="934720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347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4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vert="horz" wrap="none" lIns="93488" tIns="46744" rIns="93488" bIns="46744" numCol="1" anchor="b" anchorCtr="0" compatLnSpc="1"/>
          <a:lstStyle/>
          <a:p>
            <a:pPr lvl="0" algn="r" defTabSz="935355" eaLnBrk="1" fontAlgn="base" hangingPunct="1">
              <a:buFont typeface="Arial" panose="020B0604020202020204" pitchFamily="34" charset="0"/>
              <a:buNone/>
            </a:pPr>
            <a:fld id="{9A0DB2DC-4C9A-4742-B13C-FB6460FD3503}" type="slidenum">
              <a:rPr lang="en-US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z="120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>
            <a:lvl1pPr defTabSz="931545" eaLnBrk="1" hangingPunct="1">
              <a:buFontTx/>
              <a:buNone/>
              <a:defRPr sz="1200"/>
            </a:lvl1pPr>
          </a:lstStyle>
          <a:p>
            <a:pPr marL="0" marR="0" lvl="0" indent="0" algn="l" defTabSz="9315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>
            <a:lvl1pPr algn="r" defTabSz="931545" eaLnBrk="1" hangingPunct="1">
              <a:buFontTx/>
              <a:buNone/>
              <a:defRPr sz="1200"/>
            </a:lvl1pPr>
          </a:lstStyle>
          <a:p>
            <a:pPr marL="0" marR="0" lvl="0" indent="0" algn="r" defTabSz="9315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/>
          <a:lstStyle>
            <a:lvl1pPr defTabSz="931545" eaLnBrk="1" hangingPunct="1">
              <a:buFontTx/>
              <a:buNone/>
              <a:defRPr sz="1200"/>
            </a:lvl1pPr>
          </a:lstStyle>
          <a:p>
            <a:pPr marL="0" marR="0" lvl="0" indent="0" algn="l" defTabSz="9315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0" tIns="46586" rIns="93170" bIns="46586" numCol="1" anchor="b" anchorCtr="0" compatLnSpc="1"/>
          <a:lstStyle/>
          <a:p>
            <a:pPr lvl="0" algn="r" defTabSz="932180" eaLnBrk="1" fontAlgn="base" hangingPunct="1">
              <a:buFont typeface="Arial" panose="020B0604020202020204" pitchFamily="34" charset="0"/>
              <a:buNone/>
            </a:pPr>
            <a:fld id="{9A0DB2DC-4C9A-4742-B13C-FB6460FD3503}" type="slidenum">
              <a:rPr lang="en-US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z="120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6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特点：用一组节点存储数据，每个节点包含</a:t>
            </a: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数据域和指针域</a:t>
            </a:r>
            <a:r>
              <a:rPr lang="zh-CN" altLang="en-US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。节点在内存中的存储位置可以是连续的，也可以是不连续的，通过指针实现逻辑上的连续性。</a:t>
            </a:r>
            <a:endParaRPr lang="zh-CN" altLang="en-US" kern="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若原链表为空表，则将新建节点</a:t>
            </a:r>
            <a:r>
              <a:rPr lang="en-US" altLang="zh-CN" sz="1200" dirty="0"/>
              <a:t>p</a:t>
            </a:r>
            <a:r>
              <a:rPr lang="zh-CN" altLang="en-US" sz="1200" dirty="0"/>
              <a:t>置为头结点</a:t>
            </a:r>
            <a:endParaRPr lang="zh-CN" altLang="en-US" sz="12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若原链表为非空，则将新节点</a:t>
            </a:r>
            <a:r>
              <a:rPr lang="en-US" altLang="zh-CN" sz="1200" dirty="0"/>
              <a:t>p</a:t>
            </a:r>
            <a:r>
              <a:rPr lang="zh-CN" altLang="en-US" sz="1200" dirty="0"/>
              <a:t>添加到表尾</a:t>
            </a:r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/>
        <p:txBody>
          <a:bodyPr wrap="square" lIns="93170" tIns="46586" rIns="93170" bIns="46586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3170" tIns="46586" rIns="93170" bIns="46586" anchor="b"/>
          <a:lstStyle/>
          <a:p>
            <a:pPr lvl="0" algn="r" defTabSz="932180" eaLnBrk="1" hangingPunct="1">
              <a:buFont typeface="Arial" panose="020B0604020202020204" pitchFamily="34" charset="0"/>
            </a:pPr>
            <a:fld id="{9A0DB2DC-4C9A-4742-B13C-FB6460FD3503}" type="slidenum">
              <a:rPr lang="en-US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1.bin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" r:id="rId2" imgW="6858000" imgH="48895" progId="MS_ClipArt_Gallery.5">
                  <p:embed/>
                </p:oleObj>
              </mc:Choice>
              <mc:Fallback>
                <p:oleObj name="" r:id="rId2" imgW="6858000" imgH="48895" progId="MS_ClipArt_Gallery.5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17"/>
          <p:cNvSpPr/>
          <p:nvPr/>
        </p:nvSpPr>
        <p:spPr>
          <a:xfrm>
            <a:off x="8694738" y="6553200"/>
            <a:ext cx="449262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400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</a:fld>
            <a:endParaRPr lang="zh-CN" altLang="en-US" sz="1400" dirty="0">
              <a:solidFill>
                <a:schemeClr val="bg2"/>
              </a:solidFill>
              <a:latin typeface="Tahom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447800" y="20574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01" name="Object 0"/>
          <p:cNvGraphicFramePr>
            <a:graphicFrameLocks noChangeAspect="1"/>
          </p:cNvGraphicFramePr>
          <p:nvPr userDrawn="1"/>
        </p:nvGraphicFramePr>
        <p:xfrm>
          <a:off x="3429000" y="4343400"/>
          <a:ext cx="1905000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" r:id="rId4" imgW="4006850" imgH="2857500" progId="MS_ClipArt_Gallery.2">
                  <p:embed/>
                </p:oleObj>
              </mc:Choice>
              <mc:Fallback>
                <p:oleObj name="" r:id="rId4" imgW="4006850" imgH="2857500" progId="MS_ClipArt_Gallery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9000" y="4343400"/>
                        <a:ext cx="1905000" cy="1357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" r:id="rId6" imgW="6858000" imgH="48895" progId="MS_ClipArt_Gallery.5">
                  <p:embed/>
                </p:oleObj>
              </mc:Choice>
              <mc:Fallback>
                <p:oleObj name="" r:id="rId6" imgW="6858000" imgH="48895" progId="MS_ClipArt_Gallery.5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14550" cy="6324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91250" cy="6324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2" imgW="6858000" imgH="48895" progId="MS_ClipArt_Gallery.5">
                  <p:embed/>
                </p:oleObj>
              </mc:Choice>
              <mc:Fallback>
                <p:oleObj name="" r:id="rId2" imgW="6858000" imgH="48895" progId="MS_ClipArt_Gallery.5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4582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" r:id="rId2" imgW="6858000" imgH="48895" progId="MS_ClipArt_Gallery.5">
                  <p:embed/>
                </p:oleObj>
              </mc:Choice>
              <mc:Fallback>
                <p:oleObj name="" r:id="rId2" imgW="6858000" imgH="48895" progId="MS_ClipArt_Gallery.5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" r:id="rId2" imgW="6858000" imgH="48895" progId="MS_ClipArt_Gallery.5">
                  <p:embed/>
                </p:oleObj>
              </mc:Choice>
              <mc:Fallback>
                <p:oleObj name="" r:id="rId2" imgW="6858000" imgH="48895" progId="MS_ClipArt_Gallery.5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17"/>
          <p:cNvSpPr/>
          <p:nvPr/>
        </p:nvSpPr>
        <p:spPr>
          <a:xfrm>
            <a:off x="8694738" y="6553200"/>
            <a:ext cx="449262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eaLnBrk="1" hangingPunct="1"/>
            <a:fld id="{9A0DB2DC-4C9A-4742-B13C-FB6460FD3503}" type="slidenum">
              <a:rPr lang="zh-CN" altLang="en-US" sz="1400" dirty="0">
                <a:solidFill>
                  <a:srgbClr val="1C1C1C"/>
                </a:solidFill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</a:fld>
            <a:endParaRPr lang="zh-CN" altLang="en-US" sz="1400" dirty="0">
              <a:solidFill>
                <a:srgbClr val="1C1C1C"/>
              </a:solidFill>
              <a:latin typeface="Tahom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447800" y="2057400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245" name="Object 0"/>
          <p:cNvGraphicFramePr>
            <a:graphicFrameLocks noChangeAspect="1"/>
          </p:cNvGraphicFramePr>
          <p:nvPr userDrawn="1"/>
        </p:nvGraphicFramePr>
        <p:xfrm>
          <a:off x="3429000" y="4343400"/>
          <a:ext cx="1905000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" r:id="rId4" imgW="4006850" imgH="2857500" progId="MS_ClipArt_Gallery.2">
                  <p:embed/>
                </p:oleObj>
              </mc:Choice>
              <mc:Fallback>
                <p:oleObj name="" r:id="rId4" imgW="4006850" imgH="2857500" progId="MS_ClipArt_Gallery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9000" y="4343400"/>
                        <a:ext cx="1905000" cy="1357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" name="" r:id="rId6" imgW="6858000" imgH="48895" progId="MS_ClipArt_Gallery.5">
                  <p:embed/>
                </p:oleObj>
              </mc:Choice>
              <mc:Fallback>
                <p:oleObj name="" r:id="rId6" imgW="6858000" imgH="48895" progId="MS_ClipArt_Gallery.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14550" cy="6324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91250" cy="6324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" r:id="rId2" imgW="6858000" imgH="48895" progId="MS_ClipArt_Gallery.5">
                  <p:embed/>
                </p:oleObj>
              </mc:Choice>
              <mc:Fallback>
                <p:oleObj name="" r:id="rId2" imgW="6858000" imgH="48895" progId="MS_ClipArt_Gallery.5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4582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" r:id="rId2" imgW="6858000" imgH="48895" progId="MS_ClipArt_Gallery.5">
                  <p:embed/>
                </p:oleObj>
              </mc:Choice>
              <mc:Fallback>
                <p:oleObj name="" r:id="rId2" imgW="6858000" imgH="48895" progId="MS_ClipArt_Gallery.5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vmlDrawing" Target="../drawings/vmlDrawing4.vml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6.bin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16" Type="http://schemas.openxmlformats.org/officeDocument/2006/relationships/vmlDrawing" Target="../drawings/vmlDrawing8.vml"/><Relationship Id="rId15" Type="http://schemas.openxmlformats.org/officeDocument/2006/relationships/image" Target="../media/image1.png"/><Relationship Id="rId14" Type="http://schemas.openxmlformats.org/officeDocument/2006/relationships/oleObject" Target="../embeddings/oleObject12.bin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10"/>
          <p:cNvSpPr>
            <a:spLocks noGrp="1"/>
          </p:cNvSpPr>
          <p:nvPr>
            <p:ph type="body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defRPr sz="1400">
                <a:ea typeface="宋体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  <p:graphicFrame>
        <p:nvGraphicFramePr>
          <p:cNvPr id="1030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14" imgW="6858000" imgH="48895" progId="MS_ClipArt_Gallery.5">
                  <p:embed/>
                </p:oleObj>
              </mc:Choice>
              <mc:Fallback>
                <p:oleObj name="" r:id="rId14" imgW="6858000" imgH="48895" progId="MS_ClipArt_Gallery.5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zoom/>
  </p:transition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3075" name="Rectangle 10"/>
          <p:cNvSpPr>
            <a:spLocks noGrp="1"/>
          </p:cNvSpPr>
          <p:nvPr>
            <p:ph type="body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2019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日周二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defRPr sz="14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trike="noStrike" noProof="1">
              <a:latin typeface="Tahoma" panose="020B0604030504040204" pitchFamily="34" charset="0"/>
            </a:endParaRPr>
          </a:p>
        </p:txBody>
      </p:sp>
      <p:graphicFrame>
        <p:nvGraphicFramePr>
          <p:cNvPr id="3078" name="Object 23"/>
          <p:cNvGraphicFramePr/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" r:id="rId14" imgW="6858000" imgH="48895" progId="MS_ClipArt_Gallery.5">
                  <p:embed/>
                </p:oleObj>
              </mc:Choice>
              <mc:Fallback>
                <p:oleObj name="" r:id="rId14" imgW="6858000" imgH="48895" progId="MS_ClipArt_Gallery.5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zoom/>
  </p:transition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oleObject" Target="../embeddings/oleObject13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5.xml"/><Relationship Id="rId1" Type="http://schemas.openxmlformats.org/officeDocument/2006/relationships/hyperlink" Target="http://10.249.41.7:9000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/>
          <p:nvPr/>
        </p:nvSpPr>
        <p:spPr>
          <a:xfrm>
            <a:off x="685800" y="21336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ctr">
              <a:buFont typeface="Arial" panose="020B0604020202020204" pitchFamily="34" charset="0"/>
            </a:pPr>
            <a:r>
              <a:rPr lang="zh-CN" altLang="zh-CN" sz="32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</a:t>
            </a:r>
            <a:r>
              <a:rPr lang="en-US" altLang="zh-CN" sz="32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线性结构及其应用</a:t>
            </a:r>
            <a:endParaRPr lang="zh-CN" altLang="zh-TW" sz="32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Rectangle 8"/>
          <p:cNvSpPr/>
          <p:nvPr/>
        </p:nvSpPr>
        <p:spPr>
          <a:xfrm>
            <a:off x="1295400" y="762000"/>
            <a:ext cx="6400800" cy="990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3200" b="1" dirty="0" smtClean="0">
                <a:solidFill>
                  <a:srgbClr val="333399"/>
                </a:solidFill>
                <a:latin typeface="+mj-lt"/>
                <a:ea typeface="微软雅黑" panose="020B0503020204020204" pitchFamily="34" charset="-122"/>
              </a:rPr>
              <a:t>《</a:t>
            </a:r>
            <a:r>
              <a:rPr lang="zh-CN" altLang="en-US" sz="3200" b="1" dirty="0" smtClean="0">
                <a:solidFill>
                  <a:srgbClr val="333399"/>
                </a:solidFill>
                <a:latin typeface="+mj-lt"/>
                <a:ea typeface="微软雅黑" panose="020B0503020204020204" pitchFamily="34" charset="-122"/>
              </a:rPr>
              <a:t>数据结构与算法</a:t>
            </a:r>
            <a:r>
              <a:rPr lang="en-US" altLang="zh-CN" sz="3200" b="1" dirty="0" smtClean="0">
                <a:solidFill>
                  <a:srgbClr val="333399"/>
                </a:solidFill>
                <a:latin typeface="+mj-lt"/>
                <a:ea typeface="微软雅黑" panose="020B0503020204020204" pitchFamily="34" charset="-122"/>
              </a:rPr>
              <a:t>》</a:t>
            </a:r>
            <a:r>
              <a:rPr lang="zh-CN" altLang="en-US" sz="3200" b="1" dirty="0" smtClean="0">
                <a:solidFill>
                  <a:srgbClr val="333399"/>
                </a:solidFill>
                <a:latin typeface="+mj-lt"/>
                <a:ea typeface="微软雅黑" panose="020B0503020204020204" pitchFamily="34" charset="-122"/>
              </a:rPr>
              <a:t>实验</a:t>
            </a:r>
            <a:r>
              <a:rPr lang="en-US" altLang="zh-CN" sz="3200" b="1" i="1" dirty="0" smtClean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  <a:t> </a:t>
            </a:r>
            <a:br>
              <a:rPr lang="en-US" altLang="zh-CN" sz="3200" b="1" i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</a:br>
            <a:br>
              <a:rPr lang="en-US" altLang="zh-CN" sz="3200" b="1" i="1" dirty="0">
                <a:solidFill>
                  <a:srgbClr val="000000"/>
                </a:solidFill>
                <a:latin typeface="+mj-lt"/>
                <a:ea typeface="微软雅黑" panose="020B0503020204020204" pitchFamily="34" charset="-122"/>
              </a:rPr>
            </a:br>
            <a:endParaRPr lang="en-US" altLang="zh-CN" sz="1600" b="1" i="1" dirty="0">
              <a:solidFill>
                <a:srgbClr val="000000"/>
              </a:solidFill>
              <a:latin typeface="+mj-lt"/>
              <a:ea typeface="微软雅黑" panose="020B0503020204020204" pitchFamily="34" charset="-122"/>
            </a:endParaRPr>
          </a:p>
        </p:txBody>
      </p:sp>
      <p:graphicFrame>
        <p:nvGraphicFramePr>
          <p:cNvPr id="15363" name="Object 11"/>
          <p:cNvGraphicFramePr/>
          <p:nvPr/>
        </p:nvGraphicFramePr>
        <p:xfrm>
          <a:off x="381000" y="1524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" r:id="rId1" imgW="6858000" imgH="48895" progId="MS_ClipArt_Gallery.5">
                  <p:embed/>
                </p:oleObj>
              </mc:Choice>
              <mc:Fallback>
                <p:oleObj name="" r:id="rId1" imgW="6858000" imgH="48895" progId="MS_ClipArt_Gallery.5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1524000"/>
                        <a:ext cx="8382000" cy="7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12"/>
          <p:cNvSpPr>
            <a:spLocks noChangeArrowheads="1"/>
          </p:cNvSpPr>
          <p:nvPr/>
        </p:nvSpPr>
        <p:spPr bwMode="auto">
          <a:xfrm>
            <a:off x="419100" y="5776595"/>
            <a:ext cx="8305800" cy="850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ctr">
              <a:buFont typeface="Arial" panose="020B0604020202020204" pitchFamily="34" charset="0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哈尔滨工业大学（深圳）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0825"/>
            <a:ext cx="1485900" cy="1130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193675"/>
            <a:ext cx="1244600" cy="1244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1"/>
          <p:cNvSpPr txBox="1"/>
          <p:nvPr/>
        </p:nvSpPr>
        <p:spPr>
          <a:xfrm>
            <a:off x="3199765" y="3376930"/>
            <a:ext cx="27444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主讲教师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：何震宇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实验教师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：华夏</a:t>
            </a:r>
            <a:r>
              <a:rPr lang="en-US" altLang="zh-CN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谢佳</a:t>
            </a:r>
            <a:endParaRPr lang="zh-CN" altLang="en-US" sz="2000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实验说明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427355" y="1146810"/>
            <a:ext cx="8396605" cy="55645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1" indent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【题目</a:t>
            </a:r>
            <a:r>
              <a:rPr lang="en-US" altLang="zh-CN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en-US" altLang="zh-CN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图书管理系统】</a:t>
            </a:r>
            <a:endParaRPr lang="zh-CN" altLang="en-US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1" indent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设计并实现一个</a:t>
            </a:r>
            <a:r>
              <a:rPr lang="zh-CN" altLang="en-US" sz="1800" b="1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图书管理系统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，要求使用</a:t>
            </a:r>
            <a:r>
              <a:rPr lang="zh-CN" altLang="en-US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线性链表（单链表）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来存储图书信息，</a:t>
            </a: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每本图书信息包括：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书号（</a:t>
            </a: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Book ID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书名（</a:t>
            </a: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作者（</a:t>
            </a: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Author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库存数量（</a:t>
            </a: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Stock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None/>
              <a:defRPr/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0" algn="just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1800" b="1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系统需要支持以下功能：</a:t>
            </a:r>
            <a:endParaRPr lang="zh-CN" altLang="en-US" sz="1800" b="1" noProof="1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100000"/>
              <a:buFont typeface="+mj-ea"/>
              <a:buAutoNum type="circleNumDbPlain"/>
              <a:defRPr/>
            </a:pPr>
            <a:r>
              <a:rPr lang="en-US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添加图书信息</a:t>
            </a:r>
            <a:endParaRPr lang="en-US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100000"/>
              <a:buFont typeface="+mj-ea"/>
              <a:buAutoNum type="circleNumDbPlain"/>
              <a:defRPr/>
            </a:pPr>
            <a:r>
              <a:rPr lang="en-US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删除图书信息</a:t>
            </a:r>
            <a:endParaRPr lang="en-US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100000"/>
              <a:buFont typeface="+mj-ea"/>
              <a:buAutoNum type="circleNumDbPlain"/>
              <a:defRPr/>
            </a:pPr>
            <a:r>
              <a:rPr lang="en-US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修改图书库存数量</a:t>
            </a:r>
            <a:endParaRPr lang="en-US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100000"/>
              <a:buFont typeface="+mj-ea"/>
              <a:buAutoNum type="circleNumDbPlain"/>
              <a:defRPr/>
            </a:pPr>
            <a:r>
              <a:rPr lang="en-US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查找图书信息</a:t>
            </a:r>
            <a:endParaRPr lang="en-US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100000"/>
              <a:buFont typeface="+mj-ea"/>
              <a:buAutoNum type="circleNumDbPlain"/>
              <a:defRPr/>
            </a:pPr>
            <a:r>
              <a:rPr lang="en-US" altLang="en-US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遍历并输出所有图书信息</a:t>
            </a:r>
            <a:endParaRPr lang="en-US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endParaRPr lang="en-US" altLang="zh-CN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实验说明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191135" y="1295400"/>
            <a:ext cx="8632825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1" algn="l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4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【题目1 图书管理系统】</a:t>
            </a:r>
            <a:endParaRPr lang="zh-CN" altLang="en-US" sz="2400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r>
              <a:rPr lang="zh-CN" altLang="en-US" sz="2000" b="1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需实现以下函数：</a:t>
            </a:r>
            <a:endParaRPr lang="en-US" altLang="zh-CN" sz="2000" b="1" noProof="1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Node* </a:t>
            </a:r>
            <a:r>
              <a:rPr lang="en-US" altLang="zh-CN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CreateNode 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(Book book)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：创建新节点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void </a:t>
            </a:r>
            <a:r>
              <a:rPr lang="en-US" altLang="zh-CN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InsertBook 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(Node </a:t>
            </a:r>
            <a:r>
              <a:rPr lang="en-US" altLang="zh-CN" sz="1800" b="1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**head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Book book)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：在链表尾部插入图书信息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</a:t>
            </a:r>
            <a:r>
              <a:rPr lang="en-US" altLang="zh-CN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DeleteBook 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(Node </a:t>
            </a:r>
            <a:r>
              <a:rPr lang="en-US" altLang="zh-CN" sz="1800" b="1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**head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char bookId[])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：根据书号删除图书信息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</a:t>
            </a:r>
            <a:r>
              <a:rPr lang="en-US" altLang="zh-CN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UpdateStock 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(Node </a:t>
            </a:r>
            <a:r>
              <a:rPr lang="en-US" altLang="zh-CN" sz="1800" b="1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*head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char bookId[], int newStock)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：根据书号修改图书库存数量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Node* </a:t>
            </a:r>
            <a:r>
              <a:rPr lang="en-US" altLang="zh-CN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FindBook 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(Node </a:t>
            </a:r>
            <a:r>
              <a:rPr lang="en-US" altLang="zh-CN" sz="1800" b="1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*head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char bookId[])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：根据书号查找图书信息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lvl="1" indent="-34290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33399"/>
              </a:buClr>
              <a:buSzPct val="100000"/>
              <a:buFont typeface="+mj-ea"/>
              <a:buAutoNum type="circleNumDbPlain"/>
              <a:defRPr/>
            </a:pP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void </a:t>
            </a:r>
            <a:r>
              <a:rPr lang="en-US" altLang="zh-CN" sz="1800" b="1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TraverseList 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(Node </a:t>
            </a:r>
            <a:r>
              <a:rPr lang="en-US" altLang="zh-CN" sz="1800" b="1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*head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：遍历并输出所有图书信息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实验说明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381000" y="1295400"/>
            <a:ext cx="844296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【输入示例】</a:t>
            </a:r>
            <a:endParaRPr lang="zh-CN" altLang="en-US" sz="2000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zh-CN" sz="16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002</a:t>
            </a:r>
            <a:r>
              <a:rPr lang="en-US" altLang="zh-CN" sz="16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         // 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待查询书号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zh-CN" sz="16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001</a:t>
            </a:r>
            <a:r>
              <a:rPr lang="en-US" altLang="zh-CN" sz="160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           // 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待修改信息书号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zh-CN" sz="16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8</a:t>
            </a:r>
            <a:r>
              <a:rPr lang="en-US" altLang="zh-CN" sz="16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               // 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待修改库存数量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zh-CN" sz="16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003 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           // </a:t>
            </a:r>
            <a:r>
              <a:rPr lang="zh-CN" altLang="en-US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待删除书号</a:t>
            </a: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914400" lvl="2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endParaRPr lang="zh-CN" altLang="en-US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lvl="1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【输出示例】</a:t>
            </a:r>
            <a:endParaRPr lang="zh-CN" alt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查找的图书信息：</a:t>
            </a:r>
            <a:endParaRPr lang="zh-CN" altLang="en-US" sz="1800" noProof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书号：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002,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书名：数据结构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作者：严蔚敏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库存：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lang="en-US" altLang="zh-CN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</a:t>
            </a:r>
            <a:r>
              <a:rPr lang="en-US" altLang="zh-CN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001</a:t>
            </a:r>
            <a:r>
              <a:rPr lang="zh-CN" altLang="en-US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的库存数量已修改为</a:t>
            </a:r>
            <a:r>
              <a:rPr lang="en-US" altLang="zh-CN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lang="zh-CN" altLang="en-US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  <a:endParaRPr lang="zh-CN" altLang="en-US" sz="1800" noProof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1800" noProof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图书003删除成功！</a:t>
            </a:r>
            <a:endParaRPr lang="zh-CN" altLang="en-US" sz="1800" noProof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图书列表：</a:t>
            </a:r>
            <a:endParaRPr lang="zh-CN" altLang="en-US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书号：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001,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书名：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作者：谭浩强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库存：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lang="en-US" altLang="zh-CN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书号：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002,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书名：数据结构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作者：严蔚敏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库存：</a:t>
            </a:r>
            <a:r>
              <a:rPr lang="en-US" altLang="zh-CN" sz="18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lang="en-US" altLang="zh-CN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8935" y="1371600"/>
            <a:ext cx="7151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【解题思路】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45" y="2209800"/>
            <a:ext cx="8320405" cy="2707005"/>
          </a:xfrm>
          <a:prstGeom prst="rect">
            <a:avLst/>
          </a:prstGeom>
        </p:spPr>
        <p:txBody>
          <a:bodyPr wrap="square">
            <a:spAutoFit/>
          </a:bodyPr>
          <a:p>
            <a:pPr marL="457200" lvl="1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r>
              <a:rPr lang="zh-CN" altLang="en-US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）使用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结构体</a:t>
            </a:r>
            <a:r>
              <a:rPr lang="zh-CN" altLang="en-US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存储单个图书信息；</a:t>
            </a:r>
            <a:endParaRPr lang="zh-CN" altLang="en-US" sz="20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r>
              <a:rPr lang="zh-CN" altLang="en-US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）使用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单链表</a:t>
            </a:r>
            <a:r>
              <a:rPr lang="zh-CN" altLang="en-US" sz="2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存储所有图书信息；</a:t>
            </a:r>
            <a:endParaRPr lang="zh-CN" altLang="en-US" sz="20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1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）系统将按照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main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函数中的代码顺序检测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查询、修改和删除功能；</a:t>
            </a:r>
            <a:endParaRPr lang="zh-CN" altLang="en-US" sz="20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）书号字符串长度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&lt;20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，书名长度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&lt;100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，作者名长度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&lt;50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buFont typeface="Arial" panose="020B0604020202020204"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8935" y="1219200"/>
            <a:ext cx="71513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4205" y="2159000"/>
            <a:ext cx="8336280" cy="1085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用一组</a:t>
            </a:r>
            <a:r>
              <a:rPr sz="1800" b="1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任意的</a:t>
            </a:r>
            <a:r>
              <a:rPr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存储单元</a:t>
            </a:r>
            <a:r>
              <a:rPr lang="zh-CN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来存</a:t>
            </a:r>
            <a:r>
              <a:rPr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储线性表</a:t>
            </a:r>
            <a:r>
              <a:rPr lang="zh-CN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</a:t>
            </a:r>
            <a:r>
              <a:rPr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</a:t>
            </a:r>
            <a:r>
              <a:rPr lang="zh-CN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每个节点包含</a:t>
            </a:r>
            <a:r>
              <a:rPr lang="zh-CN" altLang="en-US" sz="1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数据域</a:t>
            </a:r>
            <a:r>
              <a:rPr lang="zh-CN" altLang="en-US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指针域</a:t>
            </a:r>
            <a:r>
              <a:rPr lang="zh-CN" altLang="en-US" sz="1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1800" b="1" kern="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存储单元可以是连续的，也可以是不连续的</a:t>
            </a:r>
            <a:r>
              <a:rPr lang="zh-CN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zh-CN" altLang="en-US" sz="1800" b="1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</a:t>
            </a:r>
            <a:r>
              <a:rPr lang="zh-CN" altLang="en-US" sz="1800" kern="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实现逻辑上的连续性。</a:t>
            </a:r>
            <a:endParaRPr lang="zh-CN" altLang="en-US" sz="1800" kern="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sz="1800" kern="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355" y="3122930"/>
            <a:ext cx="6003290" cy="19596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23" y="5410200"/>
            <a:ext cx="4210638" cy="106694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00375" y="4189730"/>
            <a:ext cx="929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头节点</a:t>
            </a:r>
            <a:endParaRPr lang="zh-CN" altLang="en-US" sz="1400" b="1" kern="0" spc="-10" dirty="0">
              <a:solidFill>
                <a:srgbClr val="FF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48200" y="4623435"/>
            <a:ext cx="929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中间节点</a:t>
            </a:r>
            <a:endParaRPr lang="zh-CN" altLang="en-US" sz="1400" b="1" kern="0" spc="-10" dirty="0">
              <a:solidFill>
                <a:srgbClr val="FF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00800" y="5082540"/>
            <a:ext cx="929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尾节点</a:t>
            </a:r>
            <a:endParaRPr lang="zh-CN" altLang="en-US" sz="1400" b="1" kern="0" spc="-10" dirty="0">
              <a:solidFill>
                <a:srgbClr val="FF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2000" y="2972435"/>
            <a:ext cx="7992745" cy="367284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2286000" y="4494530"/>
            <a:ext cx="990600" cy="914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609600" y="1587500"/>
            <a:ext cx="8162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动态数据结构的典型代表——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链表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（Linked </a:t>
            </a:r>
            <a:r>
              <a:rPr lang="en-US"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Table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400" b="1" kern="0" spc="-1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0380" y="1981200"/>
            <a:ext cx="673862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1</a:t>
            </a: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）新建节点</a:t>
            </a:r>
            <a:endParaRPr lang="zh-CN" altLang="en-US" sz="1800" kern="0" spc="9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4205" y="2590800"/>
            <a:ext cx="7825740" cy="17532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为新建节点</a:t>
            </a:r>
            <a:r>
              <a:rPr lang="zh-CN" altLang="en-US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动态申请内存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并赋值：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=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(struct </a:t>
            </a: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1800" b="1" kern="0" spc="-3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*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) </a:t>
            </a:r>
            <a:r>
              <a:rPr sz="1800" b="1" kern="0" spc="-3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malloc</a:t>
            </a:r>
            <a:r>
              <a:rPr sz="1800" b="1" kern="0" spc="15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(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sizeof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(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struct</a:t>
            </a:r>
            <a:r>
              <a:rPr sz="1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)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);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marL="359410" indent="-342900" algn="l" rtl="0" eaLnBrk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-&gt;next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=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NULL;</a:t>
            </a:r>
            <a:endParaRPr sz="1800" kern="0" spc="-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 marL="359410" indent="-342900" algn="l" rtl="0" eaLnBrk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数据域赋值</a:t>
            </a:r>
            <a:endParaRPr lang="zh-CN" altLang="en-US" sz="1800" kern="0" spc="-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7063" r="4027"/>
          <a:stretch>
            <a:fillRect/>
          </a:stretch>
        </p:blipFill>
        <p:spPr>
          <a:xfrm>
            <a:off x="3048000" y="4767580"/>
            <a:ext cx="1358900" cy="3663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34870" y="4723765"/>
            <a:ext cx="14865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p</a:t>
            </a:r>
            <a:endParaRPr lang="en-US" altLang="en-US" sz="1800" b="1" kern="0" spc="-3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2000" y="4493895"/>
            <a:ext cx="7441565" cy="93662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1511935"/>
            <a:ext cx="8162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动态数据结构的典型代表——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链表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（Linked </a:t>
            </a:r>
            <a:r>
              <a:rPr lang="en-US"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Table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400" b="1" kern="0" spc="-1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5620" y="2025015"/>
            <a:ext cx="807974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2</a:t>
            </a: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）</a:t>
            </a:r>
            <a:r>
              <a:rPr lang="zh-CN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添加</a:t>
            </a:r>
            <a:r>
              <a:rPr lang="zh-CN" alt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节点到尾部</a:t>
            </a:r>
            <a:endParaRPr lang="zh-CN" altLang="en-US"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 marL="816610" marR="0" lvl="2" indent="-342900" algn="l" defTabSz="914400" rtl="0" eaLnBrk="0" fontAlgn="base" latinLnBrk="0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新建</a:t>
            </a:r>
            <a:r>
              <a:rPr lang="zh-CN" altLang="en-US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待插入节点</a:t>
            </a:r>
            <a:r>
              <a:rPr lang="en-US" altLang="zh-CN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 p</a:t>
            </a:r>
            <a:endParaRPr lang="zh-CN" altLang="en-US" sz="1800" kern="0" spc="-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marL="816610" marR="0" lvl="2" indent="-342900" algn="l" defTabSz="914400" rtl="0" eaLnBrk="0" fontAlgn="base" latinLnBrk="0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若原链表为</a:t>
            </a:r>
            <a:r>
              <a:rPr lang="zh-CN" altLang="en-US" sz="18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空表</a:t>
            </a: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，则将新节点</a:t>
            </a:r>
            <a:r>
              <a:rPr lang="en-US" altLang="zh-CN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p</a:t>
            </a: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作为头节点，</a:t>
            </a:r>
            <a:r>
              <a:rPr lang="zh-CN" altLang="en-US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让</a:t>
            </a:r>
            <a:r>
              <a:rPr lang="en-US" altLang="zh-CN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head</a:t>
            </a:r>
            <a:r>
              <a:rPr lang="zh-CN" altLang="en-US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指向新节点</a:t>
            </a:r>
            <a:r>
              <a:rPr lang="en-US" altLang="zh-CN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p</a:t>
            </a:r>
            <a:endParaRPr lang="zh-CN" altLang="en-US" sz="1800" b="1" kern="0" spc="-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 marL="816610" marR="0" lvl="2" indent="-342900" algn="l" defTabSz="914400" rtl="0" eaLnBrk="0" fontAlgn="base" latinLnBrk="0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若原链表</a:t>
            </a:r>
            <a:r>
              <a:rPr lang="zh-CN" altLang="en-US" sz="1800" b="1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非空</a:t>
            </a: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，遍历链表找到</a:t>
            </a:r>
            <a:r>
              <a:rPr lang="zh-CN" altLang="en-US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尾节点</a:t>
            </a:r>
            <a:r>
              <a:rPr lang="en-US" altLang="zh-CN"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pr</a:t>
            </a: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，将尾节点的指针域指向新节点：</a:t>
            </a:r>
            <a:r>
              <a:rPr lang="en-US" altLang="zh-CN"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pr-&gt;next = p </a:t>
            </a:r>
            <a:endParaRPr lang="zh-CN" alt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</a:pPr>
            <a:endParaRPr lang="zh-CN" altLang="zh-CN"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800" kern="0" spc="9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483" y="4648200"/>
            <a:ext cx="5610225" cy="18218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62000" y="4493895"/>
            <a:ext cx="7992745" cy="202819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1511935"/>
            <a:ext cx="8162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动态数据结构的典型代表——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链表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（Linked </a:t>
            </a:r>
            <a:r>
              <a:rPr lang="en-US"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Table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400" b="1" kern="0" spc="-1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3555" y="2002155"/>
            <a:ext cx="8079105" cy="2999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3</a:t>
            </a: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）删除节点</a:t>
            </a:r>
            <a:endParaRPr lang="zh-CN"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 marL="857250" lvl="1" indent="-40005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若原链表为</a:t>
            </a:r>
            <a:r>
              <a:rPr lang="en-US" altLang="zh-CN" sz="18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空表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</a:t>
            </a: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无需删除，直接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退出程序</a:t>
            </a: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遍历链表，若找到的待删除节点</a:t>
            </a:r>
            <a:r>
              <a:rPr lang="en-US" altLang="zh-CN" sz="18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18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是头节点</a:t>
            </a:r>
            <a:r>
              <a:rPr lang="zh-CN" altLang="en-US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，则将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head</a:t>
            </a:r>
            <a:r>
              <a:rPr lang="zh-CN" alt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指向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endParaRPr lang="zh-CN" altLang="en-US"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</a:pP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alt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下一节点</a:t>
            </a: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，释放p的内存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00" b="1" kern="0" spc="100" dirty="0">
                <a:solidFill>
                  <a:srgbClr val="0070C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free(p)</a:t>
            </a:r>
            <a:r>
              <a:rPr lang="zh-CN" altLang="en-US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3"/>
            </a:pP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若待删除节点</a:t>
            </a:r>
            <a:r>
              <a:rPr lang="en-US" altLang="zh-CN" sz="18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18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不是头节点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，则将</a:t>
            </a:r>
            <a:r>
              <a:rPr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前一节点</a:t>
            </a:r>
            <a:r>
              <a:rPr 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的指针域</a:t>
            </a:r>
            <a:r>
              <a:rPr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指向</a:t>
            </a:r>
            <a:r>
              <a:rPr 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endParaRPr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</a:pPr>
            <a:r>
              <a:rPr lang="en-US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下一节点</a:t>
            </a: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，释放p的内存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00" b="1" kern="0" spc="100" dirty="0">
                <a:solidFill>
                  <a:srgbClr val="0070C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free(p)</a:t>
            </a:r>
            <a:r>
              <a:rPr lang="zh-CN" altLang="en-US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57250" lvl="1" indent="-4000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 startAt="4"/>
            </a:pP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若已搜索到表尾</a:t>
            </a: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仍</a:t>
            </a:r>
            <a:r>
              <a:rPr sz="1800" b="1" kern="0" spc="1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未找到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待删除节点，则显示“未找到”</a:t>
            </a:r>
            <a:r>
              <a:rPr lang="zh-CN" sz="1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sz="1800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endParaRPr lang="zh-CN" altLang="en-US" sz="1800" kern="0" spc="9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62660" y="4267835"/>
            <a:ext cx="8001000" cy="1774825"/>
            <a:chOff x="1156" y="8005"/>
            <a:chExt cx="12600" cy="279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20" y="8842"/>
              <a:ext cx="12436" cy="195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" y="8005"/>
              <a:ext cx="2145" cy="1545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838200" y="4265930"/>
            <a:ext cx="8207375" cy="181737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1436370"/>
            <a:ext cx="8162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动态数据结构的典型代表——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链表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（Linked </a:t>
            </a:r>
            <a:r>
              <a:rPr lang="en-US"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Table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400" b="1" kern="0" spc="-1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5625" y="1905000"/>
            <a:ext cx="7279640" cy="2471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4</a:t>
            </a:r>
            <a:r>
              <a:rPr lang="zh-CN" sz="1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  <a:sym typeface="+mn-ea"/>
              </a:rPr>
              <a:t>）查找目标节点</a:t>
            </a:r>
            <a:endParaRPr lang="zh-CN"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 marL="857250" marR="0" lvl="1" indent="-400050" algn="just" defTabSz="914400" rtl="0" fontAlgn="base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头节点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开始遍历链表；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marR="0" lvl="1" indent="-400050" algn="just" defTabSz="914400" rtl="0" fontAlgn="base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逐个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比较节点的数据域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（如书号）；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marR="0" lvl="1" indent="-400050" algn="just" defTabSz="914400" rtl="0" fontAlgn="base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若找到目标节点，返回该节点；否则遍历结束后返回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NULL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sz="1800" b="1" kern="0" spc="10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  <a:sym typeface="+mn-ea"/>
            </a:endParaRPr>
          </a:p>
          <a:p>
            <a:pPr indent="457200">
              <a:lnSpc>
                <a:spcPct val="150000"/>
              </a:lnSpc>
            </a:pPr>
            <a:endParaRPr lang="zh-CN" sz="1800" kern="0" spc="8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555" y="4114575"/>
            <a:ext cx="6003290" cy="195961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14400" y="3855720"/>
            <a:ext cx="7532370" cy="243649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1436370"/>
            <a:ext cx="8162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rtl="0" eaLnBrk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动态数据结构的典型代表——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链表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（Linked </a:t>
            </a:r>
            <a:r>
              <a:rPr lang="en-US"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Table</a:t>
            </a:r>
            <a:r>
              <a:rPr sz="2400" b="1" kern="0" spc="-10" dirty="0">
                <a:solidFill>
                  <a:schemeClr val="tx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400" b="1" kern="0" spc="-10" dirty="0">
              <a:solidFill>
                <a:schemeClr val="tx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实验说明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381000" y="1295400"/>
            <a:ext cx="8333105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1" indent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【题目</a:t>
            </a:r>
            <a:r>
              <a:rPr lang="en-US" altLang="zh-CN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</a:t>
            </a:r>
            <a:r>
              <a:rPr lang="zh-CN" altLang="en-US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纸牌游戏</a:t>
            </a:r>
            <a:r>
              <a:rPr lang="zh-CN" altLang="en-US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编号为1~52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的52张牌，按编号顺序摆放，正面朝上。现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从第2张开始，以2为基数，对编号是2的倍数的牌翻一次，直到最后一张牌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；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457200" algn="just" eaLnBrk="1" hangingPunct="1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然后，又从第3张牌开始，以3为基数，对编号是3的倍数的牌翻一次，直到最后一张牌；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457200" algn="just" eaLnBrk="1" hangingPunct="1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接着，再从第4张开始，以4为基数，对编号是4的倍数的牌翻一次，直到最后一张牌，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以此类推...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lvl="0" indent="457200" algn="just" eaLnBrk="1" hangingPunct="1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457200" algn="just" eaLnBrk="1" hangingPunct="1">
              <a:lnSpc>
                <a:spcPct val="150000"/>
              </a:lnSpc>
              <a:buClr>
                <a:schemeClr val="folHlink"/>
              </a:buClr>
              <a:buSzPct val="6000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请输出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正面朝上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的所有纸牌编号和纸牌张数。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" panose="05000000000000000000" charset="0"/>
              <a:buNone/>
              <a:defRPr/>
            </a:pP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endParaRPr lang="en-US" altLang="zh-CN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0235" y="1371600"/>
            <a:ext cx="805116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【输入示例】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b="1" kern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纸牌的张数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【输出示例】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b="1" kern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1 4 9 16 25 36 49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正面朝上的所有纸牌编号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b="1" ker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正面朝上的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纸牌张数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4572000"/>
            <a:ext cx="62865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【注意】每张牌编号后面都有空格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6550" y="1116330"/>
            <a:ext cx="7183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【解题思路】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175375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2445" y="1679575"/>
            <a:ext cx="8631555" cy="304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、创建顺序表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纸牌张数为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，创建大小为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n+1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的连续存储空间（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号闲置），将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1~n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号空间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赋值为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，表示纸牌正面朝上。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、模拟纸牌游戏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30000"/>
              </a:lnSpc>
              <a:buClrTx/>
              <a:buSzTx/>
              <a:buFont typeface="+mj-lt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）两重循环模拟翻牌过程：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14450" lvl="2" indent="-400050" algn="l">
              <a:lnSpc>
                <a:spcPct val="130000"/>
              </a:lnSpc>
              <a:buClrTx/>
              <a:buSzTx/>
              <a:buFont typeface="+mj-lt"/>
              <a:buAutoNum type="romanUcPeriod"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外循环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控制翻牌基数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开始到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结束；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14450" lvl="2" indent="-400050" algn="l">
              <a:lnSpc>
                <a:spcPct val="130000"/>
              </a:lnSpc>
              <a:buClrTx/>
              <a:buSzTx/>
              <a:buFont typeface="+mj-lt"/>
              <a:buAutoNum type="romanUcPeriod"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内循环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完成以基数开始，依次对编号为基数倍数的纸牌翻牌，直到最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 algn="l">
              <a:lnSpc>
                <a:spcPct val="130000"/>
              </a:lnSpc>
              <a:buClrTx/>
              <a:buSzTx/>
              <a:buFont typeface="+mj-lt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后一张编号为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的牌结束。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）翻牌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一次的操作，</a:t>
            </a:r>
            <a:r>
              <a:rPr lang="zh-CN" altLang="zh-CN" sz="180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如果牌的状态是 1</a:t>
            </a:r>
            <a:r>
              <a:rPr lang="zh-CN" altLang="zh-CN" sz="180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，翻为 </a:t>
            </a:r>
            <a:r>
              <a:rPr lang="zh-CN" altLang="zh-CN" sz="180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0；如果是</a:t>
            </a:r>
            <a:r>
              <a:rPr lang="zh-CN" altLang="zh-CN" sz="180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 0</a:t>
            </a:r>
            <a:r>
              <a:rPr lang="zh-CN" altLang="zh-CN" sz="180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，翻为 </a:t>
            </a:r>
            <a:r>
              <a:rPr lang="zh-CN" altLang="zh-CN" sz="180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4328160" y="3540760"/>
          <a:ext cx="419100" cy="1143000"/>
        </p:xfrm>
        <a:graphic>
          <a:graphicData uri="http://schemas.openxmlformats.org/drawingml/2006/table">
            <a:tbl>
              <a:tblPr firstRow="1">
                <a:tableStyleId>{4778DDF4-9E4B-46A8-8838-2959DD75E3B5}</a:tableStyleId>
              </a:tblPr>
              <a:tblGrid>
                <a:gridCol w="4191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328160" y="3389630"/>
          <a:ext cx="508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</a:tblGrid>
              <a:tr h="3981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50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81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CN" sz="150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467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n+1</a:t>
                      </a:r>
                      <a:endParaRPr lang="en-US" altLang="zh-CN" sz="130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3566160" y="3389630"/>
          <a:ext cx="73279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7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listsize</a:t>
                      </a:r>
                      <a:endParaRPr lang="en-US" altLang="zh-C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023360" y="3046730"/>
            <a:ext cx="6000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endCxn id="17" idx="1"/>
          </p:cNvCxnSpPr>
          <p:nvPr/>
        </p:nvCxnSpPr>
        <p:spPr>
          <a:xfrm flipV="1">
            <a:off x="4618990" y="3581400"/>
            <a:ext cx="471170" cy="120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5090160" y="3389630"/>
          <a:ext cx="3469005" cy="38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850"/>
                <a:gridCol w="450850"/>
                <a:gridCol w="467995"/>
                <a:gridCol w="476885"/>
                <a:gridCol w="467995"/>
                <a:gridCol w="704215"/>
                <a:gridCol w="450215"/>
              </a:tblGrid>
              <a:tr h="38354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b="0" spc="12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空</a:t>
                      </a:r>
                      <a:endParaRPr lang="en-US" altLang="zh-CN" sz="1300" b="0" spc="12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3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3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3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3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3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ln>
                            <a:solidFill>
                              <a:srgbClr val="28462B"/>
                            </a:solidFill>
                          </a:ln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...</a:t>
                      </a:r>
                      <a:endParaRPr lang="en-US" altLang="zh-CN" b="0">
                        <a:ln>
                          <a:solidFill>
                            <a:srgbClr val="28462B"/>
                          </a:solidFill>
                        </a:ln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3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4"/>
            </p:custDataLst>
          </p:nvPr>
        </p:nvGraphicFramePr>
        <p:xfrm>
          <a:off x="5169535" y="2969895"/>
          <a:ext cx="3469640" cy="419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40"/>
                <a:gridCol w="400050"/>
                <a:gridCol w="406400"/>
                <a:gridCol w="414655"/>
                <a:gridCol w="406400"/>
                <a:gridCol w="991235"/>
                <a:gridCol w="467360"/>
              </a:tblGrid>
              <a:tr h="4197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  </a:t>
                      </a:r>
                      <a:endParaRPr lang="en-US" altLang="zh-CN" sz="14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1</a:t>
                      </a:r>
                      <a:endParaRPr lang="en-US" altLang="zh-CN" sz="14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 2</a:t>
                      </a:r>
                      <a:endParaRPr lang="en-US" altLang="zh-CN" sz="14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 3  </a:t>
                      </a:r>
                      <a:endParaRPr lang="en-US" altLang="zh-CN" sz="14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  4</a:t>
                      </a:r>
                      <a:endParaRPr lang="en-US" altLang="zh-CN" sz="1400" b="0" spc="12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n>
                            <a:solidFill>
                              <a:srgbClr val="28462B"/>
                            </a:solidFill>
                          </a:ln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...</a:t>
                      </a:r>
                      <a:endParaRPr lang="en-US" altLang="zh-CN" sz="1400" b="0">
                        <a:ln>
                          <a:solidFill>
                            <a:srgbClr val="28462B"/>
                          </a:solidFill>
                        </a:ln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spc="12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n</a:t>
                      </a:r>
                      <a:endParaRPr lang="en-US" altLang="zh-CN" sz="1400" b="0" spc="120">
                        <a:ln>
                          <a:solidFill>
                            <a:srgbClr val="28462B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3565525" y="3007995"/>
            <a:ext cx="5073650" cy="157162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实验说明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381000" y="1295400"/>
            <a:ext cx="844296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4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【题目3： 火车排序】</a:t>
            </a:r>
            <a:endParaRPr lang="zh-CN" altLang="en-US" sz="2400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0" algn="just" eaLnBrk="1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两条铁轨上分别排列着若干车厢，每条铁轨上车厢号按从大到小的顺序排列。请你使用</a:t>
            </a:r>
            <a:r>
              <a:rPr lang="zh-CN" altLang="en-US" sz="2000" b="1" noProof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栈和队列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，将两条铁轨上的车厢合并到一条铁轨上，并保证整体从小到大排序。</a:t>
            </a:r>
            <a:endParaRPr lang="zh-CN" altLang="en-US" sz="18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rgbClr val="28462B"/>
              </a:buClr>
              <a:buSzPct val="80000"/>
              <a:buFont typeface="Wingdings" panose="05000000000000000000" charset="0"/>
              <a:buNone/>
              <a:defRPr/>
            </a:pPr>
            <a:endParaRPr lang="en-US" altLang="zh-CN" sz="18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【输入示例】</a:t>
            </a:r>
            <a:endParaRPr lang="zh-CN" altLang="en-US" sz="1800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1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</a:t>
            </a:r>
            <a:r>
              <a:rPr lang="en-US" altLang="zh-CN" sz="18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6 3 1</a:t>
            </a:r>
            <a:r>
              <a:rPr lang="en-US" altLang="zh-CN" sz="16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               //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二行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，分别表示两条铁轨，车厢号从大到小排列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lvl="1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   </a:t>
            </a:r>
            <a:r>
              <a:rPr lang="en-US" altLang="zh-CN" sz="18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lang="en-US" altLang="zh-CN" sz="1800" b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5 4 2</a:t>
            </a:r>
            <a:endParaRPr lang="en-US" altLang="zh-CN" sz="16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lvl="1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endParaRPr lang="en-US" altLang="zh-CN" sz="14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lvl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【输出示例】</a:t>
            </a:r>
            <a:endParaRPr lang="zh-CN" altLang="en-US" sz="1800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1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r>
              <a:rPr lang="en-US" altLang="zh-CN" sz="1800" b="1" noProof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1 2 3 4 5 6</a:t>
            </a:r>
            <a:r>
              <a:rPr lang="en-US" altLang="zh-CN" sz="1600" noProof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//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合并后的车厢号，从小到大排列</a:t>
            </a: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lvl="1" indent="0" algn="just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rgbClr val="003300"/>
              </a:buClr>
              <a:buSzPct val="80000"/>
              <a:buFont typeface="Wingdings" panose="05000000000000000000" charset="0"/>
              <a:buNone/>
              <a:defRPr/>
            </a:pPr>
            <a:endParaRPr lang="en-US" altLang="zh-CN" sz="1600" noProof="1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175375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1263650"/>
            <a:ext cx="719264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【解题思路】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200" y="1905000"/>
            <a:ext cx="7363460" cy="17532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数据结构选择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</a:pPr>
            <a:r>
              <a:rPr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栈：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用于存储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每条铁轨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上的车厢，模拟车厢的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先进后出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特性；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</a:pPr>
            <a:r>
              <a:rPr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用于存储最终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合并后的车厢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，使其按照从小到大的顺序排列。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6800" y="3505200"/>
            <a:ext cx="7288530" cy="287274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3525520"/>
            <a:ext cx="5141595" cy="2646680"/>
          </a:xfrm>
          <a:prstGeom prst="rect">
            <a:avLst/>
          </a:prstGeom>
        </p:spPr>
      </p:pic>
      <p:sp>
        <p:nvSpPr>
          <p:cNvPr id="12" name="下箭头 11"/>
          <p:cNvSpPr/>
          <p:nvPr/>
        </p:nvSpPr>
        <p:spPr>
          <a:xfrm>
            <a:off x="3505200" y="5866765"/>
            <a:ext cx="381000" cy="381000"/>
          </a:xfrm>
          <a:prstGeom prst="downArrow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3429000" y="3734435"/>
            <a:ext cx="381000" cy="38100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</a:t>
            </a:r>
            <a:endParaRPr lang="zh-CN" altLang="en-US" sz="3600" b="1" dirty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660" y="1263650"/>
            <a:ext cx="719264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【解题思路】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200" y="1905000"/>
            <a:ext cx="7363460" cy="17532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buFont typeface="Arial" panose="020B0604020202020204"/>
            </a:pPr>
            <a:r>
              <a:rPr 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合并策略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7250" lvl="1" indent="-4000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两个栈分别存放两条铁轨上的车厢，车厢号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从大到小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依次压入；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7250" lvl="1" indent="-4000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依次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两个栈的栈顶元素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较小的元素出栈并存入队列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7250" lvl="1" indent="-4000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直到两个栈都为空，队列中存放的即是排序后的车厢顺序。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1443990" y="4455160"/>
          <a:ext cx="3469005" cy="38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850"/>
                <a:gridCol w="450850"/>
                <a:gridCol w="467995"/>
                <a:gridCol w="476885"/>
              </a:tblGrid>
              <a:tr h="38354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S1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443990" y="5006975"/>
          <a:ext cx="3469005" cy="38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850"/>
                <a:gridCol w="450850"/>
                <a:gridCol w="467995"/>
                <a:gridCol w="476885"/>
              </a:tblGrid>
              <a:tr h="38354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S2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4568190" y="4759325"/>
          <a:ext cx="322961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"/>
                <a:gridCol w="437515"/>
                <a:gridCol w="454660"/>
                <a:gridCol w="462915"/>
                <a:gridCol w="454660"/>
                <a:gridCol w="480060"/>
                <a:gridCol w="501650"/>
              </a:tblGrid>
              <a:tr h="40132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spc="12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ea"/>
                        </a:rPr>
                        <a:t>6</a:t>
                      </a:r>
                      <a:endParaRPr lang="en-US" altLang="zh-CN" sz="1400" b="1" spc="12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3577590" y="4683760"/>
            <a:ext cx="838200" cy="2286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 flipV="1">
            <a:off x="3501390" y="4988560"/>
            <a:ext cx="914400" cy="2286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19" name="矩形 18"/>
          <p:cNvSpPr/>
          <p:nvPr/>
        </p:nvSpPr>
        <p:spPr>
          <a:xfrm>
            <a:off x="914400" y="4022090"/>
            <a:ext cx="7216775" cy="195262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实验规则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" y="1135380"/>
            <a:ext cx="8458200" cy="2097405"/>
          </a:xfrm>
        </p:spPr>
        <p:txBody>
          <a:bodyPr/>
          <a:lstStyle/>
          <a:p>
            <a:pPr marL="457200" lvl="1" indent="0">
              <a:lnSpc>
                <a:spcPct val="70000"/>
              </a:lnSpc>
              <a:buNone/>
            </a:pPr>
            <a:endParaRPr kumimoji="1"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latinLnBrk="0">
              <a:lnSpc>
                <a:spcPct val="150000"/>
              </a:lnSpc>
              <a:spcBef>
                <a:spcPts val="0"/>
              </a:spcBef>
              <a:buClr>
                <a:srgbClr val="003300"/>
              </a:buClr>
              <a:buSzPct val="80000"/>
              <a:buFont typeface="+mj-lt"/>
              <a:buNone/>
            </a:pPr>
            <a:r>
              <a:rPr kumimoji="1" lang="en-US" altLang="zh-CN" sz="2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实验一分数比例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buClr>
                <a:srgbClr val="000000"/>
              </a:buClr>
              <a:buSzPct val="80000"/>
              <a:buFont typeface="Wingdings" panose="05000000000000000000" charset="0"/>
              <a:buChar char="ü"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图书管理系统（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Clr>
                <a:srgbClr val="000000"/>
              </a:buClr>
              <a:buSzPct val="80000"/>
              <a:buFont typeface="Wingdings" panose="05000000000000000000" charset="0"/>
              <a:buChar char="ü"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纸牌游戏（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%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buClr>
                <a:srgbClr val="000000"/>
              </a:buClr>
              <a:buSzPct val="80000"/>
              <a:buFont typeface="Wingdings" panose="05000000000000000000" charset="0"/>
              <a:buChar char="ü"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火车排序（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%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70000"/>
              </a:lnSpc>
              <a:buClr>
                <a:srgbClr val="000000"/>
              </a:buClr>
              <a:buSzPct val="80000"/>
              <a:buFont typeface="Wingdings" panose="05000000000000000000" charset="0"/>
              <a:buNone/>
            </a:pP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70000"/>
              </a:lnSpc>
              <a:buFont typeface="Wingdings" panose="05000000000000000000" charset="0"/>
              <a:buChar char="n"/>
            </a:pPr>
            <a:endParaRPr kumimoji="1"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70000"/>
              </a:lnSpc>
              <a:buNone/>
            </a:pP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40640" y="2974975"/>
            <a:ext cx="9094470" cy="37147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lnSpc>
                <a:spcPct val="70000"/>
              </a:lnSpc>
            </a:pPr>
            <a:endParaRPr kumimoji="1"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70000"/>
              </a:lnSpc>
              <a:buClr>
                <a:srgbClr val="003300"/>
              </a:buClr>
              <a:buSzPct val="80000"/>
              <a:buFont typeface="+mj-lt"/>
              <a:buNone/>
            </a:pPr>
            <a:r>
              <a:rPr kumimoji="1" lang="en-US" altLang="zh-CN" sz="2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课堂安排</a:t>
            </a:r>
            <a:endParaRPr kumimoji="1" lang="zh-CN" altLang="en-US" sz="20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20000"/>
              </a:lnSpc>
              <a:buClr>
                <a:srgbClr val="003300"/>
              </a:buClr>
              <a:buSzPct val="80000"/>
              <a:buFont typeface="+mj-lt"/>
              <a:buNone/>
            </a:pP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Clr>
                <a:srgbClr val="000000"/>
              </a:buClr>
              <a:buSzPct val="80000"/>
              <a:buFont typeface="Wingdings" panose="05000000000000000000" charset="0"/>
              <a:buChar char="ü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每次实验课共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学时，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抽查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位同学；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Clr>
                <a:srgbClr val="000000"/>
              </a:buClr>
              <a:buSzPct val="80000"/>
              <a:buFont typeface="Wingdings" panose="05000000000000000000" charset="0"/>
              <a:buChar char="ü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被抽查同学需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任选一题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，现场讲解代码流程与算法逻辑；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Clr>
                <a:srgbClr val="000000"/>
              </a:buClr>
              <a:buSzPct val="80000"/>
              <a:buFont typeface="Wingdings" panose="05000000000000000000" charset="0"/>
              <a:buChar char="ü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若被抽查同学出现以下情况，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扣除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当次实验成绩的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20000"/>
              </a:lnSpc>
              <a:buClr>
                <a:srgbClr val="000000"/>
              </a:buClr>
              <a:buSzPct val="80000"/>
              <a:buFont typeface="Wingdings" panose="05000000000000000000" charset="0"/>
              <a:buNone/>
            </a:pP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90000"/>
              </a:lnSpc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kumimoji="1"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抽查时缺席；</a:t>
            </a:r>
            <a:endParaRPr kumimoji="1"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90000"/>
              </a:lnSpc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kumimoji="1"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无法完整阐述代码执行流程；</a:t>
            </a:r>
            <a:endParaRPr kumimoji="1"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90000"/>
              </a:lnSpc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kumimoji="1"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无法清晰讲解算法逻辑；</a:t>
            </a:r>
            <a:endParaRPr kumimoji="1"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90000"/>
              </a:lnSpc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kumimoji="1"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未能准确回答相关问题。</a:t>
            </a:r>
            <a:endParaRPr kumimoji="1" lang="zh-CN" altLang="en-US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70000"/>
              </a:lnSpc>
              <a:buFont typeface="Wingdings" panose="05000000000000000000" charset="0"/>
              <a:buChar char="n"/>
            </a:pPr>
            <a:endParaRPr kumimoji="1"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70000"/>
              </a:lnSpc>
              <a:buNone/>
            </a:pP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课程平台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9880" y="1752600"/>
            <a:ext cx="867791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登录网址：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  <a:hlinkClick r:id="rId1"/>
              </a:rPr>
              <a:t>http://10.249.41.7:9000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，推荐浏览器：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Chrome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初始用户名、密码均为学号，登录后请修改； 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提交截止时间内，可以重新提交作业，不限次数；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只要有一次提交通过，即使重新提交代码未通过，也视为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success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状态；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目前仅支持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C99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，请在本地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IDE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完成调试后再提交课程平台；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代码没有点击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“提交”之前，所有内容没有保存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，请做好本地备份；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代码“提交”，需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刷新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之后，才可以查看“提交记录”和“已提交代码“；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只支持单个文件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ea typeface="宋体" panose="02010600030101010101" pitchFamily="2" charset="-122"/>
              </a:rPr>
            </a:fld>
            <a:endParaRPr lang="en-US" altLang="en-US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413" y="876300"/>
            <a:ext cx="8639175" cy="510540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请同学们开始实验吧！</a:t>
            </a:r>
            <a:endParaRPr lang="zh-CN" altLang="en-US" sz="4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40*90"/>
  <p:tag name="TABLE_ENDDRAG_RECT" val="108*225*40*90"/>
  <p:tag name="TABLE_AUTOADJUST_FLAG" val="1"/>
</p:tagLst>
</file>

<file path=ppt/tags/tag2.xml><?xml version="1.0" encoding="utf-8"?>
<p:tagLst xmlns:p="http://schemas.openxmlformats.org/presentationml/2006/main">
  <p:tag name="TABLE_ENDDRAG_ORIGIN_RECT" val="57*96"/>
  <p:tag name="TABLE_ENDDRAG_RECT" val="35*225*57*96"/>
</p:tagLst>
</file>

<file path=ppt/tags/tag3.xml><?xml version="1.0" encoding="utf-8"?>
<p:tagLst xmlns:p="http://schemas.openxmlformats.org/presentationml/2006/main">
  <p:tag name="TABLE_ENDDRAG_ORIGIN_RECT" val="503*30"/>
  <p:tag name="TABLE_ENDDRAG_RECT" val="168*225*503*30"/>
</p:tagLst>
</file>

<file path=ppt/tags/tag4.xml><?xml version="1.0" encoding="utf-8"?>
<p:tagLst xmlns:p="http://schemas.openxmlformats.org/presentationml/2006/main">
  <p:tag name="TABLE_ENDDRAG_ORIGIN_RECT" val="273*33"/>
  <p:tag name="TABLE_ENDDRAG_RECT" val="197*156*273*33"/>
</p:tagLst>
</file>

<file path=ppt/tags/tag5.xml><?xml version="1.0" encoding="utf-8"?>
<p:tagLst xmlns:p="http://schemas.openxmlformats.org/presentationml/2006/main">
  <p:tag name="TABLE_ENDDRAG_ORIGIN_RECT" val="503*30"/>
  <p:tag name="TABLE_ENDDRAG_RECT" val="168*225*503*30"/>
</p:tagLst>
</file>

<file path=ppt/tags/tag6.xml><?xml version="1.0" encoding="utf-8"?>
<p:tagLst xmlns:p="http://schemas.openxmlformats.org/presentationml/2006/main">
  <p:tag name="TABLE_ENDDRAG_ORIGIN_RECT" val="503*30"/>
  <p:tag name="TABLE_ENDDRAG_RECT" val="168*225*503*30"/>
</p:tagLst>
</file>

<file path=ppt/tags/tag7.xml><?xml version="1.0" encoding="utf-8"?>
<p:tagLst xmlns:p="http://schemas.openxmlformats.org/presentationml/2006/main">
  <p:tag name="TABLE_ENDDRAG_ORIGIN_RECT" val="265*31"/>
  <p:tag name="TABLE_ENDDRAG_RECT" val="282*432*265*31"/>
</p:tagLst>
</file>

<file path=ppt/tags/tag8.xml><?xml version="1.0" encoding="utf-8"?>
<p:tagLst xmlns:p="http://schemas.openxmlformats.org/presentationml/2006/main">
  <p:tag name="KSO_WPP_MARK_KEY" val="b7a9f78c-1fdc-45ed-a6ae-4f4269170927"/>
  <p:tag name="COMMONDATA" val="eyJoZGlkIjoiNGQ2MzhhZmRmMzBlOGEyZGNiNmMyNjA2MmE2MGViZDkifQ=="/>
  <p:tag name="commondata" val="eyJoZGlkIjoiZGEzOGMzMmZjNDU1Mzk0MWZiMzU0NGFhYjE5YTU4MjMifQ=="/>
  <p:tag name="resource_record_key" val="{&quot;10&quot;:[50027507],&quot;13&quot;:[20419718]}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2993</Words>
  <Application>WPS 演示</Application>
  <PresentationFormat>全屏显示(4:3)</PresentationFormat>
  <Paragraphs>338</Paragraphs>
  <Slides>19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Arial</vt:lpstr>
      <vt:lpstr>宋体</vt:lpstr>
      <vt:lpstr>Wingdings</vt:lpstr>
      <vt:lpstr>Tahoma</vt:lpstr>
      <vt:lpstr>Times New Roman</vt:lpstr>
      <vt:lpstr>微软雅黑</vt:lpstr>
      <vt:lpstr>Wingdings</vt:lpstr>
      <vt:lpstr>Arial</vt:lpstr>
      <vt:lpstr>华文中宋</vt:lpstr>
      <vt:lpstr>Arial Unicode MS</vt:lpstr>
      <vt:lpstr>Blends</vt:lpstr>
      <vt:lpstr>3_Blends</vt:lpstr>
      <vt:lpstr>MS_ClipArt_Gallery.5</vt:lpstr>
      <vt:lpstr>MS_ClipArt_Gallery.5</vt:lpstr>
      <vt:lpstr>MS_ClipArt_Gallery.5</vt:lpstr>
      <vt:lpstr>MS_ClipArt_Gallery.5</vt:lpstr>
      <vt:lpstr>MS_ClipArt_Gallery.5</vt:lpstr>
      <vt:lpstr>MS_ClipArt_Gallery.2</vt:lpstr>
      <vt:lpstr>MS_ClipArt_Gallery.5</vt:lpstr>
      <vt:lpstr>MS_ClipArt_Gallery.5</vt:lpstr>
      <vt:lpstr>MS_ClipArt_Gallery.5</vt:lpstr>
      <vt:lpstr>MS_ClipArt_Gallery.5</vt:lpstr>
      <vt:lpstr>MS_ClipArt_Gallery.5</vt:lpstr>
      <vt:lpstr>MS_ClipArt_Gallery.2</vt:lpstr>
      <vt:lpstr>MS_ClipArt_Gallery.5</vt:lpstr>
      <vt:lpstr>PowerPoint 演示文稿</vt:lpstr>
      <vt:lpstr>实验说明</vt:lpstr>
      <vt:lpstr>实验说明</vt:lpstr>
      <vt:lpstr>实验说明</vt:lpstr>
      <vt:lpstr>实验内容</vt:lpstr>
      <vt:lpstr>实验内容</vt:lpstr>
      <vt:lpstr>实验内容</vt:lpstr>
      <vt:lpstr>实验内容</vt:lpstr>
      <vt:lpstr>实验内容</vt:lpstr>
      <vt:lpstr>实验内容</vt:lpstr>
      <vt:lpstr>实验说明</vt:lpstr>
      <vt:lpstr>实验内容</vt:lpstr>
      <vt:lpstr>实验内容</vt:lpstr>
      <vt:lpstr>实验说明</vt:lpstr>
      <vt:lpstr>实验内容</vt:lpstr>
      <vt:lpstr>实验内容</vt:lpstr>
      <vt:lpstr>实验规则</vt:lpstr>
      <vt:lpstr>课程平台</vt:lpstr>
      <vt:lpstr>PowerPoint 演示文稿</vt:lpstr>
    </vt:vector>
  </TitlesOfParts>
  <Company>HITSZ-ICE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Mining</dc:title>
  <dc:creator>Yunming Ye</dc:creator>
  <cp:lastModifiedBy>華夏同學</cp:lastModifiedBy>
  <cp:revision>966</cp:revision>
  <cp:lastPrinted>2000-06-01T21:00:00Z</cp:lastPrinted>
  <dcterms:created xsi:type="dcterms:W3CDTF">1999-12-01T22:01:00Z</dcterms:created>
  <dcterms:modified xsi:type="dcterms:W3CDTF">2025-03-24T03:29:51Z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DB3C8CFC9C084AA5A74E2FAEE557FDDB</vt:lpwstr>
  </property>
</Properties>
</file>