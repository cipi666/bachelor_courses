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327" r:id="rId2"/>
    <p:sldId id="302" r:id="rId3"/>
    <p:sldId id="329" r:id="rId4"/>
    <p:sldId id="332" r:id="rId5"/>
    <p:sldId id="331" r:id="rId6"/>
    <p:sldId id="303" r:id="rId7"/>
    <p:sldId id="304" r:id="rId8"/>
    <p:sldId id="305" r:id="rId9"/>
    <p:sldId id="316" r:id="rId10"/>
    <p:sldId id="315" r:id="rId11"/>
    <p:sldId id="314" r:id="rId12"/>
    <p:sldId id="325" r:id="rId13"/>
    <p:sldId id="317" r:id="rId14"/>
    <p:sldId id="318" r:id="rId15"/>
    <p:sldId id="319" r:id="rId16"/>
    <p:sldId id="320" r:id="rId17"/>
    <p:sldId id="321" r:id="rId18"/>
    <p:sldId id="333" r:id="rId19"/>
    <p:sldId id="345" r:id="rId20"/>
    <p:sldId id="326" r:id="rId21"/>
    <p:sldId id="324" r:id="rId22"/>
  </p:sldIdLst>
  <p:sldSz cx="9144000" cy="5143500" type="screen16x9"/>
  <p:notesSz cx="6858000" cy="9144000"/>
  <p:embeddedFontLst>
    <p:embeddedFont>
      <p:font typeface="黑体" panose="02010609060101010101" pitchFamily="49" charset="-122"/>
      <p:regular r:id="rId24"/>
    </p:embeddedFont>
    <p:embeddedFont>
      <p:font typeface="Cambria Math" panose="02040503050406030204" pitchFamily="18" charset="0"/>
      <p:regular r:id="rId25"/>
    </p:embeddedFont>
    <p:embeddedFont>
      <p:font typeface="仿宋" panose="02010609060101010101" pitchFamily="49" charset="-122"/>
      <p:regular r:id="rId26"/>
    </p:embeddedFont>
    <p:embeddedFont>
      <p:font typeface="华文楷体" panose="02010600040101010101" pitchFamily="2" charset="-122"/>
      <p:regular r:id="rId27"/>
    </p:embeddedFont>
    <p:embeddedFont>
      <p:font typeface="微软雅黑" panose="020B0503020204020204" pitchFamily="34" charset="-122"/>
      <p:regular r:id="rId28"/>
      <p:bold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962B"/>
    <a:srgbClr val="DADEDD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6" autoAdjust="0"/>
    <p:restoredTop sz="86113" autoAdjust="0"/>
  </p:normalViewPr>
  <p:slideViewPr>
    <p:cSldViewPr snapToGrid="0">
      <p:cViewPr varScale="1">
        <p:scale>
          <a:sx n="86" d="100"/>
          <a:sy n="86" d="100"/>
        </p:scale>
        <p:origin x="474" y="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pPr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21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2024/9/11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ACCB489-2BDB-4AFE-9D15-CB085D3D980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59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21E9E4D-0BE1-4AAA-A57B-DA425863F4AF}" type="datetimeFigureOut">
              <a:rPr lang="zh-CN" altLang="en-US" smtClean="0"/>
              <a:pPr/>
              <a:t>2024/9/11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1BEBC7A-FD02-486B-81B5-A845787C689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31607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80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C5576F2-B473-468E-ACCE-9552A7B7B7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55480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Admin\Desktop\shutterstock_129456278 [转换].jpg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 userDrawn="1"/>
        </p:nvGrpSpPr>
        <p:grpSpPr>
          <a:xfrm>
            <a:off x="8320663" y="1"/>
            <a:ext cx="427552" cy="538163"/>
            <a:chOff x="11096625" y="0"/>
            <a:chExt cx="457200" cy="538163"/>
          </a:xfrm>
          <a:solidFill>
            <a:srgbClr val="65962B"/>
          </a:solidFill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11109325" y="0"/>
              <a:ext cx="444500" cy="538163"/>
            </a:xfrm>
            <a:custGeom>
              <a:avLst/>
              <a:gdLst>
                <a:gd name="T0" fmla="*/ 564 w 564"/>
                <a:gd name="T1" fmla="*/ 674 h 674"/>
                <a:gd name="T2" fmla="*/ 262 w 564"/>
                <a:gd name="T3" fmla="*/ 540 h 674"/>
                <a:gd name="T4" fmla="*/ 0 w 564"/>
                <a:gd name="T5" fmla="*/ 658 h 674"/>
                <a:gd name="T6" fmla="*/ 0 w 564"/>
                <a:gd name="T7" fmla="*/ 0 h 674"/>
                <a:gd name="T8" fmla="*/ 564 w 564"/>
                <a:gd name="T9" fmla="*/ 0 h 674"/>
                <a:gd name="T10" fmla="*/ 564 w 564"/>
                <a:gd name="T11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74">
                  <a:moveTo>
                    <a:pt x="564" y="674"/>
                  </a:moveTo>
                  <a:lnTo>
                    <a:pt x="262" y="540"/>
                  </a:lnTo>
                  <a:lnTo>
                    <a:pt x="0" y="658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11096625" y="0"/>
              <a:ext cx="442913" cy="514350"/>
            </a:xfrm>
            <a:custGeom>
              <a:avLst/>
              <a:gdLst>
                <a:gd name="T0" fmla="*/ 564 w 564"/>
                <a:gd name="T1" fmla="*/ 644 h 644"/>
                <a:gd name="T2" fmla="*/ 279 w 564"/>
                <a:gd name="T3" fmla="*/ 522 h 644"/>
                <a:gd name="T4" fmla="*/ 0 w 564"/>
                <a:gd name="T5" fmla="*/ 644 h 644"/>
                <a:gd name="T6" fmla="*/ 0 w 564"/>
                <a:gd name="T7" fmla="*/ 0 h 644"/>
                <a:gd name="T8" fmla="*/ 564 w 564"/>
                <a:gd name="T9" fmla="*/ 0 h 644"/>
                <a:gd name="T10" fmla="*/ 564 w 564"/>
                <a:gd name="T11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44">
                  <a:moveTo>
                    <a:pt x="564" y="644"/>
                  </a:moveTo>
                  <a:lnTo>
                    <a:pt x="279" y="522"/>
                  </a:lnTo>
                  <a:lnTo>
                    <a:pt x="0" y="644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4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8287393" y="87898"/>
            <a:ext cx="485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600" smtClean="0">
                <a:solidFill>
                  <a:srgbClr val="F8F8F8"/>
                </a:solidFill>
                <a:latin typeface="微软雅黑"/>
                <a:ea typeface="微软雅黑"/>
              </a:rPr>
              <a:pPr algn="ctr"/>
              <a:t>‹#›</a:t>
            </a:fld>
            <a:endParaRPr lang="zh-CN" altLang="en-US" sz="1600" dirty="0">
              <a:solidFill>
                <a:srgbClr val="F8F8F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1" r:id="rId4"/>
    <p:sldLayoutId id="2147483662" r:id="rId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1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0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0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C:\Users\Admin\Desktop\shutterstock_129456278 [转换]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椭圆 38" hidden="1"/>
          <p:cNvSpPr/>
          <p:nvPr/>
        </p:nvSpPr>
        <p:spPr>
          <a:xfrm>
            <a:off x="370922" y="636976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 hidden="1"/>
          <p:cNvSpPr/>
          <p:nvPr/>
        </p:nvSpPr>
        <p:spPr>
          <a:xfrm>
            <a:off x="1284462" y="-2068125"/>
            <a:ext cx="5410201" cy="541020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 hidden="1"/>
          <p:cNvSpPr/>
          <p:nvPr/>
        </p:nvSpPr>
        <p:spPr>
          <a:xfrm>
            <a:off x="1541937" y="-853335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 hidden="1"/>
          <p:cNvSpPr/>
          <p:nvPr/>
        </p:nvSpPr>
        <p:spPr>
          <a:xfrm>
            <a:off x="1418673" y="-3607964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/>
          <p:cNvSpPr/>
          <p:nvPr/>
        </p:nvSpPr>
        <p:spPr>
          <a:xfrm>
            <a:off x="4729976" y="-3980978"/>
            <a:ext cx="8568000" cy="8568000"/>
          </a:xfrm>
          <a:prstGeom prst="ellips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165637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3" name="同心圆 18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>
            <a:off x="5157214" y="2239541"/>
            <a:ext cx="274777" cy="274777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7234776" y="4697294"/>
            <a:ext cx="343825" cy="309997"/>
            <a:chOff x="4634991" y="2138335"/>
            <a:chExt cx="428348" cy="386204"/>
          </a:xfrm>
        </p:grpSpPr>
        <p:sp>
          <p:nvSpPr>
            <p:cNvPr id="188" name="Freeform 5"/>
            <p:cNvSpPr>
              <a:spLocks/>
            </p:cNvSpPr>
            <p:nvPr/>
          </p:nvSpPr>
          <p:spPr bwMode="auto">
            <a:xfrm>
              <a:off x="4634991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89" name="KSO_Shape"/>
            <p:cNvSpPr>
              <a:spLocks/>
            </p:cNvSpPr>
            <p:nvPr/>
          </p:nvSpPr>
          <p:spPr bwMode="auto">
            <a:xfrm>
              <a:off x="4711293" y="2236765"/>
              <a:ext cx="275742" cy="189342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7594015" y="4697294"/>
            <a:ext cx="343825" cy="309997"/>
            <a:chOff x="5076056" y="2138335"/>
            <a:chExt cx="428348" cy="386204"/>
          </a:xfrm>
        </p:grpSpPr>
        <p:sp>
          <p:nvSpPr>
            <p:cNvPr id="191" name="Freeform 5"/>
            <p:cNvSpPr>
              <a:spLocks/>
            </p:cNvSpPr>
            <p:nvPr/>
          </p:nvSpPr>
          <p:spPr bwMode="auto">
            <a:xfrm>
              <a:off x="5076056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2" name="KSO_Shape"/>
            <p:cNvSpPr>
              <a:spLocks/>
            </p:cNvSpPr>
            <p:nvPr/>
          </p:nvSpPr>
          <p:spPr bwMode="auto">
            <a:xfrm>
              <a:off x="5175472" y="2244479"/>
              <a:ext cx="229514" cy="195468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7953254" y="4697294"/>
            <a:ext cx="343825" cy="309997"/>
            <a:chOff x="5557128" y="2138335"/>
            <a:chExt cx="428348" cy="386204"/>
          </a:xfrm>
        </p:grpSpPr>
        <p:sp>
          <p:nvSpPr>
            <p:cNvPr id="194" name="Freeform 5"/>
            <p:cNvSpPr>
              <a:spLocks/>
            </p:cNvSpPr>
            <p:nvPr/>
          </p:nvSpPr>
          <p:spPr bwMode="auto">
            <a:xfrm>
              <a:off x="5557128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5" name="KSO_Shape"/>
            <p:cNvSpPr>
              <a:spLocks/>
            </p:cNvSpPr>
            <p:nvPr/>
          </p:nvSpPr>
          <p:spPr bwMode="auto">
            <a:xfrm>
              <a:off x="5652120" y="2208685"/>
              <a:ext cx="238362" cy="235978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8312493" y="4697294"/>
            <a:ext cx="343825" cy="309997"/>
            <a:chOff x="6068610" y="2138335"/>
            <a:chExt cx="428348" cy="386204"/>
          </a:xfrm>
        </p:grpSpPr>
        <p:sp>
          <p:nvSpPr>
            <p:cNvPr id="197" name="Freeform 5"/>
            <p:cNvSpPr>
              <a:spLocks/>
            </p:cNvSpPr>
            <p:nvPr/>
          </p:nvSpPr>
          <p:spPr bwMode="auto">
            <a:xfrm>
              <a:off x="6068610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8" name="KSO_Shape"/>
            <p:cNvSpPr>
              <a:spLocks/>
            </p:cNvSpPr>
            <p:nvPr/>
          </p:nvSpPr>
          <p:spPr bwMode="auto">
            <a:xfrm>
              <a:off x="6173883" y="2215236"/>
              <a:ext cx="232088" cy="197274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8671731" y="4697294"/>
            <a:ext cx="343825" cy="309997"/>
            <a:chOff x="6623914" y="2138335"/>
            <a:chExt cx="428348" cy="386204"/>
          </a:xfrm>
        </p:grpSpPr>
        <p:sp>
          <p:nvSpPr>
            <p:cNvPr id="200" name="Freeform 5"/>
            <p:cNvSpPr>
              <a:spLocks/>
            </p:cNvSpPr>
            <p:nvPr/>
          </p:nvSpPr>
          <p:spPr bwMode="auto">
            <a:xfrm>
              <a:off x="6623914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201" name="KSO_Shape"/>
            <p:cNvSpPr>
              <a:spLocks/>
            </p:cNvSpPr>
            <p:nvPr/>
          </p:nvSpPr>
          <p:spPr bwMode="auto">
            <a:xfrm>
              <a:off x="6715817" y="2193847"/>
              <a:ext cx="230254" cy="221044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sp>
        <p:nvSpPr>
          <p:cNvPr id="202" name="椭圆 201"/>
          <p:cNvSpPr/>
          <p:nvPr/>
        </p:nvSpPr>
        <p:spPr>
          <a:xfrm>
            <a:off x="1547664" y="2455517"/>
            <a:ext cx="476273" cy="476273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203" name="组合 202"/>
          <p:cNvGrpSpPr/>
          <p:nvPr/>
        </p:nvGrpSpPr>
        <p:grpSpPr>
          <a:xfrm>
            <a:off x="2557582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4" name="同心圆 20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347352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7" name="同心圆 20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08" name="椭圆 20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4369178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0" name="同心圆 20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27116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3" name="同心圆 2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618077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6" name="同心圆 2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7" name="椭圆 2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221" name="矩形 220"/>
          <p:cNvSpPr/>
          <p:nvPr/>
        </p:nvSpPr>
        <p:spPr>
          <a:xfrm>
            <a:off x="1789144" y="1377767"/>
            <a:ext cx="540885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000" b="1" spc="3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应 用 随 机 过 程</a:t>
            </a:r>
          </a:p>
        </p:txBody>
      </p:sp>
      <p:sp>
        <p:nvSpPr>
          <p:cNvPr id="222" name="椭圆 221"/>
          <p:cNvSpPr/>
          <p:nvPr/>
        </p:nvSpPr>
        <p:spPr>
          <a:xfrm>
            <a:off x="6999162" y="1061972"/>
            <a:ext cx="232095" cy="232095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2972223" y="2281477"/>
            <a:ext cx="354431" cy="3544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4" name="同心圆 2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25" name="椭圆 22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3545016" y="2443384"/>
            <a:ext cx="217043" cy="21704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8" name="同心圆 2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29" name="椭圆 22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54" name="矩形 3"/>
          <p:cNvSpPr>
            <a:spLocks noChangeArrowheads="1"/>
          </p:cNvSpPr>
          <p:nvPr/>
        </p:nvSpPr>
        <p:spPr bwMode="auto">
          <a:xfrm>
            <a:off x="2789635" y="3130076"/>
            <a:ext cx="4029619" cy="98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授课教师：赵毅</a:t>
            </a:r>
            <a:br>
              <a:rPr lang="en-US" altLang="zh-CN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哈尔滨工业大学（深圳）理学院</a:t>
            </a:r>
          </a:p>
        </p:txBody>
      </p:sp>
      <p:sp>
        <p:nvSpPr>
          <p:cNvPr id="62" name="矩形 61"/>
          <p:cNvSpPr/>
          <p:nvPr/>
        </p:nvSpPr>
        <p:spPr>
          <a:xfrm>
            <a:off x="5656919" y="2519500"/>
            <a:ext cx="2563911" cy="449756"/>
          </a:xfrm>
          <a:prstGeom prst="rect">
            <a:avLst/>
          </a:prstGeom>
          <a:solidFill>
            <a:srgbClr val="65962B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非均匀泊松过程应用</a:t>
            </a:r>
          </a:p>
        </p:txBody>
      </p:sp>
    </p:spTree>
    <p:extLst>
      <p:ext uri="{BB962C8B-B14F-4D97-AF65-F5344CB8AC3E}">
        <p14:creationId xmlns:p14="http://schemas.microsoft.com/office/powerpoint/2010/main" val="67708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0"/>
    </mc:Choice>
    <mc:Fallback xmlns="">
      <p:transition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29" dur="400" spd="-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56" dur="800" spd="-100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65" dur="600" spd="-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74" dur="600" spd="-100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83" dur="1500" spd="-100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92" dur="1000" spd="-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1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101" dur="1100" spd="-100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4" presetClass="pat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110" dur="500" spd="-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3.05556E-6 -2.63662E-6 L -0.79843 -0.88885 " pathEditMode="relative" rAng="0" ptsTypes="AA">
                                      <p:cBhvr>
                                        <p:cTn id="119" dur="1000" spd="-100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13" y="-44458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200"/>
                            </p:stCondLst>
                            <p:childTnLst>
                              <p:par>
                                <p:cTn id="1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7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7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450"/>
                            </p:stCondLst>
                            <p:childTnLst>
                              <p:par>
                                <p:cTn id="1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181" grpId="0" animBg="1"/>
      <p:bldP spid="185" grpId="0" animBg="1"/>
      <p:bldP spid="185" grpId="1" animBg="1"/>
      <p:bldP spid="185" grpId="2" animBg="1"/>
      <p:bldP spid="202" grpId="0" animBg="1"/>
      <p:bldP spid="202" grpId="1" animBg="1"/>
      <p:bldP spid="202" grpId="2" animBg="1"/>
      <p:bldP spid="221" grpId="0"/>
      <p:bldP spid="222" grpId="0" animBg="1"/>
      <p:bldP spid="222" grpId="1" animBg="1"/>
      <p:bldP spid="222" grpId="2" animBg="1"/>
      <p:bldP spid="54" grpId="0"/>
      <p:bldP spid="6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知识回顾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Freeform 5"/>
          <p:cNvSpPr>
            <a:spLocks/>
          </p:cNvSpPr>
          <p:nvPr/>
        </p:nvSpPr>
        <p:spPr bwMode="auto">
          <a:xfrm>
            <a:off x="2597995" y="1015012"/>
            <a:ext cx="847041" cy="3302215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39200" y="1797408"/>
            <a:ext cx="1740117" cy="1779214"/>
            <a:chOff x="649877" y="2144447"/>
            <a:chExt cx="1617958" cy="1589756"/>
          </a:xfrm>
        </p:grpSpPr>
        <p:grpSp>
          <p:nvGrpSpPr>
            <p:cNvPr id="16" name="组合 15"/>
            <p:cNvGrpSpPr/>
            <p:nvPr/>
          </p:nvGrpSpPr>
          <p:grpSpPr>
            <a:xfrm>
              <a:off x="649877" y="2144447"/>
              <a:ext cx="1617958" cy="1589756"/>
              <a:chOff x="304800" y="673100"/>
              <a:chExt cx="4071458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7" name="同心圆 1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392113" y="760412"/>
                <a:ext cx="3984145" cy="3825873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824025" y="2425648"/>
              <a:ext cx="1304357" cy="9900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非均匀泊松过程的性质</a:t>
              </a:r>
            </a:p>
          </p:txBody>
        </p:sp>
      </p:grpSp>
      <p:sp>
        <p:nvSpPr>
          <p:cNvPr id="20" name="Rectangle 12"/>
          <p:cNvSpPr/>
          <p:nvPr/>
        </p:nvSpPr>
        <p:spPr>
          <a:xfrm>
            <a:off x="3619194" y="1745758"/>
            <a:ext cx="3600000" cy="79976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Rectangle 12"/>
          <p:cNvSpPr/>
          <p:nvPr/>
        </p:nvSpPr>
        <p:spPr>
          <a:xfrm>
            <a:off x="3619194" y="2644903"/>
            <a:ext cx="3600000" cy="79976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48789" y="1015012"/>
            <a:ext cx="648000" cy="648000"/>
            <a:chOff x="3314814" y="793196"/>
            <a:chExt cx="648000" cy="648000"/>
          </a:xfrm>
        </p:grpSpPr>
        <p:grpSp>
          <p:nvGrpSpPr>
            <p:cNvPr id="22" name="组合 21"/>
            <p:cNvGrpSpPr/>
            <p:nvPr/>
          </p:nvGrpSpPr>
          <p:grpSpPr>
            <a:xfrm>
              <a:off x="3314814" y="793196"/>
              <a:ext cx="648000" cy="648000"/>
              <a:chOff x="304800" y="673100"/>
              <a:chExt cx="4000500" cy="4000500"/>
            </a:xfrm>
            <a:solidFill>
              <a:srgbClr val="65962B"/>
            </a:solidFill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3" name="同心圆 2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25" name="TextBox 14"/>
            <p:cNvSpPr>
              <a:spLocks noChangeArrowheads="1"/>
            </p:cNvSpPr>
            <p:nvPr/>
          </p:nvSpPr>
          <p:spPr bwMode="auto">
            <a:xfrm>
              <a:off x="3332844" y="847227"/>
              <a:ext cx="6270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粗黑_GBK" charset="-122"/>
                </a:rPr>
                <a:t>01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638336" y="1912203"/>
            <a:ext cx="648000" cy="648000"/>
            <a:chOff x="3314814" y="1833242"/>
            <a:chExt cx="648000" cy="648000"/>
          </a:xfrm>
        </p:grpSpPr>
        <p:grpSp>
          <p:nvGrpSpPr>
            <p:cNvPr id="28" name="组合 27"/>
            <p:cNvGrpSpPr/>
            <p:nvPr/>
          </p:nvGrpSpPr>
          <p:grpSpPr>
            <a:xfrm>
              <a:off x="3314814" y="1833242"/>
              <a:ext cx="648000" cy="648000"/>
              <a:chOff x="304800" y="673100"/>
              <a:chExt cx="4000500" cy="4000500"/>
            </a:xfrm>
            <a:solidFill>
              <a:srgbClr val="65962B"/>
            </a:solidFill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9" name="同心圆 2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31" name="TextBox 14"/>
            <p:cNvSpPr>
              <a:spLocks noChangeArrowheads="1"/>
            </p:cNvSpPr>
            <p:nvPr/>
          </p:nvSpPr>
          <p:spPr bwMode="auto">
            <a:xfrm>
              <a:off x="3324339" y="1895632"/>
              <a:ext cx="6270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方正兰亭粗黑_GBK" charset="-122"/>
                </a:rPr>
                <a:t>02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648789" y="2806228"/>
            <a:ext cx="648000" cy="648000"/>
            <a:chOff x="3314814" y="2870162"/>
            <a:chExt cx="648000" cy="648000"/>
          </a:xfrm>
        </p:grpSpPr>
        <p:grpSp>
          <p:nvGrpSpPr>
            <p:cNvPr id="34" name="组合 33"/>
            <p:cNvGrpSpPr/>
            <p:nvPr/>
          </p:nvGrpSpPr>
          <p:grpSpPr>
            <a:xfrm>
              <a:off x="3314814" y="2870162"/>
              <a:ext cx="648000" cy="648000"/>
              <a:chOff x="304800" y="673100"/>
              <a:chExt cx="4000500" cy="4000500"/>
            </a:xfrm>
            <a:solidFill>
              <a:srgbClr val="65962B"/>
            </a:solidFill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5" name="同心圆 3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37" name="TextBox 14"/>
            <p:cNvSpPr>
              <a:spLocks noChangeArrowheads="1"/>
            </p:cNvSpPr>
            <p:nvPr/>
          </p:nvSpPr>
          <p:spPr bwMode="auto">
            <a:xfrm>
              <a:off x="3325266" y="2932552"/>
              <a:ext cx="6270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方正兰亭粗黑_GBK" charset="-122"/>
                </a:rPr>
                <a:t>03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506225" y="2090009"/>
            <a:ext cx="1955535" cy="335141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25525" algn="l"/>
              </a:tabLst>
              <a:defRPr/>
            </a:pPr>
            <a:r>
              <a:rPr lang="zh-CN" altLang="en-US" kern="0" noProof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满足独立增加特性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  <p:sp>
        <p:nvSpPr>
          <p:cNvPr id="76" name="Rectangle 12"/>
          <p:cNvSpPr/>
          <p:nvPr/>
        </p:nvSpPr>
        <p:spPr>
          <a:xfrm>
            <a:off x="3665372" y="3526952"/>
            <a:ext cx="3600000" cy="79976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66819" y="3669227"/>
            <a:ext cx="648000" cy="648000"/>
            <a:chOff x="3360992" y="3923661"/>
            <a:chExt cx="648000" cy="648000"/>
          </a:xfrm>
        </p:grpSpPr>
        <p:grpSp>
          <p:nvGrpSpPr>
            <p:cNvPr id="77" name="组合 76"/>
            <p:cNvGrpSpPr/>
            <p:nvPr/>
          </p:nvGrpSpPr>
          <p:grpSpPr>
            <a:xfrm>
              <a:off x="3360992" y="3923661"/>
              <a:ext cx="648000" cy="648000"/>
              <a:chOff x="304800" y="673100"/>
              <a:chExt cx="4000500" cy="4000500"/>
            </a:xfrm>
            <a:solidFill>
              <a:srgbClr val="65962B"/>
            </a:solidFill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78" name="同心圆 77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80" name="TextBox 14"/>
            <p:cNvSpPr>
              <a:spLocks noChangeArrowheads="1"/>
            </p:cNvSpPr>
            <p:nvPr/>
          </p:nvSpPr>
          <p:spPr bwMode="auto">
            <a:xfrm>
              <a:off x="3373819" y="3986051"/>
              <a:ext cx="6270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方正兰亭粗黑_GBK" charset="-122"/>
                </a:rPr>
                <a:t>04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506225" y="3847033"/>
                <a:ext cx="3326559" cy="323165"/>
              </a:xfrm>
              <a:prstGeom prst="rect">
                <a:avLst/>
              </a:prstGeom>
              <a:noFill/>
            </p:spPr>
            <p:txBody>
              <a:bodyPr wrap="square" lIns="0" rIns="0" bIns="0" rtlCol="0">
                <a:spAutoFit/>
              </a:bodyPr>
              <a:lstStyle/>
              <a:p>
                <a:pPr lvl="0">
                  <a:tabLst>
                    <a:tab pos="102552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libri"/>
                            </a:rPr>
                          </m:ctrlPr>
                        </m:dPr>
                        <m:e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𝑁</m:t>
                          </m:r>
                          <m:d>
                            <m:dPr>
                              <m:ctrlPr>
                                <a:rPr kumimoji="0" lang="en-US" altLang="zh-CN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kumimoji="0" lang="en-US" altLang="zh-CN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𝑡</m:t>
                              </m:r>
                              <m:r>
                                <a:rPr kumimoji="0" lang="en-US" altLang="zh-CN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+</m:t>
                              </m:r>
                              <m:r>
                                <a:rPr kumimoji="0" lang="en-US" altLang="zh-CN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h</m:t>
                              </m:r>
                            </m:e>
                          </m:d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−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𝑁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(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𝑡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)≥2</m:t>
                          </m:r>
                        </m:e>
                      </m:d>
                      <m:r>
                        <a:rPr kumimoji="0" lang="en-US" altLang="zh-CN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=</m:t>
                      </m:r>
                      <m:r>
                        <a:rPr lang="en-US" altLang="zh-CN" i="1" kern="0"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latin typeface="Cambria Math"/>
                          <a:ea typeface="Cambria Math"/>
                          <a:cs typeface="Calibri"/>
                        </a:rPr>
                        <m:t>𝜊</m:t>
                      </m:r>
                      <m:r>
                        <a:rPr lang="en-US" altLang="zh-CN" i="1" kern="0"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latin typeface="Cambria Math"/>
                          <a:ea typeface="Cambria Math"/>
                          <a:cs typeface="Calibri"/>
                        </a:rPr>
                        <m:t>(</m:t>
                      </m:r>
                      <m:r>
                        <a:rPr lang="en-US" altLang="zh-CN" i="1" kern="0"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latin typeface="Cambria Math"/>
                          <a:ea typeface="Cambria Math"/>
                          <a:cs typeface="Calibri"/>
                        </a:rPr>
                        <m:t>h</m:t>
                      </m:r>
                      <m:r>
                        <a:rPr lang="en-US" altLang="zh-CN" i="1" kern="0"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latin typeface="Cambria Math"/>
                          <a:ea typeface="Cambria Math"/>
                          <a:cs typeface="Calibri"/>
                        </a:rPr>
                        <m:t>)</m:t>
                      </m:r>
                    </m:oMath>
                  </m:oMathPara>
                </a14:m>
                <a:endParaRPr kumimoji="0" lang="en-US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alibri"/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225" y="3847033"/>
                <a:ext cx="3326559" cy="323165"/>
              </a:xfrm>
              <a:prstGeom prst="rect">
                <a:avLst/>
              </a:prstGeom>
              <a:blipFill rotWithShape="1">
                <a:blip r:embed="rId3"/>
                <a:stretch>
                  <a:fillRect l="-2381" b="-30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506227" y="1162040"/>
                <a:ext cx="1323073" cy="323165"/>
              </a:xfrm>
              <a:prstGeom prst="rect">
                <a:avLst/>
              </a:prstGeom>
              <a:noFill/>
            </p:spPr>
            <p:txBody>
              <a:bodyPr wrap="square" l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552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𝑁</m:t>
                      </m:r>
                      <m:d>
                        <m:dPr>
                          <m:ctrlP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libri"/>
                            </a:rPr>
                          </m:ctrlPr>
                        </m:dPr>
                        <m:e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0</m:t>
                          </m:r>
                        </m:e>
                      </m:d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=0</m:t>
                      </m:r>
                    </m:oMath>
                  </m:oMathPara>
                </a14:m>
                <a:endParaRPr kumimoji="0" lang="en-US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alibri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227" y="1162040"/>
                <a:ext cx="1323073" cy="323165"/>
              </a:xfrm>
              <a:prstGeom prst="rect">
                <a:avLst/>
              </a:prstGeom>
              <a:blipFill>
                <a:blip r:embed="rId4"/>
                <a:stretch>
                  <a:fillRect l="-5991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4506225" y="2984034"/>
                <a:ext cx="3974835" cy="323165"/>
              </a:xfrm>
              <a:prstGeom prst="rect">
                <a:avLst/>
              </a:prstGeom>
              <a:noFill/>
            </p:spPr>
            <p:txBody>
              <a:bodyPr wrap="square" l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552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libri"/>
                            </a:rPr>
                          </m:ctrlPr>
                        </m:dPr>
                        <m:e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𝑁</m:t>
                          </m:r>
                          <m:d>
                            <m:dPr>
                              <m:ctrlPr>
                                <a:rPr kumimoji="0" lang="en-US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kumimoji="0" lang="en-US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𝑡</m:t>
                              </m:r>
                              <m:r>
                                <a:rPr kumimoji="0" lang="en-US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+</m:t>
                              </m:r>
                              <m:r>
                                <a:rPr kumimoji="0" lang="en-US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>
                                      <a:lumMod val="95000"/>
                                      <a:lumOff val="5000"/>
                                    </a:sysClr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h</m:t>
                              </m:r>
                            </m:e>
                          </m:d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−</m:t>
                          </m:r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𝑁</m:t>
                          </m:r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(</m:t>
                          </m:r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𝑡</m:t>
                          </m:r>
                          <m:r>
                            <a:rPr kumimoji="0" lang="en-US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>
                                  <a:lumMod val="95000"/>
                                  <a:lumOff val="5000"/>
                                </a:sys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)=1</m:t>
                          </m:r>
                        </m:e>
                      </m:d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=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𝜆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(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𝑡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)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h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+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𝜊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(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h</m:t>
                      </m:r>
                      <m:r>
                        <a:rPr kumimoji="0" lang="en-US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>
                              <a:lumMod val="95000"/>
                              <a:lumOff val="5000"/>
                            </a:sysClr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Calibri"/>
                        </a:rPr>
                        <m:t>)</m:t>
                      </m:r>
                    </m:oMath>
                  </m:oMathPara>
                </a14:m>
                <a:endParaRPr kumimoji="0" lang="en-US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95000"/>
                      <a:lumOff val="5000"/>
                    </a:sys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alibri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225" y="2984034"/>
                <a:ext cx="3974835" cy="323165"/>
              </a:xfrm>
              <a:prstGeom prst="rect">
                <a:avLst/>
              </a:prstGeom>
              <a:blipFill>
                <a:blip r:embed="rId5"/>
                <a:stretch>
                  <a:fillRect l="-1994" r="-1074" b="-30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12"/>
          <p:cNvSpPr/>
          <p:nvPr/>
        </p:nvSpPr>
        <p:spPr>
          <a:xfrm>
            <a:off x="3679646" y="4407346"/>
            <a:ext cx="3600000" cy="79976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386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1" grpId="0" animBg="1"/>
      <p:bldP spid="41" grpId="0"/>
      <p:bldP spid="76" grpId="0" animBg="1"/>
      <p:bldP spid="81" grpId="0" animBg="1"/>
      <p:bldP spid="83" grpId="0" animBg="1"/>
      <p:bldP spid="84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467544" y="260914"/>
            <a:ext cx="8229600" cy="420626"/>
          </a:xfrm>
          <a:noFill/>
        </p:spPr>
        <p:txBody>
          <a:bodyPr anchor="ctr"/>
          <a:lstStyle/>
          <a:p>
            <a:pPr marL="1117600" indent="-1117600" eaLnBrk="1" hangingPunct="1"/>
            <a:r>
              <a:rPr lang="en-US" altLang="zh-CN" sz="3400" dirty="0">
                <a:ea typeface="黑体" panose="02010609060101010101" pitchFamily="49" charset="-122"/>
              </a:rPr>
              <a:t>The Multiserver Queue</a:t>
            </a:r>
            <a:endParaRPr lang="zh-CN" altLang="en-US" sz="3400" dirty="0"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5576" y="897564"/>
            <a:ext cx="80335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latin typeface="华文楷体" pitchFamily="2" charset="-122"/>
                <a:ea typeface="华文楷体" pitchFamily="2" charset="-122"/>
              </a:rPr>
              <a:t>Consider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a service system with s identical servers. The arrivals to the system follow a nonhomogeneous Poisson process with intensity function λ(t). The service time of each server follows an exponential distribution with parameter μ.</a:t>
            </a:r>
          </a:p>
        </p:txBody>
      </p:sp>
      <p:sp>
        <p:nvSpPr>
          <p:cNvPr id="41" name="矩形 40"/>
          <p:cNvSpPr/>
          <p:nvPr/>
        </p:nvSpPr>
        <p:spPr>
          <a:xfrm>
            <a:off x="1475656" y="2463738"/>
            <a:ext cx="64493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  <a:latin typeface="华文楷体" pitchFamily="2" charset="-122"/>
                <a:ea typeface="华文楷体" pitchFamily="2" charset="-122"/>
              </a:rPr>
              <a:t>We define such system as a </a:t>
            </a:r>
            <a:r>
              <a:rPr lang="en-US" altLang="zh-CN" sz="2800" b="1" i="1" dirty="0">
                <a:solidFill>
                  <a:srgbClr val="00B050"/>
                </a:solidFill>
                <a:latin typeface="华文楷体" pitchFamily="2" charset="-122"/>
                <a:ea typeface="华文楷体" pitchFamily="2" charset="-122"/>
              </a:rPr>
              <a:t>M(t)/M/s </a:t>
            </a:r>
            <a:r>
              <a:rPr lang="en-US" altLang="zh-CN" sz="2800" b="1" dirty="0">
                <a:solidFill>
                  <a:srgbClr val="00B050"/>
                </a:solidFill>
                <a:latin typeface="华文楷体" pitchFamily="2" charset="-122"/>
                <a:ea typeface="华文楷体" pitchFamily="2" charset="-122"/>
              </a:rPr>
              <a:t>queue</a:t>
            </a:r>
            <a:endParaRPr lang="zh-CN" altLang="en-US" sz="2800" b="1" dirty="0">
              <a:solidFill>
                <a:srgbClr val="00B050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7584" y="3327834"/>
            <a:ext cx="7869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Prerequisite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: to address the time epoch S for the first service completion to occur, we need to review the Competing Exponential Random Variables.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99343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4"/>
          <p:cNvSpPr>
            <a:spLocks noGrp="1" noChangeArrowheads="1"/>
          </p:cNvSpPr>
          <p:nvPr>
            <p:ph type="title"/>
          </p:nvPr>
        </p:nvSpPr>
        <p:spPr>
          <a:xfrm>
            <a:off x="446856" y="206908"/>
            <a:ext cx="8229600" cy="420626"/>
          </a:xfrm>
          <a:noFill/>
        </p:spPr>
        <p:txBody>
          <a:bodyPr anchor="ctr"/>
          <a:lstStyle/>
          <a:p>
            <a:pPr marL="1117600" indent="-1117600" eaLnBrk="1" hangingPunct="1"/>
            <a:r>
              <a:rPr lang="en-US" altLang="zh-CN" sz="3200" dirty="0">
                <a:latin typeface="华文楷体" pitchFamily="2" charset="-122"/>
                <a:ea typeface="华文楷体" pitchFamily="2" charset="-122"/>
              </a:rPr>
              <a:t>Modeling for the Multiserver Queue 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75864" y="897564"/>
                <a:ext cx="790059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华文楷体" pitchFamily="2" charset="-122"/>
                    <a:ea typeface="华文楷体" pitchFamily="2" charset="-122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𝑋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华文楷体" pitchFamily="2" charset="-122"/>
                    <a:ea typeface="华文楷体" pitchFamily="2" charset="-122"/>
                  </a:rPr>
                  <a:t>denote the number of customers in the system at time t and assume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itchFamily="2" charset="-122"/>
                      </a:rPr>
                      <m:t>𝑋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itchFamily="2" charset="-122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华文楷体" pitchFamily="2" charset="-122"/>
                    <a:ea typeface="华文楷体" pitchFamily="2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64" y="1196752"/>
                <a:ext cx="7900592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1157" t="-5839" r="-926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527004" y="1858113"/>
            <a:ext cx="3477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Define                              . 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501722" y="1888890"/>
                <a:ext cx="248099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22" y="1888890"/>
                <a:ext cx="2480999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127692" r="-22850" b="-19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931606" y="2353227"/>
            <a:ext cx="3121481" cy="461665"/>
            <a:chOff x="806896" y="2823319"/>
            <a:chExt cx="3121481" cy="615553"/>
          </a:xfrm>
        </p:grpSpPr>
        <p:sp>
          <p:nvSpPr>
            <p:cNvPr id="9" name="文本框 8"/>
            <p:cNvSpPr txBox="1"/>
            <p:nvPr/>
          </p:nvSpPr>
          <p:spPr>
            <a:xfrm>
              <a:off x="806896" y="2823319"/>
              <a:ext cx="312148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How to calculate          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itchFamily="2" charset="-122"/>
                  <a:cs typeface="Times New Roman" panose="02020603050405020304" pitchFamily="18" charset="0"/>
                </a:rPr>
                <a:t>?</a:t>
              </a:r>
              <a:r>
                <a:rPr lang="en-US" altLang="zh-CN" sz="2400" b="1" dirty="0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 </a:t>
              </a:r>
              <a:endParaRPr lang="zh-CN" altLang="en-US" sz="2400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/>
                <p:cNvSpPr/>
                <p:nvPr/>
              </p:nvSpPr>
              <p:spPr>
                <a:xfrm>
                  <a:off x="2901619" y="2823319"/>
                  <a:ext cx="868315" cy="5745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ctrlPr>
                              <a:rPr lang="zh-CN" altLang="en-US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zh-CN" altLang="en-US" sz="22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sz="2200" b="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2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619" y="2823319"/>
                  <a:ext cx="882742" cy="430887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t="-123944" r="-71724" b="-1915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文本框 12"/>
          <p:cNvSpPr txBox="1"/>
          <p:nvPr/>
        </p:nvSpPr>
        <p:spPr>
          <a:xfrm>
            <a:off x="848272" y="2650581"/>
            <a:ext cx="7684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Thought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: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to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take an analogy to the derivation of Equation 2.1.1 for the Poisson process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79712" y="3352658"/>
            <a:ext cx="5400600" cy="830997"/>
            <a:chOff x="1763688" y="4293096"/>
            <a:chExt cx="5400600" cy="1107996"/>
          </a:xfrm>
        </p:grpSpPr>
        <p:sp>
          <p:nvSpPr>
            <p:cNvPr id="14" name="文本框 13"/>
            <p:cNvSpPr txBox="1"/>
            <p:nvPr/>
          </p:nvSpPr>
          <p:spPr>
            <a:xfrm>
              <a:off x="1763688" y="4293096"/>
              <a:ext cx="54006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华文楷体" pitchFamily="2" charset="-122"/>
                  <a:ea typeface="华文楷体" pitchFamily="2" charset="-122"/>
                </a:rPr>
                <a:t>We derive differential-difference equations characterizing           .</a:t>
              </a:r>
              <a:endParaRPr lang="zh-CN" altLang="en-US" sz="2400" dirty="0">
                <a:latin typeface="华文楷体" pitchFamily="2" charset="-122"/>
                <a:ea typeface="华文楷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/>
                <p:cNvSpPr/>
                <p:nvPr/>
              </p:nvSpPr>
              <p:spPr>
                <a:xfrm>
                  <a:off x="3423258" y="4847093"/>
                  <a:ext cx="1004186" cy="533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258" y="4847093"/>
                  <a:ext cx="1004186" cy="53348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直角上箭头 4"/>
          <p:cNvSpPr/>
          <p:nvPr/>
        </p:nvSpPr>
        <p:spPr>
          <a:xfrm rot="5400000">
            <a:off x="1343654" y="3326692"/>
            <a:ext cx="552037" cy="720081"/>
          </a:xfrm>
          <a:prstGeom prst="bentUpArrow">
            <a:avLst>
              <a:gd name="adj1" fmla="val 24350"/>
              <a:gd name="adj2" fmla="val 26954"/>
              <a:gd name="adj3" fmla="val 25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415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4"/>
          <p:cNvSpPr>
            <a:spLocks noGrp="1" noChangeArrowheads="1"/>
          </p:cNvSpPr>
          <p:nvPr>
            <p:ph type="title"/>
          </p:nvPr>
        </p:nvSpPr>
        <p:spPr>
          <a:xfrm>
            <a:off x="446856" y="206908"/>
            <a:ext cx="8229600" cy="420626"/>
          </a:xfrm>
          <a:noFill/>
        </p:spPr>
        <p:txBody>
          <a:bodyPr anchor="ctr"/>
          <a:lstStyle/>
          <a:p>
            <a:pPr marL="1117600" indent="-1117600" eaLnBrk="1" hangingPunct="1"/>
            <a:r>
              <a:rPr lang="en-US" altLang="zh-CN" sz="3200" dirty="0">
                <a:latin typeface="华文楷体" pitchFamily="2" charset="-122"/>
                <a:ea typeface="华文楷体" pitchFamily="2" charset="-122"/>
              </a:rPr>
              <a:t>First Service Completion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08520" y="897564"/>
                <a:ext cx="823994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Clr>
                    <a:srgbClr val="00B050"/>
                  </a:buClr>
                  <a:buSzPct val="72000"/>
                  <a:buFont typeface="Wingdings" panose="05000000000000000000" pitchFamily="2" charset="2"/>
                  <a:buChar char="ü"/>
                </a:pPr>
                <a:r>
                  <a:rPr lang="en-US" altLang="zh-CN" sz="2400" dirty="0">
                    <a:latin typeface="华文楷体" pitchFamily="2" charset="-122"/>
                    <a:ea typeface="华文楷体" pitchFamily="2" charset="-122"/>
                  </a:rPr>
                  <a:t>k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latin typeface="Cambria Math"/>
                        <a:ea typeface="华文楷体" pitchFamily="2" charset="-122"/>
                      </a:rPr>
                      <m:t>k</m:t>
                    </m:r>
                    <m:r>
                      <a:rPr lang="zh-CN" altLang="en-US" sz="2200">
                        <a:latin typeface="Cambria Math"/>
                        <a:ea typeface="华文楷体" pitchFamily="2" charset="-122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/>
                        <a:ea typeface="华文楷体" pitchFamily="2" charset="-122"/>
                      </a:rPr>
                      <m:t>s</m:t>
                    </m:r>
                  </m:oMath>
                </a14:m>
                <a:r>
                  <a:rPr lang="en-US" altLang="zh-CN" sz="2200" dirty="0">
                    <a:latin typeface="华文楷体" pitchFamily="2" charset="-122"/>
                    <a:ea typeface="华文楷体" pitchFamily="2" charset="-122"/>
                  </a:rPr>
                  <a:t>, </a:t>
                </a:r>
                <a:r>
                  <a:rPr lang="en-US" altLang="zh-CN" sz="2400" dirty="0">
                    <a:latin typeface="华文楷体" pitchFamily="2" charset="-122"/>
                    <a:ea typeface="华文楷体" pitchFamily="2" charset="-122"/>
                  </a:rPr>
                  <a:t>s is the number of identical servers) servers are busy at the same time</a:t>
                </a:r>
              </a:p>
              <a:p>
                <a:pPr marL="342900" indent="-342900">
                  <a:buClr>
                    <a:srgbClr val="00B050"/>
                  </a:buClr>
                  <a:buSzPct val="72000"/>
                  <a:buFont typeface="Wingdings" panose="05000000000000000000" pitchFamily="2" charset="2"/>
                  <a:buChar char="ü"/>
                </a:pPr>
                <a:r>
                  <a:rPr lang="en-US" altLang="zh-CN" sz="2400" dirty="0">
                    <a:latin typeface="华文楷体" pitchFamily="2" charset="-122"/>
                    <a:ea typeface="华文楷体" pitchFamily="2" charset="-122"/>
                  </a:rPr>
                  <a:t>Service times are mutually independent and independent of the arrival process. 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20" y="1196752"/>
                <a:ext cx="8239944" cy="1569660"/>
              </a:xfrm>
              <a:prstGeom prst="rect">
                <a:avLst/>
              </a:prstGeom>
              <a:blipFill rotWithShape="1">
                <a:blip r:embed="rId2"/>
                <a:stretch>
                  <a:fillRect l="-370" t="-3101" b="-7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83568" y="2481594"/>
            <a:ext cx="78695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When k servers are busy simultaneously at any epoch, the time </a:t>
            </a:r>
            <a:r>
              <a:rPr lang="en-US" altLang="zh-CN" sz="2200" dirty="0">
                <a:latin typeface="华文楷体" pitchFamily="2" charset="-122"/>
                <a:ea typeface="华文楷体" pitchFamily="2" charset="-122"/>
              </a:rPr>
              <a:t>S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for the first service completion to occur follows an exponential distribution with parameter </a:t>
            </a:r>
            <a:r>
              <a:rPr lang="en-US" altLang="zh-CN" sz="2400" dirty="0" err="1">
                <a:latin typeface="华文楷体" pitchFamily="2" charset="-122"/>
                <a:ea typeface="华文楷体" pitchFamily="2" charset="-122"/>
              </a:rPr>
              <a:t>kμ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77455" y="3651870"/>
            <a:ext cx="1614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~ </a:t>
            </a:r>
            <a:r>
              <a:rPr lang="en-US" altLang="zh-CN" sz="2400" i="1" dirty="0" err="1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exp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(k</a:t>
            </a:r>
            <a:r>
              <a:rPr lang="el-GR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783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知识回顾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" name="组合 18"/>
          <p:cNvGrpSpPr/>
          <p:nvPr/>
        </p:nvGrpSpPr>
        <p:grpSpPr>
          <a:xfrm>
            <a:off x="2915134" y="906443"/>
            <a:ext cx="5551345" cy="861524"/>
            <a:chOff x="1984194" y="1096133"/>
            <a:chExt cx="5588181" cy="797918"/>
          </a:xfrm>
        </p:grpSpPr>
        <p:grpSp>
          <p:nvGrpSpPr>
            <p:cNvPr id="20" name="组合 19"/>
            <p:cNvGrpSpPr/>
            <p:nvPr/>
          </p:nvGrpSpPr>
          <p:grpSpPr>
            <a:xfrm>
              <a:off x="1984194" y="1096133"/>
              <a:ext cx="5588181" cy="797918"/>
              <a:chOff x="4304043" y="1286668"/>
              <a:chExt cx="64140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圆角矩形 22"/>
              <p:cNvSpPr/>
              <p:nvPr/>
            </p:nvSpPr>
            <p:spPr>
              <a:xfrm>
                <a:off x="4304043" y="1286668"/>
                <a:ext cx="64140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圆角矩形 23"/>
              <p:cNvSpPr/>
              <p:nvPr/>
            </p:nvSpPr>
            <p:spPr>
              <a:xfrm>
                <a:off x="4351923" y="1373339"/>
                <a:ext cx="6323887" cy="2584450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2282821" y="1524719"/>
                  <a:ext cx="21680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min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⁡{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}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2821" y="1524719"/>
                  <a:ext cx="216802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282821" y="1153956"/>
                  <a:ext cx="5191789" cy="3433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对于每一个随机</a:t>
                  </a:r>
                  <a14:m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  <a:ea typeface="微软雅黑" pitchFamily="34" charset="-122"/>
                        </a:rPr>
                        <m:t>变量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，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exp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⁡(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)</m:t>
                      </m:r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，且相互独立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2821" y="1153956"/>
                  <a:ext cx="5191789" cy="343371"/>
                </a:xfrm>
                <a:prstGeom prst="rect">
                  <a:avLst/>
                </a:prstGeom>
                <a:blipFill>
                  <a:blip r:embed="rId4"/>
                  <a:stretch>
                    <a:fillRect l="-1064" t="-9836" r="-23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下箭头 24"/>
          <p:cNvSpPr/>
          <p:nvPr/>
        </p:nvSpPr>
        <p:spPr>
          <a:xfrm>
            <a:off x="5452049" y="1803323"/>
            <a:ext cx="514350" cy="552767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884369" y="906443"/>
            <a:ext cx="1296397" cy="1005967"/>
            <a:chOff x="821168" y="1216924"/>
            <a:chExt cx="1407542" cy="964301"/>
          </a:xfrm>
        </p:grpSpPr>
        <p:grpSp>
          <p:nvGrpSpPr>
            <p:cNvPr id="30" name="组合 29"/>
            <p:cNvGrpSpPr/>
            <p:nvPr/>
          </p:nvGrpSpPr>
          <p:grpSpPr>
            <a:xfrm>
              <a:off x="821168" y="1216924"/>
              <a:ext cx="1407542" cy="964301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2" name="圆角矩形 31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941962" y="1393189"/>
              <a:ext cx="1185190" cy="5729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000" dirty="0">
                  <a:solidFill>
                    <a:srgbClr val="65962B"/>
                  </a:solidFill>
                </a:rPr>
                <a:t>竞争型</a:t>
              </a:r>
              <a:endParaRPr lang="en-US" altLang="zh-CN" sz="2000" dirty="0">
                <a:solidFill>
                  <a:srgbClr val="65962B"/>
                </a:solidFill>
              </a:endParaRPr>
            </a:p>
            <a:p>
              <a:r>
                <a:rPr lang="zh-CN" altLang="en-US" sz="2000" dirty="0">
                  <a:solidFill>
                    <a:srgbClr val="65962B"/>
                  </a:solidFill>
                </a:rPr>
                <a:t>指数分布</a:t>
              </a:r>
            </a:p>
          </p:txBody>
        </p:sp>
      </p:grpSp>
      <p:pic>
        <p:nvPicPr>
          <p:cNvPr id="34" name="Picture 2" descr="E:\应用随机过程\网吧上网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00" y="3108765"/>
            <a:ext cx="1657222" cy="11143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" name="下箭头 34"/>
          <p:cNvSpPr/>
          <p:nvPr/>
        </p:nvSpPr>
        <p:spPr>
          <a:xfrm>
            <a:off x="5452049" y="3072515"/>
            <a:ext cx="514350" cy="460584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2915132" y="3556813"/>
            <a:ext cx="5588181" cy="666292"/>
            <a:chOff x="4304043" y="1286668"/>
            <a:chExt cx="6414045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7" name="圆角矩形 36"/>
            <p:cNvSpPr/>
            <p:nvPr/>
          </p:nvSpPr>
          <p:spPr>
            <a:xfrm>
              <a:off x="4304043" y="1286668"/>
              <a:ext cx="6414045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圆角矩形 40"/>
                <p:cNvSpPr/>
                <p:nvPr/>
              </p:nvSpPr>
              <p:spPr>
                <a:xfrm>
                  <a:off x="4351923" y="1373339"/>
                  <a:ext cx="6323888" cy="2584450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~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exp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(</m:t>
                            </m:r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/>
                            <a:ea typeface="微软雅黑" pitchFamily="34" charset="-122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⋯+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微软雅黑" pitchFamily="34" charset="-12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/>
                            <a:ea typeface="微软雅黑" pitchFamily="34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41" name="圆角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923" y="1373339"/>
                  <a:ext cx="6323888" cy="2584450"/>
                </a:xfrm>
                <a:prstGeom prst="round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/>
          <p:cNvGrpSpPr/>
          <p:nvPr/>
        </p:nvGrpSpPr>
        <p:grpSpPr>
          <a:xfrm>
            <a:off x="2915134" y="2379743"/>
            <a:ext cx="5588181" cy="666292"/>
            <a:chOff x="2915134" y="2379743"/>
            <a:chExt cx="5588181" cy="666292"/>
          </a:xfrm>
        </p:grpSpPr>
        <p:grpSp>
          <p:nvGrpSpPr>
            <p:cNvPr id="4" name="组合 3"/>
            <p:cNvGrpSpPr/>
            <p:nvPr/>
          </p:nvGrpSpPr>
          <p:grpSpPr>
            <a:xfrm>
              <a:off x="2915134" y="2379743"/>
              <a:ext cx="5588181" cy="666292"/>
              <a:chOff x="2915134" y="2379743"/>
              <a:chExt cx="5588181" cy="666292"/>
            </a:xfrm>
          </p:grpSpPr>
          <p:sp>
            <p:nvSpPr>
              <p:cNvPr id="27" name="圆角矩形 26"/>
              <p:cNvSpPr/>
              <p:nvPr/>
            </p:nvSpPr>
            <p:spPr>
              <a:xfrm>
                <a:off x="2915134" y="2379743"/>
                <a:ext cx="5588181" cy="666292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圆角矩形 27"/>
              <p:cNvSpPr/>
              <p:nvPr/>
            </p:nvSpPr>
            <p:spPr>
              <a:xfrm>
                <a:off x="2956849" y="2400683"/>
                <a:ext cx="5509632" cy="62441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3785135" y="2528223"/>
                  <a:ext cx="38602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𝑋</m:t>
                      </m:r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服从参数为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  <a:ea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  <a:ea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的指数分布</a:t>
                  </a: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5135" y="2528223"/>
                  <a:ext cx="3860224" cy="369332"/>
                </a:xfrm>
                <a:prstGeom prst="rect">
                  <a:avLst/>
                </a:prstGeom>
                <a:blipFill rotWithShape="1">
                  <a:blip r:embed="rId7" cstate="print"/>
                  <a:stretch>
                    <a:fillRect t="-8333" r="-79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62198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多服务排队系统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椭圆 43"/>
          <p:cNvSpPr/>
          <p:nvPr/>
        </p:nvSpPr>
        <p:spPr>
          <a:xfrm>
            <a:off x="697475" y="1926808"/>
            <a:ext cx="1423450" cy="142345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0" name="组合 49"/>
          <p:cNvGrpSpPr/>
          <p:nvPr/>
        </p:nvGrpSpPr>
        <p:grpSpPr>
          <a:xfrm>
            <a:off x="1819531" y="2460908"/>
            <a:ext cx="1223538" cy="368530"/>
            <a:chOff x="3838575" y="2712368"/>
            <a:chExt cx="1604974" cy="368530"/>
          </a:xfrm>
        </p:grpSpPr>
        <p:cxnSp>
          <p:nvCxnSpPr>
            <p:cNvPr id="52" name="直接连接符 51"/>
            <p:cNvCxnSpPr/>
            <p:nvPr/>
          </p:nvCxnSpPr>
          <p:spPr>
            <a:xfrm>
              <a:off x="3838575" y="2892218"/>
              <a:ext cx="593181" cy="0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4952634" y="2911353"/>
              <a:ext cx="490915" cy="0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V="1">
              <a:off x="4405565" y="2712368"/>
              <a:ext cx="186017" cy="189461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4807526" y="2899283"/>
              <a:ext cx="171299" cy="174470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 flipV="1">
              <a:off x="4543202" y="2717130"/>
              <a:ext cx="316707" cy="363768"/>
            </a:xfrm>
            <a:prstGeom prst="line">
              <a:avLst/>
            </a:prstGeom>
            <a:ln w="76200">
              <a:solidFill>
                <a:srgbClr val="6596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/>
        </p:nvGrpSpPr>
        <p:grpSpPr>
          <a:xfrm>
            <a:off x="2844026" y="1257697"/>
            <a:ext cx="2846358" cy="284635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3" name="同心圆 6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984031" y="1225364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9" name="同心圆 6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316309" y="232658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2" name="同心圆 7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979489" y="3471523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5" name="同心圆 7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25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1110338" y="2452961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667297" y="1314773"/>
                <a:ext cx="24754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zh-CN" altLang="en-US" b="0" dirty="0">
                    <a:solidFill>
                      <a:schemeClr val="tx1"/>
                    </a:solidFill>
                    <a:ea typeface="微软雅黑" pitchFamily="34" charset="-122"/>
                  </a:rPr>
                  <a:t>系统有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/>
                        <a:ea typeface="微软雅黑" pitchFamily="34" charset="-122"/>
                      </a:rPr>
                      <m:t>𝑠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个独立的服务器</a:t>
                </a:r>
                <a:endParaRPr lang="en-US" altLang="zh-CN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297" y="1314773"/>
                <a:ext cx="2475455" cy="276999"/>
              </a:xfrm>
              <a:prstGeom prst="rect">
                <a:avLst/>
              </a:prstGeom>
              <a:blipFill>
                <a:blip r:embed="rId3"/>
                <a:stretch>
                  <a:fillRect l="-5911" t="-28889" r="-3202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009882" y="2373370"/>
                <a:ext cx="215261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zh-CN" altLang="en-US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系统到达过程服从泊松过程，参数为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/>
                        <a:ea typeface="微软雅黑" pitchFamily="34" charset="-122"/>
                      </a:rPr>
                      <m:t>𝜆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/>
                            <a:ea typeface="微软雅黑" pitchFamily="34" charset="-122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82" y="2373370"/>
                <a:ext cx="2152618" cy="553998"/>
              </a:xfrm>
              <a:prstGeom prst="rect">
                <a:avLst/>
              </a:prstGeom>
              <a:blipFill>
                <a:blip r:embed="rId4"/>
                <a:stretch>
                  <a:fillRect l="-6799" t="-14286" r="-6516" b="-25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5713518" y="3642373"/>
                <a:ext cx="22017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系统的服务时间服从参数为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/>
                        <a:ea typeface="微软雅黑" pitchFamily="34" charset="-122"/>
                      </a:rPr>
                      <m:t>𝜇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的指数分布</a:t>
                </a:r>
                <a:endParaRPr lang="en-US" altLang="zh-CN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518" y="3642373"/>
                <a:ext cx="2201736" cy="553998"/>
              </a:xfrm>
              <a:prstGeom prst="rect">
                <a:avLst/>
              </a:prstGeom>
              <a:blipFill>
                <a:blip r:embed="rId5"/>
                <a:stretch>
                  <a:fillRect l="-6371" t="-14444" r="-831" b="-2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3321237" y="2170237"/>
                <a:ext cx="1673191" cy="9602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/>
                              <a:ea typeface="微软雅黑" pitchFamily="34" charset="-122"/>
                            </a:rPr>
                            <m:t>𝑴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/>
                                  <a:ea typeface="微软雅黑" pitchFamily="34" charset="-122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  <a:ea typeface="微软雅黑" pitchFamily="34" charset="-122"/>
                            </a:rPr>
                            <m:t>𝑴</m:t>
                          </m:r>
                        </m:den>
                      </m:f>
                      <m:r>
                        <a:rPr lang="en-US" altLang="zh-CN" sz="2400" b="1" i="1" smtClean="0">
                          <a:latin typeface="Cambria Math"/>
                          <a:ea typeface="微软雅黑" pitchFamily="34" charset="-122"/>
                        </a:rPr>
                        <m:t>/</m:t>
                      </m:r>
                      <m:r>
                        <a:rPr lang="en-US" altLang="zh-CN" sz="2400" b="1" i="1" smtClean="0">
                          <a:latin typeface="Cambria Math"/>
                          <a:ea typeface="微软雅黑" pitchFamily="34" charset="-122"/>
                        </a:rPr>
                        <m:t>𝒔</m:t>
                      </m:r>
                    </m:oMath>
                  </m:oMathPara>
                </a14:m>
                <a:endParaRPr lang="en-US" altLang="zh-CN" sz="2400" b="1" dirty="0">
                  <a:latin typeface="微软雅黑" pitchFamily="34" charset="-122"/>
                  <a:ea typeface="微软雅黑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2400" b="1" dirty="0">
                    <a:latin typeface="微软雅黑" pitchFamily="34" charset="-122"/>
                    <a:ea typeface="微软雅黑" pitchFamily="34" charset="-122"/>
                  </a:rPr>
                  <a:t>排队系统</a:t>
                </a:r>
                <a:endParaRPr lang="en-US" altLang="zh-CN" sz="24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237" y="2170237"/>
                <a:ext cx="1673191" cy="960263"/>
              </a:xfrm>
              <a:prstGeom prst="rect">
                <a:avLst/>
              </a:prstGeom>
              <a:blipFill>
                <a:blip r:embed="rId6"/>
                <a:stretch>
                  <a:fillRect b="-13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04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2" grpId="0" animBg="1"/>
      <p:bldP spid="83" grpId="0" animBg="1"/>
      <p:bldP spid="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排队系统建模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187973" y="747176"/>
                <a:ext cx="64032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为时刻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𝑡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在系统中的顾客的人数，假设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itchFamily="2" charset="-122"/>
                      </a:rPr>
                      <m:t>𝑋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itchFamily="2" charset="-122"/>
                      </a:rPr>
                      <m:t>=0</m:t>
                    </m:r>
                  </m:oMath>
                </a14:m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73" y="747176"/>
                <a:ext cx="6403291" cy="400110"/>
              </a:xfrm>
              <a:prstGeom prst="rect">
                <a:avLst/>
              </a:prstGeom>
              <a:blipFill>
                <a:blip r:embed="rId3"/>
                <a:stretch>
                  <a:fillRect l="-1048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椭圆 29"/>
          <p:cNvSpPr/>
          <p:nvPr/>
        </p:nvSpPr>
        <p:spPr>
          <a:xfrm>
            <a:off x="856045" y="803231"/>
            <a:ext cx="288000" cy="288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87973" y="1317600"/>
                <a:ext cx="30140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定义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华文楷体" pitchFamily="2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华文楷体" pitchFamily="2" charset="-122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华文楷体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/>
                        <a:ea typeface="华文楷体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华文楷体" pitchFamily="2" charset="-122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华文楷体" pitchFamily="2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/>
                            <a:ea typeface="华文楷体" pitchFamily="2" charset="-122"/>
                          </a:rPr>
                          <m:t>=</m:t>
                        </m:r>
                        <m:r>
                          <a:rPr lang="en-US" altLang="zh-CN" sz="2000" b="0" i="1" smtClean="0">
                            <a:latin typeface="Cambria Math"/>
                            <a:ea typeface="华文楷体" pitchFamily="2" charset="-122"/>
                          </a:rPr>
                          <m:t>𝑛</m:t>
                        </m:r>
                      </m:e>
                    </m:d>
                  </m:oMath>
                </a14:m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73" y="1317600"/>
                <a:ext cx="3014095" cy="400110"/>
              </a:xfrm>
              <a:prstGeom prst="rect">
                <a:avLst/>
              </a:prstGeom>
              <a:blipFill>
                <a:blip r:embed="rId4"/>
                <a:stretch>
                  <a:fillRect l="-2227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/>
          <p:cNvSpPr/>
          <p:nvPr/>
        </p:nvSpPr>
        <p:spPr>
          <a:xfrm>
            <a:off x="856045" y="1373655"/>
            <a:ext cx="288000" cy="288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305608" y="2552450"/>
            <a:ext cx="461665" cy="1015663"/>
          </a:xfrm>
          <a:prstGeom prst="rect">
            <a:avLst/>
          </a:prstGeom>
          <a:noFill/>
          <a:ln>
            <a:solidFill>
              <a:srgbClr val="65962B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解题思路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4558" y="2152340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类比于均匀的泊松过程的推导过程</a:t>
            </a:r>
          </a:p>
        </p:txBody>
      </p:sp>
      <p:sp>
        <p:nvSpPr>
          <p:cNvPr id="7" name="左弧形箭头 6"/>
          <p:cNvSpPr/>
          <p:nvPr/>
        </p:nvSpPr>
        <p:spPr>
          <a:xfrm>
            <a:off x="2040923" y="2301230"/>
            <a:ext cx="508000" cy="868689"/>
          </a:xfrm>
          <a:prstGeom prst="curved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34558" y="2895604"/>
                <a:ext cx="30574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找到关于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的微分形式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558" y="2895604"/>
                <a:ext cx="3057440" cy="400110"/>
              </a:xfrm>
              <a:prstGeom prst="rect">
                <a:avLst/>
              </a:prstGeom>
              <a:blipFill>
                <a:blip r:embed="rId5"/>
                <a:stretch>
                  <a:fillRect l="-1992" t="-7576" r="-1793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左弧形箭头 25"/>
          <p:cNvSpPr/>
          <p:nvPr/>
        </p:nvSpPr>
        <p:spPr>
          <a:xfrm>
            <a:off x="2040923" y="3103279"/>
            <a:ext cx="508000" cy="801836"/>
          </a:xfrm>
          <a:prstGeom prst="curved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588838" y="3585286"/>
                <a:ext cx="38783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通过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的微分形式，求解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  <a:ea typeface="华文楷体" pitchFamily="2" charset="-122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838" y="3585286"/>
                <a:ext cx="3878369" cy="400110"/>
              </a:xfrm>
              <a:prstGeom prst="rect">
                <a:avLst/>
              </a:prstGeom>
              <a:blipFill>
                <a:blip r:embed="rId6"/>
                <a:stretch>
                  <a:fillRect l="-1730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3266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/>
      <p:bldP spid="7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排队系统建模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/>
          <p:nvPr/>
        </p:nvSpPr>
        <p:spPr>
          <a:xfrm>
            <a:off x="1181100" y="74119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排队系统有如下等式关系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1994568" y="1297029"/>
                <a:ext cx="491256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568" y="1297029"/>
                <a:ext cx="4912563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127692" r="-11663" b="-19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/>
          <p:nvPr/>
        </p:nvCxnSpPr>
        <p:spPr>
          <a:xfrm>
            <a:off x="5326653" y="2487555"/>
            <a:ext cx="1260000" cy="10800"/>
          </a:xfrm>
          <a:prstGeom prst="straightConnector1">
            <a:avLst/>
          </a:prstGeom>
          <a:ln w="88900">
            <a:solidFill>
              <a:srgbClr val="6596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2228754" y="2483955"/>
            <a:ext cx="1260000" cy="14400"/>
          </a:xfrm>
          <a:prstGeom prst="straightConnector1">
            <a:avLst/>
          </a:prstGeom>
          <a:ln w="92075">
            <a:solidFill>
              <a:srgbClr val="6596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488754" y="2059806"/>
            <a:ext cx="1837899" cy="798898"/>
            <a:chOff x="3488754" y="2059806"/>
            <a:chExt cx="1837899" cy="798898"/>
          </a:xfrm>
        </p:grpSpPr>
        <p:grpSp>
          <p:nvGrpSpPr>
            <p:cNvPr id="16" name="组合 15"/>
            <p:cNvGrpSpPr/>
            <p:nvPr/>
          </p:nvGrpSpPr>
          <p:grpSpPr>
            <a:xfrm>
              <a:off x="3488754" y="2059806"/>
              <a:ext cx="1837899" cy="798898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7" name="圆角矩形 16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3488754" y="2140665"/>
                  <a:ext cx="178292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𝑡</m:t>
                      </m:r>
                    </m:oMath>
                  </a14:m>
                  <a:r>
                    <a:rPr lang="zh-CN" altLang="en-US" dirty="0">
                      <a:ea typeface="微软雅黑" pitchFamily="34" charset="-122"/>
                    </a:rPr>
                    <a:t>时刻在系统中</a:t>
                  </a:r>
                  <a:endParaRPr lang="en-US" altLang="zh-CN" dirty="0">
                    <a:ea typeface="微软雅黑" pitchFamily="34" charset="-122"/>
                  </a:endParaRPr>
                </a:p>
                <a:p>
                  <a:r>
                    <a:rPr lang="zh-CN" altLang="en-US" dirty="0">
                      <a:ea typeface="微软雅黑" pitchFamily="34" charset="-122"/>
                    </a:rPr>
                    <a:t>服务的人数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𝑋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𝑡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a14:m>
                  <a:endParaRPr lang="zh-CN" altLang="en-US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8754" y="2140665"/>
                  <a:ext cx="1782924" cy="64633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730" t="-5660" r="-1024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206742" y="1927284"/>
                <a:ext cx="10967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到达的人数</a:t>
                </a:r>
                <a:endParaRPr lang="en-US" altLang="zh-CN" sz="1400" i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742" y="1927284"/>
                <a:ext cx="1096787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1667" t="-1163"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5273313" y="1927284"/>
                <a:ext cx="12859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完成服务人数</a:t>
                </a:r>
                <a:endParaRPr lang="en-US" altLang="zh-CN" sz="1400" i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</a:rPr>
                        <m:t>𝑆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1400">
                          <a:solidFill>
                            <a:srgbClr val="65962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13" y="1927284"/>
                <a:ext cx="1285903" cy="523220"/>
              </a:xfrm>
              <a:prstGeom prst="rect">
                <a:avLst/>
              </a:prstGeom>
              <a:blipFill>
                <a:blip r:embed="rId6"/>
                <a:stretch>
                  <a:fillRect l="-1422" t="-2326"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/>
          <p:cNvCxnSpPr/>
          <p:nvPr/>
        </p:nvCxnSpPr>
        <p:spPr>
          <a:xfrm>
            <a:off x="4380216" y="2858704"/>
            <a:ext cx="0" cy="563319"/>
          </a:xfrm>
          <a:prstGeom prst="straightConnector1">
            <a:avLst/>
          </a:prstGeom>
          <a:ln w="88900">
            <a:solidFill>
              <a:srgbClr val="6596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3370400" y="3424274"/>
            <a:ext cx="2190856" cy="873893"/>
            <a:chOff x="3370400" y="3424274"/>
            <a:chExt cx="2190856" cy="873893"/>
          </a:xfrm>
        </p:grpSpPr>
        <p:grpSp>
          <p:nvGrpSpPr>
            <p:cNvPr id="55" name="组合 54"/>
            <p:cNvGrpSpPr/>
            <p:nvPr/>
          </p:nvGrpSpPr>
          <p:grpSpPr>
            <a:xfrm>
              <a:off x="3413545" y="3424274"/>
              <a:ext cx="2074607" cy="873893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6" name="圆角矩形 55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/>
              </a:p>
            </p:txBody>
          </p:sp>
          <p:sp>
            <p:nvSpPr>
              <p:cNvPr id="57" name="圆角矩形 56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3370400" y="3505132"/>
                  <a:ext cx="21908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𝑡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h</m:t>
                      </m:r>
                    </m:oMath>
                  </a14:m>
                  <a:r>
                    <a:rPr lang="zh-CN" altLang="en-US" dirty="0">
                      <a:ea typeface="微软雅黑" pitchFamily="34" charset="-122"/>
                    </a:rPr>
                    <a:t>时刻在系统中</a:t>
                  </a:r>
                  <a:endParaRPr lang="en-US" altLang="zh-CN" dirty="0">
                    <a:ea typeface="微软雅黑" pitchFamily="34" charset="-122"/>
                  </a:endParaRPr>
                </a:p>
                <a:p>
                  <a:r>
                    <a:rPr lang="zh-CN" altLang="en-US" dirty="0">
                      <a:ea typeface="微软雅黑" pitchFamily="34" charset="-122"/>
                    </a:rPr>
                    <a:t>服务的人数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𝑋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𝑡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h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a14:m>
                  <a:endParaRPr lang="zh-CN" altLang="en-US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0400" y="3505132"/>
                  <a:ext cx="2190856" cy="64633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507" t="-5660" r="-557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椭圆 23"/>
          <p:cNvSpPr/>
          <p:nvPr/>
        </p:nvSpPr>
        <p:spPr>
          <a:xfrm>
            <a:off x="772024" y="745833"/>
            <a:ext cx="360000" cy="360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013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" grpId="0" animBg="1"/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系统到达离开过程概率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44300" y="563911"/>
                <a:ext cx="53906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𝑁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+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h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为在时间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𝑡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𝑡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h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]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内到达的人数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00" y="563911"/>
                <a:ext cx="5390643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130" t="-7692" r="-565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462623" y="1015126"/>
                <a:ext cx="35448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𝑁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(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,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+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)=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𝑁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(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+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)−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𝑁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(</m:t>
                          </m:r>
                          <m:r>
                            <a:rPr lang="zh-CN" altLang="en-US" sz="200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623" y="1015126"/>
                <a:ext cx="3544881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126154" r="-16179" b="-19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下箭头 20"/>
          <p:cNvSpPr/>
          <p:nvPr/>
        </p:nvSpPr>
        <p:spPr>
          <a:xfrm>
            <a:off x="3837492" y="1357029"/>
            <a:ext cx="195216" cy="573414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1642502" y="1829113"/>
                <a:ext cx="401116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)=1}=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502" y="1829113"/>
                <a:ext cx="4011163" cy="400110"/>
              </a:xfrm>
              <a:prstGeom prst="rect">
                <a:avLst/>
              </a:prstGeom>
              <a:blipFill>
                <a:blip r:embed="rId5"/>
                <a:stretch>
                  <a:fillRect t="-125758" r="-14286" b="-189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627262" y="2230824"/>
                <a:ext cx="446019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)=0}=1−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262" y="2230824"/>
                <a:ext cx="4460195" cy="400110"/>
              </a:xfrm>
              <a:prstGeom prst="rect">
                <a:avLst/>
              </a:prstGeom>
              <a:blipFill>
                <a:blip r:embed="rId6"/>
                <a:stretch>
                  <a:fillRect t="-125758" r="-12568" b="-189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965580" y="1423863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非均匀泊松过程性质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057680" y="2814571"/>
                <a:ext cx="7834860" cy="463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𝑡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itchFamily="34" charset="-122"/>
                      </a:rPr>
                      <m:t>时刻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/>
                        <a:ea typeface="微软雅黑" pitchFamily="34" charset="-122"/>
                      </a:rPr>
                      <m:t>𝑘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个服务器在工作，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𝑆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, 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+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h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|</m:t>
                    </m:r>
                    <m:r>
                      <a:rPr lang="en-US" altLang="zh-CN" sz="2000" b="0" i="1" dirty="0" smtClean="0">
                        <a:latin typeface="Cambria Math"/>
                        <a:ea typeface="华文楷体" pitchFamily="2" charset="-122"/>
                      </a:rPr>
                      <m:t>𝑘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,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+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h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]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内完成服务的人数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680" y="2814571"/>
                <a:ext cx="7834860" cy="463268"/>
              </a:xfrm>
              <a:prstGeom prst="rect">
                <a:avLst/>
              </a:prstGeom>
              <a:blipFill>
                <a:blip r:embed="rId7"/>
                <a:stretch>
                  <a:fillRect t="-1316" r="-545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椭圆 31"/>
          <p:cNvSpPr/>
          <p:nvPr/>
        </p:nvSpPr>
        <p:spPr>
          <a:xfrm>
            <a:off x="772868" y="2911589"/>
            <a:ext cx="288000" cy="288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1661033" y="3312597"/>
                <a:ext cx="401475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)=1}=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033" y="3312597"/>
                <a:ext cx="4014753" cy="400110"/>
              </a:xfrm>
              <a:prstGeom prst="rect">
                <a:avLst/>
              </a:prstGeom>
              <a:blipFill>
                <a:blip r:embed="rId8"/>
                <a:stretch>
                  <a:fillRect t="-125758" r="-14112" b="-189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642502" y="3780952"/>
                <a:ext cx="446558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502" y="3780952"/>
                <a:ext cx="4465581" cy="400110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椭圆 17"/>
          <p:cNvSpPr/>
          <p:nvPr/>
        </p:nvSpPr>
        <p:spPr>
          <a:xfrm>
            <a:off x="772868" y="644598"/>
            <a:ext cx="288000" cy="288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59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" grpId="0"/>
      <p:bldP spid="31" grpId="0" animBg="1"/>
      <p:bldP spid="32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系统中竞争性指数分布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TextBox 43"/>
          <p:cNvSpPr txBox="1"/>
          <p:nvPr/>
        </p:nvSpPr>
        <p:spPr>
          <a:xfrm>
            <a:off x="816918" y="658724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要对系统人数建模，首先要知道第一个完成服务服从什么分布</a:t>
            </a:r>
          </a:p>
        </p:txBody>
      </p:sp>
      <p:sp>
        <p:nvSpPr>
          <p:cNvPr id="50" name="椭圆 49"/>
          <p:cNvSpPr/>
          <p:nvPr/>
        </p:nvSpPr>
        <p:spPr>
          <a:xfrm>
            <a:off x="484990" y="677425"/>
            <a:ext cx="360000" cy="360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5"/>
          <p:cNvSpPr>
            <a:spLocks/>
          </p:cNvSpPr>
          <p:nvPr/>
        </p:nvSpPr>
        <p:spPr bwMode="auto">
          <a:xfrm>
            <a:off x="1644775" y="1303886"/>
            <a:ext cx="391452" cy="792401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rgbClr val="65962B"/>
          </a:solidFill>
          <a:ln>
            <a:solidFill>
              <a:srgbClr val="65962B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92683" y="1238570"/>
                <a:ext cx="54753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</a:rPr>
                      <m:t>𝑘</m:t>
                    </m:r>
                    <m:r>
                      <a:rPr lang="en-US" altLang="zh-CN" sz="2000" b="0" i="1" smtClean="0">
                        <a:latin typeface="Cambria Math"/>
                      </a:rPr>
                      <m:t>(</m:t>
                    </m:r>
                    <m:r>
                      <a:rPr lang="en-US" altLang="zh-CN" sz="2000" b="0" i="1" smtClean="0">
                        <a:latin typeface="Cambria Math"/>
                      </a:rPr>
                      <m:t>𝑘</m:t>
                    </m:r>
                    <m:r>
                      <a:rPr lang="en-US" altLang="zh-CN" sz="20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0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altLang="zh-CN" sz="20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是服务器的个数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个服务器同时在工作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683" y="1238570"/>
                <a:ext cx="5475345" cy="400110"/>
              </a:xfrm>
              <a:prstGeom prst="rect">
                <a:avLst/>
              </a:prstGeom>
              <a:blipFill>
                <a:blip r:embed="rId3"/>
                <a:stretch>
                  <a:fillRect t="-7576" r="-557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1992683" y="1696177"/>
            <a:ext cx="5179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且服务时间是相互独立的且独立于到达过程</a:t>
            </a:r>
          </a:p>
        </p:txBody>
      </p:sp>
      <p:sp>
        <p:nvSpPr>
          <p:cNvPr id="4" name="左弧形箭头 3"/>
          <p:cNvSpPr/>
          <p:nvPr/>
        </p:nvSpPr>
        <p:spPr>
          <a:xfrm>
            <a:off x="959522" y="1653736"/>
            <a:ext cx="576804" cy="1622863"/>
          </a:xfrm>
          <a:prstGeom prst="curved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599794" y="2795511"/>
                <a:ext cx="501436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</a:rPr>
                      <m:t>𝑘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个服务器同时工作，那么第一个完成服务的服务时长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𝑆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服从参数为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𝑘</m:t>
                    </m:r>
                    <m:r>
                      <a:rPr lang="zh-CN" altLang="en-US" sz="2000" b="0" i="1" smtClean="0">
                        <a:latin typeface="Cambria Math"/>
                        <a:ea typeface="微软雅黑" pitchFamily="34" charset="-122"/>
                      </a:rPr>
                      <m:t>𝜇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的指数分布</a:t>
                </a: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794" y="2795511"/>
                <a:ext cx="5014366" cy="707886"/>
              </a:xfrm>
              <a:prstGeom prst="rect">
                <a:avLst/>
              </a:prstGeom>
              <a:blipFill>
                <a:blip r:embed="rId4"/>
                <a:stretch>
                  <a:fillRect l="-1215" t="-5172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41791" y="2315346"/>
                <a:ext cx="1494320" cy="309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</a:rPr>
                        <m:t>竞争</m:t>
                      </m:r>
                      <m:r>
                        <a:rPr lang="zh-CN" altLang="en-US" sz="1400" b="0" i="1" smtClean="0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</a:rPr>
                        <m:t>型</m:t>
                      </m:r>
                      <m:r>
                        <a:rPr lang="zh-CN" altLang="en-US" sz="1400" i="1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</a:rPr>
                        <m:t>指数</m:t>
                      </m:r>
                      <m:r>
                        <a:rPr lang="zh-CN" altLang="en-US" sz="1400" i="1" smtClean="0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</a:rPr>
                        <m:t>分布</m:t>
                      </m:r>
                    </m:oMath>
                  </m:oMathPara>
                </a14:m>
                <a:endParaRPr lang="zh-CN" altLang="en-US" sz="140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91" y="2315346"/>
                <a:ext cx="1494320" cy="309380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8557" y="4154195"/>
                <a:ext cx="14757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𝑆</m:t>
                      </m:r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/>
                          <a:ea typeface="微软雅黑" pitchFamily="34" charset="-122"/>
                        </a:rPr>
                        <m:t>exp</m:t>
                      </m:r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⁡(</m:t>
                      </m:r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𝑘</m:t>
                      </m:r>
                      <m:r>
                        <a:rPr lang="zh-CN" altLang="en-US" sz="2000" b="0" i="1" smtClean="0">
                          <a:latin typeface="Cambria Math"/>
                          <a:ea typeface="微软雅黑" pitchFamily="34" charset="-122"/>
                        </a:rPr>
                        <m:t>𝜇</m:t>
                      </m:r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557" y="4154195"/>
                <a:ext cx="1475725" cy="40011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下箭头 7"/>
          <p:cNvSpPr/>
          <p:nvPr/>
        </p:nvSpPr>
        <p:spPr>
          <a:xfrm>
            <a:off x="3822725" y="3503397"/>
            <a:ext cx="335266" cy="643178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>
            <a:grpSpLocks noChangeAspect="1"/>
          </p:cNvGrpSpPr>
          <p:nvPr/>
        </p:nvGrpSpPr>
        <p:grpSpPr>
          <a:xfrm>
            <a:off x="7338060" y="3750832"/>
            <a:ext cx="1226820" cy="1170426"/>
            <a:chOff x="3197225" y="3458369"/>
            <a:chExt cx="533400" cy="487363"/>
          </a:xfrm>
          <a:solidFill>
            <a:srgbClr val="65962B"/>
          </a:solidFill>
        </p:grpSpPr>
        <p:sp>
          <p:nvSpPr>
            <p:cNvPr id="61" name="Oval 312"/>
            <p:cNvSpPr>
              <a:spLocks noChangeArrowheads="1"/>
            </p:cNvSpPr>
            <p:nvPr/>
          </p:nvSpPr>
          <p:spPr bwMode="auto">
            <a:xfrm>
              <a:off x="3568700" y="3458369"/>
              <a:ext cx="93663" cy="889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  <p:sp>
          <p:nvSpPr>
            <p:cNvPr id="62" name="Freeform 313"/>
            <p:cNvSpPr>
              <a:spLocks/>
            </p:cNvSpPr>
            <p:nvPr/>
          </p:nvSpPr>
          <p:spPr bwMode="auto">
            <a:xfrm>
              <a:off x="3197225" y="3513932"/>
              <a:ext cx="533400" cy="431800"/>
            </a:xfrm>
            <a:custGeom>
              <a:avLst/>
              <a:gdLst>
                <a:gd name="T0" fmla="*/ 7 w 142"/>
                <a:gd name="T1" fmla="*/ 60 h 115"/>
                <a:gd name="T2" fmla="*/ 9 w 142"/>
                <a:gd name="T3" fmla="*/ 60 h 115"/>
                <a:gd name="T4" fmla="*/ 36 w 142"/>
                <a:gd name="T5" fmla="*/ 60 h 115"/>
                <a:gd name="T6" fmla="*/ 77 w 142"/>
                <a:gd name="T7" fmla="*/ 12 h 115"/>
                <a:gd name="T8" fmla="*/ 67 w 142"/>
                <a:gd name="T9" fmla="*/ 12 h 115"/>
                <a:gd name="T10" fmla="*/ 48 w 142"/>
                <a:gd name="T11" fmla="*/ 34 h 115"/>
                <a:gd name="T12" fmla="*/ 43 w 142"/>
                <a:gd name="T13" fmla="*/ 36 h 115"/>
                <a:gd name="T14" fmla="*/ 37 w 142"/>
                <a:gd name="T15" fmla="*/ 30 h 115"/>
                <a:gd name="T16" fmla="*/ 39 w 142"/>
                <a:gd name="T17" fmla="*/ 25 h 115"/>
                <a:gd name="T18" fmla="*/ 59 w 142"/>
                <a:gd name="T19" fmla="*/ 2 h 115"/>
                <a:gd name="T20" fmla="*/ 64 w 142"/>
                <a:gd name="T21" fmla="*/ 0 h 115"/>
                <a:gd name="T22" fmla="*/ 93 w 142"/>
                <a:gd name="T23" fmla="*/ 0 h 115"/>
                <a:gd name="T24" fmla="*/ 114 w 142"/>
                <a:gd name="T25" fmla="*/ 15 h 115"/>
                <a:gd name="T26" fmla="*/ 114 w 142"/>
                <a:gd name="T27" fmla="*/ 32 h 115"/>
                <a:gd name="T28" fmla="*/ 135 w 142"/>
                <a:gd name="T29" fmla="*/ 32 h 115"/>
                <a:gd name="T30" fmla="*/ 139 w 142"/>
                <a:gd name="T31" fmla="*/ 34 h 115"/>
                <a:gd name="T32" fmla="*/ 139 w 142"/>
                <a:gd name="T33" fmla="*/ 43 h 115"/>
                <a:gd name="T34" fmla="*/ 135 w 142"/>
                <a:gd name="T35" fmla="*/ 45 h 115"/>
                <a:gd name="T36" fmla="*/ 109 w 142"/>
                <a:gd name="T37" fmla="*/ 45 h 115"/>
                <a:gd name="T38" fmla="*/ 101 w 142"/>
                <a:gd name="T39" fmla="*/ 38 h 115"/>
                <a:gd name="T40" fmla="*/ 101 w 142"/>
                <a:gd name="T41" fmla="*/ 27 h 115"/>
                <a:gd name="T42" fmla="*/ 86 w 142"/>
                <a:gd name="T43" fmla="*/ 45 h 115"/>
                <a:gd name="T44" fmla="*/ 100 w 142"/>
                <a:gd name="T45" fmla="*/ 59 h 115"/>
                <a:gd name="T46" fmla="*/ 101 w 142"/>
                <a:gd name="T47" fmla="*/ 69 h 115"/>
                <a:gd name="T48" fmla="*/ 92 w 142"/>
                <a:gd name="T49" fmla="*/ 109 h 115"/>
                <a:gd name="T50" fmla="*/ 85 w 142"/>
                <a:gd name="T51" fmla="*/ 115 h 115"/>
                <a:gd name="T52" fmla="*/ 77 w 142"/>
                <a:gd name="T53" fmla="*/ 108 h 115"/>
                <a:gd name="T54" fmla="*/ 77 w 142"/>
                <a:gd name="T55" fmla="*/ 106 h 115"/>
                <a:gd name="T56" fmla="*/ 85 w 142"/>
                <a:gd name="T57" fmla="*/ 72 h 115"/>
                <a:gd name="T58" fmla="*/ 66 w 142"/>
                <a:gd name="T59" fmla="*/ 54 h 115"/>
                <a:gd name="T60" fmla="*/ 50 w 142"/>
                <a:gd name="T61" fmla="*/ 72 h 115"/>
                <a:gd name="T62" fmla="*/ 41 w 142"/>
                <a:gd name="T63" fmla="*/ 75 h 115"/>
                <a:gd name="T64" fmla="*/ 8 w 142"/>
                <a:gd name="T65" fmla="*/ 75 h 115"/>
                <a:gd name="T66" fmla="*/ 1 w 142"/>
                <a:gd name="T67" fmla="*/ 69 h 115"/>
                <a:gd name="T68" fmla="*/ 7 w 142"/>
                <a:gd name="T69" fmla="*/ 6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" h="115">
                  <a:moveTo>
                    <a:pt x="7" y="60"/>
                  </a:moveTo>
                  <a:cubicBezTo>
                    <a:pt x="7" y="60"/>
                    <a:pt x="8" y="60"/>
                    <a:pt x="9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5"/>
                    <a:pt x="45" y="36"/>
                    <a:pt x="43" y="36"/>
                  </a:cubicBezTo>
                  <a:cubicBezTo>
                    <a:pt x="40" y="36"/>
                    <a:pt x="37" y="33"/>
                    <a:pt x="37" y="30"/>
                  </a:cubicBezTo>
                  <a:cubicBezTo>
                    <a:pt x="37" y="28"/>
                    <a:pt x="38" y="26"/>
                    <a:pt x="39" y="25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61" y="1"/>
                    <a:pt x="62" y="0"/>
                    <a:pt x="64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112" y="14"/>
                    <a:pt x="114" y="15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7" y="32"/>
                    <a:pt x="138" y="33"/>
                    <a:pt x="139" y="34"/>
                  </a:cubicBezTo>
                  <a:cubicBezTo>
                    <a:pt x="142" y="36"/>
                    <a:pt x="142" y="40"/>
                    <a:pt x="139" y="43"/>
                  </a:cubicBezTo>
                  <a:cubicBezTo>
                    <a:pt x="138" y="44"/>
                    <a:pt x="137" y="44"/>
                    <a:pt x="135" y="45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01" y="44"/>
                    <a:pt x="101" y="38"/>
                    <a:pt x="101" y="3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59"/>
                    <a:pt x="103" y="62"/>
                    <a:pt x="101" y="69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13"/>
                    <a:pt x="88" y="115"/>
                    <a:pt x="85" y="115"/>
                  </a:cubicBezTo>
                  <a:cubicBezTo>
                    <a:pt x="80" y="115"/>
                    <a:pt x="77" y="112"/>
                    <a:pt x="77" y="108"/>
                  </a:cubicBezTo>
                  <a:cubicBezTo>
                    <a:pt x="77" y="107"/>
                    <a:pt x="77" y="106"/>
                    <a:pt x="77" y="106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50" y="72"/>
                    <a:pt x="48" y="75"/>
                    <a:pt x="41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5" y="75"/>
                    <a:pt x="2" y="73"/>
                    <a:pt x="1" y="69"/>
                  </a:cubicBezTo>
                  <a:cubicBezTo>
                    <a:pt x="0" y="65"/>
                    <a:pt x="2" y="61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</p:grpSp>
    </p:spTree>
    <p:extLst>
      <p:ext uri="{BB962C8B-B14F-4D97-AF65-F5344CB8AC3E}">
        <p14:creationId xmlns:p14="http://schemas.microsoft.com/office/powerpoint/2010/main" val="1738328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3" grpId="0" animBg="1"/>
      <p:bldP spid="54" grpId="0"/>
      <p:bldP spid="4" grpId="0" animBg="1"/>
      <p:bldP spid="59" grpId="0" animBg="1"/>
      <p:bldP spid="5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系统人数的概率分布建模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32868" y="599979"/>
                <a:ext cx="28658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考虑第一种情况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=0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时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68" y="599979"/>
                <a:ext cx="2865849" cy="400110"/>
              </a:xfrm>
              <a:prstGeom prst="rect">
                <a:avLst/>
              </a:prstGeom>
              <a:blipFill>
                <a:blip r:embed="rId3"/>
                <a:stretch>
                  <a:fillRect l="-2340" t="-7576" r="-1702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705532" y="837304"/>
                <a:ext cx="7647951" cy="847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0" baseline="-25000" smtClean="0">
                          <a:latin typeface="Cambria Math"/>
                        </a:rPr>
                        <m:t>0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/>
                        </a:rPr>
                        <m:t>X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)=0}=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endChr m:val="}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)=0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32" y="837304"/>
                <a:ext cx="7647951" cy="84786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421923" y="1790680"/>
                <a:ext cx="5798035" cy="847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endChr m:val="}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altLang="zh-CN" b="0" i="0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{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0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CN" b="0" i="0" smtClean="0">
                              <a:latin typeface="Cambria Math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23" y="1790680"/>
                <a:ext cx="5798035" cy="84786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直角上箭头 29"/>
          <p:cNvSpPr/>
          <p:nvPr/>
        </p:nvSpPr>
        <p:spPr>
          <a:xfrm rot="5400000">
            <a:off x="1592463" y="1559350"/>
            <a:ext cx="863926" cy="720000"/>
          </a:xfrm>
          <a:prstGeom prst="bentUpArrow">
            <a:avLst>
              <a:gd name="adj1" fmla="val 14789"/>
              <a:gd name="adj2" fmla="val 16976"/>
              <a:gd name="adj3" fmla="val 26605"/>
            </a:avLst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1774431" y="159611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全概率公式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表格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782877"/>
                  </p:ext>
                </p:extLst>
              </p:nvPr>
            </p:nvGraphicFramePr>
            <p:xfrm>
              <a:off x="265926" y="3175373"/>
              <a:ext cx="8527162" cy="1854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9788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9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01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70757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𝑆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𝑡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𝑡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+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h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|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b="0" i="1" kern="1200" dirty="0">
                            <a:solidFill>
                              <a:schemeClr val="lt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{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)=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i="1" dirty="0" smtClean="0">
                                    <a:latin typeface="Cambria Math"/>
                                  </a:rPr>
                                  <m:t>)=0</m:t>
                                </m:r>
                                <m:r>
                                  <a:rPr lang="en-US" altLang="zh-CN" b="0" dirty="0" smtClean="0">
                                    <a:latin typeface="Cambria Math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-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-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zh-CN" altLang="en-US" b="0" i="1" smtClean="0">
                                    <a:latin typeface="Cambria Math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b="0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zh-CN" altLang="en-US" b="0" i="1" smtClean="0">
                                        <a:latin typeface="Cambria Math"/>
                                      </a:rPr>
                                      <m:t>𝜆</m:t>
                                    </m:r>
                                    <m:d>
                                      <m:d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CN" b="0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𝑜</m:t>
                                    </m:r>
                                    <m:d>
                                      <m:d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h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zh-CN" altLang="en-US" b="0" i="1" smtClean="0">
                                    <a:latin typeface="Cambria Math"/>
                                  </a:rPr>
                                  <m:t>𝜇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b="0" smtClean="0">
                                    <a:latin typeface="Cambria Math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表格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1727782877"/>
                  </p:ext>
                </p:extLst>
              </p:nvPr>
            </p:nvGraphicFramePr>
            <p:xfrm>
              <a:off x="265926" y="3175373"/>
              <a:ext cx="8527162" cy="1854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978838"/>
                    <a:gridCol w="1320800"/>
                    <a:gridCol w="1429781"/>
                    <a:gridCol w="1090168"/>
                    <a:gridCol w="3707575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625" t="-1639" r="-77437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74194" t="-1639" r="-47096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61538" t="-1639" r="-33675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341899" t="-1639" r="-340223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30099" t="-1639" r="-164" b="-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-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-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30099" t="-205000" r="-164" b="-22833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30099" t="-300000" r="-164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132868" y="2688090"/>
                <a:ext cx="52915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讨论根据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𝑋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的不同的值列举可能</a:t>
                </a:r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出现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的情况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68" y="2688090"/>
                <a:ext cx="5291577" cy="400110"/>
              </a:xfrm>
              <a:prstGeom prst="rect">
                <a:avLst/>
              </a:prstGeom>
              <a:blipFill>
                <a:blip r:embed="rId7"/>
                <a:stretch>
                  <a:fillRect l="-1267" t="-9091" r="-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/>
          <p:cNvSpPr/>
          <p:nvPr/>
        </p:nvSpPr>
        <p:spPr>
          <a:xfrm>
            <a:off x="795728" y="624073"/>
            <a:ext cx="360000" cy="360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166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7" grpId="0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739200" y="57265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根据上表可以得出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93174" y="1009778"/>
                <a:ext cx="85529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[1−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]+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[1−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74" y="1009778"/>
                <a:ext cx="855293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128333" b="-19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直角上箭头 15"/>
          <p:cNvSpPr/>
          <p:nvPr/>
        </p:nvSpPr>
        <p:spPr>
          <a:xfrm rot="5400000">
            <a:off x="1549845" y="1310580"/>
            <a:ext cx="561699" cy="648000"/>
          </a:xfrm>
          <a:prstGeom prst="bentUpArrow">
            <a:avLst>
              <a:gd name="adj1" fmla="val 14789"/>
              <a:gd name="adj2" fmla="val 16976"/>
              <a:gd name="adj3" fmla="val 26605"/>
            </a:avLst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101111" y="1638531"/>
                <a:ext cx="4857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(</m:t>
                      </m:r>
                      <m:r>
                        <a:rPr lang="en-US" altLang="zh-CN" b="0" i="1" smtClean="0">
                          <a:latin typeface="Cambria Math"/>
                        </a:rPr>
                        <m:t>𝑡</m:t>
                      </m:r>
                      <m:r>
                        <a:rPr lang="en-US" altLang="zh-CN" b="0" i="1" smtClean="0">
                          <a:latin typeface="Cambria Math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111" y="1638531"/>
                <a:ext cx="4857612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下箭头 1"/>
          <p:cNvSpPr/>
          <p:nvPr/>
        </p:nvSpPr>
        <p:spPr>
          <a:xfrm>
            <a:off x="4399644" y="2007863"/>
            <a:ext cx="270000" cy="486223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49797" y="2048585"/>
                <a:ext cx="12992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两边减去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1400" i="1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1400" i="1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1400" i="1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endParaRPr lang="zh-CN" altLang="en-US" sz="1400" dirty="0">
                  <a:solidFill>
                    <a:srgbClr val="65962B"/>
                  </a:solidFill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797" y="2048585"/>
                <a:ext cx="1299266" cy="307777"/>
              </a:xfrm>
              <a:prstGeom prst="rect">
                <a:avLst/>
              </a:prstGeom>
              <a:blipFill>
                <a:blip r:embed="rId5"/>
                <a:stretch>
                  <a:fillRect l="-1408"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154695" y="2483363"/>
                <a:ext cx="53067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(</m:t>
                      </m:r>
                      <m:r>
                        <a:rPr lang="en-US" altLang="zh-CN" i="1">
                          <a:latin typeface="Cambria Math"/>
                        </a:rPr>
                        <m:t>𝑡</m:t>
                      </m:r>
                      <m:r>
                        <a:rPr lang="en-US" altLang="zh-CN" i="1">
                          <a:latin typeface="Cambria Math"/>
                        </a:rPr>
                        <m:t>)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(</m:t>
                      </m:r>
                      <m:r>
                        <a:rPr lang="en-US" altLang="zh-CN" i="1">
                          <a:latin typeface="Cambria Math"/>
                        </a:rPr>
                        <m:t>𝑡</m:t>
                      </m:r>
                      <m:r>
                        <a:rPr lang="en-US" altLang="zh-CN" i="1">
                          <a:latin typeface="Cambria Math"/>
                        </a:rPr>
                        <m:t>)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695" y="2483363"/>
                <a:ext cx="5306774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下箭头 20"/>
          <p:cNvSpPr/>
          <p:nvPr/>
        </p:nvSpPr>
        <p:spPr>
          <a:xfrm>
            <a:off x="4394917" y="2852695"/>
            <a:ext cx="270000" cy="486000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442982" y="2885869"/>
                <a:ext cx="1005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两边除以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65962B"/>
                        </a:solidFill>
                        <a:latin typeface="Cambria Math"/>
                        <a:ea typeface="华文楷体" pitchFamily="2" charset="-122"/>
                      </a:rPr>
                      <m:t>h</m:t>
                    </m:r>
                  </m:oMath>
                </a14:m>
                <a:endParaRPr lang="zh-CN" altLang="en-US" sz="1400" dirty="0">
                  <a:solidFill>
                    <a:srgbClr val="65962B"/>
                  </a:solidFill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982" y="2885869"/>
                <a:ext cx="1005275" cy="307777"/>
              </a:xfrm>
              <a:prstGeom prst="rect">
                <a:avLst/>
              </a:prstGeom>
              <a:blipFill>
                <a:blip r:embed="rId7"/>
                <a:stretch>
                  <a:fillRect l="-1818" t="-392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905203" y="3337820"/>
                <a:ext cx="57288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[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/>
                            </a:rPr>
                            <m:t>)]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(</m:t>
                      </m:r>
                      <m:r>
                        <a:rPr lang="en-US" altLang="zh-CN" i="1">
                          <a:latin typeface="Cambria Math"/>
                        </a:rPr>
                        <m:t>𝑡</m:t>
                      </m:r>
                      <m:r>
                        <a:rPr lang="en-US" altLang="zh-CN" i="1">
                          <a:latin typeface="Cambria Math"/>
                        </a:rPr>
                        <m:t>)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203" y="3337820"/>
                <a:ext cx="5728876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118333" r="-7987" b="-18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下箭头 27"/>
          <p:cNvSpPr/>
          <p:nvPr/>
        </p:nvSpPr>
        <p:spPr>
          <a:xfrm>
            <a:off x="4394917" y="3707152"/>
            <a:ext cx="270000" cy="486000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277406" y="3743448"/>
                <a:ext cx="11755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取极限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65962B"/>
                        </a:solidFill>
                        <a:latin typeface="Cambria Math"/>
                        <a:ea typeface="华文楷体" pitchFamily="2" charset="-122"/>
                      </a:rPr>
                      <m:t>h</m:t>
                    </m:r>
                    <m:r>
                      <a:rPr lang="en-US" altLang="zh-CN" sz="1400" b="0" i="1" smtClean="0">
                        <a:solidFill>
                          <a:srgbClr val="65962B"/>
                        </a:solidFill>
                        <a:latin typeface="Cambria Math"/>
                        <a:ea typeface="Cambria Math"/>
                      </a:rPr>
                      <m:t>→0</m:t>
                    </m:r>
                  </m:oMath>
                </a14:m>
                <a:endParaRPr lang="zh-CN" altLang="en-US" sz="1400" dirty="0">
                  <a:solidFill>
                    <a:srgbClr val="65962B"/>
                  </a:solidFill>
                  <a:latin typeface="华文楷体" pitchFamily="2" charset="-122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406" y="3743448"/>
                <a:ext cx="1175578" cy="307777"/>
              </a:xfrm>
              <a:prstGeom prst="rect">
                <a:avLst/>
              </a:prstGeom>
              <a:blipFill>
                <a:blip r:embed="rId9"/>
                <a:stretch>
                  <a:fillRect l="-1563"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93014" y="4260444"/>
                <a:ext cx="4153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        </m:t>
                      </m:r>
                      <m:r>
                        <a:rPr lang="zh-CN" altLang="en-US" i="1" smtClean="0">
                          <a:latin typeface="Cambria Math"/>
                        </a:rPr>
                        <m:t>⋯</m:t>
                      </m:r>
                      <m:r>
                        <a:rPr lang="en-US" altLang="zh-CN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014" y="4260444"/>
                <a:ext cx="4153253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40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系统人数的概率分布建模</a:t>
            </a:r>
          </a:p>
        </p:txBody>
      </p:sp>
    </p:spTree>
    <p:extLst>
      <p:ext uri="{BB962C8B-B14F-4D97-AF65-F5344CB8AC3E}">
        <p14:creationId xmlns:p14="http://schemas.microsoft.com/office/powerpoint/2010/main" val="31727107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8" grpId="0" animBg="1"/>
      <p:bldP spid="31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216688" y="647143"/>
                <a:ext cx="33245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考虑第二种情况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sz="20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&lt;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𝑠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时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688" y="647143"/>
                <a:ext cx="3324564" cy="400110"/>
              </a:xfrm>
              <a:prstGeom prst="rect">
                <a:avLst/>
              </a:prstGeom>
              <a:blipFill>
                <a:blip r:embed="rId3"/>
                <a:stretch>
                  <a:fillRect l="-2018" t="-7576" r="-1468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18066" y="1064986"/>
                <a:ext cx="7016088" cy="9318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{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微软雅黑" pitchFamily="34" charset="-122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微软雅黑" pitchFamily="34" charset="-122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066" y="1064986"/>
                <a:ext cx="7016088" cy="9318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308250" y="2096271"/>
                <a:ext cx="5112568" cy="931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endChr m:val="}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{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b="0" i="0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CN" sz="2000" b="0" i="0" smtClean="0">
                              <a:latin typeface="Cambria Math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250" y="2096271"/>
                <a:ext cx="5112568" cy="931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直角上箭头 15"/>
          <p:cNvSpPr/>
          <p:nvPr/>
        </p:nvSpPr>
        <p:spPr>
          <a:xfrm rot="5400000">
            <a:off x="1474414" y="1856024"/>
            <a:ext cx="968279" cy="699392"/>
          </a:xfrm>
          <a:prstGeom prst="bentUpArrow">
            <a:avLst>
              <a:gd name="adj1" fmla="val 14789"/>
              <a:gd name="adj2" fmla="val 16976"/>
              <a:gd name="adj3" fmla="val 26605"/>
            </a:avLst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7" name="TextBox 16"/>
          <p:cNvSpPr txBox="1"/>
          <p:nvPr/>
        </p:nvSpPr>
        <p:spPr>
          <a:xfrm>
            <a:off x="1716693" y="189794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全概率公式</a:t>
            </a:r>
            <a:endParaRPr lang="zh-CN" altLang="en-US" sz="1600" dirty="0">
              <a:solidFill>
                <a:srgbClr val="65962B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216688" y="3212242"/>
                <a:ext cx="5763232" cy="4072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讨论根据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的不同的值列举可能出现的情况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688" y="3212242"/>
                <a:ext cx="5763232" cy="407257"/>
              </a:xfrm>
              <a:prstGeom prst="rect">
                <a:avLst/>
              </a:prstGeom>
              <a:blipFill>
                <a:blip r:embed="rId6"/>
                <a:stretch>
                  <a:fillRect l="-1164" t="-8955" b="-23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/>
          <p:cNvSpPr/>
          <p:nvPr/>
        </p:nvSpPr>
        <p:spPr>
          <a:xfrm>
            <a:off x="856688" y="661222"/>
            <a:ext cx="360000" cy="360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0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系统人数的概率分布建模</a:t>
            </a:r>
          </a:p>
        </p:txBody>
      </p:sp>
    </p:spTree>
    <p:extLst>
      <p:ext uri="{BB962C8B-B14F-4D97-AF65-F5344CB8AC3E}">
        <p14:creationId xmlns:p14="http://schemas.microsoft.com/office/powerpoint/2010/main" val="10302753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4829721"/>
                  </p:ext>
                </p:extLst>
              </p:nvPr>
            </p:nvGraphicFramePr>
            <p:xfrm>
              <a:off x="415234" y="697373"/>
              <a:ext cx="8280001" cy="413999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456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77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149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005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1416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1855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sz="140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sz="140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𝑆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𝑡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𝑡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h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|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𝑘</m:t>
                                </m:r>
                                <m:r>
                                  <a:rPr lang="en-US" altLang="zh-CN" sz="1400" b="0" i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Times New Roman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i="1" kern="1200" dirty="0">
                            <a:solidFill>
                              <a:schemeClr val="lt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{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)=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b="0" i="1" dirty="0" smtClean="0">
                                    <a:latin typeface="Cambria Math"/>
                                  </a:rPr>
                                  <m:t>)=0</m:t>
                                </m:r>
                                <m:r>
                                  <a:rPr lang="en-US" altLang="zh-CN" sz="1400" b="0" dirty="0" smtClean="0">
                                    <a:latin typeface="Cambria Math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solidFill>
                          <a:srgbClr val="65962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dirty="0"/>
                            <a:t>n</a:t>
                          </a:r>
                          <a:r>
                            <a:rPr lang="en-US" altLang="zh-CN" sz="1400" dirty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endParaRPr lang="zh-CN" altLang="en-US" sz="1400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zh-CN" altLang="en-US" sz="1400" smtClean="0">
                                    <a:latin typeface="Cambria Math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)][1−</m:t>
                                </m:r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zh-CN" altLang="en-US" sz="1400" smtClean="0">
                                    <a:latin typeface="Cambria Math"/>
                                  </a:rPr>
                                  <m:t>𝜇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n-</a:t>
                          </a:r>
                          <a:r>
                            <a:rPr lang="en-US" altLang="zh-CN" sz="1400" dirty="0"/>
                            <a:t>2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-2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kern="1200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1400" kern="1200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kern="12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zh-CN" altLang="en-US" sz="1400" kern="1200" smtClean="0">
                                    <a:latin typeface="Cambria Math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en-US" altLang="zh-CN" sz="14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kern="12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)][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zh-CN" altLang="en-US" sz="1400" kern="1200" smtClean="0">
                                    <a:latin typeface="Cambria Math"/>
                                  </a:rPr>
                                  <m:t>𝜇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kern="1200" smtClean="0">
                                    <a:latin typeface="Cambria Math"/>
                                  </a:rPr>
                                  <m:t>)]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400" kern="1200" dirty="0" smtClean="0"/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400" kern="1200" dirty="0" smtClean="0"/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400" kern="1200" dirty="0" smtClean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400" kern="1200" dirty="0" smtClean="0"/>
                                  <m:t>h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400" kern="1200" dirty="0" smtClean="0"/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i="0" kern="1200" dirty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n-</a:t>
                          </a:r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[1−</m:t>
                                </m:r>
                                <m:r>
                                  <a:rPr lang="zh-CN" altLang="en-US" sz="1400" smtClean="0">
                                    <a:latin typeface="Cambria Math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)][1−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zh-CN" altLang="en-US" sz="1400" smtClean="0">
                                    <a:latin typeface="Cambria Math"/>
                                  </a:rPr>
                                  <m:t>𝜇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1737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+2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[1−</m:t>
                                </m:r>
                                <m:r>
                                  <a:rPr lang="zh-CN" altLang="en-US" sz="1400" smtClean="0">
                                    <a:latin typeface="Cambria Math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en-US" altLang="zh-CN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)][(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+1)</m:t>
                                </m:r>
                                <m:r>
                                  <a:rPr lang="zh-CN" altLang="en-US" sz="1400" smtClean="0">
                                    <a:latin typeface="Cambria Math"/>
                                  </a:rPr>
                                  <m:t>𝜇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𝑜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altLang="zh-CN" sz="1400" smtClean="0">
                                    <a:latin typeface="Cambria Math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1855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964829721"/>
                  </p:ext>
                </p:extLst>
              </p:nvPr>
            </p:nvGraphicFramePr>
            <p:xfrm>
              <a:off x="415234" y="697373"/>
              <a:ext cx="8280001" cy="437603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45641"/>
                    <a:gridCol w="1177174"/>
                    <a:gridCol w="1314976"/>
                    <a:gridCol w="1000522"/>
                    <a:gridCol w="4141688"/>
                  </a:tblGrid>
                  <a:tr h="31855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r="-1182075" b="-12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4922" r="-549223" b="-12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38426" r="-390741" b="-12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14024" r="-414634" b="-12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r="-147" b="-1221154"/>
                          </a:stretch>
                        </a:blipFill>
                      </a:tcPr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dirty="0" smtClean="0"/>
                            <a:t>n</a:t>
                          </a:r>
                          <a:r>
                            <a:rPr lang="en-US" altLang="zh-CN" sz="1400" dirty="0" smtClean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i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endParaRPr lang="zh-CN" altLang="en-US" sz="1400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201923" r="-147" b="-1019231"/>
                          </a:stretch>
                        </a:blipFill>
                      </a:tcPr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n-</a:t>
                          </a:r>
                          <a:r>
                            <a:rPr lang="en-US" altLang="zh-CN" sz="1400" dirty="0" smtClean="0"/>
                            <a:t>2</a:t>
                          </a:r>
                          <a:endParaRPr lang="zh-CN" alt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-1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-2</a:t>
                          </a:r>
                          <a:endParaRPr lang="zh-CN" alt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/>
                        </a:p>
                      </a:txBody>
                      <a:tcPr/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503846" r="-147" b="-717308"/>
                          </a:stretch>
                        </a:blipFill>
                      </a:tcPr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n-</a:t>
                          </a:r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/>
                        </a:p>
                      </a:txBody>
                      <a:tcPr/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805769" r="-147" b="-415385"/>
                          </a:stretch>
                        </a:blipFill>
                      </a:tcPr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</a:tr>
                  <a:tr h="31737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+2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endParaRPr lang="zh-CN" altLang="en-US" sz="1400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1084906" r="-147" b="-111321"/>
                          </a:stretch>
                        </a:blipFill>
                      </a:tcPr>
                    </a:tc>
                  </a:tr>
                  <a:tr h="31855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 smtClean="0"/>
                            <a:t>0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:r>
                            <a:rPr lang="en-US" altLang="zh-CN" sz="1400" dirty="0" smtClean="0"/>
                            <a:t>+1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Box 40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系统人数的概率分布建模</a:t>
            </a:r>
          </a:p>
        </p:txBody>
      </p:sp>
    </p:spTree>
    <p:extLst>
      <p:ext uri="{BB962C8B-B14F-4D97-AF65-F5344CB8AC3E}">
        <p14:creationId xmlns:p14="http://schemas.microsoft.com/office/powerpoint/2010/main" val="23915715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772868" y="6154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根据上表可以得出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52567" y="984777"/>
                <a:ext cx="696121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+</m:t>
                          </m:r>
                          <m:r>
                            <a:rPr lang="el-GR" altLang="zh-CN" i="1">
                              <a:latin typeface="Cambria Math"/>
                              <a:ea typeface="Cambria Math"/>
                            </a:rPr>
                            <m:t>𝜊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1−</m:t>
                          </m:r>
                          <m:r>
                            <a:rPr lang="zh-CN" altLang="en-US" i="1"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  <m:r>
                            <a:rPr lang="zh-CN" altLang="en-US" b="0" i="1" smtClean="0">
                              <a:latin typeface="Cambria Math"/>
                              <a:ea typeface="微软雅黑" pitchFamily="34" charset="-122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+</m:t>
                          </m:r>
                          <m:r>
                            <a:rPr lang="el-GR" altLang="zh-CN" i="1">
                              <a:latin typeface="Cambria Math"/>
                              <a:ea typeface="Cambria Math"/>
                            </a:rPr>
                            <m:t>𝜊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/>
                            <a:ea typeface="微软雅黑" pitchFamily="34" charset="-122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𝑡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  <a:ea typeface="微软雅黑" pitchFamily="34" charset="-122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  <a:ea typeface="微软雅黑" pitchFamily="34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/>
                            <a:ea typeface="微软雅黑" pitchFamily="34" charset="-122"/>
                          </a:rPr>
                          <m:t>+1)</m:t>
                        </m:r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</a:rPr>
                          <m:t>𝜇</m:t>
                        </m:r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h</m:t>
                        </m:r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+</m:t>
                        </m:r>
                        <m:r>
                          <a:rPr lang="el-GR" altLang="zh-CN" i="1">
                            <a:latin typeface="Cambria Math"/>
                            <a:ea typeface="Cambria Math"/>
                          </a:rPr>
                          <m:t>𝜊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+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/>
                        <a:ea typeface="Cambria Math"/>
                      </a:rPr>
                      <m:t>𝜊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567" y="984777"/>
                <a:ext cx="6961218" cy="923330"/>
              </a:xfrm>
              <a:prstGeom prst="rect">
                <a:avLst/>
              </a:prstGeom>
              <a:blipFill>
                <a:blip r:embed="rId3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20289" y="185965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分为两种情况讨论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24586" y="2415687"/>
                <a:ext cx="7884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+1)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zh-CN" altLang="en-US" b="0" i="1" smtClean="0">
                              <a:latin typeface="Cambria Math"/>
                            </a:rPr>
                            <m:t>𝜇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  1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  ⋯(2)</m:t>
                      </m:r>
                    </m:oMath>
                  </m:oMathPara>
                </a14:m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586" y="2415687"/>
                <a:ext cx="7884401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41356" y="2964300"/>
                <a:ext cx="7829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zh-CN" altLang="en-US" b="0" i="1" smtClean="0">
                              <a:latin typeface="Cambria Math"/>
                            </a:rPr>
                            <m:t>𝜇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  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                       ⋯(3)</m:t>
                      </m:r>
                    </m:oMath>
                  </m:oMathPara>
                </a14:m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356" y="2964300"/>
                <a:ext cx="7829131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左弧形箭头 4"/>
          <p:cNvSpPr/>
          <p:nvPr/>
        </p:nvSpPr>
        <p:spPr>
          <a:xfrm>
            <a:off x="541867" y="1320799"/>
            <a:ext cx="582719" cy="1433739"/>
          </a:xfrm>
          <a:prstGeom prst="curved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左弧形箭头 5"/>
          <p:cNvSpPr/>
          <p:nvPr/>
        </p:nvSpPr>
        <p:spPr>
          <a:xfrm>
            <a:off x="347133" y="1320801"/>
            <a:ext cx="777453" cy="2012832"/>
          </a:xfrm>
          <a:prstGeom prst="curved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162415" y="3658675"/>
                <a:ext cx="78465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                                                                                </m:t>
                      </m:r>
                      <m:r>
                        <a:rPr lang="zh-CN" altLang="en-US" i="1" smtClean="0">
                          <a:latin typeface="Cambria Math"/>
                        </a:rPr>
                        <m:t>⋯</m:t>
                      </m:r>
                      <m:r>
                        <a:rPr lang="en-US" altLang="zh-CN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415" y="3658675"/>
                <a:ext cx="7846572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40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系统人数的概率分布建模</a:t>
            </a:r>
          </a:p>
        </p:txBody>
      </p:sp>
    </p:spTree>
    <p:extLst>
      <p:ext uri="{BB962C8B-B14F-4D97-AF65-F5344CB8AC3E}">
        <p14:creationId xmlns:p14="http://schemas.microsoft.com/office/powerpoint/2010/main" val="35386795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5" grpId="0" animBg="1"/>
      <p:bldP spid="5" grpId="0" animBg="1"/>
      <p:bldP spid="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系统人数的概率分布建模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16688" y="645982"/>
                <a:ext cx="60739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系统内人数用微分方程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微软雅黑" pitchFamily="34" charset="-122"/>
                          </a:rPr>
                          <m:t>1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−(3)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描述，写成矩阵形式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688" y="645982"/>
                <a:ext cx="6073970" cy="400110"/>
              </a:xfrm>
              <a:prstGeom prst="rect">
                <a:avLst/>
              </a:prstGeom>
              <a:blipFill>
                <a:blip r:embed="rId4"/>
                <a:stretch>
                  <a:fillRect l="-1104" t="-9091" r="-402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67636" y="1015282"/>
                <a:ext cx="1130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(</a:t>
                </a:r>
                <a:r>
                  <a:rPr lang="zh-CN" altLang="en-US" dirty="0">
                    <a:latin typeface="微软雅黑" pitchFamily="34" charset="-122"/>
                    <a:ea typeface="微软雅黑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</a:rPr>
                      <m:t>𝑠</m:t>
                    </m:r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</a:rPr>
                      <m:t>=3)</m:t>
                    </m:r>
                  </m:oMath>
                </a14:m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636" y="1015282"/>
                <a:ext cx="1130374" cy="369332"/>
              </a:xfrm>
              <a:prstGeom prst="rect">
                <a:avLst/>
              </a:prstGeom>
              <a:blipFill>
                <a:blip r:embed="rId5"/>
                <a:stretch>
                  <a:fillRect l="-4865" t="-10000" r="-1622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13864" y="3758886"/>
                <a:ext cx="73185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/>
                              <a:ea typeface="微软雅黑" pitchFamily="34" charset="-122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/>
                              <a:ea typeface="微软雅黑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  <a:ea typeface="微软雅黑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  <a:ea typeface="微软雅黑" pitchFamily="34" charset="-122"/>
                        </a:rPr>
                        <m:t>   </m:t>
                      </m:r>
                      <m:r>
                        <a:rPr lang="en-US" altLang="zh-CN" b="1" i="1">
                          <a:latin typeface="Cambria Math"/>
                          <a:ea typeface="微软雅黑" pitchFamily="34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  <a:ea typeface="微软雅黑" pitchFamily="34" charset="-122"/>
                        </a:rPr>
                        <m:t>                                                    </m:t>
                      </m:r>
                      <m:r>
                        <a:rPr lang="en-US" altLang="zh-CN" b="1" i="1">
                          <a:latin typeface="Cambria Math"/>
                          <a:ea typeface="微软雅黑" pitchFamily="34" charset="-122"/>
                        </a:rPr>
                        <m:t>𝑸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  <a:ea typeface="微软雅黑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  <a:ea typeface="微软雅黑" pitchFamily="34" charset="-122"/>
                        </a:rPr>
                        <m:t>                                                 </m:t>
                      </m:r>
                      <m:r>
                        <a:rPr lang="en-US" altLang="zh-CN" b="1" i="1">
                          <a:latin typeface="Cambria Math"/>
                          <a:ea typeface="微软雅黑" pitchFamily="34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  <a:ea typeface="微软雅黑" pitchFamily="34" charset="-122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64" y="3758886"/>
                <a:ext cx="7318542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/>
          <p:cNvSpPr/>
          <p:nvPr/>
        </p:nvSpPr>
        <p:spPr>
          <a:xfrm>
            <a:off x="856688" y="661222"/>
            <a:ext cx="360000" cy="36000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17">
                <a:extLst>
                  <a:ext uri="{FF2B5EF4-FFF2-40B4-BE49-F238E27FC236}">
                    <a16:creationId xmlns:a16="http://schemas.microsoft.com/office/drawing/2014/main" id="{A84C1722-B72E-4DE7-8F0F-B993460008AB}"/>
                  </a:ext>
                </a:extLst>
              </p:cNvPr>
              <p:cNvSpPr txBox="1"/>
              <p:nvPr/>
            </p:nvSpPr>
            <p:spPr bwMode="auto">
              <a:xfrm>
                <a:off x="613864" y="1684274"/>
                <a:ext cx="8530136" cy="2352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fName>
                                  <m:e>
                                    <m:r>
                                      <a:rPr lang="zh-CN" altLang="en-US" sz="2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 ⋯</m:t>
                      </m:r>
                      <m:r>
                        <a:rPr lang="zh-CN" altLang="en-US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对象 17">
                <a:extLst>
                  <a:ext uri="{FF2B5EF4-FFF2-40B4-BE49-F238E27FC236}">
                    <a16:creationId xmlns:a16="http://schemas.microsoft.com/office/drawing/2014/main" id="{A84C1722-B72E-4DE7-8F0F-B99346000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864" y="1684274"/>
                <a:ext cx="8530136" cy="23523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1527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76990" y="993218"/>
            <a:ext cx="7886274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Consider the computer system for processing the service enquiry. The arrival process follows Poisson process with the intensity function </a:t>
            </a:r>
            <a:r>
              <a:rPr lang="el-GR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(t). 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Assume that the system has three waiting spaces and the exponential service time distribution with a rate </a:t>
            </a:r>
            <a:r>
              <a:rPr lang="el-GR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An arriving person seeing all waiting spaces occupied will leave and have no influence on the system</a:t>
            </a:r>
            <a:r>
              <a:rPr lang="en-US" altLang="zh-CN" sz="2200" dirty="0">
                <a:latin typeface="华文楷体" pitchFamily="2" charset="-122"/>
                <a:ea typeface="华文楷体" pitchFamily="2" charset="-122"/>
              </a:rPr>
              <a:t>. 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Question: to obtain the probability that an arrival will be lost.</a:t>
            </a:r>
            <a:endParaRPr lang="zh-CN" altLang="en-US" sz="2000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15686" y="208434"/>
            <a:ext cx="8229600" cy="554548"/>
          </a:xfrm>
        </p:spPr>
        <p:txBody>
          <a:bodyPr/>
          <a:lstStyle/>
          <a:p>
            <a:r>
              <a:rPr lang="en-US" altLang="zh-CN" sz="3400" dirty="0"/>
              <a:t>Question Time</a:t>
            </a:r>
            <a:endParaRPr lang="zh-CN" altLang="en-US" sz="3400" dirty="0"/>
          </a:p>
        </p:txBody>
      </p:sp>
    </p:spTree>
    <p:extLst>
      <p:ext uri="{BB962C8B-B14F-4D97-AF65-F5344CB8AC3E}">
        <p14:creationId xmlns:p14="http://schemas.microsoft.com/office/powerpoint/2010/main" val="328262686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5423" y="979648"/>
            <a:ext cx="8113019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Consider a cafeteria in our university that serves lunch at noon. The cafeteria is self-service. Arrivals to the cafeteria can be modeled by Poisson process with parameter </a:t>
            </a:r>
            <a:r>
              <a:rPr lang="el-GR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Each customer</a:t>
            </a:r>
            <a:r>
              <a:rPr lang="en-US" altLang="zh-CN" sz="2000" dirty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’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s sojourn time follows a distribution function G. Once a customer finishes food selection, he joins a single waiting line leading to three cashiers. The service times at each cashier follows an exponential distribution with</a:t>
            </a:r>
            <a:r>
              <a:rPr lang="en-US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a rate </a:t>
            </a:r>
            <a:r>
              <a:rPr lang="el-GR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sz="2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 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Question: how to model the stochastic process in the cafeteria.</a:t>
            </a:r>
            <a:endParaRPr lang="zh-CN" altLang="en-US" sz="2000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15686" y="208434"/>
            <a:ext cx="8229600" cy="554548"/>
          </a:xfrm>
        </p:spPr>
        <p:txBody>
          <a:bodyPr/>
          <a:lstStyle/>
          <a:p>
            <a:r>
              <a:rPr lang="en-US" altLang="zh-CN" sz="3400" dirty="0"/>
              <a:t>Question Time</a:t>
            </a:r>
            <a:endParaRPr lang="zh-CN" altLang="en-US" sz="3400" dirty="0"/>
          </a:p>
        </p:txBody>
      </p:sp>
    </p:spTree>
    <p:extLst>
      <p:ext uri="{BB962C8B-B14F-4D97-AF65-F5344CB8AC3E}">
        <p14:creationId xmlns:p14="http://schemas.microsoft.com/office/powerpoint/2010/main" val="37378754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40"/>
          <p:cNvSpPr>
            <a:spLocks noEditPoints="1"/>
          </p:cNvSpPr>
          <p:nvPr/>
        </p:nvSpPr>
        <p:spPr bwMode="auto">
          <a:xfrm>
            <a:off x="415925" y="128588"/>
            <a:ext cx="198438" cy="393700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cxnSp>
        <p:nvCxnSpPr>
          <p:cNvPr id="38916" name="直接连接符 9"/>
          <p:cNvCxnSpPr>
            <a:cxnSpLocks noChangeShapeType="1"/>
          </p:cNvCxnSpPr>
          <p:nvPr/>
        </p:nvCxnSpPr>
        <p:spPr bwMode="auto">
          <a:xfrm flipH="1">
            <a:off x="739775" y="517525"/>
            <a:ext cx="742315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38917" name="TextBox 37"/>
          <p:cNvSpPr txBox="1">
            <a:spLocks noChangeArrowheads="1"/>
          </p:cNvSpPr>
          <p:nvPr/>
        </p:nvSpPr>
        <p:spPr bwMode="auto">
          <a:xfrm>
            <a:off x="714375" y="87313"/>
            <a:ext cx="14160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思考问题</a:t>
            </a:r>
          </a:p>
        </p:txBody>
      </p:sp>
      <p:pic>
        <p:nvPicPr>
          <p:cNvPr id="2050" name="Picture 2" descr="C:\Users\Liu_shihua\Desktop\1395943210_P8iBb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" y="1944624"/>
            <a:ext cx="2374275" cy="1582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65962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空心弧 9"/>
          <p:cNvSpPr/>
          <p:nvPr/>
        </p:nvSpPr>
        <p:spPr>
          <a:xfrm rot="5400000">
            <a:off x="677188" y="1273693"/>
            <a:ext cx="3142978" cy="2924714"/>
          </a:xfrm>
          <a:prstGeom prst="blockArc">
            <a:avLst>
              <a:gd name="adj1" fmla="val 10897210"/>
              <a:gd name="adj2" fmla="val 6953"/>
              <a:gd name="adj3" fmla="val 1246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2858089" y="1315379"/>
            <a:ext cx="1441450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auto">
          <a:xfrm>
            <a:off x="2907736" y="4149563"/>
            <a:ext cx="1439863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auto">
          <a:xfrm>
            <a:off x="3729708" y="2290035"/>
            <a:ext cx="1334133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44" idx="2"/>
          </p:cNvCxnSpPr>
          <p:nvPr/>
        </p:nvCxnSpPr>
        <p:spPr bwMode="auto">
          <a:xfrm>
            <a:off x="3585225" y="3290270"/>
            <a:ext cx="1440700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47"/>
              <p:cNvSpPr>
                <a:spLocks noChangeArrowheads="1"/>
              </p:cNvSpPr>
              <p:nvPr/>
            </p:nvSpPr>
            <p:spPr bwMode="auto">
              <a:xfrm>
                <a:off x="5162204" y="3904312"/>
                <a:ext cx="2617816" cy="7571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31" tIns="45716" rIns="91431" bIns="45716">
                <a:spAutoFit/>
              </a:bodyPr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9pPr>
              </a:lstStyle>
              <a:p>
                <a:pPr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每个收银员的服务时间服从参数为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/>
                      </a:rPr>
                      <m:t>𝜇</m:t>
                    </m:r>
                  </m:oMath>
                </a14:m>
                <a:r>
                  <a:rPr lang="zh-CN" altLang="en-US" sz="1800" dirty="0"/>
                  <a:t>的指数分布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15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2204" y="3904312"/>
                <a:ext cx="2617816" cy="757122"/>
              </a:xfrm>
              <a:prstGeom prst="rect">
                <a:avLst/>
              </a:prstGeom>
              <a:blipFill>
                <a:blip r:embed="rId3"/>
                <a:stretch>
                  <a:fillRect l="-2098" r="-1865" b="-8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/>
          <p:cNvSpPr/>
          <p:nvPr/>
        </p:nvSpPr>
        <p:spPr>
          <a:xfrm>
            <a:off x="2630914" y="1142445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8" name="椭圆 17"/>
          <p:cNvSpPr/>
          <p:nvPr/>
        </p:nvSpPr>
        <p:spPr>
          <a:xfrm>
            <a:off x="3423002" y="2095747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9" name="椭圆 18"/>
          <p:cNvSpPr/>
          <p:nvPr/>
        </p:nvSpPr>
        <p:spPr>
          <a:xfrm>
            <a:off x="3402062" y="3085760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2630914" y="3935966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47"/>
              <p:cNvSpPr>
                <a:spLocks noChangeArrowheads="1"/>
              </p:cNvSpPr>
              <p:nvPr/>
            </p:nvSpPr>
            <p:spPr bwMode="auto">
              <a:xfrm>
                <a:off x="5173937" y="849301"/>
                <a:ext cx="2278423" cy="7571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31" tIns="45716" rIns="91431" bIns="45716">
                <a:spAutoFit/>
              </a:bodyPr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9pPr>
              </a:lstStyle>
              <a:p>
                <a:pPr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到达餐厅的顾客服从参数为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zh-CN" altLang="en-US" sz="1800" dirty="0"/>
                  <a:t>的泊松过程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26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3937" y="849301"/>
                <a:ext cx="2278423" cy="757122"/>
              </a:xfrm>
              <a:prstGeom prst="rect">
                <a:avLst/>
              </a:prstGeom>
              <a:blipFill>
                <a:blip r:embed="rId4"/>
                <a:stretch>
                  <a:fillRect l="-2406" r="-1070" b="-8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47"/>
              <p:cNvSpPr>
                <a:spLocks noChangeArrowheads="1"/>
              </p:cNvSpPr>
              <p:nvPr/>
            </p:nvSpPr>
            <p:spPr bwMode="auto">
              <a:xfrm>
                <a:off x="5850070" y="1866096"/>
                <a:ext cx="2638610" cy="7585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31" tIns="45716" rIns="91431" bIns="45716">
                <a:spAutoFit/>
              </a:bodyPr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  <a:sym typeface="Calibri" pitchFamily="34" charset="0"/>
                  </a:defRPr>
                </a:lvl9pPr>
              </a:lstStyle>
              <a:p>
                <a:pPr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每个顾客选餐逗留时间服从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分布</m:t>
                    </m:r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函数</m:t>
                    </m:r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1800" i="1">
                        <a:latin typeface="Cambria Math"/>
                      </a:rPr>
                      <m:t>𝐺</m:t>
                    </m:r>
                  </m:oMath>
                </a14:m>
                <a:r>
                  <a:rPr lang="zh-CN" altLang="en-US" sz="1800" dirty="0"/>
                  <a:t>的分布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2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0070" y="1866096"/>
                <a:ext cx="2638610" cy="758533"/>
              </a:xfrm>
              <a:prstGeom prst="rect">
                <a:avLst/>
              </a:prstGeom>
              <a:blipFill>
                <a:blip r:embed="rId5"/>
                <a:stretch>
                  <a:fillRect l="-2079" r="-1848" b="-8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47"/>
          <p:cNvSpPr>
            <a:spLocks noChangeArrowheads="1"/>
          </p:cNvSpPr>
          <p:nvPr/>
        </p:nvSpPr>
        <p:spPr bwMode="auto">
          <a:xfrm>
            <a:off x="5862627" y="2911709"/>
            <a:ext cx="2702253" cy="757122"/>
          </a:xfrm>
          <a:prstGeom prst="rect">
            <a:avLst/>
          </a:prstGeom>
          <a:noFill/>
          <a:ln>
            <a:noFill/>
          </a:ln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zh-CN" altLang="en-US" sz="1800" dirty="0"/>
              <a:t>顾客选好食物进入有三个收银员的收费柜台排队</a:t>
            </a:r>
            <a:endParaRPr lang="en-US" altLang="zh-CN" sz="18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4280792" y="898903"/>
            <a:ext cx="858956" cy="858956"/>
            <a:chOff x="4059812" y="861286"/>
            <a:chExt cx="858956" cy="858956"/>
          </a:xfrm>
        </p:grpSpPr>
        <p:grpSp>
          <p:nvGrpSpPr>
            <p:cNvPr id="31" name="组合 30"/>
            <p:cNvGrpSpPr/>
            <p:nvPr/>
          </p:nvGrpSpPr>
          <p:grpSpPr>
            <a:xfrm>
              <a:off x="4059812" y="861286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3" name="同心圆 3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KSO_Shape"/>
            <p:cNvSpPr/>
            <p:nvPr/>
          </p:nvSpPr>
          <p:spPr bwMode="auto">
            <a:xfrm>
              <a:off x="4288543" y="1112435"/>
              <a:ext cx="415925" cy="352425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rgbClr val="65962B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975874" y="1830419"/>
            <a:ext cx="858956" cy="858956"/>
            <a:chOff x="4754894" y="1744904"/>
            <a:chExt cx="858956" cy="858956"/>
          </a:xfrm>
        </p:grpSpPr>
        <p:grpSp>
          <p:nvGrpSpPr>
            <p:cNvPr id="36" name="组合 35"/>
            <p:cNvGrpSpPr/>
            <p:nvPr/>
          </p:nvGrpSpPr>
          <p:grpSpPr>
            <a:xfrm>
              <a:off x="4754894" y="1744904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8" name="同心圆 37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KSO_Shape"/>
            <p:cNvSpPr/>
            <p:nvPr/>
          </p:nvSpPr>
          <p:spPr bwMode="auto">
            <a:xfrm>
              <a:off x="5007713" y="1998169"/>
              <a:ext cx="415925" cy="352425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rgbClr val="65962B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007178" y="2860792"/>
            <a:ext cx="858956" cy="858956"/>
            <a:chOff x="4786198" y="2790517"/>
            <a:chExt cx="858956" cy="858956"/>
          </a:xfrm>
        </p:grpSpPr>
        <p:grpSp>
          <p:nvGrpSpPr>
            <p:cNvPr id="41" name="组合 40"/>
            <p:cNvGrpSpPr/>
            <p:nvPr/>
          </p:nvGrpSpPr>
          <p:grpSpPr>
            <a:xfrm>
              <a:off x="4786198" y="2790517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3" name="同心圆 4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" name="KSO_Shape"/>
            <p:cNvSpPr/>
            <p:nvPr/>
          </p:nvSpPr>
          <p:spPr bwMode="auto">
            <a:xfrm>
              <a:off x="5007713" y="3043782"/>
              <a:ext cx="415925" cy="352425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rgbClr val="65962B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sp>
        <p:nvSpPr>
          <p:cNvPr id="46" name="矩形 47"/>
          <p:cNvSpPr>
            <a:spLocks noChangeArrowheads="1"/>
          </p:cNvSpPr>
          <p:nvPr/>
        </p:nvSpPr>
        <p:spPr bwMode="auto">
          <a:xfrm>
            <a:off x="725080" y="579948"/>
            <a:ext cx="2853734" cy="430366"/>
          </a:xfrm>
          <a:prstGeom prst="rect">
            <a:avLst/>
          </a:prstGeom>
          <a:noFill/>
          <a:ln>
            <a:noFill/>
          </a:ln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65962B"/>
                </a:solidFill>
              </a:rPr>
              <a:t>自助餐厅就餐服务系统</a:t>
            </a:r>
            <a:endParaRPr lang="en-US" altLang="zh-CN" sz="2000" dirty="0">
              <a:solidFill>
                <a:srgbClr val="65962B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88008" y="3731475"/>
            <a:ext cx="858956" cy="858956"/>
            <a:chOff x="4067028" y="3685755"/>
            <a:chExt cx="858956" cy="858956"/>
          </a:xfrm>
        </p:grpSpPr>
        <p:grpSp>
          <p:nvGrpSpPr>
            <p:cNvPr id="22" name="组合 21"/>
            <p:cNvGrpSpPr/>
            <p:nvPr/>
          </p:nvGrpSpPr>
          <p:grpSpPr>
            <a:xfrm>
              <a:off x="4067028" y="3685755"/>
              <a:ext cx="858956" cy="858956"/>
              <a:chOff x="304800" y="673100"/>
              <a:chExt cx="4000501" cy="4000501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4" name="同心圆 23"/>
              <p:cNvSpPr/>
              <p:nvPr/>
            </p:nvSpPr>
            <p:spPr>
              <a:xfrm>
                <a:off x="304800" y="673100"/>
                <a:ext cx="4000501" cy="4000501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392112" y="760412"/>
                <a:ext cx="3825876" cy="3825876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KSO_Shape"/>
            <p:cNvSpPr/>
            <p:nvPr/>
          </p:nvSpPr>
          <p:spPr bwMode="auto">
            <a:xfrm>
              <a:off x="4308965" y="3927630"/>
              <a:ext cx="415925" cy="352425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rgbClr val="65962B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9021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7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 animBg="1"/>
      <p:bldP spid="26" grpId="0" animBg="1"/>
      <p:bldP spid="28" grpId="0" animBg="1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1074738" y="1347788"/>
            <a:ext cx="4210050" cy="1196975"/>
            <a:chOff x="107504" y="1347614"/>
            <a:chExt cx="4209684" cy="1197175"/>
          </a:xfrm>
        </p:grpSpPr>
        <p:grpSp>
          <p:nvGrpSpPr>
            <p:cNvPr id="85" name="组合 84"/>
            <p:cNvGrpSpPr/>
            <p:nvPr/>
          </p:nvGrpSpPr>
          <p:grpSpPr>
            <a:xfrm>
              <a:off x="150181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9" name="同心圆 9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107504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158293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7" name="同心圆 9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1115478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094396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5" name="同心圆 9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2052022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听</a:t>
              </a: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3102509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3" name="同心圆 9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3059997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课</a:t>
              </a:r>
            </a:p>
          </p:txBody>
        </p:sp>
      </p:grpSp>
      <p:grpSp>
        <p:nvGrpSpPr>
          <p:cNvPr id="101" name="组合 100"/>
          <p:cNvGrpSpPr>
            <a:grpSpLocks/>
          </p:cNvGrpSpPr>
          <p:nvPr/>
        </p:nvGrpSpPr>
        <p:grpSpPr bwMode="auto">
          <a:xfrm>
            <a:off x="1477963" y="3508375"/>
            <a:ext cx="1109662" cy="349250"/>
            <a:chOff x="814328" y="3219334"/>
            <a:chExt cx="2797200" cy="432536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圆角矩形 103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103" name="TextBox 102"/>
            <p:cNvSpPr txBox="1"/>
            <p:nvPr/>
          </p:nvSpPr>
          <p:spPr>
            <a:xfrm>
              <a:off x="1114456" y="3319604"/>
              <a:ext cx="2192942" cy="265419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srgbClr val="65962B"/>
                  </a:solidFill>
                </a:rPr>
                <a:t>授课教师</a:t>
              </a:r>
            </a:p>
          </p:txBody>
        </p:sp>
      </p:grpSp>
      <p:grpSp>
        <p:nvGrpSpPr>
          <p:cNvPr id="106" name="组合 105"/>
          <p:cNvGrpSpPr>
            <a:grpSpLocks/>
          </p:cNvGrpSpPr>
          <p:nvPr/>
        </p:nvGrpSpPr>
        <p:grpSpPr bwMode="auto">
          <a:xfrm>
            <a:off x="3019425" y="3497263"/>
            <a:ext cx="936625" cy="350837"/>
            <a:chOff x="814328" y="3219334"/>
            <a:chExt cx="2797200" cy="432536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圆角矩形 108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1155681" y="3319150"/>
              <a:ext cx="2190350" cy="2661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srgbClr val="65962B"/>
                  </a:solidFill>
                </a:rPr>
                <a:t>赵毅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2719388"/>
            <a:ext cx="9144000" cy="396875"/>
          </a:xfrm>
          <a:prstGeom prst="rect">
            <a:avLst/>
          </a:prstGeom>
          <a:solidFill>
            <a:srgbClr val="659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70790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1484</Words>
  <Application>Microsoft Office PowerPoint</Application>
  <PresentationFormat>全屏显示(16:9)</PresentationFormat>
  <Paragraphs>246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华文楷体</vt:lpstr>
      <vt:lpstr>Times New Roman</vt:lpstr>
      <vt:lpstr>微软雅黑</vt:lpstr>
      <vt:lpstr>Wingdings</vt:lpstr>
      <vt:lpstr>仿宋</vt:lpstr>
      <vt:lpstr>黑体</vt:lpstr>
      <vt:lpstr>Cambria Math</vt:lpstr>
      <vt:lpstr>Arial</vt:lpstr>
      <vt:lpstr>Calibri</vt:lpstr>
      <vt:lpstr>Office 主题​​</vt:lpstr>
      <vt:lpstr>PowerPoint 演示文稿</vt:lpstr>
      <vt:lpstr>PowerPoint 演示文稿</vt:lpstr>
      <vt:lpstr>The Multiserver Queue</vt:lpstr>
      <vt:lpstr>Modeling for the Multiserver Queue </vt:lpstr>
      <vt:lpstr>First Service Completion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Question Time</vt:lpstr>
      <vt:lpstr>Question Time</vt:lpstr>
      <vt:lpstr>PowerPoint 演示文稿</vt:lpstr>
      <vt:lpstr>PowerPoint 演示文稿</vt:lpstr>
    </vt:vector>
  </TitlesOfParts>
  <Company>www.microsoft.com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1111111111</dc:title>
  <dc:creator>User</dc:creator>
  <cp:lastModifiedBy>毅 赵</cp:lastModifiedBy>
  <cp:revision>181</cp:revision>
  <dcterms:created xsi:type="dcterms:W3CDTF">2015-01-23T04:02:45Z</dcterms:created>
  <dcterms:modified xsi:type="dcterms:W3CDTF">2024-09-11T05:01:52Z</dcterms:modified>
</cp:coreProperties>
</file>